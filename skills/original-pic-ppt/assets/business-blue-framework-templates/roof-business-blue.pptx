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8.svg" ContentType="image/svg+xml"/>
  <Override PartName="/ppt/media/image119.svg" ContentType="image/svg+xml"/>
  <Override PartName="/ppt/media/image121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1.svg" ContentType="image/svg+xml"/>
  <Override PartName="/ppt/media/image132.svg" ContentType="image/svg+xml"/>
  <Override PartName="/ppt/media/image134.svg" ContentType="image/svg+xml"/>
  <Override PartName="/ppt/media/image135.svg" ContentType="image/svg+xml"/>
  <Override PartName="/ppt/media/image137.svg" ContentType="image/svg+xml"/>
  <Override PartName="/ppt/media/image139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7.svg" ContentType="image/svg+xml"/>
  <Override PartName="/ppt/media/image158.svg" ContentType="image/svg+xml"/>
  <Override PartName="/ppt/media/image159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0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0.svg" ContentType="image/svg+xml"/>
  <Override PartName="/ppt/media/image181.svg" ContentType="image/svg+xml"/>
  <Override PartName="/ppt/media/image183.svg" ContentType="image/svg+xml"/>
  <Override PartName="/ppt/media/image185.svg" ContentType="image/svg+xml"/>
  <Override PartName="/ppt/media/image187.svg" ContentType="image/svg+xml"/>
  <Override PartName="/ppt/media/image189.svg" ContentType="image/svg+xml"/>
  <Override PartName="/ppt/media/image191.svg" ContentType="image/svg+xml"/>
  <Override PartName="/ppt/media/image193.svg" ContentType="image/svg+xml"/>
  <Override PartName="/ppt/media/image195.svg" ContentType="image/svg+xml"/>
  <Override PartName="/ppt/media/image196.svg" ContentType="image/svg+xml"/>
  <Override PartName="/ppt/media/image197.svg" ContentType="image/svg+xml"/>
  <Override PartName="/ppt/media/image199.svg" ContentType="image/svg+xml"/>
  <Override PartName="/ppt/media/image20.svg" ContentType="image/svg+xml"/>
  <Override PartName="/ppt/media/image201.svg" ContentType="image/svg+xml"/>
  <Override PartName="/ppt/media/image202.svg" ContentType="image/svg+xml"/>
  <Override PartName="/ppt/media/image203.svg" ContentType="image/svg+xml"/>
  <Override PartName="/ppt/media/image204.svg" ContentType="image/svg+xml"/>
  <Override PartName="/ppt/media/image205.svg" ContentType="image/svg+xml"/>
  <Override PartName="/ppt/media/image207.svg" ContentType="image/svg+xml"/>
  <Override PartName="/ppt/media/image210.svg" ContentType="image/svg+xml"/>
  <Override PartName="/ppt/media/image212.svg" ContentType="image/svg+xml"/>
  <Override PartName="/ppt/media/image214.svg" ContentType="image/svg+xml"/>
  <Override PartName="/ppt/media/image216.svg" ContentType="image/svg+xml"/>
  <Override PartName="/ppt/media/image218.svg" ContentType="image/svg+xml"/>
  <Override PartName="/ppt/media/image22.svg" ContentType="image/svg+xml"/>
  <Override PartName="/ppt/media/image220.svg" ContentType="image/svg+xml"/>
  <Override PartName="/ppt/media/image222.svg" ContentType="image/svg+xml"/>
  <Override PartName="/ppt/media/image224.svg" ContentType="image/svg+xml"/>
  <Override PartName="/ppt/media/image226.svg" ContentType="image/svg+xml"/>
  <Override PartName="/ppt/media/image228.svg" ContentType="image/svg+xml"/>
  <Override PartName="/ppt/media/image229.svg" ContentType="image/svg+xml"/>
  <Override PartName="/ppt/media/image230.svg" ContentType="image/svg+xml"/>
  <Override PartName="/ppt/media/image231.svg" ContentType="image/svg+xml"/>
  <Override PartName="/ppt/media/image232.svg" ContentType="image/svg+xml"/>
  <Override PartName="/ppt/media/image233.svg" ContentType="image/svg+xml"/>
  <Override PartName="/ppt/media/image234.svg" ContentType="image/svg+xml"/>
  <Override PartName="/ppt/media/image235.svg" ContentType="image/svg+xml"/>
  <Override PartName="/ppt/media/image236.svg" ContentType="image/svg+xml"/>
  <Override PartName="/ppt/media/image238.svg" ContentType="image/svg+xml"/>
  <Override PartName="/ppt/media/image24.svg" ContentType="image/svg+xml"/>
  <Override PartName="/ppt/media/image240.svg" ContentType="image/svg+xml"/>
  <Override PartName="/ppt/media/image242.svg" ContentType="image/svg+xml"/>
  <Override PartName="/ppt/media/image24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52"/>
  </p:handoutMasterIdLst>
  <p:sldIdLst>
    <p:sldId id="15004852" r:id="rId4"/>
    <p:sldId id="15004853" r:id="rId5"/>
    <p:sldId id="15004854" r:id="rId7"/>
    <p:sldId id="15004855" r:id="rId8"/>
    <p:sldId id="15004857" r:id="rId9"/>
    <p:sldId id="15004858" r:id="rId10"/>
    <p:sldId id="15004859" r:id="rId11"/>
    <p:sldId id="15004860" r:id="rId12"/>
    <p:sldId id="15005129" r:id="rId13"/>
    <p:sldId id="15005130" r:id="rId14"/>
    <p:sldId id="15005131" r:id="rId15"/>
    <p:sldId id="15005132" r:id="rId16"/>
    <p:sldId id="15005133" r:id="rId17"/>
    <p:sldId id="15005134" r:id="rId18"/>
    <p:sldId id="15005135" r:id="rId19"/>
    <p:sldId id="15005136" r:id="rId20"/>
    <p:sldId id="15005137" r:id="rId21"/>
    <p:sldId id="15005138" r:id="rId22"/>
    <p:sldId id="15005139" r:id="rId23"/>
    <p:sldId id="15005140" r:id="rId24"/>
    <p:sldId id="15005141" r:id="rId25"/>
    <p:sldId id="15005142" r:id="rId26"/>
    <p:sldId id="15005143" r:id="rId27"/>
    <p:sldId id="15005144" r:id="rId28"/>
    <p:sldId id="15005145" r:id="rId29"/>
    <p:sldId id="15005146" r:id="rId30"/>
    <p:sldId id="15005147" r:id="rId31"/>
    <p:sldId id="15005148" r:id="rId32"/>
    <p:sldId id="15005149" r:id="rId33"/>
    <p:sldId id="15005150" r:id="rId34"/>
    <p:sldId id="15005151" r:id="rId35"/>
    <p:sldId id="15005152" r:id="rId36"/>
    <p:sldId id="15005153" r:id="rId37"/>
    <p:sldId id="15005154" r:id="rId38"/>
    <p:sldId id="15005155" r:id="rId39"/>
    <p:sldId id="15005156" r:id="rId40"/>
    <p:sldId id="15005157" r:id="rId41"/>
    <p:sldId id="15005158" r:id="rId42"/>
    <p:sldId id="15005159" r:id="rId43"/>
    <p:sldId id="15005160" r:id="rId44"/>
    <p:sldId id="15005161" r:id="rId45"/>
    <p:sldId id="15005162" r:id="rId46"/>
    <p:sldId id="15005163" r:id="rId47"/>
    <p:sldId id="15005164" r:id="rId48"/>
    <p:sldId id="15005165" r:id="rId49"/>
    <p:sldId id="15005166" r:id="rId50"/>
    <p:sldId id="15004861" r:id="rId51"/>
  </p:sldIdLst>
  <p:sldSz cx="12192000" cy="6858000"/>
  <p:notesSz cx="9144000" cy="6858000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4cfb7ee-0156-43e5-b9af-ee6b63d74620}">
          <p14:sldIdLst>
            <p14:sldId id="15004852"/>
            <p14:sldId id="15004853"/>
            <p14:sldId id="15004854"/>
            <p14:sldId id="15004855"/>
            <p14:sldId id="15004857"/>
            <p14:sldId id="15004858"/>
            <p14:sldId id="15004859"/>
            <p14:sldId id="15004860"/>
          </p14:sldIdLst>
        </p14:section>
        <p14:section name="01-屋顶图架构" id="{83e116c4-6155-4295-97ba-6c032a1c8d8e}">
          <p14:sldIdLst>
            <p14:sldId id="15005129"/>
            <p14:sldId id="15005130"/>
            <p14:sldId id="15005131"/>
            <p14:sldId id="15005132"/>
            <p14:sldId id="15005133"/>
            <p14:sldId id="15005134"/>
            <p14:sldId id="15005135"/>
            <p14:sldId id="15005136"/>
            <p14:sldId id="15005137"/>
            <p14:sldId id="15005138"/>
            <p14:sldId id="15005139"/>
            <p14:sldId id="15005140"/>
            <p14:sldId id="15005141"/>
            <p14:sldId id="15005142"/>
            <p14:sldId id="15005143"/>
            <p14:sldId id="15005144"/>
            <p14:sldId id="15005145"/>
            <p14:sldId id="15005146"/>
            <p14:sldId id="15005147"/>
            <p14:sldId id="15005148"/>
            <p14:sldId id="15005149"/>
            <p14:sldId id="15005150"/>
            <p14:sldId id="15005151"/>
            <p14:sldId id="15005152"/>
            <p14:sldId id="15005153"/>
            <p14:sldId id="15005154"/>
            <p14:sldId id="15005155"/>
            <p14:sldId id="15005156"/>
            <p14:sldId id="15005157"/>
            <p14:sldId id="15005158"/>
            <p14:sldId id="15005159"/>
            <p14:sldId id="15005160"/>
            <p14:sldId id="15005161"/>
            <p14:sldId id="15005162"/>
            <p14:sldId id="15005163"/>
            <p14:sldId id="15005164"/>
            <p14:sldId id="15005165"/>
            <p14:sldId id="15005166"/>
            <p14:sldId id="150048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66" userDrawn="1">
          <p15:clr>
            <a:srgbClr val="A4A3A4"/>
          </p15:clr>
        </p15:guide>
        <p15:guide id="2" pos="41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7" name="Administrator" initials="A" lastIdx="0" clrIdx="6"/>
  <p:cmAuthor id="1" name="Microsoft Office User" initials="MOU" lastIdx="1" clrIdx="0"/>
  <p:cmAuthor id="8" name="宋洁然" initials="宋" lastIdx="0" clrIdx="7"/>
  <p:cmAuthor id="2" name="小麦" initials="l" lastIdx="1" clrIdx="1"/>
  <p:cmAuthor id="9" name="ming qiu" initials="m" lastIdx="0" clrIdx="8"/>
  <p:cmAuthor id="3" name="仲杰 李" initials="仲杰" lastIdx="1" clrIdx="3"/>
  <p:cmAuthor id="10" name="WPS_1679281038" initials="W" lastIdx="0" clrIdx="9"/>
  <p:cmAuthor id="5" name="1206988966@qq.com" initials="1" lastIdx="0" clrIdx="4"/>
  <p:cmAuthor id="6" name="姜伟光" initials="姜" lastIdx="0" clrIdx="5"/>
  <p:cmAuthor id="11" name="田野田野" initials="田野田野" lastIdx="0" clrIdx="10"/>
  <p:cmAuthor id="12" name="作者" initials="A" lastIdx="0" clrIdx="11"/>
  <p:cmAuthor id="13" name="ALA11.黄宜隆" initials="A" lastIdx="0" clrIdx="12"/>
  <p:cmAuthor id="14" name="陈 源晨" initials="陈" lastIdx="0" clrIdx="13"/>
  <p:cmAuthor id="15" name="Haval Sh" initials="HS" lastIdx="0" clrIdx="14"/>
  <p:cmAuthor id="16" name="宋 雪贤" initials="宋" lastIdx="0" clrIdx="15"/>
  <p:cmAuthor id="17" name="YOYOON" initials="Y" lastIdx="0" clrIdx="16"/>
  <p:cmAuthor id="18" name=" src" initials="s" lastIdx="0" clrIdx="17"/>
  <p:cmAuthor id="19" name="WHITE GRAPHIC" initials="WG" lastIdx="0" clrIdx="18"/>
  <p:cmAuthor id="20" name="USER" initials="U" lastIdx="0" clrIdx="19"/>
  <p:cmAuthor id="21" name="SheHab" initials="S" lastIdx="0" clrIdx="20"/>
  <p:cmAuthor id="22" name="幸全" initials="幸全" lastIdx="0" clrIdx="21"/>
  <p:cmAuthor id="23" name="刘付观生" initials="刘付观生" lastIdx="0" clrIdx="22"/>
  <p:cmAuthor id="24" name="liufuguansheng" initials="liufu" lastIdx="0" clrIdx="23"/>
  <p:cmAuthor id="25" name="ITC" initials="I" lastIdx="0" clrIdx="24"/>
  <p:cmAuthor id="26" name="WATER MELON" initials="WM" lastIdx="0" clrIdx="25"/>
  <p:cmAuthor id="27" name="余 KM" initials="余" lastIdx="0" clrIdx="26"/>
  <p:cmAuthor id="28" name="8615900558199" initials="8" lastIdx="0" clrIdx="27"/>
  <p:cmAuthor id="29" name="WPS" initials="W" lastIdx="0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1C4274"/>
    <a:srgbClr val="9A3123"/>
    <a:srgbClr val="457B9D"/>
    <a:srgbClr val="FAF4F4"/>
    <a:srgbClr val="E8ECF1"/>
    <a:srgbClr val="AA3722"/>
    <a:srgbClr val="F1F5FA"/>
    <a:srgbClr val="F7F1F1"/>
    <a:srgbClr val="1D3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6457"/>
  </p:normalViewPr>
  <p:slideViewPr>
    <p:cSldViewPr snapToGrid="0" showGuides="1">
      <p:cViewPr varScale="1">
        <p:scale>
          <a:sx n="95" d="100"/>
          <a:sy n="95" d="100"/>
        </p:scale>
        <p:origin x="350" y="53"/>
      </p:cViewPr>
      <p:guideLst>
        <p:guide orient="horz" pos="2466"/>
        <p:guide pos="4128"/>
      </p:guideLst>
    </p:cSldViewPr>
  </p:slideViewPr>
  <p:outlineViewPr>
    <p:cViewPr>
      <p:scale>
        <a:sx n="33" d="100"/>
        <a:sy n="33" d="100"/>
      </p:scale>
      <p:origin x="0" y="-257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227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7" Type="http://schemas.openxmlformats.org/officeDocument/2006/relationships/tags" Target="tags/tag734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4642330286469"/>
          <c:y val="0.184725613108539"/>
          <c:w val="0.936740698995525"/>
          <c:h val="0.5927538924891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现在</c:v>
                </c:pt>
              </c:strCache>
            </c:strRef>
          </c:tx>
          <c:spPr>
            <a:ln w="12700" cap="rnd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15875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7"/>
              <c:spPr>
                <a:solidFill>
                  <a:schemeClr val="bg1"/>
                </a:solidFill>
                <a:ln w="15875">
                  <a:solidFill>
                    <a:schemeClr val="tx2">
                      <a:lumMod val="60000"/>
                      <a:lumOff val="40000"/>
                    </a:schemeClr>
                  </a:solidFill>
                </a:ln>
                <a:effectLst/>
              </c:spPr>
            </c:marker>
            <c:bubble3D val="0"/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0-3月</c:v>
                </c:pt>
                <c:pt idx="1">
                  <c:v>3-6月</c:v>
                </c:pt>
                <c:pt idx="2">
                  <c:v>6-8月</c:v>
                </c:pt>
                <c:pt idx="3">
                  <c:v>8-10月</c:v>
                </c:pt>
                <c:pt idx="4">
                  <c:v>10-12月</c:v>
                </c:pt>
                <c:pt idx="5">
                  <c:v>12-18月</c:v>
                </c:pt>
                <c:pt idx="6">
                  <c:v>18-36月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11.32</c:v>
                </c:pt>
                <c:pt idx="1">
                  <c:v>16</c:v>
                </c:pt>
                <c:pt idx="2">
                  <c:v>18</c:v>
                </c:pt>
                <c:pt idx="3">
                  <c:v>14</c:v>
                </c:pt>
                <c:pt idx="4">
                  <c:v>12.34</c:v>
                </c:pt>
                <c:pt idx="5">
                  <c:v>12.07</c:v>
                </c:pt>
                <c:pt idx="6">
                  <c:v>11.82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以前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5"/>
              <c:spPr>
                <a:solidFill>
                  <a:schemeClr val="bg1"/>
                </a:solidFill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marker>
            <c:bubble3D val="0"/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0-3月</c:v>
                </c:pt>
                <c:pt idx="1">
                  <c:v>3-6月</c:v>
                </c:pt>
                <c:pt idx="2">
                  <c:v>6-8月</c:v>
                </c:pt>
                <c:pt idx="3">
                  <c:v>8-10月</c:v>
                </c:pt>
                <c:pt idx="4">
                  <c:v>10-12月</c:v>
                </c:pt>
                <c:pt idx="5">
                  <c:v>12-18月</c:v>
                </c:pt>
                <c:pt idx="6">
                  <c:v>18-36月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</c:v>
                </c:pt>
                <c:pt idx="1">
                  <c:v>18</c:v>
                </c:pt>
                <c:pt idx="2">
                  <c:v>19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16.82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1563593056"/>
        <c:axId val="1563595536"/>
      </c:lineChart>
      <c:catAx>
        <c:axId val="15635930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317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noFill/>
                <a:latin typeface="+mn-lt"/>
                <a:ea typeface="+mn-ea"/>
                <a:cs typeface="微软雅黑" panose="020B0503020204020204" charset="-122"/>
              </a:defRPr>
            </a:pPr>
          </a:p>
        </c:txPr>
        <c:crossAx val="1563595536"/>
        <c:crosses val="autoZero"/>
        <c:auto val="1"/>
        <c:lblAlgn val="ctr"/>
        <c:lblOffset val="100"/>
        <c:noMultiLvlLbl val="0"/>
      </c:catAx>
      <c:valAx>
        <c:axId val="1563595536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2">
                  <a:alpha val="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noFill/>
                <a:latin typeface="+mn-lt"/>
                <a:ea typeface="+mn-ea"/>
                <a:cs typeface="微软雅黑" panose="020B0503020204020204" charset="-122"/>
              </a:defRPr>
            </a:pPr>
          </a:p>
        </c:txPr>
        <c:crossAx val="1563593056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e55ca8b-ddd6-4985-8247-93dbb01cde07}"/>
      </c:ext>
    </c:extLst>
  </c:chart>
  <c:spPr>
    <a:noFill/>
    <a:ln>
      <a:noFill/>
    </a:ln>
    <a:effectLst/>
  </c:spPr>
  <c:txPr>
    <a:bodyPr/>
    <a:lstStyle/>
    <a:p>
      <a:pPr>
        <a:defRPr lang="zh-CN">
          <a:noFill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4.3</c:v>
                </c:pt>
                <c:pt idx="5">
                  <c:v>2.5</c:v>
                </c:pt>
                <c:pt idx="6">
                  <c:v>3.5</c:v>
                </c:pt>
                <c:pt idx="7">
                  <c:v>4.5</c:v>
                </c:pt>
                <c:pt idx="8">
                  <c:v>4.3</c:v>
                </c:pt>
                <c:pt idx="9">
                  <c:v>2.5</c:v>
                </c:pt>
                <c:pt idx="10">
                  <c:v>3.5</c:v>
                </c:pt>
                <c:pt idx="11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spPr>
              <a:ln w="28575"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  <a:effectLst/>
            </c:spPr>
          </c:dPt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2.4</c:v>
                </c:pt>
                <c:pt idx="5">
                  <c:v>4.4</c:v>
                </c:pt>
                <c:pt idx="6">
                  <c:v>1.8</c:v>
                </c:pt>
                <c:pt idx="7">
                  <c:v>2.8</c:v>
                </c:pt>
                <c:pt idx="8">
                  <c:v>2.4</c:v>
                </c:pt>
                <c:pt idx="9">
                  <c:v>4.4</c:v>
                </c:pt>
                <c:pt idx="10">
                  <c:v>1.8</c:v>
                </c:pt>
                <c:pt idx="11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133416320"/>
        <c:axId val="1132803536"/>
      </c:lineChart>
      <c:catAx>
        <c:axId val="113341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2803536"/>
        <c:crosses val="autoZero"/>
        <c:auto val="1"/>
        <c:lblAlgn val="ctr"/>
        <c:lblOffset val="100"/>
        <c:noMultiLvlLbl val="0"/>
      </c:catAx>
      <c:valAx>
        <c:axId val="113280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133416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b5b5ac8-c029-4984-8c3d-80dc6632e61c}"/>
      </c:ext>
    </c:extLst>
  </c:chart>
  <c:spPr>
    <a:noFill/>
    <a:ln>
      <a:noFill/>
    </a:ln>
    <a:effectLst/>
  </c:spPr>
  <c:txPr>
    <a:bodyPr/>
    <a:lstStyle/>
    <a:p>
      <a:pPr>
        <a:defRPr lang="zh-CN" sz="800" b="0" i="0">
          <a:solidFill>
            <a:schemeClr val="tx2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活动支出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人力成本</c:v>
                </c:pt>
                <c:pt idx="1">
                  <c:v>制作成本</c:v>
                </c:pt>
                <c:pt idx="2">
                  <c:v>设计费用</c:v>
                </c:pt>
                <c:pt idx="3">
                  <c:v>运输成本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25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1410591"/>
        <c:axId val="6279696"/>
      </c:barChart>
      <c:catAx>
        <c:axId val="133141059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279696"/>
        <c:crosses val="autoZero"/>
        <c:auto val="1"/>
        <c:lblAlgn val="ctr"/>
        <c:lblOffset val="100"/>
        <c:noMultiLvlLbl val="0"/>
      </c:catAx>
      <c:valAx>
        <c:axId val="6279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6">
                  <a:lumMod val="20000"/>
                  <a:lumOff val="8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1331410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1c43f5d0-f33f-46a5-8973-63c06794ac2e}"/>
      </c:ext>
    </c:extLst>
  </c:chart>
  <c:spPr>
    <a:noFill/>
    <a:ln>
      <a:noFill/>
    </a:ln>
    <a:effectLst/>
  </c:spPr>
  <c:txPr>
    <a:bodyPr/>
    <a:lstStyle/>
    <a:p>
      <a:pPr>
        <a:defRPr lang="zh-CN" sz="1000" b="0" i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2"/>
            </a:solidFill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53a4344-db32-4b70-9206-d59003f28332}"/>
      </c:ext>
    </c:extLst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第一季度</c:v>
                </c:pt>
                <c:pt idx="3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9717169-d100-475a-8a15-5ce04c670d72}"/>
      </c:ext>
    </c:extLst>
  </c:chart>
  <c:spPr>
    <a:noFill/>
    <a:ln>
      <a:noFill/>
    </a:ln>
    <a:effectLst/>
  </c:spPr>
  <c:txPr>
    <a:bodyPr/>
    <a:lstStyle/>
    <a:p>
      <a:pPr>
        <a:defRPr lang="zh-CN" b="0" i="0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CF6214C-E03D-6F40-B83F-4BCCB0CB53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D75D23C-CB69-BA4F-AB82-25300986047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5227955" y="215900"/>
            <a:ext cx="5846445" cy="8261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本作品系开悟思维原创作品，已获国家版权局作品登记证书！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原创版权保护，仅供个人学习使用，侵权必究！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内容占位符 57"/>
          <p:cNvSpPr>
            <a:spLocks noGrp="1"/>
          </p:cNvSpPr>
          <p:nvPr>
            <p:ph sz="quarter" idx="18"/>
          </p:nvPr>
        </p:nvSpPr>
        <p:spPr>
          <a:xfrm>
            <a:off x="519113" y="1289050"/>
            <a:ext cx="10987087" cy="462756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368705" y="275357"/>
            <a:ext cx="2188210" cy="481330"/>
          </a:xfr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>
              <a:defRPr kumimoji="0" lang="zh-CN" altLang="en-US" sz="28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4CB4-406B-4597-B044-D3B6F9EB61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9AE3D-545A-4B2E-82ED-8AC91F57BF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28" y="608412"/>
            <a:ext cx="10969709" cy="70561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28" y="1490430"/>
            <a:ext cx="10969709" cy="475929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5227955" y="215900"/>
            <a:ext cx="5846445" cy="8261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本作品系开悟思维原创作品，已获国家版权局作品登记证书！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原创版权保护，仅供个人学习使用，侵权必究！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内容占位符 57"/>
          <p:cNvSpPr>
            <a:spLocks noGrp="1"/>
          </p:cNvSpPr>
          <p:nvPr>
            <p:ph sz="quarter" idx="18"/>
          </p:nvPr>
        </p:nvSpPr>
        <p:spPr>
          <a:xfrm>
            <a:off x="519113" y="1289050"/>
            <a:ext cx="10987087" cy="4627563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368705" y="275357"/>
            <a:ext cx="2188210" cy="481330"/>
          </a:xfr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>
              <a:defRPr kumimoji="0" lang="zh-CN" altLang="en-US" sz="2800" b="1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单击输入文字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4CB4-406B-4597-B044-D3B6F9EB61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9AE3D-545A-4B2E-82ED-8AC91F57BF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28" y="608412"/>
            <a:ext cx="10969709" cy="70561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28" y="1490430"/>
            <a:ext cx="10969709" cy="475929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854961C-C3E7-4008-B7AA-A672D0EA3DB0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8472ACB7-49E0-448E-BCC2-AC9877F63D4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3854961C-C3E7-4008-B7AA-A672D0EA3DB0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8472ACB7-49E0-448E-BCC2-AC9877F63D4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6.png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slideLayout" Target="../slideLayouts/slideLayout9.xml"/><Relationship Id="rId10" Type="http://schemas.openxmlformats.org/officeDocument/2006/relationships/image" Target="../media/image7.png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9.png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8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image" Target="../media/image13.png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2.png"/><Relationship Id="rId2" Type="http://schemas.openxmlformats.org/officeDocument/2006/relationships/tags" Target="../tags/tag37.xml"/><Relationship Id="rId15" Type="http://schemas.openxmlformats.org/officeDocument/2006/relationships/slideLayout" Target="../slideLayouts/slideLayout9.xml"/><Relationship Id="rId14" Type="http://schemas.openxmlformats.org/officeDocument/2006/relationships/image" Target="../media/image15.png"/><Relationship Id="rId13" Type="http://schemas.openxmlformats.org/officeDocument/2006/relationships/tags" Target="../tags/tag45.xml"/><Relationship Id="rId12" Type="http://schemas.openxmlformats.org/officeDocument/2006/relationships/image" Target="../media/image14.png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99" Type="http://schemas.openxmlformats.org/officeDocument/2006/relationships/tags" Target="../tags/tag142.xml"/><Relationship Id="rId98" Type="http://schemas.openxmlformats.org/officeDocument/2006/relationships/tags" Target="../tags/tag141.xml"/><Relationship Id="rId97" Type="http://schemas.openxmlformats.org/officeDocument/2006/relationships/tags" Target="../tags/tag140.xml"/><Relationship Id="rId96" Type="http://schemas.openxmlformats.org/officeDocument/2006/relationships/tags" Target="../tags/tag139.xml"/><Relationship Id="rId95" Type="http://schemas.openxmlformats.org/officeDocument/2006/relationships/tags" Target="../tags/tag138.xml"/><Relationship Id="rId94" Type="http://schemas.openxmlformats.org/officeDocument/2006/relationships/tags" Target="../tags/tag137.xml"/><Relationship Id="rId93" Type="http://schemas.openxmlformats.org/officeDocument/2006/relationships/tags" Target="../tags/tag136.xml"/><Relationship Id="rId92" Type="http://schemas.openxmlformats.org/officeDocument/2006/relationships/tags" Target="../tags/tag135.xml"/><Relationship Id="rId91" Type="http://schemas.openxmlformats.org/officeDocument/2006/relationships/tags" Target="../tags/tag134.xml"/><Relationship Id="rId90" Type="http://schemas.openxmlformats.org/officeDocument/2006/relationships/tags" Target="../tags/tag133.xml"/><Relationship Id="rId9" Type="http://schemas.openxmlformats.org/officeDocument/2006/relationships/tags" Target="../tags/tag54.xml"/><Relationship Id="rId89" Type="http://schemas.openxmlformats.org/officeDocument/2006/relationships/tags" Target="../tags/tag132.xml"/><Relationship Id="rId88" Type="http://schemas.openxmlformats.org/officeDocument/2006/relationships/tags" Target="../tags/tag131.xml"/><Relationship Id="rId87" Type="http://schemas.openxmlformats.org/officeDocument/2006/relationships/tags" Target="../tags/tag130.xml"/><Relationship Id="rId86" Type="http://schemas.openxmlformats.org/officeDocument/2006/relationships/tags" Target="../tags/tag129.xml"/><Relationship Id="rId85" Type="http://schemas.openxmlformats.org/officeDocument/2006/relationships/tags" Target="../tags/tag128.xml"/><Relationship Id="rId84" Type="http://schemas.openxmlformats.org/officeDocument/2006/relationships/tags" Target="../tags/tag127.xml"/><Relationship Id="rId83" Type="http://schemas.openxmlformats.org/officeDocument/2006/relationships/tags" Target="../tags/tag126.xml"/><Relationship Id="rId82" Type="http://schemas.openxmlformats.org/officeDocument/2006/relationships/tags" Target="../tags/tag125.xml"/><Relationship Id="rId81" Type="http://schemas.openxmlformats.org/officeDocument/2006/relationships/tags" Target="../tags/tag124.xml"/><Relationship Id="rId80" Type="http://schemas.openxmlformats.org/officeDocument/2006/relationships/tags" Target="../tags/tag123.xml"/><Relationship Id="rId8" Type="http://schemas.openxmlformats.org/officeDocument/2006/relationships/tags" Target="../tags/tag53.xml"/><Relationship Id="rId79" Type="http://schemas.openxmlformats.org/officeDocument/2006/relationships/tags" Target="../tags/tag122.xml"/><Relationship Id="rId78" Type="http://schemas.openxmlformats.org/officeDocument/2006/relationships/tags" Target="../tags/tag121.xml"/><Relationship Id="rId77" Type="http://schemas.openxmlformats.org/officeDocument/2006/relationships/tags" Target="../tags/tag120.xml"/><Relationship Id="rId76" Type="http://schemas.openxmlformats.org/officeDocument/2006/relationships/tags" Target="../tags/tag119.xml"/><Relationship Id="rId75" Type="http://schemas.openxmlformats.org/officeDocument/2006/relationships/tags" Target="../tags/tag118.xml"/><Relationship Id="rId74" Type="http://schemas.openxmlformats.org/officeDocument/2006/relationships/tags" Target="../tags/tag117.xml"/><Relationship Id="rId73" Type="http://schemas.openxmlformats.org/officeDocument/2006/relationships/image" Target="../media/image17.svg"/><Relationship Id="rId72" Type="http://schemas.openxmlformats.org/officeDocument/2006/relationships/image" Target="../media/image16.png"/><Relationship Id="rId71" Type="http://schemas.openxmlformats.org/officeDocument/2006/relationships/tags" Target="../tags/tag116.xml"/><Relationship Id="rId70" Type="http://schemas.openxmlformats.org/officeDocument/2006/relationships/tags" Target="../tags/tag115.xml"/><Relationship Id="rId7" Type="http://schemas.openxmlformats.org/officeDocument/2006/relationships/tags" Target="../tags/tag52.xml"/><Relationship Id="rId69" Type="http://schemas.openxmlformats.org/officeDocument/2006/relationships/tags" Target="../tags/tag114.xml"/><Relationship Id="rId68" Type="http://schemas.openxmlformats.org/officeDocument/2006/relationships/tags" Target="../tags/tag113.xml"/><Relationship Id="rId67" Type="http://schemas.openxmlformats.org/officeDocument/2006/relationships/tags" Target="../tags/tag112.xml"/><Relationship Id="rId66" Type="http://schemas.openxmlformats.org/officeDocument/2006/relationships/tags" Target="../tags/tag111.xml"/><Relationship Id="rId65" Type="http://schemas.openxmlformats.org/officeDocument/2006/relationships/tags" Target="../tags/tag110.xml"/><Relationship Id="rId64" Type="http://schemas.openxmlformats.org/officeDocument/2006/relationships/tags" Target="../tags/tag109.xml"/><Relationship Id="rId63" Type="http://schemas.openxmlformats.org/officeDocument/2006/relationships/tags" Target="../tags/tag108.xml"/><Relationship Id="rId62" Type="http://schemas.openxmlformats.org/officeDocument/2006/relationships/tags" Target="../tags/tag107.xml"/><Relationship Id="rId61" Type="http://schemas.openxmlformats.org/officeDocument/2006/relationships/tags" Target="../tags/tag106.xml"/><Relationship Id="rId60" Type="http://schemas.openxmlformats.org/officeDocument/2006/relationships/tags" Target="../tags/tag105.xml"/><Relationship Id="rId6" Type="http://schemas.openxmlformats.org/officeDocument/2006/relationships/tags" Target="../tags/tag51.xml"/><Relationship Id="rId59" Type="http://schemas.openxmlformats.org/officeDocument/2006/relationships/tags" Target="../tags/tag104.xml"/><Relationship Id="rId58" Type="http://schemas.openxmlformats.org/officeDocument/2006/relationships/tags" Target="../tags/tag103.xml"/><Relationship Id="rId57" Type="http://schemas.openxmlformats.org/officeDocument/2006/relationships/tags" Target="../tags/tag102.xml"/><Relationship Id="rId56" Type="http://schemas.openxmlformats.org/officeDocument/2006/relationships/tags" Target="../tags/tag101.xml"/><Relationship Id="rId55" Type="http://schemas.openxmlformats.org/officeDocument/2006/relationships/tags" Target="../tags/tag100.xml"/><Relationship Id="rId54" Type="http://schemas.openxmlformats.org/officeDocument/2006/relationships/tags" Target="../tags/tag99.xml"/><Relationship Id="rId53" Type="http://schemas.openxmlformats.org/officeDocument/2006/relationships/tags" Target="../tags/tag98.xml"/><Relationship Id="rId52" Type="http://schemas.openxmlformats.org/officeDocument/2006/relationships/tags" Target="../tags/tag97.xml"/><Relationship Id="rId51" Type="http://schemas.openxmlformats.org/officeDocument/2006/relationships/tags" Target="../tags/tag96.xml"/><Relationship Id="rId50" Type="http://schemas.openxmlformats.org/officeDocument/2006/relationships/tags" Target="../tags/tag95.xml"/><Relationship Id="rId5" Type="http://schemas.openxmlformats.org/officeDocument/2006/relationships/tags" Target="../tags/tag50.xml"/><Relationship Id="rId49" Type="http://schemas.openxmlformats.org/officeDocument/2006/relationships/tags" Target="../tags/tag94.xml"/><Relationship Id="rId48" Type="http://schemas.openxmlformats.org/officeDocument/2006/relationships/tags" Target="../tags/tag93.xml"/><Relationship Id="rId47" Type="http://schemas.openxmlformats.org/officeDocument/2006/relationships/tags" Target="../tags/tag92.xml"/><Relationship Id="rId46" Type="http://schemas.openxmlformats.org/officeDocument/2006/relationships/tags" Target="../tags/tag91.xml"/><Relationship Id="rId45" Type="http://schemas.openxmlformats.org/officeDocument/2006/relationships/tags" Target="../tags/tag90.xml"/><Relationship Id="rId44" Type="http://schemas.openxmlformats.org/officeDocument/2006/relationships/tags" Target="../tags/tag89.xml"/><Relationship Id="rId43" Type="http://schemas.openxmlformats.org/officeDocument/2006/relationships/tags" Target="../tags/tag88.xml"/><Relationship Id="rId42" Type="http://schemas.openxmlformats.org/officeDocument/2006/relationships/tags" Target="../tags/tag87.xml"/><Relationship Id="rId41" Type="http://schemas.openxmlformats.org/officeDocument/2006/relationships/tags" Target="../tags/tag86.xml"/><Relationship Id="rId40" Type="http://schemas.openxmlformats.org/officeDocument/2006/relationships/tags" Target="../tags/tag85.xml"/><Relationship Id="rId4" Type="http://schemas.openxmlformats.org/officeDocument/2006/relationships/tags" Target="../tags/tag49.xml"/><Relationship Id="rId39" Type="http://schemas.openxmlformats.org/officeDocument/2006/relationships/tags" Target="../tags/tag84.xml"/><Relationship Id="rId38" Type="http://schemas.openxmlformats.org/officeDocument/2006/relationships/tags" Target="../tags/tag83.xml"/><Relationship Id="rId37" Type="http://schemas.openxmlformats.org/officeDocument/2006/relationships/tags" Target="../tags/tag82.xml"/><Relationship Id="rId36" Type="http://schemas.openxmlformats.org/officeDocument/2006/relationships/tags" Target="../tags/tag81.xml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48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openxmlformats.org/officeDocument/2006/relationships/tags" Target="../tags/tag68.xml"/><Relationship Id="rId22" Type="http://schemas.openxmlformats.org/officeDocument/2006/relationships/tags" Target="../tags/tag67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8" Type="http://schemas.openxmlformats.org/officeDocument/2006/relationships/slideLayout" Target="../slideLayouts/slideLayout9.xml"/><Relationship Id="rId147" Type="http://schemas.openxmlformats.org/officeDocument/2006/relationships/tags" Target="../tags/tag190.xml"/><Relationship Id="rId146" Type="http://schemas.openxmlformats.org/officeDocument/2006/relationships/tags" Target="../tags/tag189.xml"/><Relationship Id="rId145" Type="http://schemas.openxmlformats.org/officeDocument/2006/relationships/tags" Target="../tags/tag188.xml"/><Relationship Id="rId144" Type="http://schemas.openxmlformats.org/officeDocument/2006/relationships/tags" Target="../tags/tag187.xml"/><Relationship Id="rId143" Type="http://schemas.openxmlformats.org/officeDocument/2006/relationships/tags" Target="../tags/tag186.xml"/><Relationship Id="rId142" Type="http://schemas.openxmlformats.org/officeDocument/2006/relationships/tags" Target="../tags/tag185.xml"/><Relationship Id="rId141" Type="http://schemas.openxmlformats.org/officeDocument/2006/relationships/tags" Target="../tags/tag184.xml"/><Relationship Id="rId140" Type="http://schemas.openxmlformats.org/officeDocument/2006/relationships/tags" Target="../tags/tag183.xml"/><Relationship Id="rId14" Type="http://schemas.openxmlformats.org/officeDocument/2006/relationships/tags" Target="../tags/tag59.xml"/><Relationship Id="rId139" Type="http://schemas.openxmlformats.org/officeDocument/2006/relationships/tags" Target="../tags/tag182.xml"/><Relationship Id="rId138" Type="http://schemas.openxmlformats.org/officeDocument/2006/relationships/tags" Target="../tags/tag181.xml"/><Relationship Id="rId137" Type="http://schemas.openxmlformats.org/officeDocument/2006/relationships/tags" Target="../tags/tag180.xml"/><Relationship Id="rId136" Type="http://schemas.openxmlformats.org/officeDocument/2006/relationships/tags" Target="../tags/tag179.xml"/><Relationship Id="rId135" Type="http://schemas.openxmlformats.org/officeDocument/2006/relationships/tags" Target="../tags/tag178.xml"/><Relationship Id="rId134" Type="http://schemas.openxmlformats.org/officeDocument/2006/relationships/tags" Target="../tags/tag177.xml"/><Relationship Id="rId133" Type="http://schemas.openxmlformats.org/officeDocument/2006/relationships/tags" Target="../tags/tag176.xml"/><Relationship Id="rId132" Type="http://schemas.openxmlformats.org/officeDocument/2006/relationships/tags" Target="../tags/tag175.xml"/><Relationship Id="rId131" Type="http://schemas.openxmlformats.org/officeDocument/2006/relationships/tags" Target="../tags/tag174.xml"/><Relationship Id="rId130" Type="http://schemas.openxmlformats.org/officeDocument/2006/relationships/tags" Target="../tags/tag173.xml"/><Relationship Id="rId13" Type="http://schemas.openxmlformats.org/officeDocument/2006/relationships/tags" Target="../tags/tag58.xml"/><Relationship Id="rId129" Type="http://schemas.openxmlformats.org/officeDocument/2006/relationships/tags" Target="../tags/tag172.xml"/><Relationship Id="rId128" Type="http://schemas.openxmlformats.org/officeDocument/2006/relationships/tags" Target="../tags/tag171.xml"/><Relationship Id="rId127" Type="http://schemas.openxmlformats.org/officeDocument/2006/relationships/tags" Target="../tags/tag170.xml"/><Relationship Id="rId126" Type="http://schemas.openxmlformats.org/officeDocument/2006/relationships/tags" Target="../tags/tag169.xml"/><Relationship Id="rId125" Type="http://schemas.openxmlformats.org/officeDocument/2006/relationships/tags" Target="../tags/tag168.xml"/><Relationship Id="rId124" Type="http://schemas.openxmlformats.org/officeDocument/2006/relationships/tags" Target="../tags/tag167.xml"/><Relationship Id="rId123" Type="http://schemas.openxmlformats.org/officeDocument/2006/relationships/tags" Target="../tags/tag166.xml"/><Relationship Id="rId122" Type="http://schemas.openxmlformats.org/officeDocument/2006/relationships/tags" Target="../tags/tag165.xml"/><Relationship Id="rId121" Type="http://schemas.openxmlformats.org/officeDocument/2006/relationships/tags" Target="../tags/tag164.xml"/><Relationship Id="rId120" Type="http://schemas.openxmlformats.org/officeDocument/2006/relationships/tags" Target="../tags/tag163.xml"/><Relationship Id="rId12" Type="http://schemas.openxmlformats.org/officeDocument/2006/relationships/tags" Target="../tags/tag57.xml"/><Relationship Id="rId119" Type="http://schemas.openxmlformats.org/officeDocument/2006/relationships/tags" Target="../tags/tag162.xml"/><Relationship Id="rId118" Type="http://schemas.openxmlformats.org/officeDocument/2006/relationships/tags" Target="../tags/tag161.xml"/><Relationship Id="rId117" Type="http://schemas.openxmlformats.org/officeDocument/2006/relationships/tags" Target="../tags/tag160.xml"/><Relationship Id="rId116" Type="http://schemas.openxmlformats.org/officeDocument/2006/relationships/tags" Target="../tags/tag159.xml"/><Relationship Id="rId115" Type="http://schemas.openxmlformats.org/officeDocument/2006/relationships/tags" Target="../tags/tag158.xml"/><Relationship Id="rId114" Type="http://schemas.openxmlformats.org/officeDocument/2006/relationships/tags" Target="../tags/tag157.xml"/><Relationship Id="rId113" Type="http://schemas.openxmlformats.org/officeDocument/2006/relationships/tags" Target="../tags/tag156.xml"/><Relationship Id="rId112" Type="http://schemas.openxmlformats.org/officeDocument/2006/relationships/tags" Target="../tags/tag155.xml"/><Relationship Id="rId111" Type="http://schemas.openxmlformats.org/officeDocument/2006/relationships/tags" Target="../tags/tag154.xml"/><Relationship Id="rId110" Type="http://schemas.openxmlformats.org/officeDocument/2006/relationships/tags" Target="../tags/tag153.xml"/><Relationship Id="rId11" Type="http://schemas.openxmlformats.org/officeDocument/2006/relationships/tags" Target="../tags/tag56.xml"/><Relationship Id="rId109" Type="http://schemas.openxmlformats.org/officeDocument/2006/relationships/tags" Target="../tags/tag152.xml"/><Relationship Id="rId108" Type="http://schemas.openxmlformats.org/officeDocument/2006/relationships/tags" Target="../tags/tag151.xml"/><Relationship Id="rId107" Type="http://schemas.openxmlformats.org/officeDocument/2006/relationships/tags" Target="../tags/tag150.xml"/><Relationship Id="rId106" Type="http://schemas.openxmlformats.org/officeDocument/2006/relationships/tags" Target="../tags/tag149.xml"/><Relationship Id="rId105" Type="http://schemas.openxmlformats.org/officeDocument/2006/relationships/tags" Target="../tags/tag148.xml"/><Relationship Id="rId104" Type="http://schemas.openxmlformats.org/officeDocument/2006/relationships/tags" Target="../tags/tag147.xml"/><Relationship Id="rId103" Type="http://schemas.openxmlformats.org/officeDocument/2006/relationships/tags" Target="../tags/tag146.xml"/><Relationship Id="rId102" Type="http://schemas.openxmlformats.org/officeDocument/2006/relationships/tags" Target="../tags/tag145.xml"/><Relationship Id="rId101" Type="http://schemas.openxmlformats.org/officeDocument/2006/relationships/tags" Target="../tags/tag144.xml"/><Relationship Id="rId100" Type="http://schemas.openxmlformats.org/officeDocument/2006/relationships/tags" Target="../tags/tag143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2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6.png"/><Relationship Id="rId17" Type="http://schemas.openxmlformats.org/officeDocument/2006/relationships/image" Target="../media/image35.svg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41.svg"/><Relationship Id="rId7" Type="http://schemas.openxmlformats.org/officeDocument/2006/relationships/image" Target="../media/image25.png"/><Relationship Id="rId6" Type="http://schemas.openxmlformats.org/officeDocument/2006/relationships/image" Target="../media/image40.svg"/><Relationship Id="rId5" Type="http://schemas.openxmlformats.org/officeDocument/2006/relationships/image" Target="../media/image23.png"/><Relationship Id="rId4" Type="http://schemas.openxmlformats.org/officeDocument/2006/relationships/image" Target="../media/image39.svg"/><Relationship Id="rId3" Type="http://schemas.openxmlformats.org/officeDocument/2006/relationships/image" Target="../media/image21.png"/><Relationship Id="rId2" Type="http://schemas.openxmlformats.org/officeDocument/2006/relationships/image" Target="../media/image38.sv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36.png"/><Relationship Id="rId16" Type="http://schemas.openxmlformats.org/officeDocument/2006/relationships/image" Target="../media/image45.svg"/><Relationship Id="rId15" Type="http://schemas.openxmlformats.org/officeDocument/2006/relationships/image" Target="../media/image33.png"/><Relationship Id="rId14" Type="http://schemas.openxmlformats.org/officeDocument/2006/relationships/image" Target="../media/image44.svg"/><Relationship Id="rId13" Type="http://schemas.openxmlformats.org/officeDocument/2006/relationships/image" Target="../media/image31.png"/><Relationship Id="rId12" Type="http://schemas.openxmlformats.org/officeDocument/2006/relationships/image" Target="../media/image43.svg"/><Relationship Id="rId11" Type="http://schemas.openxmlformats.org/officeDocument/2006/relationships/image" Target="../media/image29.png"/><Relationship Id="rId10" Type="http://schemas.openxmlformats.org/officeDocument/2006/relationships/image" Target="../media/image42.svg"/><Relationship Id="rId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4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6.png"/><Relationship Id="rId17" Type="http://schemas.openxmlformats.org/officeDocument/2006/relationships/image" Target="../media/image49.svg"/><Relationship Id="rId16" Type="http://schemas.openxmlformats.org/officeDocument/2006/relationships/image" Target="../media/image48.svg"/><Relationship Id="rId15" Type="http://schemas.openxmlformats.org/officeDocument/2006/relationships/image" Target="../media/image47.png"/><Relationship Id="rId14" Type="http://schemas.openxmlformats.org/officeDocument/2006/relationships/image" Target="../media/image34.svg"/><Relationship Id="rId13" Type="http://schemas.openxmlformats.org/officeDocument/2006/relationships/image" Target="../media/image33.png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50.sv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57.svg"/><Relationship Id="rId7" Type="http://schemas.openxmlformats.org/officeDocument/2006/relationships/image" Target="../media/image2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51.png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2.xml"/><Relationship Id="rId24" Type="http://schemas.openxmlformats.org/officeDocument/2006/relationships/image" Target="../media/image36.png"/><Relationship Id="rId23" Type="http://schemas.openxmlformats.org/officeDocument/2006/relationships/image" Target="../media/image77.svg"/><Relationship Id="rId22" Type="http://schemas.openxmlformats.org/officeDocument/2006/relationships/image" Target="../media/image76.png"/><Relationship Id="rId21" Type="http://schemas.openxmlformats.org/officeDocument/2006/relationships/image" Target="../media/image75.svg"/><Relationship Id="rId20" Type="http://schemas.openxmlformats.org/officeDocument/2006/relationships/image" Target="../media/image74.png"/><Relationship Id="rId2" Type="http://schemas.openxmlformats.org/officeDocument/2006/relationships/tags" Target="../tags/tag192.xml"/><Relationship Id="rId19" Type="http://schemas.openxmlformats.org/officeDocument/2006/relationships/image" Target="../media/image73.svg"/><Relationship Id="rId18" Type="http://schemas.openxmlformats.org/officeDocument/2006/relationships/image" Target="../media/image72.png"/><Relationship Id="rId17" Type="http://schemas.openxmlformats.org/officeDocument/2006/relationships/image" Target="../media/image71.svg"/><Relationship Id="rId16" Type="http://schemas.openxmlformats.org/officeDocument/2006/relationships/image" Target="../media/image70.png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image" Target="../media/image58.svg"/><Relationship Id="rId10" Type="http://schemas.openxmlformats.org/officeDocument/2006/relationships/image" Target="../media/image21.png"/><Relationship Id="rId1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image" Target="../media/image78.sv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7" Type="http://schemas.openxmlformats.org/officeDocument/2006/relationships/slideLayout" Target="../slideLayouts/slideLayout12.xml"/><Relationship Id="rId56" Type="http://schemas.openxmlformats.org/officeDocument/2006/relationships/image" Target="../media/image36.png"/><Relationship Id="rId55" Type="http://schemas.openxmlformats.org/officeDocument/2006/relationships/tags" Target="../tags/tag240.xml"/><Relationship Id="rId54" Type="http://schemas.openxmlformats.org/officeDocument/2006/relationships/tags" Target="../tags/tag239.xml"/><Relationship Id="rId53" Type="http://schemas.openxmlformats.org/officeDocument/2006/relationships/image" Target="../media/image94.svg"/><Relationship Id="rId52" Type="http://schemas.openxmlformats.org/officeDocument/2006/relationships/image" Target="../media/image93.png"/><Relationship Id="rId51" Type="http://schemas.openxmlformats.org/officeDocument/2006/relationships/image" Target="../media/image92.svg"/><Relationship Id="rId50" Type="http://schemas.openxmlformats.org/officeDocument/2006/relationships/image" Target="../media/image91.png"/><Relationship Id="rId5" Type="http://schemas.openxmlformats.org/officeDocument/2006/relationships/tags" Target="../tags/tag204.xml"/><Relationship Id="rId49" Type="http://schemas.openxmlformats.org/officeDocument/2006/relationships/image" Target="../media/image90.svg"/><Relationship Id="rId48" Type="http://schemas.openxmlformats.org/officeDocument/2006/relationships/image" Target="../media/image89.png"/><Relationship Id="rId47" Type="http://schemas.openxmlformats.org/officeDocument/2006/relationships/image" Target="../media/image88.svg"/><Relationship Id="rId46" Type="http://schemas.openxmlformats.org/officeDocument/2006/relationships/image" Target="../media/image87.png"/><Relationship Id="rId45" Type="http://schemas.openxmlformats.org/officeDocument/2006/relationships/tags" Target="../tags/tag238.xml"/><Relationship Id="rId44" Type="http://schemas.openxmlformats.org/officeDocument/2006/relationships/tags" Target="../tags/tag237.xml"/><Relationship Id="rId43" Type="http://schemas.openxmlformats.org/officeDocument/2006/relationships/tags" Target="../tags/tag236.xml"/><Relationship Id="rId42" Type="http://schemas.openxmlformats.org/officeDocument/2006/relationships/tags" Target="../tags/tag235.xml"/><Relationship Id="rId41" Type="http://schemas.openxmlformats.org/officeDocument/2006/relationships/tags" Target="../tags/tag234.xml"/><Relationship Id="rId40" Type="http://schemas.openxmlformats.org/officeDocument/2006/relationships/tags" Target="../tags/tag233.xml"/><Relationship Id="rId4" Type="http://schemas.openxmlformats.org/officeDocument/2006/relationships/tags" Target="../tags/tag203.xml"/><Relationship Id="rId39" Type="http://schemas.openxmlformats.org/officeDocument/2006/relationships/tags" Target="../tags/tag232.xml"/><Relationship Id="rId38" Type="http://schemas.openxmlformats.org/officeDocument/2006/relationships/tags" Target="../tags/tag231.xml"/><Relationship Id="rId37" Type="http://schemas.openxmlformats.org/officeDocument/2006/relationships/tags" Target="../tags/tag230.xml"/><Relationship Id="rId36" Type="http://schemas.openxmlformats.org/officeDocument/2006/relationships/tags" Target="../tags/tag229.xml"/><Relationship Id="rId35" Type="http://schemas.openxmlformats.org/officeDocument/2006/relationships/tags" Target="../tags/tag228.xml"/><Relationship Id="rId34" Type="http://schemas.openxmlformats.org/officeDocument/2006/relationships/tags" Target="../tags/tag227.xml"/><Relationship Id="rId33" Type="http://schemas.openxmlformats.org/officeDocument/2006/relationships/image" Target="../media/image86.svg"/><Relationship Id="rId32" Type="http://schemas.openxmlformats.org/officeDocument/2006/relationships/image" Target="../media/image85.png"/><Relationship Id="rId31" Type="http://schemas.openxmlformats.org/officeDocument/2006/relationships/image" Target="../media/image84.svg"/><Relationship Id="rId30" Type="http://schemas.openxmlformats.org/officeDocument/2006/relationships/image" Target="../media/image83.png"/><Relationship Id="rId3" Type="http://schemas.openxmlformats.org/officeDocument/2006/relationships/tags" Target="../tags/tag202.xml"/><Relationship Id="rId29" Type="http://schemas.openxmlformats.org/officeDocument/2006/relationships/image" Target="../media/image82.svg"/><Relationship Id="rId28" Type="http://schemas.openxmlformats.org/officeDocument/2006/relationships/image" Target="../media/image81.png"/><Relationship Id="rId27" Type="http://schemas.openxmlformats.org/officeDocument/2006/relationships/tags" Target="../tags/tag226.xml"/><Relationship Id="rId26" Type="http://schemas.openxmlformats.org/officeDocument/2006/relationships/tags" Target="../tags/tag225.xml"/><Relationship Id="rId25" Type="http://schemas.openxmlformats.org/officeDocument/2006/relationships/tags" Target="../tags/tag224.xml"/><Relationship Id="rId24" Type="http://schemas.openxmlformats.org/officeDocument/2006/relationships/tags" Target="../tags/tag223.xml"/><Relationship Id="rId23" Type="http://schemas.openxmlformats.org/officeDocument/2006/relationships/tags" Target="../tags/tag222.xml"/><Relationship Id="rId22" Type="http://schemas.openxmlformats.org/officeDocument/2006/relationships/tags" Target="../tags/tag221.xml"/><Relationship Id="rId21" Type="http://schemas.openxmlformats.org/officeDocument/2006/relationships/tags" Target="../tags/tag220.xml"/><Relationship Id="rId20" Type="http://schemas.openxmlformats.org/officeDocument/2006/relationships/tags" Target="../tags/tag219.xml"/><Relationship Id="rId2" Type="http://schemas.openxmlformats.org/officeDocument/2006/relationships/image" Target="../media/image80.svg"/><Relationship Id="rId19" Type="http://schemas.openxmlformats.org/officeDocument/2006/relationships/tags" Target="../tags/tag218.xml"/><Relationship Id="rId18" Type="http://schemas.openxmlformats.org/officeDocument/2006/relationships/tags" Target="../tags/tag217.xml"/><Relationship Id="rId17" Type="http://schemas.openxmlformats.org/officeDocument/2006/relationships/tags" Target="../tags/tag216.xml"/><Relationship Id="rId16" Type="http://schemas.openxmlformats.org/officeDocument/2006/relationships/tags" Target="../tags/tag215.xml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tags" Target="../tags/tag211.xml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1.svg"/><Relationship Id="rId8" Type="http://schemas.openxmlformats.org/officeDocument/2006/relationships/image" Target="../media/image100.png"/><Relationship Id="rId7" Type="http://schemas.openxmlformats.org/officeDocument/2006/relationships/image" Target="../media/image99.svg"/><Relationship Id="rId6" Type="http://schemas.openxmlformats.org/officeDocument/2006/relationships/image" Target="../media/image98.png"/><Relationship Id="rId5" Type="http://schemas.openxmlformats.org/officeDocument/2006/relationships/image" Target="../media/image97.svg"/><Relationship Id="rId4" Type="http://schemas.openxmlformats.org/officeDocument/2006/relationships/image" Target="../media/image96.png"/><Relationship Id="rId3" Type="http://schemas.openxmlformats.org/officeDocument/2006/relationships/image" Target="../media/image95.svg"/><Relationship Id="rId2" Type="http://schemas.openxmlformats.org/officeDocument/2006/relationships/image" Target="../media/image21.pn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6.png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7" Type="http://schemas.openxmlformats.org/officeDocument/2006/relationships/notesSlide" Target="../notesSlides/notesSlide12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36.png"/><Relationship Id="rId24" Type="http://schemas.openxmlformats.org/officeDocument/2006/relationships/image" Target="../media/image109.svg"/><Relationship Id="rId23" Type="http://schemas.openxmlformats.org/officeDocument/2006/relationships/image" Target="../media/image108.png"/><Relationship Id="rId22" Type="http://schemas.openxmlformats.org/officeDocument/2006/relationships/image" Target="../media/image107.svg"/><Relationship Id="rId21" Type="http://schemas.openxmlformats.org/officeDocument/2006/relationships/image" Target="../media/image106.png"/><Relationship Id="rId20" Type="http://schemas.openxmlformats.org/officeDocument/2006/relationships/image" Target="../media/image105.svg"/><Relationship Id="rId2" Type="http://schemas.openxmlformats.org/officeDocument/2006/relationships/image" Target="../media/image95.svg"/><Relationship Id="rId19" Type="http://schemas.openxmlformats.org/officeDocument/2006/relationships/image" Target="../media/image104.png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2" Type="http://schemas.openxmlformats.org/officeDocument/2006/relationships/slideLayout" Target="../slideLayouts/slideLayout12.xml"/><Relationship Id="rId71" Type="http://schemas.openxmlformats.org/officeDocument/2006/relationships/image" Target="../media/image36.png"/><Relationship Id="rId70" Type="http://schemas.openxmlformats.org/officeDocument/2006/relationships/tags" Target="../tags/tag318.xml"/><Relationship Id="rId7" Type="http://schemas.openxmlformats.org/officeDocument/2006/relationships/tags" Target="../tags/tag261.xml"/><Relationship Id="rId69" Type="http://schemas.openxmlformats.org/officeDocument/2006/relationships/tags" Target="../tags/tag317.xml"/><Relationship Id="rId68" Type="http://schemas.openxmlformats.org/officeDocument/2006/relationships/tags" Target="../tags/tag316.xml"/><Relationship Id="rId67" Type="http://schemas.openxmlformats.org/officeDocument/2006/relationships/tags" Target="../tags/tag315.xml"/><Relationship Id="rId66" Type="http://schemas.openxmlformats.org/officeDocument/2006/relationships/tags" Target="../tags/tag314.xml"/><Relationship Id="rId65" Type="http://schemas.openxmlformats.org/officeDocument/2006/relationships/tags" Target="../tags/tag313.xml"/><Relationship Id="rId64" Type="http://schemas.openxmlformats.org/officeDocument/2006/relationships/tags" Target="../tags/tag312.xml"/><Relationship Id="rId63" Type="http://schemas.openxmlformats.org/officeDocument/2006/relationships/tags" Target="../tags/tag311.xml"/><Relationship Id="rId62" Type="http://schemas.openxmlformats.org/officeDocument/2006/relationships/tags" Target="../tags/tag310.xml"/><Relationship Id="rId61" Type="http://schemas.openxmlformats.org/officeDocument/2006/relationships/tags" Target="../tags/tag309.xml"/><Relationship Id="rId60" Type="http://schemas.openxmlformats.org/officeDocument/2006/relationships/tags" Target="../tags/tag308.xml"/><Relationship Id="rId6" Type="http://schemas.openxmlformats.org/officeDocument/2006/relationships/tags" Target="../tags/tag260.xml"/><Relationship Id="rId59" Type="http://schemas.openxmlformats.org/officeDocument/2006/relationships/tags" Target="../tags/tag307.xml"/><Relationship Id="rId58" Type="http://schemas.openxmlformats.org/officeDocument/2006/relationships/tags" Target="../tags/tag306.xml"/><Relationship Id="rId57" Type="http://schemas.openxmlformats.org/officeDocument/2006/relationships/tags" Target="../tags/tag305.xml"/><Relationship Id="rId56" Type="http://schemas.openxmlformats.org/officeDocument/2006/relationships/tags" Target="../tags/tag304.xml"/><Relationship Id="rId55" Type="http://schemas.openxmlformats.org/officeDocument/2006/relationships/tags" Target="../tags/tag303.xml"/><Relationship Id="rId54" Type="http://schemas.openxmlformats.org/officeDocument/2006/relationships/tags" Target="../tags/tag302.xml"/><Relationship Id="rId53" Type="http://schemas.openxmlformats.org/officeDocument/2006/relationships/tags" Target="../tags/tag301.xml"/><Relationship Id="rId52" Type="http://schemas.openxmlformats.org/officeDocument/2006/relationships/tags" Target="../tags/tag300.xml"/><Relationship Id="rId51" Type="http://schemas.openxmlformats.org/officeDocument/2006/relationships/tags" Target="../tags/tag299.xml"/><Relationship Id="rId50" Type="http://schemas.openxmlformats.org/officeDocument/2006/relationships/image" Target="../media/image117.svg"/><Relationship Id="rId5" Type="http://schemas.openxmlformats.org/officeDocument/2006/relationships/tags" Target="../tags/tag259.xml"/><Relationship Id="rId49" Type="http://schemas.openxmlformats.org/officeDocument/2006/relationships/image" Target="../media/image116.png"/><Relationship Id="rId48" Type="http://schemas.openxmlformats.org/officeDocument/2006/relationships/tags" Target="../tags/tag298.xml"/><Relationship Id="rId47" Type="http://schemas.openxmlformats.org/officeDocument/2006/relationships/tags" Target="../tags/tag297.xml"/><Relationship Id="rId46" Type="http://schemas.openxmlformats.org/officeDocument/2006/relationships/tags" Target="../tags/tag296.xml"/><Relationship Id="rId45" Type="http://schemas.openxmlformats.org/officeDocument/2006/relationships/tags" Target="../tags/tag295.xml"/><Relationship Id="rId44" Type="http://schemas.openxmlformats.org/officeDocument/2006/relationships/tags" Target="../tags/tag294.xml"/><Relationship Id="rId43" Type="http://schemas.openxmlformats.org/officeDocument/2006/relationships/tags" Target="../tags/tag293.xml"/><Relationship Id="rId42" Type="http://schemas.openxmlformats.org/officeDocument/2006/relationships/tags" Target="../tags/tag292.xml"/><Relationship Id="rId41" Type="http://schemas.openxmlformats.org/officeDocument/2006/relationships/tags" Target="../tags/tag291.xml"/><Relationship Id="rId40" Type="http://schemas.openxmlformats.org/officeDocument/2006/relationships/tags" Target="../tags/tag290.xml"/><Relationship Id="rId4" Type="http://schemas.openxmlformats.org/officeDocument/2006/relationships/tags" Target="../tags/tag258.xml"/><Relationship Id="rId39" Type="http://schemas.openxmlformats.org/officeDocument/2006/relationships/tags" Target="../tags/tag289.xml"/><Relationship Id="rId38" Type="http://schemas.openxmlformats.org/officeDocument/2006/relationships/image" Target="../media/image115.svg"/><Relationship Id="rId37" Type="http://schemas.openxmlformats.org/officeDocument/2006/relationships/image" Target="../media/image114.png"/><Relationship Id="rId36" Type="http://schemas.openxmlformats.org/officeDocument/2006/relationships/tags" Target="../tags/tag288.xml"/><Relationship Id="rId35" Type="http://schemas.openxmlformats.org/officeDocument/2006/relationships/tags" Target="../tags/tag287.xml"/><Relationship Id="rId34" Type="http://schemas.openxmlformats.org/officeDocument/2006/relationships/tags" Target="../tags/tag286.xml"/><Relationship Id="rId33" Type="http://schemas.openxmlformats.org/officeDocument/2006/relationships/tags" Target="../tags/tag285.xml"/><Relationship Id="rId32" Type="http://schemas.openxmlformats.org/officeDocument/2006/relationships/tags" Target="../tags/tag284.xml"/><Relationship Id="rId31" Type="http://schemas.openxmlformats.org/officeDocument/2006/relationships/tags" Target="../tags/tag283.xml"/><Relationship Id="rId30" Type="http://schemas.openxmlformats.org/officeDocument/2006/relationships/tags" Target="../tags/tag282.xml"/><Relationship Id="rId3" Type="http://schemas.openxmlformats.org/officeDocument/2006/relationships/tags" Target="../tags/tag257.xml"/><Relationship Id="rId29" Type="http://schemas.openxmlformats.org/officeDocument/2006/relationships/tags" Target="../tags/tag281.xml"/><Relationship Id="rId28" Type="http://schemas.openxmlformats.org/officeDocument/2006/relationships/image" Target="../media/image113.svg"/><Relationship Id="rId27" Type="http://schemas.openxmlformats.org/officeDocument/2006/relationships/image" Target="../media/image112.png"/><Relationship Id="rId26" Type="http://schemas.openxmlformats.org/officeDocument/2006/relationships/tags" Target="../tags/tag280.xml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tags" Target="../tags/tag277.xml"/><Relationship Id="rId22" Type="http://schemas.openxmlformats.org/officeDocument/2006/relationships/tags" Target="../tags/tag276.xml"/><Relationship Id="rId21" Type="http://schemas.openxmlformats.org/officeDocument/2006/relationships/tags" Target="../tags/tag275.xml"/><Relationship Id="rId20" Type="http://schemas.openxmlformats.org/officeDocument/2006/relationships/tags" Target="../tags/tag274.xml"/><Relationship Id="rId2" Type="http://schemas.openxmlformats.org/officeDocument/2006/relationships/image" Target="../media/image111.svg"/><Relationship Id="rId19" Type="http://schemas.openxmlformats.org/officeDocument/2006/relationships/tags" Target="../tags/tag273.xml"/><Relationship Id="rId18" Type="http://schemas.openxmlformats.org/officeDocument/2006/relationships/tags" Target="../tags/tag272.xml"/><Relationship Id="rId17" Type="http://schemas.openxmlformats.org/officeDocument/2006/relationships/tags" Target="../tags/tag271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image" Target="../media/image110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5" Type="http://schemas.openxmlformats.org/officeDocument/2006/relationships/slideLayout" Target="../slideLayouts/slideLayout12.xml"/><Relationship Id="rId34" Type="http://schemas.openxmlformats.org/officeDocument/2006/relationships/image" Target="../media/image36.png"/><Relationship Id="rId33" Type="http://schemas.openxmlformats.org/officeDocument/2006/relationships/tags" Target="../tags/tag349.xml"/><Relationship Id="rId32" Type="http://schemas.openxmlformats.org/officeDocument/2006/relationships/tags" Target="../tags/tag348.xml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19.xml"/><Relationship Id="rId29" Type="http://schemas.openxmlformats.org/officeDocument/2006/relationships/tags" Target="../tags/tag345.xml"/><Relationship Id="rId28" Type="http://schemas.openxmlformats.org/officeDocument/2006/relationships/tags" Target="../tags/tag344.xml"/><Relationship Id="rId27" Type="http://schemas.openxmlformats.org/officeDocument/2006/relationships/tags" Target="../tags/tag343.xml"/><Relationship Id="rId26" Type="http://schemas.openxmlformats.org/officeDocument/2006/relationships/tags" Target="../tags/tag342.xml"/><Relationship Id="rId25" Type="http://schemas.openxmlformats.org/officeDocument/2006/relationships/tags" Target="../tags/tag341.xml"/><Relationship Id="rId24" Type="http://schemas.openxmlformats.org/officeDocument/2006/relationships/tags" Target="../tags/tag340.xml"/><Relationship Id="rId23" Type="http://schemas.openxmlformats.org/officeDocument/2006/relationships/tags" Target="../tags/tag339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openxmlformats.org/officeDocument/2006/relationships/image" Target="../media/image118.svg"/><Relationship Id="rId19" Type="http://schemas.openxmlformats.org/officeDocument/2006/relationships/tags" Target="../tags/tag335.xml"/><Relationship Id="rId18" Type="http://schemas.openxmlformats.org/officeDocument/2006/relationships/tags" Target="../tags/tag334.xml"/><Relationship Id="rId17" Type="http://schemas.openxmlformats.org/officeDocument/2006/relationships/tags" Target="../tags/tag333.xml"/><Relationship Id="rId16" Type="http://schemas.openxmlformats.org/officeDocument/2006/relationships/tags" Target="../tags/tag332.xml"/><Relationship Id="rId15" Type="http://schemas.openxmlformats.org/officeDocument/2006/relationships/tags" Target="../tags/tag331.xml"/><Relationship Id="rId14" Type="http://schemas.openxmlformats.org/officeDocument/2006/relationships/tags" Target="../tags/tag330.xml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svg"/><Relationship Id="rId8" Type="http://schemas.openxmlformats.org/officeDocument/2006/relationships/image" Target="../media/image120.png"/><Relationship Id="rId7" Type="http://schemas.openxmlformats.org/officeDocument/2006/relationships/tags" Target="../tags/tag354.xml"/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image" Target="../media/image119.svg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6.png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png"/><Relationship Id="rId8" Type="http://schemas.openxmlformats.org/officeDocument/2006/relationships/image" Target="../media/image128.svg"/><Relationship Id="rId7" Type="http://schemas.openxmlformats.org/officeDocument/2006/relationships/image" Target="../media/image127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4" Type="http://schemas.openxmlformats.org/officeDocument/2006/relationships/image" Target="../media/image124.svg"/><Relationship Id="rId3" Type="http://schemas.openxmlformats.org/officeDocument/2006/relationships/image" Target="../media/image123.png"/><Relationship Id="rId2" Type="http://schemas.openxmlformats.org/officeDocument/2006/relationships/image" Target="../media/image122.sv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6.png"/><Relationship Id="rId10" Type="http://schemas.openxmlformats.org/officeDocument/2006/relationships/image" Target="../media/image130.svg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131.svg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svg"/><Relationship Id="rId8" Type="http://schemas.openxmlformats.org/officeDocument/2006/relationships/image" Target="../media/image116.png"/><Relationship Id="rId7" Type="http://schemas.openxmlformats.org/officeDocument/2006/relationships/image" Target="../media/image134.svg"/><Relationship Id="rId6" Type="http://schemas.openxmlformats.org/officeDocument/2006/relationships/image" Target="../media/image133.png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36.png"/><Relationship Id="rId27" Type="http://schemas.openxmlformats.org/officeDocument/2006/relationships/tags" Target="../tags/tag367.xml"/><Relationship Id="rId26" Type="http://schemas.openxmlformats.org/officeDocument/2006/relationships/tags" Target="../tags/tag366.xml"/><Relationship Id="rId25" Type="http://schemas.openxmlformats.org/officeDocument/2006/relationships/image" Target="../media/image143.svg"/><Relationship Id="rId24" Type="http://schemas.openxmlformats.org/officeDocument/2006/relationships/image" Target="../media/image142.png"/><Relationship Id="rId23" Type="http://schemas.openxmlformats.org/officeDocument/2006/relationships/tags" Target="../tags/tag365.xml"/><Relationship Id="rId22" Type="http://schemas.openxmlformats.org/officeDocument/2006/relationships/image" Target="../media/image141.svg"/><Relationship Id="rId21" Type="http://schemas.openxmlformats.org/officeDocument/2006/relationships/image" Target="../media/image140.png"/><Relationship Id="rId20" Type="http://schemas.openxmlformats.org/officeDocument/2006/relationships/image" Target="../media/image139.svg"/><Relationship Id="rId2" Type="http://schemas.openxmlformats.org/officeDocument/2006/relationships/image" Target="../media/image132.svg"/><Relationship Id="rId19" Type="http://schemas.openxmlformats.org/officeDocument/2006/relationships/image" Target="../media/image138.png"/><Relationship Id="rId18" Type="http://schemas.openxmlformats.org/officeDocument/2006/relationships/tags" Target="../tags/tag364.xml"/><Relationship Id="rId17" Type="http://schemas.openxmlformats.org/officeDocument/2006/relationships/image" Target="../media/image137.svg"/><Relationship Id="rId16" Type="http://schemas.openxmlformats.org/officeDocument/2006/relationships/image" Target="../media/image136.png"/><Relationship Id="rId15" Type="http://schemas.openxmlformats.org/officeDocument/2006/relationships/tags" Target="../tags/tag363.xml"/><Relationship Id="rId14" Type="http://schemas.openxmlformats.org/officeDocument/2006/relationships/tags" Target="../tags/tag362.xml"/><Relationship Id="rId13" Type="http://schemas.openxmlformats.org/officeDocument/2006/relationships/tags" Target="../tags/tag361.xml"/><Relationship Id="rId12" Type="http://schemas.openxmlformats.org/officeDocument/2006/relationships/tags" Target="../tags/tag360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image" Target="../media/image7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png"/><Relationship Id="rId8" Type="http://schemas.openxmlformats.org/officeDocument/2006/relationships/image" Target="../media/image151.svg"/><Relationship Id="rId7" Type="http://schemas.openxmlformats.org/officeDocument/2006/relationships/image" Target="../media/image150.png"/><Relationship Id="rId6" Type="http://schemas.openxmlformats.org/officeDocument/2006/relationships/image" Target="../media/image149.svg"/><Relationship Id="rId5" Type="http://schemas.openxmlformats.org/officeDocument/2006/relationships/image" Target="../media/image148.png"/><Relationship Id="rId4" Type="http://schemas.openxmlformats.org/officeDocument/2006/relationships/image" Target="../media/image147.svg"/><Relationship Id="rId3" Type="http://schemas.openxmlformats.org/officeDocument/2006/relationships/image" Target="../media/image146.png"/><Relationship Id="rId2" Type="http://schemas.openxmlformats.org/officeDocument/2006/relationships/image" Target="../media/image145.sv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6.png"/><Relationship Id="rId14" Type="http://schemas.openxmlformats.org/officeDocument/2006/relationships/image" Target="../media/image157.svg"/><Relationship Id="rId13" Type="http://schemas.openxmlformats.org/officeDocument/2006/relationships/image" Target="../media/image156.png"/><Relationship Id="rId12" Type="http://schemas.openxmlformats.org/officeDocument/2006/relationships/image" Target="../media/image155.svg"/><Relationship Id="rId11" Type="http://schemas.openxmlformats.org/officeDocument/2006/relationships/image" Target="../media/image154.png"/><Relationship Id="rId10" Type="http://schemas.openxmlformats.org/officeDocument/2006/relationships/image" Target="../media/image153.svg"/><Relationship Id="rId1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74.xml"/><Relationship Id="rId8" Type="http://schemas.openxmlformats.org/officeDocument/2006/relationships/tags" Target="../tags/tag373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36.png"/><Relationship Id="rId2" Type="http://schemas.openxmlformats.org/officeDocument/2006/relationships/image" Target="../media/image158.svg"/><Relationship Id="rId19" Type="http://schemas.openxmlformats.org/officeDocument/2006/relationships/tags" Target="../tags/tag384.xml"/><Relationship Id="rId18" Type="http://schemas.openxmlformats.org/officeDocument/2006/relationships/tags" Target="../tags/tag383.xml"/><Relationship Id="rId17" Type="http://schemas.openxmlformats.org/officeDocument/2006/relationships/tags" Target="../tags/tag382.xml"/><Relationship Id="rId16" Type="http://schemas.openxmlformats.org/officeDocument/2006/relationships/tags" Target="../tags/tag381.xml"/><Relationship Id="rId15" Type="http://schemas.openxmlformats.org/officeDocument/2006/relationships/tags" Target="../tags/tag380.xml"/><Relationship Id="rId14" Type="http://schemas.openxmlformats.org/officeDocument/2006/relationships/tags" Target="../tags/tag379.xml"/><Relationship Id="rId13" Type="http://schemas.openxmlformats.org/officeDocument/2006/relationships/tags" Target="../tags/tag378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159.svg"/><Relationship Id="rId1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png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164.svg"/><Relationship Id="rId5" Type="http://schemas.openxmlformats.org/officeDocument/2006/relationships/image" Target="../media/image163.png"/><Relationship Id="rId4" Type="http://schemas.openxmlformats.org/officeDocument/2006/relationships/image" Target="../media/image162.svg"/><Relationship Id="rId3" Type="http://schemas.openxmlformats.org/officeDocument/2006/relationships/image" Target="../media/image161.png"/><Relationship Id="rId2" Type="http://schemas.openxmlformats.org/officeDocument/2006/relationships/image" Target="../media/image160.svg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6.png"/><Relationship Id="rId12" Type="http://schemas.openxmlformats.org/officeDocument/2006/relationships/image" Target="../media/image170.svg"/><Relationship Id="rId11" Type="http://schemas.openxmlformats.org/officeDocument/2006/relationships/image" Target="../media/image169.png"/><Relationship Id="rId10" Type="http://schemas.openxmlformats.org/officeDocument/2006/relationships/image" Target="../media/image168.svg"/><Relationship Id="rId1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image" Target="../media/image175.svg"/><Relationship Id="rId6" Type="http://schemas.openxmlformats.org/officeDocument/2006/relationships/image" Target="../media/image174.png"/><Relationship Id="rId5" Type="http://schemas.openxmlformats.org/officeDocument/2006/relationships/tags" Target="../tags/tag385.xml"/><Relationship Id="rId4" Type="http://schemas.openxmlformats.org/officeDocument/2006/relationships/image" Target="../media/image173.svg"/><Relationship Id="rId3" Type="http://schemas.openxmlformats.org/officeDocument/2006/relationships/image" Target="../media/image172.png"/><Relationship Id="rId2" Type="http://schemas.openxmlformats.org/officeDocument/2006/relationships/image" Target="../media/image171.sv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6.png"/><Relationship Id="rId14" Type="http://schemas.openxmlformats.org/officeDocument/2006/relationships/tags" Target="../tags/tag388.xml"/><Relationship Id="rId13" Type="http://schemas.openxmlformats.org/officeDocument/2006/relationships/image" Target="../media/image179.svg"/><Relationship Id="rId12" Type="http://schemas.openxmlformats.org/officeDocument/2006/relationships/image" Target="../media/image178.png"/><Relationship Id="rId11" Type="http://schemas.openxmlformats.org/officeDocument/2006/relationships/image" Target="../media/image177.svg"/><Relationship Id="rId10" Type="http://schemas.openxmlformats.org/officeDocument/2006/relationships/image" Target="../media/image176.png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180.svg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395.xml"/><Relationship Id="rId8" Type="http://schemas.openxmlformats.org/officeDocument/2006/relationships/tags" Target="../tags/tag394.xml"/><Relationship Id="rId76" Type="http://schemas.openxmlformats.org/officeDocument/2006/relationships/slideLayout" Target="../slideLayouts/slideLayout12.xml"/><Relationship Id="rId75" Type="http://schemas.openxmlformats.org/officeDocument/2006/relationships/image" Target="../media/image36.png"/><Relationship Id="rId74" Type="http://schemas.openxmlformats.org/officeDocument/2006/relationships/tags" Target="../tags/tag446.xml"/><Relationship Id="rId73" Type="http://schemas.openxmlformats.org/officeDocument/2006/relationships/tags" Target="../tags/tag445.xml"/><Relationship Id="rId72" Type="http://schemas.openxmlformats.org/officeDocument/2006/relationships/tags" Target="../tags/tag444.xml"/><Relationship Id="rId71" Type="http://schemas.openxmlformats.org/officeDocument/2006/relationships/tags" Target="../tags/tag443.xml"/><Relationship Id="rId70" Type="http://schemas.openxmlformats.org/officeDocument/2006/relationships/tags" Target="../tags/tag442.xml"/><Relationship Id="rId7" Type="http://schemas.openxmlformats.org/officeDocument/2006/relationships/tags" Target="../tags/tag393.xml"/><Relationship Id="rId69" Type="http://schemas.openxmlformats.org/officeDocument/2006/relationships/tags" Target="../tags/tag441.xml"/><Relationship Id="rId68" Type="http://schemas.openxmlformats.org/officeDocument/2006/relationships/tags" Target="../tags/tag440.xml"/><Relationship Id="rId67" Type="http://schemas.openxmlformats.org/officeDocument/2006/relationships/tags" Target="../tags/tag439.xml"/><Relationship Id="rId66" Type="http://schemas.openxmlformats.org/officeDocument/2006/relationships/image" Target="../media/image195.svg"/><Relationship Id="rId65" Type="http://schemas.openxmlformats.org/officeDocument/2006/relationships/image" Target="../media/image194.png"/><Relationship Id="rId64" Type="http://schemas.openxmlformats.org/officeDocument/2006/relationships/image" Target="../media/image193.svg"/><Relationship Id="rId63" Type="http://schemas.openxmlformats.org/officeDocument/2006/relationships/image" Target="../media/image192.png"/><Relationship Id="rId62" Type="http://schemas.openxmlformats.org/officeDocument/2006/relationships/image" Target="../media/image191.svg"/><Relationship Id="rId61" Type="http://schemas.openxmlformats.org/officeDocument/2006/relationships/image" Target="../media/image190.png"/><Relationship Id="rId60" Type="http://schemas.openxmlformats.org/officeDocument/2006/relationships/image" Target="../media/image189.svg"/><Relationship Id="rId6" Type="http://schemas.openxmlformats.org/officeDocument/2006/relationships/tags" Target="../tags/tag392.xml"/><Relationship Id="rId59" Type="http://schemas.openxmlformats.org/officeDocument/2006/relationships/image" Target="../media/image188.png"/><Relationship Id="rId58" Type="http://schemas.openxmlformats.org/officeDocument/2006/relationships/image" Target="../media/image187.svg"/><Relationship Id="rId57" Type="http://schemas.openxmlformats.org/officeDocument/2006/relationships/image" Target="../media/image186.png"/><Relationship Id="rId56" Type="http://schemas.openxmlformats.org/officeDocument/2006/relationships/image" Target="../media/image185.svg"/><Relationship Id="rId55" Type="http://schemas.openxmlformats.org/officeDocument/2006/relationships/image" Target="../media/image184.png"/><Relationship Id="rId54" Type="http://schemas.openxmlformats.org/officeDocument/2006/relationships/tags" Target="../tags/tag438.xml"/><Relationship Id="rId53" Type="http://schemas.openxmlformats.org/officeDocument/2006/relationships/tags" Target="../tags/tag437.xml"/><Relationship Id="rId52" Type="http://schemas.openxmlformats.org/officeDocument/2006/relationships/tags" Target="../tags/tag436.xml"/><Relationship Id="rId51" Type="http://schemas.openxmlformats.org/officeDocument/2006/relationships/tags" Target="../tags/tag435.xml"/><Relationship Id="rId50" Type="http://schemas.openxmlformats.org/officeDocument/2006/relationships/tags" Target="../tags/tag434.xml"/><Relationship Id="rId5" Type="http://schemas.openxmlformats.org/officeDocument/2006/relationships/tags" Target="../tags/tag391.xml"/><Relationship Id="rId49" Type="http://schemas.openxmlformats.org/officeDocument/2006/relationships/tags" Target="../tags/tag433.xml"/><Relationship Id="rId48" Type="http://schemas.openxmlformats.org/officeDocument/2006/relationships/tags" Target="../tags/tag432.xml"/><Relationship Id="rId47" Type="http://schemas.openxmlformats.org/officeDocument/2006/relationships/tags" Target="../tags/tag431.xml"/><Relationship Id="rId46" Type="http://schemas.openxmlformats.org/officeDocument/2006/relationships/tags" Target="../tags/tag430.xml"/><Relationship Id="rId45" Type="http://schemas.openxmlformats.org/officeDocument/2006/relationships/tags" Target="../tags/tag429.xml"/><Relationship Id="rId44" Type="http://schemas.openxmlformats.org/officeDocument/2006/relationships/tags" Target="../tags/tag428.xml"/><Relationship Id="rId43" Type="http://schemas.openxmlformats.org/officeDocument/2006/relationships/tags" Target="../tags/tag427.xml"/><Relationship Id="rId42" Type="http://schemas.openxmlformats.org/officeDocument/2006/relationships/tags" Target="../tags/tag426.xml"/><Relationship Id="rId41" Type="http://schemas.openxmlformats.org/officeDocument/2006/relationships/image" Target="../media/image183.svg"/><Relationship Id="rId40" Type="http://schemas.openxmlformats.org/officeDocument/2006/relationships/image" Target="../media/image182.png"/><Relationship Id="rId4" Type="http://schemas.openxmlformats.org/officeDocument/2006/relationships/image" Target="../media/image181.svg"/><Relationship Id="rId39" Type="http://schemas.openxmlformats.org/officeDocument/2006/relationships/tags" Target="../tags/tag425.xml"/><Relationship Id="rId38" Type="http://schemas.openxmlformats.org/officeDocument/2006/relationships/tags" Target="../tags/tag424.xml"/><Relationship Id="rId37" Type="http://schemas.openxmlformats.org/officeDocument/2006/relationships/tags" Target="../tags/tag423.xml"/><Relationship Id="rId36" Type="http://schemas.openxmlformats.org/officeDocument/2006/relationships/tags" Target="../tags/tag422.xml"/><Relationship Id="rId35" Type="http://schemas.openxmlformats.org/officeDocument/2006/relationships/tags" Target="../tags/tag421.xml"/><Relationship Id="rId34" Type="http://schemas.openxmlformats.org/officeDocument/2006/relationships/tags" Target="../tags/tag420.xml"/><Relationship Id="rId33" Type="http://schemas.openxmlformats.org/officeDocument/2006/relationships/tags" Target="../tags/tag419.xml"/><Relationship Id="rId32" Type="http://schemas.openxmlformats.org/officeDocument/2006/relationships/tags" Target="../tags/tag418.xml"/><Relationship Id="rId31" Type="http://schemas.openxmlformats.org/officeDocument/2006/relationships/tags" Target="../tags/tag417.xml"/><Relationship Id="rId30" Type="http://schemas.openxmlformats.org/officeDocument/2006/relationships/tags" Target="../tags/tag416.xml"/><Relationship Id="rId3" Type="http://schemas.openxmlformats.org/officeDocument/2006/relationships/image" Target="../media/image79.png"/><Relationship Id="rId29" Type="http://schemas.openxmlformats.org/officeDocument/2006/relationships/tags" Target="../tags/tag415.xml"/><Relationship Id="rId28" Type="http://schemas.openxmlformats.org/officeDocument/2006/relationships/tags" Target="../tags/tag414.xml"/><Relationship Id="rId27" Type="http://schemas.openxmlformats.org/officeDocument/2006/relationships/tags" Target="../tags/tag413.xml"/><Relationship Id="rId26" Type="http://schemas.openxmlformats.org/officeDocument/2006/relationships/tags" Target="../tags/tag412.xml"/><Relationship Id="rId25" Type="http://schemas.openxmlformats.org/officeDocument/2006/relationships/tags" Target="../tags/tag411.xml"/><Relationship Id="rId24" Type="http://schemas.openxmlformats.org/officeDocument/2006/relationships/tags" Target="../tags/tag410.xml"/><Relationship Id="rId23" Type="http://schemas.openxmlformats.org/officeDocument/2006/relationships/tags" Target="../tags/tag409.xml"/><Relationship Id="rId22" Type="http://schemas.openxmlformats.org/officeDocument/2006/relationships/tags" Target="../tags/tag408.xml"/><Relationship Id="rId21" Type="http://schemas.openxmlformats.org/officeDocument/2006/relationships/tags" Target="../tags/tag407.xml"/><Relationship Id="rId20" Type="http://schemas.openxmlformats.org/officeDocument/2006/relationships/tags" Target="../tags/tag406.xml"/><Relationship Id="rId2" Type="http://schemas.openxmlformats.org/officeDocument/2006/relationships/tags" Target="../tags/tag390.xml"/><Relationship Id="rId19" Type="http://schemas.openxmlformats.org/officeDocument/2006/relationships/tags" Target="../tags/tag405.xml"/><Relationship Id="rId18" Type="http://schemas.openxmlformats.org/officeDocument/2006/relationships/tags" Target="../tags/tag404.xml"/><Relationship Id="rId17" Type="http://schemas.openxmlformats.org/officeDocument/2006/relationships/tags" Target="../tags/tag403.xml"/><Relationship Id="rId16" Type="http://schemas.openxmlformats.org/officeDocument/2006/relationships/tags" Target="../tags/tag402.xml"/><Relationship Id="rId15" Type="http://schemas.openxmlformats.org/officeDocument/2006/relationships/tags" Target="../tags/tag401.xml"/><Relationship Id="rId14" Type="http://schemas.openxmlformats.org/officeDocument/2006/relationships/tags" Target="../tags/tag400.xml"/><Relationship Id="rId13" Type="http://schemas.openxmlformats.org/officeDocument/2006/relationships/tags" Target="../tags/tag399.xml"/><Relationship Id="rId12" Type="http://schemas.openxmlformats.org/officeDocument/2006/relationships/tags" Target="../tags/tag398.xml"/><Relationship Id="rId11" Type="http://schemas.openxmlformats.org/officeDocument/2006/relationships/tags" Target="../tags/tag397.xml"/><Relationship Id="rId10" Type="http://schemas.openxmlformats.org/officeDocument/2006/relationships/tags" Target="../tags/tag396.xml"/><Relationship Id="rId1" Type="http://schemas.openxmlformats.org/officeDocument/2006/relationships/tags" Target="../tags/tag389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6.png"/><Relationship Id="rId3" Type="http://schemas.openxmlformats.org/officeDocument/2006/relationships/tags" Target="../tags/tag447.xml"/><Relationship Id="rId2" Type="http://schemas.openxmlformats.org/officeDocument/2006/relationships/image" Target="../media/image196.svg"/><Relationship Id="rId1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png"/><Relationship Id="rId6" Type="http://schemas.openxmlformats.org/officeDocument/2006/relationships/image" Target="../media/image201.svg"/><Relationship Id="rId5" Type="http://schemas.openxmlformats.org/officeDocument/2006/relationships/image" Target="../media/image200.png"/><Relationship Id="rId4" Type="http://schemas.openxmlformats.org/officeDocument/2006/relationships/image" Target="../media/image199.svg"/><Relationship Id="rId3" Type="http://schemas.openxmlformats.org/officeDocument/2006/relationships/image" Target="../media/image198.png"/><Relationship Id="rId2" Type="http://schemas.openxmlformats.org/officeDocument/2006/relationships/image" Target="../media/image197.svg"/><Relationship Id="rId1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image" Target="../media/image202.sv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6.png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12.xml"/><Relationship Id="rId90" Type="http://schemas.openxmlformats.org/officeDocument/2006/relationships/image" Target="../media/image36.png"/><Relationship Id="rId9" Type="http://schemas.openxmlformats.org/officeDocument/2006/relationships/tags" Target="../tags/tag466.xml"/><Relationship Id="rId89" Type="http://schemas.openxmlformats.org/officeDocument/2006/relationships/tags" Target="../tags/tag546.xml"/><Relationship Id="rId88" Type="http://schemas.openxmlformats.org/officeDocument/2006/relationships/tags" Target="../tags/tag545.xml"/><Relationship Id="rId87" Type="http://schemas.openxmlformats.org/officeDocument/2006/relationships/tags" Target="../tags/tag544.xml"/><Relationship Id="rId86" Type="http://schemas.openxmlformats.org/officeDocument/2006/relationships/tags" Target="../tags/tag543.xml"/><Relationship Id="rId85" Type="http://schemas.openxmlformats.org/officeDocument/2006/relationships/tags" Target="../tags/tag542.xml"/><Relationship Id="rId84" Type="http://schemas.openxmlformats.org/officeDocument/2006/relationships/tags" Target="../tags/tag541.xml"/><Relationship Id="rId83" Type="http://schemas.openxmlformats.org/officeDocument/2006/relationships/tags" Target="../tags/tag540.xml"/><Relationship Id="rId82" Type="http://schemas.openxmlformats.org/officeDocument/2006/relationships/tags" Target="../tags/tag539.xml"/><Relationship Id="rId81" Type="http://schemas.openxmlformats.org/officeDocument/2006/relationships/tags" Target="../tags/tag538.xml"/><Relationship Id="rId80" Type="http://schemas.openxmlformats.org/officeDocument/2006/relationships/tags" Target="../tags/tag537.xml"/><Relationship Id="rId8" Type="http://schemas.openxmlformats.org/officeDocument/2006/relationships/tags" Target="../tags/tag465.xml"/><Relationship Id="rId79" Type="http://schemas.openxmlformats.org/officeDocument/2006/relationships/tags" Target="../tags/tag536.xml"/><Relationship Id="rId78" Type="http://schemas.openxmlformats.org/officeDocument/2006/relationships/tags" Target="../tags/tag535.xml"/><Relationship Id="rId77" Type="http://schemas.openxmlformats.org/officeDocument/2006/relationships/tags" Target="../tags/tag534.xml"/><Relationship Id="rId76" Type="http://schemas.openxmlformats.org/officeDocument/2006/relationships/tags" Target="../tags/tag533.xml"/><Relationship Id="rId75" Type="http://schemas.openxmlformats.org/officeDocument/2006/relationships/tags" Target="../tags/tag532.xml"/><Relationship Id="rId74" Type="http://schemas.openxmlformats.org/officeDocument/2006/relationships/tags" Target="../tags/tag531.xml"/><Relationship Id="rId73" Type="http://schemas.openxmlformats.org/officeDocument/2006/relationships/tags" Target="../tags/tag530.xml"/><Relationship Id="rId72" Type="http://schemas.openxmlformats.org/officeDocument/2006/relationships/tags" Target="../tags/tag529.xml"/><Relationship Id="rId71" Type="http://schemas.openxmlformats.org/officeDocument/2006/relationships/tags" Target="../tags/tag528.xml"/><Relationship Id="rId70" Type="http://schemas.openxmlformats.org/officeDocument/2006/relationships/tags" Target="../tags/tag527.xml"/><Relationship Id="rId7" Type="http://schemas.openxmlformats.org/officeDocument/2006/relationships/tags" Target="../tags/tag464.xml"/><Relationship Id="rId69" Type="http://schemas.openxmlformats.org/officeDocument/2006/relationships/tags" Target="../tags/tag526.xml"/><Relationship Id="rId68" Type="http://schemas.openxmlformats.org/officeDocument/2006/relationships/tags" Target="../tags/tag525.xml"/><Relationship Id="rId67" Type="http://schemas.openxmlformats.org/officeDocument/2006/relationships/tags" Target="../tags/tag524.xml"/><Relationship Id="rId66" Type="http://schemas.openxmlformats.org/officeDocument/2006/relationships/tags" Target="../tags/tag523.xml"/><Relationship Id="rId65" Type="http://schemas.openxmlformats.org/officeDocument/2006/relationships/tags" Target="../tags/tag522.xml"/><Relationship Id="rId64" Type="http://schemas.openxmlformats.org/officeDocument/2006/relationships/tags" Target="../tags/tag521.xml"/><Relationship Id="rId63" Type="http://schemas.openxmlformats.org/officeDocument/2006/relationships/tags" Target="../tags/tag520.xml"/><Relationship Id="rId62" Type="http://schemas.openxmlformats.org/officeDocument/2006/relationships/tags" Target="../tags/tag519.xml"/><Relationship Id="rId61" Type="http://schemas.openxmlformats.org/officeDocument/2006/relationships/tags" Target="../tags/tag518.xml"/><Relationship Id="rId60" Type="http://schemas.openxmlformats.org/officeDocument/2006/relationships/tags" Target="../tags/tag517.xml"/><Relationship Id="rId6" Type="http://schemas.openxmlformats.org/officeDocument/2006/relationships/tags" Target="../tags/tag463.xml"/><Relationship Id="rId59" Type="http://schemas.openxmlformats.org/officeDocument/2006/relationships/tags" Target="../tags/tag516.xml"/><Relationship Id="rId58" Type="http://schemas.openxmlformats.org/officeDocument/2006/relationships/tags" Target="../tags/tag515.xml"/><Relationship Id="rId57" Type="http://schemas.openxmlformats.org/officeDocument/2006/relationships/tags" Target="../tags/tag514.xml"/><Relationship Id="rId56" Type="http://schemas.openxmlformats.org/officeDocument/2006/relationships/tags" Target="../tags/tag513.xml"/><Relationship Id="rId55" Type="http://schemas.openxmlformats.org/officeDocument/2006/relationships/tags" Target="../tags/tag512.xml"/><Relationship Id="rId54" Type="http://schemas.openxmlformats.org/officeDocument/2006/relationships/tags" Target="../tags/tag511.xml"/><Relationship Id="rId53" Type="http://schemas.openxmlformats.org/officeDocument/2006/relationships/tags" Target="../tags/tag510.xml"/><Relationship Id="rId52" Type="http://schemas.openxmlformats.org/officeDocument/2006/relationships/tags" Target="../tags/tag509.xml"/><Relationship Id="rId51" Type="http://schemas.openxmlformats.org/officeDocument/2006/relationships/tags" Target="../tags/tag508.xml"/><Relationship Id="rId50" Type="http://schemas.openxmlformats.org/officeDocument/2006/relationships/tags" Target="../tags/tag507.xml"/><Relationship Id="rId5" Type="http://schemas.openxmlformats.org/officeDocument/2006/relationships/tags" Target="../tags/tag462.xml"/><Relationship Id="rId49" Type="http://schemas.openxmlformats.org/officeDocument/2006/relationships/tags" Target="../tags/tag506.xml"/><Relationship Id="rId48" Type="http://schemas.openxmlformats.org/officeDocument/2006/relationships/tags" Target="../tags/tag505.xml"/><Relationship Id="rId47" Type="http://schemas.openxmlformats.org/officeDocument/2006/relationships/tags" Target="../tags/tag504.xml"/><Relationship Id="rId46" Type="http://schemas.openxmlformats.org/officeDocument/2006/relationships/tags" Target="../tags/tag503.xml"/><Relationship Id="rId45" Type="http://schemas.openxmlformats.org/officeDocument/2006/relationships/tags" Target="../tags/tag502.xml"/><Relationship Id="rId44" Type="http://schemas.openxmlformats.org/officeDocument/2006/relationships/tags" Target="../tags/tag501.xml"/><Relationship Id="rId43" Type="http://schemas.openxmlformats.org/officeDocument/2006/relationships/tags" Target="../tags/tag500.xml"/><Relationship Id="rId42" Type="http://schemas.openxmlformats.org/officeDocument/2006/relationships/tags" Target="../tags/tag499.xml"/><Relationship Id="rId41" Type="http://schemas.openxmlformats.org/officeDocument/2006/relationships/tags" Target="../tags/tag498.xml"/><Relationship Id="rId40" Type="http://schemas.openxmlformats.org/officeDocument/2006/relationships/tags" Target="../tags/tag497.xml"/><Relationship Id="rId4" Type="http://schemas.openxmlformats.org/officeDocument/2006/relationships/tags" Target="../tags/tag461.xml"/><Relationship Id="rId39" Type="http://schemas.openxmlformats.org/officeDocument/2006/relationships/tags" Target="../tags/tag496.xml"/><Relationship Id="rId38" Type="http://schemas.openxmlformats.org/officeDocument/2006/relationships/tags" Target="../tags/tag495.xml"/><Relationship Id="rId37" Type="http://schemas.openxmlformats.org/officeDocument/2006/relationships/tags" Target="../tags/tag494.xml"/><Relationship Id="rId36" Type="http://schemas.openxmlformats.org/officeDocument/2006/relationships/tags" Target="../tags/tag493.xml"/><Relationship Id="rId35" Type="http://schemas.openxmlformats.org/officeDocument/2006/relationships/tags" Target="../tags/tag492.xml"/><Relationship Id="rId34" Type="http://schemas.openxmlformats.org/officeDocument/2006/relationships/tags" Target="../tags/tag491.xml"/><Relationship Id="rId33" Type="http://schemas.openxmlformats.org/officeDocument/2006/relationships/tags" Target="../tags/tag490.xml"/><Relationship Id="rId32" Type="http://schemas.openxmlformats.org/officeDocument/2006/relationships/tags" Target="../tags/tag489.xml"/><Relationship Id="rId31" Type="http://schemas.openxmlformats.org/officeDocument/2006/relationships/tags" Target="../tags/tag488.xml"/><Relationship Id="rId30" Type="http://schemas.openxmlformats.org/officeDocument/2006/relationships/tags" Target="../tags/tag487.xml"/><Relationship Id="rId3" Type="http://schemas.openxmlformats.org/officeDocument/2006/relationships/tags" Target="../tags/tag460.xml"/><Relationship Id="rId29" Type="http://schemas.openxmlformats.org/officeDocument/2006/relationships/tags" Target="../tags/tag486.xml"/><Relationship Id="rId28" Type="http://schemas.openxmlformats.org/officeDocument/2006/relationships/tags" Target="../tags/tag485.xml"/><Relationship Id="rId27" Type="http://schemas.openxmlformats.org/officeDocument/2006/relationships/tags" Target="../tags/tag484.xml"/><Relationship Id="rId26" Type="http://schemas.openxmlformats.org/officeDocument/2006/relationships/tags" Target="../tags/tag483.xml"/><Relationship Id="rId25" Type="http://schemas.openxmlformats.org/officeDocument/2006/relationships/tags" Target="../tags/tag482.xml"/><Relationship Id="rId24" Type="http://schemas.openxmlformats.org/officeDocument/2006/relationships/tags" Target="../tags/tag481.xml"/><Relationship Id="rId23" Type="http://schemas.openxmlformats.org/officeDocument/2006/relationships/tags" Target="../tags/tag480.xml"/><Relationship Id="rId22" Type="http://schemas.openxmlformats.org/officeDocument/2006/relationships/tags" Target="../tags/tag479.xml"/><Relationship Id="rId21" Type="http://schemas.openxmlformats.org/officeDocument/2006/relationships/tags" Target="../tags/tag478.xml"/><Relationship Id="rId20" Type="http://schemas.openxmlformats.org/officeDocument/2006/relationships/tags" Target="../tags/tag477.xml"/><Relationship Id="rId2" Type="http://schemas.openxmlformats.org/officeDocument/2006/relationships/image" Target="../media/image203.svg"/><Relationship Id="rId19" Type="http://schemas.openxmlformats.org/officeDocument/2006/relationships/tags" Target="../tags/tag476.xml"/><Relationship Id="rId18" Type="http://schemas.openxmlformats.org/officeDocument/2006/relationships/tags" Target="../tags/tag475.xml"/><Relationship Id="rId17" Type="http://schemas.openxmlformats.org/officeDocument/2006/relationships/tags" Target="../tags/tag474.xml"/><Relationship Id="rId16" Type="http://schemas.openxmlformats.org/officeDocument/2006/relationships/tags" Target="../tags/tag473.xml"/><Relationship Id="rId15" Type="http://schemas.openxmlformats.org/officeDocument/2006/relationships/tags" Target="../tags/tag472.xml"/><Relationship Id="rId14" Type="http://schemas.openxmlformats.org/officeDocument/2006/relationships/tags" Target="../tags/tag471.xml"/><Relationship Id="rId13" Type="http://schemas.openxmlformats.org/officeDocument/2006/relationships/tags" Target="../tags/tag470.xml"/><Relationship Id="rId12" Type="http://schemas.openxmlformats.org/officeDocument/2006/relationships/tags" Target="../tags/tag469.xml"/><Relationship Id="rId11" Type="http://schemas.openxmlformats.org/officeDocument/2006/relationships/tags" Target="../tags/tag468.xml"/><Relationship Id="rId10" Type="http://schemas.openxmlformats.org/officeDocument/2006/relationships/tags" Target="../tags/tag467.xml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chart" Target="../charts/chart5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196.svg"/><Relationship Id="rId1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552.xml"/><Relationship Id="rId7" Type="http://schemas.openxmlformats.org/officeDocument/2006/relationships/tags" Target="../tags/tag551.xml"/><Relationship Id="rId6" Type="http://schemas.openxmlformats.org/officeDocument/2006/relationships/tags" Target="../tags/tag550.xml"/><Relationship Id="rId5" Type="http://schemas.openxmlformats.org/officeDocument/2006/relationships/tags" Target="../tags/tag549.xml"/><Relationship Id="rId4" Type="http://schemas.openxmlformats.org/officeDocument/2006/relationships/tags" Target="../tags/tag548.xml"/><Relationship Id="rId3" Type="http://schemas.openxmlformats.org/officeDocument/2006/relationships/tags" Target="../tags/tag547.xml"/><Relationship Id="rId2" Type="http://schemas.openxmlformats.org/officeDocument/2006/relationships/image" Target="../media/image204.svg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559.xml"/><Relationship Id="rId8" Type="http://schemas.openxmlformats.org/officeDocument/2006/relationships/tags" Target="../tags/tag558.xml"/><Relationship Id="rId7" Type="http://schemas.openxmlformats.org/officeDocument/2006/relationships/tags" Target="../tags/tag557.xml"/><Relationship Id="rId6" Type="http://schemas.openxmlformats.org/officeDocument/2006/relationships/tags" Target="../tags/tag556.xml"/><Relationship Id="rId5" Type="http://schemas.openxmlformats.org/officeDocument/2006/relationships/tags" Target="../tags/tag555.xml"/><Relationship Id="rId4" Type="http://schemas.openxmlformats.org/officeDocument/2006/relationships/tags" Target="../tags/tag554.xml"/><Relationship Id="rId3" Type="http://schemas.openxmlformats.org/officeDocument/2006/relationships/image" Target="../media/image131.svg"/><Relationship Id="rId2" Type="http://schemas.openxmlformats.org/officeDocument/2006/relationships/image" Target="../media/image21.png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6.png"/><Relationship Id="rId13" Type="http://schemas.openxmlformats.org/officeDocument/2006/relationships/tags" Target="../tags/tag563.xml"/><Relationship Id="rId12" Type="http://schemas.openxmlformats.org/officeDocument/2006/relationships/tags" Target="../tags/tag562.xml"/><Relationship Id="rId11" Type="http://schemas.openxmlformats.org/officeDocument/2006/relationships/tags" Target="../tags/tag561.xml"/><Relationship Id="rId10" Type="http://schemas.openxmlformats.org/officeDocument/2006/relationships/tags" Target="../tags/tag560.xml"/><Relationship Id="rId1" Type="http://schemas.openxmlformats.org/officeDocument/2006/relationships/tags" Target="../tags/tag553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6.png"/><Relationship Id="rId2" Type="http://schemas.openxmlformats.org/officeDocument/2006/relationships/image" Target="../media/image205.svg"/><Relationship Id="rId1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570.xml"/><Relationship Id="rId8" Type="http://schemas.openxmlformats.org/officeDocument/2006/relationships/tags" Target="../tags/tag569.xml"/><Relationship Id="rId7" Type="http://schemas.openxmlformats.org/officeDocument/2006/relationships/tags" Target="../tags/tag568.xml"/><Relationship Id="rId6" Type="http://schemas.openxmlformats.org/officeDocument/2006/relationships/tags" Target="../tags/tag567.xml"/><Relationship Id="rId5" Type="http://schemas.openxmlformats.org/officeDocument/2006/relationships/tags" Target="../tags/tag566.xml"/><Relationship Id="rId4" Type="http://schemas.openxmlformats.org/officeDocument/2006/relationships/tags" Target="../tags/tag565.xml"/><Relationship Id="rId3" Type="http://schemas.openxmlformats.org/officeDocument/2006/relationships/tags" Target="../tags/tag564.xml"/><Relationship Id="rId2" Type="http://schemas.openxmlformats.org/officeDocument/2006/relationships/image" Target="../media/image196.sv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36.png"/><Relationship Id="rId15" Type="http://schemas.openxmlformats.org/officeDocument/2006/relationships/tags" Target="../tags/tag576.xml"/><Relationship Id="rId14" Type="http://schemas.openxmlformats.org/officeDocument/2006/relationships/tags" Target="../tags/tag575.xml"/><Relationship Id="rId13" Type="http://schemas.openxmlformats.org/officeDocument/2006/relationships/tags" Target="../tags/tag574.xml"/><Relationship Id="rId12" Type="http://schemas.openxmlformats.org/officeDocument/2006/relationships/tags" Target="../tags/tag573.xml"/><Relationship Id="rId11" Type="http://schemas.openxmlformats.org/officeDocument/2006/relationships/tags" Target="../tags/tag572.xml"/><Relationship Id="rId10" Type="http://schemas.openxmlformats.org/officeDocument/2006/relationships/tags" Target="../tags/tag571.xml"/><Relationship Id="rId1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png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svg"/><Relationship Id="rId3" Type="http://schemas.openxmlformats.org/officeDocument/2006/relationships/image" Target="../media/image206.png"/><Relationship Id="rId2" Type="http://schemas.openxmlformats.org/officeDocument/2006/relationships/image" Target="../media/image196.svg"/><Relationship Id="rId1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99" Type="http://schemas.openxmlformats.org/officeDocument/2006/relationships/tags" Target="../tags/tag657.xml"/><Relationship Id="rId98" Type="http://schemas.openxmlformats.org/officeDocument/2006/relationships/tags" Target="../tags/tag656.xml"/><Relationship Id="rId97" Type="http://schemas.openxmlformats.org/officeDocument/2006/relationships/tags" Target="../tags/tag655.xml"/><Relationship Id="rId96" Type="http://schemas.openxmlformats.org/officeDocument/2006/relationships/tags" Target="../tags/tag654.xml"/><Relationship Id="rId95" Type="http://schemas.openxmlformats.org/officeDocument/2006/relationships/tags" Target="../tags/tag653.xml"/><Relationship Id="rId94" Type="http://schemas.openxmlformats.org/officeDocument/2006/relationships/tags" Target="../tags/tag652.xml"/><Relationship Id="rId93" Type="http://schemas.openxmlformats.org/officeDocument/2006/relationships/tags" Target="../tags/tag651.xml"/><Relationship Id="rId92" Type="http://schemas.openxmlformats.org/officeDocument/2006/relationships/tags" Target="../tags/tag650.xml"/><Relationship Id="rId91" Type="http://schemas.openxmlformats.org/officeDocument/2006/relationships/tags" Target="../tags/tag649.xml"/><Relationship Id="rId90" Type="http://schemas.openxmlformats.org/officeDocument/2006/relationships/tags" Target="../tags/tag648.xml"/><Relationship Id="rId9" Type="http://schemas.openxmlformats.org/officeDocument/2006/relationships/tags" Target="../tags/tag583.xml"/><Relationship Id="rId89" Type="http://schemas.openxmlformats.org/officeDocument/2006/relationships/tags" Target="../tags/tag647.xml"/><Relationship Id="rId88" Type="http://schemas.openxmlformats.org/officeDocument/2006/relationships/tags" Target="../tags/tag646.xml"/><Relationship Id="rId87" Type="http://schemas.openxmlformats.org/officeDocument/2006/relationships/tags" Target="../tags/tag645.xml"/><Relationship Id="rId86" Type="http://schemas.openxmlformats.org/officeDocument/2006/relationships/tags" Target="../tags/tag644.xml"/><Relationship Id="rId85" Type="http://schemas.openxmlformats.org/officeDocument/2006/relationships/tags" Target="../tags/tag643.xml"/><Relationship Id="rId84" Type="http://schemas.openxmlformats.org/officeDocument/2006/relationships/tags" Target="../tags/tag642.xml"/><Relationship Id="rId83" Type="http://schemas.openxmlformats.org/officeDocument/2006/relationships/tags" Target="../tags/tag641.xml"/><Relationship Id="rId82" Type="http://schemas.openxmlformats.org/officeDocument/2006/relationships/tags" Target="../tags/tag640.xml"/><Relationship Id="rId81" Type="http://schemas.openxmlformats.org/officeDocument/2006/relationships/tags" Target="../tags/tag639.xml"/><Relationship Id="rId80" Type="http://schemas.openxmlformats.org/officeDocument/2006/relationships/tags" Target="../tags/tag638.xml"/><Relationship Id="rId8" Type="http://schemas.openxmlformats.org/officeDocument/2006/relationships/tags" Target="../tags/tag582.xml"/><Relationship Id="rId79" Type="http://schemas.openxmlformats.org/officeDocument/2006/relationships/tags" Target="../tags/tag637.xml"/><Relationship Id="rId78" Type="http://schemas.openxmlformats.org/officeDocument/2006/relationships/tags" Target="../tags/tag636.xml"/><Relationship Id="rId77" Type="http://schemas.openxmlformats.org/officeDocument/2006/relationships/tags" Target="../tags/tag635.xml"/><Relationship Id="rId76" Type="http://schemas.openxmlformats.org/officeDocument/2006/relationships/tags" Target="../tags/tag634.xml"/><Relationship Id="rId75" Type="http://schemas.openxmlformats.org/officeDocument/2006/relationships/tags" Target="../tags/tag633.xml"/><Relationship Id="rId74" Type="http://schemas.openxmlformats.org/officeDocument/2006/relationships/tags" Target="../tags/tag632.xml"/><Relationship Id="rId73" Type="http://schemas.openxmlformats.org/officeDocument/2006/relationships/tags" Target="../tags/tag631.xml"/><Relationship Id="rId72" Type="http://schemas.openxmlformats.org/officeDocument/2006/relationships/tags" Target="../tags/tag630.xml"/><Relationship Id="rId71" Type="http://schemas.openxmlformats.org/officeDocument/2006/relationships/tags" Target="../tags/tag629.xml"/><Relationship Id="rId70" Type="http://schemas.openxmlformats.org/officeDocument/2006/relationships/tags" Target="../tags/tag628.xml"/><Relationship Id="rId7" Type="http://schemas.openxmlformats.org/officeDocument/2006/relationships/tags" Target="../tags/tag581.xml"/><Relationship Id="rId69" Type="http://schemas.openxmlformats.org/officeDocument/2006/relationships/tags" Target="../tags/tag627.xml"/><Relationship Id="rId68" Type="http://schemas.openxmlformats.org/officeDocument/2006/relationships/tags" Target="../tags/tag626.xml"/><Relationship Id="rId67" Type="http://schemas.openxmlformats.org/officeDocument/2006/relationships/tags" Target="../tags/tag625.xml"/><Relationship Id="rId66" Type="http://schemas.openxmlformats.org/officeDocument/2006/relationships/tags" Target="../tags/tag624.xml"/><Relationship Id="rId65" Type="http://schemas.openxmlformats.org/officeDocument/2006/relationships/tags" Target="../tags/tag623.xml"/><Relationship Id="rId64" Type="http://schemas.openxmlformats.org/officeDocument/2006/relationships/tags" Target="../tags/tag622.xml"/><Relationship Id="rId63" Type="http://schemas.openxmlformats.org/officeDocument/2006/relationships/tags" Target="../tags/tag621.xml"/><Relationship Id="rId62" Type="http://schemas.openxmlformats.org/officeDocument/2006/relationships/tags" Target="../tags/tag620.xml"/><Relationship Id="rId61" Type="http://schemas.openxmlformats.org/officeDocument/2006/relationships/tags" Target="../tags/tag619.xml"/><Relationship Id="rId60" Type="http://schemas.openxmlformats.org/officeDocument/2006/relationships/tags" Target="../tags/tag618.xml"/><Relationship Id="rId6" Type="http://schemas.openxmlformats.org/officeDocument/2006/relationships/tags" Target="../tags/tag580.xml"/><Relationship Id="rId59" Type="http://schemas.openxmlformats.org/officeDocument/2006/relationships/tags" Target="../tags/tag617.xml"/><Relationship Id="rId58" Type="http://schemas.openxmlformats.org/officeDocument/2006/relationships/tags" Target="../tags/tag616.xml"/><Relationship Id="rId57" Type="http://schemas.openxmlformats.org/officeDocument/2006/relationships/tags" Target="../tags/tag615.xml"/><Relationship Id="rId56" Type="http://schemas.openxmlformats.org/officeDocument/2006/relationships/tags" Target="../tags/tag614.xml"/><Relationship Id="rId55" Type="http://schemas.openxmlformats.org/officeDocument/2006/relationships/tags" Target="../tags/tag613.xml"/><Relationship Id="rId54" Type="http://schemas.openxmlformats.org/officeDocument/2006/relationships/tags" Target="../tags/tag612.xml"/><Relationship Id="rId53" Type="http://schemas.openxmlformats.org/officeDocument/2006/relationships/tags" Target="../tags/tag611.xml"/><Relationship Id="rId52" Type="http://schemas.openxmlformats.org/officeDocument/2006/relationships/tags" Target="../tags/tag610.xml"/><Relationship Id="rId51" Type="http://schemas.openxmlformats.org/officeDocument/2006/relationships/tags" Target="../tags/tag609.xml"/><Relationship Id="rId50" Type="http://schemas.openxmlformats.org/officeDocument/2006/relationships/tags" Target="../tags/tag608.xml"/><Relationship Id="rId5" Type="http://schemas.openxmlformats.org/officeDocument/2006/relationships/tags" Target="../tags/tag579.xml"/><Relationship Id="rId49" Type="http://schemas.openxmlformats.org/officeDocument/2006/relationships/tags" Target="../tags/tag607.xml"/><Relationship Id="rId48" Type="http://schemas.openxmlformats.org/officeDocument/2006/relationships/image" Target="../media/image226.svg"/><Relationship Id="rId47" Type="http://schemas.openxmlformats.org/officeDocument/2006/relationships/image" Target="../media/image225.png"/><Relationship Id="rId46" Type="http://schemas.openxmlformats.org/officeDocument/2006/relationships/image" Target="../media/image224.svg"/><Relationship Id="rId45" Type="http://schemas.openxmlformats.org/officeDocument/2006/relationships/image" Target="../media/image223.png"/><Relationship Id="rId44" Type="http://schemas.openxmlformats.org/officeDocument/2006/relationships/image" Target="../media/image222.svg"/><Relationship Id="rId43" Type="http://schemas.openxmlformats.org/officeDocument/2006/relationships/image" Target="../media/image221.png"/><Relationship Id="rId42" Type="http://schemas.openxmlformats.org/officeDocument/2006/relationships/image" Target="../media/image220.svg"/><Relationship Id="rId41" Type="http://schemas.openxmlformats.org/officeDocument/2006/relationships/image" Target="../media/image219.png"/><Relationship Id="rId40" Type="http://schemas.openxmlformats.org/officeDocument/2006/relationships/image" Target="../media/image218.svg"/><Relationship Id="rId4" Type="http://schemas.openxmlformats.org/officeDocument/2006/relationships/tags" Target="../tags/tag578.xml"/><Relationship Id="rId39" Type="http://schemas.openxmlformats.org/officeDocument/2006/relationships/image" Target="../media/image217.png"/><Relationship Id="rId38" Type="http://schemas.openxmlformats.org/officeDocument/2006/relationships/image" Target="../media/image216.svg"/><Relationship Id="rId37" Type="http://schemas.openxmlformats.org/officeDocument/2006/relationships/image" Target="../media/image215.png"/><Relationship Id="rId36" Type="http://schemas.openxmlformats.org/officeDocument/2006/relationships/tags" Target="../tags/tag606.xml"/><Relationship Id="rId35" Type="http://schemas.openxmlformats.org/officeDocument/2006/relationships/tags" Target="../tags/tag605.xml"/><Relationship Id="rId34" Type="http://schemas.openxmlformats.org/officeDocument/2006/relationships/tags" Target="../tags/tag604.xml"/><Relationship Id="rId33" Type="http://schemas.openxmlformats.org/officeDocument/2006/relationships/tags" Target="../tags/tag603.xml"/><Relationship Id="rId32" Type="http://schemas.openxmlformats.org/officeDocument/2006/relationships/tags" Target="../tags/tag602.xml"/><Relationship Id="rId31" Type="http://schemas.openxmlformats.org/officeDocument/2006/relationships/tags" Target="../tags/tag601.xml"/><Relationship Id="rId30" Type="http://schemas.openxmlformats.org/officeDocument/2006/relationships/tags" Target="../tags/tag600.xml"/><Relationship Id="rId3" Type="http://schemas.openxmlformats.org/officeDocument/2006/relationships/image" Target="../media/image210.svg"/><Relationship Id="rId29" Type="http://schemas.openxmlformats.org/officeDocument/2006/relationships/tags" Target="../tags/tag599.xml"/><Relationship Id="rId28" Type="http://schemas.openxmlformats.org/officeDocument/2006/relationships/tags" Target="../tags/tag598.xml"/><Relationship Id="rId27" Type="http://schemas.openxmlformats.org/officeDocument/2006/relationships/tags" Target="../tags/tag597.xml"/><Relationship Id="rId26" Type="http://schemas.openxmlformats.org/officeDocument/2006/relationships/tags" Target="../tags/tag596.xml"/><Relationship Id="rId25" Type="http://schemas.openxmlformats.org/officeDocument/2006/relationships/tags" Target="../tags/tag595.xml"/><Relationship Id="rId24" Type="http://schemas.openxmlformats.org/officeDocument/2006/relationships/image" Target="../media/image214.svg"/><Relationship Id="rId23" Type="http://schemas.openxmlformats.org/officeDocument/2006/relationships/image" Target="../media/image213.png"/><Relationship Id="rId22" Type="http://schemas.openxmlformats.org/officeDocument/2006/relationships/tags" Target="../tags/tag594.xml"/><Relationship Id="rId21" Type="http://schemas.openxmlformats.org/officeDocument/2006/relationships/image" Target="../media/image212.svg"/><Relationship Id="rId20" Type="http://schemas.openxmlformats.org/officeDocument/2006/relationships/image" Target="../media/image211.png"/><Relationship Id="rId2" Type="http://schemas.openxmlformats.org/officeDocument/2006/relationships/image" Target="../media/image79.png"/><Relationship Id="rId19" Type="http://schemas.openxmlformats.org/officeDocument/2006/relationships/tags" Target="../tags/tag593.xml"/><Relationship Id="rId18" Type="http://schemas.openxmlformats.org/officeDocument/2006/relationships/tags" Target="../tags/tag592.xml"/><Relationship Id="rId176" Type="http://schemas.openxmlformats.org/officeDocument/2006/relationships/slideLayout" Target="../slideLayouts/slideLayout12.xml"/><Relationship Id="rId175" Type="http://schemas.openxmlformats.org/officeDocument/2006/relationships/image" Target="../media/image36.png"/><Relationship Id="rId174" Type="http://schemas.openxmlformats.org/officeDocument/2006/relationships/tags" Target="../tags/tag723.xml"/><Relationship Id="rId173" Type="http://schemas.openxmlformats.org/officeDocument/2006/relationships/tags" Target="../tags/tag722.xml"/><Relationship Id="rId172" Type="http://schemas.openxmlformats.org/officeDocument/2006/relationships/tags" Target="../tags/tag721.xml"/><Relationship Id="rId171" Type="http://schemas.openxmlformats.org/officeDocument/2006/relationships/tags" Target="../tags/tag720.xml"/><Relationship Id="rId170" Type="http://schemas.openxmlformats.org/officeDocument/2006/relationships/tags" Target="../tags/tag719.xml"/><Relationship Id="rId17" Type="http://schemas.openxmlformats.org/officeDocument/2006/relationships/tags" Target="../tags/tag591.xml"/><Relationship Id="rId169" Type="http://schemas.openxmlformats.org/officeDocument/2006/relationships/tags" Target="../tags/tag718.xml"/><Relationship Id="rId168" Type="http://schemas.openxmlformats.org/officeDocument/2006/relationships/tags" Target="../tags/tag717.xml"/><Relationship Id="rId167" Type="http://schemas.openxmlformats.org/officeDocument/2006/relationships/tags" Target="../tags/tag716.xml"/><Relationship Id="rId166" Type="http://schemas.openxmlformats.org/officeDocument/2006/relationships/tags" Target="../tags/tag715.xml"/><Relationship Id="rId165" Type="http://schemas.openxmlformats.org/officeDocument/2006/relationships/tags" Target="../tags/tag714.xml"/><Relationship Id="rId164" Type="http://schemas.openxmlformats.org/officeDocument/2006/relationships/tags" Target="../tags/tag713.xml"/><Relationship Id="rId163" Type="http://schemas.openxmlformats.org/officeDocument/2006/relationships/tags" Target="../tags/tag712.xml"/><Relationship Id="rId162" Type="http://schemas.openxmlformats.org/officeDocument/2006/relationships/tags" Target="../tags/tag711.xml"/><Relationship Id="rId161" Type="http://schemas.openxmlformats.org/officeDocument/2006/relationships/tags" Target="../tags/tag710.xml"/><Relationship Id="rId160" Type="http://schemas.openxmlformats.org/officeDocument/2006/relationships/tags" Target="../tags/tag709.xml"/><Relationship Id="rId16" Type="http://schemas.openxmlformats.org/officeDocument/2006/relationships/tags" Target="../tags/tag590.xml"/><Relationship Id="rId159" Type="http://schemas.openxmlformats.org/officeDocument/2006/relationships/tags" Target="../tags/tag708.xml"/><Relationship Id="rId158" Type="http://schemas.openxmlformats.org/officeDocument/2006/relationships/tags" Target="../tags/tag707.xml"/><Relationship Id="rId157" Type="http://schemas.openxmlformats.org/officeDocument/2006/relationships/tags" Target="../tags/tag706.xml"/><Relationship Id="rId156" Type="http://schemas.openxmlformats.org/officeDocument/2006/relationships/tags" Target="../tags/tag705.xml"/><Relationship Id="rId155" Type="http://schemas.openxmlformats.org/officeDocument/2006/relationships/tags" Target="../tags/tag704.xml"/><Relationship Id="rId154" Type="http://schemas.openxmlformats.org/officeDocument/2006/relationships/tags" Target="../tags/tag703.xml"/><Relationship Id="rId153" Type="http://schemas.openxmlformats.org/officeDocument/2006/relationships/tags" Target="../tags/tag702.xml"/><Relationship Id="rId152" Type="http://schemas.openxmlformats.org/officeDocument/2006/relationships/tags" Target="../tags/tag701.xml"/><Relationship Id="rId151" Type="http://schemas.openxmlformats.org/officeDocument/2006/relationships/tags" Target="../tags/tag700.xml"/><Relationship Id="rId150" Type="http://schemas.openxmlformats.org/officeDocument/2006/relationships/tags" Target="../tags/tag699.xml"/><Relationship Id="rId15" Type="http://schemas.openxmlformats.org/officeDocument/2006/relationships/tags" Target="../tags/tag589.xml"/><Relationship Id="rId149" Type="http://schemas.openxmlformats.org/officeDocument/2006/relationships/tags" Target="../tags/tag698.xml"/><Relationship Id="rId148" Type="http://schemas.openxmlformats.org/officeDocument/2006/relationships/tags" Target="../tags/tag697.xml"/><Relationship Id="rId147" Type="http://schemas.openxmlformats.org/officeDocument/2006/relationships/tags" Target="../tags/tag696.xml"/><Relationship Id="rId146" Type="http://schemas.openxmlformats.org/officeDocument/2006/relationships/tags" Target="../tags/tag695.xml"/><Relationship Id="rId145" Type="http://schemas.openxmlformats.org/officeDocument/2006/relationships/tags" Target="../tags/tag694.xml"/><Relationship Id="rId144" Type="http://schemas.openxmlformats.org/officeDocument/2006/relationships/tags" Target="../tags/tag693.xml"/><Relationship Id="rId143" Type="http://schemas.openxmlformats.org/officeDocument/2006/relationships/tags" Target="../tags/tag692.xml"/><Relationship Id="rId142" Type="http://schemas.openxmlformats.org/officeDocument/2006/relationships/tags" Target="../tags/tag691.xml"/><Relationship Id="rId141" Type="http://schemas.openxmlformats.org/officeDocument/2006/relationships/image" Target="../media/image235.svg"/><Relationship Id="rId140" Type="http://schemas.openxmlformats.org/officeDocument/2006/relationships/tags" Target="../tags/tag690.xml"/><Relationship Id="rId14" Type="http://schemas.openxmlformats.org/officeDocument/2006/relationships/tags" Target="../tags/tag588.xml"/><Relationship Id="rId139" Type="http://schemas.openxmlformats.org/officeDocument/2006/relationships/image" Target="../media/image234.svg"/><Relationship Id="rId138" Type="http://schemas.openxmlformats.org/officeDocument/2006/relationships/tags" Target="../tags/tag689.xml"/><Relationship Id="rId137" Type="http://schemas.openxmlformats.org/officeDocument/2006/relationships/image" Target="../media/image233.svg"/><Relationship Id="rId136" Type="http://schemas.openxmlformats.org/officeDocument/2006/relationships/tags" Target="../tags/tag688.xml"/><Relationship Id="rId135" Type="http://schemas.openxmlformats.org/officeDocument/2006/relationships/image" Target="../media/image232.svg"/><Relationship Id="rId134" Type="http://schemas.openxmlformats.org/officeDocument/2006/relationships/tags" Target="../tags/tag687.xml"/><Relationship Id="rId133" Type="http://schemas.openxmlformats.org/officeDocument/2006/relationships/image" Target="../media/image231.svg"/><Relationship Id="rId132" Type="http://schemas.openxmlformats.org/officeDocument/2006/relationships/tags" Target="../tags/tag686.xml"/><Relationship Id="rId131" Type="http://schemas.openxmlformats.org/officeDocument/2006/relationships/image" Target="../media/image230.svg"/><Relationship Id="rId130" Type="http://schemas.openxmlformats.org/officeDocument/2006/relationships/tags" Target="../tags/tag685.xml"/><Relationship Id="rId13" Type="http://schemas.openxmlformats.org/officeDocument/2006/relationships/tags" Target="../tags/tag587.xml"/><Relationship Id="rId129" Type="http://schemas.openxmlformats.org/officeDocument/2006/relationships/image" Target="../media/image229.svg"/><Relationship Id="rId128" Type="http://schemas.openxmlformats.org/officeDocument/2006/relationships/tags" Target="../tags/tag684.xml"/><Relationship Id="rId127" Type="http://schemas.openxmlformats.org/officeDocument/2006/relationships/image" Target="../media/image228.svg"/><Relationship Id="rId126" Type="http://schemas.openxmlformats.org/officeDocument/2006/relationships/image" Target="../media/image227.png"/><Relationship Id="rId125" Type="http://schemas.openxmlformats.org/officeDocument/2006/relationships/tags" Target="../tags/tag683.xml"/><Relationship Id="rId124" Type="http://schemas.openxmlformats.org/officeDocument/2006/relationships/tags" Target="../tags/tag682.xml"/><Relationship Id="rId123" Type="http://schemas.openxmlformats.org/officeDocument/2006/relationships/tags" Target="../tags/tag681.xml"/><Relationship Id="rId122" Type="http://schemas.openxmlformats.org/officeDocument/2006/relationships/tags" Target="../tags/tag680.xml"/><Relationship Id="rId121" Type="http://schemas.openxmlformats.org/officeDocument/2006/relationships/tags" Target="../tags/tag679.xml"/><Relationship Id="rId120" Type="http://schemas.openxmlformats.org/officeDocument/2006/relationships/tags" Target="../tags/tag678.xml"/><Relationship Id="rId12" Type="http://schemas.openxmlformats.org/officeDocument/2006/relationships/tags" Target="../tags/tag586.xml"/><Relationship Id="rId119" Type="http://schemas.openxmlformats.org/officeDocument/2006/relationships/tags" Target="../tags/tag677.xml"/><Relationship Id="rId118" Type="http://schemas.openxmlformats.org/officeDocument/2006/relationships/tags" Target="../tags/tag676.xml"/><Relationship Id="rId117" Type="http://schemas.openxmlformats.org/officeDocument/2006/relationships/tags" Target="../tags/tag675.xml"/><Relationship Id="rId116" Type="http://schemas.openxmlformats.org/officeDocument/2006/relationships/tags" Target="../tags/tag674.xml"/><Relationship Id="rId115" Type="http://schemas.openxmlformats.org/officeDocument/2006/relationships/tags" Target="../tags/tag673.xml"/><Relationship Id="rId114" Type="http://schemas.openxmlformats.org/officeDocument/2006/relationships/tags" Target="../tags/tag672.xml"/><Relationship Id="rId113" Type="http://schemas.openxmlformats.org/officeDocument/2006/relationships/tags" Target="../tags/tag671.xml"/><Relationship Id="rId112" Type="http://schemas.openxmlformats.org/officeDocument/2006/relationships/tags" Target="../tags/tag670.xml"/><Relationship Id="rId111" Type="http://schemas.openxmlformats.org/officeDocument/2006/relationships/tags" Target="../tags/tag669.xml"/><Relationship Id="rId110" Type="http://schemas.openxmlformats.org/officeDocument/2006/relationships/tags" Target="../tags/tag668.xml"/><Relationship Id="rId11" Type="http://schemas.openxmlformats.org/officeDocument/2006/relationships/tags" Target="../tags/tag585.xml"/><Relationship Id="rId109" Type="http://schemas.openxmlformats.org/officeDocument/2006/relationships/tags" Target="../tags/tag667.xml"/><Relationship Id="rId108" Type="http://schemas.openxmlformats.org/officeDocument/2006/relationships/tags" Target="../tags/tag666.xml"/><Relationship Id="rId107" Type="http://schemas.openxmlformats.org/officeDocument/2006/relationships/tags" Target="../tags/tag665.xml"/><Relationship Id="rId106" Type="http://schemas.openxmlformats.org/officeDocument/2006/relationships/tags" Target="../tags/tag664.xml"/><Relationship Id="rId105" Type="http://schemas.openxmlformats.org/officeDocument/2006/relationships/tags" Target="../tags/tag663.xml"/><Relationship Id="rId104" Type="http://schemas.openxmlformats.org/officeDocument/2006/relationships/tags" Target="../tags/tag662.xml"/><Relationship Id="rId103" Type="http://schemas.openxmlformats.org/officeDocument/2006/relationships/tags" Target="../tags/tag661.xml"/><Relationship Id="rId102" Type="http://schemas.openxmlformats.org/officeDocument/2006/relationships/tags" Target="../tags/tag660.xml"/><Relationship Id="rId101" Type="http://schemas.openxmlformats.org/officeDocument/2006/relationships/tags" Target="../tags/tag659.xml"/><Relationship Id="rId100" Type="http://schemas.openxmlformats.org/officeDocument/2006/relationships/tags" Target="../tags/tag658.xml"/><Relationship Id="rId10" Type="http://schemas.openxmlformats.org/officeDocument/2006/relationships/tags" Target="../tags/tag584.xml"/><Relationship Id="rId1" Type="http://schemas.openxmlformats.org/officeDocument/2006/relationships/tags" Target="../tags/tag577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3.png"/><Relationship Id="rId8" Type="http://schemas.openxmlformats.org/officeDocument/2006/relationships/image" Target="../media/image242.svg"/><Relationship Id="rId7" Type="http://schemas.openxmlformats.org/officeDocument/2006/relationships/image" Target="../media/image241.png"/><Relationship Id="rId6" Type="http://schemas.openxmlformats.org/officeDocument/2006/relationships/image" Target="../media/image240.svg"/><Relationship Id="rId5" Type="http://schemas.openxmlformats.org/officeDocument/2006/relationships/image" Target="../media/image239.png"/><Relationship Id="rId4" Type="http://schemas.openxmlformats.org/officeDocument/2006/relationships/image" Target="../media/image238.svg"/><Relationship Id="rId3" Type="http://schemas.openxmlformats.org/officeDocument/2006/relationships/image" Target="../media/image237.png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36.png"/><Relationship Id="rId20" Type="http://schemas.openxmlformats.org/officeDocument/2006/relationships/tags" Target="../tags/tag733.xml"/><Relationship Id="rId2" Type="http://schemas.openxmlformats.org/officeDocument/2006/relationships/image" Target="../media/image236.svg"/><Relationship Id="rId19" Type="http://schemas.openxmlformats.org/officeDocument/2006/relationships/tags" Target="../tags/tag732.xml"/><Relationship Id="rId18" Type="http://schemas.openxmlformats.org/officeDocument/2006/relationships/tags" Target="../tags/tag73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image" Target="../media/image244.svg"/><Relationship Id="rId1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 descr="&amp;pky380_sjzg_VCG41N612724130_sjzg_VCG41N612724130&amp;"/>
          <p:cNvPicPr>
            <a:picLocks noChangeAspect="1"/>
          </p:cNvPicPr>
          <p:nvPr userDrawn="1"/>
        </p:nvPicPr>
        <p:blipFill>
          <a:blip r:embed="rId1">
            <a:lum contrast="-66000"/>
          </a:blip>
          <a:stretch>
            <a:fillRect/>
          </a:stretch>
        </p:blipFill>
        <p:spPr>
          <a:xfrm>
            <a:off x="-11430" y="0"/>
            <a:ext cx="12214225" cy="6858000"/>
          </a:xfrm>
          <a:prstGeom prst="rect">
            <a:avLst/>
          </a:prstGeom>
        </p:spPr>
      </p:pic>
      <p:sp>
        <p:nvSpPr>
          <p:cNvPr id="46" name="矩形 4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1567721" y="8585987"/>
            <a:ext cx="572022" cy="0"/>
          </a:xfrm>
          <a:prstGeom prst="line">
            <a:avLst/>
          </a:prstGeom>
          <a:ln w="12700">
            <a:gradFill flip="none" rotWithShape="1">
              <a:gsLst>
                <a:gs pos="11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3870960" y="1540510"/>
            <a:ext cx="40011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「框架搭建系列</a:t>
            </a:r>
            <a:r>
              <a:rPr lang="zh-CN" altLang="en-US" sz="40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」</a:t>
            </a:r>
            <a:endParaRPr lang="zh-CN" altLang="en-US" sz="40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024380" y="2326005"/>
            <a:ext cx="79400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复杂逻辑场景</a:t>
            </a: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244518" y="4138060"/>
            <a:ext cx="1702965" cy="30670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汇报人：开悟思维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721860" y="4411345"/>
            <a:ext cx="2490470" cy="30670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2328724" y="3360147"/>
            <a:ext cx="7534552" cy="63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等腰三角形 83"/>
          <p:cNvSpPr/>
          <p:nvPr/>
        </p:nvSpPr>
        <p:spPr>
          <a:xfrm flipV="1">
            <a:off x="9715109" y="3360147"/>
            <a:ext cx="148167" cy="12773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608152" y="3437112"/>
            <a:ext cx="697569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Framework Series: Complex Logic Construction PPT Template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9388344" y="744017"/>
            <a:ext cx="2357120" cy="920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60000"/>
              </a:lnSpc>
              <a:spcAft>
                <a:spcPts val="600"/>
              </a:spcAft>
            </a:pPr>
            <a:r>
              <a:rPr lang="zh-CN" altLang="en-US" sz="1000" spc="16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仅供学习使用，严禁商用，侵权必究</a:t>
            </a:r>
            <a:endParaRPr lang="zh-CN" altLang="en-US" sz="1000" spc="16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9200515" y="521970"/>
            <a:ext cx="2626995" cy="454660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 flipH="1">
            <a:off x="3674110" y="530860"/>
            <a:ext cx="469138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本版配色说明</a:t>
            </a:r>
            <a:endParaRPr lang="zh-CN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 rot="2580000">
            <a:off x="3877945" y="4537075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04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2" name="文本框 81"/>
          <p:cNvSpPr txBox="1"/>
          <p:nvPr/>
        </p:nvSpPr>
        <p:spPr>
          <a:xfrm rot="19800000">
            <a:off x="3994150" y="3270885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01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4" name="文本框 83"/>
          <p:cNvSpPr txBox="1"/>
          <p:nvPr/>
        </p:nvSpPr>
        <p:spPr>
          <a:xfrm rot="18960000">
            <a:off x="6292215" y="3458210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 dirty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03</a:t>
            </a:r>
            <a:endParaRPr lang="en-US" sz="2000" b="1" spc="0" baseline="0" dirty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394450" y="4545330"/>
            <a:ext cx="274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spc="0" baseline="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  <a:rtl val="0"/>
              </a:rPr>
              <a:t>02</a:t>
            </a:r>
            <a:endParaRPr lang="en-US" sz="2000" b="1" spc="0" baseline="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  <a:rtl val="0"/>
            </a:endParaRPr>
          </a:p>
        </p:txBody>
      </p:sp>
      <p:sp>
        <p:nvSpPr>
          <p:cNvPr id="68" name="任意多边形: 形状 56"/>
          <p:cNvSpPr/>
          <p:nvPr/>
        </p:nvSpPr>
        <p:spPr>
          <a:xfrm>
            <a:off x="5866765" y="3973195"/>
            <a:ext cx="2520315" cy="1205230"/>
          </a:xfrm>
          <a:custGeom>
            <a:avLst/>
            <a:gdLst>
              <a:gd name="connsiteX0" fmla="*/ 323850 w 1082039"/>
              <a:gd name="connsiteY0" fmla="*/ 75248 h 1005840"/>
              <a:gd name="connsiteX1" fmla="*/ 631508 w 1082039"/>
              <a:gd name="connsiteY1" fmla="*/ 420053 h 1005840"/>
              <a:gd name="connsiteX2" fmla="*/ 1038225 w 1082039"/>
              <a:gd name="connsiteY2" fmla="*/ 681990 h 1005840"/>
              <a:gd name="connsiteX3" fmla="*/ 1082040 w 1082039"/>
              <a:gd name="connsiteY3" fmla="*/ 864870 h 1005840"/>
              <a:gd name="connsiteX4" fmla="*/ 932498 w 1082039"/>
              <a:gd name="connsiteY4" fmla="*/ 1005840 h 1005840"/>
              <a:gd name="connsiteX5" fmla="*/ 168592 w 1082039"/>
              <a:gd name="connsiteY5" fmla="*/ 423863 h 1005840"/>
              <a:gd name="connsiteX6" fmla="*/ 120967 w 1082039"/>
              <a:gd name="connsiteY6" fmla="*/ 363855 h 1005840"/>
              <a:gd name="connsiteX7" fmla="*/ 0 w 1082039"/>
              <a:gd name="connsiteY7" fmla="*/ 205740 h 1005840"/>
              <a:gd name="connsiteX8" fmla="*/ 193358 w 1082039"/>
              <a:gd name="connsiteY8" fmla="*/ 180023 h 1005840"/>
              <a:gd name="connsiteX9" fmla="*/ 267652 w 1082039"/>
              <a:gd name="connsiteY9" fmla="*/ 0 h 1005840"/>
              <a:gd name="connsiteX10" fmla="*/ 323850 w 1082039"/>
              <a:gd name="connsiteY10" fmla="*/ 75248 h 100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07" h="2491">
                <a:moveTo>
                  <a:pt x="763" y="177"/>
                </a:moveTo>
                <a:cubicBezTo>
                  <a:pt x="1281" y="766"/>
                  <a:pt x="1555" y="1285"/>
                  <a:pt x="2589" y="1650"/>
                </a:cubicBezTo>
                <a:lnTo>
                  <a:pt x="2589" y="1649"/>
                </a:lnTo>
                <a:cubicBezTo>
                  <a:pt x="2688" y="1672"/>
                  <a:pt x="2805" y="1685"/>
                  <a:pt x="2903" y="1685"/>
                </a:cubicBezTo>
                <a:cubicBezTo>
                  <a:pt x="3697" y="1709"/>
                  <a:pt x="4354" y="1016"/>
                  <a:pt x="4399" y="319"/>
                </a:cubicBezTo>
                <a:lnTo>
                  <a:pt x="4810" y="81"/>
                </a:lnTo>
                <a:lnTo>
                  <a:pt x="5207" y="310"/>
                </a:lnTo>
                <a:cubicBezTo>
                  <a:pt x="5177" y="1541"/>
                  <a:pt x="4023" y="2520"/>
                  <a:pt x="2903" y="2490"/>
                </a:cubicBezTo>
                <a:cubicBezTo>
                  <a:pt x="2848" y="2493"/>
                  <a:pt x="2633" y="2487"/>
                  <a:pt x="2340" y="2414"/>
                </a:cubicBezTo>
                <a:lnTo>
                  <a:pt x="2341" y="2412"/>
                </a:lnTo>
                <a:lnTo>
                  <a:pt x="2197" y="2368"/>
                </a:lnTo>
                <a:lnTo>
                  <a:pt x="2196" y="2369"/>
                </a:lnTo>
                <a:cubicBezTo>
                  <a:pt x="445" y="1509"/>
                  <a:pt x="153" y="565"/>
                  <a:pt x="285" y="857"/>
                </a:cubicBezTo>
                <a:cubicBezTo>
                  <a:pt x="217" y="771"/>
                  <a:pt x="139" y="668"/>
                  <a:pt x="81" y="591"/>
                </a:cubicBezTo>
                <a:cubicBezTo>
                  <a:pt x="55" y="557"/>
                  <a:pt x="19" y="509"/>
                  <a:pt x="0" y="485"/>
                </a:cubicBezTo>
                <a:lnTo>
                  <a:pt x="455" y="424"/>
                </a:lnTo>
                <a:lnTo>
                  <a:pt x="630" y="0"/>
                </a:lnTo>
                <a:cubicBezTo>
                  <a:pt x="672" y="57"/>
                  <a:pt x="722" y="124"/>
                  <a:pt x="763" y="177"/>
                </a:cubicBezTo>
                <a:close/>
              </a:path>
            </a:pathLst>
          </a:custGeom>
          <a:solidFill>
            <a:srgbClr val="9A3123">
              <a:lumMod val="40000"/>
              <a:lumOff val="60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任意多边形: 形状 57"/>
          <p:cNvSpPr/>
          <p:nvPr/>
        </p:nvSpPr>
        <p:spPr>
          <a:xfrm>
            <a:off x="5991860" y="2943860"/>
            <a:ext cx="2396490" cy="1115695"/>
          </a:xfrm>
          <a:custGeom>
            <a:avLst/>
            <a:gdLst>
              <a:gd name="connsiteX0" fmla="*/ 1286828 w 1286827"/>
              <a:gd name="connsiteY0" fmla="*/ 971550 h 972502"/>
              <a:gd name="connsiteX1" fmla="*/ 1117283 w 1286827"/>
              <a:gd name="connsiteY1" fmla="*/ 873443 h 972502"/>
              <a:gd name="connsiteX2" fmla="*/ 944880 w 1286827"/>
              <a:gd name="connsiteY2" fmla="*/ 972503 h 972502"/>
              <a:gd name="connsiteX3" fmla="*/ 307658 w 1286827"/>
              <a:gd name="connsiteY3" fmla="*/ 341948 h 972502"/>
              <a:gd name="connsiteX4" fmla="*/ 147638 w 1286827"/>
              <a:gd name="connsiteY4" fmla="*/ 366713 h 972502"/>
              <a:gd name="connsiteX5" fmla="*/ 0 w 1286827"/>
              <a:gd name="connsiteY5" fmla="*/ 226695 h 972502"/>
              <a:gd name="connsiteX6" fmla="*/ 44768 w 1286827"/>
              <a:gd name="connsiteY6" fmla="*/ 40958 h 972502"/>
              <a:gd name="connsiteX7" fmla="*/ 307658 w 1286827"/>
              <a:gd name="connsiteY7" fmla="*/ 0 h 972502"/>
              <a:gd name="connsiteX8" fmla="*/ 1286828 w 1286827"/>
              <a:gd name="connsiteY8" fmla="*/ 971550 h 97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1" h="2306">
                <a:moveTo>
                  <a:pt x="4951" y="2288"/>
                </a:moveTo>
                <a:lnTo>
                  <a:pt x="4552" y="2057"/>
                </a:lnTo>
                <a:lnTo>
                  <a:pt x="4146" y="2290"/>
                </a:lnTo>
                <a:cubicBezTo>
                  <a:pt x="4162" y="1456"/>
                  <a:pt x="3393" y="785"/>
                  <a:pt x="2645" y="805"/>
                </a:cubicBezTo>
                <a:cubicBezTo>
                  <a:pt x="2535" y="804"/>
                  <a:pt x="2401" y="826"/>
                  <a:pt x="2307" y="852"/>
                </a:cubicBezTo>
                <a:lnTo>
                  <a:pt x="2308" y="853"/>
                </a:lnTo>
                <a:lnTo>
                  <a:pt x="2128" y="915"/>
                </a:lnTo>
                <a:lnTo>
                  <a:pt x="2128" y="915"/>
                </a:lnTo>
                <a:cubicBezTo>
                  <a:pt x="1466" y="1164"/>
                  <a:pt x="798" y="1908"/>
                  <a:pt x="505" y="2305"/>
                </a:cubicBezTo>
                <a:cubicBezTo>
                  <a:pt x="483" y="2276"/>
                  <a:pt x="455" y="2240"/>
                  <a:pt x="436" y="2215"/>
                </a:cubicBezTo>
                <a:cubicBezTo>
                  <a:pt x="415" y="2186"/>
                  <a:pt x="388" y="2151"/>
                  <a:pt x="370" y="2128"/>
                </a:cubicBezTo>
                <a:cubicBezTo>
                  <a:pt x="342" y="2088"/>
                  <a:pt x="307" y="2043"/>
                  <a:pt x="278" y="2007"/>
                </a:cubicBezTo>
                <a:cubicBezTo>
                  <a:pt x="188" y="1885"/>
                  <a:pt x="85" y="1748"/>
                  <a:pt x="0" y="1639"/>
                </a:cubicBezTo>
                <a:lnTo>
                  <a:pt x="13" y="1627"/>
                </a:lnTo>
                <a:cubicBezTo>
                  <a:pt x="372" y="1159"/>
                  <a:pt x="1162" y="404"/>
                  <a:pt x="1865" y="154"/>
                </a:cubicBezTo>
                <a:lnTo>
                  <a:pt x="1865" y="152"/>
                </a:lnTo>
                <a:lnTo>
                  <a:pt x="2025" y="97"/>
                </a:lnTo>
                <a:lnTo>
                  <a:pt x="2025" y="96"/>
                </a:lnTo>
                <a:lnTo>
                  <a:pt x="2031" y="95"/>
                </a:lnTo>
                <a:lnTo>
                  <a:pt x="2045" y="90"/>
                </a:lnTo>
                <a:lnTo>
                  <a:pt x="2045" y="91"/>
                </a:lnTo>
                <a:cubicBezTo>
                  <a:pt x="2234" y="33"/>
                  <a:pt x="2458" y="-1"/>
                  <a:pt x="2645" y="0"/>
                </a:cubicBezTo>
                <a:cubicBezTo>
                  <a:pt x="3928" y="-37"/>
                  <a:pt x="4972" y="1137"/>
                  <a:pt x="4951" y="2288"/>
                </a:cubicBezTo>
                <a:close/>
              </a:path>
            </a:pathLst>
          </a:custGeom>
          <a:solidFill>
            <a:srgbClr val="9A312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任意多边形: 形状 64"/>
          <p:cNvSpPr/>
          <p:nvPr/>
        </p:nvSpPr>
        <p:spPr>
          <a:xfrm>
            <a:off x="3610610" y="2945130"/>
            <a:ext cx="2518410" cy="1204595"/>
          </a:xfrm>
          <a:custGeom>
            <a:avLst/>
            <a:gdLst>
              <a:gd name="connsiteX0" fmla="*/ 1247775 w 1292542"/>
              <a:gd name="connsiteY0" fmla="*/ 40005 h 973454"/>
              <a:gd name="connsiteX1" fmla="*/ 1292543 w 1292542"/>
              <a:gd name="connsiteY1" fmla="*/ 226695 h 973454"/>
              <a:gd name="connsiteX2" fmla="*/ 1145858 w 1292542"/>
              <a:gd name="connsiteY2" fmla="*/ 364808 h 973454"/>
              <a:gd name="connsiteX3" fmla="*/ 980123 w 1292542"/>
              <a:gd name="connsiteY3" fmla="*/ 340995 h 973454"/>
              <a:gd name="connsiteX4" fmla="*/ 342900 w 1292542"/>
              <a:gd name="connsiteY4" fmla="*/ 968693 h 973454"/>
              <a:gd name="connsiteX5" fmla="*/ 174308 w 1292542"/>
              <a:gd name="connsiteY5" fmla="*/ 872490 h 973454"/>
              <a:gd name="connsiteX6" fmla="*/ 0 w 1292542"/>
              <a:gd name="connsiteY6" fmla="*/ 973455 h 973454"/>
              <a:gd name="connsiteX7" fmla="*/ 979170 w 1292542"/>
              <a:gd name="connsiteY7" fmla="*/ 0 h 973454"/>
              <a:gd name="connsiteX8" fmla="*/ 1247775 w 1292542"/>
              <a:gd name="connsiteY8" fmla="*/ 40005 h 973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3" h="2488">
                <a:moveTo>
                  <a:pt x="2700" y="859"/>
                </a:moveTo>
                <a:lnTo>
                  <a:pt x="2699" y="860"/>
                </a:lnTo>
                <a:cubicBezTo>
                  <a:pt x="2579" y="823"/>
                  <a:pt x="2423" y="803"/>
                  <a:pt x="2314" y="804"/>
                </a:cubicBezTo>
                <a:lnTo>
                  <a:pt x="2308" y="804"/>
                </a:lnTo>
                <a:lnTo>
                  <a:pt x="2269" y="803"/>
                </a:lnTo>
                <a:cubicBezTo>
                  <a:pt x="1439" y="779"/>
                  <a:pt x="778" y="1620"/>
                  <a:pt x="808" y="2282"/>
                </a:cubicBezTo>
                <a:lnTo>
                  <a:pt x="411" y="2055"/>
                </a:lnTo>
                <a:lnTo>
                  <a:pt x="1" y="2293"/>
                </a:lnTo>
                <a:lnTo>
                  <a:pt x="0" y="2232"/>
                </a:lnTo>
                <a:cubicBezTo>
                  <a:pt x="-28" y="974"/>
                  <a:pt x="1242" y="-29"/>
                  <a:pt x="2251" y="0"/>
                </a:cubicBezTo>
                <a:lnTo>
                  <a:pt x="2306" y="1"/>
                </a:lnTo>
                <a:lnTo>
                  <a:pt x="2316" y="1"/>
                </a:lnTo>
                <a:lnTo>
                  <a:pt x="2326" y="1"/>
                </a:lnTo>
                <a:cubicBezTo>
                  <a:pt x="2526" y="-1"/>
                  <a:pt x="2770" y="45"/>
                  <a:pt x="2915" y="88"/>
                </a:cubicBezTo>
                <a:lnTo>
                  <a:pt x="2914" y="85"/>
                </a:lnTo>
                <a:lnTo>
                  <a:pt x="3087" y="141"/>
                </a:lnTo>
                <a:lnTo>
                  <a:pt x="3087" y="142"/>
                </a:lnTo>
                <a:lnTo>
                  <a:pt x="3087" y="142"/>
                </a:lnTo>
                <a:cubicBezTo>
                  <a:pt x="4534" y="854"/>
                  <a:pt x="4907" y="1681"/>
                  <a:pt x="4924" y="1635"/>
                </a:cubicBezTo>
                <a:cubicBezTo>
                  <a:pt x="5017" y="1755"/>
                  <a:pt x="5119" y="1892"/>
                  <a:pt x="5203" y="2003"/>
                </a:cubicBezTo>
                <a:lnTo>
                  <a:pt x="5028" y="2427"/>
                </a:lnTo>
                <a:lnTo>
                  <a:pt x="4572" y="2488"/>
                </a:lnTo>
                <a:cubicBezTo>
                  <a:pt x="4528" y="2432"/>
                  <a:pt x="4481" y="2370"/>
                  <a:pt x="4442" y="2319"/>
                </a:cubicBezTo>
                <a:cubicBezTo>
                  <a:pt x="4169" y="1982"/>
                  <a:pt x="3707" y="1300"/>
                  <a:pt x="2841" y="907"/>
                </a:cubicBezTo>
                <a:lnTo>
                  <a:pt x="2864" y="884"/>
                </a:lnTo>
                <a:lnTo>
                  <a:pt x="2839" y="904"/>
                </a:lnTo>
                <a:lnTo>
                  <a:pt x="2700" y="859"/>
                </a:lnTo>
                <a:close/>
              </a:path>
            </a:pathLst>
          </a:custGeom>
          <a:solidFill>
            <a:srgbClr val="1C427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任意多边形: 形状 65"/>
          <p:cNvSpPr/>
          <p:nvPr/>
        </p:nvSpPr>
        <p:spPr>
          <a:xfrm>
            <a:off x="3610610" y="4011930"/>
            <a:ext cx="2395220" cy="1166495"/>
          </a:xfrm>
          <a:custGeom>
            <a:avLst/>
            <a:gdLst>
              <a:gd name="connsiteX0" fmla="*/ 1073468 w 1220152"/>
              <a:gd name="connsiteY0" fmla="*/ 849630 h 1022985"/>
              <a:gd name="connsiteX1" fmla="*/ 1220153 w 1220152"/>
              <a:gd name="connsiteY1" fmla="*/ 988695 h 1022985"/>
              <a:gd name="connsiteX2" fmla="*/ 978218 w 1220152"/>
              <a:gd name="connsiteY2" fmla="*/ 1022985 h 1022985"/>
              <a:gd name="connsiteX3" fmla="*/ 0 w 1220152"/>
              <a:gd name="connsiteY3" fmla="*/ 100013 h 1022985"/>
              <a:gd name="connsiteX4" fmla="*/ 173355 w 1220152"/>
              <a:gd name="connsiteY4" fmla="*/ 0 h 1022985"/>
              <a:gd name="connsiteX5" fmla="*/ 342900 w 1220152"/>
              <a:gd name="connsiteY5" fmla="*/ 97155 h 1022985"/>
              <a:gd name="connsiteX6" fmla="*/ 978218 w 1220152"/>
              <a:gd name="connsiteY6" fmla="*/ 680085 h 1022985"/>
              <a:gd name="connsiteX7" fmla="*/ 1117283 w 1220152"/>
              <a:gd name="connsiteY7" fmla="*/ 661035 h 1022985"/>
              <a:gd name="connsiteX8" fmla="*/ 1073468 w 1220152"/>
              <a:gd name="connsiteY8" fmla="*/ 849630 h 1022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8" h="2410">
                <a:moveTo>
                  <a:pt x="2554" y="2393"/>
                </a:moveTo>
                <a:cubicBezTo>
                  <a:pt x="2489" y="2402"/>
                  <a:pt x="2368" y="2410"/>
                  <a:pt x="2304" y="2409"/>
                </a:cubicBezTo>
                <a:cubicBezTo>
                  <a:pt x="1059" y="2447"/>
                  <a:pt x="34" y="1340"/>
                  <a:pt x="0" y="236"/>
                </a:cubicBezTo>
                <a:lnTo>
                  <a:pt x="408" y="0"/>
                </a:lnTo>
                <a:lnTo>
                  <a:pt x="808" y="229"/>
                </a:lnTo>
                <a:cubicBezTo>
                  <a:pt x="849" y="1011"/>
                  <a:pt x="1589" y="1620"/>
                  <a:pt x="2304" y="1602"/>
                </a:cubicBezTo>
                <a:cubicBezTo>
                  <a:pt x="2318" y="1602"/>
                  <a:pt x="2346" y="1601"/>
                  <a:pt x="2347" y="1601"/>
                </a:cubicBezTo>
                <a:lnTo>
                  <a:pt x="2347" y="1600"/>
                </a:lnTo>
                <a:cubicBezTo>
                  <a:pt x="2489" y="1593"/>
                  <a:pt x="2671" y="1553"/>
                  <a:pt x="2783" y="1510"/>
                </a:cubicBezTo>
                <a:lnTo>
                  <a:pt x="2783" y="1509"/>
                </a:lnTo>
                <a:cubicBezTo>
                  <a:pt x="2956" y="1442"/>
                  <a:pt x="2919" y="1447"/>
                  <a:pt x="2996" y="1409"/>
                </a:cubicBezTo>
                <a:lnTo>
                  <a:pt x="2997" y="1416"/>
                </a:lnTo>
                <a:cubicBezTo>
                  <a:pt x="3553" y="1154"/>
                  <a:pt x="4190" y="464"/>
                  <a:pt x="4446" y="109"/>
                </a:cubicBezTo>
                <a:cubicBezTo>
                  <a:pt x="4467" y="137"/>
                  <a:pt x="4493" y="171"/>
                  <a:pt x="4510" y="194"/>
                </a:cubicBezTo>
                <a:cubicBezTo>
                  <a:pt x="4531" y="221"/>
                  <a:pt x="4556" y="255"/>
                  <a:pt x="4573" y="277"/>
                </a:cubicBezTo>
                <a:cubicBezTo>
                  <a:pt x="4597" y="310"/>
                  <a:pt x="4626" y="348"/>
                  <a:pt x="4648" y="376"/>
                </a:cubicBezTo>
                <a:cubicBezTo>
                  <a:pt x="4655" y="385"/>
                  <a:pt x="4658" y="389"/>
                  <a:pt x="4668" y="402"/>
                </a:cubicBezTo>
                <a:cubicBezTo>
                  <a:pt x="4759" y="526"/>
                  <a:pt x="4862" y="661"/>
                  <a:pt x="4948" y="771"/>
                </a:cubicBezTo>
                <a:lnTo>
                  <a:pt x="4939" y="780"/>
                </a:lnTo>
                <a:cubicBezTo>
                  <a:pt x="4606" y="1213"/>
                  <a:pt x="3902" y="1899"/>
                  <a:pt x="3262" y="2179"/>
                </a:cubicBezTo>
                <a:lnTo>
                  <a:pt x="3265" y="2181"/>
                </a:lnTo>
                <a:cubicBezTo>
                  <a:pt x="2845" y="2379"/>
                  <a:pt x="2582" y="2390"/>
                  <a:pt x="2554" y="2395"/>
                </a:cubicBezTo>
                <a:lnTo>
                  <a:pt x="2554" y="2393"/>
                </a:lnTo>
                <a:close/>
              </a:path>
            </a:pathLst>
          </a:custGeom>
          <a:solidFill>
            <a:srgbClr val="1C4274">
              <a:lumMod val="60000"/>
              <a:lumOff val="40000"/>
            </a:srgb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209030" y="3173730"/>
            <a:ext cx="2220595" cy="222059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整合：全域数据资产化与智能中台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 rot="600000">
            <a:off x="3634105" y="3187065"/>
            <a:ext cx="2220595" cy="2220595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启动：系统化工具基础构建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 rot="21240000">
            <a:off x="3614420" y="2780665"/>
            <a:ext cx="2159000" cy="215900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升级：数据驱动的全域增长</a:t>
            </a:r>
            <a:endParaRPr kumimoji="0" lang="zh-CN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 rot="21360000">
            <a:off x="6177280" y="2766060"/>
            <a:ext cx="2159000" cy="215900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深化：全域融合与体验升级</a:t>
            </a:r>
            <a:endParaRPr kumimoji="0" lang="zh-CN" altLang="en-US" sz="2000" b="0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28340" y="1597660"/>
            <a:ext cx="562165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配色⑧：</a:t>
            </a:r>
            <a:r>
              <a:rPr lang="zh-CN" sz="25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商务纯蓝色</a:t>
            </a:r>
            <a:endParaRPr lang="zh-CN" sz="25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2637155" y="2799080"/>
            <a:ext cx="3343910" cy="3589020"/>
          </a:xfrm>
          <a:custGeom>
            <a:avLst/>
            <a:gdLst>
              <a:gd name="adj" fmla="val 650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20" h="9467">
                <a:moveTo>
                  <a:pt x="0" y="616"/>
                </a:moveTo>
                <a:cubicBezTo>
                  <a:pt x="-11" y="270"/>
                  <a:pt x="306" y="-8"/>
                  <a:pt x="616" y="0"/>
                </a:cubicBezTo>
                <a:lnTo>
                  <a:pt x="8520" y="0"/>
                </a:lnTo>
                <a:lnTo>
                  <a:pt x="8520" y="9467"/>
                </a:lnTo>
                <a:lnTo>
                  <a:pt x="616" y="9467"/>
                </a:lnTo>
                <a:cubicBezTo>
                  <a:pt x="270" y="9478"/>
                  <a:pt x="-8" y="9161"/>
                  <a:pt x="0" y="8851"/>
                </a:cubicBezTo>
                <a:lnTo>
                  <a:pt x="0" y="616"/>
                </a:lnTo>
                <a:close/>
              </a:path>
            </a:pathLst>
          </a:custGeom>
          <a:solidFill>
            <a:schemeClr val="accent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 flipH="1">
            <a:off x="5980430" y="2799080"/>
            <a:ext cx="3370580" cy="3589020"/>
          </a:xfrm>
          <a:custGeom>
            <a:avLst/>
            <a:gdLst>
              <a:gd name="adj" fmla="val 650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20" h="9467">
                <a:moveTo>
                  <a:pt x="0" y="616"/>
                </a:moveTo>
                <a:cubicBezTo>
                  <a:pt x="-11" y="270"/>
                  <a:pt x="306" y="-8"/>
                  <a:pt x="616" y="0"/>
                </a:cubicBezTo>
                <a:lnTo>
                  <a:pt x="8520" y="0"/>
                </a:lnTo>
                <a:lnTo>
                  <a:pt x="8520" y="9467"/>
                </a:lnTo>
                <a:lnTo>
                  <a:pt x="616" y="9467"/>
                </a:lnTo>
                <a:cubicBezTo>
                  <a:pt x="270" y="9478"/>
                  <a:pt x="-8" y="9161"/>
                  <a:pt x="0" y="8851"/>
                </a:cubicBezTo>
                <a:lnTo>
                  <a:pt x="0" y="61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十二边形 14"/>
          <p:cNvSpPr/>
          <p:nvPr/>
        </p:nvSpPr>
        <p:spPr>
          <a:xfrm>
            <a:off x="5173345" y="3685540"/>
            <a:ext cx="1684020" cy="1684020"/>
          </a:xfrm>
          <a:prstGeom prst="dodecagon">
            <a:avLst/>
          </a:prstGeom>
          <a:solidFill>
            <a:schemeClr val="accent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27705" y="4276725"/>
            <a:ext cx="17005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深海蓝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1C4274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47230" y="4276725"/>
            <a:ext cx="18332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亮蓝色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4E88D4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58118" y="4174173"/>
            <a:ext cx="15144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钢灰色</a:t>
            </a: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A5A5A5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3429953" y="2145030"/>
            <a:ext cx="521843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钛青浮幕影，钢灰溯光澜</a:t>
            </a:r>
            <a:r>
              <a:rPr lang="en-US" sz="2500" spc="-15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！”</a:t>
            </a:r>
            <a:endParaRPr lang="en-US" sz="2500" spc="-15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2945130" y="3068320"/>
            <a:ext cx="1464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spc="-150" noProof="0" dirty="0">
                <a:ln w="4762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配色⑦</a:t>
            </a:r>
            <a:endParaRPr lang="en-US" altLang="zh-CN" sz="2000" b="1" spc="-150" noProof="0" dirty="0">
              <a:ln w="47625"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"/>
            </p:custDataLst>
          </p:nvPr>
        </p:nvSpPr>
        <p:spPr>
          <a:xfrm>
            <a:off x="1544955" y="1263015"/>
            <a:ext cx="936752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本作品系开悟思维原创作品，已获国家版权局作品登记证书，仅供个人学习使用！</a:t>
            </a:r>
            <a:endParaRPr lang="zh-CN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 flipH="1">
            <a:off x="3674110" y="530860"/>
            <a:ext cx="469138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原创版权保护</a:t>
            </a:r>
            <a:r>
              <a:rPr lang="en-US" altLang="zh-CN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侵权必究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4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940" y="1851025"/>
            <a:ext cx="6596380" cy="4688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476693" y="914400"/>
            <a:ext cx="9086215" cy="231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"/>
            </p:custDataLst>
          </p:nvPr>
        </p:nvSpPr>
        <p:spPr>
          <a:xfrm>
            <a:off x="1544955" y="1263015"/>
            <a:ext cx="936752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欢迎关注微信号，或小红书账号</a:t>
            </a:r>
            <a:r>
              <a:rPr lang="en-US" altLang="zh-CN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开悟思维锦囊</a:t>
            </a:r>
            <a:r>
              <a:rPr lang="en-US" altLang="zh-CN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en-US" altLang="en-US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lang="en-US" altLang="en-US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 flipH="1">
            <a:off x="2905125" y="530860"/>
            <a:ext cx="5909310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</a:t>
            </a:r>
            <a:r>
              <a:rPr lang="zh-CN" altLang="en-US" sz="3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模板使用过程中有任何问题</a:t>
            </a:r>
            <a:endParaRPr lang="zh-CN" altLang="en-US" sz="3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 flipH="1">
            <a:off x="9965690" y="-13970"/>
            <a:ext cx="2244725" cy="848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49" h="1050">
                <a:moveTo>
                  <a:pt x="0" y="0"/>
                </a:moveTo>
                <a:lnTo>
                  <a:pt x="3549" y="0"/>
                </a:lnTo>
                <a:lnTo>
                  <a:pt x="1628" y="937"/>
                </a:lnTo>
                <a:cubicBezTo>
                  <a:pt x="1076" y="1207"/>
                  <a:pt x="410" y="977"/>
                  <a:pt x="141" y="425"/>
                </a:cubicBezTo>
                <a:lnTo>
                  <a:pt x="0" y="13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4"/>
          <a:srcRect r="58023" b="-8235"/>
          <a:stretch>
            <a:fillRect/>
          </a:stretch>
        </p:blipFill>
        <p:spPr>
          <a:xfrm>
            <a:off x="10253980" y="147320"/>
            <a:ext cx="1591310" cy="3505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851" t="-77" r="464" b="1258"/>
          <a:stretch>
            <a:fillRect/>
          </a:stretch>
        </p:blipFill>
        <p:spPr>
          <a:xfrm>
            <a:off x="2287905" y="2447925"/>
            <a:ext cx="3238500" cy="32429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040" y="2495550"/>
            <a:ext cx="3206750" cy="3147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复制到自己</a:t>
            </a:r>
            <a:r>
              <a:rPr lang="en-US" altLang="zh-CN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5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颜色变了怎么办？</a:t>
            </a:r>
            <a:endParaRPr lang="zh-CN" altLang="en-US" sz="25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"/>
            </p:custDataLst>
          </p:nvPr>
        </p:nvSpPr>
        <p:spPr>
          <a:xfrm>
            <a:off x="520065" y="1809750"/>
            <a:ext cx="5454650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模板页面（也可多选页面）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，选择</a:t>
            </a:r>
            <a:r>
              <a:rPr 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自己的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报告页面，右键点击选择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带格式粘贴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225155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86765" y="2526030"/>
            <a:ext cx="4668520" cy="351917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600190" y="1858645"/>
            <a:ext cx="5454650" cy="5835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复制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模板页面（也可多选页面）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，选择</a:t>
            </a:r>
            <a:r>
              <a:rPr 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自己的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报告页面，右键点击选择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保留原格式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367270" y="2748915"/>
            <a:ext cx="3867150" cy="313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如何一键修改整套</a:t>
            </a:r>
            <a:r>
              <a:rPr lang="en-US" altLang="zh-CN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PPT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的颜色？</a:t>
            </a:r>
            <a:endParaRPr lang="zh-CN" altLang="en-US" sz="2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"/>
            </p:custDataLst>
          </p:nvPr>
        </p:nvSpPr>
        <p:spPr>
          <a:xfrm>
            <a:off x="520065" y="1563370"/>
            <a:ext cx="5454650" cy="107632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配色方案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选项，选择【更多配色方案】，</a:t>
            </a:r>
            <a:r>
              <a:rPr 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里面有本模板已经设定好的多种配色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点击【使用】即可一键全部替换。选择【自定义】也可配置自己的常用色。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3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1191" b="22551"/>
          <a:stretch>
            <a:fillRect/>
          </a:stretch>
        </p:blipFill>
        <p:spPr>
          <a:xfrm>
            <a:off x="431800" y="2770505"/>
            <a:ext cx="5319395" cy="24250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67790" y="3487420"/>
            <a:ext cx="2376170" cy="275463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6438900" y="1686560"/>
            <a:ext cx="5454650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选项卡，找到【变体】选择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颜色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</a:t>
            </a:r>
            <a:r>
              <a:rPr 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里面有本模板已经设定好的多种配色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点击其中一种颜色即可一键全部替换。选择【自定义】也可配置自己的颜色。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8225155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579870" y="2639695"/>
            <a:ext cx="5171440" cy="23215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91525" y="3858895"/>
            <a:ext cx="2294890" cy="2442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68935" y="306388"/>
            <a:ext cx="7585710" cy="4756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2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使用模板时：</a:t>
            </a:r>
            <a:r>
              <a:rPr lang="zh-CN" altLang="en-US" sz="25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如何一键去除右上角的logo？</a:t>
            </a:r>
            <a:endParaRPr lang="zh-CN" altLang="en-US" sz="25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1" name="直线连接符 7"/>
          <p:cNvCxnSpPr/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36893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r="1364" b="46622"/>
          <a:stretch>
            <a:fillRect/>
          </a:stretch>
        </p:blipFill>
        <p:spPr>
          <a:xfrm>
            <a:off x="641985" y="2576830"/>
            <a:ext cx="5029835" cy="170434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641985" y="1610360"/>
            <a:ext cx="5116195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选项卡，选择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母版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选项，进入母版视图。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进入母版视图后，右击logo选择删除，点击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关闭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幻灯片母版视图即可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5"/>
            </p:custDataLst>
          </p:nvPr>
        </p:nvSpPr>
        <p:spPr>
          <a:xfrm>
            <a:off x="6369685" y="1158875"/>
            <a:ext cx="5592445" cy="5207000"/>
          </a:xfrm>
          <a:prstGeom prst="roundRect">
            <a:avLst>
              <a:gd name="adj" fmla="val 6466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2160" t="-2686" r="934" b="33542"/>
          <a:stretch>
            <a:fillRect/>
          </a:stretch>
        </p:blipFill>
        <p:spPr>
          <a:xfrm>
            <a:off x="641985" y="4417695"/>
            <a:ext cx="4970145" cy="176276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2306320" y="1234758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WPS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771640" y="1572895"/>
            <a:ext cx="5116195" cy="8299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r>
              <a:rPr lang="en-US" altLang="zh-CN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点击【试图】选项卡，选择【幻灯片母版】选项，进入母版视图。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进入母版视图后，右击logo选择删除，点击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关闭</a:t>
            </a:r>
            <a:r>
              <a:rPr lang="en-US" altLang="zh-CN" sz="16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幻灯片母版视图即可。</a:t>
            </a:r>
            <a:endParaRPr lang="zh-CN" altLang="en-US" sz="1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8435975" y="1197293"/>
            <a:ext cx="17532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office</a:t>
            </a:r>
            <a:r>
              <a:rPr lang="zh-CN" altLang="en-US" sz="2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</a:t>
            </a:r>
            <a:endParaRPr lang="zh-CN" altLang="en-US"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1212" b="49421"/>
          <a:stretch>
            <a:fillRect/>
          </a:stretch>
        </p:blipFill>
        <p:spPr>
          <a:xfrm>
            <a:off x="6507480" y="2618740"/>
            <a:ext cx="5321300" cy="1706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401" r="6963" b="47355"/>
          <a:stretch>
            <a:fillRect/>
          </a:stretch>
        </p:blipFill>
        <p:spPr>
          <a:xfrm>
            <a:off x="6507480" y="4490085"/>
            <a:ext cx="5332730" cy="1617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1619885" y="447358"/>
            <a:ext cx="6458585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en-US" altLang="zh-CN" sz="3000" b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CONTENTS</a:t>
            </a:r>
            <a:endParaRPr lang="en-US" altLang="zh-CN" sz="3000" b="1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5925" y="370840"/>
            <a:ext cx="1203960" cy="70675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fontAlgn="ctr">
              <a:lnSpc>
                <a:spcPct val="100000"/>
              </a:lnSpc>
            </a:pPr>
            <a:r>
              <a:rPr lang="zh-CN" altLang="en-US" sz="40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目录</a:t>
            </a:r>
            <a:endParaRPr lang="zh-CN" altLang="en-US" sz="4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707390" y="13887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2"/>
            </p:custDataLst>
          </p:nvPr>
        </p:nvSpPr>
        <p:spPr>
          <a:xfrm>
            <a:off x="707390" y="19951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屋顶</a:t>
            </a:r>
            <a:r>
              <a:rPr lang="en-US" alt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战略屋架构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文本框 41"/>
          <p:cNvSpPr txBox="1"/>
          <p:nvPr>
            <p:custDataLst>
              <p:tags r:id="rId3"/>
            </p:custDataLst>
          </p:nvPr>
        </p:nvSpPr>
        <p:spPr>
          <a:xfrm>
            <a:off x="1867535" y="14795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en-US" altLang="zh-CN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endParaRPr lang="en-US" altLang="zh-CN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矩形 66"/>
          <p:cNvSpPr/>
          <p:nvPr>
            <p:custDataLst>
              <p:tags r:id="rId4"/>
            </p:custDataLst>
          </p:nvPr>
        </p:nvSpPr>
        <p:spPr>
          <a:xfrm>
            <a:off x="4485640" y="13887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5"/>
            </p:custDataLst>
          </p:nvPr>
        </p:nvSpPr>
        <p:spPr>
          <a:xfrm>
            <a:off x="4485640" y="19951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多层平台架构</a:t>
            </a:r>
            <a:endParaRPr lang="zh-CN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文本框 76"/>
          <p:cNvSpPr txBox="1"/>
          <p:nvPr>
            <p:custDataLst>
              <p:tags r:id="rId6"/>
            </p:custDataLst>
          </p:nvPr>
        </p:nvSpPr>
        <p:spPr>
          <a:xfrm>
            <a:off x="5645785" y="14795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9" name="矩形 78"/>
          <p:cNvSpPr/>
          <p:nvPr>
            <p:custDataLst>
              <p:tags r:id="rId7"/>
            </p:custDataLst>
          </p:nvPr>
        </p:nvSpPr>
        <p:spPr>
          <a:xfrm>
            <a:off x="8268970" y="1389380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8"/>
            </p:custDataLst>
          </p:nvPr>
        </p:nvSpPr>
        <p:spPr>
          <a:xfrm>
            <a:off x="8268970" y="1995805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中心发散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9"/>
            </p:custDataLst>
          </p:nvPr>
        </p:nvSpPr>
        <p:spPr>
          <a:xfrm>
            <a:off x="9429115" y="1480185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矩形 90"/>
          <p:cNvSpPr/>
          <p:nvPr>
            <p:custDataLst>
              <p:tags r:id="rId10"/>
            </p:custDataLst>
          </p:nvPr>
        </p:nvSpPr>
        <p:spPr>
          <a:xfrm>
            <a:off x="707390" y="41319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11"/>
            </p:custDataLst>
          </p:nvPr>
        </p:nvSpPr>
        <p:spPr>
          <a:xfrm>
            <a:off x="707390" y="47383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循环逻辑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>
            <p:custDataLst>
              <p:tags r:id="rId12"/>
            </p:custDataLst>
          </p:nvPr>
        </p:nvSpPr>
        <p:spPr>
          <a:xfrm>
            <a:off x="1867535" y="42227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④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矩形 102"/>
          <p:cNvSpPr/>
          <p:nvPr>
            <p:custDataLst>
              <p:tags r:id="rId13"/>
            </p:custDataLst>
          </p:nvPr>
        </p:nvSpPr>
        <p:spPr>
          <a:xfrm>
            <a:off x="4485640" y="4131945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文本框 111"/>
          <p:cNvSpPr txBox="1"/>
          <p:nvPr>
            <p:custDataLst>
              <p:tags r:id="rId14"/>
            </p:custDataLst>
          </p:nvPr>
        </p:nvSpPr>
        <p:spPr>
          <a:xfrm>
            <a:off x="4485640" y="4738370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业务流程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3" name="文本框 112"/>
          <p:cNvSpPr txBox="1"/>
          <p:nvPr>
            <p:custDataLst>
              <p:tags r:id="rId15"/>
            </p:custDataLst>
          </p:nvPr>
        </p:nvSpPr>
        <p:spPr>
          <a:xfrm>
            <a:off x="5645785" y="4222750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⑤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矩形 114"/>
          <p:cNvSpPr/>
          <p:nvPr>
            <p:custDataLst>
              <p:tags r:id="rId16"/>
            </p:custDataLst>
          </p:nvPr>
        </p:nvSpPr>
        <p:spPr>
          <a:xfrm>
            <a:off x="8268970" y="4132580"/>
            <a:ext cx="3366135" cy="2374265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文本框 123"/>
          <p:cNvSpPr txBox="1"/>
          <p:nvPr>
            <p:custDataLst>
              <p:tags r:id="rId17"/>
            </p:custDataLst>
          </p:nvPr>
        </p:nvSpPr>
        <p:spPr>
          <a:xfrm>
            <a:off x="8268970" y="4739005"/>
            <a:ext cx="3366135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 fontAlgn="ctr">
              <a:lnSpc>
                <a:spcPct val="100000"/>
              </a:lnSpc>
            </a:pPr>
            <a:r>
              <a:rPr lang="zh-CN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时间流程</a:t>
            </a:r>
            <a:r>
              <a:rPr lang="zh-CN" altLang="en-US" sz="20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2000" b="1" spc="-15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文本框 124"/>
          <p:cNvSpPr txBox="1"/>
          <p:nvPr>
            <p:custDataLst>
              <p:tags r:id="rId18"/>
            </p:custDataLst>
          </p:nvPr>
        </p:nvSpPr>
        <p:spPr>
          <a:xfrm>
            <a:off x="9429115" y="4223385"/>
            <a:ext cx="1046480" cy="55308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zh-CN" altLang="en-US" sz="3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⑥</a:t>
            </a:r>
            <a:endParaRPr lang="zh-CN" altLang="en-US" sz="3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7" name="梯形 126"/>
          <p:cNvSpPr/>
          <p:nvPr>
            <p:custDataLst>
              <p:tags r:id="rId19"/>
            </p:custDataLst>
          </p:nvPr>
        </p:nvSpPr>
        <p:spPr>
          <a:xfrm>
            <a:off x="5431155" y="3411855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8" name="梯形 127"/>
          <p:cNvSpPr/>
          <p:nvPr>
            <p:custDataLst>
              <p:tags r:id="rId20"/>
            </p:custDataLst>
          </p:nvPr>
        </p:nvSpPr>
        <p:spPr>
          <a:xfrm>
            <a:off x="5431155" y="3058795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9" name="梯形 128"/>
          <p:cNvSpPr/>
          <p:nvPr>
            <p:custDataLst>
              <p:tags r:id="rId21"/>
            </p:custDataLst>
          </p:nvPr>
        </p:nvSpPr>
        <p:spPr>
          <a:xfrm>
            <a:off x="5431155" y="2705100"/>
            <a:ext cx="1583055" cy="71755"/>
          </a:xfrm>
          <a:prstGeom prst="trapezoid">
            <a:avLst>
              <a:gd name="adj" fmla="val 187465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Freeform 1482"/>
          <p:cNvSpPr/>
          <p:nvPr>
            <p:custDataLst>
              <p:tags r:id="rId22"/>
            </p:custDataLst>
          </p:nvPr>
        </p:nvSpPr>
        <p:spPr>
          <a:xfrm>
            <a:off x="5433695" y="3482340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1" name="Freeform 1484"/>
          <p:cNvSpPr/>
          <p:nvPr>
            <p:custDataLst>
              <p:tags r:id="rId23"/>
            </p:custDataLst>
          </p:nvPr>
        </p:nvSpPr>
        <p:spPr>
          <a:xfrm>
            <a:off x="5433695" y="3129280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2" name="Freeform 1486"/>
          <p:cNvSpPr/>
          <p:nvPr>
            <p:custDataLst>
              <p:tags r:id="rId24"/>
            </p:custDataLst>
          </p:nvPr>
        </p:nvSpPr>
        <p:spPr>
          <a:xfrm>
            <a:off x="5433695" y="2776855"/>
            <a:ext cx="1580515" cy="71755"/>
          </a:xfrm>
          <a:custGeom>
            <a:avLst/>
            <a:gdLst/>
            <a:ahLst/>
            <a:cxnLst/>
            <a:rect l="0" t="0" r="0" b="0"/>
            <a:pathLst>
              <a:path w="10750295" h="362712">
                <a:moveTo>
                  <a:pt x="0" y="362712"/>
                </a:moveTo>
                <a:lnTo>
                  <a:pt x="10750295" y="362712"/>
                </a:lnTo>
                <a:lnTo>
                  <a:pt x="10750295" y="0"/>
                </a:lnTo>
                <a:lnTo>
                  <a:pt x="0" y="0"/>
                </a:lnTo>
                <a:lnTo>
                  <a:pt x="0" y="36271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31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3" name="矩形: 圆角 43"/>
          <p:cNvSpPr/>
          <p:nvPr>
            <p:custDataLst>
              <p:tags r:id="rId25"/>
            </p:custDataLst>
          </p:nvPr>
        </p:nvSpPr>
        <p:spPr>
          <a:xfrm>
            <a:off x="5581650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4" name="Freeform 1529"/>
          <p:cNvSpPr/>
          <p:nvPr>
            <p:custDataLst>
              <p:tags r:id="rId26"/>
            </p:custDataLst>
          </p:nvPr>
        </p:nvSpPr>
        <p:spPr>
          <a:xfrm>
            <a:off x="5603240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5" name="矩形: 圆角 8"/>
          <p:cNvSpPr/>
          <p:nvPr>
            <p:custDataLst>
              <p:tags r:id="rId27"/>
            </p:custDataLst>
          </p:nvPr>
        </p:nvSpPr>
        <p:spPr>
          <a:xfrm>
            <a:off x="562419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6" name="Freeform 1493"/>
          <p:cNvSpPr/>
          <p:nvPr>
            <p:custDataLst>
              <p:tags r:id="rId28"/>
            </p:custDataLst>
          </p:nvPr>
        </p:nvSpPr>
        <p:spPr>
          <a:xfrm>
            <a:off x="5644515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矩形: 圆角 8"/>
          <p:cNvSpPr/>
          <p:nvPr>
            <p:custDataLst>
              <p:tags r:id="rId29"/>
            </p:custDataLst>
          </p:nvPr>
        </p:nvSpPr>
        <p:spPr>
          <a:xfrm>
            <a:off x="5943600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8" name="Freeform 1493"/>
          <p:cNvSpPr/>
          <p:nvPr>
            <p:custDataLst>
              <p:tags r:id="rId30"/>
            </p:custDataLst>
          </p:nvPr>
        </p:nvSpPr>
        <p:spPr>
          <a:xfrm>
            <a:off x="5963920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矩形: 圆角 8"/>
          <p:cNvSpPr/>
          <p:nvPr>
            <p:custDataLst>
              <p:tags r:id="rId31"/>
            </p:custDataLst>
          </p:nvPr>
        </p:nvSpPr>
        <p:spPr>
          <a:xfrm>
            <a:off x="626300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0" name="Freeform 1493"/>
          <p:cNvSpPr/>
          <p:nvPr>
            <p:custDataLst>
              <p:tags r:id="rId32"/>
            </p:custDataLst>
          </p:nvPr>
        </p:nvSpPr>
        <p:spPr>
          <a:xfrm>
            <a:off x="6283325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矩形: 圆角 8"/>
          <p:cNvSpPr/>
          <p:nvPr>
            <p:custDataLst>
              <p:tags r:id="rId33"/>
            </p:custDataLst>
          </p:nvPr>
        </p:nvSpPr>
        <p:spPr>
          <a:xfrm>
            <a:off x="6581775" y="2513330"/>
            <a:ext cx="269875" cy="17145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2" name="Freeform 1493"/>
          <p:cNvSpPr/>
          <p:nvPr>
            <p:custDataLst>
              <p:tags r:id="rId34"/>
            </p:custDataLst>
          </p:nvPr>
        </p:nvSpPr>
        <p:spPr>
          <a:xfrm>
            <a:off x="6602730" y="2524125"/>
            <a:ext cx="226695" cy="48895"/>
          </a:xfrm>
          <a:custGeom>
            <a:avLst/>
            <a:gdLst/>
            <a:ahLst/>
            <a:cxnLst/>
            <a:rect l="0" t="0" r="0" b="0"/>
            <a:pathLst>
              <a:path w="1997963" h="248412">
                <a:moveTo>
                  <a:pt x="0" y="24130"/>
                </a:moveTo>
                <a:cubicBezTo>
                  <a:pt x="0" y="10796"/>
                  <a:pt x="10795" y="0"/>
                  <a:pt x="24130" y="0"/>
                </a:cubicBezTo>
                <a:lnTo>
                  <a:pt x="1973834" y="0"/>
                </a:lnTo>
                <a:cubicBezTo>
                  <a:pt x="1987168" y="0"/>
                  <a:pt x="1997963" y="10796"/>
                  <a:pt x="1997963" y="24130"/>
                </a:cubicBezTo>
                <a:lnTo>
                  <a:pt x="1997963" y="224282"/>
                </a:lnTo>
                <a:cubicBezTo>
                  <a:pt x="1997963" y="237617"/>
                  <a:pt x="1987168" y="248412"/>
                  <a:pt x="1973834" y="248412"/>
                </a:cubicBezTo>
                <a:lnTo>
                  <a:pt x="24130" y="248412"/>
                </a:lnTo>
                <a:cubicBezTo>
                  <a:pt x="10795" y="248412"/>
                  <a:pt x="0" y="237617"/>
                  <a:pt x="0" y="224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矩形: 圆角 43"/>
          <p:cNvSpPr/>
          <p:nvPr>
            <p:custDataLst>
              <p:tags r:id="rId35"/>
            </p:custDataLst>
          </p:nvPr>
        </p:nvSpPr>
        <p:spPr>
          <a:xfrm>
            <a:off x="6023610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Freeform 1529"/>
          <p:cNvSpPr/>
          <p:nvPr>
            <p:custDataLst>
              <p:tags r:id="rId36"/>
            </p:custDataLst>
          </p:nvPr>
        </p:nvSpPr>
        <p:spPr>
          <a:xfrm>
            <a:off x="6044565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rgbClr val="58729A">
              <a:lumMod val="20000"/>
              <a:lumOff val="80000"/>
              <a:alpha val="50195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矩形: 圆角 43"/>
          <p:cNvSpPr/>
          <p:nvPr>
            <p:custDataLst>
              <p:tags r:id="rId37"/>
            </p:custDataLst>
          </p:nvPr>
        </p:nvSpPr>
        <p:spPr>
          <a:xfrm>
            <a:off x="6466205" y="2873375"/>
            <a:ext cx="370205" cy="175260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6" name="Freeform 1529"/>
          <p:cNvSpPr/>
          <p:nvPr>
            <p:custDataLst>
              <p:tags r:id="rId38"/>
            </p:custDataLst>
          </p:nvPr>
        </p:nvSpPr>
        <p:spPr>
          <a:xfrm>
            <a:off x="6486525" y="2893695"/>
            <a:ext cx="323215" cy="47625"/>
          </a:xfrm>
          <a:custGeom>
            <a:avLst/>
            <a:gdLst/>
            <a:ahLst/>
            <a:cxnLst/>
            <a:rect l="0" t="0" r="0" b="0"/>
            <a:pathLst>
              <a:path w="2674620" h="242317">
                <a:moveTo>
                  <a:pt x="0" y="23623"/>
                </a:moveTo>
                <a:cubicBezTo>
                  <a:pt x="0" y="10542"/>
                  <a:pt x="10541" y="0"/>
                  <a:pt x="23622" y="0"/>
                </a:cubicBezTo>
                <a:lnTo>
                  <a:pt x="2650999" y="0"/>
                </a:lnTo>
                <a:cubicBezTo>
                  <a:pt x="2664080" y="0"/>
                  <a:pt x="2674620" y="10542"/>
                  <a:pt x="2674620" y="23623"/>
                </a:cubicBezTo>
                <a:lnTo>
                  <a:pt x="2674620" y="218694"/>
                </a:lnTo>
                <a:cubicBezTo>
                  <a:pt x="2674620" y="231775"/>
                  <a:pt x="2664080" y="242317"/>
                  <a:pt x="2650999" y="242317"/>
                </a:cubicBezTo>
                <a:lnTo>
                  <a:pt x="23622" y="242317"/>
                </a:lnTo>
                <a:cubicBezTo>
                  <a:pt x="10541" y="242317"/>
                  <a:pt x="0" y="231775"/>
                  <a:pt x="0" y="21869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7" name="Rectangle 1555"/>
          <p:cNvSpPr/>
          <p:nvPr>
            <p:custDataLst>
              <p:tags r:id="rId39"/>
            </p:custDataLst>
          </p:nvPr>
        </p:nvSpPr>
        <p:spPr>
          <a:xfrm>
            <a:off x="6044565" y="2891790"/>
            <a:ext cx="323215" cy="51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8" name="矩形: 圆角 48"/>
          <p:cNvSpPr/>
          <p:nvPr>
            <p:custDataLst>
              <p:tags r:id="rId40"/>
            </p:custDataLst>
          </p:nvPr>
        </p:nvSpPr>
        <p:spPr>
          <a:xfrm>
            <a:off x="5599430" y="3232785"/>
            <a:ext cx="586105" cy="163195"/>
          </a:xfrm>
          <a:prstGeom prst="roundRect">
            <a:avLst>
              <a:gd name="adj" fmla="val 1871"/>
            </a:avLst>
          </a:prstGeom>
          <a:solidFill>
            <a:srgbClr val="000000">
              <a:alpha val="0"/>
            </a:srgbClr>
          </a:solidFill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Freeform 1536"/>
          <p:cNvSpPr/>
          <p:nvPr>
            <p:custDataLst>
              <p:tags r:id="rId41"/>
            </p:custDataLst>
          </p:nvPr>
        </p:nvSpPr>
        <p:spPr>
          <a:xfrm>
            <a:off x="5619115" y="3313430"/>
            <a:ext cx="274320" cy="66675"/>
          </a:xfrm>
          <a:custGeom>
            <a:avLst/>
            <a:gdLst/>
            <a:ahLst/>
            <a:cxnLst/>
            <a:rect l="0" t="0" r="0" b="0"/>
            <a:pathLst>
              <a:path w="1716024" h="338328">
                <a:moveTo>
                  <a:pt x="0" y="338328"/>
                </a:moveTo>
                <a:lnTo>
                  <a:pt x="1716024" y="338328"/>
                </a:lnTo>
                <a:lnTo>
                  <a:pt x="171602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Freeform 1537"/>
          <p:cNvSpPr/>
          <p:nvPr>
            <p:custDataLst>
              <p:tags r:id="rId42"/>
            </p:custDataLst>
          </p:nvPr>
        </p:nvSpPr>
        <p:spPr>
          <a:xfrm>
            <a:off x="5906770" y="3313430"/>
            <a:ext cx="262255" cy="66675"/>
          </a:xfrm>
          <a:custGeom>
            <a:avLst/>
            <a:gdLst/>
            <a:ahLst/>
            <a:cxnLst/>
            <a:rect l="0" t="0" r="0" b="0"/>
            <a:pathLst>
              <a:path w="2241804" h="338328">
                <a:moveTo>
                  <a:pt x="0" y="338328"/>
                </a:moveTo>
                <a:lnTo>
                  <a:pt x="2241804" y="338328"/>
                </a:lnTo>
                <a:lnTo>
                  <a:pt x="224180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2" name="Rectangle 1570"/>
          <p:cNvSpPr/>
          <p:nvPr>
            <p:custDataLst>
              <p:tags r:id="rId43"/>
            </p:custDataLst>
          </p:nvPr>
        </p:nvSpPr>
        <p:spPr>
          <a:xfrm>
            <a:off x="5617210" y="3251200"/>
            <a:ext cx="551815" cy="44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Freeform 1536"/>
          <p:cNvSpPr/>
          <p:nvPr>
            <p:custDataLst>
              <p:tags r:id="rId44"/>
            </p:custDataLst>
          </p:nvPr>
        </p:nvSpPr>
        <p:spPr>
          <a:xfrm>
            <a:off x="6257925" y="3313430"/>
            <a:ext cx="274320" cy="66675"/>
          </a:xfrm>
          <a:custGeom>
            <a:avLst/>
            <a:gdLst/>
            <a:ahLst/>
            <a:cxnLst/>
            <a:rect l="0" t="0" r="0" b="0"/>
            <a:pathLst>
              <a:path w="1716024" h="338328">
                <a:moveTo>
                  <a:pt x="0" y="338328"/>
                </a:moveTo>
                <a:lnTo>
                  <a:pt x="1716024" y="338328"/>
                </a:lnTo>
                <a:lnTo>
                  <a:pt x="171602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Freeform 1537"/>
          <p:cNvSpPr/>
          <p:nvPr>
            <p:custDataLst>
              <p:tags r:id="rId45"/>
            </p:custDataLst>
          </p:nvPr>
        </p:nvSpPr>
        <p:spPr>
          <a:xfrm>
            <a:off x="6546215" y="3313430"/>
            <a:ext cx="262255" cy="66675"/>
          </a:xfrm>
          <a:custGeom>
            <a:avLst/>
            <a:gdLst/>
            <a:ahLst/>
            <a:cxnLst/>
            <a:rect l="0" t="0" r="0" b="0"/>
            <a:pathLst>
              <a:path w="2241804" h="338328">
                <a:moveTo>
                  <a:pt x="0" y="338328"/>
                </a:moveTo>
                <a:lnTo>
                  <a:pt x="2241804" y="338328"/>
                </a:lnTo>
                <a:lnTo>
                  <a:pt x="224180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noFill/>
          <a:ln w="12191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127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Rectangle 1570"/>
          <p:cNvSpPr/>
          <p:nvPr>
            <p:custDataLst>
              <p:tags r:id="rId46"/>
            </p:custDataLst>
          </p:nvPr>
        </p:nvSpPr>
        <p:spPr>
          <a:xfrm>
            <a:off x="6256020" y="3248660"/>
            <a:ext cx="551815" cy="444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7" name="矩形: 圆角 48"/>
          <p:cNvSpPr/>
          <p:nvPr>
            <p:custDataLst>
              <p:tags r:id="rId47"/>
            </p:custDataLst>
          </p:nvPr>
        </p:nvSpPr>
        <p:spPr>
          <a:xfrm>
            <a:off x="6238875" y="3232785"/>
            <a:ext cx="586105" cy="163195"/>
          </a:xfrm>
          <a:prstGeom prst="roundRect">
            <a:avLst>
              <a:gd name="adj" fmla="val 1871"/>
            </a:avLst>
          </a:prstGeom>
          <a:noFill/>
          <a:ln w="11430" cap="flat" cmpd="sng" algn="ctr">
            <a:solidFill>
              <a:schemeClr val="accent1">
                <a:lumMod val="40000"/>
                <a:lumOff val="60000"/>
              </a:schemeClr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  <a:gs pos="46000">
                      <a:srgbClr val="24396B">
                        <a:lumMod val="5000"/>
                        <a:lumOff val="95000"/>
                      </a:srgbClr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2439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8" name="组合 157"/>
          <p:cNvGrpSpPr/>
          <p:nvPr>
            <p:custDataLst>
              <p:tags r:id="rId48"/>
            </p:custDataLst>
          </p:nvPr>
        </p:nvGrpSpPr>
        <p:grpSpPr>
          <a:xfrm>
            <a:off x="8874760" y="2491740"/>
            <a:ext cx="2159000" cy="965200"/>
            <a:chOff x="1978" y="9485"/>
            <a:chExt cx="4539" cy="2029"/>
          </a:xfrm>
        </p:grpSpPr>
        <p:sp>
          <p:nvSpPr>
            <p:cNvPr id="216" name="Shape"/>
            <p:cNvSpPr/>
            <p:nvPr>
              <p:custDataLst>
                <p:tags r:id="rId49"/>
              </p:custDataLst>
            </p:nvPr>
          </p:nvSpPr>
          <p:spPr>
            <a:xfrm>
              <a:off x="3454" y="10131"/>
              <a:ext cx="699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75" y="0"/>
                  </a:moveTo>
                  <a:cubicBezTo>
                    <a:pt x="8463" y="0"/>
                    <a:pt x="5552" y="1056"/>
                    <a:pt x="3331" y="3165"/>
                  </a:cubicBezTo>
                  <a:cubicBezTo>
                    <a:pt x="1110" y="5274"/>
                    <a:pt x="0" y="8038"/>
                    <a:pt x="0" y="10801"/>
                  </a:cubicBezTo>
                  <a:cubicBezTo>
                    <a:pt x="0" y="13565"/>
                    <a:pt x="1110" y="16329"/>
                    <a:pt x="3331" y="18438"/>
                  </a:cubicBezTo>
                  <a:cubicBezTo>
                    <a:pt x="5552" y="20546"/>
                    <a:pt x="8463" y="21600"/>
                    <a:pt x="11375" y="21600"/>
                  </a:cubicBezTo>
                  <a:cubicBezTo>
                    <a:pt x="14286" y="21600"/>
                    <a:pt x="17197" y="20546"/>
                    <a:pt x="19418" y="18438"/>
                  </a:cubicBezTo>
                  <a:cubicBezTo>
                    <a:pt x="20341" y="17562"/>
                    <a:pt x="21061" y="16569"/>
                    <a:pt x="21600" y="15513"/>
                  </a:cubicBezTo>
                  <a:cubicBezTo>
                    <a:pt x="21198" y="15286"/>
                    <a:pt x="20815" y="15014"/>
                    <a:pt x="20469" y="14686"/>
                  </a:cubicBezTo>
                  <a:cubicBezTo>
                    <a:pt x="18210" y="12541"/>
                    <a:pt x="18210" y="9061"/>
                    <a:pt x="20469" y="6917"/>
                  </a:cubicBezTo>
                  <a:cubicBezTo>
                    <a:pt x="20815" y="6588"/>
                    <a:pt x="21198" y="6317"/>
                    <a:pt x="21600" y="6089"/>
                  </a:cubicBezTo>
                  <a:cubicBezTo>
                    <a:pt x="21061" y="5034"/>
                    <a:pt x="20341" y="4041"/>
                    <a:pt x="19418" y="3165"/>
                  </a:cubicBezTo>
                  <a:cubicBezTo>
                    <a:pt x="17197" y="1056"/>
                    <a:pt x="14286" y="0"/>
                    <a:pt x="11375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7" name="Shape"/>
            <p:cNvSpPr/>
            <p:nvPr>
              <p:custDataLst>
                <p:tags r:id="rId50"/>
              </p:custDataLst>
            </p:nvPr>
          </p:nvSpPr>
          <p:spPr>
            <a:xfrm>
              <a:off x="4345" y="10131"/>
              <a:ext cx="700" cy="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224" y="0"/>
                  </a:moveTo>
                  <a:cubicBezTo>
                    <a:pt x="7313" y="0"/>
                    <a:pt x="4403" y="1056"/>
                    <a:pt x="2182" y="3165"/>
                  </a:cubicBezTo>
                  <a:cubicBezTo>
                    <a:pt x="1259" y="4041"/>
                    <a:pt x="539" y="5034"/>
                    <a:pt x="0" y="6089"/>
                  </a:cubicBezTo>
                  <a:cubicBezTo>
                    <a:pt x="402" y="6317"/>
                    <a:pt x="784" y="6588"/>
                    <a:pt x="1130" y="6917"/>
                  </a:cubicBezTo>
                  <a:cubicBezTo>
                    <a:pt x="3389" y="9061"/>
                    <a:pt x="3389" y="12541"/>
                    <a:pt x="1130" y="14686"/>
                  </a:cubicBezTo>
                  <a:cubicBezTo>
                    <a:pt x="784" y="15014"/>
                    <a:pt x="402" y="15286"/>
                    <a:pt x="0" y="15513"/>
                  </a:cubicBezTo>
                  <a:cubicBezTo>
                    <a:pt x="539" y="16569"/>
                    <a:pt x="1259" y="17562"/>
                    <a:pt x="2182" y="18438"/>
                  </a:cubicBezTo>
                  <a:cubicBezTo>
                    <a:pt x="4403" y="20546"/>
                    <a:pt x="7313" y="21600"/>
                    <a:pt x="10224" y="21600"/>
                  </a:cubicBezTo>
                  <a:cubicBezTo>
                    <a:pt x="13135" y="21600"/>
                    <a:pt x="16046" y="20546"/>
                    <a:pt x="18267" y="18438"/>
                  </a:cubicBezTo>
                  <a:cubicBezTo>
                    <a:pt x="20488" y="16329"/>
                    <a:pt x="21600" y="13565"/>
                    <a:pt x="21600" y="10801"/>
                  </a:cubicBezTo>
                  <a:cubicBezTo>
                    <a:pt x="21600" y="8038"/>
                    <a:pt x="20488" y="5274"/>
                    <a:pt x="18267" y="3165"/>
                  </a:cubicBezTo>
                  <a:cubicBezTo>
                    <a:pt x="16046" y="1056"/>
                    <a:pt x="13135" y="0"/>
                    <a:pt x="1022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8" name="Circle"/>
            <p:cNvSpPr/>
            <p:nvPr>
              <p:custDataLst>
                <p:tags r:id="rId51"/>
              </p:custDataLst>
            </p:nvPr>
          </p:nvSpPr>
          <p:spPr>
            <a:xfrm>
              <a:off x="4093" y="10343"/>
              <a:ext cx="312" cy="3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3" name="Circle"/>
            <p:cNvSpPr/>
            <p:nvPr>
              <p:custDataLst>
                <p:tags r:id="rId52"/>
              </p:custDataLst>
            </p:nvPr>
          </p:nvSpPr>
          <p:spPr>
            <a:xfrm>
              <a:off x="6037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9" name="Circle"/>
            <p:cNvSpPr/>
            <p:nvPr>
              <p:custDataLst>
                <p:tags r:id="rId53"/>
              </p:custDataLst>
            </p:nvPr>
          </p:nvSpPr>
          <p:spPr>
            <a:xfrm>
              <a:off x="6037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0" name="Circle"/>
            <p:cNvSpPr/>
            <p:nvPr>
              <p:custDataLst>
                <p:tags r:id="rId54"/>
              </p:custDataLst>
            </p:nvPr>
          </p:nvSpPr>
          <p:spPr>
            <a:xfrm>
              <a:off x="6037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1" name="Circle"/>
            <p:cNvSpPr/>
            <p:nvPr>
              <p:custDataLst>
                <p:tags r:id="rId55"/>
              </p:custDataLst>
            </p:nvPr>
          </p:nvSpPr>
          <p:spPr>
            <a:xfrm>
              <a:off x="6037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Circle"/>
            <p:cNvSpPr/>
            <p:nvPr>
              <p:custDataLst>
                <p:tags r:id="rId56"/>
              </p:custDataLst>
            </p:nvPr>
          </p:nvSpPr>
          <p:spPr>
            <a:xfrm>
              <a:off x="1978" y="9485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Circle"/>
            <p:cNvSpPr/>
            <p:nvPr>
              <p:custDataLst>
                <p:tags r:id="rId57"/>
              </p:custDataLst>
            </p:nvPr>
          </p:nvSpPr>
          <p:spPr>
            <a:xfrm>
              <a:off x="1978" y="10002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4" name="Circle"/>
            <p:cNvSpPr/>
            <p:nvPr>
              <p:custDataLst>
                <p:tags r:id="rId58"/>
              </p:custDataLst>
            </p:nvPr>
          </p:nvSpPr>
          <p:spPr>
            <a:xfrm>
              <a:off x="1978" y="10518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5" name="Circle"/>
            <p:cNvSpPr/>
            <p:nvPr>
              <p:custDataLst>
                <p:tags r:id="rId59"/>
              </p:custDataLst>
            </p:nvPr>
          </p:nvSpPr>
          <p:spPr>
            <a:xfrm>
              <a:off x="1978" y="11034"/>
              <a:ext cx="480" cy="4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6" name="Line"/>
            <p:cNvSpPr/>
            <p:nvPr>
              <p:custDataLst>
                <p:tags r:id="rId60"/>
              </p:custDataLst>
            </p:nvPr>
          </p:nvSpPr>
          <p:spPr>
            <a:xfrm flipH="1" flipV="1">
              <a:off x="2479" y="9810"/>
              <a:ext cx="971" cy="38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7" name="Line"/>
            <p:cNvSpPr/>
            <p:nvPr>
              <p:custDataLst>
                <p:tags r:id="rId61"/>
              </p:custDataLst>
            </p:nvPr>
          </p:nvSpPr>
          <p:spPr>
            <a:xfrm flipH="1" flipV="1">
              <a:off x="2491" y="10286"/>
              <a:ext cx="858" cy="10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8" name="Line"/>
            <p:cNvSpPr/>
            <p:nvPr>
              <p:custDataLst>
                <p:tags r:id="rId62"/>
              </p:custDataLst>
            </p:nvPr>
          </p:nvSpPr>
          <p:spPr>
            <a:xfrm flipH="1">
              <a:off x="2488" y="10621"/>
              <a:ext cx="865" cy="10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39" name="Line"/>
            <p:cNvSpPr/>
            <p:nvPr>
              <p:custDataLst>
                <p:tags r:id="rId63"/>
              </p:custDataLst>
            </p:nvPr>
          </p:nvSpPr>
          <p:spPr>
            <a:xfrm flipH="1">
              <a:off x="2478" y="10805"/>
              <a:ext cx="977" cy="37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0" name="Line"/>
            <p:cNvSpPr/>
            <p:nvPr>
              <p:custDataLst>
                <p:tags r:id="rId64"/>
              </p:custDataLst>
            </p:nvPr>
          </p:nvSpPr>
          <p:spPr>
            <a:xfrm>
              <a:off x="5029" y="10802"/>
              <a:ext cx="986" cy="37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41" name="Line"/>
            <p:cNvSpPr/>
            <p:nvPr>
              <p:custDataLst>
                <p:tags r:id="rId65"/>
              </p:custDataLst>
            </p:nvPr>
          </p:nvSpPr>
          <p:spPr>
            <a:xfrm>
              <a:off x="5127" y="10611"/>
              <a:ext cx="875" cy="11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2" name="Line"/>
            <p:cNvSpPr/>
            <p:nvPr>
              <p:custDataLst>
                <p:tags r:id="rId66"/>
              </p:custDataLst>
            </p:nvPr>
          </p:nvSpPr>
          <p:spPr>
            <a:xfrm flipV="1">
              <a:off x="5128" y="10281"/>
              <a:ext cx="877" cy="11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5" name="Line"/>
            <p:cNvSpPr/>
            <p:nvPr>
              <p:custDataLst>
                <p:tags r:id="rId67"/>
              </p:custDataLst>
            </p:nvPr>
          </p:nvSpPr>
          <p:spPr>
            <a:xfrm flipV="1">
              <a:off x="5030" y="9821"/>
              <a:ext cx="984" cy="37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custDash>
                <a:ds d="200000" sp="200000"/>
              </a:custDash>
              <a:miter lim="400000"/>
              <a:tailEnd type="triangle"/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+mn-ea"/>
                <a:cs typeface="微软雅黑" panose="020B0503020204020204" charset="-122"/>
              </a:endParaRPr>
            </a:p>
          </p:txBody>
        </p:sp>
        <p:sp>
          <p:nvSpPr>
            <p:cNvPr id="246" name="Line"/>
            <p:cNvSpPr/>
            <p:nvPr>
              <p:custDataLst>
                <p:tags r:id="rId68"/>
              </p:custDataLst>
            </p:nvPr>
          </p:nvSpPr>
          <p:spPr>
            <a:xfrm>
              <a:off x="3337" y="10034"/>
              <a:ext cx="467" cy="9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592" extrusionOk="0">
                  <a:moveTo>
                    <a:pt x="21483" y="0"/>
                  </a:moveTo>
                  <a:cubicBezTo>
                    <a:pt x="9601" y="20"/>
                    <a:pt x="-8" y="4851"/>
                    <a:pt x="0" y="10801"/>
                  </a:cubicBezTo>
                  <a:cubicBezTo>
                    <a:pt x="9" y="16768"/>
                    <a:pt x="9678" y="21600"/>
                    <a:pt x="21592" y="21592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7" name="Line"/>
            <p:cNvSpPr/>
            <p:nvPr>
              <p:custDataLst>
                <p:tags r:id="rId69"/>
              </p:custDataLst>
            </p:nvPr>
          </p:nvSpPr>
          <p:spPr>
            <a:xfrm>
              <a:off x="4694" y="10033"/>
              <a:ext cx="448" cy="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3" h="21600" extrusionOk="0">
                  <a:moveTo>
                    <a:pt x="0" y="0"/>
                  </a:moveTo>
                  <a:cubicBezTo>
                    <a:pt x="12246" y="292"/>
                    <a:pt x="21600" y="5577"/>
                    <a:pt x="20692" y="11690"/>
                  </a:cubicBezTo>
                  <a:cubicBezTo>
                    <a:pt x="19881" y="17155"/>
                    <a:pt x="10952" y="21431"/>
                    <a:pt x="0" y="21600"/>
                  </a:cubicBezTo>
                </a:path>
              </a:pathLst>
            </a:cu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lIns="22859" tIns="22859" rIns="22859" bIns="22859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sz="9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59" name="组合 158"/>
          <p:cNvGrpSpPr/>
          <p:nvPr>
            <p:custDataLst>
              <p:tags r:id="rId70"/>
            </p:custDataLst>
          </p:nvPr>
        </p:nvGrpSpPr>
        <p:grpSpPr>
          <a:xfrm>
            <a:off x="1816100" y="5186680"/>
            <a:ext cx="1156335" cy="1155401"/>
            <a:chOff x="2917" y="9383"/>
            <a:chExt cx="2530" cy="2529"/>
          </a:xfrm>
        </p:grpSpPr>
        <p:pic>
          <p:nvPicPr>
            <p:cNvPr id="249" name="图片 248" descr="左右箭头-2"/>
            <p:cNvPicPr>
              <a:picLocks noChangeAspect="1"/>
            </p:cNvPicPr>
            <p:nvPr>
              <p:custDataLst>
                <p:tags r:id="rId71"/>
              </p:custDataLst>
            </p:nvPr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4171" y="10609"/>
              <a:ext cx="79" cy="79"/>
            </a:xfrm>
            <a:prstGeom prst="rect">
              <a:avLst/>
            </a:prstGeom>
          </p:spPr>
        </p:pic>
        <p:sp>
          <p:nvSpPr>
            <p:cNvPr id="250" name="紫荆的职场Point8"/>
            <p:cNvSpPr/>
            <p:nvPr>
              <p:custDataLst>
                <p:tags r:id="rId74"/>
              </p:custDataLst>
            </p:nvPr>
          </p:nvSpPr>
          <p:spPr bwMode="auto">
            <a:xfrm>
              <a:off x="4470" y="10061"/>
              <a:ext cx="479" cy="498"/>
            </a:xfrm>
            <a:custGeom>
              <a:avLst/>
              <a:gdLst>
                <a:gd name="connsiteX0" fmla="*/ 619628 w 1306515"/>
                <a:gd name="connsiteY0" fmla="*/ 0 h 1357311"/>
                <a:gd name="connsiteX1" fmla="*/ 1306515 w 1306515"/>
                <a:gd name="connsiteY1" fmla="*/ 1189815 h 1357311"/>
                <a:gd name="connsiteX2" fmla="*/ 357258 w 1306515"/>
                <a:gd name="connsiteY2" fmla="*/ 1357311 h 1357311"/>
                <a:gd name="connsiteX3" fmla="*/ 0 w 1306515"/>
                <a:gd name="connsiteY3" fmla="*/ 738585 h 13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6515" h="1357311">
                  <a:moveTo>
                    <a:pt x="619628" y="0"/>
                  </a:moveTo>
                  <a:cubicBezTo>
                    <a:pt x="981268" y="303552"/>
                    <a:pt x="1224584" y="724865"/>
                    <a:pt x="1306515" y="1189815"/>
                  </a:cubicBezTo>
                  <a:lnTo>
                    <a:pt x="357258" y="1357311"/>
                  </a:lnTo>
                  <a:cubicBezTo>
                    <a:pt x="314577" y="1115499"/>
                    <a:pt x="188060" y="896363"/>
                    <a:pt x="0" y="73858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1" name="紫荆的职场Point9"/>
            <p:cNvSpPr/>
            <p:nvPr>
              <p:custDataLst>
                <p:tags r:id="rId75"/>
              </p:custDataLst>
            </p:nvPr>
          </p:nvSpPr>
          <p:spPr bwMode="auto">
            <a:xfrm>
              <a:off x="4560" y="10531"/>
              <a:ext cx="405" cy="497"/>
            </a:xfrm>
            <a:custGeom>
              <a:avLst/>
              <a:gdLst>
                <a:gd name="connsiteX0" fmla="*/ 1072263 w 1102722"/>
                <a:gd name="connsiteY0" fmla="*/ 0 h 1352548"/>
                <a:gd name="connsiteX1" fmla="*/ 833940 w 1102722"/>
                <a:gd name="connsiteY1" fmla="*/ 1352548 h 1352548"/>
                <a:gd name="connsiteX2" fmla="*/ 0 w 1102722"/>
                <a:gd name="connsiteY2" fmla="*/ 870774 h 1352548"/>
                <a:gd name="connsiteX3" fmla="*/ 123920 w 1102722"/>
                <a:gd name="connsiteY3" fmla="*/ 167449 h 135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722" h="1352548">
                  <a:moveTo>
                    <a:pt x="1072263" y="0"/>
                  </a:moveTo>
                  <a:cubicBezTo>
                    <a:pt x="1154115" y="465010"/>
                    <a:pt x="1069788" y="943736"/>
                    <a:pt x="833940" y="1352548"/>
                  </a:cubicBezTo>
                  <a:lnTo>
                    <a:pt x="0" y="870774"/>
                  </a:lnTo>
                  <a:cubicBezTo>
                    <a:pt x="122588" y="658177"/>
                    <a:pt x="166560" y="409194"/>
                    <a:pt x="123920" y="16744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2" name="紫荆的职场Point10"/>
            <p:cNvSpPr/>
            <p:nvPr>
              <p:custDataLst>
                <p:tags r:id="rId76"/>
              </p:custDataLst>
            </p:nvPr>
          </p:nvSpPr>
          <p:spPr bwMode="auto">
            <a:xfrm>
              <a:off x="4344" y="10874"/>
              <a:ext cx="507" cy="502"/>
            </a:xfrm>
            <a:custGeom>
              <a:avLst/>
              <a:gdLst>
                <a:gd name="connsiteX0" fmla="*/ 547519 w 1382715"/>
                <a:gd name="connsiteY0" fmla="*/ 0 h 1365248"/>
                <a:gd name="connsiteX1" fmla="*/ 1382715 w 1382715"/>
                <a:gd name="connsiteY1" fmla="*/ 482144 h 1365248"/>
                <a:gd name="connsiteX2" fmla="*/ 329808 w 1382715"/>
                <a:gd name="connsiteY2" fmla="*/ 1365248 h 1365248"/>
                <a:gd name="connsiteX3" fmla="*/ 0 w 1382715"/>
                <a:gd name="connsiteY3" fmla="*/ 459275 h 1365248"/>
                <a:gd name="connsiteX4" fmla="*/ 547519 w 1382715"/>
                <a:gd name="connsiteY4" fmla="*/ 0 h 13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2715" h="1365248">
                  <a:moveTo>
                    <a:pt x="547519" y="0"/>
                  </a:moveTo>
                  <a:lnTo>
                    <a:pt x="1382715" y="482144"/>
                  </a:lnTo>
                  <a:cubicBezTo>
                    <a:pt x="1146512" y="891108"/>
                    <a:pt x="773810" y="1203835"/>
                    <a:pt x="329808" y="1365248"/>
                  </a:cubicBezTo>
                  <a:lnTo>
                    <a:pt x="0" y="459275"/>
                  </a:lnTo>
                  <a:cubicBezTo>
                    <a:pt x="230866" y="375424"/>
                    <a:pt x="424556" y="212677"/>
                    <a:pt x="547519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3" name="紫荆的职场Point11"/>
            <p:cNvSpPr/>
            <p:nvPr>
              <p:custDataLst>
                <p:tags r:id="rId77"/>
              </p:custDataLst>
            </p:nvPr>
          </p:nvSpPr>
          <p:spPr bwMode="auto">
            <a:xfrm>
              <a:off x="3932" y="11053"/>
              <a:ext cx="504" cy="377"/>
            </a:xfrm>
            <a:custGeom>
              <a:avLst/>
              <a:gdLst>
                <a:gd name="connsiteX0" fmla="*/ 329870 w 1374777"/>
                <a:gd name="connsiteY0" fmla="*/ 0 h 1026426"/>
                <a:gd name="connsiteX1" fmla="*/ 1044716 w 1374777"/>
                <a:gd name="connsiteY1" fmla="*/ 0 h 1026426"/>
                <a:gd name="connsiteX2" fmla="*/ 1374777 w 1374777"/>
                <a:gd name="connsiteY2" fmla="*/ 905312 h 1026426"/>
                <a:gd name="connsiteX3" fmla="*/ 0 w 1374777"/>
                <a:gd name="connsiteY3" fmla="*/ 905312 h 1026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4777" h="1026426">
                  <a:moveTo>
                    <a:pt x="329870" y="0"/>
                  </a:moveTo>
                  <a:cubicBezTo>
                    <a:pt x="560779" y="83981"/>
                    <a:pt x="813807" y="83981"/>
                    <a:pt x="1044716" y="0"/>
                  </a:cubicBezTo>
                  <a:lnTo>
                    <a:pt x="1374777" y="905312"/>
                  </a:lnTo>
                  <a:cubicBezTo>
                    <a:pt x="930692" y="1066798"/>
                    <a:pt x="443895" y="1066798"/>
                    <a:pt x="0" y="90531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4" name="紫荆的职场Point12"/>
            <p:cNvSpPr/>
            <p:nvPr>
              <p:custDataLst>
                <p:tags r:id="rId78"/>
              </p:custDataLst>
            </p:nvPr>
          </p:nvSpPr>
          <p:spPr bwMode="auto">
            <a:xfrm>
              <a:off x="3518" y="10874"/>
              <a:ext cx="507" cy="502"/>
            </a:xfrm>
            <a:custGeom>
              <a:avLst/>
              <a:gdLst>
                <a:gd name="connsiteX0" fmla="*/ 834237 w 1381127"/>
                <a:gd name="connsiteY0" fmla="*/ 0 h 1365248"/>
                <a:gd name="connsiteX1" fmla="*/ 1381127 w 1381127"/>
                <a:gd name="connsiteY1" fmla="*/ 459275 h 1365248"/>
                <a:gd name="connsiteX2" fmla="*/ 1051508 w 1381127"/>
                <a:gd name="connsiteY2" fmla="*/ 1365248 h 1365248"/>
                <a:gd name="connsiteX3" fmla="*/ 0 w 1381127"/>
                <a:gd name="connsiteY3" fmla="*/ 482144 h 136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1127" h="1365248">
                  <a:moveTo>
                    <a:pt x="834237" y="0"/>
                  </a:moveTo>
                  <a:cubicBezTo>
                    <a:pt x="956868" y="212677"/>
                    <a:pt x="1150527" y="375424"/>
                    <a:pt x="1381127" y="459275"/>
                  </a:cubicBezTo>
                  <a:lnTo>
                    <a:pt x="1051508" y="1365248"/>
                  </a:lnTo>
                  <a:cubicBezTo>
                    <a:pt x="608206" y="1203835"/>
                    <a:pt x="235742" y="891108"/>
                    <a:pt x="0" y="48214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5" name="紫荆的职场Point13"/>
            <p:cNvSpPr/>
            <p:nvPr>
              <p:custDataLst>
                <p:tags r:id="rId79"/>
              </p:custDataLst>
            </p:nvPr>
          </p:nvSpPr>
          <p:spPr bwMode="auto">
            <a:xfrm>
              <a:off x="3404" y="10527"/>
              <a:ext cx="405" cy="497"/>
            </a:xfrm>
            <a:custGeom>
              <a:avLst/>
              <a:gdLst>
                <a:gd name="connsiteX0" fmla="*/ 30497 w 1104248"/>
                <a:gd name="connsiteY0" fmla="*/ 0 h 1352548"/>
                <a:gd name="connsiteX1" fmla="*/ 980178 w 1104248"/>
                <a:gd name="connsiteY1" fmla="*/ 167449 h 1352548"/>
                <a:gd name="connsiteX2" fmla="*/ 1104248 w 1104248"/>
                <a:gd name="connsiteY2" fmla="*/ 870774 h 1352548"/>
                <a:gd name="connsiteX3" fmla="*/ 269109 w 1104248"/>
                <a:gd name="connsiteY3" fmla="*/ 1352548 h 1352548"/>
                <a:gd name="connsiteX4" fmla="*/ 30497 w 1104248"/>
                <a:gd name="connsiteY4" fmla="*/ 0 h 135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4248" h="1352548">
                  <a:moveTo>
                    <a:pt x="30497" y="0"/>
                  </a:moveTo>
                  <a:lnTo>
                    <a:pt x="980178" y="167449"/>
                  </a:lnTo>
                  <a:cubicBezTo>
                    <a:pt x="937487" y="409194"/>
                    <a:pt x="981321" y="658177"/>
                    <a:pt x="1104248" y="870774"/>
                  </a:cubicBezTo>
                  <a:lnTo>
                    <a:pt x="269109" y="1352548"/>
                  </a:lnTo>
                  <a:cubicBezTo>
                    <a:pt x="32975" y="943736"/>
                    <a:pt x="-51454" y="465010"/>
                    <a:pt x="30497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6" name="紫荆的职场Point14"/>
            <p:cNvSpPr/>
            <p:nvPr>
              <p:custDataLst>
                <p:tags r:id="rId80"/>
              </p:custDataLst>
            </p:nvPr>
          </p:nvSpPr>
          <p:spPr bwMode="auto">
            <a:xfrm>
              <a:off x="3421" y="10061"/>
              <a:ext cx="479" cy="498"/>
            </a:xfrm>
            <a:custGeom>
              <a:avLst/>
              <a:gdLst>
                <a:gd name="connsiteX0" fmla="*/ 686888 w 1306515"/>
                <a:gd name="connsiteY0" fmla="*/ 0 h 1357311"/>
                <a:gd name="connsiteX1" fmla="*/ 1306515 w 1306515"/>
                <a:gd name="connsiteY1" fmla="*/ 738593 h 1357311"/>
                <a:gd name="connsiteX2" fmla="*/ 949353 w 1306515"/>
                <a:gd name="connsiteY2" fmla="*/ 1357311 h 1357311"/>
                <a:gd name="connsiteX3" fmla="*/ 0 w 1306515"/>
                <a:gd name="connsiteY3" fmla="*/ 1189887 h 1357311"/>
                <a:gd name="connsiteX4" fmla="*/ 686888 w 1306515"/>
                <a:gd name="connsiteY4" fmla="*/ 0 h 13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515" h="1357311">
                  <a:moveTo>
                    <a:pt x="686888" y="0"/>
                  </a:moveTo>
                  <a:lnTo>
                    <a:pt x="1306515" y="738593"/>
                  </a:lnTo>
                  <a:cubicBezTo>
                    <a:pt x="1118455" y="896393"/>
                    <a:pt x="991938" y="1115465"/>
                    <a:pt x="949353" y="1357311"/>
                  </a:cubicBezTo>
                  <a:lnTo>
                    <a:pt x="0" y="1189887"/>
                  </a:lnTo>
                  <a:cubicBezTo>
                    <a:pt x="82027" y="724776"/>
                    <a:pt x="325248" y="303499"/>
                    <a:pt x="686888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7" name="紫荆的职场Point15"/>
            <p:cNvSpPr/>
            <p:nvPr>
              <p:custDataLst>
                <p:tags r:id="rId81"/>
              </p:custDataLst>
            </p:nvPr>
          </p:nvSpPr>
          <p:spPr bwMode="auto">
            <a:xfrm>
              <a:off x="3696" y="9869"/>
              <a:ext cx="474" cy="443"/>
            </a:xfrm>
            <a:custGeom>
              <a:avLst/>
              <a:gdLst>
                <a:gd name="connsiteX0" fmla="*/ 1290640 w 1290640"/>
                <a:gd name="connsiteY0" fmla="*/ 0 h 1208086"/>
                <a:gd name="connsiteX1" fmla="*/ 1290640 w 1290640"/>
                <a:gd name="connsiteY1" fmla="*/ 963840 h 1208086"/>
                <a:gd name="connsiteX2" fmla="*/ 619599 w 1290640"/>
                <a:gd name="connsiteY2" fmla="*/ 1208086 h 1208086"/>
                <a:gd name="connsiteX3" fmla="*/ 0 w 1290640"/>
                <a:gd name="connsiteY3" fmla="*/ 469631 h 1208086"/>
                <a:gd name="connsiteX4" fmla="*/ 1290640 w 1290640"/>
                <a:gd name="connsiteY4" fmla="*/ 0 h 120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0640" h="1208086">
                  <a:moveTo>
                    <a:pt x="1290640" y="0"/>
                  </a:moveTo>
                  <a:lnTo>
                    <a:pt x="1290640" y="963840"/>
                  </a:lnTo>
                  <a:cubicBezTo>
                    <a:pt x="1045239" y="963840"/>
                    <a:pt x="807650" y="1050336"/>
                    <a:pt x="619599" y="1208086"/>
                  </a:cubicBezTo>
                  <a:lnTo>
                    <a:pt x="0" y="469631"/>
                  </a:lnTo>
                  <a:cubicBezTo>
                    <a:pt x="361623" y="166324"/>
                    <a:pt x="818701" y="0"/>
                    <a:pt x="129064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8" name="紫荆的职场Point16"/>
            <p:cNvSpPr/>
            <p:nvPr>
              <p:custDataLst>
                <p:tags r:id="rId82"/>
              </p:custDataLst>
            </p:nvPr>
          </p:nvSpPr>
          <p:spPr bwMode="auto">
            <a:xfrm>
              <a:off x="4200" y="9869"/>
              <a:ext cx="474" cy="443"/>
            </a:xfrm>
            <a:custGeom>
              <a:avLst/>
              <a:gdLst>
                <a:gd name="connsiteX0" fmla="*/ 0 w 1290640"/>
                <a:gd name="connsiteY0" fmla="*/ 0 h 1208086"/>
                <a:gd name="connsiteX1" fmla="*/ 1290640 w 1290640"/>
                <a:gd name="connsiteY1" fmla="*/ 469631 h 1208086"/>
                <a:gd name="connsiteX2" fmla="*/ 671133 w 1290640"/>
                <a:gd name="connsiteY2" fmla="*/ 1208086 h 1208086"/>
                <a:gd name="connsiteX3" fmla="*/ 0 w 1290640"/>
                <a:gd name="connsiteY3" fmla="*/ 963840 h 120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640" h="1208086">
                  <a:moveTo>
                    <a:pt x="0" y="0"/>
                  </a:moveTo>
                  <a:cubicBezTo>
                    <a:pt x="472060" y="0"/>
                    <a:pt x="929070" y="166324"/>
                    <a:pt x="1290640" y="469631"/>
                  </a:cubicBezTo>
                  <a:lnTo>
                    <a:pt x="671133" y="1208086"/>
                  </a:lnTo>
                  <a:cubicBezTo>
                    <a:pt x="483109" y="1050336"/>
                    <a:pt x="245555" y="963840"/>
                    <a:pt x="0" y="96384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gradFill flip="none" rotWithShape="1">
                <a:gsLst>
                  <a:gs pos="1000">
                    <a:srgbClr val="FFFFFF">
                      <a:alpha val="0"/>
                    </a:srgbClr>
                  </a:gs>
                  <a:gs pos="2000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2700000" scaled="0"/>
                <a:tileRect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rgbClr val="EF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9" name="紫荆的职场Point17"/>
            <p:cNvSpPr/>
            <p:nvPr>
              <p:custDataLst>
                <p:tags r:id="rId83"/>
              </p:custDataLst>
            </p:nvPr>
          </p:nvSpPr>
          <p:spPr>
            <a:xfrm>
              <a:off x="3820" y="10294"/>
              <a:ext cx="706" cy="70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617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lIns="122959" tIns="61480" rIns="122959" bIns="61480" rtlCol="0"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endParaRPr 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2" name="任意多边形: 形状 54"/>
            <p:cNvSpPr/>
            <p:nvPr>
              <p:custDataLst>
                <p:tags r:id="rId84"/>
              </p:custDataLst>
            </p:nvPr>
          </p:nvSpPr>
          <p:spPr>
            <a:xfrm>
              <a:off x="3005" y="9466"/>
              <a:ext cx="1184" cy="1176"/>
            </a:xfrm>
            <a:custGeom>
              <a:avLst/>
              <a:gdLst>
                <a:gd name="connsiteX0" fmla="*/ 720258 w 2418588"/>
                <a:gd name="connsiteY0" fmla="*/ 2400151 h 2400300"/>
                <a:gd name="connsiteX1" fmla="*/ 2414280 w 2418588"/>
                <a:gd name="connsiteY1" fmla="*/ 718417 h 2400300"/>
                <a:gd name="connsiteX2" fmla="*/ 2419805 w 2418588"/>
                <a:gd name="connsiteY2" fmla="*/ 718417 h 2400300"/>
                <a:gd name="connsiteX3" fmla="*/ 2419805 w 2418588"/>
                <a:gd name="connsiteY3" fmla="*/ -54 h 2400300"/>
                <a:gd name="connsiteX4" fmla="*/ 2413899 w 2418588"/>
                <a:gd name="connsiteY4" fmla="*/ -54 h 2400300"/>
                <a:gd name="connsiteX5" fmla="*/ 1216 w 2418588"/>
                <a:gd name="connsiteY5" fmla="*/ 2400247 h 2400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18588" h="2400300">
                  <a:moveTo>
                    <a:pt x="720258" y="2400151"/>
                  </a:moveTo>
                  <a:cubicBezTo>
                    <a:pt x="727117" y="1470225"/>
                    <a:pt x="1482830" y="718417"/>
                    <a:pt x="2414280" y="718417"/>
                  </a:cubicBezTo>
                  <a:lnTo>
                    <a:pt x="2419805" y="718417"/>
                  </a:lnTo>
                  <a:lnTo>
                    <a:pt x="2419805" y="-54"/>
                  </a:lnTo>
                  <a:lnTo>
                    <a:pt x="2413899" y="-54"/>
                  </a:lnTo>
                  <a:cubicBezTo>
                    <a:pt x="1085543" y="-54"/>
                    <a:pt x="7980" y="1073509"/>
                    <a:pt x="1216" y="240024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3" name="任意多边形: 形状 55"/>
            <p:cNvSpPr/>
            <p:nvPr>
              <p:custDataLst>
                <p:tags r:id="rId85"/>
              </p:custDataLst>
            </p:nvPr>
          </p:nvSpPr>
          <p:spPr>
            <a:xfrm>
              <a:off x="2917" y="10298"/>
              <a:ext cx="1271" cy="1532"/>
            </a:xfrm>
            <a:custGeom>
              <a:avLst/>
              <a:gdLst>
                <a:gd name="connsiteX0" fmla="*/ 2592778 w 2596610"/>
                <a:gd name="connsiteY0" fmla="*/ 2409581 h 3128200"/>
                <a:gd name="connsiteX1" fmla="*/ 898471 w 2596610"/>
                <a:gd name="connsiteY1" fmla="*/ 715274 h 3128200"/>
                <a:gd name="connsiteX2" fmla="*/ 898471 w 2596610"/>
                <a:gd name="connsiteY2" fmla="*/ 715179 h 3128200"/>
                <a:gd name="connsiteX3" fmla="*/ 898471 w 2596610"/>
                <a:gd name="connsiteY3" fmla="*/ 707749 h 3128200"/>
                <a:gd name="connsiteX4" fmla="*/ 1069921 w 2596610"/>
                <a:gd name="connsiteY4" fmla="*/ 707749 h 3128200"/>
                <a:gd name="connsiteX5" fmla="*/ 535568 w 2596610"/>
                <a:gd name="connsiteY5" fmla="*/ -54 h 3128200"/>
                <a:gd name="connsiteX6" fmla="*/ 1216 w 2596610"/>
                <a:gd name="connsiteY6" fmla="*/ 707749 h 3128200"/>
                <a:gd name="connsiteX7" fmla="*/ 179428 w 2596610"/>
                <a:gd name="connsiteY7" fmla="*/ 707749 h 3128200"/>
                <a:gd name="connsiteX8" fmla="*/ 179428 w 2596610"/>
                <a:gd name="connsiteY8" fmla="*/ 715179 h 3128200"/>
                <a:gd name="connsiteX9" fmla="*/ 2592302 w 2596610"/>
                <a:gd name="connsiteY9" fmla="*/ 3128147 h 3128200"/>
                <a:gd name="connsiteX10" fmla="*/ 2597826 w 2596610"/>
                <a:gd name="connsiteY10" fmla="*/ 3128147 h 3128200"/>
                <a:gd name="connsiteX11" fmla="*/ 2597826 w 2596610"/>
                <a:gd name="connsiteY11" fmla="*/ 2409391 h 312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96610" h="3128200">
                  <a:moveTo>
                    <a:pt x="2592778" y="2409581"/>
                  </a:moveTo>
                  <a:cubicBezTo>
                    <a:pt x="1657042" y="2409581"/>
                    <a:pt x="898471" y="1651010"/>
                    <a:pt x="898471" y="715274"/>
                  </a:cubicBezTo>
                  <a:cubicBezTo>
                    <a:pt x="898471" y="715245"/>
                    <a:pt x="898471" y="715207"/>
                    <a:pt x="898471" y="715179"/>
                  </a:cubicBezTo>
                  <a:cubicBezTo>
                    <a:pt x="898471" y="712702"/>
                    <a:pt x="898471" y="710226"/>
                    <a:pt x="898471" y="707749"/>
                  </a:cubicBezTo>
                  <a:lnTo>
                    <a:pt x="1069921" y="707749"/>
                  </a:lnTo>
                  <a:lnTo>
                    <a:pt x="535568" y="-54"/>
                  </a:lnTo>
                  <a:lnTo>
                    <a:pt x="1216" y="707749"/>
                  </a:lnTo>
                  <a:lnTo>
                    <a:pt x="179428" y="707749"/>
                  </a:lnTo>
                  <a:cubicBezTo>
                    <a:pt x="179428" y="710226"/>
                    <a:pt x="179428" y="712702"/>
                    <a:pt x="179428" y="715179"/>
                  </a:cubicBezTo>
                  <a:cubicBezTo>
                    <a:pt x="179428" y="2047822"/>
                    <a:pt x="1259754" y="3128147"/>
                    <a:pt x="2592302" y="3128147"/>
                  </a:cubicBezTo>
                  <a:lnTo>
                    <a:pt x="2597826" y="3128147"/>
                  </a:lnTo>
                  <a:lnTo>
                    <a:pt x="2597826" y="240939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4" name="任意多边形: 形状 56"/>
            <p:cNvSpPr/>
            <p:nvPr>
              <p:custDataLst>
                <p:tags r:id="rId86"/>
              </p:custDataLst>
            </p:nvPr>
          </p:nvSpPr>
          <p:spPr>
            <a:xfrm>
              <a:off x="3848" y="10642"/>
              <a:ext cx="1519" cy="1270"/>
            </a:xfrm>
            <a:custGeom>
              <a:avLst/>
              <a:gdLst>
                <a:gd name="connsiteX0" fmla="*/ 3104937 w 3103721"/>
                <a:gd name="connsiteY0" fmla="*/ 12520 h 2592038"/>
                <a:gd name="connsiteX1" fmla="*/ 3104937 w 3103721"/>
                <a:gd name="connsiteY1" fmla="*/ -54 h 2592038"/>
                <a:gd name="connsiteX2" fmla="*/ 2386180 w 3103721"/>
                <a:gd name="connsiteY2" fmla="*/ -54 h 2592038"/>
                <a:gd name="connsiteX3" fmla="*/ 2386180 w 3103721"/>
                <a:gd name="connsiteY3" fmla="*/ 12520 h 2592038"/>
                <a:gd name="connsiteX4" fmla="*/ 708923 w 3103721"/>
                <a:gd name="connsiteY4" fmla="*/ 1706541 h 2592038"/>
                <a:gd name="connsiteX5" fmla="*/ 708923 w 3103721"/>
                <a:gd name="connsiteY5" fmla="*/ 1523280 h 2592038"/>
                <a:gd name="connsiteX6" fmla="*/ 1216 w 3103721"/>
                <a:gd name="connsiteY6" fmla="*/ 2057632 h 2592038"/>
                <a:gd name="connsiteX7" fmla="*/ 708923 w 3103721"/>
                <a:gd name="connsiteY7" fmla="*/ 2591985 h 2592038"/>
                <a:gd name="connsiteX8" fmla="*/ 708923 w 3103721"/>
                <a:gd name="connsiteY8" fmla="*/ 2425297 h 2592038"/>
                <a:gd name="connsiteX9" fmla="*/ 3104937 w 3103721"/>
                <a:gd name="connsiteY9" fmla="*/ 12520 h 259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03721" h="2592038">
                  <a:moveTo>
                    <a:pt x="3104937" y="12520"/>
                  </a:moveTo>
                  <a:cubicBezTo>
                    <a:pt x="3104937" y="8329"/>
                    <a:pt x="3104937" y="4137"/>
                    <a:pt x="3104937" y="-54"/>
                  </a:cubicBezTo>
                  <a:lnTo>
                    <a:pt x="2386180" y="-54"/>
                  </a:lnTo>
                  <a:cubicBezTo>
                    <a:pt x="2386180" y="4137"/>
                    <a:pt x="2386180" y="8329"/>
                    <a:pt x="2386180" y="12520"/>
                  </a:cubicBezTo>
                  <a:cubicBezTo>
                    <a:pt x="2386123" y="941550"/>
                    <a:pt x="1637906" y="1697244"/>
                    <a:pt x="708923" y="1706541"/>
                  </a:cubicBezTo>
                  <a:lnTo>
                    <a:pt x="708923" y="1523280"/>
                  </a:lnTo>
                  <a:lnTo>
                    <a:pt x="1216" y="2057632"/>
                  </a:lnTo>
                  <a:lnTo>
                    <a:pt x="708923" y="2591985"/>
                  </a:lnTo>
                  <a:lnTo>
                    <a:pt x="708923" y="2425297"/>
                  </a:lnTo>
                  <a:cubicBezTo>
                    <a:pt x="2033755" y="2416153"/>
                    <a:pt x="3104937" y="1339542"/>
                    <a:pt x="3104937" y="1252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5" name="任意多边形: 形状 57"/>
            <p:cNvSpPr/>
            <p:nvPr>
              <p:custDataLst>
                <p:tags r:id="rId87"/>
              </p:custDataLst>
            </p:nvPr>
          </p:nvSpPr>
          <p:spPr>
            <a:xfrm>
              <a:off x="4188" y="9466"/>
              <a:ext cx="1259" cy="1517"/>
            </a:xfrm>
            <a:custGeom>
              <a:avLst/>
              <a:gdLst>
                <a:gd name="connsiteX0" fmla="*/ 2408279 w 2570511"/>
                <a:gd name="connsiteY0" fmla="*/ 2389864 h 3097625"/>
                <a:gd name="connsiteX1" fmla="*/ 1216 w 2570511"/>
                <a:gd name="connsiteY1" fmla="*/ -54 h 3097625"/>
                <a:gd name="connsiteX2" fmla="*/ 1216 w 2570511"/>
                <a:gd name="connsiteY2" fmla="*/ 718608 h 3097625"/>
                <a:gd name="connsiteX3" fmla="*/ 1689522 w 2570511"/>
                <a:gd name="connsiteY3" fmla="*/ 2389864 h 3097625"/>
                <a:gd name="connsiteX4" fmla="*/ 1503023 w 2570511"/>
                <a:gd name="connsiteY4" fmla="*/ 2389864 h 3097625"/>
                <a:gd name="connsiteX5" fmla="*/ 2037375 w 2570511"/>
                <a:gd name="connsiteY5" fmla="*/ 3097572 h 3097625"/>
                <a:gd name="connsiteX6" fmla="*/ 2571728 w 2570511"/>
                <a:gd name="connsiteY6" fmla="*/ 2389864 h 30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0511" h="3097625">
                  <a:moveTo>
                    <a:pt x="2408279" y="2389864"/>
                  </a:moveTo>
                  <a:cubicBezTo>
                    <a:pt x="2395611" y="1069604"/>
                    <a:pt x="1323667" y="2899"/>
                    <a:pt x="1216" y="-54"/>
                  </a:cubicBezTo>
                  <a:lnTo>
                    <a:pt x="1216" y="718608"/>
                  </a:lnTo>
                  <a:cubicBezTo>
                    <a:pt x="926760" y="721465"/>
                    <a:pt x="1677616" y="1466511"/>
                    <a:pt x="1689522" y="2389864"/>
                  </a:cubicBezTo>
                  <a:lnTo>
                    <a:pt x="1503023" y="2389864"/>
                  </a:lnTo>
                  <a:lnTo>
                    <a:pt x="2037375" y="3097572"/>
                  </a:lnTo>
                  <a:lnTo>
                    <a:pt x="2571728" y="238986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66" name="任意多边形: 形状 59"/>
            <p:cNvSpPr/>
            <p:nvPr>
              <p:custDataLst>
                <p:tags r:id="rId88"/>
              </p:custDataLst>
            </p:nvPr>
          </p:nvSpPr>
          <p:spPr>
            <a:xfrm>
              <a:off x="4150" y="9383"/>
              <a:ext cx="352" cy="524"/>
            </a:xfrm>
            <a:custGeom>
              <a:avLst/>
              <a:gdLst>
                <a:gd name="connsiteX0" fmla="*/ 0 w 718946"/>
                <a:gd name="connsiteY0" fmla="*/ 0 h 1068704"/>
                <a:gd name="connsiteX1" fmla="*/ 718947 w 718946"/>
                <a:gd name="connsiteY1" fmla="*/ 534353 h 1068704"/>
                <a:gd name="connsiteX2" fmla="*/ 0 w 718946"/>
                <a:gd name="connsiteY2" fmla="*/ 1068705 h 1068704"/>
                <a:gd name="connsiteX3" fmla="*/ 0 w 718946"/>
                <a:gd name="connsiteY3" fmla="*/ 0 h 106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946" h="1068704">
                  <a:moveTo>
                    <a:pt x="0" y="0"/>
                  </a:moveTo>
                  <a:lnTo>
                    <a:pt x="718947" y="534353"/>
                  </a:lnTo>
                  <a:lnTo>
                    <a:pt x="0" y="10687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1" name="组合 160"/>
          <p:cNvGrpSpPr/>
          <p:nvPr>
            <p:custDataLst>
              <p:tags r:id="rId89"/>
            </p:custDataLst>
          </p:nvPr>
        </p:nvGrpSpPr>
        <p:grpSpPr>
          <a:xfrm>
            <a:off x="9033510" y="5218430"/>
            <a:ext cx="1974850" cy="974725"/>
            <a:chOff x="759" y="11416"/>
            <a:chExt cx="6502" cy="3209"/>
          </a:xfrm>
        </p:grpSpPr>
        <p:grpSp>
          <p:nvGrpSpPr>
            <p:cNvPr id="280" name="天蝎PPT原创©1"/>
            <p:cNvGrpSpPr/>
            <p:nvPr>
              <p:custDataLst>
                <p:tags r:id="rId90"/>
              </p:custDataLst>
            </p:nvPr>
          </p:nvGrpSpPr>
          <p:grpSpPr>
            <a:xfrm>
              <a:off x="760" y="11850"/>
              <a:ext cx="6496" cy="2138"/>
              <a:chOff x="371833" y="1813205"/>
              <a:chExt cx="11650653" cy="1175604"/>
            </a:xfrm>
            <a:solidFill>
              <a:srgbClr val="B2C5D4"/>
            </a:solidFill>
          </p:grpSpPr>
          <p:sp>
            <p:nvSpPr>
              <p:cNvPr id="281" name="天蝎PPT原创©1-1"/>
              <p:cNvSpPr/>
              <p:nvPr>
                <p:custDataLst>
                  <p:tags r:id="rId91"/>
                </p:custDataLst>
              </p:nvPr>
            </p:nvSpPr>
            <p:spPr>
              <a:xfrm>
                <a:off x="371833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2" name="天蝎PPT原创©1-2"/>
              <p:cNvSpPr/>
              <p:nvPr>
                <p:custDataLst>
                  <p:tags r:id="rId92"/>
                </p:custDataLst>
              </p:nvPr>
            </p:nvSpPr>
            <p:spPr>
              <a:xfrm>
                <a:off x="3318233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7" name="天蝎PPT原创©1-3"/>
              <p:cNvSpPr/>
              <p:nvPr>
                <p:custDataLst>
                  <p:tags r:id="rId93"/>
                </p:custDataLst>
              </p:nvPr>
            </p:nvSpPr>
            <p:spPr>
              <a:xfrm>
                <a:off x="6247699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8" name="天蝎PPT原创©1-4"/>
              <p:cNvSpPr/>
              <p:nvPr>
                <p:custDataLst>
                  <p:tags r:id="rId94"/>
                </p:custDataLst>
              </p:nvPr>
            </p:nvSpPr>
            <p:spPr>
              <a:xfrm>
                <a:off x="9194099" y="1813205"/>
                <a:ext cx="2828387" cy="117560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rgbClr val="24396B">
                  <a:shade val="15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kumimoji="1"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89" name="天蝎PPT原创©2-1"/>
            <p:cNvSpPr/>
            <p:nvPr>
              <p:custDataLst>
                <p:tags r:id="rId95"/>
              </p:custDataLst>
            </p:nvPr>
          </p:nvSpPr>
          <p:spPr>
            <a:xfrm>
              <a:off x="765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0" name="天蝎PPT原创©2-2"/>
            <p:cNvSpPr/>
            <p:nvPr>
              <p:custDataLst>
                <p:tags r:id="rId96"/>
              </p:custDataLst>
            </p:nvPr>
          </p:nvSpPr>
          <p:spPr>
            <a:xfrm>
              <a:off x="2408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buClr>
                  <a:srgbClr val="525455"/>
                </a:buClr>
                <a:buSzPts val="1100"/>
                <a:buFontTx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6" name="天蝎PPT原创©2-3"/>
            <p:cNvSpPr/>
            <p:nvPr>
              <p:custDataLst>
                <p:tags r:id="rId97"/>
              </p:custDataLst>
            </p:nvPr>
          </p:nvSpPr>
          <p:spPr>
            <a:xfrm>
              <a:off x="4042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7" name="天蝎PPT原创©2-4"/>
            <p:cNvSpPr/>
            <p:nvPr>
              <p:custDataLst>
                <p:tags r:id="rId98"/>
              </p:custDataLst>
            </p:nvPr>
          </p:nvSpPr>
          <p:spPr>
            <a:xfrm>
              <a:off x="5684" y="11850"/>
              <a:ext cx="1577" cy="5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8" name="天蝎PPT原创©7"/>
            <p:cNvSpPr/>
            <p:nvPr>
              <p:custDataLst>
                <p:tags r:id="rId99"/>
              </p:custDataLst>
            </p:nvPr>
          </p:nvSpPr>
          <p:spPr>
            <a:xfrm>
              <a:off x="765" y="14069"/>
              <a:ext cx="1040" cy="55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9" name="天蝎PPT原创©8"/>
            <p:cNvSpPr/>
            <p:nvPr>
              <p:custDataLst>
                <p:tags r:id="rId100"/>
              </p:custDataLst>
            </p:nvPr>
          </p:nvSpPr>
          <p:spPr>
            <a:xfrm>
              <a:off x="1848" y="14069"/>
              <a:ext cx="5413" cy="55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0" name="天蝎PPT原创©18"/>
            <p:cNvSpPr/>
            <p:nvPr>
              <p:custDataLst>
                <p:tags r:id="rId101"/>
              </p:custDataLst>
            </p:nvPr>
          </p:nvSpPr>
          <p:spPr>
            <a:xfrm rot="5400000">
              <a:off x="3849" y="8442"/>
              <a:ext cx="438" cy="6386"/>
            </a:xfrm>
            <a:custGeom>
              <a:avLst/>
              <a:gdLst>
                <a:gd name="connsiteX0" fmla="*/ 0 w 298898"/>
                <a:gd name="connsiteY0" fmla="*/ 257670 h 10698196"/>
                <a:gd name="connsiteX1" fmla="*/ 149449 w 298898"/>
                <a:gd name="connsiteY1" fmla="*/ 0 h 10698196"/>
                <a:gd name="connsiteX2" fmla="*/ 298898 w 298898"/>
                <a:gd name="connsiteY2" fmla="*/ 257670 h 10698196"/>
                <a:gd name="connsiteX3" fmla="*/ 213612 w 298898"/>
                <a:gd name="connsiteY3" fmla="*/ 257670 h 10698196"/>
                <a:gd name="connsiteX4" fmla="*/ 213612 w 298898"/>
                <a:gd name="connsiteY4" fmla="*/ 10698196 h 10698196"/>
                <a:gd name="connsiteX5" fmla="*/ 87002 w 298898"/>
                <a:gd name="connsiteY5" fmla="*/ 10698196 h 10698196"/>
                <a:gd name="connsiteX6" fmla="*/ 87002 w 298898"/>
                <a:gd name="connsiteY6" fmla="*/ 257670 h 10698196"/>
                <a:gd name="connsiteX0-1" fmla="*/ 0 w 270261"/>
                <a:gd name="connsiteY0-2" fmla="*/ 271117 h 10698196"/>
                <a:gd name="connsiteX1-3" fmla="*/ 120812 w 270261"/>
                <a:gd name="connsiteY1-4" fmla="*/ 0 h 10698196"/>
                <a:gd name="connsiteX2-5" fmla="*/ 270261 w 270261"/>
                <a:gd name="connsiteY2-6" fmla="*/ 257670 h 10698196"/>
                <a:gd name="connsiteX3-7" fmla="*/ 184975 w 270261"/>
                <a:gd name="connsiteY3-8" fmla="*/ 257670 h 10698196"/>
                <a:gd name="connsiteX4-9" fmla="*/ 184975 w 270261"/>
                <a:gd name="connsiteY4-10" fmla="*/ 10698196 h 10698196"/>
                <a:gd name="connsiteX5-11" fmla="*/ 58365 w 270261"/>
                <a:gd name="connsiteY5-12" fmla="*/ 10698196 h 10698196"/>
                <a:gd name="connsiteX6-13" fmla="*/ 58365 w 270261"/>
                <a:gd name="connsiteY6-14" fmla="*/ 257670 h 10698196"/>
                <a:gd name="connsiteX7" fmla="*/ 0 w 270261"/>
                <a:gd name="connsiteY7" fmla="*/ 271117 h 10698196"/>
                <a:gd name="connsiteX0-15" fmla="*/ 0 w 270261"/>
                <a:gd name="connsiteY0-16" fmla="*/ 432483 h 10859562"/>
                <a:gd name="connsiteX1-17" fmla="*/ 120813 w 270261"/>
                <a:gd name="connsiteY1-18" fmla="*/ 0 h 10859562"/>
                <a:gd name="connsiteX2-19" fmla="*/ 270261 w 270261"/>
                <a:gd name="connsiteY2-20" fmla="*/ 419036 h 10859562"/>
                <a:gd name="connsiteX3-21" fmla="*/ 184975 w 270261"/>
                <a:gd name="connsiteY3-22" fmla="*/ 419036 h 10859562"/>
                <a:gd name="connsiteX4-23" fmla="*/ 184975 w 270261"/>
                <a:gd name="connsiteY4-24" fmla="*/ 10859562 h 10859562"/>
                <a:gd name="connsiteX5-25" fmla="*/ 58365 w 270261"/>
                <a:gd name="connsiteY5-26" fmla="*/ 10859562 h 10859562"/>
                <a:gd name="connsiteX6-27" fmla="*/ 58365 w 270261"/>
                <a:gd name="connsiteY6-28" fmla="*/ 419036 h 10859562"/>
                <a:gd name="connsiteX7-29" fmla="*/ 0 w 270261"/>
                <a:gd name="connsiteY7-30" fmla="*/ 432483 h 10859562"/>
                <a:gd name="connsiteX0-31" fmla="*/ 0 w 237533"/>
                <a:gd name="connsiteY0-32" fmla="*/ 432483 h 10859562"/>
                <a:gd name="connsiteX1-33" fmla="*/ 120813 w 237533"/>
                <a:gd name="connsiteY1-34" fmla="*/ 0 h 10859562"/>
                <a:gd name="connsiteX2-35" fmla="*/ 237533 w 237533"/>
                <a:gd name="connsiteY2-36" fmla="*/ 405589 h 10859562"/>
                <a:gd name="connsiteX3-37" fmla="*/ 184975 w 237533"/>
                <a:gd name="connsiteY3-38" fmla="*/ 419036 h 10859562"/>
                <a:gd name="connsiteX4-39" fmla="*/ 184975 w 237533"/>
                <a:gd name="connsiteY4-40" fmla="*/ 10859562 h 10859562"/>
                <a:gd name="connsiteX5-41" fmla="*/ 58365 w 237533"/>
                <a:gd name="connsiteY5-42" fmla="*/ 10859562 h 10859562"/>
                <a:gd name="connsiteX6-43" fmla="*/ 58365 w 237533"/>
                <a:gd name="connsiteY6-44" fmla="*/ 419036 h 10859562"/>
                <a:gd name="connsiteX7-45" fmla="*/ 0 w 237533"/>
                <a:gd name="connsiteY7-46" fmla="*/ 432483 h 108595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29" y="connsiteY7-30"/>
                </a:cxn>
              </a:cxnLst>
              <a:rect l="l" t="t" r="r" b="b"/>
              <a:pathLst>
                <a:path w="237533" h="10859562">
                  <a:moveTo>
                    <a:pt x="0" y="432483"/>
                  </a:moveTo>
                  <a:lnTo>
                    <a:pt x="120813" y="0"/>
                  </a:lnTo>
                  <a:lnTo>
                    <a:pt x="237533" y="405589"/>
                  </a:lnTo>
                  <a:lnTo>
                    <a:pt x="184975" y="419036"/>
                  </a:lnTo>
                  <a:lnTo>
                    <a:pt x="184975" y="10859562"/>
                  </a:lnTo>
                  <a:lnTo>
                    <a:pt x="58365" y="10859562"/>
                  </a:lnTo>
                  <a:lnTo>
                    <a:pt x="58365" y="419036"/>
                  </a:lnTo>
                  <a:cubicBezTo>
                    <a:pt x="29364" y="419036"/>
                    <a:pt x="29001" y="432483"/>
                    <a:pt x="0" y="43248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1" name="天蝎PPT原创©25"/>
            <p:cNvSpPr/>
            <p:nvPr>
              <p:custDataLst>
                <p:tags r:id="rId102"/>
              </p:custDataLst>
            </p:nvPr>
          </p:nvSpPr>
          <p:spPr>
            <a:xfrm>
              <a:off x="2396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6" name="天蝎PPT原创©27"/>
            <p:cNvSpPr/>
            <p:nvPr>
              <p:custDataLst>
                <p:tags r:id="rId103"/>
              </p:custDataLst>
            </p:nvPr>
          </p:nvSpPr>
          <p:spPr>
            <a:xfrm>
              <a:off x="4019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7" name="天蝎PPT原创©29"/>
            <p:cNvSpPr/>
            <p:nvPr>
              <p:custDataLst>
                <p:tags r:id="rId104"/>
              </p:custDataLst>
            </p:nvPr>
          </p:nvSpPr>
          <p:spPr>
            <a:xfrm>
              <a:off x="5624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8" name="天蝎PPT原创©17"/>
            <p:cNvSpPr/>
            <p:nvPr>
              <p:custDataLst>
                <p:tags r:id="rId105"/>
              </p:custDataLst>
            </p:nvPr>
          </p:nvSpPr>
          <p:spPr>
            <a:xfrm>
              <a:off x="759" y="11521"/>
              <a:ext cx="236" cy="23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90500" dir="5400000" sx="90000" sy="90000" algn="ctr" rotWithShape="0">
                <a:srgbClr val="24396B">
                  <a:alpha val="30000"/>
                </a:srgbClr>
              </a:outerShdw>
            </a:effectLst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圆角矩形 8"/>
          <p:cNvSpPr/>
          <p:nvPr>
            <p:custDataLst>
              <p:tags r:id="rId106"/>
            </p:custDataLst>
          </p:nvPr>
        </p:nvSpPr>
        <p:spPr>
          <a:xfrm>
            <a:off x="5149850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圆角矩形 8"/>
          <p:cNvSpPr/>
          <p:nvPr>
            <p:custDataLst>
              <p:tags r:id="rId107"/>
            </p:custDataLst>
          </p:nvPr>
        </p:nvSpPr>
        <p:spPr>
          <a:xfrm>
            <a:off x="5944870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 8"/>
          <p:cNvSpPr/>
          <p:nvPr>
            <p:custDataLst>
              <p:tags r:id="rId108"/>
            </p:custDataLst>
          </p:nvPr>
        </p:nvSpPr>
        <p:spPr>
          <a:xfrm>
            <a:off x="6739255" y="5986780"/>
            <a:ext cx="599440" cy="135890"/>
          </a:xfrm>
          <a:prstGeom prst="roundRect">
            <a:avLst>
              <a:gd name="adj" fmla="val 2689"/>
            </a:avLst>
          </a:pr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圆角矩形 59"/>
          <p:cNvSpPr/>
          <p:nvPr>
            <p:custDataLst>
              <p:tags r:id="rId109"/>
            </p:custDataLst>
          </p:nvPr>
        </p:nvSpPr>
        <p:spPr>
          <a:xfrm>
            <a:off x="5095875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Freeform 2384"/>
          <p:cNvSpPr/>
          <p:nvPr>
            <p:custDataLst>
              <p:tags r:id="rId110"/>
            </p:custDataLst>
          </p:nvPr>
        </p:nvSpPr>
        <p:spPr>
          <a:xfrm>
            <a:off x="698119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7" h="527305">
                <a:moveTo>
                  <a:pt x="0" y="108967"/>
                </a:moveTo>
                <a:lnTo>
                  <a:pt x="108965" y="0"/>
                </a:lnTo>
                <a:lnTo>
                  <a:pt x="1648967" y="0"/>
                </a:lnTo>
                <a:lnTo>
                  <a:pt x="1648967" y="418338"/>
                </a:lnTo>
                <a:lnTo>
                  <a:pt x="1540001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1" y="108967"/>
                </a:lnTo>
                <a:lnTo>
                  <a:pt x="1648967" y="0"/>
                </a:lnTo>
                <a:moveTo>
                  <a:pt x="1540001" y="108967"/>
                </a:moveTo>
                <a:lnTo>
                  <a:pt x="1540001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27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reeform 2385"/>
          <p:cNvSpPr/>
          <p:nvPr>
            <p:custDataLst>
              <p:tags r:id="rId111"/>
            </p:custDataLst>
          </p:nvPr>
        </p:nvSpPr>
        <p:spPr>
          <a:xfrm>
            <a:off x="698119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Freeform 2389"/>
          <p:cNvSpPr/>
          <p:nvPr>
            <p:custDataLst>
              <p:tags r:id="rId112"/>
            </p:custDataLst>
          </p:nvPr>
        </p:nvSpPr>
        <p:spPr>
          <a:xfrm>
            <a:off x="5101590" y="5209540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7" h="527305">
                <a:moveTo>
                  <a:pt x="0" y="108967"/>
                </a:moveTo>
                <a:lnTo>
                  <a:pt x="108953" y="0"/>
                </a:lnTo>
                <a:lnTo>
                  <a:pt x="1648967" y="0"/>
                </a:lnTo>
                <a:lnTo>
                  <a:pt x="1648967" y="418338"/>
                </a:lnTo>
                <a:lnTo>
                  <a:pt x="1540001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1" y="108967"/>
                </a:lnTo>
                <a:lnTo>
                  <a:pt x="1648967" y="0"/>
                </a:lnTo>
                <a:moveTo>
                  <a:pt x="1540001" y="108967"/>
                </a:moveTo>
                <a:lnTo>
                  <a:pt x="1540001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Freeform 2390"/>
          <p:cNvSpPr/>
          <p:nvPr>
            <p:custDataLst>
              <p:tags r:id="rId113"/>
            </p:custDataLst>
          </p:nvPr>
        </p:nvSpPr>
        <p:spPr>
          <a:xfrm>
            <a:off x="5100955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5">
                <a:moveTo>
                  <a:pt x="0" y="425195"/>
                </a:moveTo>
                <a:lnTo>
                  <a:pt x="1545336" y="425195"/>
                </a:lnTo>
                <a:lnTo>
                  <a:pt x="1545336" y="0"/>
                </a:lnTo>
                <a:lnTo>
                  <a:pt x="0" y="0"/>
                </a:lnTo>
                <a:lnTo>
                  <a:pt x="0" y="42519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reeform 2409"/>
          <p:cNvSpPr/>
          <p:nvPr>
            <p:custDataLst>
              <p:tags r:id="rId114"/>
            </p:custDataLst>
          </p:nvPr>
        </p:nvSpPr>
        <p:spPr>
          <a:xfrm>
            <a:off x="5076190" y="6168390"/>
            <a:ext cx="2302510" cy="116205"/>
          </a:xfrm>
          <a:custGeom>
            <a:avLst/>
            <a:gdLst/>
            <a:ahLst/>
            <a:cxnLst/>
            <a:rect l="0" t="0" r="0" b="0"/>
            <a:pathLst>
              <a:path w="10489693" h="527303">
                <a:moveTo>
                  <a:pt x="0" y="108953"/>
                </a:moveTo>
                <a:lnTo>
                  <a:pt x="108954" y="0"/>
                </a:lnTo>
                <a:lnTo>
                  <a:pt x="10489693" y="0"/>
                </a:lnTo>
                <a:lnTo>
                  <a:pt x="10489693" y="418338"/>
                </a:lnTo>
                <a:lnTo>
                  <a:pt x="10380727" y="527303"/>
                </a:lnTo>
                <a:lnTo>
                  <a:pt x="0" y="527303"/>
                </a:lnTo>
                <a:close/>
                <a:moveTo>
                  <a:pt x="0" y="108953"/>
                </a:moveTo>
                <a:lnTo>
                  <a:pt x="10380727" y="108953"/>
                </a:lnTo>
                <a:lnTo>
                  <a:pt x="10489693" y="0"/>
                </a:lnTo>
                <a:moveTo>
                  <a:pt x="10380727" y="108953"/>
                </a:moveTo>
                <a:lnTo>
                  <a:pt x="10380727" y="527303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reeform 2410"/>
          <p:cNvSpPr/>
          <p:nvPr>
            <p:custDataLst>
              <p:tags r:id="rId115"/>
            </p:custDataLst>
          </p:nvPr>
        </p:nvSpPr>
        <p:spPr>
          <a:xfrm>
            <a:off x="5075555" y="6191250"/>
            <a:ext cx="2281555" cy="93345"/>
          </a:xfrm>
          <a:custGeom>
            <a:avLst/>
            <a:gdLst/>
            <a:ahLst/>
            <a:cxnLst/>
            <a:rect l="0" t="0" r="0" b="0"/>
            <a:pathLst>
              <a:path w="10395204" h="425196">
                <a:moveTo>
                  <a:pt x="0" y="425196"/>
                </a:moveTo>
                <a:lnTo>
                  <a:pt x="10395204" y="425196"/>
                </a:lnTo>
                <a:lnTo>
                  <a:pt x="10395204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Freeform 2447"/>
          <p:cNvSpPr/>
          <p:nvPr>
            <p:custDataLst>
              <p:tags r:id="rId116"/>
            </p:custDataLst>
          </p:nvPr>
        </p:nvSpPr>
        <p:spPr>
          <a:xfrm>
            <a:off x="650367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9" h="527305">
                <a:moveTo>
                  <a:pt x="0" y="108967"/>
                </a:moveTo>
                <a:lnTo>
                  <a:pt x="108966" y="0"/>
                </a:lnTo>
                <a:lnTo>
                  <a:pt x="1648969" y="0"/>
                </a:lnTo>
                <a:lnTo>
                  <a:pt x="1648969" y="418338"/>
                </a:lnTo>
                <a:lnTo>
                  <a:pt x="1540002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2" y="108967"/>
                </a:lnTo>
                <a:lnTo>
                  <a:pt x="1648969" y="0"/>
                </a:lnTo>
                <a:moveTo>
                  <a:pt x="1540002" y="108967"/>
                </a:moveTo>
                <a:lnTo>
                  <a:pt x="1540002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reeform 2448"/>
          <p:cNvSpPr/>
          <p:nvPr>
            <p:custDataLst>
              <p:tags r:id="rId117"/>
            </p:custDataLst>
          </p:nvPr>
        </p:nvSpPr>
        <p:spPr>
          <a:xfrm>
            <a:off x="650367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Freeform 2482"/>
          <p:cNvSpPr/>
          <p:nvPr>
            <p:custDataLst>
              <p:tags r:id="rId118"/>
            </p:custDataLst>
          </p:nvPr>
        </p:nvSpPr>
        <p:spPr>
          <a:xfrm>
            <a:off x="6054090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8" h="527305">
                <a:moveTo>
                  <a:pt x="0" y="108967"/>
                </a:moveTo>
                <a:lnTo>
                  <a:pt x="108967" y="0"/>
                </a:lnTo>
                <a:lnTo>
                  <a:pt x="1648968" y="0"/>
                </a:lnTo>
                <a:lnTo>
                  <a:pt x="1648968" y="418338"/>
                </a:lnTo>
                <a:lnTo>
                  <a:pt x="1540003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3" y="108967"/>
                </a:lnTo>
                <a:lnTo>
                  <a:pt x="1648968" y="0"/>
                </a:lnTo>
                <a:moveTo>
                  <a:pt x="1540003" y="108967"/>
                </a:moveTo>
                <a:lnTo>
                  <a:pt x="1540003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reeform 2483"/>
          <p:cNvSpPr/>
          <p:nvPr>
            <p:custDataLst>
              <p:tags r:id="rId119"/>
            </p:custDataLst>
          </p:nvPr>
        </p:nvSpPr>
        <p:spPr>
          <a:xfrm>
            <a:off x="6053455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20"/>
            </p:custDataLst>
          </p:nvPr>
        </p:nvCxnSpPr>
        <p:spPr>
          <a:xfrm rot="10800000">
            <a:off x="5005705" y="6238240"/>
            <a:ext cx="67310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sp>
        <p:nvSpPr>
          <p:cNvPr id="23" name="Freeform 2470"/>
          <p:cNvSpPr/>
          <p:nvPr>
            <p:custDataLst>
              <p:tags r:id="rId121"/>
            </p:custDataLst>
          </p:nvPr>
        </p:nvSpPr>
        <p:spPr>
          <a:xfrm>
            <a:off x="5582285" y="5207635"/>
            <a:ext cx="361950" cy="116205"/>
          </a:xfrm>
          <a:custGeom>
            <a:avLst/>
            <a:gdLst/>
            <a:ahLst/>
            <a:cxnLst/>
            <a:rect l="0" t="0" r="0" b="0"/>
            <a:pathLst>
              <a:path w="1648968" h="527305">
                <a:moveTo>
                  <a:pt x="0" y="108967"/>
                </a:moveTo>
                <a:lnTo>
                  <a:pt x="108965" y="0"/>
                </a:lnTo>
                <a:lnTo>
                  <a:pt x="1648968" y="0"/>
                </a:lnTo>
                <a:lnTo>
                  <a:pt x="1648968" y="418338"/>
                </a:lnTo>
                <a:lnTo>
                  <a:pt x="1540002" y="527305"/>
                </a:lnTo>
                <a:lnTo>
                  <a:pt x="0" y="527305"/>
                </a:lnTo>
                <a:close/>
                <a:moveTo>
                  <a:pt x="0" y="108967"/>
                </a:moveTo>
                <a:lnTo>
                  <a:pt x="1540002" y="108967"/>
                </a:lnTo>
                <a:lnTo>
                  <a:pt x="1648968" y="0"/>
                </a:lnTo>
                <a:moveTo>
                  <a:pt x="1540002" y="108967"/>
                </a:moveTo>
                <a:lnTo>
                  <a:pt x="1540002" y="527305"/>
                </a:lnTo>
              </a:path>
            </a:pathLst>
          </a:custGeom>
          <a:noFill/>
          <a:ln w="609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1016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/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reeform 2471"/>
          <p:cNvSpPr/>
          <p:nvPr>
            <p:custDataLst>
              <p:tags r:id="rId122"/>
            </p:custDataLst>
          </p:nvPr>
        </p:nvSpPr>
        <p:spPr>
          <a:xfrm>
            <a:off x="5581650" y="5231130"/>
            <a:ext cx="339090" cy="93345"/>
          </a:xfrm>
          <a:custGeom>
            <a:avLst/>
            <a:gdLst/>
            <a:ahLst/>
            <a:cxnLst/>
            <a:rect l="0" t="0" r="0" b="0"/>
            <a:pathLst>
              <a:path w="1545336" h="425196">
                <a:moveTo>
                  <a:pt x="0" y="425196"/>
                </a:moveTo>
                <a:lnTo>
                  <a:pt x="1545336" y="425196"/>
                </a:lnTo>
                <a:lnTo>
                  <a:pt x="1545336" y="0"/>
                </a:lnTo>
                <a:lnTo>
                  <a:pt x="0" y="0"/>
                </a:lnTo>
                <a:lnTo>
                  <a:pt x="0" y="42519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095" cap="flat" cmpd="sng" algn="ctr">
            <a:noFill/>
            <a:prstDash val="solid"/>
            <a:miter lim="800000"/>
          </a:ln>
          <a:effectLst/>
        </p:spPr>
        <p:style>
          <a:lnRef idx="2">
            <a:srgbClr val="2555C1">
              <a:shade val="50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圆角矩形 59"/>
          <p:cNvSpPr/>
          <p:nvPr>
            <p:custDataLst>
              <p:tags r:id="rId123"/>
            </p:custDataLst>
          </p:nvPr>
        </p:nvSpPr>
        <p:spPr>
          <a:xfrm>
            <a:off x="601599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圆角矩形 59"/>
          <p:cNvSpPr/>
          <p:nvPr>
            <p:custDataLst>
              <p:tags r:id="rId124"/>
            </p:custDataLst>
          </p:nvPr>
        </p:nvSpPr>
        <p:spPr>
          <a:xfrm>
            <a:off x="647573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圆角矩形 59"/>
          <p:cNvSpPr/>
          <p:nvPr>
            <p:custDataLst>
              <p:tags r:id="rId125"/>
            </p:custDataLst>
          </p:nvPr>
        </p:nvSpPr>
        <p:spPr>
          <a:xfrm>
            <a:off x="555625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圆角矩形 59"/>
          <p:cNvSpPr/>
          <p:nvPr>
            <p:custDataLst>
              <p:tags r:id="rId126"/>
            </p:custDataLst>
          </p:nvPr>
        </p:nvSpPr>
        <p:spPr>
          <a:xfrm>
            <a:off x="6935470" y="5417820"/>
            <a:ext cx="415290" cy="495300"/>
          </a:xfrm>
          <a:prstGeom prst="roundRect">
            <a:avLst>
              <a:gd name="adj" fmla="val 2928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499110" dist="249555" dir="5400000" sx="90000" sy="90000" algn="ctr" rotWithShape="0">
              <a:srgbClr val="44546A">
                <a:lumMod val="75000"/>
                <a:alpha val="9735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rgbClr val="2555C1">
              <a:shade val="15000"/>
            </a:srgbClr>
          </a:lnRef>
          <a:fillRef idx="1">
            <a:srgbClr val="2555C1"/>
          </a:fillRef>
          <a:effectRef idx="0">
            <a:srgbClr val="2555C1"/>
          </a:effectRef>
          <a:fontRef idx="minor">
            <a:sysClr val="window" lastClr="FFFFFF"/>
          </a:fontRef>
        </p:style>
        <p:txBody>
          <a:bodyPr vertOverflow="overflow" horzOverflow="overflow" vert="horz" wrap="square" lIns="119786" tIns="59893" rIns="119786" bIns="59893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236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等腰三角形 34"/>
          <p:cNvSpPr/>
          <p:nvPr>
            <p:custDataLst>
              <p:tags r:id="rId127"/>
            </p:custDataLst>
          </p:nvPr>
        </p:nvSpPr>
        <p:spPr>
          <a:xfrm rot="5400000">
            <a:off x="689102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6" name="等腰三角形 35"/>
          <p:cNvSpPr/>
          <p:nvPr>
            <p:custDataLst>
              <p:tags r:id="rId128"/>
            </p:custDataLst>
          </p:nvPr>
        </p:nvSpPr>
        <p:spPr>
          <a:xfrm rot="5400000">
            <a:off x="549148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3" name="等腰三角形 42"/>
          <p:cNvSpPr/>
          <p:nvPr>
            <p:custDataLst>
              <p:tags r:id="rId129"/>
            </p:custDataLst>
          </p:nvPr>
        </p:nvSpPr>
        <p:spPr>
          <a:xfrm rot="5400000">
            <a:off x="596646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4" name="等腰三角形 43"/>
          <p:cNvSpPr/>
          <p:nvPr>
            <p:custDataLst>
              <p:tags r:id="rId130"/>
            </p:custDataLst>
          </p:nvPr>
        </p:nvSpPr>
        <p:spPr>
          <a:xfrm rot="5400000">
            <a:off x="6431280" y="5224780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5" name="等腰三角形 44"/>
          <p:cNvSpPr/>
          <p:nvPr>
            <p:custDataLst>
              <p:tags r:id="rId131"/>
            </p:custDataLst>
          </p:nvPr>
        </p:nvSpPr>
        <p:spPr>
          <a:xfrm rot="16200000" flipH="1">
            <a:off x="6606540" y="601535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6" name="等腰三角形 45"/>
          <p:cNvSpPr/>
          <p:nvPr>
            <p:custDataLst>
              <p:tags r:id="rId132"/>
            </p:custDataLst>
          </p:nvPr>
        </p:nvSpPr>
        <p:spPr>
          <a:xfrm rot="16200000" flipH="1">
            <a:off x="5814695" y="601535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9" name="直接连接符 48"/>
          <p:cNvCxnSpPr/>
          <p:nvPr>
            <p:custDataLst>
              <p:tags r:id="rId133"/>
            </p:custDataLst>
          </p:nvPr>
        </p:nvCxnSpPr>
        <p:spPr>
          <a:xfrm flipH="1">
            <a:off x="4997450" y="5270500"/>
            <a:ext cx="98425" cy="0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cxnSp>
        <p:nvCxnSpPr>
          <p:cNvPr id="50" name="直接连接符 49"/>
          <p:cNvCxnSpPr/>
          <p:nvPr>
            <p:custDataLst>
              <p:tags r:id="rId134"/>
            </p:custDataLst>
          </p:nvPr>
        </p:nvCxnSpPr>
        <p:spPr>
          <a:xfrm flipV="1">
            <a:off x="5005070" y="5269865"/>
            <a:ext cx="0" cy="977265"/>
          </a:xfrm>
          <a:prstGeom prst="line">
            <a:avLst/>
          </a:prstGeom>
          <a:noFill/>
          <a:ln w="1905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1">
            <a:srgbClr val="2555C1"/>
          </a:lnRef>
          <a:fillRef idx="0">
            <a:srgbClr val="2555C1"/>
          </a:fillRef>
          <a:effectRef idx="0">
            <a:srgbClr val="2555C1"/>
          </a:effectRef>
          <a:fontRef idx="minor">
            <a:sysClr val="windowText" lastClr="000000"/>
          </a:fontRef>
        </p:style>
      </p:cxnSp>
      <p:sp>
        <p:nvSpPr>
          <p:cNvPr id="51" name="等腰三角形 50"/>
          <p:cNvSpPr/>
          <p:nvPr>
            <p:custDataLst>
              <p:tags r:id="rId135"/>
            </p:custDataLst>
          </p:nvPr>
        </p:nvSpPr>
        <p:spPr>
          <a:xfrm flipH="1">
            <a:off x="4964430" y="5671185"/>
            <a:ext cx="75565" cy="75565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>
            <p:custDataLst>
              <p:tags r:id="rId136"/>
            </p:custDataLst>
          </p:nvPr>
        </p:nvGrpSpPr>
        <p:grpSpPr>
          <a:xfrm flipH="1">
            <a:off x="7336790" y="5250180"/>
            <a:ext cx="130810" cy="976630"/>
            <a:chOff x="8018" y="8499"/>
            <a:chExt cx="206" cy="1538"/>
          </a:xfrm>
        </p:grpSpPr>
        <p:cxnSp>
          <p:nvCxnSpPr>
            <p:cNvPr id="52" name="直接连接符 51"/>
            <p:cNvCxnSpPr/>
            <p:nvPr>
              <p:custDataLst>
                <p:tags r:id="rId137"/>
              </p:custDataLst>
            </p:nvPr>
          </p:nvCxnSpPr>
          <p:spPr>
            <a:xfrm rot="10800000">
              <a:off x="8083" y="10024"/>
              <a:ext cx="106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138"/>
              </p:custDataLst>
            </p:nvPr>
          </p:nvCxnSpPr>
          <p:spPr>
            <a:xfrm flipH="1">
              <a:off x="8070" y="8500"/>
              <a:ext cx="155" cy="0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139"/>
              </p:custDataLst>
            </p:nvPr>
          </p:nvCxnSpPr>
          <p:spPr>
            <a:xfrm flipV="1">
              <a:off x="8082" y="8499"/>
              <a:ext cx="0" cy="1539"/>
            </a:xfrm>
            <a:prstGeom prst="line">
              <a:avLst/>
            </a:prstGeom>
            <a:noFill/>
            <a:ln w="1905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1">
              <a:srgbClr val="2555C1"/>
            </a:lnRef>
            <a:fillRef idx="0">
              <a:srgbClr val="2555C1"/>
            </a:fillRef>
            <a:effectRef idx="0">
              <a:srgbClr val="2555C1"/>
            </a:effectRef>
            <a:fontRef idx="minor">
              <a:sysClr val="windowText" lastClr="000000"/>
            </a:fontRef>
          </p:style>
        </p:cxnSp>
        <p:sp>
          <p:nvSpPr>
            <p:cNvPr id="55" name="等腰三角形 54"/>
            <p:cNvSpPr/>
            <p:nvPr>
              <p:custDataLst>
                <p:tags r:id="rId140"/>
              </p:custDataLst>
            </p:nvPr>
          </p:nvSpPr>
          <p:spPr>
            <a:xfrm flipH="1" flipV="1">
              <a:off x="8018" y="9131"/>
              <a:ext cx="119" cy="119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3" name="Google Shape;464;p24"/>
          <p:cNvSpPr/>
          <p:nvPr>
            <p:custDataLst>
              <p:tags r:id="rId141"/>
            </p:custDataLst>
          </p:nvPr>
        </p:nvSpPr>
        <p:spPr>
          <a:xfrm>
            <a:off x="2690495" y="2694305"/>
            <a:ext cx="639445" cy="76136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Google Shape;450;p24"/>
          <p:cNvSpPr/>
          <p:nvPr>
            <p:custDataLst>
              <p:tags r:id="rId142"/>
            </p:custDataLst>
          </p:nvPr>
        </p:nvSpPr>
        <p:spPr>
          <a:xfrm>
            <a:off x="1382395" y="2464435"/>
            <a:ext cx="1948180" cy="217170"/>
          </a:xfrm>
          <a:custGeom>
            <a:avLst/>
            <a:gdLst/>
            <a:ahLst/>
            <a:cxnLst/>
            <a:rect l="l" t="t" r="r" b="b"/>
            <a:pathLst>
              <a:path w="21588" h="21575" extrusionOk="0">
                <a:moveTo>
                  <a:pt x="109" y="19963"/>
                </a:moveTo>
                <a:cubicBezTo>
                  <a:pt x="41" y="20039"/>
                  <a:pt x="-6" y="20418"/>
                  <a:pt x="0" y="20836"/>
                </a:cubicBezTo>
                <a:cubicBezTo>
                  <a:pt x="7" y="21266"/>
                  <a:pt x="68" y="21590"/>
                  <a:pt x="139" y="21574"/>
                </a:cubicBezTo>
                <a:lnTo>
                  <a:pt x="21476" y="21515"/>
                </a:lnTo>
                <a:cubicBezTo>
                  <a:pt x="21535" y="21473"/>
                  <a:pt x="21581" y="21191"/>
                  <a:pt x="21587" y="20835"/>
                </a:cubicBezTo>
                <a:cubicBezTo>
                  <a:pt x="21594" y="20443"/>
                  <a:pt x="21552" y="20082"/>
                  <a:pt x="21489" y="19993"/>
                </a:cubicBezTo>
                <a:lnTo>
                  <a:pt x="10898" y="125"/>
                </a:lnTo>
                <a:cubicBezTo>
                  <a:pt x="10866" y="51"/>
                  <a:pt x="10833" y="10"/>
                  <a:pt x="10798" y="2"/>
                </a:cubicBezTo>
                <a:cubicBezTo>
                  <a:pt x="10748" y="-10"/>
                  <a:pt x="10699" y="50"/>
                  <a:pt x="10653" y="176"/>
                </a:cubicBezTo>
                <a:lnTo>
                  <a:pt x="109" y="1996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22868" tIns="22868" rIns="22868" bIns="22868" anchor="t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Google Shape;452;p24"/>
          <p:cNvSpPr/>
          <p:nvPr>
            <p:custDataLst>
              <p:tags r:id="rId143"/>
            </p:custDataLst>
          </p:nvPr>
        </p:nvSpPr>
        <p:spPr>
          <a:xfrm>
            <a:off x="1386205" y="2694305"/>
            <a:ext cx="639445" cy="76263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Google Shape;453;p24"/>
          <p:cNvSpPr/>
          <p:nvPr>
            <p:custDataLst>
              <p:tags r:id="rId144"/>
            </p:custDataLst>
          </p:nvPr>
        </p:nvSpPr>
        <p:spPr>
          <a:xfrm>
            <a:off x="138620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Google Shape;458;p24"/>
          <p:cNvSpPr/>
          <p:nvPr>
            <p:custDataLst>
              <p:tags r:id="rId145"/>
            </p:custDataLst>
          </p:nvPr>
        </p:nvSpPr>
        <p:spPr>
          <a:xfrm>
            <a:off x="2038985" y="2694305"/>
            <a:ext cx="639445" cy="762635"/>
          </a:xfrm>
          <a:prstGeom prst="roundRect">
            <a:avLst>
              <a:gd name="adj" fmla="val 2676"/>
            </a:avLst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91444" tIns="45722" rIns="91444" bIns="45722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8" name="Google Shape;459;p24"/>
          <p:cNvSpPr/>
          <p:nvPr>
            <p:custDataLst>
              <p:tags r:id="rId146"/>
            </p:custDataLst>
          </p:nvPr>
        </p:nvSpPr>
        <p:spPr>
          <a:xfrm>
            <a:off x="203898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Google Shape;465;p24"/>
          <p:cNvSpPr/>
          <p:nvPr>
            <p:custDataLst>
              <p:tags r:id="rId147"/>
            </p:custDataLst>
          </p:nvPr>
        </p:nvSpPr>
        <p:spPr>
          <a:xfrm>
            <a:off x="2690495" y="2694305"/>
            <a:ext cx="639445" cy="99060"/>
          </a:xfrm>
          <a:custGeom>
            <a:avLst/>
            <a:gdLst/>
            <a:ahLst/>
            <a:cxnLst/>
            <a:rect l="l" t="t" r="r" b="b"/>
            <a:pathLst>
              <a:path w="21599" h="21600" extrusionOk="0">
                <a:moveTo>
                  <a:pt x="688" y="0"/>
                </a:moveTo>
                <a:cubicBezTo>
                  <a:pt x="486" y="0"/>
                  <a:pt x="365" y="5"/>
                  <a:pt x="284" y="209"/>
                </a:cubicBezTo>
                <a:cubicBezTo>
                  <a:pt x="167" y="466"/>
                  <a:pt x="75" y="1022"/>
                  <a:pt x="33" y="1728"/>
                </a:cubicBezTo>
                <a:cubicBezTo>
                  <a:pt x="-1" y="2217"/>
                  <a:pt x="0" y="2947"/>
                  <a:pt x="0" y="4171"/>
                </a:cubicBezTo>
                <a:lnTo>
                  <a:pt x="0" y="21600"/>
                </a:lnTo>
                <a:lnTo>
                  <a:pt x="21599" y="21600"/>
                </a:lnTo>
                <a:lnTo>
                  <a:pt x="21599" y="4171"/>
                </a:lnTo>
                <a:cubicBezTo>
                  <a:pt x="21599" y="2947"/>
                  <a:pt x="21598" y="2217"/>
                  <a:pt x="21564" y="1728"/>
                </a:cubicBezTo>
                <a:cubicBezTo>
                  <a:pt x="21522" y="1022"/>
                  <a:pt x="21430" y="466"/>
                  <a:pt x="21313" y="209"/>
                </a:cubicBezTo>
                <a:cubicBezTo>
                  <a:pt x="21232" y="5"/>
                  <a:pt x="21111" y="0"/>
                  <a:pt x="20909" y="0"/>
                </a:cubicBezTo>
                <a:lnTo>
                  <a:pt x="6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525455"/>
              </a:buClr>
              <a:buSzPts val="1100"/>
            </a:pPr>
            <a:endParaRPr sz="1465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©天蝎PPT1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 flipH="1">
            <a:off x="4431665" y="1270"/>
            <a:ext cx="7755825" cy="68580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1270"/>
            <a:ext cx="12268200" cy="6858000"/>
          </a:xfrm>
          <a:prstGeom prst="rect">
            <a:avLst/>
          </a:prstGeom>
          <a:gradFill>
            <a:gsLst>
              <a:gs pos="0">
                <a:srgbClr val="EDEEF2">
                  <a:lumMod val="0"/>
                  <a:lumOff val="100000"/>
                </a:srgbClr>
              </a:gs>
              <a:gs pos="100000">
                <a:srgbClr val="DBDBDD">
                  <a:alpha val="5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-5080"/>
            <a:ext cx="5048250" cy="6865620"/>
          </a:xfrm>
          <a:prstGeom prst="rect">
            <a:avLst/>
          </a:pr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rgbClr val="0046FF">
              <a:shade val="50000"/>
            </a:srgbClr>
          </a:lnRef>
          <a:fillRef idx="1">
            <a:srgbClr val="0046FF"/>
          </a:fillRef>
          <a:effectRef idx="0">
            <a:srgbClr val="0046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85470" y="1805940"/>
            <a:ext cx="3877310" cy="1181735"/>
            <a:chOff x="4274" y="7459"/>
            <a:chExt cx="6106" cy="1861"/>
          </a:xfrm>
        </p:grpSpPr>
        <p:sp>
          <p:nvSpPr>
            <p:cNvPr id="6" name="文本框 5"/>
            <p:cNvSpPr txBox="1"/>
            <p:nvPr/>
          </p:nvSpPr>
          <p:spPr>
            <a:xfrm>
              <a:off x="4274" y="7459"/>
              <a:ext cx="6106" cy="91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zh-CN" altLang="en-US" sz="3200" b="1" spc="-15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屋顶</a:t>
              </a:r>
              <a:r>
                <a:rPr lang="en-US" altLang="zh-CN" sz="3200" b="1" spc="-15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3200" b="1" spc="-15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战略屋架构</a:t>
              </a:r>
              <a:endParaRPr lang="zh-CN" altLang="en-US" sz="3200" b="1" spc="-15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294" y="8789"/>
              <a:ext cx="5370" cy="53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 fontAlgn="ctr">
                <a:lnSpc>
                  <a:spcPct val="100000"/>
                </a:lnSpc>
              </a:pPr>
              <a:r>
                <a:rPr lang="en-US" altLang="zh-CN" sz="1600">
                  <a:solidFill>
                    <a:schemeClr val="accent6">
                      <a:alpha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Strategy House Framework</a:t>
              </a:r>
              <a:endParaRPr lang="en-US" altLang="zh-CN" sz="1600">
                <a:solidFill>
                  <a:schemeClr val="accent6">
                    <a:alpha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041" y="8400"/>
              <a:ext cx="624" cy="5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61365" y="3835400"/>
            <a:ext cx="3525520" cy="1797685"/>
            <a:chOff x="2124" y="1201"/>
            <a:chExt cx="3054" cy="1557"/>
          </a:xfrm>
        </p:grpSpPr>
        <p:sp>
          <p:nvSpPr>
            <p:cNvPr id="10" name="Google Shape;464;p24"/>
            <p:cNvSpPr/>
            <p:nvPr/>
          </p:nvSpPr>
          <p:spPr>
            <a:xfrm>
              <a:off x="4176" y="1562"/>
              <a:ext cx="1003" cy="1194"/>
            </a:xfrm>
            <a:prstGeom prst="roundRect">
              <a:avLst>
                <a:gd name="adj" fmla="val 26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4" tIns="45722" rIns="91444" bIns="45722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" name="Google Shape;450;p24"/>
            <p:cNvSpPr/>
            <p:nvPr/>
          </p:nvSpPr>
          <p:spPr>
            <a:xfrm>
              <a:off x="2124" y="1201"/>
              <a:ext cx="3055" cy="341"/>
            </a:xfrm>
            <a:custGeom>
              <a:avLst/>
              <a:gdLst/>
              <a:ahLst/>
              <a:cxnLst/>
              <a:rect l="l" t="t" r="r" b="b"/>
              <a:pathLst>
                <a:path w="21588" h="21575" extrusionOk="0">
                  <a:moveTo>
                    <a:pt x="109" y="19963"/>
                  </a:moveTo>
                  <a:cubicBezTo>
                    <a:pt x="41" y="20039"/>
                    <a:pt x="-6" y="20418"/>
                    <a:pt x="0" y="20836"/>
                  </a:cubicBezTo>
                  <a:cubicBezTo>
                    <a:pt x="7" y="21266"/>
                    <a:pt x="68" y="21590"/>
                    <a:pt x="139" y="21574"/>
                  </a:cubicBezTo>
                  <a:lnTo>
                    <a:pt x="21476" y="21515"/>
                  </a:lnTo>
                  <a:cubicBezTo>
                    <a:pt x="21535" y="21473"/>
                    <a:pt x="21581" y="21191"/>
                    <a:pt x="21587" y="20835"/>
                  </a:cubicBezTo>
                  <a:cubicBezTo>
                    <a:pt x="21594" y="20443"/>
                    <a:pt x="21552" y="20082"/>
                    <a:pt x="21489" y="19993"/>
                  </a:cubicBezTo>
                  <a:lnTo>
                    <a:pt x="10898" y="125"/>
                  </a:lnTo>
                  <a:cubicBezTo>
                    <a:pt x="10866" y="51"/>
                    <a:pt x="10833" y="10"/>
                    <a:pt x="10798" y="2"/>
                  </a:cubicBezTo>
                  <a:cubicBezTo>
                    <a:pt x="10748" y="-10"/>
                    <a:pt x="10699" y="50"/>
                    <a:pt x="10653" y="176"/>
                  </a:cubicBezTo>
                  <a:lnTo>
                    <a:pt x="109" y="199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22868" tIns="22868" rIns="22868" bIns="22868" anchor="t" anchorCtr="0">
              <a:noAutofit/>
            </a:bodyPr>
            <a:lstStyle/>
            <a:p>
              <a:pPr algn="ctr">
                <a:buClr>
                  <a:srgbClr val="525455"/>
                </a:buClr>
                <a:buSzPts val="1100"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Google Shape;452;p24"/>
            <p:cNvSpPr/>
            <p:nvPr/>
          </p:nvSpPr>
          <p:spPr>
            <a:xfrm>
              <a:off x="2130" y="1562"/>
              <a:ext cx="1003" cy="1196"/>
            </a:xfrm>
            <a:prstGeom prst="roundRect">
              <a:avLst>
                <a:gd name="adj" fmla="val 26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4" tIns="45722" rIns="91444" bIns="45722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" name="Google Shape;453;p24"/>
            <p:cNvSpPr/>
            <p:nvPr/>
          </p:nvSpPr>
          <p:spPr>
            <a:xfrm>
              <a:off x="2130" y="1562"/>
              <a:ext cx="1003" cy="155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688" y="0"/>
                  </a:moveTo>
                  <a:cubicBezTo>
                    <a:pt x="486" y="0"/>
                    <a:pt x="365" y="5"/>
                    <a:pt x="284" y="209"/>
                  </a:cubicBezTo>
                  <a:cubicBezTo>
                    <a:pt x="167" y="466"/>
                    <a:pt x="75" y="1022"/>
                    <a:pt x="33" y="1728"/>
                  </a:cubicBezTo>
                  <a:cubicBezTo>
                    <a:pt x="-1" y="2217"/>
                    <a:pt x="0" y="2947"/>
                    <a:pt x="0" y="4171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4171"/>
                  </a:lnTo>
                  <a:cubicBezTo>
                    <a:pt x="21599" y="2947"/>
                    <a:pt x="21598" y="2217"/>
                    <a:pt x="21564" y="1728"/>
                  </a:cubicBezTo>
                  <a:cubicBezTo>
                    <a:pt x="21522" y="1022"/>
                    <a:pt x="21430" y="466"/>
                    <a:pt x="21313" y="209"/>
                  </a:cubicBezTo>
                  <a:cubicBezTo>
                    <a:pt x="21232" y="5"/>
                    <a:pt x="21111" y="0"/>
                    <a:pt x="20909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525455"/>
                </a:buClr>
                <a:buSzPts val="1100"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" name="Google Shape;458;p24"/>
            <p:cNvSpPr/>
            <p:nvPr/>
          </p:nvSpPr>
          <p:spPr>
            <a:xfrm>
              <a:off x="3153" y="1562"/>
              <a:ext cx="1003" cy="1196"/>
            </a:xfrm>
            <a:prstGeom prst="roundRect">
              <a:avLst>
                <a:gd name="adj" fmla="val 2676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spcFirstLastPara="0" vert="horz" wrap="square" lIns="91444" tIns="45722" rIns="91444" bIns="45722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Google Shape;459;p24"/>
            <p:cNvSpPr/>
            <p:nvPr/>
          </p:nvSpPr>
          <p:spPr>
            <a:xfrm>
              <a:off x="3153" y="1562"/>
              <a:ext cx="1003" cy="155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688" y="0"/>
                  </a:moveTo>
                  <a:cubicBezTo>
                    <a:pt x="486" y="0"/>
                    <a:pt x="365" y="5"/>
                    <a:pt x="284" y="209"/>
                  </a:cubicBezTo>
                  <a:cubicBezTo>
                    <a:pt x="167" y="466"/>
                    <a:pt x="75" y="1022"/>
                    <a:pt x="33" y="1728"/>
                  </a:cubicBezTo>
                  <a:cubicBezTo>
                    <a:pt x="-1" y="2217"/>
                    <a:pt x="0" y="2947"/>
                    <a:pt x="0" y="4171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4171"/>
                  </a:lnTo>
                  <a:cubicBezTo>
                    <a:pt x="21599" y="2947"/>
                    <a:pt x="21598" y="2217"/>
                    <a:pt x="21564" y="1728"/>
                  </a:cubicBezTo>
                  <a:cubicBezTo>
                    <a:pt x="21522" y="1022"/>
                    <a:pt x="21430" y="466"/>
                    <a:pt x="21313" y="209"/>
                  </a:cubicBezTo>
                  <a:cubicBezTo>
                    <a:pt x="21232" y="5"/>
                    <a:pt x="21111" y="0"/>
                    <a:pt x="20909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525455"/>
                </a:buClr>
                <a:buSzPts val="1100"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" name="Google Shape;465;p24"/>
            <p:cNvSpPr/>
            <p:nvPr/>
          </p:nvSpPr>
          <p:spPr>
            <a:xfrm>
              <a:off x="4176" y="1562"/>
              <a:ext cx="1003" cy="155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688" y="0"/>
                  </a:moveTo>
                  <a:cubicBezTo>
                    <a:pt x="486" y="0"/>
                    <a:pt x="365" y="5"/>
                    <a:pt x="284" y="209"/>
                  </a:cubicBezTo>
                  <a:cubicBezTo>
                    <a:pt x="167" y="466"/>
                    <a:pt x="75" y="1022"/>
                    <a:pt x="33" y="1728"/>
                  </a:cubicBezTo>
                  <a:cubicBezTo>
                    <a:pt x="-1" y="2217"/>
                    <a:pt x="0" y="2947"/>
                    <a:pt x="0" y="4171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4171"/>
                  </a:lnTo>
                  <a:cubicBezTo>
                    <a:pt x="21599" y="2947"/>
                    <a:pt x="21598" y="2217"/>
                    <a:pt x="21564" y="1728"/>
                  </a:cubicBezTo>
                  <a:cubicBezTo>
                    <a:pt x="21522" y="1022"/>
                    <a:pt x="21430" y="466"/>
                    <a:pt x="21313" y="209"/>
                  </a:cubicBezTo>
                  <a:cubicBezTo>
                    <a:pt x="21232" y="5"/>
                    <a:pt x="21111" y="0"/>
                    <a:pt x="20909" y="0"/>
                  </a:cubicBezTo>
                  <a:lnTo>
                    <a:pt x="688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525455"/>
                </a:buClr>
                <a:buSzPts val="1100"/>
              </a:pPr>
              <a:endParaRPr sz="1465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000885" y="833755"/>
            <a:ext cx="1046480" cy="86042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lvl="0" algn="ctr" fontAlgn="ctr">
              <a:buClrTx/>
              <a:buSzTx/>
              <a:buFontTx/>
            </a:pPr>
            <a:r>
              <a:rPr lang="en-US" altLang="zh-CN" sz="5000" b="1">
                <a:solidFill>
                  <a:schemeClr val="accent1">
                    <a:lumMod val="60000"/>
                    <a:lumOff val="40000"/>
                    <a:alpha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endParaRPr lang="en-US" altLang="zh-CN" sz="5000" b="1">
              <a:solidFill>
                <a:schemeClr val="accent1">
                  <a:lumMod val="60000"/>
                  <a:lumOff val="40000"/>
                  <a:alpha val="6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90870" y="2173605"/>
            <a:ext cx="571246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设计元素：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主要由屋顶、支柱层、地基层组成，屋顶层（</a:t>
            </a:r>
            <a:r>
              <a:rPr lang="zh-CN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量化目标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）、支柱层（多维度拆解）、底基层（基础能力）。</a:t>
            </a:r>
            <a:endParaRPr lang="zh-CN" altLang="en-US" sz="14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应用场景：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主要应用在企业战略汇报、组织架构变革、商业计划书等场景中，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实现将战略目标视觉化、逻辑关系结构化，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抽象概念具象化。</a:t>
            </a:r>
            <a:endParaRPr lang="zh-CN" altLang="en-US" sz="14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核心关键词：</a:t>
            </a:r>
            <a:r>
              <a:rPr lang="zh-CN" altLang="en-US" sz="14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「上层目标可量化、中层支柱可操作、底层保障可执行」。</a:t>
            </a:r>
            <a:endParaRPr lang="zh-CN" altLang="en-US" sz="14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图片 145" descr="A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060000" flipH="1">
            <a:off x="703580" y="-306070"/>
            <a:ext cx="3044190" cy="4309745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数智驱动的数字化转型架构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8" name="©显眼包PPT5"/>
          <p:cNvSpPr txBox="1"/>
          <p:nvPr/>
        </p:nvSpPr>
        <p:spPr>
          <a:xfrm>
            <a:off x="1598930" y="3234690"/>
            <a:ext cx="230441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A-I-S-A-S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用户精细运营策略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©显眼包PPT6"/>
          <p:cNvSpPr txBox="1"/>
          <p:nvPr/>
        </p:nvSpPr>
        <p:spPr>
          <a:xfrm>
            <a:off x="4486275" y="3291840"/>
            <a:ext cx="327977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O-S-M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产品生命周期增长路径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©显眼包PPT7"/>
          <p:cNvSpPr txBox="1"/>
          <p:nvPr/>
        </p:nvSpPr>
        <p:spPr>
          <a:xfrm>
            <a:off x="7884795" y="3234690"/>
            <a:ext cx="327723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F-A-C-T+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内容运营生态轴的场景运营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©显眼包PPT13"/>
          <p:cNvSpPr/>
          <p:nvPr/>
        </p:nvSpPr>
        <p:spPr>
          <a:xfrm>
            <a:off x="1084580" y="2896235"/>
            <a:ext cx="10055860" cy="239395"/>
          </a:xfrm>
          <a:prstGeom prst="trapezoid">
            <a:avLst>
              <a:gd name="adj" fmla="val 22382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5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3234290" y="1065045"/>
            <a:ext cx="5792235" cy="606745"/>
            <a:chOff x="3671" y="-1290"/>
            <a:chExt cx="11146" cy="1291"/>
          </a:xfrm>
        </p:grpSpPr>
        <p:sp>
          <p:nvSpPr>
            <p:cNvPr id="334" name="梯形 333"/>
            <p:cNvSpPr/>
            <p:nvPr/>
          </p:nvSpPr>
          <p:spPr>
            <a:xfrm>
              <a:off x="3671" y="-795"/>
              <a:ext cx="11146" cy="796"/>
            </a:xfrm>
            <a:prstGeom prst="trapezoid">
              <a:avLst>
                <a:gd name="adj" fmla="val 443339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  <a:gs pos="41000">
                    <a:schemeClr val="accent5">
                      <a:lumMod val="60000"/>
                      <a:lumOff val="40000"/>
                      <a:alpha val="0"/>
                    </a:schemeClr>
                  </a:gs>
                  <a:gs pos="7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5" name="紫荆的职场Point28"/>
            <p:cNvSpPr/>
            <p:nvPr/>
          </p:nvSpPr>
          <p:spPr>
            <a:xfrm>
              <a:off x="6808" y="-1290"/>
              <a:ext cx="4897" cy="499"/>
            </a:xfrm>
            <a:prstGeom prst="triangle">
              <a:avLst>
                <a:gd name="adj" fmla="val 50434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6" name="紫荆的职场Point28"/>
            <p:cNvSpPr/>
            <p:nvPr/>
          </p:nvSpPr>
          <p:spPr>
            <a:xfrm>
              <a:off x="5480" y="-1245"/>
              <a:ext cx="7479" cy="112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40" name="©显眼包PPT5"/>
          <p:cNvSpPr/>
          <p:nvPr/>
        </p:nvSpPr>
        <p:spPr>
          <a:xfrm>
            <a:off x="3223895" y="1671955"/>
            <a:ext cx="5808345" cy="281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战略决策平台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，作为统一入口和决策中心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©显眼包PPT16"/>
          <p:cNvSpPr txBox="1"/>
          <p:nvPr/>
        </p:nvSpPr>
        <p:spPr>
          <a:xfrm>
            <a:off x="5288237" y="1271337"/>
            <a:ext cx="152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一核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引领</a:t>
            </a:r>
            <a:endParaRPr kumimoji="0" lang="zh-CN" altLang="en-US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223895" y="1990725"/>
            <a:ext cx="1908000" cy="9696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50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5" name="©显眼包PPT24"/>
          <p:cNvSpPr/>
          <p:nvPr/>
        </p:nvSpPr>
        <p:spPr>
          <a:xfrm>
            <a:off x="3374390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1">
              <a:lumMod val="20000"/>
              <a:lumOff val="80000"/>
              <a:alpha val="6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战略执行体系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©显眼包PPT25"/>
          <p:cNvSpPr txBox="1"/>
          <p:nvPr/>
        </p:nvSpPr>
        <p:spPr>
          <a:xfrm>
            <a:off x="3330575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将战略目标分解为可执行计划，建立监控评估机制，驱动组织协同，确保战略逐级落地与动态校准。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71900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5">
                  <a:lumMod val="20000"/>
                  <a:lumOff val="80000"/>
                  <a:alpha val="5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119445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50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2" name="©显眼包PPT15"/>
          <p:cNvSpPr/>
          <p:nvPr/>
        </p:nvSpPr>
        <p:spPr>
          <a:xfrm>
            <a:off x="3218180" y="2960370"/>
            <a:ext cx="1913890" cy="762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4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©显眼包PPT15"/>
          <p:cNvSpPr/>
          <p:nvPr/>
        </p:nvSpPr>
        <p:spPr>
          <a:xfrm>
            <a:off x="5172075" y="2960370"/>
            <a:ext cx="1913890" cy="762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3" name="©显眼包PPT15"/>
          <p:cNvSpPr/>
          <p:nvPr/>
        </p:nvSpPr>
        <p:spPr>
          <a:xfrm>
            <a:off x="7119620" y="2960370"/>
            <a:ext cx="1913890" cy="762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4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4" name="©显眼包PPT24"/>
          <p:cNvSpPr/>
          <p:nvPr/>
        </p:nvSpPr>
        <p:spPr>
          <a:xfrm>
            <a:off x="7257415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1">
              <a:lumMod val="20000"/>
              <a:lumOff val="80000"/>
              <a:alpha val="65000"/>
            </a:schemeClr>
          </a:solidFill>
          <a:ln w="63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 运营支撑平台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©显眼包PPT25"/>
          <p:cNvSpPr txBox="1"/>
          <p:nvPr/>
        </p:nvSpPr>
        <p:spPr>
          <a:xfrm>
            <a:off x="7213600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通过流程标准化、绩效量化、风险管控与资源优化，构建高效稳定的运营保障体系，支撑业务持续运行。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上箭头 85"/>
          <p:cNvSpPr/>
          <p:nvPr/>
        </p:nvSpPr>
        <p:spPr>
          <a:xfrm>
            <a:off x="562546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7" name="上箭头 86"/>
          <p:cNvSpPr/>
          <p:nvPr/>
        </p:nvSpPr>
        <p:spPr>
          <a:xfrm>
            <a:off x="631634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232400" y="2308225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战略定位与方向指引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232400" y="2620010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5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信息整合与决策协同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03885" y="1102995"/>
            <a:ext cx="50546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08330" y="3135630"/>
            <a:ext cx="49657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856615" y="1219835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431165" y="139319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一核两翼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>
          <a:xfrm>
            <a:off x="856615" y="3135630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431165" y="3372485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四柱支撑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©显眼包PPT10"/>
          <p:cNvSpPr/>
          <p:nvPr/>
        </p:nvSpPr>
        <p:spPr>
          <a:xfrm>
            <a:off x="1109345" y="3135630"/>
            <a:ext cx="10017760" cy="4432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在运营支撑平台中体现为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流程管理、绩效管理、风险控制、资源调度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四个支柱支撑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矩形: 圆角 118"/>
          <p:cNvSpPr/>
          <p:nvPr/>
        </p:nvSpPr>
        <p:spPr>
          <a:xfrm>
            <a:off x="264795" y="5030470"/>
            <a:ext cx="11661140" cy="117348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2700" cap="flat">
            <a:gradFill>
              <a:gsLst>
                <a:gs pos="35000">
                  <a:schemeClr val="accent2">
                    <a:alpha val="0"/>
                  </a:schemeClr>
                </a:gs>
                <a:gs pos="0">
                  <a:schemeClr val="accent2"/>
                </a:gs>
                <a:gs pos="65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4200000" scaled="0"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825500"/>
            <a:endParaRPr lang="zh-CN" altLang="en-US" sz="11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5" name="梯形 304"/>
          <p:cNvSpPr/>
          <p:nvPr/>
        </p:nvSpPr>
        <p:spPr>
          <a:xfrm>
            <a:off x="254000" y="4784090"/>
            <a:ext cx="11685270" cy="246380"/>
          </a:xfrm>
          <a:prstGeom prst="trapezoid">
            <a:avLst>
              <a:gd name="adj" fmla="val 17830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98165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4" name="©显眼包PPT8-1"/>
          <p:cNvSpPr/>
          <p:nvPr/>
        </p:nvSpPr>
        <p:spPr>
          <a:xfrm>
            <a:off x="264795" y="6203950"/>
            <a:ext cx="11674475" cy="42164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底层支撑的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经营管理中枢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，共同构成从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的完整经营管理闭环</a:t>
            </a:r>
            <a:endParaRPr lang="zh-CN" altLang="en-US" sz="1600" b="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5" name="©显眼包PPT8-2"/>
          <p:cNvSpPr/>
          <p:nvPr/>
        </p:nvSpPr>
        <p:spPr>
          <a:xfrm>
            <a:off x="267335" y="5741670"/>
            <a:ext cx="11671300" cy="464185"/>
          </a:xfrm>
          <a:prstGeom prst="trapezoid">
            <a:avLst>
              <a:gd name="adj" fmla="val 20725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431165" y="490855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3" name="直接箭头连接符 622"/>
          <p:cNvCxnSpPr/>
          <p:nvPr/>
        </p:nvCxnSpPr>
        <p:spPr>
          <a:xfrm>
            <a:off x="856615" y="5095240"/>
            <a:ext cx="0" cy="103314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5" name="组合 344"/>
          <p:cNvGrpSpPr/>
          <p:nvPr/>
        </p:nvGrpSpPr>
        <p:grpSpPr>
          <a:xfrm>
            <a:off x="3226435" y="5205730"/>
            <a:ext cx="938530" cy="821690"/>
            <a:chOff x="4993" y="8155"/>
            <a:chExt cx="1478" cy="1294"/>
          </a:xfrm>
        </p:grpSpPr>
        <p:grpSp>
          <p:nvGrpSpPr>
            <p:cNvPr id="69" name="组合 68"/>
            <p:cNvGrpSpPr/>
            <p:nvPr/>
          </p:nvGrpSpPr>
          <p:grpSpPr>
            <a:xfrm>
              <a:off x="4993" y="8155"/>
              <a:ext cx="1478" cy="1295"/>
              <a:chOff x="2183" y="8155"/>
              <a:chExt cx="1478" cy="1295"/>
            </a:xfrm>
          </p:grpSpPr>
          <p:sp>
            <p:nvSpPr>
              <p:cNvPr id="76" name="菱形 75"/>
              <p:cNvSpPr/>
              <p:nvPr/>
            </p:nvSpPr>
            <p:spPr>
              <a:xfrm>
                <a:off x="2186" y="8955"/>
                <a:ext cx="1472" cy="494"/>
              </a:xfrm>
              <a:prstGeom prst="diamond">
                <a:avLst/>
              </a:prstGeom>
              <a:noFill/>
              <a:ln w="12700" cap="flat" cmpd="sng" algn="ctr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7" name="菱形 76"/>
              <p:cNvSpPr/>
              <p:nvPr/>
            </p:nvSpPr>
            <p:spPr>
              <a:xfrm>
                <a:off x="2322" y="9001"/>
                <a:ext cx="1200" cy="403"/>
              </a:xfrm>
              <a:prstGeom prst="diamond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8000"/>
                    </a:scheme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3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innerShdw blurRad="279400">
                  <a:schemeClr val="accent1">
                    <a:lumMod val="20000"/>
                    <a:lumOff val="80000"/>
                    <a:alpha val="63000"/>
                  </a:schemeClr>
                </a:innerShdw>
              </a:effectLst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 rot="0">
                <a:off x="3571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9" name="直接连接符 98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grpSp>
            <p:nvGrpSpPr>
              <p:cNvPr id="100" name="组合 99"/>
              <p:cNvGrpSpPr/>
              <p:nvPr/>
            </p:nvGrpSpPr>
            <p:grpSpPr>
              <a:xfrm rot="0" flipH="1">
                <a:off x="2183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107" name="直接连接符 106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8" name="直接连接符 107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09" name="直接连接符 108"/>
              <p:cNvCxnSpPr/>
              <p:nvPr/>
            </p:nvCxnSpPr>
            <p:spPr>
              <a:xfrm flipV="1">
                <a:off x="2923" y="9419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4" y="9420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7" name="菱形 116"/>
              <p:cNvSpPr/>
              <p:nvPr/>
            </p:nvSpPr>
            <p:spPr>
              <a:xfrm>
                <a:off x="2551" y="9078"/>
                <a:ext cx="742" cy="249"/>
              </a:xfrm>
              <a:prstGeom prst="diamond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6350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8" name="梯形 117"/>
              <p:cNvSpPr/>
              <p:nvPr/>
            </p:nvSpPr>
            <p:spPr>
              <a:xfrm rot="10800000">
                <a:off x="2444" y="8480"/>
                <a:ext cx="927" cy="752"/>
              </a:xfrm>
              <a:prstGeom prst="trapezoid">
                <a:avLst>
                  <a:gd name="adj" fmla="val 19469"/>
                </a:avLst>
              </a:pr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44100">
                    <a:schemeClr val="accent1">
                      <a:lumMod val="20000"/>
                      <a:lumOff val="80000"/>
                    </a:schemeClr>
                  </a:gs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468" y="8155"/>
                <a:ext cx="88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1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业务流程</a:t>
                </a:r>
                <a:endPara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协同优化</a:t>
                </a:r>
                <a:endPara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344" name="图片 343" descr="流程图／流程状态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3" y="8752"/>
              <a:ext cx="533" cy="533"/>
            </a:xfrm>
            <a:prstGeom prst="rect">
              <a:avLst/>
            </a:prstGeom>
          </p:spPr>
        </p:pic>
      </p:grpSp>
      <p:grpSp>
        <p:nvGrpSpPr>
          <p:cNvPr id="352" name="组合 351"/>
          <p:cNvGrpSpPr/>
          <p:nvPr/>
        </p:nvGrpSpPr>
        <p:grpSpPr>
          <a:xfrm rot="0">
            <a:off x="1484630" y="5205730"/>
            <a:ext cx="938530" cy="822325"/>
            <a:chOff x="2183" y="8155"/>
            <a:chExt cx="1478" cy="1295"/>
          </a:xfrm>
        </p:grpSpPr>
        <p:sp>
          <p:nvSpPr>
            <p:cNvPr id="356" name="菱形 355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菱形 356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58" name="组合 357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59" name="直接连接符 358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0" name="直接连接符 359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61" name="组合 360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62" name="直接连接符 361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3" name="直接连接符 362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64" name="直接连接符 363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65" name="直接连接符 364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66" name="菱形 365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7" name="梯形 366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8" name="文本框 367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战略解码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目标传导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 rot="0">
            <a:off x="4968240" y="5205730"/>
            <a:ext cx="938530" cy="822325"/>
            <a:chOff x="2183" y="8155"/>
            <a:chExt cx="1478" cy="1295"/>
          </a:xfrm>
        </p:grpSpPr>
        <p:sp>
          <p:nvSpPr>
            <p:cNvPr id="372" name="菱形 371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3" name="菱形 372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74" name="组合 373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75" name="直接连接符 374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6" name="直接连接符 375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77" name="组合 376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78" name="直接连接符 377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9" name="直接连接符 378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80" name="直接连接符 379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81" name="直接连接符 380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82" name="菱形 381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3" name="梯形 382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4" name="文本框 383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数据治理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决策支持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87" name="组合 386"/>
          <p:cNvGrpSpPr/>
          <p:nvPr/>
        </p:nvGrpSpPr>
        <p:grpSpPr>
          <a:xfrm rot="0">
            <a:off x="6710045" y="5205730"/>
            <a:ext cx="938530" cy="822325"/>
            <a:chOff x="2183" y="8155"/>
            <a:chExt cx="1478" cy="1295"/>
          </a:xfrm>
        </p:grpSpPr>
        <p:sp>
          <p:nvSpPr>
            <p:cNvPr id="388" name="菱形 387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9" name="菱形 388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90" name="组合 389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91" name="直接连接符 390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2" name="直接连接符 391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93" name="组合 392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94" name="直接连接符 393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5" name="直接连接符 394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96" name="直接连接符 395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97" name="直接连接符 396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98" name="菱形 397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9" name="梯形 398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组织赋能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人才发展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03" name="组合 402"/>
          <p:cNvGrpSpPr/>
          <p:nvPr/>
        </p:nvGrpSpPr>
        <p:grpSpPr>
          <a:xfrm rot="0">
            <a:off x="8451850" y="5205730"/>
            <a:ext cx="938530" cy="822325"/>
            <a:chOff x="2183" y="8155"/>
            <a:chExt cx="1478" cy="1295"/>
          </a:xfrm>
        </p:grpSpPr>
        <p:sp>
          <p:nvSpPr>
            <p:cNvPr id="404" name="菱形 403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5" name="菱形 404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07" name="直接连接符 406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8" name="直接连接符 407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09" name="组合 408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10" name="直接连接符 409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1" name="直接连接符 410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12" name="直接连接符 411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13" name="直接连接符 412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14" name="菱形 413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5" name="梯形 414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6" name="文本框 415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创新孵化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变革推动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19" name="组合 418"/>
          <p:cNvGrpSpPr/>
          <p:nvPr/>
        </p:nvGrpSpPr>
        <p:grpSpPr>
          <a:xfrm rot="0">
            <a:off x="10193655" y="5205730"/>
            <a:ext cx="938530" cy="822325"/>
            <a:chOff x="2183" y="8155"/>
            <a:chExt cx="1478" cy="1295"/>
          </a:xfrm>
        </p:grpSpPr>
        <p:sp>
          <p:nvSpPr>
            <p:cNvPr id="420" name="菱形 419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1" name="菱形 420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22" name="组合 421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23" name="直接连接符 422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4" name="直接连接符 423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25" name="组合 424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26" name="直接连接符 425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7" name="直接连接符 426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28" name="直接连接符 427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29" name="直接连接符 428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30" name="菱形 429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1" name="梯形 430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运营监控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持续改进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34" name="图片 433" descr="战略目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2610" y="5635625"/>
            <a:ext cx="235585" cy="235585"/>
          </a:xfrm>
          <a:prstGeom prst="rect">
            <a:avLst/>
          </a:prstGeom>
        </p:spPr>
      </p:pic>
      <p:pic>
        <p:nvPicPr>
          <p:cNvPr id="437" name="图片 436" descr="icon_组织类型_企业组织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0" y="5593715"/>
            <a:ext cx="303530" cy="303530"/>
          </a:xfrm>
          <a:prstGeom prst="rect">
            <a:avLst/>
          </a:prstGeom>
        </p:spPr>
      </p:pic>
      <p:pic>
        <p:nvPicPr>
          <p:cNvPr id="439" name="图片 438" descr="数据治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34635" y="5631815"/>
            <a:ext cx="252730" cy="252730"/>
          </a:xfrm>
          <a:prstGeom prst="rect">
            <a:avLst/>
          </a:prstGeom>
        </p:spPr>
      </p:pic>
      <p:pic>
        <p:nvPicPr>
          <p:cNvPr id="440" name="图片 439" descr="解决方案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00465" y="5598795"/>
            <a:ext cx="272415" cy="272415"/>
          </a:xfrm>
          <a:prstGeom prst="rect">
            <a:avLst/>
          </a:prstGeom>
        </p:spPr>
      </p:pic>
      <p:pic>
        <p:nvPicPr>
          <p:cNvPr id="442" name="图片 441" descr="3运营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13695" y="5605145"/>
            <a:ext cx="279400" cy="2794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685290" y="3708400"/>
            <a:ext cx="1877695" cy="1059180"/>
            <a:chOff x="2750" y="5762"/>
            <a:chExt cx="2957" cy="1668"/>
          </a:xfrm>
        </p:grpSpPr>
        <p:sp>
          <p:nvSpPr>
            <p:cNvPr id="19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以标准化与协同为核心，通过梳理、设计、优化关键业务流程，明确权责与节点，消除冗余与断点，提升整体运营效率与服务质量。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23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流程管理支撑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25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1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138295" y="3708400"/>
            <a:ext cx="1877695" cy="1059180"/>
            <a:chOff x="2750" y="5762"/>
            <a:chExt cx="2957" cy="1668"/>
          </a:xfrm>
        </p:grpSpPr>
        <p:sp>
          <p:nvSpPr>
            <p:cNvPr id="27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以目标与结果为导向，建立覆盖组织、团队、个人的多层次绩效指标体系，通过目标设定、过程跟踪，驱动实现持续改进与价值创造。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0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1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绩效管理支撑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2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2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6162675" y="3708400"/>
            <a:ext cx="1877695" cy="1059180"/>
            <a:chOff x="2750" y="5762"/>
            <a:chExt cx="2957" cy="1668"/>
          </a:xfrm>
        </p:grpSpPr>
        <p:sp>
          <p:nvSpPr>
            <p:cNvPr id="34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以预防与韧性为重点，系统识别、评估、监控运营过程中的内外部风险，建立预警机制与应对预案，保障运营安全，增强组织抵御能力。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7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8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风险控制支撑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9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3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8632190" y="3708400"/>
            <a:ext cx="1877695" cy="1059180"/>
            <a:chOff x="2750" y="5762"/>
            <a:chExt cx="2957" cy="1668"/>
          </a:xfrm>
        </p:grpSpPr>
        <p:sp>
          <p:nvSpPr>
            <p:cNvPr id="41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以优化与动态配置为手段，统筹协调人力、资金、物资、数据、技术等关键资源，最大化资源利用效率，支撑业务敏捷响应与稳定供给。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44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5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资源调度支撑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46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4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sp>
        <p:nvSpPr>
          <p:cNvPr id="47" name="上箭头 46"/>
          <p:cNvSpPr/>
          <p:nvPr/>
        </p:nvSpPr>
        <p:spPr>
          <a:xfrm>
            <a:off x="268986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上箭头 47"/>
          <p:cNvSpPr/>
          <p:nvPr/>
        </p:nvSpPr>
        <p:spPr>
          <a:xfrm>
            <a:off x="443865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618744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0" name="上箭头 49"/>
          <p:cNvSpPr/>
          <p:nvPr/>
        </p:nvSpPr>
        <p:spPr>
          <a:xfrm>
            <a:off x="793623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968502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 rot="0">
            <a:off x="3631565" y="3603625"/>
            <a:ext cx="387350" cy="1308735"/>
            <a:chOff x="2157" y="5063"/>
            <a:chExt cx="2447" cy="5122"/>
          </a:xfrm>
        </p:grpSpPr>
        <p:sp>
          <p:nvSpPr>
            <p:cNvPr id="101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2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3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 rot="0">
            <a:off x="8152765" y="3603625"/>
            <a:ext cx="387350" cy="1308735"/>
            <a:chOff x="2157" y="5063"/>
            <a:chExt cx="2447" cy="5122"/>
          </a:xfrm>
        </p:grpSpPr>
        <p:sp>
          <p:nvSpPr>
            <p:cNvPr id="120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3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 rot="0">
            <a:off x="1240790" y="3603625"/>
            <a:ext cx="387350" cy="1308735"/>
            <a:chOff x="2157" y="5063"/>
            <a:chExt cx="2447" cy="5122"/>
          </a:xfrm>
        </p:grpSpPr>
        <p:sp>
          <p:nvSpPr>
            <p:cNvPr id="126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7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8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9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 rot="0">
            <a:off x="10615930" y="3603625"/>
            <a:ext cx="387350" cy="1308735"/>
            <a:chOff x="2157" y="5063"/>
            <a:chExt cx="2447" cy="5122"/>
          </a:xfrm>
        </p:grpSpPr>
        <p:sp>
          <p:nvSpPr>
            <p:cNvPr id="132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3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4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3" name="©显眼包PPT16"/>
          <p:cNvSpPr txBox="1"/>
          <p:nvPr/>
        </p:nvSpPr>
        <p:spPr>
          <a:xfrm>
            <a:off x="2068195" y="1271270"/>
            <a:ext cx="931545" cy="30734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左翼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endParaRPr kumimoji="0" lang="en-US" altLang="zh-CN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144" name="©显眼包PPT16"/>
          <p:cNvSpPr txBox="1"/>
          <p:nvPr/>
        </p:nvSpPr>
        <p:spPr>
          <a:xfrm>
            <a:off x="9097010" y="1364615"/>
            <a:ext cx="109855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右翼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endParaRPr kumimoji="0" lang="en-US" altLang="zh-CN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pic>
        <p:nvPicPr>
          <p:cNvPr id="147" name="图片 146" descr="A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">
            <a:off x="8528685" y="-306070"/>
            <a:ext cx="3044190" cy="430974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8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图片 145" descr="A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1060000" flipH="1">
            <a:off x="703580" y="-306070"/>
            <a:ext cx="3044190" cy="4309745"/>
          </a:xfrm>
          <a:prstGeom prst="rect">
            <a:avLst/>
          </a:prstGeom>
        </p:spPr>
      </p:pic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数智驱动的数字化转型架构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8" name="©显眼包PPT5"/>
          <p:cNvSpPr txBox="1"/>
          <p:nvPr/>
        </p:nvSpPr>
        <p:spPr>
          <a:xfrm>
            <a:off x="1598930" y="3234690"/>
            <a:ext cx="230441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A-I-S-A-S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用户精细运营策略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©显眼包PPT6"/>
          <p:cNvSpPr txBox="1"/>
          <p:nvPr/>
        </p:nvSpPr>
        <p:spPr>
          <a:xfrm>
            <a:off x="4486275" y="3291840"/>
            <a:ext cx="327977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O-S-M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产品生命周期增长路径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©显眼包PPT7"/>
          <p:cNvSpPr txBox="1"/>
          <p:nvPr/>
        </p:nvSpPr>
        <p:spPr>
          <a:xfrm>
            <a:off x="7884795" y="3234690"/>
            <a:ext cx="327723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F-A-C-T+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内容运营生态轴的场景运营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©显眼包PPT13"/>
          <p:cNvSpPr/>
          <p:nvPr/>
        </p:nvSpPr>
        <p:spPr>
          <a:xfrm>
            <a:off x="1084580" y="2896235"/>
            <a:ext cx="10055860" cy="239395"/>
          </a:xfrm>
          <a:prstGeom prst="trapezoid">
            <a:avLst>
              <a:gd name="adj" fmla="val 22382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5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3234290" y="1065045"/>
            <a:ext cx="5792235" cy="606745"/>
            <a:chOff x="3671" y="-1290"/>
            <a:chExt cx="11146" cy="1291"/>
          </a:xfrm>
        </p:grpSpPr>
        <p:sp>
          <p:nvSpPr>
            <p:cNvPr id="334" name="梯形 333"/>
            <p:cNvSpPr/>
            <p:nvPr/>
          </p:nvSpPr>
          <p:spPr>
            <a:xfrm>
              <a:off x="3671" y="-795"/>
              <a:ext cx="11146" cy="796"/>
            </a:xfrm>
            <a:prstGeom prst="trapezoid">
              <a:avLst>
                <a:gd name="adj" fmla="val 443339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  <a:gs pos="41000">
                    <a:schemeClr val="accent5">
                      <a:lumMod val="60000"/>
                      <a:lumOff val="40000"/>
                      <a:alpha val="0"/>
                    </a:schemeClr>
                  </a:gs>
                  <a:gs pos="7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5" name="紫荆的职场Point28"/>
            <p:cNvSpPr/>
            <p:nvPr/>
          </p:nvSpPr>
          <p:spPr>
            <a:xfrm>
              <a:off x="6808" y="-1290"/>
              <a:ext cx="4897" cy="499"/>
            </a:xfrm>
            <a:prstGeom prst="triangle">
              <a:avLst>
                <a:gd name="adj" fmla="val 50434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6" name="紫荆的职场Point28"/>
            <p:cNvSpPr/>
            <p:nvPr/>
          </p:nvSpPr>
          <p:spPr>
            <a:xfrm>
              <a:off x="5480" y="-1245"/>
              <a:ext cx="7479" cy="112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40" name="©显眼包PPT5"/>
          <p:cNvSpPr/>
          <p:nvPr/>
        </p:nvSpPr>
        <p:spPr>
          <a:xfrm>
            <a:off x="3223895" y="1671955"/>
            <a:ext cx="5808345" cy="281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战略决策平台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，作为统一入口和决策中心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©显眼包PPT16"/>
          <p:cNvSpPr txBox="1"/>
          <p:nvPr/>
        </p:nvSpPr>
        <p:spPr>
          <a:xfrm>
            <a:off x="5288237" y="1271337"/>
            <a:ext cx="152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一核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引领</a:t>
            </a:r>
            <a:endParaRPr kumimoji="0" lang="zh-CN" altLang="en-US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223895" y="1990725"/>
            <a:ext cx="1908000" cy="969645"/>
          </a:xfrm>
          <a:prstGeom prst="rect">
            <a:avLst/>
          </a:prstGeom>
          <a:gradFill>
            <a:gsLst>
              <a:gs pos="100000">
                <a:schemeClr val="accent5">
                  <a:lumMod val="20000"/>
                  <a:lumOff val="80000"/>
                  <a:alpha val="5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5" name="©显眼包PPT24"/>
          <p:cNvSpPr/>
          <p:nvPr/>
        </p:nvSpPr>
        <p:spPr>
          <a:xfrm>
            <a:off x="3374390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5">
              <a:lumMod val="20000"/>
              <a:lumOff val="80000"/>
              <a:alpha val="65000"/>
            </a:schemeClr>
          </a:solidFill>
          <a:ln w="63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战略执行体系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©显眼包PPT25"/>
          <p:cNvSpPr txBox="1"/>
          <p:nvPr/>
        </p:nvSpPr>
        <p:spPr>
          <a:xfrm>
            <a:off x="3330575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将战略目标分解为可执行计划，建立监控评估机制，驱动组织协同，确保战略逐级落地与动态校准。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71900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50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119445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5">
                  <a:lumMod val="20000"/>
                  <a:lumOff val="80000"/>
                  <a:alpha val="5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2" name="©显眼包PPT15"/>
          <p:cNvSpPr/>
          <p:nvPr/>
        </p:nvSpPr>
        <p:spPr>
          <a:xfrm>
            <a:off x="3218180" y="2960370"/>
            <a:ext cx="1913890" cy="762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©显眼包PPT15"/>
          <p:cNvSpPr/>
          <p:nvPr/>
        </p:nvSpPr>
        <p:spPr>
          <a:xfrm>
            <a:off x="5172075" y="2960370"/>
            <a:ext cx="1913890" cy="762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4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3" name="©显眼包PPT15"/>
          <p:cNvSpPr/>
          <p:nvPr/>
        </p:nvSpPr>
        <p:spPr>
          <a:xfrm>
            <a:off x="7119620" y="2960370"/>
            <a:ext cx="1913890" cy="762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4" name="©显眼包PPT24"/>
          <p:cNvSpPr/>
          <p:nvPr/>
        </p:nvSpPr>
        <p:spPr>
          <a:xfrm>
            <a:off x="7257415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5">
              <a:lumMod val="20000"/>
              <a:lumOff val="80000"/>
              <a:alpha val="65000"/>
            </a:schemeClr>
          </a:solidFill>
          <a:ln w="63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 运营支撑平台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©显眼包PPT25"/>
          <p:cNvSpPr txBox="1"/>
          <p:nvPr/>
        </p:nvSpPr>
        <p:spPr>
          <a:xfrm>
            <a:off x="7213600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通过流程标准化、绩效量化、风险管控与资源优化，构建高效稳定的运营保障体系，支撑业务持续运行。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上箭头 85"/>
          <p:cNvSpPr/>
          <p:nvPr/>
        </p:nvSpPr>
        <p:spPr>
          <a:xfrm>
            <a:off x="562546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7" name="上箭头 86"/>
          <p:cNvSpPr/>
          <p:nvPr/>
        </p:nvSpPr>
        <p:spPr>
          <a:xfrm>
            <a:off x="631634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232400" y="2308225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战略定位与方向指引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232400" y="2620010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信息整合与决策协同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03885" y="1102995"/>
            <a:ext cx="50546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08330" y="3135630"/>
            <a:ext cx="49657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856615" y="1219835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431165" y="139319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一核两翼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>
          <a:xfrm>
            <a:off x="856615" y="3135630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431165" y="3372485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四柱支撑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©显眼包PPT10"/>
          <p:cNvSpPr/>
          <p:nvPr/>
        </p:nvSpPr>
        <p:spPr>
          <a:xfrm>
            <a:off x="1109345" y="3135630"/>
            <a:ext cx="10017760" cy="4432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在运营支撑平台中体现为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流程管理、绩效管理、风险控制、资源调度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四个支柱支撑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矩形: 圆角 118"/>
          <p:cNvSpPr/>
          <p:nvPr/>
        </p:nvSpPr>
        <p:spPr>
          <a:xfrm>
            <a:off x="264795" y="5030470"/>
            <a:ext cx="11661140" cy="117348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2700" cap="flat">
            <a:gradFill>
              <a:gsLst>
                <a:gs pos="35000">
                  <a:schemeClr val="accent2">
                    <a:alpha val="0"/>
                  </a:schemeClr>
                </a:gs>
                <a:gs pos="0">
                  <a:schemeClr val="accent2"/>
                </a:gs>
                <a:gs pos="65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4200000" scaled="0"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825500"/>
            <a:endParaRPr lang="zh-CN" altLang="en-US" sz="11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5" name="梯形 304"/>
          <p:cNvSpPr/>
          <p:nvPr/>
        </p:nvSpPr>
        <p:spPr>
          <a:xfrm>
            <a:off x="254000" y="4784090"/>
            <a:ext cx="11685270" cy="246380"/>
          </a:xfrm>
          <a:prstGeom prst="trapezoid">
            <a:avLst>
              <a:gd name="adj" fmla="val 17830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98165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4" name="©显眼包PPT8-1"/>
          <p:cNvSpPr/>
          <p:nvPr/>
        </p:nvSpPr>
        <p:spPr>
          <a:xfrm>
            <a:off x="264795" y="6203950"/>
            <a:ext cx="11674475" cy="42164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底层支撑的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经营管理中枢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，共同构成从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的完整经营管理闭环</a:t>
            </a:r>
            <a:endParaRPr lang="zh-CN" altLang="en-US" sz="1600" b="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5" name="©显眼包PPT8-2"/>
          <p:cNvSpPr/>
          <p:nvPr/>
        </p:nvSpPr>
        <p:spPr>
          <a:xfrm>
            <a:off x="267335" y="5741670"/>
            <a:ext cx="11671300" cy="464185"/>
          </a:xfrm>
          <a:prstGeom prst="trapezoid">
            <a:avLst>
              <a:gd name="adj" fmla="val 20725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431165" y="490855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3" name="直接箭头连接符 622"/>
          <p:cNvCxnSpPr/>
          <p:nvPr/>
        </p:nvCxnSpPr>
        <p:spPr>
          <a:xfrm>
            <a:off x="856615" y="5095240"/>
            <a:ext cx="0" cy="103314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5" name="组合 344"/>
          <p:cNvGrpSpPr/>
          <p:nvPr/>
        </p:nvGrpSpPr>
        <p:grpSpPr>
          <a:xfrm>
            <a:off x="3226435" y="5205730"/>
            <a:ext cx="938530" cy="821690"/>
            <a:chOff x="4993" y="8155"/>
            <a:chExt cx="1478" cy="1294"/>
          </a:xfrm>
        </p:grpSpPr>
        <p:grpSp>
          <p:nvGrpSpPr>
            <p:cNvPr id="69" name="组合 68"/>
            <p:cNvGrpSpPr/>
            <p:nvPr/>
          </p:nvGrpSpPr>
          <p:grpSpPr>
            <a:xfrm>
              <a:off x="4993" y="8155"/>
              <a:ext cx="1478" cy="1295"/>
              <a:chOff x="2183" y="8155"/>
              <a:chExt cx="1478" cy="1295"/>
            </a:xfrm>
          </p:grpSpPr>
          <p:sp>
            <p:nvSpPr>
              <p:cNvPr id="76" name="菱形 75"/>
              <p:cNvSpPr/>
              <p:nvPr/>
            </p:nvSpPr>
            <p:spPr>
              <a:xfrm>
                <a:off x="2186" y="8955"/>
                <a:ext cx="1472" cy="494"/>
              </a:xfrm>
              <a:prstGeom prst="diamond">
                <a:avLst/>
              </a:prstGeom>
              <a:noFill/>
              <a:ln w="12700" cap="flat" cmpd="sng" algn="ctr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7" name="菱形 76"/>
              <p:cNvSpPr/>
              <p:nvPr/>
            </p:nvSpPr>
            <p:spPr>
              <a:xfrm>
                <a:off x="2322" y="9001"/>
                <a:ext cx="1200" cy="403"/>
              </a:xfrm>
              <a:prstGeom prst="diamond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8000"/>
                    </a:scheme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3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innerShdw blurRad="279400">
                  <a:schemeClr val="accent1">
                    <a:lumMod val="20000"/>
                    <a:lumOff val="80000"/>
                    <a:alpha val="63000"/>
                  </a:schemeClr>
                </a:innerShdw>
              </a:effectLst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 rot="0">
                <a:off x="3571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9" name="直接连接符 98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grpSp>
            <p:nvGrpSpPr>
              <p:cNvPr id="100" name="组合 99"/>
              <p:cNvGrpSpPr/>
              <p:nvPr/>
            </p:nvGrpSpPr>
            <p:grpSpPr>
              <a:xfrm rot="0" flipH="1">
                <a:off x="2183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107" name="直接连接符 106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8" name="直接连接符 107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09" name="直接连接符 108"/>
              <p:cNvCxnSpPr/>
              <p:nvPr/>
            </p:nvCxnSpPr>
            <p:spPr>
              <a:xfrm flipV="1">
                <a:off x="2923" y="9419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4" y="9420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7" name="菱形 116"/>
              <p:cNvSpPr/>
              <p:nvPr/>
            </p:nvSpPr>
            <p:spPr>
              <a:xfrm>
                <a:off x="2551" y="9078"/>
                <a:ext cx="742" cy="249"/>
              </a:xfrm>
              <a:prstGeom prst="diamond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6350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8" name="梯形 117"/>
              <p:cNvSpPr/>
              <p:nvPr/>
            </p:nvSpPr>
            <p:spPr>
              <a:xfrm rot="10800000">
                <a:off x="2444" y="8480"/>
                <a:ext cx="927" cy="752"/>
              </a:xfrm>
              <a:prstGeom prst="trapezoid">
                <a:avLst>
                  <a:gd name="adj" fmla="val 19469"/>
                </a:avLst>
              </a:pr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44100">
                    <a:schemeClr val="accent1">
                      <a:lumMod val="20000"/>
                      <a:lumOff val="80000"/>
                    </a:schemeClr>
                  </a:gs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468" y="8155"/>
                <a:ext cx="88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1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业务流程</a:t>
                </a:r>
                <a:endPara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协同优化</a:t>
                </a:r>
                <a:endPara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344" name="图片 343" descr="流程图／流程状态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43" y="8752"/>
              <a:ext cx="533" cy="533"/>
            </a:xfrm>
            <a:prstGeom prst="rect">
              <a:avLst/>
            </a:prstGeom>
          </p:spPr>
        </p:pic>
      </p:grpSp>
      <p:grpSp>
        <p:nvGrpSpPr>
          <p:cNvPr id="352" name="组合 351"/>
          <p:cNvGrpSpPr/>
          <p:nvPr/>
        </p:nvGrpSpPr>
        <p:grpSpPr>
          <a:xfrm rot="0">
            <a:off x="1484630" y="5205730"/>
            <a:ext cx="938530" cy="822325"/>
            <a:chOff x="2183" y="8155"/>
            <a:chExt cx="1478" cy="1295"/>
          </a:xfrm>
        </p:grpSpPr>
        <p:sp>
          <p:nvSpPr>
            <p:cNvPr id="356" name="菱形 355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菱形 356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58" name="组合 357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59" name="直接连接符 358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0" name="直接连接符 359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61" name="组合 360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62" name="直接连接符 361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3" name="直接连接符 362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64" name="直接连接符 363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65" name="直接连接符 364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66" name="菱形 365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7" name="梯形 366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8" name="文本框 367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战略解码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目标传导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 rot="0">
            <a:off x="4968240" y="5205730"/>
            <a:ext cx="938530" cy="822325"/>
            <a:chOff x="2183" y="8155"/>
            <a:chExt cx="1478" cy="1295"/>
          </a:xfrm>
        </p:grpSpPr>
        <p:sp>
          <p:nvSpPr>
            <p:cNvPr id="372" name="菱形 371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3" name="菱形 372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74" name="组合 373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75" name="直接连接符 374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6" name="直接连接符 375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77" name="组合 376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78" name="直接连接符 377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9" name="直接连接符 378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80" name="直接连接符 379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81" name="直接连接符 380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82" name="菱形 381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3" name="梯形 382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4" name="文本框 383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数据治理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决策支持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87" name="组合 386"/>
          <p:cNvGrpSpPr/>
          <p:nvPr/>
        </p:nvGrpSpPr>
        <p:grpSpPr>
          <a:xfrm rot="0">
            <a:off x="6710045" y="5205730"/>
            <a:ext cx="938530" cy="822325"/>
            <a:chOff x="2183" y="8155"/>
            <a:chExt cx="1478" cy="1295"/>
          </a:xfrm>
        </p:grpSpPr>
        <p:sp>
          <p:nvSpPr>
            <p:cNvPr id="388" name="菱形 387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9" name="菱形 388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90" name="组合 389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91" name="直接连接符 390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2" name="直接连接符 391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93" name="组合 392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94" name="直接连接符 393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5" name="直接连接符 394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96" name="直接连接符 395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97" name="直接连接符 396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98" name="菱形 397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9" name="梯形 398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组织赋能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人才发展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03" name="组合 402"/>
          <p:cNvGrpSpPr/>
          <p:nvPr/>
        </p:nvGrpSpPr>
        <p:grpSpPr>
          <a:xfrm rot="0">
            <a:off x="8451850" y="5205730"/>
            <a:ext cx="938530" cy="822325"/>
            <a:chOff x="2183" y="8155"/>
            <a:chExt cx="1478" cy="1295"/>
          </a:xfrm>
        </p:grpSpPr>
        <p:sp>
          <p:nvSpPr>
            <p:cNvPr id="404" name="菱形 403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5" name="菱形 404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07" name="直接连接符 406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8" name="直接连接符 407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09" name="组合 408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10" name="直接连接符 409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1" name="直接连接符 410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12" name="直接连接符 411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13" name="直接连接符 412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14" name="菱形 413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5" name="梯形 414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6" name="文本框 415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创新孵化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变革推动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19" name="组合 418"/>
          <p:cNvGrpSpPr/>
          <p:nvPr/>
        </p:nvGrpSpPr>
        <p:grpSpPr>
          <a:xfrm rot="0">
            <a:off x="10193655" y="5205730"/>
            <a:ext cx="938530" cy="822325"/>
            <a:chOff x="2183" y="8155"/>
            <a:chExt cx="1478" cy="1295"/>
          </a:xfrm>
        </p:grpSpPr>
        <p:sp>
          <p:nvSpPr>
            <p:cNvPr id="420" name="菱形 419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1" name="菱形 420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22" name="组合 421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23" name="直接连接符 422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4" name="直接连接符 423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25" name="组合 424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26" name="直接连接符 425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7" name="直接连接符 426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28" name="直接连接符 427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29" name="直接连接符 428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30" name="菱形 429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1" name="梯形 430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运营监控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持续改进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34" name="图片 433" descr="战略目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2610" y="5635625"/>
            <a:ext cx="235585" cy="235585"/>
          </a:xfrm>
          <a:prstGeom prst="rect">
            <a:avLst/>
          </a:prstGeom>
        </p:spPr>
      </p:pic>
      <p:pic>
        <p:nvPicPr>
          <p:cNvPr id="437" name="图片 436" descr="icon_组织类型_企业组织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0" y="5593715"/>
            <a:ext cx="303530" cy="303530"/>
          </a:xfrm>
          <a:prstGeom prst="rect">
            <a:avLst/>
          </a:prstGeom>
        </p:spPr>
      </p:pic>
      <p:pic>
        <p:nvPicPr>
          <p:cNvPr id="439" name="图片 438" descr="数据治理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34635" y="5631815"/>
            <a:ext cx="252730" cy="252730"/>
          </a:xfrm>
          <a:prstGeom prst="rect">
            <a:avLst/>
          </a:prstGeom>
        </p:spPr>
      </p:pic>
      <p:pic>
        <p:nvPicPr>
          <p:cNvPr id="440" name="图片 439" descr="解决方案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00465" y="5598795"/>
            <a:ext cx="272415" cy="272415"/>
          </a:xfrm>
          <a:prstGeom prst="rect">
            <a:avLst/>
          </a:prstGeom>
        </p:spPr>
      </p:pic>
      <p:pic>
        <p:nvPicPr>
          <p:cNvPr id="442" name="图片 441" descr="3运营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13695" y="5605145"/>
            <a:ext cx="279400" cy="2794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685290" y="3708400"/>
            <a:ext cx="1877695" cy="1059180"/>
            <a:chOff x="2750" y="5762"/>
            <a:chExt cx="2957" cy="1668"/>
          </a:xfrm>
        </p:grpSpPr>
        <p:sp>
          <p:nvSpPr>
            <p:cNvPr id="19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以标准化与协同为核心，通过梳理、设计、优化关键业务流程，明确权责与节点，消除冗余与断点，提升整体运营效率与服务质量。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23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流程管理支撑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25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1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138295" y="3708400"/>
            <a:ext cx="1877695" cy="1059180"/>
            <a:chOff x="2750" y="5762"/>
            <a:chExt cx="2957" cy="1668"/>
          </a:xfrm>
        </p:grpSpPr>
        <p:sp>
          <p:nvSpPr>
            <p:cNvPr id="27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以目标与结果为导向，建立覆盖组织、团队、个人的多层次绩效指标体系，通过目标设定、过程跟踪，驱动实现持续改进与价值创造。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0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1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绩效管理支撑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2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2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6162675" y="3708400"/>
            <a:ext cx="1877695" cy="1059180"/>
            <a:chOff x="2750" y="5762"/>
            <a:chExt cx="2957" cy="1668"/>
          </a:xfrm>
        </p:grpSpPr>
        <p:sp>
          <p:nvSpPr>
            <p:cNvPr id="34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以预防与韧性为重点，系统识别、评估、监控运营过程中的内外部风险，建立预警机制与应对预案，保障运营安全，增强组织抵御能力。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7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8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风险控制支撑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9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3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8632190" y="3708400"/>
            <a:ext cx="1877695" cy="1059180"/>
            <a:chOff x="2750" y="5762"/>
            <a:chExt cx="2957" cy="1668"/>
          </a:xfrm>
        </p:grpSpPr>
        <p:sp>
          <p:nvSpPr>
            <p:cNvPr id="41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以优化与动态配置为手段，统筹协调人力、资金、物资、数据、技术等关键资源，最大化资源利用效率，支撑业务敏捷响应与稳定供给。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44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5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资源调度支撑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46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4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sp>
        <p:nvSpPr>
          <p:cNvPr id="47" name="上箭头 46"/>
          <p:cNvSpPr/>
          <p:nvPr/>
        </p:nvSpPr>
        <p:spPr>
          <a:xfrm>
            <a:off x="268986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上箭头 47"/>
          <p:cNvSpPr/>
          <p:nvPr/>
        </p:nvSpPr>
        <p:spPr>
          <a:xfrm>
            <a:off x="443865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618744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0" name="上箭头 49"/>
          <p:cNvSpPr/>
          <p:nvPr/>
        </p:nvSpPr>
        <p:spPr>
          <a:xfrm>
            <a:off x="793623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968502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 rot="0">
            <a:off x="3631565" y="3603625"/>
            <a:ext cx="387350" cy="1308735"/>
            <a:chOff x="2157" y="5063"/>
            <a:chExt cx="2447" cy="5122"/>
          </a:xfrm>
        </p:grpSpPr>
        <p:sp>
          <p:nvSpPr>
            <p:cNvPr id="101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2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3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 rot="0">
            <a:off x="8152765" y="3603625"/>
            <a:ext cx="387350" cy="1308735"/>
            <a:chOff x="2157" y="5063"/>
            <a:chExt cx="2447" cy="5122"/>
          </a:xfrm>
        </p:grpSpPr>
        <p:sp>
          <p:nvSpPr>
            <p:cNvPr id="120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3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 rot="0">
            <a:off x="1240790" y="3603625"/>
            <a:ext cx="387350" cy="1308735"/>
            <a:chOff x="2157" y="5063"/>
            <a:chExt cx="2447" cy="5122"/>
          </a:xfrm>
        </p:grpSpPr>
        <p:sp>
          <p:nvSpPr>
            <p:cNvPr id="126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7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8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9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 rot="0">
            <a:off x="10615930" y="3603625"/>
            <a:ext cx="387350" cy="1308735"/>
            <a:chOff x="2157" y="5063"/>
            <a:chExt cx="2447" cy="5122"/>
          </a:xfrm>
        </p:grpSpPr>
        <p:sp>
          <p:nvSpPr>
            <p:cNvPr id="132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3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4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3" name="©显眼包PPT16"/>
          <p:cNvSpPr txBox="1"/>
          <p:nvPr/>
        </p:nvSpPr>
        <p:spPr>
          <a:xfrm>
            <a:off x="2068195" y="1271270"/>
            <a:ext cx="931545" cy="30734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左翼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endParaRPr kumimoji="0" lang="en-US" altLang="zh-CN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144" name="©显眼包PPT16"/>
          <p:cNvSpPr txBox="1"/>
          <p:nvPr/>
        </p:nvSpPr>
        <p:spPr>
          <a:xfrm>
            <a:off x="9097010" y="1364615"/>
            <a:ext cx="109855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右翼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endParaRPr kumimoji="0" lang="en-US" altLang="zh-CN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pic>
        <p:nvPicPr>
          <p:cNvPr id="147" name="图片 146" descr="A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">
            <a:off x="8528685" y="-306070"/>
            <a:ext cx="3044190" cy="430974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0" y="4959350"/>
            <a:ext cx="12192000" cy="1898650"/>
            <a:chOff x="0" y="7810"/>
            <a:chExt cx="19200" cy="2990"/>
          </a:xfrm>
        </p:grpSpPr>
        <p:sp>
          <p:nvSpPr>
            <p:cNvPr id="2" name="矩形 1"/>
            <p:cNvSpPr/>
            <p:nvPr/>
          </p:nvSpPr>
          <p:spPr>
            <a:xfrm>
              <a:off x="0" y="7810"/>
              <a:ext cx="19200" cy="2990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" name="©显眼包PPT16"/>
            <p:cNvSpPr txBox="1"/>
            <p:nvPr/>
          </p:nvSpPr>
          <p:spPr>
            <a:xfrm>
              <a:off x="2990" y="8578"/>
              <a:ext cx="11508" cy="1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3000" b="1" i="0" u="none" strike="noStrike" kern="120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另一个配色效果供选择，删除本框即可！</a:t>
              </a:r>
              <a:endParaRPr kumimoji="0" lang="zh-CN" sz="30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3000" b="1" i="0" u="none" strike="noStrike" kern="120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本页不计入页面数量</a:t>
              </a:r>
              <a:endParaRPr kumimoji="0" lang="zh-CN" sz="30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17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数智驱动的数字化转型架构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8" name="©显眼包PPT5"/>
          <p:cNvSpPr txBox="1"/>
          <p:nvPr/>
        </p:nvSpPr>
        <p:spPr>
          <a:xfrm>
            <a:off x="1598930" y="3234690"/>
            <a:ext cx="230441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A-I-S-A-S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用户精细运营策略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©显眼包PPT6"/>
          <p:cNvSpPr txBox="1"/>
          <p:nvPr/>
        </p:nvSpPr>
        <p:spPr>
          <a:xfrm>
            <a:off x="4486275" y="3291840"/>
            <a:ext cx="327977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O-S-M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产品生命周期增长路径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©显眼包PPT7"/>
          <p:cNvSpPr txBox="1"/>
          <p:nvPr/>
        </p:nvSpPr>
        <p:spPr>
          <a:xfrm>
            <a:off x="7884795" y="3234690"/>
            <a:ext cx="3277235" cy="257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F-A-C-T+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内容运营生态轴的场景运营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©显眼包PPT13"/>
          <p:cNvSpPr/>
          <p:nvPr/>
        </p:nvSpPr>
        <p:spPr>
          <a:xfrm>
            <a:off x="1084580" y="2896235"/>
            <a:ext cx="10055860" cy="239395"/>
          </a:xfrm>
          <a:prstGeom prst="trapezoid">
            <a:avLst>
              <a:gd name="adj" fmla="val 223821"/>
            </a:avLst>
          </a:prstGeom>
          <a:gradFill>
            <a:gsLst>
              <a:gs pos="0">
                <a:schemeClr val="accent1">
                  <a:lumMod val="60000"/>
                  <a:lumOff val="40000"/>
                  <a:alpha val="5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38" name="组合 337"/>
          <p:cNvGrpSpPr/>
          <p:nvPr/>
        </p:nvGrpSpPr>
        <p:grpSpPr>
          <a:xfrm>
            <a:off x="3234290" y="1065045"/>
            <a:ext cx="5792235" cy="606745"/>
            <a:chOff x="3671" y="-1290"/>
            <a:chExt cx="11146" cy="1291"/>
          </a:xfrm>
        </p:grpSpPr>
        <p:sp>
          <p:nvSpPr>
            <p:cNvPr id="334" name="梯形 333"/>
            <p:cNvSpPr/>
            <p:nvPr/>
          </p:nvSpPr>
          <p:spPr>
            <a:xfrm>
              <a:off x="3671" y="-795"/>
              <a:ext cx="11146" cy="796"/>
            </a:xfrm>
            <a:prstGeom prst="trapezoid">
              <a:avLst>
                <a:gd name="adj" fmla="val 443339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  <a:gs pos="41000">
                    <a:schemeClr val="accent5">
                      <a:lumMod val="60000"/>
                      <a:lumOff val="40000"/>
                      <a:alpha val="0"/>
                    </a:schemeClr>
                  </a:gs>
                  <a:gs pos="7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5" name="紫荆的职场Point28"/>
            <p:cNvSpPr/>
            <p:nvPr/>
          </p:nvSpPr>
          <p:spPr>
            <a:xfrm>
              <a:off x="6808" y="-1290"/>
              <a:ext cx="4897" cy="499"/>
            </a:xfrm>
            <a:prstGeom prst="triangle">
              <a:avLst>
                <a:gd name="adj" fmla="val 50434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6" name="紫荆的职场Point28"/>
            <p:cNvSpPr/>
            <p:nvPr/>
          </p:nvSpPr>
          <p:spPr>
            <a:xfrm>
              <a:off x="5480" y="-1245"/>
              <a:ext cx="7479" cy="1125"/>
            </a:xfrm>
            <a:prstGeom prst="triangle">
              <a:avLst/>
            </a:prstGeom>
            <a:gradFill flip="none" rotWithShape="1">
              <a:gsLst>
                <a:gs pos="0">
                  <a:schemeClr val="accent5">
                    <a:lumMod val="20000"/>
                    <a:lumOff val="80000"/>
                    <a:alpha val="41000"/>
                  </a:schemeClr>
                </a:gs>
                <a:gs pos="100000">
                  <a:schemeClr val="accent5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5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5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40" name="©显眼包PPT5"/>
          <p:cNvSpPr/>
          <p:nvPr/>
        </p:nvSpPr>
        <p:spPr>
          <a:xfrm>
            <a:off x="3223895" y="1671955"/>
            <a:ext cx="5808345" cy="281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战略决策平台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，作为统一入口和决策中心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©显眼包PPT16"/>
          <p:cNvSpPr txBox="1"/>
          <p:nvPr/>
        </p:nvSpPr>
        <p:spPr>
          <a:xfrm>
            <a:off x="5288237" y="1271337"/>
            <a:ext cx="1524000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“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一核</a:t>
            </a:r>
            <a:r>
              <a:rPr kumimoji="0" lang="en-US" altLang="zh-CN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引领</a:t>
            </a:r>
            <a:endParaRPr kumimoji="0" lang="zh-CN" altLang="en-US" sz="2000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223895" y="1990725"/>
            <a:ext cx="1908000" cy="969645"/>
          </a:xfrm>
          <a:prstGeom prst="rect">
            <a:avLst/>
          </a:prstGeom>
          <a:gradFill>
            <a:gsLst>
              <a:gs pos="100000">
                <a:schemeClr val="accent5">
                  <a:lumMod val="20000"/>
                  <a:lumOff val="80000"/>
                  <a:alpha val="5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5" name="©显眼包PPT24"/>
          <p:cNvSpPr/>
          <p:nvPr/>
        </p:nvSpPr>
        <p:spPr>
          <a:xfrm>
            <a:off x="3374390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5">
              <a:lumMod val="20000"/>
              <a:lumOff val="80000"/>
              <a:alpha val="65000"/>
            </a:schemeClr>
          </a:solidFill>
          <a:ln w="63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战略执行体系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©显眼包PPT25"/>
          <p:cNvSpPr txBox="1"/>
          <p:nvPr/>
        </p:nvSpPr>
        <p:spPr>
          <a:xfrm>
            <a:off x="3330575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将战略目标分解为可执行计划，建立监控评估机制，驱动组织协同，确保战略逐级落地与动态校准。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71900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50000"/>
                </a:schemeClr>
              </a:gs>
              <a:gs pos="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7119445" y="1990725"/>
            <a:ext cx="1907540" cy="969645"/>
          </a:xfrm>
          <a:prstGeom prst="rect">
            <a:avLst/>
          </a:prstGeom>
          <a:gradFill>
            <a:gsLst>
              <a:gs pos="100000">
                <a:schemeClr val="accent5">
                  <a:lumMod val="20000"/>
                  <a:lumOff val="80000"/>
                  <a:alpha val="50000"/>
                </a:schemeClr>
              </a:gs>
              <a:gs pos="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2" name="©显眼包PPT15"/>
          <p:cNvSpPr/>
          <p:nvPr/>
        </p:nvSpPr>
        <p:spPr>
          <a:xfrm>
            <a:off x="3218180" y="2960370"/>
            <a:ext cx="1913890" cy="762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©显眼包PPT15"/>
          <p:cNvSpPr/>
          <p:nvPr/>
        </p:nvSpPr>
        <p:spPr>
          <a:xfrm>
            <a:off x="5172075" y="2960370"/>
            <a:ext cx="1913890" cy="762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4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3" name="©显眼包PPT15"/>
          <p:cNvSpPr/>
          <p:nvPr/>
        </p:nvSpPr>
        <p:spPr>
          <a:xfrm>
            <a:off x="7119620" y="2960370"/>
            <a:ext cx="1913890" cy="7620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4000">
                <a:schemeClr val="accent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4" name="©显眼包PPT24"/>
          <p:cNvSpPr/>
          <p:nvPr/>
        </p:nvSpPr>
        <p:spPr>
          <a:xfrm>
            <a:off x="7257415" y="2092325"/>
            <a:ext cx="1617345" cy="239395"/>
          </a:xfrm>
          <a:prstGeom prst="roundRect">
            <a:avLst>
              <a:gd name="adj" fmla="val 10021"/>
            </a:avLst>
          </a:prstGeom>
          <a:solidFill>
            <a:schemeClr val="accent5">
              <a:lumMod val="20000"/>
              <a:lumOff val="80000"/>
              <a:alpha val="65000"/>
            </a:schemeClr>
          </a:solidFill>
          <a:ln w="63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 运营支撑平台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©显眼包PPT25"/>
          <p:cNvSpPr txBox="1"/>
          <p:nvPr/>
        </p:nvSpPr>
        <p:spPr>
          <a:xfrm>
            <a:off x="7213600" y="2406015"/>
            <a:ext cx="1691640" cy="4419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通过流程标准化、绩效量化、风险管控与资源优化，构建高效稳定的运营保障体系，支撑业务持续运行。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上箭头 85"/>
          <p:cNvSpPr/>
          <p:nvPr/>
        </p:nvSpPr>
        <p:spPr>
          <a:xfrm>
            <a:off x="562546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7" name="上箭头 86"/>
          <p:cNvSpPr/>
          <p:nvPr/>
        </p:nvSpPr>
        <p:spPr>
          <a:xfrm>
            <a:off x="6316345" y="2022475"/>
            <a:ext cx="274320" cy="244475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5232400" y="2308225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战略定位与方向指引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232400" y="2620010"/>
            <a:ext cx="1754505" cy="25971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信息整合与决策协同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603885" y="1102995"/>
            <a:ext cx="50546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08330" y="3135630"/>
            <a:ext cx="49657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856615" y="1219835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431165" y="139319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一核两翼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7" name="直接箭头连接符 136"/>
          <p:cNvCxnSpPr/>
          <p:nvPr/>
        </p:nvCxnSpPr>
        <p:spPr>
          <a:xfrm>
            <a:off x="856615" y="3135630"/>
            <a:ext cx="0" cy="182435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431165" y="3372485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四柱支撑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©显眼包PPT10"/>
          <p:cNvSpPr/>
          <p:nvPr/>
        </p:nvSpPr>
        <p:spPr>
          <a:xfrm>
            <a:off x="1109345" y="3135630"/>
            <a:ext cx="10017760" cy="4432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在运营支撑平台中体现为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流程管理、绩效管理、风险控制、资源调度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四个支柱支撑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3" name="矩形: 圆角 118"/>
          <p:cNvSpPr/>
          <p:nvPr/>
        </p:nvSpPr>
        <p:spPr>
          <a:xfrm>
            <a:off x="264795" y="5030470"/>
            <a:ext cx="11661140" cy="117348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2700" cap="flat">
            <a:gradFill>
              <a:gsLst>
                <a:gs pos="35000">
                  <a:schemeClr val="accent2">
                    <a:alpha val="0"/>
                  </a:schemeClr>
                </a:gs>
                <a:gs pos="0">
                  <a:schemeClr val="accent2"/>
                </a:gs>
                <a:gs pos="65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4200000" scaled="0"/>
            </a:gra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defTabSz="825500"/>
            <a:endParaRPr lang="zh-CN" altLang="en-US" sz="11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5" name="梯形 304"/>
          <p:cNvSpPr/>
          <p:nvPr/>
        </p:nvSpPr>
        <p:spPr>
          <a:xfrm>
            <a:off x="254000" y="4784090"/>
            <a:ext cx="11685270" cy="246380"/>
          </a:xfrm>
          <a:prstGeom prst="trapezoid">
            <a:avLst>
              <a:gd name="adj" fmla="val 17830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98165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54" name="©显眼包PPT8-1"/>
          <p:cNvSpPr/>
          <p:nvPr/>
        </p:nvSpPr>
        <p:spPr>
          <a:xfrm>
            <a:off x="264795" y="6203950"/>
            <a:ext cx="11674475" cy="42164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底层支撑的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经营管理中枢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，共同构成从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</a:t>
            </a:r>
            <a:r>
              <a:rPr lang="en-US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</a:t>
            </a:r>
            <a:r>
              <a:rPr lang="en-US" altLang="zh-CN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的完整经营管理闭环</a:t>
            </a:r>
            <a:endParaRPr lang="zh-CN" altLang="en-US" sz="1600" b="1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5" name="©显眼包PPT8-2"/>
          <p:cNvSpPr/>
          <p:nvPr/>
        </p:nvSpPr>
        <p:spPr>
          <a:xfrm>
            <a:off x="267335" y="5741670"/>
            <a:ext cx="11671300" cy="464185"/>
          </a:xfrm>
          <a:prstGeom prst="trapezoid">
            <a:avLst>
              <a:gd name="adj" fmla="val 207256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431165" y="4908550"/>
            <a:ext cx="333375" cy="139573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底层支撑</a:t>
            </a:r>
            <a:r>
              <a:rPr lang="en-US" altLang="zh-CN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3" name="直接箭头连接符 622"/>
          <p:cNvCxnSpPr/>
          <p:nvPr/>
        </p:nvCxnSpPr>
        <p:spPr>
          <a:xfrm>
            <a:off x="856615" y="5095240"/>
            <a:ext cx="0" cy="1033145"/>
          </a:xfrm>
          <a:prstGeom prst="straightConnector1">
            <a:avLst/>
          </a:prstGeom>
          <a:ln>
            <a:solidFill>
              <a:schemeClr val="tx2"/>
            </a:solidFill>
            <a:headEnd type="triangle" w="lg" len="med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5" name="组合 344"/>
          <p:cNvGrpSpPr/>
          <p:nvPr/>
        </p:nvGrpSpPr>
        <p:grpSpPr>
          <a:xfrm>
            <a:off x="3226435" y="5205730"/>
            <a:ext cx="938530" cy="821690"/>
            <a:chOff x="4993" y="8155"/>
            <a:chExt cx="1478" cy="1294"/>
          </a:xfrm>
        </p:grpSpPr>
        <p:grpSp>
          <p:nvGrpSpPr>
            <p:cNvPr id="69" name="组合 68"/>
            <p:cNvGrpSpPr/>
            <p:nvPr/>
          </p:nvGrpSpPr>
          <p:grpSpPr>
            <a:xfrm>
              <a:off x="4993" y="8155"/>
              <a:ext cx="1478" cy="1295"/>
              <a:chOff x="2183" y="8155"/>
              <a:chExt cx="1478" cy="1295"/>
            </a:xfrm>
          </p:grpSpPr>
          <p:sp>
            <p:nvSpPr>
              <p:cNvPr id="76" name="菱形 75"/>
              <p:cNvSpPr/>
              <p:nvPr/>
            </p:nvSpPr>
            <p:spPr>
              <a:xfrm>
                <a:off x="2186" y="8955"/>
                <a:ext cx="1472" cy="494"/>
              </a:xfrm>
              <a:prstGeom prst="diamond">
                <a:avLst/>
              </a:prstGeom>
              <a:noFill/>
              <a:ln w="12700" cap="flat" cmpd="sng" algn="ctr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7" name="菱形 76"/>
              <p:cNvSpPr/>
              <p:nvPr/>
            </p:nvSpPr>
            <p:spPr>
              <a:xfrm>
                <a:off x="2322" y="9001"/>
                <a:ext cx="1200" cy="403"/>
              </a:xfrm>
              <a:prstGeom prst="diamond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8000"/>
                    </a:schemeClr>
                  </a:gs>
                </a:gsLst>
                <a:lin ang="5400000" scaled="1"/>
              </a:gradFill>
              <a:ln w="9525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3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innerShdw blurRad="279400">
                  <a:schemeClr val="accent1">
                    <a:lumMod val="20000"/>
                    <a:lumOff val="80000"/>
                    <a:alpha val="63000"/>
                  </a:schemeClr>
                </a:innerShdw>
              </a:effectLst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 rot="0">
                <a:off x="3571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82" name="直接连接符 81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9" name="直接连接符 98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grpSp>
            <p:nvGrpSpPr>
              <p:cNvPr id="100" name="组合 99"/>
              <p:cNvGrpSpPr/>
              <p:nvPr/>
            </p:nvGrpSpPr>
            <p:grpSpPr>
              <a:xfrm rot="0" flipH="1">
                <a:off x="2183" y="9173"/>
                <a:ext cx="90" cy="59"/>
                <a:chOff x="8353512" y="3886200"/>
                <a:chExt cx="307127" cy="266701"/>
              </a:xfrm>
            </p:grpSpPr>
            <p:cxnSp>
              <p:nvCxnSpPr>
                <p:cNvPr id="107" name="直接连接符 106"/>
                <p:cNvCxnSpPr/>
                <p:nvPr/>
              </p:nvCxnSpPr>
              <p:spPr>
                <a:xfrm flipH="1" flipV="1">
                  <a:off x="8353512" y="388620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8" name="直接连接符 107"/>
                <p:cNvCxnSpPr/>
                <p:nvPr/>
              </p:nvCxnSpPr>
              <p:spPr>
                <a:xfrm flipH="1">
                  <a:off x="8353512" y="4015740"/>
                  <a:ext cx="307127" cy="13716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09" name="直接连接符 108"/>
              <p:cNvCxnSpPr/>
              <p:nvPr/>
            </p:nvCxnSpPr>
            <p:spPr>
              <a:xfrm flipV="1">
                <a:off x="2923" y="9419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4" y="9420"/>
                <a:ext cx="90" cy="3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sp>
            <p:nvSpPr>
              <p:cNvPr id="117" name="菱形 116"/>
              <p:cNvSpPr/>
              <p:nvPr/>
            </p:nvSpPr>
            <p:spPr>
              <a:xfrm>
                <a:off x="2551" y="9078"/>
                <a:ext cx="742" cy="249"/>
              </a:xfrm>
              <a:prstGeom prst="diamond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  <a:ln w="6350" cap="flat" cmpd="sng" algn="ctr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8" name="梯形 117"/>
              <p:cNvSpPr/>
              <p:nvPr/>
            </p:nvSpPr>
            <p:spPr>
              <a:xfrm rot="10800000">
                <a:off x="2444" y="8480"/>
                <a:ext cx="927" cy="752"/>
              </a:xfrm>
              <a:prstGeom prst="trapezoid">
                <a:avLst>
                  <a:gd name="adj" fmla="val 19469"/>
                </a:avLst>
              </a:prstGeom>
              <a:gradFill>
                <a:gsLst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  <a:gs pos="44100">
                    <a:schemeClr val="accent1">
                      <a:lumMod val="20000"/>
                      <a:lumOff val="80000"/>
                    </a:schemeClr>
                  </a:gs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920240">
                  <a:defRPr/>
                </a:pPr>
                <a:endParaRPr lang="zh-CN" altLang="en-US" sz="1400" kern="0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468" y="8155"/>
                <a:ext cx="884" cy="5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1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业务流程</a:t>
                </a:r>
                <a:endPara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marL="0" marR="0" indent="0" algn="ctr" defTabSz="2438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900" b="0" i="0" u="none" strike="noStrike" cap="none" spc="0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协同优化</a:t>
                </a:r>
                <a:endPara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pic>
          <p:nvPicPr>
            <p:cNvPr id="344" name="图片 343" descr="流程图／流程状态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3" y="8752"/>
              <a:ext cx="533" cy="533"/>
            </a:xfrm>
            <a:prstGeom prst="rect">
              <a:avLst/>
            </a:prstGeom>
          </p:spPr>
        </p:pic>
      </p:grpSp>
      <p:grpSp>
        <p:nvGrpSpPr>
          <p:cNvPr id="352" name="组合 351"/>
          <p:cNvGrpSpPr/>
          <p:nvPr/>
        </p:nvGrpSpPr>
        <p:grpSpPr>
          <a:xfrm rot="0">
            <a:off x="1484630" y="5205730"/>
            <a:ext cx="938530" cy="822325"/>
            <a:chOff x="2183" y="8155"/>
            <a:chExt cx="1478" cy="1295"/>
          </a:xfrm>
        </p:grpSpPr>
        <p:sp>
          <p:nvSpPr>
            <p:cNvPr id="356" name="菱形 355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菱形 356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58" name="组合 357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59" name="直接连接符 358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0" name="直接连接符 359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61" name="组合 360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62" name="直接连接符 361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3" name="直接连接符 362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64" name="直接连接符 363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65" name="直接连接符 364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66" name="菱形 365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7" name="梯形 366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8" name="文本框 367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战略解码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目标传导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71" name="组合 370"/>
          <p:cNvGrpSpPr/>
          <p:nvPr/>
        </p:nvGrpSpPr>
        <p:grpSpPr>
          <a:xfrm rot="0">
            <a:off x="4968240" y="5205730"/>
            <a:ext cx="938530" cy="822325"/>
            <a:chOff x="2183" y="8155"/>
            <a:chExt cx="1478" cy="1295"/>
          </a:xfrm>
        </p:grpSpPr>
        <p:sp>
          <p:nvSpPr>
            <p:cNvPr id="372" name="菱形 371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3" name="菱形 372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74" name="组合 373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75" name="直接连接符 374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6" name="直接连接符 375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77" name="组合 376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78" name="直接连接符 377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79" name="直接连接符 378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80" name="直接连接符 379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81" name="直接连接符 380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82" name="菱形 381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3" name="梯形 382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4" name="文本框 383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数据治理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决策支持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387" name="组合 386"/>
          <p:cNvGrpSpPr/>
          <p:nvPr/>
        </p:nvGrpSpPr>
        <p:grpSpPr>
          <a:xfrm rot="0">
            <a:off x="6710045" y="5205730"/>
            <a:ext cx="938530" cy="822325"/>
            <a:chOff x="2183" y="8155"/>
            <a:chExt cx="1478" cy="1295"/>
          </a:xfrm>
        </p:grpSpPr>
        <p:sp>
          <p:nvSpPr>
            <p:cNvPr id="388" name="菱形 387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9" name="菱形 388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90" name="组合 389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391" name="直接连接符 390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2" name="直接连接符 391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93" name="组合 392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394" name="直接连接符 393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5" name="直接连接符 394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396" name="直接连接符 395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397" name="直接连接符 396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398" name="菱形 397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9" name="梯形 398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组织赋能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人才发展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03" name="组合 402"/>
          <p:cNvGrpSpPr/>
          <p:nvPr/>
        </p:nvGrpSpPr>
        <p:grpSpPr>
          <a:xfrm rot="0">
            <a:off x="8451850" y="5205730"/>
            <a:ext cx="938530" cy="822325"/>
            <a:chOff x="2183" y="8155"/>
            <a:chExt cx="1478" cy="1295"/>
          </a:xfrm>
        </p:grpSpPr>
        <p:sp>
          <p:nvSpPr>
            <p:cNvPr id="404" name="菱形 403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5" name="菱形 404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07" name="直接连接符 406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8" name="直接连接符 407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09" name="组合 408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10" name="直接连接符 409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11" name="直接连接符 410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12" name="直接连接符 411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13" name="直接连接符 412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14" name="菱形 413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5" name="梯形 414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6" name="文本框 415"/>
            <p:cNvSpPr txBox="1"/>
            <p:nvPr/>
          </p:nvSpPr>
          <p:spPr>
            <a:xfrm>
              <a:off x="2468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创新孵化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变革推动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419" name="组合 418"/>
          <p:cNvGrpSpPr/>
          <p:nvPr/>
        </p:nvGrpSpPr>
        <p:grpSpPr>
          <a:xfrm rot="0">
            <a:off x="10193655" y="5205730"/>
            <a:ext cx="938530" cy="822325"/>
            <a:chOff x="2183" y="8155"/>
            <a:chExt cx="1478" cy="1295"/>
          </a:xfrm>
        </p:grpSpPr>
        <p:sp>
          <p:nvSpPr>
            <p:cNvPr id="420" name="菱形 419"/>
            <p:cNvSpPr/>
            <p:nvPr/>
          </p:nvSpPr>
          <p:spPr>
            <a:xfrm>
              <a:off x="2186" y="8955"/>
              <a:ext cx="1472" cy="494"/>
            </a:xfrm>
            <a:prstGeom prst="diamond">
              <a:avLst/>
            </a:prstGeom>
            <a:noFill/>
            <a:ln w="12700" cap="flat" cmpd="sng" algn="ctr">
              <a:gradFill>
                <a:gsLst>
                  <a:gs pos="1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1" name="菱形 420"/>
            <p:cNvSpPr/>
            <p:nvPr/>
          </p:nvSpPr>
          <p:spPr>
            <a:xfrm>
              <a:off x="2322" y="9001"/>
              <a:ext cx="1200" cy="403"/>
            </a:xfrm>
            <a:prstGeom prst="diamond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28000"/>
                  </a:schemeClr>
                </a:gs>
              </a:gsLst>
              <a:lin ang="5400000" scaled="1"/>
            </a:gradFill>
            <a:ln w="9525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3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>
              <a:innerShdw blurRad="279400">
                <a:schemeClr val="accent1">
                  <a:lumMod val="20000"/>
                  <a:lumOff val="80000"/>
                  <a:alpha val="63000"/>
                </a:schemeClr>
              </a:innerShdw>
            </a:effectLst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22" name="组合 421"/>
            <p:cNvGrpSpPr/>
            <p:nvPr/>
          </p:nvGrpSpPr>
          <p:grpSpPr>
            <a:xfrm rot="0">
              <a:off x="3571" y="9173"/>
              <a:ext cx="90" cy="59"/>
              <a:chOff x="8353512" y="3886200"/>
              <a:chExt cx="307127" cy="266701"/>
            </a:xfrm>
          </p:grpSpPr>
          <p:cxnSp>
            <p:nvCxnSpPr>
              <p:cNvPr id="423" name="直接连接符 422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4" name="直接连接符 423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25" name="组合 424"/>
            <p:cNvGrpSpPr/>
            <p:nvPr/>
          </p:nvGrpSpPr>
          <p:grpSpPr>
            <a:xfrm rot="0" flipH="1">
              <a:off x="2183" y="9173"/>
              <a:ext cx="90" cy="59"/>
              <a:chOff x="8353512" y="3886200"/>
              <a:chExt cx="307127" cy="266701"/>
            </a:xfrm>
          </p:grpSpPr>
          <p:cxnSp>
            <p:nvCxnSpPr>
              <p:cNvPr id="426" name="直接连接符 425"/>
              <p:cNvCxnSpPr/>
              <p:nvPr/>
            </p:nvCxnSpPr>
            <p:spPr>
              <a:xfrm flipH="1" flipV="1">
                <a:off x="8353512" y="388620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27" name="直接连接符 426"/>
              <p:cNvCxnSpPr/>
              <p:nvPr/>
            </p:nvCxnSpPr>
            <p:spPr>
              <a:xfrm flipH="1">
                <a:off x="8353512" y="4015740"/>
                <a:ext cx="307127" cy="13716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428" name="直接连接符 427"/>
            <p:cNvCxnSpPr/>
            <p:nvPr/>
          </p:nvCxnSpPr>
          <p:spPr>
            <a:xfrm flipV="1">
              <a:off x="2923" y="9419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cxnSp>
          <p:nvCxnSpPr>
            <p:cNvPr id="429" name="直接连接符 428"/>
            <p:cNvCxnSpPr/>
            <p:nvPr/>
          </p:nvCxnSpPr>
          <p:spPr>
            <a:xfrm>
              <a:off x="2834" y="9420"/>
              <a:ext cx="90" cy="30"/>
            </a:xfrm>
            <a:prstGeom prst="line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430" name="菱形 429"/>
            <p:cNvSpPr/>
            <p:nvPr/>
          </p:nvSpPr>
          <p:spPr>
            <a:xfrm>
              <a:off x="2551" y="9078"/>
              <a:ext cx="742" cy="249"/>
            </a:xfrm>
            <a:prstGeom prst="diamond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  <a:ln w="6350" cap="flat" cmpd="sng" algn="ctr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1" name="梯形 430"/>
            <p:cNvSpPr/>
            <p:nvPr/>
          </p:nvSpPr>
          <p:spPr>
            <a:xfrm rot="10800000">
              <a:off x="2444" y="8480"/>
              <a:ext cx="927" cy="752"/>
            </a:xfrm>
            <a:prstGeom prst="trapezoid">
              <a:avLst>
                <a:gd name="adj" fmla="val 19469"/>
              </a:avLst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  <a:gs pos="44100">
                  <a:schemeClr val="accent1">
                    <a:lumMod val="20000"/>
                    <a:lumOff val="80000"/>
                  </a:schemeClr>
                </a:gs>
                <a:gs pos="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920240">
                <a:defRPr/>
              </a:pPr>
              <a:endParaRPr lang="zh-CN" altLang="en-US" sz="1400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2470" y="8155"/>
              <a:ext cx="884" cy="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1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运营监控</a:t>
              </a:r>
              <a:endParaRPr kumimoji="0" lang="zh-CN" altLang="en-US" sz="900" b="1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indent="0" algn="ctr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900" b="0" i="0" u="none" strike="noStrike" cap="none" spc="0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持续改进</a:t>
              </a:r>
              <a:endParaRPr kumimoji="0" lang="zh-CN" altLang="en-US" sz="9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34" name="图片 433" descr="战略目标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2610" y="5635625"/>
            <a:ext cx="235585" cy="235585"/>
          </a:xfrm>
          <a:prstGeom prst="rect">
            <a:avLst/>
          </a:prstGeom>
        </p:spPr>
      </p:pic>
      <p:pic>
        <p:nvPicPr>
          <p:cNvPr id="437" name="图片 436" descr="icon_组织类型_企业组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0" y="5593715"/>
            <a:ext cx="303530" cy="303530"/>
          </a:xfrm>
          <a:prstGeom prst="rect">
            <a:avLst/>
          </a:prstGeom>
        </p:spPr>
      </p:pic>
      <p:pic>
        <p:nvPicPr>
          <p:cNvPr id="439" name="图片 438" descr="数据治理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635" y="5631815"/>
            <a:ext cx="252730" cy="252730"/>
          </a:xfrm>
          <a:prstGeom prst="rect">
            <a:avLst/>
          </a:prstGeom>
        </p:spPr>
      </p:pic>
      <p:pic>
        <p:nvPicPr>
          <p:cNvPr id="440" name="图片 439" descr="解决方案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00465" y="5598795"/>
            <a:ext cx="272415" cy="272415"/>
          </a:xfrm>
          <a:prstGeom prst="rect">
            <a:avLst/>
          </a:prstGeom>
        </p:spPr>
      </p:pic>
      <p:pic>
        <p:nvPicPr>
          <p:cNvPr id="442" name="图片 441" descr="3运营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13695" y="5605145"/>
            <a:ext cx="279400" cy="2794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685290" y="3708400"/>
            <a:ext cx="1877695" cy="1059180"/>
            <a:chOff x="2750" y="5762"/>
            <a:chExt cx="2957" cy="1668"/>
          </a:xfrm>
        </p:grpSpPr>
        <p:sp>
          <p:nvSpPr>
            <p:cNvPr id="19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以标准化与协同为核心，通过梳理、设计、优化关键业务流程，明确权责与节点，消除冗余与断点，提升整体运营效率与服务质量。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23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流程管理支撑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25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1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138295" y="3708400"/>
            <a:ext cx="1877695" cy="1059180"/>
            <a:chOff x="2750" y="5762"/>
            <a:chExt cx="2957" cy="1668"/>
          </a:xfrm>
        </p:grpSpPr>
        <p:sp>
          <p:nvSpPr>
            <p:cNvPr id="27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以目标与结果为导向，建立覆盖组织、团队、个人的多层次绩效指标体系，通过目标设定、过程跟踪，驱动实现持续改进与价值创造。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0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1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绩效管理支撑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2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2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6162675" y="3708400"/>
            <a:ext cx="1877695" cy="1059180"/>
            <a:chOff x="2750" y="5762"/>
            <a:chExt cx="2957" cy="1668"/>
          </a:xfrm>
        </p:grpSpPr>
        <p:sp>
          <p:nvSpPr>
            <p:cNvPr id="34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以预防与韧性为重点，系统识别、评估、监控运营过程中的内外部风险，建立预警机制与应对预案，保障运营安全，增强组织抵御能力。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37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8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风险控制支撑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39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3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8632190" y="3708400"/>
            <a:ext cx="1877695" cy="1059180"/>
            <a:chOff x="2750" y="5762"/>
            <a:chExt cx="2957" cy="1668"/>
          </a:xfrm>
        </p:grpSpPr>
        <p:sp>
          <p:nvSpPr>
            <p:cNvPr id="41" name="显眼包PPT5"/>
            <p:cNvSpPr/>
            <p:nvPr/>
          </p:nvSpPr>
          <p:spPr>
            <a:xfrm flipV="1">
              <a:off x="2750" y="5795"/>
              <a:ext cx="2956" cy="163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56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spc="3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显眼包PPT-1"/>
            <p:cNvSpPr txBox="1"/>
            <p:nvPr/>
          </p:nvSpPr>
          <p:spPr>
            <a:xfrm>
              <a:off x="2834" y="6327"/>
              <a:ext cx="2769" cy="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以优化与动态配置为手段，统筹协调人力、资金、物资、数据、技术等关键资源，最大化资源利用效率，支撑业务敏捷响应与稳定供给。</a:t>
              </a:r>
              <a:endPara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 rot="0">
              <a:off x="2750" y="5762"/>
              <a:ext cx="2957" cy="391"/>
              <a:chOff x="1437949" y="3612626"/>
              <a:chExt cx="1877464" cy="248345"/>
            </a:xfrm>
          </p:grpSpPr>
          <p:sp>
            <p:nvSpPr>
              <p:cNvPr id="44" name="显眼包PPT-2"/>
              <p:cNvSpPr/>
              <p:nvPr/>
            </p:nvSpPr>
            <p:spPr>
              <a:xfrm>
                <a:off x="1437949" y="3612626"/>
                <a:ext cx="1877464" cy="24834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2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45" name="显眼包PPT-3"/>
              <p:cNvSpPr txBox="1"/>
              <p:nvPr/>
            </p:nvSpPr>
            <p:spPr>
              <a:xfrm>
                <a:off x="1958983" y="3644702"/>
                <a:ext cx="914288" cy="184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zh-CN" altLang="en-US" sz="120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83000">
                          <a:schemeClr val="accent1"/>
                        </a:gs>
                      </a:gsLst>
                      <a:lin ang="5400000" scaled="0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资源调度支撑</a:t>
                </a:r>
                <a:endParaRPr lang="zh-CN" altLang="en-US" sz="120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83000">
                        <a:schemeClr val="accent1"/>
                      </a:gs>
                    </a:gsLst>
                    <a:lin ang="5400000" scaled="0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46" name="显眼包PPT-4"/>
              <p:cNvSpPr/>
              <p:nvPr/>
            </p:nvSpPr>
            <p:spPr>
              <a:xfrm>
                <a:off x="1550330" y="3637484"/>
                <a:ext cx="198906" cy="19890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8100000"/>
              </a:gradFill>
              <a:ln w="12700">
                <a:solidFill>
                  <a:schemeClr val="bg1"/>
                </a:solidFill>
              </a:ln>
              <a:effectLst>
                <a:outerShdw blurRad="103632" dist="25400" dir="5400000" sx="98000" sy="98000" algn="t" rotWithShape="0">
                  <a:schemeClr val="accent1">
                    <a:lumMod val="60000"/>
                    <a:lumOff val="40000"/>
                    <a:alpha val="4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3269" tIns="46634" rIns="93269" bIns="46634" rtlCol="0" anchor="ctr"/>
              <a:lstStyle/>
              <a:p>
                <a:pPr algn="ctr"/>
                <a:r>
                  <a:rPr lang="en-US" altLang="zh-CN" sz="9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j-ea"/>
                  </a:rPr>
                  <a:t>4</a:t>
                </a:r>
                <a:endParaRPr lang="en-US" alt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</p:grpSp>
      </p:grpSp>
      <p:sp>
        <p:nvSpPr>
          <p:cNvPr id="47" name="上箭头 46"/>
          <p:cNvSpPr/>
          <p:nvPr/>
        </p:nvSpPr>
        <p:spPr>
          <a:xfrm>
            <a:off x="268986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8" name="上箭头 47"/>
          <p:cNvSpPr/>
          <p:nvPr/>
        </p:nvSpPr>
        <p:spPr>
          <a:xfrm>
            <a:off x="443865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9" name="上箭头 48"/>
          <p:cNvSpPr/>
          <p:nvPr/>
        </p:nvSpPr>
        <p:spPr>
          <a:xfrm>
            <a:off x="618744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0" name="上箭头 49"/>
          <p:cNvSpPr/>
          <p:nvPr/>
        </p:nvSpPr>
        <p:spPr>
          <a:xfrm>
            <a:off x="793623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9685020" y="5118735"/>
            <a:ext cx="274320" cy="293370"/>
          </a:xfrm>
          <a:prstGeom prst="up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 rot="0">
            <a:off x="3631565" y="3603625"/>
            <a:ext cx="387350" cy="1308735"/>
            <a:chOff x="2157" y="5063"/>
            <a:chExt cx="2447" cy="5122"/>
          </a:xfrm>
        </p:grpSpPr>
        <p:sp>
          <p:nvSpPr>
            <p:cNvPr id="101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2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3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 rot="0">
            <a:off x="8152765" y="3603625"/>
            <a:ext cx="387350" cy="1308735"/>
            <a:chOff x="2157" y="5063"/>
            <a:chExt cx="2447" cy="5122"/>
          </a:xfrm>
        </p:grpSpPr>
        <p:sp>
          <p:nvSpPr>
            <p:cNvPr id="120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2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3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 rot="0">
            <a:off x="1240790" y="3603625"/>
            <a:ext cx="387350" cy="1308735"/>
            <a:chOff x="2157" y="5063"/>
            <a:chExt cx="2447" cy="5122"/>
          </a:xfrm>
        </p:grpSpPr>
        <p:sp>
          <p:nvSpPr>
            <p:cNvPr id="126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7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8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9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 rot="0">
            <a:off x="10615930" y="3603625"/>
            <a:ext cx="387350" cy="1308735"/>
            <a:chOff x="2157" y="5063"/>
            <a:chExt cx="2447" cy="5122"/>
          </a:xfrm>
        </p:grpSpPr>
        <p:sp>
          <p:nvSpPr>
            <p:cNvPr id="132" name="Freeform: Shape 88"/>
            <p:cNvSpPr/>
            <p:nvPr/>
          </p:nvSpPr>
          <p:spPr>
            <a:xfrm>
              <a:off x="2166" y="5591"/>
              <a:ext cx="2438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3" name="Freeform: Shape 89"/>
            <p:cNvSpPr/>
            <p:nvPr/>
          </p:nvSpPr>
          <p:spPr>
            <a:xfrm>
              <a:off x="2166" y="5063"/>
              <a:ext cx="2438" cy="52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4" name="Freeform: Shape 90"/>
            <p:cNvSpPr/>
            <p:nvPr/>
          </p:nvSpPr>
          <p:spPr>
            <a:xfrm>
              <a:off x="2157" y="9599"/>
              <a:ext cx="2438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Freeform: Shape 91"/>
            <p:cNvSpPr/>
            <p:nvPr/>
          </p:nvSpPr>
          <p:spPr>
            <a:xfrm>
              <a:off x="2157" y="9933"/>
              <a:ext cx="2438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2507" y="5970"/>
              <a:ext cx="1750" cy="3654"/>
            </a:xfrm>
            <a:prstGeom prst="rect">
              <a:avLst/>
            </a:prstGeom>
            <a:pattFill prst="wdDn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pic>
        <p:nvPicPr>
          <p:cNvPr id="637" name="图片 636" descr="古风祥云云朵20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55430" y="2053908"/>
            <a:ext cx="2187575" cy="838200"/>
          </a:xfrm>
          <a:prstGeom prst="rect">
            <a:avLst/>
          </a:prstGeom>
        </p:spPr>
      </p:pic>
      <p:sp>
        <p:nvSpPr>
          <p:cNvPr id="639" name="©显眼包PPT16"/>
          <p:cNvSpPr txBox="1"/>
          <p:nvPr/>
        </p:nvSpPr>
        <p:spPr>
          <a:xfrm>
            <a:off x="9140190" y="1903730"/>
            <a:ext cx="121920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右翼展开</a:t>
            </a:r>
            <a:endParaRPr kumimoji="0" lang="zh-CN" altLang="en-US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pic>
        <p:nvPicPr>
          <p:cNvPr id="640" name="图片 639" descr="古风祥云云朵20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966470" y="2053908"/>
            <a:ext cx="2187575" cy="838200"/>
          </a:xfrm>
          <a:prstGeom prst="rect">
            <a:avLst/>
          </a:prstGeom>
        </p:spPr>
      </p:pic>
      <p:sp>
        <p:nvSpPr>
          <p:cNvPr id="641" name="©显眼包PPT16"/>
          <p:cNvSpPr txBox="1"/>
          <p:nvPr/>
        </p:nvSpPr>
        <p:spPr>
          <a:xfrm>
            <a:off x="1901825" y="1903730"/>
            <a:ext cx="121920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左翼展开</a:t>
            </a:r>
            <a:endParaRPr kumimoji="0" lang="zh-CN" altLang="en-US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4959350"/>
            <a:ext cx="12192000" cy="1898650"/>
            <a:chOff x="0" y="7810"/>
            <a:chExt cx="19200" cy="2990"/>
          </a:xfrm>
        </p:grpSpPr>
        <p:sp>
          <p:nvSpPr>
            <p:cNvPr id="2" name="矩形 1"/>
            <p:cNvSpPr/>
            <p:nvPr/>
          </p:nvSpPr>
          <p:spPr>
            <a:xfrm>
              <a:off x="0" y="7810"/>
              <a:ext cx="19200" cy="2990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" name="©显眼包PPT16"/>
            <p:cNvSpPr txBox="1"/>
            <p:nvPr/>
          </p:nvSpPr>
          <p:spPr>
            <a:xfrm>
              <a:off x="2990" y="8578"/>
              <a:ext cx="11508" cy="1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3000" b="1" i="0" u="none" strike="noStrike" kern="120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另一个配色效果供选择，删除本框即可！</a:t>
              </a:r>
              <a:endParaRPr kumimoji="0" lang="zh-CN" sz="30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3000" b="1" i="0" u="none" strike="noStrike" kern="1200" cap="none" spc="0" normalizeH="0" baseline="0" noProof="0" dirty="0">
                  <a:ln w="3175"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rPr>
                <a:t>本页不计入页面数量</a:t>
              </a:r>
              <a:endParaRPr kumimoji="0" lang="zh-CN" sz="30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18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35266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noProof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企业经营管理标杆模式架构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4" name="图片 103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52145" y="2613660"/>
            <a:ext cx="2137410" cy="3276600"/>
            <a:chOff x="1027" y="4140"/>
            <a:chExt cx="3366" cy="5160"/>
          </a:xfrm>
        </p:grpSpPr>
        <p:sp>
          <p:nvSpPr>
            <p:cNvPr id="10" name="显眼包PPT1"/>
            <p:cNvSpPr/>
            <p:nvPr/>
          </p:nvSpPr>
          <p:spPr>
            <a:xfrm>
              <a:off x="1028" y="5105"/>
              <a:ext cx="3364" cy="4195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9" name="显眼包PPT3"/>
            <p:cNvSpPr/>
            <p:nvPr/>
          </p:nvSpPr>
          <p:spPr>
            <a:xfrm>
              <a:off x="1028" y="4140"/>
              <a:ext cx="3364" cy="965"/>
            </a:xfrm>
            <a:prstGeom prst="rect">
              <a:avLst/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使命驱动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4" name="显眼包PPT12"/>
            <p:cNvSpPr/>
            <p:nvPr/>
          </p:nvSpPr>
          <p:spPr>
            <a:xfrm>
              <a:off x="1027" y="8300"/>
              <a:ext cx="3366" cy="1001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60000"/>
                    <a:lumOff val="40000"/>
                    <a:alpha val="27000"/>
                  </a:schemeClr>
                </a:gs>
                <a:gs pos="100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805430" y="2613660"/>
            <a:ext cx="2137410" cy="3276600"/>
            <a:chOff x="1027" y="4140"/>
            <a:chExt cx="3366" cy="5160"/>
          </a:xfrm>
        </p:grpSpPr>
        <p:sp>
          <p:nvSpPr>
            <p:cNvPr id="14" name="显眼包PPT1"/>
            <p:cNvSpPr/>
            <p:nvPr/>
          </p:nvSpPr>
          <p:spPr>
            <a:xfrm>
              <a:off x="1028" y="5105"/>
              <a:ext cx="3364" cy="4195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20000"/>
                    <a:lumOff val="80000"/>
                    <a:alpha val="47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显眼包PPT3"/>
            <p:cNvSpPr/>
            <p:nvPr/>
          </p:nvSpPr>
          <p:spPr>
            <a:xfrm>
              <a:off x="1028" y="4140"/>
              <a:ext cx="3364" cy="965"/>
            </a:xfrm>
            <a:prstGeom prst="rect">
              <a:avLst/>
            </a:prstGeom>
            <a:gradFill>
              <a:gsLst>
                <a:gs pos="1800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5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团队协同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显眼包PPT12"/>
            <p:cNvSpPr/>
            <p:nvPr/>
          </p:nvSpPr>
          <p:spPr>
            <a:xfrm>
              <a:off x="1027" y="8300"/>
              <a:ext cx="3366" cy="1001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60000"/>
                    <a:lumOff val="40000"/>
                    <a:alpha val="27000"/>
                  </a:schemeClr>
                </a:gs>
                <a:gs pos="100000">
                  <a:schemeClr val="accent5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958715" y="2613660"/>
            <a:ext cx="2137410" cy="3276600"/>
            <a:chOff x="1027" y="4140"/>
            <a:chExt cx="3366" cy="5160"/>
          </a:xfrm>
        </p:grpSpPr>
        <p:sp>
          <p:nvSpPr>
            <p:cNvPr id="18" name="显眼包PPT1"/>
            <p:cNvSpPr/>
            <p:nvPr/>
          </p:nvSpPr>
          <p:spPr>
            <a:xfrm>
              <a:off x="1028" y="5105"/>
              <a:ext cx="3364" cy="4195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显眼包PPT3"/>
            <p:cNvSpPr/>
            <p:nvPr/>
          </p:nvSpPr>
          <p:spPr>
            <a:xfrm>
              <a:off x="1028" y="4140"/>
              <a:ext cx="3364" cy="965"/>
            </a:xfrm>
            <a:prstGeom prst="rect">
              <a:avLst/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智慧运营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显眼包PPT12"/>
            <p:cNvSpPr/>
            <p:nvPr/>
          </p:nvSpPr>
          <p:spPr>
            <a:xfrm>
              <a:off x="1027" y="8300"/>
              <a:ext cx="3366" cy="1001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60000"/>
                    <a:lumOff val="40000"/>
                    <a:alpha val="27000"/>
                  </a:schemeClr>
                </a:gs>
                <a:gs pos="100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112000" y="2613660"/>
            <a:ext cx="2137410" cy="3276600"/>
            <a:chOff x="1027" y="4140"/>
            <a:chExt cx="3366" cy="5160"/>
          </a:xfrm>
        </p:grpSpPr>
        <p:sp>
          <p:nvSpPr>
            <p:cNvPr id="23" name="显眼包PPT1"/>
            <p:cNvSpPr/>
            <p:nvPr/>
          </p:nvSpPr>
          <p:spPr>
            <a:xfrm>
              <a:off x="1028" y="5105"/>
              <a:ext cx="3364" cy="4195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20000"/>
                    <a:lumOff val="80000"/>
                    <a:alpha val="47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显眼包PPT3"/>
            <p:cNvSpPr/>
            <p:nvPr/>
          </p:nvSpPr>
          <p:spPr>
            <a:xfrm>
              <a:off x="1028" y="4140"/>
              <a:ext cx="3364" cy="965"/>
            </a:xfrm>
            <a:prstGeom prst="rect">
              <a:avLst/>
            </a:prstGeom>
            <a:gradFill>
              <a:gsLst>
                <a:gs pos="18000">
                  <a:schemeClr val="accent5">
                    <a:lumMod val="60000"/>
                    <a:lumOff val="40000"/>
                  </a:schemeClr>
                </a:gs>
                <a:gs pos="100000">
                  <a:schemeClr val="accent5"/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5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生态共建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显眼包PPT12"/>
            <p:cNvSpPr/>
            <p:nvPr/>
          </p:nvSpPr>
          <p:spPr>
            <a:xfrm>
              <a:off x="1027" y="8300"/>
              <a:ext cx="3366" cy="1001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60000"/>
                    <a:lumOff val="40000"/>
                    <a:alpha val="27000"/>
                  </a:schemeClr>
                </a:gs>
                <a:gs pos="100000">
                  <a:schemeClr val="accent5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9265285" y="2613660"/>
            <a:ext cx="2137410" cy="3276600"/>
            <a:chOff x="1027" y="4140"/>
            <a:chExt cx="3366" cy="5160"/>
          </a:xfrm>
        </p:grpSpPr>
        <p:sp>
          <p:nvSpPr>
            <p:cNvPr id="27" name="显眼包PPT1"/>
            <p:cNvSpPr/>
            <p:nvPr/>
          </p:nvSpPr>
          <p:spPr>
            <a:xfrm>
              <a:off x="1028" y="5105"/>
              <a:ext cx="3364" cy="4195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显眼包PPT3"/>
            <p:cNvSpPr/>
            <p:nvPr/>
          </p:nvSpPr>
          <p:spPr>
            <a:xfrm>
              <a:off x="1028" y="4140"/>
              <a:ext cx="3364" cy="965"/>
            </a:xfrm>
            <a:prstGeom prst="rect">
              <a:avLst/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价值创造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显眼包PPT12"/>
            <p:cNvSpPr/>
            <p:nvPr/>
          </p:nvSpPr>
          <p:spPr>
            <a:xfrm>
              <a:off x="1027" y="8300"/>
              <a:ext cx="3366" cy="1001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60000"/>
                    <a:lumOff val="40000"/>
                    <a:alpha val="27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200" spc="3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3" name="显眼包PPT3"/>
          <p:cNvSpPr/>
          <p:nvPr/>
        </p:nvSpPr>
        <p:spPr>
          <a:xfrm>
            <a:off x="669290" y="5920740"/>
            <a:ext cx="10732770" cy="612775"/>
          </a:xfrm>
          <a:prstGeom prst="rect">
            <a:avLst/>
          </a:prstGeom>
          <a:gradFill>
            <a:gsLst>
              <a:gs pos="18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1"/>
          </a:gradFill>
          <a:ln>
            <a:noFill/>
          </a:ln>
          <a:effectLst>
            <a:innerShdw blurRad="2540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五位一体系统推进，努力实现五个升级，积极构建具有行业标杆作用和竞争优势的企业管理模式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6430" y="1957104"/>
            <a:ext cx="10754995" cy="60960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©显眼包PPT16"/>
          <p:cNvSpPr txBox="1"/>
          <p:nvPr/>
        </p:nvSpPr>
        <p:spPr>
          <a:xfrm>
            <a:off x="877570" y="2123474"/>
            <a:ext cx="102870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系统设计：全领域统筹，推动规模扩张到质量效益升级，构建跨部门协同、全流程贯通的企业运营体系</a:t>
            </a:r>
            <a:endParaRPr kumimoji="0" lang="en-US" altLang="zh-CN" b="1" i="0" u="none" strike="noStrike" kern="1200" cap="none" spc="0" normalizeH="0" baseline="0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" name="梯形 5"/>
          <p:cNvSpPr/>
          <p:nvPr/>
        </p:nvSpPr>
        <p:spPr>
          <a:xfrm>
            <a:off x="648335" y="1383030"/>
            <a:ext cx="10752455" cy="505460"/>
          </a:xfrm>
          <a:prstGeom prst="trapezoid">
            <a:avLst>
              <a:gd name="adj" fmla="val 355209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4100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  <a:gs pos="41000">
                  <a:schemeClr val="accent1">
                    <a:lumMod val="60000"/>
                    <a:lumOff val="40000"/>
                    <a:alpha val="0"/>
                  </a:schemeClr>
                </a:gs>
                <a:gs pos="7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2" name="紫荆的职场Point28"/>
          <p:cNvSpPr/>
          <p:nvPr/>
        </p:nvSpPr>
        <p:spPr>
          <a:xfrm>
            <a:off x="2342515" y="1067435"/>
            <a:ext cx="7185660" cy="316230"/>
          </a:xfrm>
          <a:prstGeom prst="triangle">
            <a:avLst>
              <a:gd name="adj" fmla="val 50434"/>
            </a:avLst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4100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  <a:alpha val="81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3" name="紫荆的职场Point28"/>
          <p:cNvSpPr/>
          <p:nvPr/>
        </p:nvSpPr>
        <p:spPr>
          <a:xfrm>
            <a:off x="1829435" y="1067435"/>
            <a:ext cx="8201660" cy="714375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4100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5400000" scaled="1"/>
            <a:tileRect/>
          </a:gradFill>
          <a:ln w="6350">
            <a:gradFill>
              <a:gsLst>
                <a:gs pos="0">
                  <a:schemeClr val="accent1">
                    <a:lumMod val="60000"/>
                    <a:lumOff val="40000"/>
                    <a:alpha val="81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innerShdw blurRad="114300">
              <a:schemeClr val="bg1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3339465" y="1414145"/>
            <a:ext cx="5255895" cy="368300"/>
          </a:xfrm>
          <a:prstGeom prst="rect">
            <a:avLst/>
          </a:prstGeom>
          <a:noFill/>
          <a:ln w="6350"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alpha val="41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alpha val="15000"/>
                      </a:schemeClr>
                    </a:gs>
                  </a:gsLst>
                  <a:lin ang="5400000" scaled="1"/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“一站式”企业经营管理标杆模式</a:t>
            </a:r>
            <a:endParaRPr lang="zh-CN" altLang="en-US" b="1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显眼包PPT-1"/>
          <p:cNvSpPr txBox="1"/>
          <p:nvPr/>
        </p:nvSpPr>
        <p:spPr>
          <a:xfrm>
            <a:off x="841693" y="5385435"/>
            <a:ext cx="1758315" cy="405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打造员工可参与、文化能共鸣的</a:t>
            </a:r>
            <a:endParaRPr lang="zh-CN" altLang="en-US" sz="900" b="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1500" b="1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组织凝聚力场域</a:t>
            </a:r>
            <a:endParaRPr lang="zh-CN" altLang="en-US" sz="1500" b="1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显眼包PPT-1"/>
          <p:cNvSpPr txBox="1"/>
          <p:nvPr/>
        </p:nvSpPr>
        <p:spPr>
          <a:xfrm>
            <a:off x="2994978" y="5385435"/>
            <a:ext cx="1758315" cy="405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构建员工与企业共同成长的</a:t>
            </a:r>
            <a:endParaRPr lang="zh-CN" altLang="en-US" sz="900" b="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1500" b="1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学习型发展共同体</a:t>
            </a:r>
            <a:endParaRPr lang="zh-CN" altLang="en-US" sz="1500" b="1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显眼包PPT-1"/>
          <p:cNvSpPr txBox="1"/>
          <p:nvPr/>
        </p:nvSpPr>
        <p:spPr>
          <a:xfrm>
            <a:off x="5148263" y="5385435"/>
            <a:ext cx="1758315" cy="405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打造需求可感知、服务可触达的</a:t>
            </a:r>
            <a:endParaRPr lang="zh-CN" altLang="en-US" sz="900" b="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1500" b="1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智慧运营中枢</a:t>
            </a:r>
            <a:endParaRPr lang="zh-CN" altLang="en-US" sz="1500" b="1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显眼包PPT-1"/>
          <p:cNvSpPr txBox="1"/>
          <p:nvPr/>
        </p:nvSpPr>
        <p:spPr>
          <a:xfrm>
            <a:off x="7232015" y="5385435"/>
            <a:ext cx="1897380" cy="405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塑造战略、执行、文化、协同发展的</a:t>
            </a:r>
            <a:endParaRPr lang="zh-CN" altLang="en-US" sz="900" b="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1500" b="1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多维商业生态</a:t>
            </a:r>
            <a:endParaRPr lang="zh-CN" altLang="en-US" sz="1500" b="1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显眼包PPT-1"/>
          <p:cNvSpPr txBox="1"/>
          <p:nvPr/>
        </p:nvSpPr>
        <p:spPr>
          <a:xfrm>
            <a:off x="9454833" y="5385435"/>
            <a:ext cx="1758315" cy="405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实现运营创新与人才深度融合的</a:t>
            </a:r>
            <a:endParaRPr lang="zh-CN" altLang="en-US" sz="900" b="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10000"/>
              </a:lnSpc>
              <a:spcAft>
                <a:spcPts val="0"/>
              </a:spcAft>
            </a:pPr>
            <a:r>
              <a:rPr lang="zh-CN" altLang="en-US" sz="1500" b="1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企业成长模式</a:t>
            </a:r>
            <a:endParaRPr lang="zh-CN" altLang="en-US" sz="1500" b="1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47750" y="3466465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企业价值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47750" y="4308793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文化践行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显眼包PPT-3"/>
          <p:cNvSpPr txBox="1"/>
          <p:nvPr/>
        </p:nvSpPr>
        <p:spPr>
          <a:xfrm>
            <a:off x="1170940" y="4827905"/>
            <a:ext cx="1172210" cy="2222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 w="317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全方位</a:t>
            </a:r>
            <a:r>
              <a:rPr lang="zh-CN" altLang="en-US" b="1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引领</a:t>
            </a:r>
            <a:endParaRPr lang="zh-CN" altLang="en-US" b="1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68650" y="3466465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管理支持</a:t>
            </a:r>
            <a:endParaRPr lang="zh-CN" altLang="en-US" sz="14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168650" y="4308793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共享共建</a:t>
            </a:r>
            <a:endParaRPr lang="zh-CN" altLang="en-US" sz="14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显眼包PPT-3"/>
          <p:cNvSpPr txBox="1"/>
          <p:nvPr/>
        </p:nvSpPr>
        <p:spPr>
          <a:xfrm>
            <a:off x="3291840" y="4865370"/>
            <a:ext cx="1172210" cy="2222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 w="3175"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全员化</a:t>
            </a:r>
            <a:r>
              <a:rPr lang="zh-CN" altLang="en-US" b="1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参与</a:t>
            </a:r>
            <a:endParaRPr lang="zh-CN" altLang="en-US" b="1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21618" y="3466465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321618" y="4308793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决策支持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显眼包PPT-3"/>
          <p:cNvSpPr txBox="1"/>
          <p:nvPr/>
        </p:nvSpPr>
        <p:spPr>
          <a:xfrm>
            <a:off x="5441315" y="4827905"/>
            <a:ext cx="1172210" cy="2222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 w="317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全数据</a:t>
            </a:r>
            <a:r>
              <a:rPr lang="zh-CN" altLang="en-US" b="1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赋能</a:t>
            </a:r>
            <a:endParaRPr lang="zh-CN" altLang="en-US" b="1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7474903" y="3466465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</a:t>
            </a:r>
            <a:endParaRPr lang="zh-CN" altLang="en-US" sz="14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474903" y="4308793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成长平台</a:t>
            </a:r>
            <a:endParaRPr lang="zh-CN" altLang="en-US" sz="14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显眼包PPT-3"/>
          <p:cNvSpPr txBox="1"/>
          <p:nvPr/>
        </p:nvSpPr>
        <p:spPr>
          <a:xfrm>
            <a:off x="7594600" y="4865370"/>
            <a:ext cx="1172210" cy="2222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 w="3175"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全要素</a:t>
            </a:r>
            <a:r>
              <a:rPr lang="zh-CN" altLang="en-US" b="1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融合</a:t>
            </a:r>
            <a:endParaRPr lang="zh-CN" altLang="en-US" b="1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628188" y="3466465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阶段衔接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628188" y="4308793"/>
            <a:ext cx="1411605" cy="3041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能力适配</a:t>
            </a:r>
            <a:endParaRPr lang="zh-CN" altLang="en-US" sz="1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显眼包PPT-3"/>
          <p:cNvSpPr txBox="1"/>
          <p:nvPr/>
        </p:nvSpPr>
        <p:spPr>
          <a:xfrm>
            <a:off x="9747885" y="4827905"/>
            <a:ext cx="1172210" cy="2222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b="1" noProof="0" dirty="0">
                <a:ln w="317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全周期</a:t>
            </a:r>
            <a:r>
              <a:rPr lang="zh-CN" altLang="en-US" b="1" noProof="0" dirty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覆盖</a:t>
            </a:r>
            <a:endParaRPr lang="zh-CN" altLang="en-US" b="1" noProof="0" dirty="0">
              <a:ln w="3175"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grpSp>
        <p:nvGrpSpPr>
          <p:cNvPr id="57" name="组合 56"/>
          <p:cNvGrpSpPr>
            <a:grpSpLocks noChangeAspect="1"/>
          </p:cNvGrpSpPr>
          <p:nvPr/>
        </p:nvGrpSpPr>
        <p:grpSpPr>
          <a:xfrm rot="5400000">
            <a:off x="1555115" y="3846830"/>
            <a:ext cx="332105" cy="384175"/>
            <a:chOff x="14325029" y="4991308"/>
            <a:chExt cx="630847" cy="474526"/>
          </a:xfrm>
        </p:grpSpPr>
        <p:sp>
          <p:nvSpPr>
            <p:cNvPr id="58" name="三角形 4"/>
            <p:cNvSpPr/>
            <p:nvPr/>
          </p:nvSpPr>
          <p:spPr>
            <a:xfrm rot="5400000">
              <a:off x="1450796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9" name="三角形 5"/>
            <p:cNvSpPr/>
            <p:nvPr/>
          </p:nvSpPr>
          <p:spPr>
            <a:xfrm rot="5400000">
              <a:off x="1429841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>
            <a:grpSpLocks noChangeAspect="1"/>
          </p:cNvGrpSpPr>
          <p:nvPr/>
        </p:nvGrpSpPr>
        <p:grpSpPr>
          <a:xfrm rot="5400000">
            <a:off x="3712210" y="3846830"/>
            <a:ext cx="332105" cy="384175"/>
            <a:chOff x="14325029" y="4991308"/>
            <a:chExt cx="630847" cy="474526"/>
          </a:xfrm>
        </p:grpSpPr>
        <p:sp>
          <p:nvSpPr>
            <p:cNvPr id="61" name="三角形 4"/>
            <p:cNvSpPr/>
            <p:nvPr/>
          </p:nvSpPr>
          <p:spPr>
            <a:xfrm rot="5400000">
              <a:off x="1450796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99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2" name="三角形 5"/>
            <p:cNvSpPr/>
            <p:nvPr/>
          </p:nvSpPr>
          <p:spPr>
            <a:xfrm rot="5400000">
              <a:off x="1429841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3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/>
        </p:nvGrpSpPr>
        <p:grpSpPr>
          <a:xfrm rot="5400000">
            <a:off x="5861368" y="3846830"/>
            <a:ext cx="332105" cy="384175"/>
            <a:chOff x="14325029" y="4991308"/>
            <a:chExt cx="630847" cy="474526"/>
          </a:xfrm>
        </p:grpSpPr>
        <p:sp>
          <p:nvSpPr>
            <p:cNvPr id="64" name="三角形 4"/>
            <p:cNvSpPr/>
            <p:nvPr/>
          </p:nvSpPr>
          <p:spPr>
            <a:xfrm rot="5400000">
              <a:off x="1450796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5" name="三角形 5"/>
            <p:cNvSpPr/>
            <p:nvPr/>
          </p:nvSpPr>
          <p:spPr>
            <a:xfrm rot="5400000">
              <a:off x="1429841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66" name="组合 65"/>
          <p:cNvGrpSpPr>
            <a:grpSpLocks noChangeAspect="1"/>
          </p:cNvGrpSpPr>
          <p:nvPr/>
        </p:nvGrpSpPr>
        <p:grpSpPr>
          <a:xfrm rot="5400000">
            <a:off x="8014653" y="3846830"/>
            <a:ext cx="332105" cy="384175"/>
            <a:chOff x="14325029" y="4991308"/>
            <a:chExt cx="630847" cy="474526"/>
          </a:xfrm>
        </p:grpSpPr>
        <p:sp>
          <p:nvSpPr>
            <p:cNvPr id="67" name="三角形 4"/>
            <p:cNvSpPr/>
            <p:nvPr/>
          </p:nvSpPr>
          <p:spPr>
            <a:xfrm rot="5400000">
              <a:off x="1450796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99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68" name="三角形 5"/>
            <p:cNvSpPr/>
            <p:nvPr/>
          </p:nvSpPr>
          <p:spPr>
            <a:xfrm rot="5400000">
              <a:off x="1429841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73000">
                  <a:schemeClr val="accent5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69" name="组合 68"/>
          <p:cNvGrpSpPr>
            <a:grpSpLocks noChangeAspect="1"/>
          </p:cNvGrpSpPr>
          <p:nvPr/>
        </p:nvGrpSpPr>
        <p:grpSpPr>
          <a:xfrm rot="5400000">
            <a:off x="10167938" y="3846830"/>
            <a:ext cx="332105" cy="384175"/>
            <a:chOff x="14325029" y="4991308"/>
            <a:chExt cx="630847" cy="474526"/>
          </a:xfrm>
        </p:grpSpPr>
        <p:sp>
          <p:nvSpPr>
            <p:cNvPr id="70" name="三角形 4"/>
            <p:cNvSpPr/>
            <p:nvPr/>
          </p:nvSpPr>
          <p:spPr>
            <a:xfrm rot="5400000">
              <a:off x="1450796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99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1" name="三角形 5"/>
            <p:cNvSpPr/>
            <p:nvPr/>
          </p:nvSpPr>
          <p:spPr>
            <a:xfrm rot="5400000">
              <a:off x="14298415" y="5017922"/>
              <a:ext cx="474526" cy="42129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4663" tIns="14663" rIns="14663" bIns="14663" numCol="1" spcCol="38100" rtlCol="0" anchor="ctr">
              <a:spAutoFit/>
            </a:bodyPr>
            <a:lstStyle/>
            <a:p>
              <a:pPr algn="ctr" defTabSz="238125" hangingPunct="0"/>
              <a:endParaRPr lang="zh-CN" altLang="en-US" sz="925">
                <a:solidFill>
                  <a:srgbClr val="FFFFFF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8298"/>
            <a:ext cx="753364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sz="22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2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一体两翼四柱</a:t>
            </a:r>
            <a:r>
              <a:rPr lang="en-US" altLang="zh-CN" sz="22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22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运营提升工程</a:t>
            </a:r>
            <a:endParaRPr sz="22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显眼包PPT1"/>
          <p:cNvSpPr/>
          <p:nvPr/>
        </p:nvSpPr>
        <p:spPr>
          <a:xfrm>
            <a:off x="228056" y="5943345"/>
            <a:ext cx="11814629" cy="276999"/>
          </a:xfrm>
          <a:prstGeom prst="trapezoid">
            <a:avLst>
              <a:gd name="adj" fmla="val 123909"/>
            </a:avLst>
          </a:prstGeom>
          <a:gradFill flip="none" rotWithShape="1">
            <a:gsLst>
              <a:gs pos="1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9525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显眼包PPT2"/>
          <p:cNvSpPr/>
          <p:nvPr/>
        </p:nvSpPr>
        <p:spPr>
          <a:xfrm>
            <a:off x="228056" y="6222567"/>
            <a:ext cx="11814629" cy="537550"/>
          </a:xfrm>
          <a:prstGeom prst="rect">
            <a:avLst/>
          </a:prstGeom>
          <a:gradFill flip="none" rotWithShape="1">
            <a:gsLst>
              <a:gs pos="13000">
                <a:schemeClr val="accent1"/>
              </a:gs>
              <a:gs pos="95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accent1"/>
                </a:solidFill>
                <a:latin typeface="+mj-ea"/>
                <a:cs typeface="微软雅黑" panose="020B0503020204020204" charset="-122"/>
                <a:sym typeface="+mn-ea"/>
              </a:rPr>
              <a:t>v</a:t>
            </a:r>
            <a:endParaRPr lang="en-US" altLang="zh-CN" sz="1600">
              <a:solidFill>
                <a:schemeClr val="accent1"/>
              </a:solidFill>
              <a:latin typeface="+mj-ea"/>
              <a:cs typeface="微软雅黑" panose="020B0503020204020204" charset="-122"/>
              <a:sym typeface="+mn-ea"/>
            </a:endParaRPr>
          </a:p>
        </p:txBody>
      </p:sp>
      <p:grpSp>
        <p:nvGrpSpPr>
          <p:cNvPr id="4302" name="显眼包PPT"/>
          <p:cNvGrpSpPr/>
          <p:nvPr/>
        </p:nvGrpSpPr>
        <p:grpSpPr>
          <a:xfrm>
            <a:off x="4497324" y="6352843"/>
            <a:ext cx="3276092" cy="276860"/>
            <a:chOff x="4401965" y="6145198"/>
            <a:chExt cx="3276092" cy="276860"/>
          </a:xfrm>
        </p:grpSpPr>
        <p:sp>
          <p:nvSpPr>
            <p:cNvPr id="179" name="显眼包PPT-1"/>
            <p:cNvSpPr txBox="1"/>
            <p:nvPr/>
          </p:nvSpPr>
          <p:spPr>
            <a:xfrm>
              <a:off x="5430411" y="6145198"/>
              <a:ext cx="1219200" cy="2768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b="1" spc="60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charset="-122"/>
                </a:rPr>
                <a:t>预期效果</a:t>
              </a:r>
              <a:endParaRPr lang="zh-CN" altLang="en-US" b="1" spc="600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grpSp>
          <p:nvGrpSpPr>
            <p:cNvPr id="4538" name="组合 4537"/>
            <p:cNvGrpSpPr/>
            <p:nvPr/>
          </p:nvGrpSpPr>
          <p:grpSpPr>
            <a:xfrm>
              <a:off x="6799644" y="6215247"/>
              <a:ext cx="878413" cy="136901"/>
              <a:chOff x="8866240" y="7032171"/>
              <a:chExt cx="2518892" cy="486229"/>
            </a:xfrm>
          </p:grpSpPr>
          <p:cxnSp>
            <p:nvCxnSpPr>
              <p:cNvPr id="4506" name="显眼包PPT-2"/>
              <p:cNvCxnSpPr/>
              <p:nvPr/>
            </p:nvCxnSpPr>
            <p:spPr>
              <a:xfrm>
                <a:off x="10997611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9" name="显眼包PPT-3"/>
              <p:cNvCxnSpPr/>
              <p:nvPr/>
            </p:nvCxnSpPr>
            <p:spPr>
              <a:xfrm>
                <a:off x="1119137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0" name="显眼包PPT-4"/>
              <p:cNvCxnSpPr/>
              <p:nvPr/>
            </p:nvCxnSpPr>
            <p:spPr>
              <a:xfrm>
                <a:off x="1138513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1" name="显眼包PPT-5"/>
              <p:cNvCxnSpPr/>
              <p:nvPr/>
            </p:nvCxnSpPr>
            <p:spPr>
              <a:xfrm>
                <a:off x="8866240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4" name="显眼包PPT-6"/>
              <p:cNvCxnSpPr/>
              <p:nvPr/>
            </p:nvCxnSpPr>
            <p:spPr>
              <a:xfrm>
                <a:off x="9060001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6" name="显眼包PPT-7"/>
              <p:cNvCxnSpPr/>
              <p:nvPr/>
            </p:nvCxnSpPr>
            <p:spPr>
              <a:xfrm>
                <a:off x="925376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7" name="显眼包PPT-8"/>
              <p:cNvCxnSpPr/>
              <p:nvPr/>
            </p:nvCxnSpPr>
            <p:spPr>
              <a:xfrm>
                <a:off x="9447523" y="7032171"/>
                <a:ext cx="0" cy="48622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0" name="显眼包PPT-9"/>
              <p:cNvCxnSpPr/>
              <p:nvPr/>
            </p:nvCxnSpPr>
            <p:spPr>
              <a:xfrm>
                <a:off x="9641284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1" name="显眼包PPT-10"/>
              <p:cNvCxnSpPr/>
              <p:nvPr/>
            </p:nvCxnSpPr>
            <p:spPr>
              <a:xfrm>
                <a:off x="9835045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2" name="显眼包PPT-11"/>
              <p:cNvCxnSpPr/>
              <p:nvPr/>
            </p:nvCxnSpPr>
            <p:spPr>
              <a:xfrm>
                <a:off x="10028806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4" name="显眼包PPT-12"/>
              <p:cNvCxnSpPr/>
              <p:nvPr/>
            </p:nvCxnSpPr>
            <p:spPr>
              <a:xfrm>
                <a:off x="10222567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5" name="显眼包PPT-13"/>
              <p:cNvCxnSpPr/>
              <p:nvPr/>
            </p:nvCxnSpPr>
            <p:spPr>
              <a:xfrm>
                <a:off x="10416328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6" name="显眼包PPT-14"/>
              <p:cNvCxnSpPr/>
              <p:nvPr/>
            </p:nvCxnSpPr>
            <p:spPr>
              <a:xfrm>
                <a:off x="10610089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7" name="显眼包PPT-15"/>
              <p:cNvCxnSpPr/>
              <p:nvPr/>
            </p:nvCxnSpPr>
            <p:spPr>
              <a:xfrm>
                <a:off x="10803850" y="7032171"/>
                <a:ext cx="0" cy="48622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39" name="组合 4538"/>
            <p:cNvGrpSpPr/>
            <p:nvPr/>
          </p:nvGrpSpPr>
          <p:grpSpPr>
            <a:xfrm>
              <a:off x="4401965" y="6215247"/>
              <a:ext cx="878413" cy="136901"/>
              <a:chOff x="8866240" y="7032171"/>
              <a:chExt cx="2518892" cy="486229"/>
            </a:xfrm>
          </p:grpSpPr>
          <p:cxnSp>
            <p:nvCxnSpPr>
              <p:cNvPr id="4540" name="显眼包PPT-16"/>
              <p:cNvCxnSpPr/>
              <p:nvPr/>
            </p:nvCxnSpPr>
            <p:spPr>
              <a:xfrm>
                <a:off x="10997611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1" name="显眼包PPT-17"/>
              <p:cNvCxnSpPr/>
              <p:nvPr/>
            </p:nvCxnSpPr>
            <p:spPr>
              <a:xfrm>
                <a:off x="1119137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2" name="显眼包PPT-18"/>
              <p:cNvCxnSpPr/>
              <p:nvPr/>
            </p:nvCxnSpPr>
            <p:spPr>
              <a:xfrm>
                <a:off x="1138513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3" name="显眼包PPT-19"/>
              <p:cNvCxnSpPr/>
              <p:nvPr/>
            </p:nvCxnSpPr>
            <p:spPr>
              <a:xfrm>
                <a:off x="8866240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8" name="显眼包PPT-20"/>
              <p:cNvCxnSpPr/>
              <p:nvPr/>
            </p:nvCxnSpPr>
            <p:spPr>
              <a:xfrm>
                <a:off x="9060001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9" name="显眼包PPT-21"/>
              <p:cNvCxnSpPr/>
              <p:nvPr/>
            </p:nvCxnSpPr>
            <p:spPr>
              <a:xfrm>
                <a:off x="9253762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0" name="显眼包PPT-22"/>
              <p:cNvCxnSpPr/>
              <p:nvPr/>
            </p:nvCxnSpPr>
            <p:spPr>
              <a:xfrm>
                <a:off x="9447523" y="7032171"/>
                <a:ext cx="0" cy="48622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1" name="显眼包PPT-23"/>
              <p:cNvCxnSpPr/>
              <p:nvPr/>
            </p:nvCxnSpPr>
            <p:spPr>
              <a:xfrm>
                <a:off x="9641284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2" name="显眼包PPT-24"/>
              <p:cNvCxnSpPr/>
              <p:nvPr/>
            </p:nvCxnSpPr>
            <p:spPr>
              <a:xfrm>
                <a:off x="9835045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3" name="显眼包PPT-25"/>
              <p:cNvCxnSpPr/>
              <p:nvPr/>
            </p:nvCxnSpPr>
            <p:spPr>
              <a:xfrm>
                <a:off x="10028806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6" name="显眼包PPT-26"/>
              <p:cNvCxnSpPr/>
              <p:nvPr/>
            </p:nvCxnSpPr>
            <p:spPr>
              <a:xfrm>
                <a:off x="10222567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7" name="显眼包PPT-27"/>
              <p:cNvCxnSpPr/>
              <p:nvPr/>
            </p:nvCxnSpPr>
            <p:spPr>
              <a:xfrm>
                <a:off x="10416328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8" name="显眼包PPT-28"/>
              <p:cNvCxnSpPr/>
              <p:nvPr/>
            </p:nvCxnSpPr>
            <p:spPr>
              <a:xfrm>
                <a:off x="10610089" y="7148285"/>
                <a:ext cx="0" cy="2540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1" name="显眼包PPT-29"/>
              <p:cNvCxnSpPr/>
              <p:nvPr/>
            </p:nvCxnSpPr>
            <p:spPr>
              <a:xfrm>
                <a:off x="10803850" y="7032171"/>
                <a:ext cx="0" cy="48622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07" name="显眼包PPT14"/>
          <p:cNvSpPr/>
          <p:nvPr/>
        </p:nvSpPr>
        <p:spPr>
          <a:xfrm>
            <a:off x="1704975" y="6332220"/>
            <a:ext cx="2606675" cy="318135"/>
          </a:xfrm>
          <a:prstGeom prst="rect">
            <a:avLst/>
          </a:prstGeom>
          <a:solidFill>
            <a:schemeClr val="bg1">
              <a:alpha val="77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algn="ctr"/>
            <a:r>
              <a:rPr lang="zh-CN" altLang="en-US" sz="1400">
                <a:solidFill>
                  <a:schemeClr val="tx2"/>
                </a:solidFill>
                <a:effectLst/>
                <a:latin typeface="+mj-ea"/>
                <a:ea typeface="+mj-ea"/>
                <a:cs typeface="微软雅黑" panose="020B0503020204020204" charset="-122"/>
                <a:sym typeface="+mj-ea"/>
              </a:rPr>
              <a:t>流程周期缩短，运营成本降低</a:t>
            </a:r>
            <a:endParaRPr lang="zh-CN" altLang="en-US" sz="1400">
              <a:solidFill>
                <a:schemeClr val="tx2"/>
              </a:solidFill>
              <a:effectLst/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sp>
        <p:nvSpPr>
          <p:cNvPr id="4308" name="显眼包PPT15"/>
          <p:cNvSpPr/>
          <p:nvPr/>
        </p:nvSpPr>
        <p:spPr>
          <a:xfrm>
            <a:off x="7902575" y="6332220"/>
            <a:ext cx="2575560" cy="318135"/>
          </a:xfrm>
          <a:prstGeom prst="rect">
            <a:avLst/>
          </a:prstGeom>
          <a:solidFill>
            <a:schemeClr val="bg1">
              <a:alpha val="77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7841" tIns="48920" rIns="97841" bIns="48920" rtlCol="0" anchor="ctr"/>
          <a:lstStyle/>
          <a:p>
            <a:pPr algn="ctr"/>
            <a:r>
              <a:rPr lang="zh-CN" altLang="en-US" sz="1400">
                <a:solidFill>
                  <a:schemeClr val="tx2"/>
                </a:solidFill>
                <a:effectLst/>
                <a:latin typeface="+mj-ea"/>
                <a:ea typeface="+mj-ea"/>
                <a:cs typeface="微软雅黑" panose="020B0503020204020204" charset="-122"/>
                <a:sym typeface="+mj-ea"/>
              </a:rPr>
              <a:t>决策智能化，业务响应敏捷</a:t>
            </a:r>
            <a:endParaRPr lang="zh-CN" altLang="en-US" sz="1400">
              <a:solidFill>
                <a:schemeClr val="tx2"/>
              </a:solidFill>
              <a:effectLst/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5108575" y="2835910"/>
            <a:ext cx="1951990" cy="349504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/>
          </a:gradFill>
          <a:ln w="25400"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>
            <a:off x="185420" y="1038225"/>
            <a:ext cx="11776710" cy="1689100"/>
          </a:xfrm>
          <a:prstGeom prst="triangle">
            <a:avLst/>
          </a:prstGeom>
          <a:noFill/>
          <a:ln w="127000">
            <a:gradFill>
              <a:gsLst>
                <a:gs pos="11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Freeform 41"/>
          <p:cNvSpPr/>
          <p:nvPr/>
        </p:nvSpPr>
        <p:spPr>
          <a:xfrm>
            <a:off x="5108575" y="1200150"/>
            <a:ext cx="1952625" cy="1509395"/>
          </a:xfrm>
          <a:custGeom>
            <a:avLst/>
            <a:gdLst>
              <a:gd name="connsiteX0" fmla="*/ 842434 w 1689100"/>
              <a:gd name="connsiteY0" fmla="*/ 0 h 1214967"/>
              <a:gd name="connsiteX1" fmla="*/ 0 w 1689100"/>
              <a:gd name="connsiteY1" fmla="*/ 215900 h 1214967"/>
              <a:gd name="connsiteX2" fmla="*/ 0 w 1689100"/>
              <a:gd name="connsiteY2" fmla="*/ 1214967 h 1214967"/>
              <a:gd name="connsiteX3" fmla="*/ 1689100 w 1689100"/>
              <a:gd name="connsiteY3" fmla="*/ 1214967 h 1214967"/>
              <a:gd name="connsiteX4" fmla="*/ 1689100 w 1689100"/>
              <a:gd name="connsiteY4" fmla="*/ 203200 h 1214967"/>
              <a:gd name="connsiteX5" fmla="*/ 842434 w 1689100"/>
              <a:gd name="connsiteY5" fmla="*/ 0 h 121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59" h="2442">
                <a:moveTo>
                  <a:pt x="1576" y="0"/>
                </a:moveTo>
                <a:lnTo>
                  <a:pt x="3159" y="534"/>
                </a:lnTo>
                <a:lnTo>
                  <a:pt x="3159" y="2442"/>
                </a:lnTo>
                <a:lnTo>
                  <a:pt x="0" y="2442"/>
                </a:lnTo>
                <a:lnTo>
                  <a:pt x="0" y="567"/>
                </a:lnTo>
                <a:lnTo>
                  <a:pt x="1576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" name="Freeform 42"/>
          <p:cNvSpPr/>
          <p:nvPr/>
        </p:nvSpPr>
        <p:spPr>
          <a:xfrm>
            <a:off x="2065020" y="1593215"/>
            <a:ext cx="2882265" cy="1116965"/>
          </a:xfrm>
          <a:custGeom>
            <a:avLst/>
            <a:gdLst>
              <a:gd name="connsiteX0" fmla="*/ 4663 w 4663"/>
              <a:gd name="connsiteY0" fmla="*/ 0 h 1807"/>
              <a:gd name="connsiteX1" fmla="*/ 4663 w 4663"/>
              <a:gd name="connsiteY1" fmla="*/ 1807 h 1807"/>
              <a:gd name="connsiteX2" fmla="*/ 1008 w 4663"/>
              <a:gd name="connsiteY2" fmla="*/ 1789 h 1807"/>
              <a:gd name="connsiteX3" fmla="*/ 1002 w 4663"/>
              <a:gd name="connsiteY3" fmla="*/ 1201 h 1807"/>
              <a:gd name="connsiteX4" fmla="*/ 0 w 4663"/>
              <a:gd name="connsiteY4" fmla="*/ 1223 h 1807"/>
              <a:gd name="connsiteX5" fmla="*/ 2986 w 4663"/>
              <a:gd name="connsiteY5" fmla="*/ 438 h 1807"/>
              <a:gd name="connsiteX6" fmla="*/ 3137 w 4663"/>
              <a:gd name="connsiteY6" fmla="*/ 398 h 1807"/>
              <a:gd name="connsiteX7" fmla="*/ 3349 w 4663"/>
              <a:gd name="connsiteY7" fmla="*/ 342 h 1807"/>
              <a:gd name="connsiteX8" fmla="*/ 3350 w 4663"/>
              <a:gd name="connsiteY8" fmla="*/ 341 h 1807"/>
              <a:gd name="connsiteX9" fmla="*/ 3360 w 4663"/>
              <a:gd name="connsiteY9" fmla="*/ 338 h 1807"/>
              <a:gd name="connsiteX10" fmla="*/ 3360 w 4663"/>
              <a:gd name="connsiteY10" fmla="*/ 344 h 1807"/>
              <a:gd name="connsiteX11" fmla="*/ 4289 w 4663"/>
              <a:gd name="connsiteY11" fmla="*/ 100 h 1807"/>
              <a:gd name="connsiteX12" fmla="*/ 4440 w 4663"/>
              <a:gd name="connsiteY12" fmla="*/ 60 h 1807"/>
              <a:gd name="connsiteX13" fmla="*/ 4652 w 4663"/>
              <a:gd name="connsiteY13" fmla="*/ 4 h 1807"/>
              <a:gd name="connsiteX14" fmla="*/ 4653 w 4663"/>
              <a:gd name="connsiteY14" fmla="*/ 3 h 1807"/>
              <a:gd name="connsiteX15" fmla="*/ 4663 w 4663"/>
              <a:gd name="connsiteY15" fmla="*/ 0 h 1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63" h="1807">
                <a:moveTo>
                  <a:pt x="4663" y="0"/>
                </a:moveTo>
                <a:lnTo>
                  <a:pt x="4663" y="1807"/>
                </a:lnTo>
                <a:lnTo>
                  <a:pt x="1008" y="1789"/>
                </a:lnTo>
                <a:lnTo>
                  <a:pt x="1002" y="1201"/>
                </a:lnTo>
                <a:lnTo>
                  <a:pt x="0" y="1223"/>
                </a:lnTo>
                <a:lnTo>
                  <a:pt x="2986" y="438"/>
                </a:lnTo>
                <a:lnTo>
                  <a:pt x="3137" y="398"/>
                </a:lnTo>
                <a:lnTo>
                  <a:pt x="3349" y="342"/>
                </a:lnTo>
                <a:lnTo>
                  <a:pt x="3350" y="341"/>
                </a:lnTo>
                <a:lnTo>
                  <a:pt x="3360" y="338"/>
                </a:lnTo>
                <a:lnTo>
                  <a:pt x="3360" y="344"/>
                </a:lnTo>
                <a:lnTo>
                  <a:pt x="4289" y="100"/>
                </a:lnTo>
                <a:lnTo>
                  <a:pt x="4440" y="60"/>
                </a:lnTo>
                <a:lnTo>
                  <a:pt x="4652" y="4"/>
                </a:lnTo>
                <a:lnTo>
                  <a:pt x="4653" y="3"/>
                </a:lnTo>
                <a:lnTo>
                  <a:pt x="466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4838065" y="1922145"/>
            <a:ext cx="395605" cy="3956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500">
                <a:cs typeface="微软雅黑" panose="020B0503020204020204" charset="-122"/>
              </a:rPr>
              <a:t>+</a:t>
            </a:r>
            <a:endParaRPr lang="en-US" altLang="zh-CN" sz="2500">
              <a:cs typeface="微软雅黑" panose="020B0503020204020204" charset="-122"/>
            </a:endParaRPr>
          </a:p>
        </p:txBody>
      </p:sp>
      <p:sp>
        <p:nvSpPr>
          <p:cNvPr id="80" name="Freeform 42"/>
          <p:cNvSpPr/>
          <p:nvPr/>
        </p:nvSpPr>
        <p:spPr>
          <a:xfrm flipH="1">
            <a:off x="7164705" y="1569085"/>
            <a:ext cx="2882265" cy="1116965"/>
          </a:xfrm>
          <a:custGeom>
            <a:avLst/>
            <a:gdLst>
              <a:gd name="connsiteX0" fmla="*/ 4663 w 4663"/>
              <a:gd name="connsiteY0" fmla="*/ 0 h 1807"/>
              <a:gd name="connsiteX1" fmla="*/ 4663 w 4663"/>
              <a:gd name="connsiteY1" fmla="*/ 1807 h 1807"/>
              <a:gd name="connsiteX2" fmla="*/ 1008 w 4663"/>
              <a:gd name="connsiteY2" fmla="*/ 1789 h 1807"/>
              <a:gd name="connsiteX3" fmla="*/ 1002 w 4663"/>
              <a:gd name="connsiteY3" fmla="*/ 1201 h 1807"/>
              <a:gd name="connsiteX4" fmla="*/ 0 w 4663"/>
              <a:gd name="connsiteY4" fmla="*/ 1223 h 1807"/>
              <a:gd name="connsiteX5" fmla="*/ 2986 w 4663"/>
              <a:gd name="connsiteY5" fmla="*/ 438 h 1807"/>
              <a:gd name="connsiteX6" fmla="*/ 3137 w 4663"/>
              <a:gd name="connsiteY6" fmla="*/ 398 h 1807"/>
              <a:gd name="connsiteX7" fmla="*/ 3349 w 4663"/>
              <a:gd name="connsiteY7" fmla="*/ 342 h 1807"/>
              <a:gd name="connsiteX8" fmla="*/ 3350 w 4663"/>
              <a:gd name="connsiteY8" fmla="*/ 341 h 1807"/>
              <a:gd name="connsiteX9" fmla="*/ 3360 w 4663"/>
              <a:gd name="connsiteY9" fmla="*/ 338 h 1807"/>
              <a:gd name="connsiteX10" fmla="*/ 3360 w 4663"/>
              <a:gd name="connsiteY10" fmla="*/ 344 h 1807"/>
              <a:gd name="connsiteX11" fmla="*/ 4289 w 4663"/>
              <a:gd name="connsiteY11" fmla="*/ 100 h 1807"/>
              <a:gd name="connsiteX12" fmla="*/ 4440 w 4663"/>
              <a:gd name="connsiteY12" fmla="*/ 60 h 1807"/>
              <a:gd name="connsiteX13" fmla="*/ 4652 w 4663"/>
              <a:gd name="connsiteY13" fmla="*/ 4 h 1807"/>
              <a:gd name="connsiteX14" fmla="*/ 4653 w 4663"/>
              <a:gd name="connsiteY14" fmla="*/ 3 h 1807"/>
              <a:gd name="connsiteX15" fmla="*/ 4663 w 4663"/>
              <a:gd name="connsiteY15" fmla="*/ 0 h 1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63" h="1807">
                <a:moveTo>
                  <a:pt x="4663" y="0"/>
                </a:moveTo>
                <a:lnTo>
                  <a:pt x="4663" y="1807"/>
                </a:lnTo>
                <a:lnTo>
                  <a:pt x="1008" y="1789"/>
                </a:lnTo>
                <a:lnTo>
                  <a:pt x="1002" y="1201"/>
                </a:lnTo>
                <a:lnTo>
                  <a:pt x="0" y="1223"/>
                </a:lnTo>
                <a:lnTo>
                  <a:pt x="2986" y="438"/>
                </a:lnTo>
                <a:lnTo>
                  <a:pt x="3137" y="398"/>
                </a:lnTo>
                <a:lnTo>
                  <a:pt x="3349" y="342"/>
                </a:lnTo>
                <a:lnTo>
                  <a:pt x="3350" y="341"/>
                </a:lnTo>
                <a:lnTo>
                  <a:pt x="3360" y="338"/>
                </a:lnTo>
                <a:lnTo>
                  <a:pt x="3360" y="344"/>
                </a:lnTo>
                <a:lnTo>
                  <a:pt x="4289" y="100"/>
                </a:lnTo>
                <a:lnTo>
                  <a:pt x="4440" y="60"/>
                </a:lnTo>
                <a:lnTo>
                  <a:pt x="4652" y="4"/>
                </a:lnTo>
                <a:lnTo>
                  <a:pt x="4653" y="3"/>
                </a:lnTo>
                <a:lnTo>
                  <a:pt x="4663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966585" y="1922145"/>
            <a:ext cx="395605" cy="39560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500">
                <a:cs typeface="微软雅黑" panose="020B0503020204020204" charset="-122"/>
              </a:rPr>
              <a:t>+</a:t>
            </a:r>
            <a:endParaRPr lang="en-US" altLang="zh-CN" sz="2500">
              <a:cs typeface="微软雅黑" panose="020B0503020204020204" charset="-122"/>
            </a:endParaRPr>
          </a:p>
        </p:txBody>
      </p:sp>
      <p:sp>
        <p:nvSpPr>
          <p:cNvPr id="9" name="梯形 8"/>
          <p:cNvSpPr/>
          <p:nvPr/>
        </p:nvSpPr>
        <p:spPr>
          <a:xfrm>
            <a:off x="1465580" y="2708910"/>
            <a:ext cx="3423920" cy="520065"/>
          </a:xfrm>
          <a:prstGeom prst="trapezoid">
            <a:avLst>
              <a:gd name="adj" fmla="val 25203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87403" y="2976245"/>
            <a:ext cx="958215" cy="3136265"/>
          </a:xfrm>
          <a:prstGeom prst="rect">
            <a:avLst/>
          </a:prstGeom>
          <a:noFill/>
        </p:spPr>
        <p:txBody>
          <a:bodyPr vert="mongolianVert" wrap="square" rtlCol="0" anchor="b" anchorCtr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2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2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一体两翼四柱</a:t>
            </a:r>
            <a:r>
              <a:rPr lang="en-US" altLang="zh-CN" sz="2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的数字化转型战略</a:t>
            </a:r>
            <a:endParaRPr lang="zh-CN" altLang="en-US" sz="25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Rectangle 11"/>
          <p:cNvSpPr>
            <a:spLocks noChangeArrowheads="1"/>
          </p:cNvSpPr>
          <p:nvPr/>
        </p:nvSpPr>
        <p:spPr bwMode="gray">
          <a:xfrm flipH="1">
            <a:off x="5389245" y="1931035"/>
            <a:ext cx="1341120" cy="292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“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一体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”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5" name="Rectangle 64"/>
          <p:cNvSpPr/>
          <p:nvPr/>
        </p:nvSpPr>
        <p:spPr>
          <a:xfrm>
            <a:off x="5268595" y="2331085"/>
            <a:ext cx="1632585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运营效能提升工程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0" name="Rectangle 64"/>
          <p:cNvSpPr/>
          <p:nvPr/>
        </p:nvSpPr>
        <p:spPr>
          <a:xfrm>
            <a:off x="2757805" y="2331085"/>
            <a:ext cx="2131060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高效流程优化（引擎工程）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1" name="Rectangle 11"/>
          <p:cNvSpPr>
            <a:spLocks noChangeArrowheads="1"/>
          </p:cNvSpPr>
          <p:nvPr/>
        </p:nvSpPr>
        <p:spPr bwMode="gray">
          <a:xfrm flipH="1">
            <a:off x="3590925" y="2038350"/>
            <a:ext cx="1122680" cy="2330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“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左翼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”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2" name="Rectangle 11"/>
          <p:cNvSpPr>
            <a:spLocks noChangeArrowheads="1"/>
          </p:cNvSpPr>
          <p:nvPr/>
        </p:nvSpPr>
        <p:spPr bwMode="gray">
          <a:xfrm flipH="1">
            <a:off x="7487920" y="2038350"/>
            <a:ext cx="1341120" cy="2330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“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右翼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”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3" name="Rectangle 64"/>
          <p:cNvSpPr/>
          <p:nvPr/>
        </p:nvSpPr>
        <p:spPr>
          <a:xfrm>
            <a:off x="7321550" y="2331085"/>
            <a:ext cx="2066925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创新技术赋能（加速工程）</a:t>
            </a: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74" name="图片 173" descr="服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1215" y="1431925"/>
            <a:ext cx="347345" cy="347345"/>
          </a:xfrm>
          <a:prstGeom prst="rect">
            <a:avLst/>
          </a:prstGeom>
        </p:spPr>
      </p:pic>
      <p:sp>
        <p:nvSpPr>
          <p:cNvPr id="35" name="Freeform: Shape 88"/>
          <p:cNvSpPr/>
          <p:nvPr/>
        </p:nvSpPr>
        <p:spPr>
          <a:xfrm>
            <a:off x="1464945" y="3338195"/>
            <a:ext cx="1506855" cy="1993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63" h="286">
                <a:moveTo>
                  <a:pt x="0" y="0"/>
                </a:moveTo>
                <a:lnTo>
                  <a:pt x="232" y="286"/>
                </a:lnTo>
                <a:lnTo>
                  <a:pt x="781" y="286"/>
                </a:lnTo>
                <a:lnTo>
                  <a:pt x="1331" y="286"/>
                </a:lnTo>
                <a:lnTo>
                  <a:pt x="1563" y="0"/>
                </a:lnTo>
                <a:lnTo>
                  <a:pt x="1563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Freeform: Shape 89"/>
          <p:cNvSpPr/>
          <p:nvPr/>
        </p:nvSpPr>
        <p:spPr>
          <a:xfrm>
            <a:off x="1464945" y="3020695"/>
            <a:ext cx="1506855" cy="3168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63" h="216">
                <a:moveTo>
                  <a:pt x="0" y="0"/>
                </a:moveTo>
                <a:lnTo>
                  <a:pt x="0" y="216"/>
                </a:lnTo>
                <a:lnTo>
                  <a:pt x="0" y="216"/>
                </a:lnTo>
                <a:lnTo>
                  <a:pt x="1563" y="216"/>
                </a:lnTo>
                <a:lnTo>
                  <a:pt x="1563" y="216"/>
                </a:lnTo>
                <a:lnTo>
                  <a:pt x="1563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  <a:lumOff val="50000"/>
                </a:schemeClr>
              </a:gs>
            </a:gsLst>
            <a:lin ang="16200000" scaled="0"/>
          </a:gra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/>
          <a:lstStyle/>
          <a:p>
            <a:pPr hangingPunct="0"/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Freeform: Shape 90"/>
          <p:cNvSpPr/>
          <p:nvPr/>
        </p:nvSpPr>
        <p:spPr>
          <a:xfrm>
            <a:off x="1459230" y="5747385"/>
            <a:ext cx="1506855" cy="2006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63" h="287">
                <a:moveTo>
                  <a:pt x="1563" y="287"/>
                </a:moveTo>
                <a:lnTo>
                  <a:pt x="1331" y="0"/>
                </a:lnTo>
                <a:lnTo>
                  <a:pt x="781" y="0"/>
                </a:lnTo>
                <a:lnTo>
                  <a:pt x="232" y="0"/>
                </a:lnTo>
                <a:lnTo>
                  <a:pt x="0" y="287"/>
                </a:lnTo>
                <a:lnTo>
                  <a:pt x="0" y="28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>
            <a:noAutofit/>
          </a:bodyPr>
          <a:lstStyle/>
          <a:p>
            <a:pPr lvl="0" algn="l" hangingPunct="0">
              <a:buClrTx/>
              <a:buSzTx/>
              <a:buFontTx/>
            </a:pP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3" name="Freeform: Shape 91"/>
          <p:cNvSpPr/>
          <p:nvPr/>
        </p:nvSpPr>
        <p:spPr>
          <a:xfrm>
            <a:off x="1459230" y="5948045"/>
            <a:ext cx="1506855" cy="1511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63" h="217">
                <a:moveTo>
                  <a:pt x="1563" y="217"/>
                </a:moveTo>
                <a:lnTo>
                  <a:pt x="1563" y="0"/>
                </a:lnTo>
                <a:lnTo>
                  <a:pt x="1563" y="0"/>
                </a:lnTo>
                <a:lnTo>
                  <a:pt x="0" y="0"/>
                </a:lnTo>
                <a:lnTo>
                  <a:pt x="0" y="0"/>
                </a:lnTo>
                <a:lnTo>
                  <a:pt x="0" y="21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cap="flat">
            <a:noFill/>
            <a:prstDash val="solid"/>
          </a:ln>
        </p:spPr>
        <p:txBody>
          <a:bodyPr vert="horz" wrap="none" lIns="45000" tIns="22500" rIns="45000" bIns="22500" anchor="ctr" anchorCtr="1" compatLnSpc="0">
            <a:noAutofit/>
          </a:bodyPr>
          <a:lstStyle/>
          <a:p>
            <a:pPr lvl="0" algn="l" hangingPunct="0">
              <a:buClrTx/>
              <a:buSzTx/>
              <a:buFontTx/>
            </a:pP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75765" y="3566160"/>
            <a:ext cx="1081405" cy="2196465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rtlCol="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Google Shape;723;p30"/>
          <p:cNvSpPr txBox="1"/>
          <p:nvPr/>
        </p:nvSpPr>
        <p:spPr>
          <a:xfrm>
            <a:off x="1558925" y="3089910"/>
            <a:ext cx="1308735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algn="ctr"/>
            <a:r>
              <a:rPr lang="en-US" alt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第一支柱：筑基</a:t>
            </a:r>
            <a:r>
              <a:rPr lang="en-US" alt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7" name="Google Shape;723;p30"/>
          <p:cNvSpPr txBox="1"/>
          <p:nvPr/>
        </p:nvSpPr>
        <p:spPr>
          <a:xfrm>
            <a:off x="1997075" y="5724525"/>
            <a:ext cx="431165" cy="2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  <a:endParaRPr lang="zh-CN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1675765" y="3559175"/>
            <a:ext cx="1081405" cy="219646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txBody>
          <a:bodyPr spcFirstLastPara="1" wrap="square" lIns="0" tIns="0" rIns="0" bIns="0" rtlCol="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2" name="五边形 181"/>
          <p:cNvSpPr/>
          <p:nvPr/>
        </p:nvSpPr>
        <p:spPr>
          <a:xfrm rot="5400000">
            <a:off x="1229360" y="4261485"/>
            <a:ext cx="2011680" cy="829310"/>
          </a:xfrm>
          <a:prstGeom prst="homePlate">
            <a:avLst>
              <a:gd name="adj" fmla="val 2711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10800000" scaled="1"/>
            </a:gradFill>
          </a:ln>
        </p:spPr>
        <p:txBody>
          <a:bodyPr spcFirstLastPara="1" wrap="square" lIns="0" tIns="0" rIns="0" bIns="0" rtlCol="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3" name="下箭头 182"/>
          <p:cNvSpPr/>
          <p:nvPr/>
        </p:nvSpPr>
        <p:spPr>
          <a:xfrm>
            <a:off x="2042160" y="3538855"/>
            <a:ext cx="352425" cy="2050415"/>
          </a:xfrm>
          <a:prstGeom prst="downArrow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grpSp>
        <p:nvGrpSpPr>
          <p:cNvPr id="184" name="组合 183"/>
          <p:cNvGrpSpPr/>
          <p:nvPr/>
        </p:nvGrpSpPr>
        <p:grpSpPr>
          <a:xfrm rot="0">
            <a:off x="1929130" y="4072890"/>
            <a:ext cx="599440" cy="316865"/>
            <a:chOff x="2917" y="6632"/>
            <a:chExt cx="970" cy="527"/>
          </a:xfrm>
        </p:grpSpPr>
        <p:sp>
          <p:nvSpPr>
            <p:cNvPr id="187" name="Google Shape;703;p30"/>
            <p:cNvSpPr/>
            <p:nvPr/>
          </p:nvSpPr>
          <p:spPr>
            <a:xfrm>
              <a:off x="2918" y="6632"/>
              <a:ext cx="969" cy="527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8" name="Google Shape;723;p30"/>
            <p:cNvSpPr txBox="1"/>
            <p:nvPr/>
          </p:nvSpPr>
          <p:spPr>
            <a:xfrm>
              <a:off x="2917" y="6672"/>
              <a:ext cx="970" cy="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标准化体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系筑基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89" name="组合 188"/>
          <p:cNvGrpSpPr/>
          <p:nvPr/>
        </p:nvGrpSpPr>
        <p:grpSpPr>
          <a:xfrm rot="0">
            <a:off x="1934845" y="4554220"/>
            <a:ext cx="599440" cy="298450"/>
            <a:chOff x="2926" y="7538"/>
            <a:chExt cx="970" cy="496"/>
          </a:xfrm>
        </p:grpSpPr>
        <p:sp>
          <p:nvSpPr>
            <p:cNvPr id="190" name="Google Shape;703;p30"/>
            <p:cNvSpPr/>
            <p:nvPr/>
          </p:nvSpPr>
          <p:spPr>
            <a:xfrm>
              <a:off x="2927" y="7538"/>
              <a:ext cx="969" cy="496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3" name="Google Shape;723;p30"/>
            <p:cNvSpPr txBox="1"/>
            <p:nvPr/>
          </p:nvSpPr>
          <p:spPr>
            <a:xfrm>
              <a:off x="2926" y="7562"/>
              <a:ext cx="970" cy="4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专业化人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才梯队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95" name="Google Shape;703;p30"/>
          <p:cNvSpPr/>
          <p:nvPr/>
        </p:nvSpPr>
        <p:spPr>
          <a:xfrm>
            <a:off x="1935480" y="5017135"/>
            <a:ext cx="598805" cy="293370"/>
          </a:xfrm>
          <a:prstGeom prst="roundRect">
            <a:avLst>
              <a:gd name="adj" fmla="val 3814"/>
            </a:avLst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schemeClr val="tx2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97" name="组合 196"/>
          <p:cNvGrpSpPr/>
          <p:nvPr/>
        </p:nvGrpSpPr>
        <p:grpSpPr>
          <a:xfrm rot="0">
            <a:off x="1861185" y="3707130"/>
            <a:ext cx="748030" cy="267970"/>
            <a:chOff x="4060" y="4527"/>
            <a:chExt cx="1210" cy="446"/>
          </a:xfrm>
        </p:grpSpPr>
        <p:sp>
          <p:nvSpPr>
            <p:cNvPr id="198" name="矩形 197"/>
            <p:cNvSpPr/>
            <p:nvPr/>
          </p:nvSpPr>
          <p:spPr>
            <a:xfrm>
              <a:off x="4147" y="4638"/>
              <a:ext cx="1003" cy="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060" y="4527"/>
              <a:ext cx="1210" cy="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lstStyle/>
            <a:p>
              <a:pPr indent="0" algn="ctr" fontAlgn="auto">
                <a:lnSpc>
                  <a:spcPts val="1640"/>
                </a:lnSpc>
              </a:pP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核心举措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00" name="Google Shape;723;p30"/>
          <p:cNvSpPr txBox="1"/>
          <p:nvPr/>
        </p:nvSpPr>
        <p:spPr>
          <a:xfrm>
            <a:off x="1935480" y="5029200"/>
            <a:ext cx="599440" cy="28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algn="ctr"/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规范化制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度保障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42" name="组合 241"/>
          <p:cNvGrpSpPr/>
          <p:nvPr/>
        </p:nvGrpSpPr>
        <p:grpSpPr>
          <a:xfrm>
            <a:off x="3376295" y="3035300"/>
            <a:ext cx="1512570" cy="3063875"/>
            <a:chOff x="2298" y="4943"/>
            <a:chExt cx="2382" cy="4986"/>
          </a:xfrm>
        </p:grpSpPr>
        <p:sp>
          <p:nvSpPr>
            <p:cNvPr id="243" name="Freeform: Shape 88"/>
            <p:cNvSpPr/>
            <p:nvPr/>
          </p:nvSpPr>
          <p:spPr>
            <a:xfrm>
              <a:off x="2307" y="5457"/>
              <a:ext cx="2373" cy="32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8" name="Freeform: Shape 89"/>
            <p:cNvSpPr/>
            <p:nvPr/>
          </p:nvSpPr>
          <p:spPr>
            <a:xfrm>
              <a:off x="2307" y="4943"/>
              <a:ext cx="2373" cy="51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9" name="Freeform: Shape 90"/>
            <p:cNvSpPr/>
            <p:nvPr/>
          </p:nvSpPr>
          <p:spPr>
            <a:xfrm>
              <a:off x="2298" y="9359"/>
              <a:ext cx="2373" cy="32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0" name="Freeform: Shape 91"/>
            <p:cNvSpPr/>
            <p:nvPr/>
          </p:nvSpPr>
          <p:spPr>
            <a:xfrm>
              <a:off x="2298" y="9684"/>
              <a:ext cx="2373" cy="24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1" name="矩形 250"/>
            <p:cNvSpPr/>
            <p:nvPr/>
          </p:nvSpPr>
          <p:spPr>
            <a:xfrm>
              <a:off x="2639" y="5826"/>
              <a:ext cx="1703" cy="3557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52" name="Google Shape;723;p30"/>
            <p:cNvSpPr txBox="1"/>
            <p:nvPr/>
          </p:nvSpPr>
          <p:spPr>
            <a:xfrm>
              <a:off x="2455" y="5055"/>
              <a:ext cx="2061" cy="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第二支柱：提效</a:t>
              </a: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72" name="Google Shape;723;p30"/>
            <p:cNvSpPr txBox="1"/>
            <p:nvPr/>
          </p:nvSpPr>
          <p:spPr>
            <a:xfrm>
              <a:off x="3145" y="9322"/>
              <a:ext cx="679" cy="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②</a:t>
              </a:r>
              <a:endParaRPr 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73" name="矩形 272"/>
            <p:cNvSpPr/>
            <p:nvPr/>
          </p:nvSpPr>
          <p:spPr>
            <a:xfrm>
              <a:off x="2639" y="5815"/>
              <a:ext cx="1703" cy="3557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74" name="五边形 273"/>
            <p:cNvSpPr/>
            <p:nvPr/>
          </p:nvSpPr>
          <p:spPr>
            <a:xfrm rot="5400000">
              <a:off x="1891" y="6971"/>
              <a:ext cx="3258" cy="1306"/>
            </a:xfrm>
            <a:prstGeom prst="homePlate">
              <a:avLst>
                <a:gd name="adj" fmla="val 27119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0800000" scaled="1"/>
              </a:gradFill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75" name="下箭头 274"/>
            <p:cNvSpPr/>
            <p:nvPr/>
          </p:nvSpPr>
          <p:spPr>
            <a:xfrm>
              <a:off x="3216" y="5782"/>
              <a:ext cx="555" cy="3321"/>
            </a:xfrm>
            <a:prstGeom prst="downArrow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81" name="组合 280"/>
            <p:cNvGrpSpPr/>
            <p:nvPr/>
          </p:nvGrpSpPr>
          <p:grpSpPr>
            <a:xfrm rot="0">
              <a:off x="3038" y="6647"/>
              <a:ext cx="944" cy="513"/>
              <a:chOff x="2917" y="6632"/>
              <a:chExt cx="970" cy="527"/>
            </a:xfrm>
          </p:grpSpPr>
          <p:sp>
            <p:nvSpPr>
              <p:cNvPr id="282" name="Google Shape;703;p30"/>
              <p:cNvSpPr/>
              <p:nvPr/>
            </p:nvSpPr>
            <p:spPr>
              <a:xfrm>
                <a:off x="2918" y="6632"/>
                <a:ext cx="969" cy="527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3" name="Google Shape;723;p30"/>
              <p:cNvSpPr txBox="1"/>
              <p:nvPr/>
            </p:nvSpPr>
            <p:spPr>
              <a:xfrm>
                <a:off x="2917" y="6672"/>
                <a:ext cx="970" cy="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精益运营贯通管理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84" name="组合 283"/>
            <p:cNvGrpSpPr/>
            <p:nvPr/>
          </p:nvGrpSpPr>
          <p:grpSpPr>
            <a:xfrm rot="0">
              <a:off x="3047" y="7427"/>
              <a:ext cx="944" cy="485"/>
              <a:chOff x="2926" y="7538"/>
              <a:chExt cx="970" cy="498"/>
            </a:xfrm>
          </p:grpSpPr>
          <p:sp>
            <p:nvSpPr>
              <p:cNvPr id="285" name="Google Shape;703;p30"/>
              <p:cNvSpPr/>
              <p:nvPr/>
            </p:nvSpPr>
            <p:spPr>
              <a:xfrm>
                <a:off x="2927" y="7538"/>
                <a:ext cx="969" cy="496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286" name="Google Shape;723;p30"/>
              <p:cNvSpPr txBox="1"/>
              <p:nvPr/>
            </p:nvSpPr>
            <p:spPr>
              <a:xfrm>
                <a:off x="2926" y="7562"/>
                <a:ext cx="970" cy="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流程优化与自动化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87" name="Google Shape;703;p30"/>
            <p:cNvSpPr/>
            <p:nvPr/>
          </p:nvSpPr>
          <p:spPr>
            <a:xfrm>
              <a:off x="3048" y="8177"/>
              <a:ext cx="943" cy="475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290" name="组合 289"/>
            <p:cNvGrpSpPr/>
            <p:nvPr/>
          </p:nvGrpSpPr>
          <p:grpSpPr>
            <a:xfrm rot="0">
              <a:off x="2931" y="6055"/>
              <a:ext cx="1178" cy="434"/>
              <a:chOff x="4060" y="4527"/>
              <a:chExt cx="1210" cy="446"/>
            </a:xfrm>
          </p:grpSpPr>
          <p:sp>
            <p:nvSpPr>
              <p:cNvPr id="292" name="矩形 291"/>
              <p:cNvSpPr/>
              <p:nvPr/>
            </p:nvSpPr>
            <p:spPr>
              <a:xfrm>
                <a:off x="4147" y="4638"/>
                <a:ext cx="1003" cy="3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296" name="文本框 295"/>
              <p:cNvSpPr txBox="1"/>
              <p:nvPr/>
            </p:nvSpPr>
            <p:spPr>
              <a:xfrm>
                <a:off x="4060" y="4527"/>
                <a:ext cx="1210" cy="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rtlCol="0" anchor="t" anchorCtr="0">
                <a:noAutofit/>
              </a:bodyPr>
              <a:lstStyle/>
              <a:p>
                <a:pPr indent="0" algn="ctr" fontAlgn="auto">
                  <a:lnSpc>
                    <a:spcPts val="1640"/>
                  </a:lnSpc>
                </a:pPr>
                <a:r>
                  <a:rPr lang="zh-CN" altLang="en-US" sz="10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核心举措</a:t>
                </a:r>
                <a:endPara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97" name="Google Shape;723;p30"/>
            <p:cNvSpPr txBox="1"/>
            <p:nvPr/>
          </p:nvSpPr>
          <p:spPr>
            <a:xfrm>
              <a:off x="3048" y="8196"/>
              <a:ext cx="944" cy="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持续改进闭环机制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78" name="组合 377"/>
          <p:cNvGrpSpPr/>
          <p:nvPr/>
        </p:nvGrpSpPr>
        <p:grpSpPr>
          <a:xfrm>
            <a:off x="2943860" y="2616200"/>
            <a:ext cx="466725" cy="380365"/>
            <a:chOff x="4636" y="4120"/>
            <a:chExt cx="735" cy="599"/>
          </a:xfrm>
        </p:grpSpPr>
        <p:grpSp>
          <p:nvGrpSpPr>
            <p:cNvPr id="530" name="©显眼包PPT4"/>
            <p:cNvGrpSpPr/>
            <p:nvPr/>
          </p:nvGrpSpPr>
          <p:grpSpPr>
            <a:xfrm rot="10800000" flipH="1">
              <a:off x="4636" y="4120"/>
              <a:ext cx="735" cy="496"/>
              <a:chOff x="6553358" y="-8441"/>
              <a:chExt cx="483040" cy="379009"/>
            </a:xfrm>
          </p:grpSpPr>
          <p:grpSp>
            <p:nvGrpSpPr>
              <p:cNvPr id="206" name="组合 205"/>
              <p:cNvGrpSpPr/>
              <p:nvPr/>
            </p:nvGrpSpPr>
            <p:grpSpPr>
              <a:xfrm>
                <a:off x="6610718" y="212835"/>
                <a:ext cx="369630" cy="157733"/>
                <a:chOff x="6671598" y="231774"/>
                <a:chExt cx="369630" cy="127608"/>
              </a:xfrm>
            </p:grpSpPr>
            <p:sp>
              <p:nvSpPr>
                <p:cNvPr id="209" name="©显眼包PPT4-1"/>
                <p:cNvSpPr/>
                <p:nvPr/>
              </p:nvSpPr>
              <p:spPr bwMode="auto">
                <a:xfrm>
                  <a:off x="6671598" y="268288"/>
                  <a:ext cx="369630" cy="91094"/>
                </a:xfrm>
                <a:custGeom>
                  <a:avLst/>
                  <a:gdLst>
                    <a:gd name="connsiteX0" fmla="*/ 0 w 444500"/>
                    <a:gd name="connsiteY0" fmla="*/ 0 h 91094"/>
                    <a:gd name="connsiteX1" fmla="*/ 222250 w 444500"/>
                    <a:gd name="connsiteY1" fmla="*/ 36513 h 91094"/>
                    <a:gd name="connsiteX2" fmla="*/ 444500 w 444500"/>
                    <a:gd name="connsiteY2" fmla="*/ 0 h 91094"/>
                    <a:gd name="connsiteX3" fmla="*/ 444500 w 444500"/>
                    <a:gd name="connsiteY3" fmla="*/ 54581 h 91094"/>
                    <a:gd name="connsiteX4" fmla="*/ 222250 w 444500"/>
                    <a:gd name="connsiteY4" fmla="*/ 91094 h 91094"/>
                    <a:gd name="connsiteX5" fmla="*/ 0 w 444500"/>
                    <a:gd name="connsiteY5" fmla="*/ 54581 h 91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500" h="91094">
                      <a:moveTo>
                        <a:pt x="0" y="0"/>
                      </a:moveTo>
                      <a:cubicBezTo>
                        <a:pt x="0" y="20178"/>
                        <a:pt x="99574" y="36513"/>
                        <a:pt x="222250" y="36513"/>
                      </a:cubicBezTo>
                      <a:cubicBezTo>
                        <a:pt x="345022" y="36513"/>
                        <a:pt x="444500" y="20178"/>
                        <a:pt x="444500" y="0"/>
                      </a:cubicBezTo>
                      <a:lnTo>
                        <a:pt x="444500" y="54581"/>
                      </a:lnTo>
                      <a:cubicBezTo>
                        <a:pt x="444500" y="74759"/>
                        <a:pt x="345022" y="91094"/>
                        <a:pt x="222250" y="91094"/>
                      </a:cubicBezTo>
                      <a:cubicBezTo>
                        <a:pt x="99574" y="91094"/>
                        <a:pt x="0" y="74759"/>
                        <a:pt x="0" y="5458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3846">
                      <a:schemeClr val="accent1">
                        <a:lumMod val="20000"/>
                        <a:lumOff val="80000"/>
                      </a:schemeClr>
                    </a:gs>
                    <a:gs pos="15000">
                      <a:schemeClr val="accent1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60000"/>
                        <a:lumOff val="40000"/>
                      </a:schemeClr>
                    </a:gs>
                  </a:gsLst>
                  <a:lin ang="10800000" scaled="1"/>
                  <a:tileRect/>
                </a:gradFill>
                <a:ln w="6350">
                  <a:solidFill>
                    <a:schemeClr val="bg1"/>
                  </a:solidFill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cs typeface="微软雅黑" panose="020B0503020204020204" charset="-122"/>
                  </a:endParaRPr>
                </a:p>
              </p:txBody>
            </p:sp>
            <p:sp>
              <p:nvSpPr>
                <p:cNvPr id="210" name="©显眼包PPT4-2"/>
                <p:cNvSpPr>
                  <a:spLocks noChangeArrowheads="1"/>
                </p:cNvSpPr>
                <p:nvPr/>
              </p:nvSpPr>
              <p:spPr bwMode="auto">
                <a:xfrm>
                  <a:off x="6671598" y="231774"/>
                  <a:ext cx="369630" cy="85159"/>
                </a:xfrm>
                <a:prstGeom prst="ellipse">
                  <a:avLst/>
                </a:prstGeom>
                <a:gradFill flip="none" rotWithShape="1">
                  <a:gsLst>
                    <a:gs pos="9402">
                      <a:schemeClr val="accent1">
                        <a:lumMod val="20000"/>
                        <a:lumOff val="80000"/>
                      </a:schemeClr>
                    </a:gs>
                    <a:gs pos="5800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5400000" scaled="1"/>
                  <a:tileRect/>
                </a:gradFill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25" name="©显眼包PPT4-3"/>
              <p:cNvSpPr>
                <a:spLocks noChangeArrowheads="1"/>
              </p:cNvSpPr>
              <p:nvPr/>
            </p:nvSpPr>
            <p:spPr bwMode="auto">
              <a:xfrm>
                <a:off x="6553358" y="-8441"/>
                <a:ext cx="483040" cy="295719"/>
              </a:xfrm>
              <a:custGeom>
                <a:avLst/>
                <a:gdLst>
                  <a:gd name="connsiteX0" fmla="*/ 0 w 800"/>
                  <a:gd name="connsiteY0" fmla="*/ 0 h 387"/>
                  <a:gd name="connsiteX1" fmla="*/ 800 w 800"/>
                  <a:gd name="connsiteY1" fmla="*/ 0 h 387"/>
                  <a:gd name="connsiteX2" fmla="*/ 703 w 800"/>
                  <a:gd name="connsiteY2" fmla="*/ 344 h 387"/>
                  <a:gd name="connsiteX3" fmla="*/ 700 w 800"/>
                  <a:gd name="connsiteY3" fmla="*/ 344 h 387"/>
                  <a:gd name="connsiteX4" fmla="*/ 700 w 800"/>
                  <a:gd name="connsiteY4" fmla="*/ 344 h 387"/>
                  <a:gd name="connsiteX5" fmla="*/ 399 w 800"/>
                  <a:gd name="connsiteY5" fmla="*/ 387 h 387"/>
                  <a:gd name="connsiteX6" fmla="*/ 263 w 800"/>
                  <a:gd name="connsiteY6" fmla="*/ 325 h 387"/>
                  <a:gd name="connsiteX7" fmla="*/ 98 w 800"/>
                  <a:gd name="connsiteY7" fmla="*/ 344 h 387"/>
                  <a:gd name="connsiteX8" fmla="*/ 97 w 800"/>
                  <a:gd name="connsiteY8" fmla="*/ 344 h 387"/>
                  <a:gd name="connsiteX9" fmla="*/ 0 w 800"/>
                  <a:gd name="connsiteY9" fmla="*/ 0 h 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0" h="387">
                    <a:moveTo>
                      <a:pt x="0" y="0"/>
                    </a:moveTo>
                    <a:lnTo>
                      <a:pt x="800" y="0"/>
                    </a:lnTo>
                    <a:lnTo>
                      <a:pt x="703" y="344"/>
                    </a:lnTo>
                    <a:lnTo>
                      <a:pt x="700" y="344"/>
                    </a:lnTo>
                    <a:lnTo>
                      <a:pt x="700" y="344"/>
                    </a:lnTo>
                    <a:cubicBezTo>
                      <a:pt x="700" y="368"/>
                      <a:pt x="566" y="387"/>
                      <a:pt x="399" y="387"/>
                    </a:cubicBezTo>
                    <a:cubicBezTo>
                      <a:pt x="233" y="387"/>
                      <a:pt x="263" y="349"/>
                      <a:pt x="263" y="325"/>
                    </a:cubicBezTo>
                    <a:lnTo>
                      <a:pt x="98" y="344"/>
                    </a:lnTo>
                    <a:lnTo>
                      <a:pt x="97" y="34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63000">
                    <a:schemeClr val="bg1">
                      <a:lumMod val="95000"/>
                      <a:alpha val="10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230" name="©显眼包PPT4-4"/>
              <p:cNvSpPr>
                <a:spLocks noChangeArrowheads="1"/>
              </p:cNvSpPr>
              <p:nvPr/>
            </p:nvSpPr>
            <p:spPr bwMode="auto">
              <a:xfrm>
                <a:off x="6652856" y="241623"/>
                <a:ext cx="285354" cy="45719"/>
              </a:xfrm>
              <a:prstGeom prst="ellipse">
                <a:avLst/>
              </a:prstGeom>
              <a:gradFill flip="none" rotWithShape="1">
                <a:gsLst>
                  <a:gs pos="9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ln w="6350">
                <a:gradFill>
                  <a:gsLst>
                    <a:gs pos="16000">
                      <a:schemeClr val="bg1">
                        <a:alpha val="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pic>
          <p:nvPicPr>
            <p:cNvPr id="299" name="图片 298" descr="1_画板 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79" y="4269"/>
              <a:ext cx="450" cy="450"/>
            </a:xfrm>
            <a:prstGeom prst="rect">
              <a:avLst/>
            </a:prstGeom>
            <a:gradFill flip="none" rotWithShape="1">
              <a:gsLst>
                <a:gs pos="12000">
                  <a:schemeClr val="accent2">
                    <a:lumMod val="60000"/>
                    <a:lumOff val="40000"/>
                  </a:schemeClr>
                </a:gs>
                <a:gs pos="61000">
                  <a:schemeClr val="accent2"/>
                </a:gs>
              </a:gsLst>
              <a:lin ang="2700000" scaled="1"/>
              <a:tileRect/>
            </a:gradFill>
            <a:effectLst>
              <a:reflection blurRad="6350" stA="27000" endPos="38500" dist="26924" dir="5400000" sy="-100000" algn="bl" rotWithShape="0"/>
            </a:effectLst>
          </p:spPr>
        </p:pic>
      </p:grpSp>
      <p:sp>
        <p:nvSpPr>
          <p:cNvPr id="301" name="梯形 300"/>
          <p:cNvSpPr/>
          <p:nvPr/>
        </p:nvSpPr>
        <p:spPr>
          <a:xfrm>
            <a:off x="7240270" y="2685415"/>
            <a:ext cx="3423920" cy="543560"/>
          </a:xfrm>
          <a:prstGeom prst="trapezoid">
            <a:avLst>
              <a:gd name="adj" fmla="val 25203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07" name="组合 306"/>
          <p:cNvGrpSpPr/>
          <p:nvPr/>
        </p:nvGrpSpPr>
        <p:grpSpPr>
          <a:xfrm>
            <a:off x="7233920" y="3021330"/>
            <a:ext cx="1512570" cy="3077845"/>
            <a:chOff x="2298" y="4943"/>
            <a:chExt cx="2382" cy="4986"/>
          </a:xfrm>
        </p:grpSpPr>
        <p:sp>
          <p:nvSpPr>
            <p:cNvPr id="312" name="Freeform: Shape 88"/>
            <p:cNvSpPr/>
            <p:nvPr/>
          </p:nvSpPr>
          <p:spPr>
            <a:xfrm>
              <a:off x="2307" y="5457"/>
              <a:ext cx="2373" cy="32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0" name="Freeform: Shape 89"/>
            <p:cNvSpPr/>
            <p:nvPr/>
          </p:nvSpPr>
          <p:spPr>
            <a:xfrm>
              <a:off x="2307" y="4943"/>
              <a:ext cx="2373" cy="51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5" name="Freeform: Shape 90"/>
            <p:cNvSpPr/>
            <p:nvPr/>
          </p:nvSpPr>
          <p:spPr>
            <a:xfrm>
              <a:off x="2298" y="9359"/>
              <a:ext cx="2373" cy="32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9" name="Freeform: Shape 91"/>
            <p:cNvSpPr/>
            <p:nvPr/>
          </p:nvSpPr>
          <p:spPr>
            <a:xfrm>
              <a:off x="2298" y="9684"/>
              <a:ext cx="2373" cy="24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0" name="矩形 329"/>
            <p:cNvSpPr/>
            <p:nvPr/>
          </p:nvSpPr>
          <p:spPr>
            <a:xfrm>
              <a:off x="2639" y="5826"/>
              <a:ext cx="1703" cy="3557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1" name="Google Shape;723;p30"/>
            <p:cNvSpPr txBox="1"/>
            <p:nvPr/>
          </p:nvSpPr>
          <p:spPr>
            <a:xfrm>
              <a:off x="2455" y="5055"/>
              <a:ext cx="2061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第三支柱：固本</a:t>
              </a: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2" name="Google Shape;723;p30"/>
            <p:cNvSpPr txBox="1"/>
            <p:nvPr/>
          </p:nvSpPr>
          <p:spPr>
            <a:xfrm>
              <a:off x="3145" y="9322"/>
              <a:ext cx="679" cy="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③</a:t>
              </a:r>
              <a:endParaRPr 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3" name="矩形 332"/>
            <p:cNvSpPr/>
            <p:nvPr/>
          </p:nvSpPr>
          <p:spPr>
            <a:xfrm>
              <a:off x="2639" y="5815"/>
              <a:ext cx="1703" cy="3557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4" name="五边形 333"/>
            <p:cNvSpPr/>
            <p:nvPr/>
          </p:nvSpPr>
          <p:spPr>
            <a:xfrm rot="5400000">
              <a:off x="1891" y="6971"/>
              <a:ext cx="3258" cy="1306"/>
            </a:xfrm>
            <a:prstGeom prst="homePlate">
              <a:avLst>
                <a:gd name="adj" fmla="val 27119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0800000" scaled="1"/>
              </a:gradFill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5" name="下箭头 334"/>
            <p:cNvSpPr/>
            <p:nvPr/>
          </p:nvSpPr>
          <p:spPr>
            <a:xfrm>
              <a:off x="3216" y="5782"/>
              <a:ext cx="555" cy="3321"/>
            </a:xfrm>
            <a:prstGeom prst="downArrow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36" name="组合 335"/>
            <p:cNvGrpSpPr/>
            <p:nvPr/>
          </p:nvGrpSpPr>
          <p:grpSpPr>
            <a:xfrm rot="0">
              <a:off x="3038" y="6647"/>
              <a:ext cx="944" cy="513"/>
              <a:chOff x="2917" y="6632"/>
              <a:chExt cx="970" cy="527"/>
            </a:xfrm>
          </p:grpSpPr>
          <p:sp>
            <p:nvSpPr>
              <p:cNvPr id="337" name="Google Shape;703;p30"/>
              <p:cNvSpPr/>
              <p:nvPr/>
            </p:nvSpPr>
            <p:spPr>
              <a:xfrm>
                <a:off x="2918" y="6632"/>
                <a:ext cx="969" cy="527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38" name="Google Shape;723;p30"/>
              <p:cNvSpPr txBox="1"/>
              <p:nvPr/>
            </p:nvSpPr>
            <p:spPr>
              <a:xfrm>
                <a:off x="2917" y="6672"/>
                <a:ext cx="970" cy="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数据驱动文化培育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339" name="组合 338"/>
            <p:cNvGrpSpPr/>
            <p:nvPr/>
          </p:nvGrpSpPr>
          <p:grpSpPr>
            <a:xfrm rot="0">
              <a:off x="3047" y="7427"/>
              <a:ext cx="944" cy="483"/>
              <a:chOff x="2926" y="7538"/>
              <a:chExt cx="970" cy="496"/>
            </a:xfrm>
          </p:grpSpPr>
          <p:sp>
            <p:nvSpPr>
              <p:cNvPr id="340" name="Google Shape;703;p30"/>
              <p:cNvSpPr/>
              <p:nvPr/>
            </p:nvSpPr>
            <p:spPr>
              <a:xfrm>
                <a:off x="2927" y="7538"/>
                <a:ext cx="969" cy="496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41" name="Google Shape;723;p30"/>
              <p:cNvSpPr txBox="1"/>
              <p:nvPr/>
            </p:nvSpPr>
            <p:spPr>
              <a:xfrm>
                <a:off x="2926" y="7562"/>
                <a:ext cx="970" cy="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知识沉淀与复用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342" name="Google Shape;703;p30"/>
            <p:cNvSpPr/>
            <p:nvPr/>
          </p:nvSpPr>
          <p:spPr>
            <a:xfrm>
              <a:off x="3048" y="8177"/>
              <a:ext cx="943" cy="475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345" name="组合 344"/>
            <p:cNvGrpSpPr/>
            <p:nvPr/>
          </p:nvGrpSpPr>
          <p:grpSpPr>
            <a:xfrm rot="0">
              <a:off x="2931" y="6055"/>
              <a:ext cx="1178" cy="434"/>
              <a:chOff x="4060" y="4527"/>
              <a:chExt cx="1210" cy="446"/>
            </a:xfrm>
          </p:grpSpPr>
          <p:sp>
            <p:nvSpPr>
              <p:cNvPr id="346" name="矩形 345"/>
              <p:cNvSpPr/>
              <p:nvPr/>
            </p:nvSpPr>
            <p:spPr>
              <a:xfrm>
                <a:off x="4147" y="4638"/>
                <a:ext cx="1003" cy="3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347" name="文本框 346"/>
              <p:cNvSpPr txBox="1"/>
              <p:nvPr/>
            </p:nvSpPr>
            <p:spPr>
              <a:xfrm>
                <a:off x="4060" y="4527"/>
                <a:ext cx="1210" cy="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rtlCol="0" anchor="t" anchorCtr="0">
                <a:noAutofit/>
              </a:bodyPr>
              <a:lstStyle/>
              <a:p>
                <a:pPr indent="0" algn="ctr" fontAlgn="auto">
                  <a:lnSpc>
                    <a:spcPts val="1640"/>
                  </a:lnSpc>
                </a:pPr>
                <a:r>
                  <a:rPr lang="zh-CN" altLang="en-US" sz="10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核心举措</a:t>
                </a:r>
                <a:endPara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48" name="Google Shape;723;p30"/>
            <p:cNvSpPr txBox="1"/>
            <p:nvPr/>
          </p:nvSpPr>
          <p:spPr>
            <a:xfrm>
              <a:off x="3048" y="8196"/>
              <a:ext cx="944" cy="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跨部门协同赋能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9150985" y="3021330"/>
            <a:ext cx="1512570" cy="3077845"/>
            <a:chOff x="2298" y="4943"/>
            <a:chExt cx="2382" cy="4986"/>
          </a:xfrm>
        </p:grpSpPr>
        <p:sp>
          <p:nvSpPr>
            <p:cNvPr id="356" name="Freeform: Shape 88"/>
            <p:cNvSpPr/>
            <p:nvPr/>
          </p:nvSpPr>
          <p:spPr>
            <a:xfrm>
              <a:off x="2307" y="5457"/>
              <a:ext cx="2373" cy="32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Freeform: Shape 89"/>
            <p:cNvSpPr/>
            <p:nvPr/>
          </p:nvSpPr>
          <p:spPr>
            <a:xfrm>
              <a:off x="2307" y="4943"/>
              <a:ext cx="2373" cy="513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lstStyle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8" name="Freeform: Shape 90"/>
            <p:cNvSpPr/>
            <p:nvPr/>
          </p:nvSpPr>
          <p:spPr>
            <a:xfrm>
              <a:off x="2298" y="9359"/>
              <a:ext cx="2373" cy="32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59" name="Freeform: Shape 91"/>
            <p:cNvSpPr/>
            <p:nvPr/>
          </p:nvSpPr>
          <p:spPr>
            <a:xfrm>
              <a:off x="2298" y="9684"/>
              <a:ext cx="2373" cy="24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0"/>
            </a:gra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>
              <a:noAutofit/>
            </a:bodyPr>
            <a:lstStyle/>
            <a:p>
              <a:pPr lvl="0" algn="l" hangingPunct="0">
                <a:buClrTx/>
                <a:buSzTx/>
                <a:buFontTx/>
              </a:pPr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0" name="矩形 359"/>
            <p:cNvSpPr/>
            <p:nvPr/>
          </p:nvSpPr>
          <p:spPr>
            <a:xfrm>
              <a:off x="2639" y="5826"/>
              <a:ext cx="1703" cy="3557"/>
            </a:xfrm>
            <a:prstGeom prst="rect">
              <a:avLst/>
            </a:prstGeom>
            <a:pattFill prst="wdUpDiag">
              <a:fgClr>
                <a:schemeClr val="bg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1" name="Google Shape;723;p30"/>
            <p:cNvSpPr txBox="1"/>
            <p:nvPr/>
          </p:nvSpPr>
          <p:spPr>
            <a:xfrm>
              <a:off x="2455" y="5055"/>
              <a:ext cx="2061" cy="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”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第四支柱：</a:t>
              </a:r>
              <a:r>
                <a:rPr lang="zh-CN" altLang="en-US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拓新</a:t>
              </a:r>
              <a:r>
                <a:rPr lang="en-US" alt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“</a:t>
              </a:r>
              <a:endParaRPr lang="en-US" altLang="zh-CN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2" name="Google Shape;723;p30"/>
            <p:cNvSpPr txBox="1"/>
            <p:nvPr/>
          </p:nvSpPr>
          <p:spPr>
            <a:xfrm>
              <a:off x="3145" y="9322"/>
              <a:ext cx="679" cy="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④</a:t>
              </a:r>
              <a:endParaRPr 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3" name="矩形 362"/>
            <p:cNvSpPr/>
            <p:nvPr/>
          </p:nvSpPr>
          <p:spPr>
            <a:xfrm>
              <a:off x="2639" y="5815"/>
              <a:ext cx="1703" cy="3557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4" name="五边形 363"/>
            <p:cNvSpPr/>
            <p:nvPr/>
          </p:nvSpPr>
          <p:spPr>
            <a:xfrm rot="5400000">
              <a:off x="1891" y="6971"/>
              <a:ext cx="3258" cy="1306"/>
            </a:xfrm>
            <a:prstGeom prst="homePlate">
              <a:avLst>
                <a:gd name="adj" fmla="val 27119"/>
              </a:avLst>
            </a:prstGeom>
            <a:solidFill>
              <a:schemeClr val="bg1"/>
            </a:solidFill>
            <a:ln w="1270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0800000" scaled="1"/>
              </a:gradFill>
            </a:ln>
          </p:spPr>
          <p:txBody>
            <a:bodyPr spcFirstLastPara="1" wrap="square" lIns="0" tIns="0" rIns="0" bIns="0" rtlCol="0" anchor="ctr" anchorCtr="0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5" name="下箭头 364"/>
            <p:cNvSpPr/>
            <p:nvPr/>
          </p:nvSpPr>
          <p:spPr>
            <a:xfrm>
              <a:off x="3216" y="5782"/>
              <a:ext cx="555" cy="3321"/>
            </a:xfrm>
            <a:prstGeom prst="downArrow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66" name="组合 365"/>
            <p:cNvGrpSpPr/>
            <p:nvPr/>
          </p:nvGrpSpPr>
          <p:grpSpPr>
            <a:xfrm rot="0">
              <a:off x="3038" y="6647"/>
              <a:ext cx="944" cy="513"/>
              <a:chOff x="2917" y="6632"/>
              <a:chExt cx="970" cy="527"/>
            </a:xfrm>
          </p:grpSpPr>
          <p:sp>
            <p:nvSpPr>
              <p:cNvPr id="367" name="Google Shape;703;p30"/>
              <p:cNvSpPr/>
              <p:nvPr/>
            </p:nvSpPr>
            <p:spPr>
              <a:xfrm>
                <a:off x="2918" y="6632"/>
                <a:ext cx="969" cy="527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68" name="Google Shape;723;p30"/>
              <p:cNvSpPr txBox="1"/>
              <p:nvPr/>
            </p:nvSpPr>
            <p:spPr>
              <a:xfrm>
                <a:off x="2917" y="6672"/>
                <a:ext cx="970" cy="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智能技术场景融合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369" name="组合 368"/>
            <p:cNvGrpSpPr/>
            <p:nvPr/>
          </p:nvGrpSpPr>
          <p:grpSpPr>
            <a:xfrm rot="0">
              <a:off x="3047" y="7427"/>
              <a:ext cx="944" cy="483"/>
              <a:chOff x="2926" y="7538"/>
              <a:chExt cx="970" cy="496"/>
            </a:xfrm>
          </p:grpSpPr>
          <p:sp>
            <p:nvSpPr>
              <p:cNvPr id="370" name="Google Shape;703;p30"/>
              <p:cNvSpPr/>
              <p:nvPr/>
            </p:nvSpPr>
            <p:spPr>
              <a:xfrm>
                <a:off x="2927" y="7538"/>
                <a:ext cx="969" cy="496"/>
              </a:xfrm>
              <a:prstGeom prst="roundRect">
                <a:avLst>
                  <a:gd name="adj" fmla="val 3814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schemeClr val="tx2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371" name="Google Shape;723;p30"/>
              <p:cNvSpPr txBox="1"/>
              <p:nvPr/>
            </p:nvSpPr>
            <p:spPr>
              <a:xfrm>
                <a:off x="2926" y="7562"/>
                <a:ext cx="970" cy="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平台化生态构建</a:t>
                </a:r>
                <a:endPara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372" name="Google Shape;703;p30"/>
            <p:cNvSpPr/>
            <p:nvPr/>
          </p:nvSpPr>
          <p:spPr>
            <a:xfrm>
              <a:off x="3048" y="8177"/>
              <a:ext cx="943" cy="475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373" name="组合 372"/>
            <p:cNvGrpSpPr/>
            <p:nvPr/>
          </p:nvGrpSpPr>
          <p:grpSpPr>
            <a:xfrm rot="0">
              <a:off x="2931" y="6055"/>
              <a:ext cx="1178" cy="434"/>
              <a:chOff x="4060" y="4527"/>
              <a:chExt cx="1210" cy="446"/>
            </a:xfrm>
          </p:grpSpPr>
          <p:sp>
            <p:nvSpPr>
              <p:cNvPr id="374" name="矩形 373"/>
              <p:cNvSpPr/>
              <p:nvPr/>
            </p:nvSpPr>
            <p:spPr>
              <a:xfrm>
                <a:off x="4147" y="4638"/>
                <a:ext cx="1003" cy="3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375" name="文本框 374"/>
              <p:cNvSpPr txBox="1"/>
              <p:nvPr/>
            </p:nvSpPr>
            <p:spPr>
              <a:xfrm>
                <a:off x="4060" y="4527"/>
                <a:ext cx="1210" cy="4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txBody>
              <a:bodyPr wrap="square" rtlCol="0" anchor="t" anchorCtr="0">
                <a:noAutofit/>
              </a:bodyPr>
              <a:lstStyle/>
              <a:p>
                <a:pPr indent="0" algn="ctr" fontAlgn="auto">
                  <a:lnSpc>
                    <a:spcPts val="1640"/>
                  </a:lnSpc>
                </a:pPr>
                <a:r>
                  <a:rPr lang="zh-CN" altLang="en-US" sz="10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核心举措</a:t>
                </a:r>
                <a:endPara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76" name="Google Shape;723;p30"/>
            <p:cNvSpPr txBox="1"/>
            <p:nvPr/>
          </p:nvSpPr>
          <p:spPr>
            <a:xfrm>
              <a:off x="3048" y="8196"/>
              <a:ext cx="944" cy="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algn="ctr"/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前瞻能力孵化布局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80" name="©显眼包PPT4"/>
          <p:cNvGrpSpPr/>
          <p:nvPr/>
        </p:nvGrpSpPr>
        <p:grpSpPr>
          <a:xfrm rot="10800000" flipH="1">
            <a:off x="8710930" y="2583815"/>
            <a:ext cx="466725" cy="314960"/>
            <a:chOff x="6553358" y="-8441"/>
            <a:chExt cx="483040" cy="379009"/>
          </a:xfrm>
        </p:grpSpPr>
        <p:grpSp>
          <p:nvGrpSpPr>
            <p:cNvPr id="381" name="组合 380"/>
            <p:cNvGrpSpPr/>
            <p:nvPr/>
          </p:nvGrpSpPr>
          <p:grpSpPr>
            <a:xfrm>
              <a:off x="6610718" y="212835"/>
              <a:ext cx="369630" cy="157733"/>
              <a:chOff x="6671598" y="231774"/>
              <a:chExt cx="369630" cy="127608"/>
            </a:xfrm>
          </p:grpSpPr>
          <p:sp>
            <p:nvSpPr>
              <p:cNvPr id="382" name="©显眼包PPT4-1"/>
              <p:cNvSpPr/>
              <p:nvPr/>
            </p:nvSpPr>
            <p:spPr bwMode="auto">
              <a:xfrm>
                <a:off x="6671598" y="268288"/>
                <a:ext cx="369630" cy="91094"/>
              </a:xfrm>
              <a:custGeom>
                <a:avLst/>
                <a:gdLst>
                  <a:gd name="connsiteX0" fmla="*/ 0 w 444500"/>
                  <a:gd name="connsiteY0" fmla="*/ 0 h 91094"/>
                  <a:gd name="connsiteX1" fmla="*/ 222250 w 444500"/>
                  <a:gd name="connsiteY1" fmla="*/ 36513 h 91094"/>
                  <a:gd name="connsiteX2" fmla="*/ 444500 w 444500"/>
                  <a:gd name="connsiteY2" fmla="*/ 0 h 91094"/>
                  <a:gd name="connsiteX3" fmla="*/ 444500 w 444500"/>
                  <a:gd name="connsiteY3" fmla="*/ 54581 h 91094"/>
                  <a:gd name="connsiteX4" fmla="*/ 222250 w 444500"/>
                  <a:gd name="connsiteY4" fmla="*/ 91094 h 91094"/>
                  <a:gd name="connsiteX5" fmla="*/ 0 w 444500"/>
                  <a:gd name="connsiteY5" fmla="*/ 54581 h 91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4500" h="91094">
                    <a:moveTo>
                      <a:pt x="0" y="0"/>
                    </a:moveTo>
                    <a:cubicBezTo>
                      <a:pt x="0" y="20178"/>
                      <a:pt x="99574" y="36513"/>
                      <a:pt x="222250" y="36513"/>
                    </a:cubicBezTo>
                    <a:cubicBezTo>
                      <a:pt x="345022" y="36513"/>
                      <a:pt x="444500" y="20178"/>
                      <a:pt x="444500" y="0"/>
                    </a:cubicBezTo>
                    <a:lnTo>
                      <a:pt x="444500" y="54581"/>
                    </a:lnTo>
                    <a:cubicBezTo>
                      <a:pt x="444500" y="74759"/>
                      <a:pt x="345022" y="91094"/>
                      <a:pt x="222250" y="91094"/>
                    </a:cubicBezTo>
                    <a:cubicBezTo>
                      <a:pt x="99574" y="91094"/>
                      <a:pt x="0" y="74759"/>
                      <a:pt x="0" y="54581"/>
                    </a:cubicBezTo>
                    <a:close/>
                  </a:path>
                </a:pathLst>
              </a:custGeom>
              <a:gradFill flip="none" rotWithShape="1">
                <a:gsLst>
                  <a:gs pos="3846">
                    <a:schemeClr val="accent1">
                      <a:lumMod val="20000"/>
                      <a:lumOff val="80000"/>
                    </a:schemeClr>
                  </a:gs>
                  <a:gs pos="15000">
                    <a:schemeClr val="accent1">
                      <a:lumMod val="40000"/>
                      <a:lumOff val="60000"/>
                    </a:schemeClr>
                  </a:gs>
                  <a:gs pos="74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ln w="6350">
                <a:solidFill>
                  <a:schemeClr val="bg1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383" name="©显眼包PPT4-2"/>
              <p:cNvSpPr>
                <a:spLocks noChangeArrowheads="1"/>
              </p:cNvSpPr>
              <p:nvPr/>
            </p:nvSpPr>
            <p:spPr bwMode="auto">
              <a:xfrm>
                <a:off x="6671598" y="231774"/>
                <a:ext cx="369630" cy="85159"/>
              </a:xfrm>
              <a:prstGeom prst="ellipse">
                <a:avLst/>
              </a:prstGeom>
              <a:gradFill flip="none" rotWithShape="1">
                <a:gsLst>
                  <a:gs pos="9402">
                    <a:schemeClr val="accent1">
                      <a:lumMod val="20000"/>
                      <a:lumOff val="80000"/>
                    </a:schemeClr>
                  </a:gs>
                  <a:gs pos="58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sp>
          <p:nvSpPr>
            <p:cNvPr id="384" name="©显眼包PPT4-3"/>
            <p:cNvSpPr>
              <a:spLocks noChangeArrowheads="1"/>
            </p:cNvSpPr>
            <p:nvPr/>
          </p:nvSpPr>
          <p:spPr bwMode="auto">
            <a:xfrm>
              <a:off x="6553358" y="-8441"/>
              <a:ext cx="483040" cy="295719"/>
            </a:xfrm>
            <a:custGeom>
              <a:avLst/>
              <a:gdLst>
                <a:gd name="connsiteX0" fmla="*/ 0 w 800"/>
                <a:gd name="connsiteY0" fmla="*/ 0 h 387"/>
                <a:gd name="connsiteX1" fmla="*/ 800 w 800"/>
                <a:gd name="connsiteY1" fmla="*/ 0 h 387"/>
                <a:gd name="connsiteX2" fmla="*/ 703 w 800"/>
                <a:gd name="connsiteY2" fmla="*/ 344 h 387"/>
                <a:gd name="connsiteX3" fmla="*/ 700 w 800"/>
                <a:gd name="connsiteY3" fmla="*/ 344 h 387"/>
                <a:gd name="connsiteX4" fmla="*/ 700 w 800"/>
                <a:gd name="connsiteY4" fmla="*/ 344 h 387"/>
                <a:gd name="connsiteX5" fmla="*/ 399 w 800"/>
                <a:gd name="connsiteY5" fmla="*/ 387 h 387"/>
                <a:gd name="connsiteX6" fmla="*/ 263 w 800"/>
                <a:gd name="connsiteY6" fmla="*/ 325 h 387"/>
                <a:gd name="connsiteX7" fmla="*/ 98 w 800"/>
                <a:gd name="connsiteY7" fmla="*/ 344 h 387"/>
                <a:gd name="connsiteX8" fmla="*/ 97 w 800"/>
                <a:gd name="connsiteY8" fmla="*/ 344 h 387"/>
                <a:gd name="connsiteX9" fmla="*/ 0 w 800"/>
                <a:gd name="connsiteY9" fmla="*/ 0 h 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0" h="387">
                  <a:moveTo>
                    <a:pt x="0" y="0"/>
                  </a:moveTo>
                  <a:lnTo>
                    <a:pt x="800" y="0"/>
                  </a:lnTo>
                  <a:lnTo>
                    <a:pt x="703" y="344"/>
                  </a:lnTo>
                  <a:lnTo>
                    <a:pt x="700" y="344"/>
                  </a:lnTo>
                  <a:lnTo>
                    <a:pt x="700" y="344"/>
                  </a:lnTo>
                  <a:cubicBezTo>
                    <a:pt x="700" y="368"/>
                    <a:pt x="566" y="387"/>
                    <a:pt x="399" y="387"/>
                  </a:cubicBezTo>
                  <a:cubicBezTo>
                    <a:pt x="233" y="387"/>
                    <a:pt x="263" y="349"/>
                    <a:pt x="263" y="325"/>
                  </a:cubicBezTo>
                  <a:lnTo>
                    <a:pt x="98" y="344"/>
                  </a:lnTo>
                  <a:lnTo>
                    <a:pt x="97" y="34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63000">
                  <a:schemeClr val="bg1">
                    <a:lumMod val="95000"/>
                    <a:alpha val="10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85" name="©显眼包PPT4-4"/>
            <p:cNvSpPr>
              <a:spLocks noChangeArrowheads="1"/>
            </p:cNvSpPr>
            <p:nvPr/>
          </p:nvSpPr>
          <p:spPr bwMode="auto">
            <a:xfrm>
              <a:off x="6652856" y="241623"/>
              <a:ext cx="285354" cy="45719"/>
            </a:xfrm>
            <a:prstGeom prst="ellipse">
              <a:avLst/>
            </a:prstGeom>
            <a:gradFill flip="none" rotWithShape="1">
              <a:gsLst>
                <a:gs pos="900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ln w="6350">
              <a:gradFill>
                <a:gsLst>
                  <a:gs pos="16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微软雅黑" panose="020B0503020204020204" charset="-122"/>
              </a:endParaRPr>
            </a:p>
          </p:txBody>
        </p:sp>
      </p:grpSp>
      <p:pic>
        <p:nvPicPr>
          <p:cNvPr id="388" name="图片 387" descr="创新思维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96338" y="2723515"/>
            <a:ext cx="295910" cy="29591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" name="图片 1" descr="屋顶资源管理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9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9836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数字化平台赋能从获客到经营</a:t>
            </a:r>
            <a:endParaRPr lang="en-US" altLang="zh-CN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88" name="Freeform: Shape 87"/>
          <p:cNvSpPr/>
          <p:nvPr/>
        </p:nvSpPr>
        <p:spPr>
          <a:xfrm>
            <a:off x="510540" y="1095375"/>
            <a:ext cx="11174730" cy="108839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32" h="1674">
                <a:moveTo>
                  <a:pt x="3817" y="0"/>
                </a:moveTo>
                <a:lnTo>
                  <a:pt x="0" y="1674"/>
                </a:lnTo>
                <a:lnTo>
                  <a:pt x="7632" y="1674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5400000" scaled="0"/>
          </a:gradFill>
          <a:ln w="25400" cap="flat">
            <a:solidFill>
              <a:schemeClr val="bg1"/>
            </a:solidFill>
            <a:prstDash val="solid"/>
          </a:ln>
        </p:spPr>
        <p:txBody>
          <a:bodyPr vert="horz" wrap="none" lIns="45000" tIns="22500" rIns="45000" bIns="22500" anchor="ctr" anchorCtr="1" compatLnSpc="0"/>
          <a:p>
            <a:pPr hangingPunct="0"/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Freeform: Shape 128"/>
          <p:cNvSpPr/>
          <p:nvPr/>
        </p:nvSpPr>
        <p:spPr>
          <a:xfrm>
            <a:off x="1847215" y="5801360"/>
            <a:ext cx="8403590" cy="3714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745" h="345">
                <a:moveTo>
                  <a:pt x="7745" y="345"/>
                </a:moveTo>
                <a:lnTo>
                  <a:pt x="0" y="345"/>
                </a:lnTo>
                <a:lnTo>
                  <a:pt x="0" y="0"/>
                </a:lnTo>
                <a:lnTo>
                  <a:pt x="7745" y="0"/>
                </a:lnTo>
                <a:close/>
              </a:path>
            </a:pathLst>
          </a:custGeom>
          <a:gradFill>
            <a:gsLst>
              <a:gs pos="13000">
                <a:schemeClr val="accent5"/>
              </a:gs>
              <a:gs pos="95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cap="flat">
            <a:solidFill>
              <a:schemeClr val="bg1"/>
            </a:solidFill>
            <a:prstDash val="solid"/>
          </a:ln>
        </p:spPr>
        <p:txBody>
          <a:bodyPr vert="horz" wrap="none" lIns="45000" tIns="22500" rIns="45000" bIns="22500" anchor="ctr" anchorCtr="1" compatLnSpc="0">
            <a:noAutofit/>
          </a:bodyPr>
          <a:p>
            <a:pPr lvl="0" algn="l" hangingPunct="0">
              <a:buClrTx/>
              <a:buSzTx/>
              <a:buFontTx/>
            </a:pPr>
            <a:endParaRPr lang="en-US"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Freeform: Shape 129"/>
          <p:cNvSpPr/>
          <p:nvPr/>
        </p:nvSpPr>
        <p:spPr>
          <a:xfrm>
            <a:off x="1338580" y="6172835"/>
            <a:ext cx="9420860" cy="3943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18" h="345">
                <a:moveTo>
                  <a:pt x="8118" y="345"/>
                </a:moveTo>
                <a:lnTo>
                  <a:pt x="0" y="345"/>
                </a:lnTo>
                <a:lnTo>
                  <a:pt x="0" y="0"/>
                </a:lnTo>
                <a:lnTo>
                  <a:pt x="81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accent1"/>
              </a:solidFill>
              <a:latin typeface="+mj-ea"/>
              <a:cs typeface="微软雅黑" panose="020B0503020204020204" charset="-122"/>
              <a:sym typeface="+mn-ea"/>
            </a:endParaRPr>
          </a:p>
        </p:txBody>
      </p:sp>
      <p:grpSp>
        <p:nvGrpSpPr>
          <p:cNvPr id="214" name="组合 213"/>
          <p:cNvGrpSpPr/>
          <p:nvPr/>
        </p:nvGrpSpPr>
        <p:grpSpPr>
          <a:xfrm rot="0">
            <a:off x="3393440" y="2256155"/>
            <a:ext cx="1243965" cy="3490595"/>
            <a:chOff x="3388" y="4290"/>
            <a:chExt cx="1533" cy="4631"/>
          </a:xfrm>
        </p:grpSpPr>
        <p:sp>
          <p:nvSpPr>
            <p:cNvPr id="215" name="Freeform: Shape 88"/>
            <p:cNvSpPr/>
            <p:nvPr/>
          </p:nvSpPr>
          <p:spPr>
            <a:xfrm>
              <a:off x="3388" y="4502"/>
              <a:ext cx="1533" cy="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6" name="Freeform: Shape 89"/>
            <p:cNvSpPr/>
            <p:nvPr/>
          </p:nvSpPr>
          <p:spPr>
            <a:xfrm>
              <a:off x="3388" y="4290"/>
              <a:ext cx="1533" cy="21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7" name="Freeform: Shape 90"/>
            <p:cNvSpPr/>
            <p:nvPr/>
          </p:nvSpPr>
          <p:spPr>
            <a:xfrm>
              <a:off x="3388" y="8427"/>
              <a:ext cx="1533" cy="28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8" name="Freeform: Shape 91"/>
            <p:cNvSpPr/>
            <p:nvPr/>
          </p:nvSpPr>
          <p:spPr>
            <a:xfrm>
              <a:off x="3388" y="8709"/>
              <a:ext cx="1533" cy="2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9" name="矩形 218"/>
          <p:cNvSpPr/>
          <p:nvPr/>
        </p:nvSpPr>
        <p:spPr>
          <a:xfrm>
            <a:off x="3567430" y="2656205"/>
            <a:ext cx="892810" cy="2686050"/>
          </a:xfrm>
          <a:prstGeom prst="rect">
            <a:avLst/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accent5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rtlCol="0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5" name="五边形 234"/>
          <p:cNvSpPr/>
          <p:nvPr/>
        </p:nvSpPr>
        <p:spPr>
          <a:xfrm rot="5400000">
            <a:off x="2736215" y="3673475"/>
            <a:ext cx="2576195" cy="707390"/>
          </a:xfrm>
          <a:prstGeom prst="homePlate">
            <a:avLst>
              <a:gd name="adj" fmla="val 2711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5"/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0800000" scaled="1"/>
            </a:gradFill>
          </a:ln>
        </p:spPr>
        <p:txBody>
          <a:bodyPr spcFirstLastPara="1" wrap="square" lIns="0" tIns="0" rIns="0" bIns="0" rtlCol="0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39" name="组合 238"/>
          <p:cNvGrpSpPr/>
          <p:nvPr/>
        </p:nvGrpSpPr>
        <p:grpSpPr>
          <a:xfrm rot="0">
            <a:off x="7509510" y="2243455"/>
            <a:ext cx="1243965" cy="3490595"/>
            <a:chOff x="3388" y="4290"/>
            <a:chExt cx="1533" cy="4631"/>
          </a:xfrm>
        </p:grpSpPr>
        <p:sp>
          <p:nvSpPr>
            <p:cNvPr id="240" name="Freeform: Shape 88"/>
            <p:cNvSpPr/>
            <p:nvPr/>
          </p:nvSpPr>
          <p:spPr>
            <a:xfrm>
              <a:off x="3388" y="4502"/>
              <a:ext cx="1533" cy="28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1" name="Freeform: Shape 89"/>
            <p:cNvSpPr/>
            <p:nvPr/>
          </p:nvSpPr>
          <p:spPr>
            <a:xfrm>
              <a:off x="3388" y="4290"/>
              <a:ext cx="1533" cy="21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2" name="Freeform: Shape 90"/>
            <p:cNvSpPr/>
            <p:nvPr/>
          </p:nvSpPr>
          <p:spPr>
            <a:xfrm>
              <a:off x="3388" y="8427"/>
              <a:ext cx="1533" cy="28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3" name="Freeform: Shape 91"/>
            <p:cNvSpPr/>
            <p:nvPr/>
          </p:nvSpPr>
          <p:spPr>
            <a:xfrm>
              <a:off x="3388" y="8709"/>
              <a:ext cx="1533" cy="21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44" name="矩形 243"/>
          <p:cNvSpPr/>
          <p:nvPr/>
        </p:nvSpPr>
        <p:spPr>
          <a:xfrm>
            <a:off x="7683500" y="2643505"/>
            <a:ext cx="892810" cy="2686050"/>
          </a:xfrm>
          <a:prstGeom prst="rect">
            <a:avLst/>
          </a:prstGeom>
          <a:pattFill prst="wdUpDiag">
            <a:fgClr>
              <a:schemeClr val="accent3">
                <a:lumMod val="20000"/>
                <a:lumOff val="80000"/>
              </a:schemeClr>
            </a:fgClr>
            <a:bgClr>
              <a:schemeClr val="accent5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rtlCol="0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5" name="五边形 244"/>
          <p:cNvSpPr/>
          <p:nvPr/>
        </p:nvSpPr>
        <p:spPr>
          <a:xfrm rot="5400000">
            <a:off x="6852285" y="3660775"/>
            <a:ext cx="2576195" cy="707390"/>
          </a:xfrm>
          <a:prstGeom prst="homePlate">
            <a:avLst>
              <a:gd name="adj" fmla="val 2711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5"/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10800000" scaled="1"/>
            </a:gradFill>
          </a:ln>
        </p:spPr>
        <p:txBody>
          <a:bodyPr spcFirstLastPara="1" wrap="square" lIns="0" tIns="0" rIns="0" bIns="0" rtlCol="0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2228215" y="5818505"/>
            <a:ext cx="7641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不是为了数字化而数字化，是为了提升效率，服务好客户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 rot="20820000">
            <a:off x="3777615" y="1534160"/>
            <a:ext cx="1803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①营销员视角旅程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1" name="文本框 290"/>
          <p:cNvSpPr txBox="1"/>
          <p:nvPr/>
        </p:nvSpPr>
        <p:spPr>
          <a:xfrm rot="780000">
            <a:off x="6506845" y="1564005"/>
            <a:ext cx="19278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客户平台视角旅程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5600" y="3011170"/>
            <a:ext cx="1268730" cy="201993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90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9" name="直接连接符 8"/>
          <p:cNvCxnSpPr>
            <a:stCxn id="4" idx="3"/>
          </p:cNvCxnSpPr>
          <p:nvPr/>
        </p:nvCxnSpPr>
        <p:spPr>
          <a:xfrm>
            <a:off x="1624330" y="4021455"/>
            <a:ext cx="426720" cy="97155"/>
          </a:xfrm>
          <a:prstGeom prst="lin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19050">
            <a:gradFill>
              <a:gsLst>
                <a:gs pos="0">
                  <a:schemeClr val="accent2"/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5" name="文本框 74"/>
          <p:cNvSpPr txBox="1"/>
          <p:nvPr/>
        </p:nvSpPr>
        <p:spPr>
          <a:xfrm>
            <a:off x="377190" y="3143250"/>
            <a:ext cx="1198245" cy="1773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1640"/>
              </a:lnSpc>
            </a:pP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梳理代理人客户经营标准动作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，端到端提升代理人从获客到经营的能力，全面释放和提升代理人产能。</a:t>
            </a:r>
            <a:endParaRPr lang="zh-CN"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42575" y="3023870"/>
            <a:ext cx="1268730" cy="201993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905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64165" y="3169285"/>
            <a:ext cx="1212215" cy="1773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ts val="1640"/>
              </a:lnSpc>
              <a:buClrTx/>
              <a:buSzTx/>
              <a:buFontTx/>
            </a:pP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厘清客户数字化矩阵功能与价值定位</a:t>
            </a:r>
            <a:r>
              <a: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通过引流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获客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黏客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转化等方式，丰富数据获取并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赋能客户经营旅程</a:t>
            </a: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Freeform: Shape 87"/>
          <p:cNvSpPr/>
          <p:nvPr/>
        </p:nvSpPr>
        <p:spPr>
          <a:xfrm>
            <a:off x="3534093" y="1602105"/>
            <a:ext cx="5126355" cy="5816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32" h="1674">
                <a:moveTo>
                  <a:pt x="3817" y="0"/>
                </a:moveTo>
                <a:lnTo>
                  <a:pt x="0" y="1674"/>
                </a:lnTo>
                <a:lnTo>
                  <a:pt x="7632" y="167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1"/>
            <a:tileRect/>
          </a:gradFill>
          <a:ln w="31750">
            <a:solidFill>
              <a:schemeClr val="bg1"/>
            </a:solidFill>
            <a:prstDash val="solid"/>
          </a:ln>
          <a:effectLst>
            <a:innerShdw blurRad="2794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958080" y="1877060"/>
            <a:ext cx="2487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营销端（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端（</a:t>
            </a:r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5831523" y="1276350"/>
            <a:ext cx="531495" cy="53149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1" name="Graphic 123"/>
          <p:cNvSpPr>
            <a:spLocks noChangeAspect="1"/>
          </p:cNvSpPr>
          <p:nvPr/>
        </p:nvSpPr>
        <p:spPr>
          <a:xfrm>
            <a:off x="5972493" y="1416685"/>
            <a:ext cx="246380" cy="250825"/>
          </a:xfrm>
          <a:custGeom>
            <a:avLst/>
            <a:gdLst>
              <a:gd name="connsiteX0" fmla="*/ 4714237 w 4795513"/>
              <a:gd name="connsiteY0" fmla="*/ 1706880 h 4876800"/>
              <a:gd name="connsiteX1" fmla="*/ 4795514 w 4795513"/>
              <a:gd name="connsiteY1" fmla="*/ 1625603 h 4876800"/>
              <a:gd name="connsiteX2" fmla="*/ 4795514 w 4795513"/>
              <a:gd name="connsiteY2" fmla="*/ 1219200 h 4876800"/>
              <a:gd name="connsiteX3" fmla="*/ 4714237 w 4795513"/>
              <a:gd name="connsiteY3" fmla="*/ 1137923 h 4876800"/>
              <a:gd name="connsiteX4" fmla="*/ 4465844 w 4795513"/>
              <a:gd name="connsiteY4" fmla="*/ 1137923 h 4876800"/>
              <a:gd name="connsiteX5" fmla="*/ 3846195 w 4795513"/>
              <a:gd name="connsiteY5" fmla="*/ 343995 h 4876800"/>
              <a:gd name="connsiteX6" fmla="*/ 2397757 w 4795513"/>
              <a:gd name="connsiteY6" fmla="*/ 0 h 4876800"/>
              <a:gd name="connsiteX7" fmla="*/ 949319 w 4795513"/>
              <a:gd name="connsiteY7" fmla="*/ 343995 h 4876800"/>
              <a:gd name="connsiteX8" fmla="*/ 329670 w 4795513"/>
              <a:gd name="connsiteY8" fmla="*/ 1137923 h 4876800"/>
              <a:gd name="connsiteX9" fmla="*/ 81277 w 4795513"/>
              <a:gd name="connsiteY9" fmla="*/ 1137923 h 4876800"/>
              <a:gd name="connsiteX10" fmla="*/ 0 w 4795513"/>
              <a:gd name="connsiteY10" fmla="*/ 1219200 h 4876800"/>
              <a:gd name="connsiteX11" fmla="*/ 0 w 4795513"/>
              <a:gd name="connsiteY11" fmla="*/ 1625603 h 4876800"/>
              <a:gd name="connsiteX12" fmla="*/ 81277 w 4795513"/>
              <a:gd name="connsiteY12" fmla="*/ 1706880 h 4876800"/>
              <a:gd name="connsiteX13" fmla="*/ 325117 w 4795513"/>
              <a:gd name="connsiteY13" fmla="*/ 1706880 h 4876800"/>
              <a:gd name="connsiteX14" fmla="*/ 325117 w 4795513"/>
              <a:gd name="connsiteY14" fmla="*/ 4307843 h 4876800"/>
              <a:gd name="connsiteX15" fmla="*/ 81277 w 4795513"/>
              <a:gd name="connsiteY15" fmla="*/ 4307843 h 4876800"/>
              <a:gd name="connsiteX16" fmla="*/ 0 w 4795513"/>
              <a:gd name="connsiteY16" fmla="*/ 4389120 h 4876800"/>
              <a:gd name="connsiteX17" fmla="*/ 0 w 4795513"/>
              <a:gd name="connsiteY17" fmla="*/ 4795524 h 4876800"/>
              <a:gd name="connsiteX18" fmla="*/ 81277 w 4795513"/>
              <a:gd name="connsiteY18" fmla="*/ 4876800 h 4876800"/>
              <a:gd name="connsiteX19" fmla="*/ 4714237 w 4795513"/>
              <a:gd name="connsiteY19" fmla="*/ 4876800 h 4876800"/>
              <a:gd name="connsiteX20" fmla="*/ 4795514 w 4795513"/>
              <a:gd name="connsiteY20" fmla="*/ 4795524 h 4876800"/>
              <a:gd name="connsiteX21" fmla="*/ 4795514 w 4795513"/>
              <a:gd name="connsiteY21" fmla="*/ 4389120 h 4876800"/>
              <a:gd name="connsiteX22" fmla="*/ 4714237 w 4795513"/>
              <a:gd name="connsiteY22" fmla="*/ 4307843 h 4876800"/>
              <a:gd name="connsiteX23" fmla="*/ 4470397 w 4795513"/>
              <a:gd name="connsiteY23" fmla="*/ 4307843 h 4876800"/>
              <a:gd name="connsiteX24" fmla="*/ 4470397 w 4795513"/>
              <a:gd name="connsiteY24" fmla="*/ 1706880 h 4876800"/>
              <a:gd name="connsiteX25" fmla="*/ 4714237 w 4795513"/>
              <a:gd name="connsiteY25" fmla="*/ 1706880 h 4876800"/>
              <a:gd name="connsiteX26" fmla="*/ 1029986 w 4795513"/>
              <a:gd name="connsiteY26" fmla="*/ 485137 h 4876800"/>
              <a:gd name="connsiteX27" fmla="*/ 2397757 w 4795513"/>
              <a:gd name="connsiteY27" fmla="*/ 162563 h 4876800"/>
              <a:gd name="connsiteX28" fmla="*/ 3765528 w 4795513"/>
              <a:gd name="connsiteY28" fmla="*/ 485146 h 4876800"/>
              <a:gd name="connsiteX29" fmla="*/ 4301605 w 4795513"/>
              <a:gd name="connsiteY29" fmla="*/ 1137923 h 4876800"/>
              <a:gd name="connsiteX30" fmla="*/ 493909 w 4795513"/>
              <a:gd name="connsiteY30" fmla="*/ 1137923 h 4876800"/>
              <a:gd name="connsiteX31" fmla="*/ 1029986 w 4795513"/>
              <a:gd name="connsiteY31" fmla="*/ 485137 h 4876800"/>
              <a:gd name="connsiteX32" fmla="*/ 4632960 w 4795513"/>
              <a:gd name="connsiteY32" fmla="*/ 4470397 h 4876800"/>
              <a:gd name="connsiteX33" fmla="*/ 4632960 w 4795513"/>
              <a:gd name="connsiteY33" fmla="*/ 4714237 h 4876800"/>
              <a:gd name="connsiteX34" fmla="*/ 162554 w 4795513"/>
              <a:gd name="connsiteY34" fmla="*/ 4714237 h 4876800"/>
              <a:gd name="connsiteX35" fmla="*/ 162554 w 4795513"/>
              <a:gd name="connsiteY35" fmla="*/ 4470397 h 4876800"/>
              <a:gd name="connsiteX36" fmla="*/ 406394 w 4795513"/>
              <a:gd name="connsiteY36" fmla="*/ 4470397 h 4876800"/>
              <a:gd name="connsiteX37" fmla="*/ 812797 w 4795513"/>
              <a:gd name="connsiteY37" fmla="*/ 4470397 h 4876800"/>
              <a:gd name="connsiteX38" fmla="*/ 1300477 w 4795513"/>
              <a:gd name="connsiteY38" fmla="*/ 4470397 h 4876800"/>
              <a:gd name="connsiteX39" fmla="*/ 1706880 w 4795513"/>
              <a:gd name="connsiteY39" fmla="*/ 4470397 h 4876800"/>
              <a:gd name="connsiteX40" fmla="*/ 2194560 w 4795513"/>
              <a:gd name="connsiteY40" fmla="*/ 4470397 h 4876800"/>
              <a:gd name="connsiteX41" fmla="*/ 2600963 w 4795513"/>
              <a:gd name="connsiteY41" fmla="*/ 4470397 h 4876800"/>
              <a:gd name="connsiteX42" fmla="*/ 3088643 w 4795513"/>
              <a:gd name="connsiteY42" fmla="*/ 4470397 h 4876800"/>
              <a:gd name="connsiteX43" fmla="*/ 3495037 w 4795513"/>
              <a:gd name="connsiteY43" fmla="*/ 4470397 h 4876800"/>
              <a:gd name="connsiteX44" fmla="*/ 3982717 w 4795513"/>
              <a:gd name="connsiteY44" fmla="*/ 4470397 h 4876800"/>
              <a:gd name="connsiteX45" fmla="*/ 4389120 w 4795513"/>
              <a:gd name="connsiteY45" fmla="*/ 4470397 h 4876800"/>
              <a:gd name="connsiteX46" fmla="*/ 4632960 w 4795513"/>
              <a:gd name="connsiteY46" fmla="*/ 4470397 h 4876800"/>
              <a:gd name="connsiteX47" fmla="*/ 487680 w 4795513"/>
              <a:gd name="connsiteY47" fmla="*/ 4307843 h 4876800"/>
              <a:gd name="connsiteX48" fmla="*/ 487680 w 4795513"/>
              <a:gd name="connsiteY48" fmla="*/ 1706880 h 4876800"/>
              <a:gd name="connsiteX49" fmla="*/ 731520 w 4795513"/>
              <a:gd name="connsiteY49" fmla="*/ 1706880 h 4876800"/>
              <a:gd name="connsiteX50" fmla="*/ 731520 w 4795513"/>
              <a:gd name="connsiteY50" fmla="*/ 4307843 h 4876800"/>
              <a:gd name="connsiteX51" fmla="*/ 487680 w 4795513"/>
              <a:gd name="connsiteY51" fmla="*/ 4307843 h 4876800"/>
              <a:gd name="connsiteX52" fmla="*/ 894074 w 4795513"/>
              <a:gd name="connsiteY52" fmla="*/ 4307843 h 4876800"/>
              <a:gd name="connsiteX53" fmla="*/ 894074 w 4795513"/>
              <a:gd name="connsiteY53" fmla="*/ 1706880 h 4876800"/>
              <a:gd name="connsiteX54" fmla="*/ 1219191 w 4795513"/>
              <a:gd name="connsiteY54" fmla="*/ 1706880 h 4876800"/>
              <a:gd name="connsiteX55" fmla="*/ 1219191 w 4795513"/>
              <a:gd name="connsiteY55" fmla="*/ 4307843 h 4876800"/>
              <a:gd name="connsiteX56" fmla="*/ 894074 w 4795513"/>
              <a:gd name="connsiteY56" fmla="*/ 4307843 h 4876800"/>
              <a:gd name="connsiteX57" fmla="*/ 1381754 w 4795513"/>
              <a:gd name="connsiteY57" fmla="*/ 4307843 h 4876800"/>
              <a:gd name="connsiteX58" fmla="*/ 1381754 w 4795513"/>
              <a:gd name="connsiteY58" fmla="*/ 1706880 h 4876800"/>
              <a:gd name="connsiteX59" fmla="*/ 1625594 w 4795513"/>
              <a:gd name="connsiteY59" fmla="*/ 1706880 h 4876800"/>
              <a:gd name="connsiteX60" fmla="*/ 1625594 w 4795513"/>
              <a:gd name="connsiteY60" fmla="*/ 4307843 h 4876800"/>
              <a:gd name="connsiteX61" fmla="*/ 1381754 w 4795513"/>
              <a:gd name="connsiteY61" fmla="*/ 4307843 h 4876800"/>
              <a:gd name="connsiteX62" fmla="*/ 1788157 w 4795513"/>
              <a:gd name="connsiteY62" fmla="*/ 4307843 h 4876800"/>
              <a:gd name="connsiteX63" fmla="*/ 1788157 w 4795513"/>
              <a:gd name="connsiteY63" fmla="*/ 1706880 h 4876800"/>
              <a:gd name="connsiteX64" fmla="*/ 2113274 w 4795513"/>
              <a:gd name="connsiteY64" fmla="*/ 1706880 h 4876800"/>
              <a:gd name="connsiteX65" fmla="*/ 2113274 w 4795513"/>
              <a:gd name="connsiteY65" fmla="*/ 4307843 h 4876800"/>
              <a:gd name="connsiteX66" fmla="*/ 1788157 w 4795513"/>
              <a:gd name="connsiteY66" fmla="*/ 4307843 h 4876800"/>
              <a:gd name="connsiteX67" fmla="*/ 2275837 w 4795513"/>
              <a:gd name="connsiteY67" fmla="*/ 4307843 h 4876800"/>
              <a:gd name="connsiteX68" fmla="*/ 2275837 w 4795513"/>
              <a:gd name="connsiteY68" fmla="*/ 1706880 h 4876800"/>
              <a:gd name="connsiteX69" fmla="*/ 2519677 w 4795513"/>
              <a:gd name="connsiteY69" fmla="*/ 1706880 h 4876800"/>
              <a:gd name="connsiteX70" fmla="*/ 2519677 w 4795513"/>
              <a:gd name="connsiteY70" fmla="*/ 4307843 h 4876800"/>
              <a:gd name="connsiteX71" fmla="*/ 2275837 w 4795513"/>
              <a:gd name="connsiteY71" fmla="*/ 4307843 h 4876800"/>
              <a:gd name="connsiteX72" fmla="*/ 2682240 w 4795513"/>
              <a:gd name="connsiteY72" fmla="*/ 4307843 h 4876800"/>
              <a:gd name="connsiteX73" fmla="*/ 2682240 w 4795513"/>
              <a:gd name="connsiteY73" fmla="*/ 1706880 h 4876800"/>
              <a:gd name="connsiteX74" fmla="*/ 3007357 w 4795513"/>
              <a:gd name="connsiteY74" fmla="*/ 1706880 h 4876800"/>
              <a:gd name="connsiteX75" fmla="*/ 3007357 w 4795513"/>
              <a:gd name="connsiteY75" fmla="*/ 4307843 h 4876800"/>
              <a:gd name="connsiteX76" fmla="*/ 2682240 w 4795513"/>
              <a:gd name="connsiteY76" fmla="*/ 4307843 h 4876800"/>
              <a:gd name="connsiteX77" fmla="*/ 3169920 w 4795513"/>
              <a:gd name="connsiteY77" fmla="*/ 4307843 h 4876800"/>
              <a:gd name="connsiteX78" fmla="*/ 3169920 w 4795513"/>
              <a:gd name="connsiteY78" fmla="*/ 1706880 h 4876800"/>
              <a:gd name="connsiteX79" fmla="*/ 3413760 w 4795513"/>
              <a:gd name="connsiteY79" fmla="*/ 1706880 h 4876800"/>
              <a:gd name="connsiteX80" fmla="*/ 3413760 w 4795513"/>
              <a:gd name="connsiteY80" fmla="*/ 4307843 h 4876800"/>
              <a:gd name="connsiteX81" fmla="*/ 3169920 w 4795513"/>
              <a:gd name="connsiteY81" fmla="*/ 4307843 h 4876800"/>
              <a:gd name="connsiteX82" fmla="*/ 3576314 w 4795513"/>
              <a:gd name="connsiteY82" fmla="*/ 4307843 h 4876800"/>
              <a:gd name="connsiteX83" fmla="*/ 3576314 w 4795513"/>
              <a:gd name="connsiteY83" fmla="*/ 1706880 h 4876800"/>
              <a:gd name="connsiteX84" fmla="*/ 3901431 w 4795513"/>
              <a:gd name="connsiteY84" fmla="*/ 1706880 h 4876800"/>
              <a:gd name="connsiteX85" fmla="*/ 3901431 w 4795513"/>
              <a:gd name="connsiteY85" fmla="*/ 4307843 h 4876800"/>
              <a:gd name="connsiteX86" fmla="*/ 3576314 w 4795513"/>
              <a:gd name="connsiteY86" fmla="*/ 4307843 h 4876800"/>
              <a:gd name="connsiteX87" fmla="*/ 4063994 w 4795513"/>
              <a:gd name="connsiteY87" fmla="*/ 4307843 h 4876800"/>
              <a:gd name="connsiteX88" fmla="*/ 4063994 w 4795513"/>
              <a:gd name="connsiteY88" fmla="*/ 1706880 h 4876800"/>
              <a:gd name="connsiteX89" fmla="*/ 4307834 w 4795513"/>
              <a:gd name="connsiteY89" fmla="*/ 1706880 h 4876800"/>
              <a:gd name="connsiteX90" fmla="*/ 4307834 w 4795513"/>
              <a:gd name="connsiteY90" fmla="*/ 4307843 h 4876800"/>
              <a:gd name="connsiteX91" fmla="*/ 4063994 w 4795513"/>
              <a:gd name="connsiteY91" fmla="*/ 4307843 h 4876800"/>
              <a:gd name="connsiteX92" fmla="*/ 4389120 w 4795513"/>
              <a:gd name="connsiteY92" fmla="*/ 1544317 h 4876800"/>
              <a:gd name="connsiteX93" fmla="*/ 3982717 w 4795513"/>
              <a:gd name="connsiteY93" fmla="*/ 1544317 h 4876800"/>
              <a:gd name="connsiteX94" fmla="*/ 3495037 w 4795513"/>
              <a:gd name="connsiteY94" fmla="*/ 1544317 h 4876800"/>
              <a:gd name="connsiteX95" fmla="*/ 3088634 w 4795513"/>
              <a:gd name="connsiteY95" fmla="*/ 1544317 h 4876800"/>
              <a:gd name="connsiteX96" fmla="*/ 2600954 w 4795513"/>
              <a:gd name="connsiteY96" fmla="*/ 1544317 h 4876800"/>
              <a:gd name="connsiteX97" fmla="*/ 2194551 w 4795513"/>
              <a:gd name="connsiteY97" fmla="*/ 1544317 h 4876800"/>
              <a:gd name="connsiteX98" fmla="*/ 1706871 w 4795513"/>
              <a:gd name="connsiteY98" fmla="*/ 1544317 h 4876800"/>
              <a:gd name="connsiteX99" fmla="*/ 1300477 w 4795513"/>
              <a:gd name="connsiteY99" fmla="*/ 1544317 h 4876800"/>
              <a:gd name="connsiteX100" fmla="*/ 812797 w 4795513"/>
              <a:gd name="connsiteY100" fmla="*/ 1544317 h 4876800"/>
              <a:gd name="connsiteX101" fmla="*/ 406394 w 4795513"/>
              <a:gd name="connsiteY101" fmla="*/ 1544317 h 4876800"/>
              <a:gd name="connsiteX102" fmla="*/ 162554 w 4795513"/>
              <a:gd name="connsiteY102" fmla="*/ 1544317 h 4876800"/>
              <a:gd name="connsiteX103" fmla="*/ 162554 w 4795513"/>
              <a:gd name="connsiteY103" fmla="*/ 1300477 h 4876800"/>
              <a:gd name="connsiteX104" fmla="*/ 4632951 w 4795513"/>
              <a:gd name="connsiteY104" fmla="*/ 1300477 h 4876800"/>
              <a:gd name="connsiteX105" fmla="*/ 4632951 w 4795513"/>
              <a:gd name="connsiteY105" fmla="*/ 1544317 h 4876800"/>
              <a:gd name="connsiteX106" fmla="*/ 4389120 w 4795513"/>
              <a:gd name="connsiteY106" fmla="*/ 1544317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795513" h="4876800">
                <a:moveTo>
                  <a:pt x="4714237" y="1706880"/>
                </a:moveTo>
                <a:cubicBezTo>
                  <a:pt x="4759128" y="1706880"/>
                  <a:pt x="4795514" y="1670485"/>
                  <a:pt x="4795514" y="1625603"/>
                </a:cubicBezTo>
                <a:lnTo>
                  <a:pt x="4795514" y="1219200"/>
                </a:lnTo>
                <a:cubicBezTo>
                  <a:pt x="4795514" y="1174309"/>
                  <a:pt x="4759119" y="1137923"/>
                  <a:pt x="4714237" y="1137923"/>
                </a:cubicBezTo>
                <a:lnTo>
                  <a:pt x="4465844" y="1137923"/>
                </a:lnTo>
                <a:cubicBezTo>
                  <a:pt x="4432888" y="834704"/>
                  <a:pt x="4215899" y="555269"/>
                  <a:pt x="3846195" y="343995"/>
                </a:cubicBezTo>
                <a:cubicBezTo>
                  <a:pt x="3457985" y="122158"/>
                  <a:pt x="2943577" y="0"/>
                  <a:pt x="2397757" y="0"/>
                </a:cubicBezTo>
                <a:cubicBezTo>
                  <a:pt x="1851936" y="0"/>
                  <a:pt x="1337520" y="122158"/>
                  <a:pt x="949319" y="343995"/>
                </a:cubicBezTo>
                <a:cubicBezTo>
                  <a:pt x="579615" y="555269"/>
                  <a:pt x="362617" y="834704"/>
                  <a:pt x="329670" y="1137923"/>
                </a:cubicBezTo>
                <a:lnTo>
                  <a:pt x="81277" y="1137923"/>
                </a:lnTo>
                <a:cubicBezTo>
                  <a:pt x="36385" y="1137923"/>
                  <a:pt x="0" y="1174318"/>
                  <a:pt x="0" y="1219200"/>
                </a:cubicBezTo>
                <a:lnTo>
                  <a:pt x="0" y="1625603"/>
                </a:lnTo>
                <a:cubicBezTo>
                  <a:pt x="0" y="1670495"/>
                  <a:pt x="36395" y="1706880"/>
                  <a:pt x="81277" y="1706880"/>
                </a:cubicBezTo>
                <a:lnTo>
                  <a:pt x="325117" y="1706880"/>
                </a:lnTo>
                <a:lnTo>
                  <a:pt x="325117" y="4307843"/>
                </a:lnTo>
                <a:lnTo>
                  <a:pt x="81277" y="4307843"/>
                </a:lnTo>
                <a:cubicBezTo>
                  <a:pt x="36385" y="4307843"/>
                  <a:pt x="0" y="4344239"/>
                  <a:pt x="0" y="4389120"/>
                </a:cubicBezTo>
                <a:lnTo>
                  <a:pt x="0" y="4795524"/>
                </a:lnTo>
                <a:cubicBezTo>
                  <a:pt x="0" y="4840415"/>
                  <a:pt x="36395" y="4876800"/>
                  <a:pt x="81277" y="4876800"/>
                </a:cubicBezTo>
                <a:lnTo>
                  <a:pt x="4714237" y="4876800"/>
                </a:lnTo>
                <a:cubicBezTo>
                  <a:pt x="4759128" y="4876800"/>
                  <a:pt x="4795514" y="4840405"/>
                  <a:pt x="4795514" y="4795524"/>
                </a:cubicBezTo>
                <a:lnTo>
                  <a:pt x="4795514" y="4389120"/>
                </a:lnTo>
                <a:cubicBezTo>
                  <a:pt x="4795514" y="4344229"/>
                  <a:pt x="4759119" y="4307843"/>
                  <a:pt x="4714237" y="4307843"/>
                </a:cubicBezTo>
                <a:lnTo>
                  <a:pt x="4470397" y="4307843"/>
                </a:lnTo>
                <a:lnTo>
                  <a:pt x="4470397" y="1706880"/>
                </a:lnTo>
                <a:lnTo>
                  <a:pt x="4714237" y="1706880"/>
                </a:lnTo>
                <a:close/>
                <a:moveTo>
                  <a:pt x="1029986" y="485137"/>
                </a:moveTo>
                <a:cubicBezTo>
                  <a:pt x="1394022" y="277120"/>
                  <a:pt x="1879759" y="162563"/>
                  <a:pt x="2397757" y="162563"/>
                </a:cubicBezTo>
                <a:cubicBezTo>
                  <a:pt x="2915755" y="162563"/>
                  <a:pt x="3401492" y="277120"/>
                  <a:pt x="3765528" y="485146"/>
                </a:cubicBezTo>
                <a:cubicBezTo>
                  <a:pt x="4080405" y="665064"/>
                  <a:pt x="4267372" y="894379"/>
                  <a:pt x="4301605" y="1137923"/>
                </a:cubicBezTo>
                <a:lnTo>
                  <a:pt x="493909" y="1137923"/>
                </a:lnTo>
                <a:cubicBezTo>
                  <a:pt x="528152" y="894379"/>
                  <a:pt x="715108" y="665055"/>
                  <a:pt x="1029986" y="485137"/>
                </a:cubicBezTo>
                <a:close/>
                <a:moveTo>
                  <a:pt x="4632960" y="4470397"/>
                </a:moveTo>
                <a:lnTo>
                  <a:pt x="4632960" y="4714237"/>
                </a:lnTo>
                <a:lnTo>
                  <a:pt x="162554" y="4714237"/>
                </a:lnTo>
                <a:lnTo>
                  <a:pt x="162554" y="4470397"/>
                </a:lnTo>
                <a:lnTo>
                  <a:pt x="406394" y="4470397"/>
                </a:lnTo>
                <a:lnTo>
                  <a:pt x="812797" y="4470397"/>
                </a:lnTo>
                <a:lnTo>
                  <a:pt x="1300477" y="4470397"/>
                </a:lnTo>
                <a:lnTo>
                  <a:pt x="1706880" y="4470397"/>
                </a:lnTo>
                <a:lnTo>
                  <a:pt x="2194560" y="4470397"/>
                </a:lnTo>
                <a:lnTo>
                  <a:pt x="2600963" y="4470397"/>
                </a:lnTo>
                <a:lnTo>
                  <a:pt x="3088643" y="4470397"/>
                </a:lnTo>
                <a:lnTo>
                  <a:pt x="3495037" y="4470397"/>
                </a:lnTo>
                <a:lnTo>
                  <a:pt x="3982717" y="4470397"/>
                </a:lnTo>
                <a:lnTo>
                  <a:pt x="4389120" y="4470397"/>
                </a:lnTo>
                <a:lnTo>
                  <a:pt x="4632960" y="4470397"/>
                </a:lnTo>
                <a:close/>
                <a:moveTo>
                  <a:pt x="487680" y="4307843"/>
                </a:moveTo>
                <a:lnTo>
                  <a:pt x="487680" y="1706880"/>
                </a:lnTo>
                <a:lnTo>
                  <a:pt x="731520" y="1706880"/>
                </a:lnTo>
                <a:lnTo>
                  <a:pt x="731520" y="4307843"/>
                </a:lnTo>
                <a:lnTo>
                  <a:pt x="487680" y="4307843"/>
                </a:lnTo>
                <a:close/>
                <a:moveTo>
                  <a:pt x="894074" y="4307843"/>
                </a:moveTo>
                <a:lnTo>
                  <a:pt x="894074" y="1706880"/>
                </a:lnTo>
                <a:lnTo>
                  <a:pt x="1219191" y="1706880"/>
                </a:lnTo>
                <a:lnTo>
                  <a:pt x="1219191" y="4307843"/>
                </a:lnTo>
                <a:lnTo>
                  <a:pt x="894074" y="4307843"/>
                </a:lnTo>
                <a:close/>
                <a:moveTo>
                  <a:pt x="1381754" y="4307843"/>
                </a:moveTo>
                <a:lnTo>
                  <a:pt x="1381754" y="1706880"/>
                </a:lnTo>
                <a:lnTo>
                  <a:pt x="1625594" y="1706880"/>
                </a:lnTo>
                <a:lnTo>
                  <a:pt x="1625594" y="4307843"/>
                </a:lnTo>
                <a:lnTo>
                  <a:pt x="1381754" y="4307843"/>
                </a:lnTo>
                <a:close/>
                <a:moveTo>
                  <a:pt x="1788157" y="4307843"/>
                </a:moveTo>
                <a:lnTo>
                  <a:pt x="1788157" y="1706880"/>
                </a:lnTo>
                <a:lnTo>
                  <a:pt x="2113274" y="1706880"/>
                </a:lnTo>
                <a:lnTo>
                  <a:pt x="2113274" y="4307843"/>
                </a:lnTo>
                <a:lnTo>
                  <a:pt x="1788157" y="4307843"/>
                </a:lnTo>
                <a:close/>
                <a:moveTo>
                  <a:pt x="2275837" y="4307843"/>
                </a:moveTo>
                <a:lnTo>
                  <a:pt x="2275837" y="1706880"/>
                </a:lnTo>
                <a:lnTo>
                  <a:pt x="2519677" y="1706880"/>
                </a:lnTo>
                <a:lnTo>
                  <a:pt x="2519677" y="4307843"/>
                </a:lnTo>
                <a:lnTo>
                  <a:pt x="2275837" y="4307843"/>
                </a:lnTo>
                <a:close/>
                <a:moveTo>
                  <a:pt x="2682240" y="4307843"/>
                </a:moveTo>
                <a:lnTo>
                  <a:pt x="2682240" y="1706880"/>
                </a:lnTo>
                <a:lnTo>
                  <a:pt x="3007357" y="1706880"/>
                </a:lnTo>
                <a:lnTo>
                  <a:pt x="3007357" y="4307843"/>
                </a:lnTo>
                <a:lnTo>
                  <a:pt x="2682240" y="4307843"/>
                </a:lnTo>
                <a:close/>
                <a:moveTo>
                  <a:pt x="3169920" y="4307843"/>
                </a:moveTo>
                <a:lnTo>
                  <a:pt x="3169920" y="1706880"/>
                </a:lnTo>
                <a:lnTo>
                  <a:pt x="3413760" y="1706880"/>
                </a:lnTo>
                <a:lnTo>
                  <a:pt x="3413760" y="4307843"/>
                </a:lnTo>
                <a:lnTo>
                  <a:pt x="3169920" y="4307843"/>
                </a:lnTo>
                <a:close/>
                <a:moveTo>
                  <a:pt x="3576314" y="4307843"/>
                </a:moveTo>
                <a:lnTo>
                  <a:pt x="3576314" y="1706880"/>
                </a:lnTo>
                <a:lnTo>
                  <a:pt x="3901431" y="1706880"/>
                </a:lnTo>
                <a:lnTo>
                  <a:pt x="3901431" y="4307843"/>
                </a:lnTo>
                <a:lnTo>
                  <a:pt x="3576314" y="4307843"/>
                </a:lnTo>
                <a:close/>
                <a:moveTo>
                  <a:pt x="4063994" y="4307843"/>
                </a:moveTo>
                <a:lnTo>
                  <a:pt x="4063994" y="1706880"/>
                </a:lnTo>
                <a:lnTo>
                  <a:pt x="4307834" y="1706880"/>
                </a:lnTo>
                <a:lnTo>
                  <a:pt x="4307834" y="4307843"/>
                </a:lnTo>
                <a:lnTo>
                  <a:pt x="4063994" y="4307843"/>
                </a:lnTo>
                <a:close/>
                <a:moveTo>
                  <a:pt x="4389120" y="1544317"/>
                </a:moveTo>
                <a:lnTo>
                  <a:pt x="3982717" y="1544317"/>
                </a:lnTo>
                <a:lnTo>
                  <a:pt x="3495037" y="1544317"/>
                </a:lnTo>
                <a:lnTo>
                  <a:pt x="3088634" y="1544317"/>
                </a:lnTo>
                <a:lnTo>
                  <a:pt x="2600954" y="1544317"/>
                </a:lnTo>
                <a:lnTo>
                  <a:pt x="2194551" y="1544317"/>
                </a:lnTo>
                <a:lnTo>
                  <a:pt x="1706871" y="1544317"/>
                </a:lnTo>
                <a:lnTo>
                  <a:pt x="1300477" y="1544317"/>
                </a:lnTo>
                <a:lnTo>
                  <a:pt x="812797" y="1544317"/>
                </a:lnTo>
                <a:lnTo>
                  <a:pt x="406394" y="1544317"/>
                </a:lnTo>
                <a:lnTo>
                  <a:pt x="162554" y="1544317"/>
                </a:lnTo>
                <a:lnTo>
                  <a:pt x="162554" y="1300477"/>
                </a:lnTo>
                <a:lnTo>
                  <a:pt x="4632951" y="1300477"/>
                </a:lnTo>
                <a:lnTo>
                  <a:pt x="4632951" y="1544317"/>
                </a:lnTo>
                <a:lnTo>
                  <a:pt x="4389120" y="154431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>
              <a:defRPr/>
            </a:pPr>
            <a:endParaRPr lang="en-US" dirty="0">
              <a:solidFill>
                <a:schemeClr val="accent1"/>
              </a:solidFill>
              <a:cs typeface="微软雅黑" panose="020B0503020204020204" charset="-122"/>
            </a:endParaRPr>
          </a:p>
        </p:txBody>
      </p:sp>
      <p:sp>
        <p:nvSpPr>
          <p:cNvPr id="43" name="等腰三角形 42"/>
          <p:cNvSpPr/>
          <p:nvPr/>
        </p:nvSpPr>
        <p:spPr>
          <a:xfrm rot="15240000">
            <a:off x="4835525" y="1821180"/>
            <a:ext cx="11430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4" name="等腰三角形 43"/>
          <p:cNvSpPr/>
          <p:nvPr/>
        </p:nvSpPr>
        <p:spPr>
          <a:xfrm rot="6360000" flipH="1">
            <a:off x="7306310" y="1835785"/>
            <a:ext cx="114300" cy="1143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35493" y="6201410"/>
            <a:ext cx="8027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应该适当地做一些减法，了解并聚焦那些能最好地提升客户体验的举措，把力气花在刀刃上！</a:t>
            </a:r>
            <a:r>
              <a:rPr lang="en-US" altLang="zh-CN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809365" y="2171065"/>
            <a:ext cx="430530" cy="3020060"/>
          </a:xfrm>
          <a:custGeom>
            <a:avLst/>
            <a:gdLst>
              <a:gd name="adj1" fmla="val 50000"/>
              <a:gd name="adj2" fmla="val 50000"/>
              <a:gd name="maxAdj2" fmla="*/ 100000 h ss"/>
              <a:gd name="a1" fmla="pin 0 adj1 100000"/>
              <a:gd name="a2" fmla="pin 0 adj2 maxAdj2"/>
              <a:gd name="dy1" fmla="*/ ss a2 100000"/>
              <a:gd name="y1" fmla="+- b 0 dy1"/>
              <a:gd name="dx1" fmla="*/ w a1 200000"/>
              <a:gd name="x1" fmla="+- hc 0 dx1"/>
              <a:gd name="x2" fmla="+- hc dx1 0"/>
              <a:gd name="dy2" fmla="*/ x1 dy1 wd2"/>
              <a:gd name="y2" fmla="+- y1 dy2 0"/>
            </a:gdLst>
            <a:ahLst/>
            <a:cxnLst>
              <a:cxn ang="3">
                <a:pos x="hc" y="t"/>
              </a:cxn>
              <a:cxn ang="cd2">
                <a:pos x="l" y="y1"/>
              </a:cxn>
              <a:cxn ang="cd4">
                <a:pos x="hc" y="b"/>
              </a:cxn>
              <a:cxn ang="0">
                <a:pos x="r" y="y1"/>
              </a:cxn>
            </a:cxnLst>
            <a:rect l="l" t="t" r="r" b="b"/>
            <a:pathLst>
              <a:path w="678" h="4754">
                <a:moveTo>
                  <a:pt x="0" y="4383"/>
                </a:moveTo>
                <a:lnTo>
                  <a:pt x="170" y="4383"/>
                </a:lnTo>
                <a:lnTo>
                  <a:pt x="170" y="0"/>
                </a:lnTo>
                <a:lnTo>
                  <a:pt x="509" y="0"/>
                </a:lnTo>
                <a:lnTo>
                  <a:pt x="509" y="4383"/>
                </a:lnTo>
                <a:lnTo>
                  <a:pt x="678" y="4383"/>
                </a:lnTo>
                <a:lnTo>
                  <a:pt x="339" y="4754"/>
                </a:lnTo>
                <a:lnTo>
                  <a:pt x="0" y="4383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3763645" y="3446145"/>
            <a:ext cx="551815" cy="551815"/>
          </a:xfrm>
          <a:prstGeom prst="ellipse">
            <a:avLst/>
          </a:prstGeom>
          <a:solidFill>
            <a:schemeClr val="bg2"/>
          </a:solidFill>
          <a:ln w="25400"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70935" y="4041140"/>
            <a:ext cx="741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代理人平台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 descr="producti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7945" y="3537585"/>
            <a:ext cx="323215" cy="323215"/>
          </a:xfrm>
          <a:prstGeom prst="rect">
            <a:avLst/>
          </a:prstGeom>
        </p:spPr>
      </p:pic>
      <p:sp>
        <p:nvSpPr>
          <p:cNvPr id="34" name="任意多边形 33"/>
          <p:cNvSpPr/>
          <p:nvPr/>
        </p:nvSpPr>
        <p:spPr>
          <a:xfrm>
            <a:off x="7925435" y="2171065"/>
            <a:ext cx="430530" cy="3020060"/>
          </a:xfrm>
          <a:custGeom>
            <a:avLst/>
            <a:gdLst>
              <a:gd name="adj1" fmla="val 50000"/>
              <a:gd name="adj2" fmla="val 50000"/>
              <a:gd name="maxAdj2" fmla="*/ 100000 h ss"/>
              <a:gd name="a1" fmla="pin 0 adj1 100000"/>
              <a:gd name="a2" fmla="pin 0 adj2 maxAdj2"/>
              <a:gd name="dy1" fmla="*/ ss a2 100000"/>
              <a:gd name="y1" fmla="+- b 0 dy1"/>
              <a:gd name="dx1" fmla="*/ w a1 200000"/>
              <a:gd name="x1" fmla="+- hc 0 dx1"/>
              <a:gd name="x2" fmla="+- hc dx1 0"/>
              <a:gd name="dy2" fmla="*/ x1 dy1 wd2"/>
              <a:gd name="y2" fmla="+- y1 dy2 0"/>
            </a:gdLst>
            <a:ahLst/>
            <a:cxnLst>
              <a:cxn ang="3">
                <a:pos x="hc" y="t"/>
              </a:cxn>
              <a:cxn ang="cd2">
                <a:pos x="l" y="y1"/>
              </a:cxn>
              <a:cxn ang="cd4">
                <a:pos x="hc" y="b"/>
              </a:cxn>
              <a:cxn ang="0">
                <a:pos x="r" y="y1"/>
              </a:cxn>
            </a:cxnLst>
            <a:rect l="l" t="t" r="r" b="b"/>
            <a:pathLst>
              <a:path w="678" h="4754">
                <a:moveTo>
                  <a:pt x="0" y="4383"/>
                </a:moveTo>
                <a:lnTo>
                  <a:pt x="170" y="4383"/>
                </a:lnTo>
                <a:lnTo>
                  <a:pt x="170" y="0"/>
                </a:lnTo>
                <a:lnTo>
                  <a:pt x="509" y="0"/>
                </a:lnTo>
                <a:lnTo>
                  <a:pt x="509" y="4383"/>
                </a:lnTo>
                <a:lnTo>
                  <a:pt x="678" y="4383"/>
                </a:lnTo>
                <a:lnTo>
                  <a:pt x="339" y="4754"/>
                </a:lnTo>
                <a:lnTo>
                  <a:pt x="0" y="4383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7879715" y="3433445"/>
            <a:ext cx="551815" cy="551815"/>
          </a:xfrm>
          <a:prstGeom prst="ellipse">
            <a:avLst/>
          </a:prstGeom>
          <a:solidFill>
            <a:schemeClr val="bg2"/>
          </a:solidFill>
          <a:ln w="25400"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87005" y="4028440"/>
            <a:ext cx="741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客户经营平台</a:t>
            </a:r>
            <a:endParaRPr lang="zh-CN" altLang="en-US" sz="12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" name="图片 39" descr="member-1-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6715" y="3560445"/>
            <a:ext cx="297815" cy="297815"/>
          </a:xfrm>
          <a:prstGeom prst="rect">
            <a:avLst/>
          </a:prstGeom>
        </p:spPr>
      </p:pic>
      <p:sp>
        <p:nvSpPr>
          <p:cNvPr id="32" name="矩形 31"/>
          <p:cNvSpPr/>
          <p:nvPr/>
        </p:nvSpPr>
        <p:spPr>
          <a:xfrm>
            <a:off x="4730750" y="2250440"/>
            <a:ext cx="2703830" cy="3457575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/>
          </a:gradFill>
          <a:ln w="25400"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4852035" y="2846070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274945" y="2289810"/>
            <a:ext cx="16154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客户经营漏斗</a:t>
            </a:r>
            <a:endParaRPr lang="zh-CN" altLang="en-US" sz="1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4852035" y="2966085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852035" y="3446780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852035" y="3566795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4852035" y="4081780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4852035" y="4201795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4852035" y="4664075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4852035" y="4784090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4852035" y="5288280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4852035" y="5408295"/>
            <a:ext cx="2486660" cy="17780"/>
          </a:xfrm>
          <a:prstGeom prst="straightConnector1">
            <a:avLst/>
          </a:prstGeom>
          <a:ln>
            <a:solidFill>
              <a:schemeClr val="accent5">
                <a:alpha val="50000"/>
              </a:schemeClr>
            </a:solidFill>
            <a:prstDash val="dash"/>
            <a:tailEnd type="triangl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梯形 55"/>
          <p:cNvSpPr/>
          <p:nvPr/>
        </p:nvSpPr>
        <p:spPr>
          <a:xfrm flipV="1">
            <a:off x="5422583" y="3886200"/>
            <a:ext cx="1353185" cy="480060"/>
          </a:xfrm>
          <a:prstGeom prst="trapezoid">
            <a:avLst>
              <a:gd name="adj" fmla="val 19444"/>
            </a:avLst>
          </a:prstGeom>
          <a:solidFill>
            <a:schemeClr val="bg2"/>
          </a:solidFill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7" name="梯形 56"/>
          <p:cNvSpPr/>
          <p:nvPr/>
        </p:nvSpPr>
        <p:spPr>
          <a:xfrm flipV="1">
            <a:off x="5308283" y="3279775"/>
            <a:ext cx="1581785" cy="484505"/>
          </a:xfrm>
          <a:prstGeom prst="trapezoid">
            <a:avLst>
              <a:gd name="adj" fmla="val 19444"/>
            </a:avLst>
          </a:prstGeom>
          <a:solidFill>
            <a:schemeClr val="bg2"/>
          </a:solidFill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8" name="梯形 57"/>
          <p:cNvSpPr/>
          <p:nvPr/>
        </p:nvSpPr>
        <p:spPr>
          <a:xfrm flipV="1">
            <a:off x="5186680" y="2651125"/>
            <a:ext cx="1824990" cy="506730"/>
          </a:xfrm>
          <a:prstGeom prst="trapezoid">
            <a:avLst>
              <a:gd name="adj" fmla="val 19444"/>
            </a:avLst>
          </a:prstGeom>
          <a:solidFill>
            <a:schemeClr val="bg2"/>
          </a:solidFill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484178" y="2751138"/>
            <a:ext cx="1229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潜客触达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484178" y="3378041"/>
            <a:ext cx="1229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潜客经营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84178" y="3958670"/>
            <a:ext cx="1229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潜客转化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梯形 61"/>
          <p:cNvSpPr/>
          <p:nvPr/>
        </p:nvSpPr>
        <p:spPr>
          <a:xfrm flipV="1">
            <a:off x="5568950" y="4488180"/>
            <a:ext cx="1060450" cy="506730"/>
          </a:xfrm>
          <a:prstGeom prst="trapezoid">
            <a:avLst>
              <a:gd name="adj" fmla="val 19444"/>
            </a:avLst>
          </a:prstGeom>
          <a:solidFill>
            <a:schemeClr val="bg2"/>
          </a:solidFill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618480" y="4588193"/>
            <a:ext cx="961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客户留存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梯形 63"/>
          <p:cNvSpPr/>
          <p:nvPr/>
        </p:nvSpPr>
        <p:spPr>
          <a:xfrm flipV="1">
            <a:off x="5701348" y="5116830"/>
            <a:ext cx="795655" cy="506730"/>
          </a:xfrm>
          <a:prstGeom prst="trapezoid">
            <a:avLst>
              <a:gd name="adj" fmla="val 19444"/>
            </a:avLst>
          </a:prstGeom>
          <a:solidFill>
            <a:schemeClr val="bg2"/>
          </a:solidFill>
          <a:ln w="25400">
            <a:gradFill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701030" y="5125085"/>
            <a:ext cx="796290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加保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转介</a:t>
            </a:r>
            <a:endParaRPr lang="zh-CN" altLang="en-US" sz="1400" b="1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4530" y="2245995"/>
            <a:ext cx="1243330" cy="3490595"/>
            <a:chOff x="3078" y="3553"/>
            <a:chExt cx="1958" cy="5497"/>
          </a:xfrm>
        </p:grpSpPr>
        <p:sp>
          <p:nvSpPr>
            <p:cNvPr id="49" name="Freeform: Shape 88"/>
            <p:cNvSpPr/>
            <p:nvPr/>
          </p:nvSpPr>
          <p:spPr>
            <a:xfrm>
              <a:off x="3078" y="3805"/>
              <a:ext cx="1959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1" name="Freeform: Shape 89"/>
            <p:cNvSpPr/>
            <p:nvPr/>
          </p:nvSpPr>
          <p:spPr>
            <a:xfrm>
              <a:off x="3078" y="3553"/>
              <a:ext cx="1959" cy="25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2" name="Freeform: Shape 90"/>
            <p:cNvSpPr/>
            <p:nvPr/>
          </p:nvSpPr>
          <p:spPr>
            <a:xfrm>
              <a:off x="3078" y="8464"/>
              <a:ext cx="1959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" name="Freeform: Shape 91"/>
            <p:cNvSpPr/>
            <p:nvPr/>
          </p:nvSpPr>
          <p:spPr>
            <a:xfrm>
              <a:off x="3078" y="8798"/>
              <a:ext cx="1959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3352" y="4183"/>
              <a:ext cx="1406" cy="4230"/>
            </a:xfrm>
            <a:prstGeom prst="rect">
              <a:avLst/>
            </a:prstGeom>
            <a:pattFill prst="wdUpDiag">
              <a:fgClr>
                <a:schemeClr val="accent3">
                  <a:lumMod val="20000"/>
                  <a:lumOff val="80000"/>
                </a:schemeClr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78" name="Google Shape;703;p30"/>
            <p:cNvSpPr/>
            <p:nvPr/>
          </p:nvSpPr>
          <p:spPr>
            <a:xfrm>
              <a:off x="3516" y="431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9" name="Google Shape;703;p30"/>
            <p:cNvSpPr/>
            <p:nvPr/>
          </p:nvSpPr>
          <p:spPr>
            <a:xfrm>
              <a:off x="3516" y="514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0" name="Google Shape;723;p30"/>
            <p:cNvSpPr txBox="1"/>
            <p:nvPr/>
          </p:nvSpPr>
          <p:spPr>
            <a:xfrm>
              <a:off x="3573" y="520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建立关系需求沟通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2" name="Google Shape;703;p30"/>
            <p:cNvSpPr/>
            <p:nvPr/>
          </p:nvSpPr>
          <p:spPr>
            <a:xfrm>
              <a:off x="3516" y="597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3" name="Google Shape;723;p30"/>
            <p:cNvSpPr txBox="1"/>
            <p:nvPr/>
          </p:nvSpPr>
          <p:spPr>
            <a:xfrm>
              <a:off x="3573" y="603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定制方案面谈签单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5" name="Google Shape;703;p30"/>
            <p:cNvSpPr/>
            <p:nvPr/>
          </p:nvSpPr>
          <p:spPr>
            <a:xfrm>
              <a:off x="3516" y="680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6" name="Google Shape;723;p30"/>
            <p:cNvSpPr txBox="1"/>
            <p:nvPr/>
          </p:nvSpPr>
          <p:spPr>
            <a:xfrm>
              <a:off x="3573" y="686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客户关怀售后服务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8" name="Google Shape;703;p30"/>
            <p:cNvSpPr/>
            <p:nvPr/>
          </p:nvSpPr>
          <p:spPr>
            <a:xfrm>
              <a:off x="3516" y="763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9" name="Google Shape;723;p30"/>
            <p:cNvSpPr txBox="1"/>
            <p:nvPr/>
          </p:nvSpPr>
          <p:spPr>
            <a:xfrm>
              <a:off x="3573" y="769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长期维护深耕价值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8" name="Google Shape;723;p30"/>
            <p:cNvSpPr txBox="1"/>
            <p:nvPr/>
          </p:nvSpPr>
          <p:spPr>
            <a:xfrm>
              <a:off x="3573" y="437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潜客获取缘故获客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8850630" y="2245995"/>
            <a:ext cx="1243965" cy="3490595"/>
            <a:chOff x="3078" y="3553"/>
            <a:chExt cx="1959" cy="5497"/>
          </a:xfrm>
        </p:grpSpPr>
        <p:sp>
          <p:nvSpPr>
            <p:cNvPr id="71" name="Freeform: Shape 88"/>
            <p:cNvSpPr/>
            <p:nvPr/>
          </p:nvSpPr>
          <p:spPr>
            <a:xfrm>
              <a:off x="3078" y="3805"/>
              <a:ext cx="1959" cy="33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6">
                  <a:moveTo>
                    <a:pt x="0" y="0"/>
                  </a:moveTo>
                  <a:lnTo>
                    <a:pt x="232" y="286"/>
                  </a:lnTo>
                  <a:lnTo>
                    <a:pt x="781" y="286"/>
                  </a:lnTo>
                  <a:lnTo>
                    <a:pt x="1331" y="286"/>
                  </a:lnTo>
                  <a:lnTo>
                    <a:pt x="1563" y="0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Freeform: Shape 89"/>
            <p:cNvSpPr/>
            <p:nvPr/>
          </p:nvSpPr>
          <p:spPr>
            <a:xfrm>
              <a:off x="3078" y="3553"/>
              <a:ext cx="1959" cy="25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6">
                  <a:moveTo>
                    <a:pt x="0" y="0"/>
                  </a:moveTo>
                  <a:lnTo>
                    <a:pt x="0" y="216"/>
                  </a:lnTo>
                  <a:lnTo>
                    <a:pt x="0" y="216"/>
                  </a:lnTo>
                  <a:lnTo>
                    <a:pt x="1563" y="216"/>
                  </a:lnTo>
                  <a:lnTo>
                    <a:pt x="1563" y="216"/>
                  </a:lnTo>
                  <a:lnTo>
                    <a:pt x="156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" name="Freeform: Shape 90"/>
            <p:cNvSpPr/>
            <p:nvPr/>
          </p:nvSpPr>
          <p:spPr>
            <a:xfrm>
              <a:off x="3078" y="8464"/>
              <a:ext cx="1959" cy="334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87">
                  <a:moveTo>
                    <a:pt x="1563" y="287"/>
                  </a:moveTo>
                  <a:lnTo>
                    <a:pt x="1331" y="0"/>
                  </a:lnTo>
                  <a:lnTo>
                    <a:pt x="781" y="0"/>
                  </a:lnTo>
                  <a:lnTo>
                    <a:pt x="232" y="0"/>
                  </a:lnTo>
                  <a:lnTo>
                    <a:pt x="0" y="287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5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4" name="Freeform: Shape 91"/>
            <p:cNvSpPr/>
            <p:nvPr/>
          </p:nvSpPr>
          <p:spPr>
            <a:xfrm>
              <a:off x="3078" y="8798"/>
              <a:ext cx="1959" cy="252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3" h="217">
                  <a:moveTo>
                    <a:pt x="1563" y="217"/>
                  </a:moveTo>
                  <a:lnTo>
                    <a:pt x="1563" y="0"/>
                  </a:lnTo>
                  <a:lnTo>
                    <a:pt x="15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cap="flat">
              <a:noFill/>
              <a:prstDash val="solid"/>
            </a:ln>
          </p:spPr>
          <p:txBody>
            <a:bodyPr vert="horz" wrap="none" lIns="45000" tIns="22500" rIns="45000" bIns="22500" anchor="ctr" anchorCtr="1" compatLnSpc="0"/>
            <a:p>
              <a:pPr hangingPunct="0"/>
              <a:endParaRPr lang="en-US"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352" y="4183"/>
              <a:ext cx="1406" cy="4230"/>
            </a:xfrm>
            <a:prstGeom prst="rect">
              <a:avLst/>
            </a:prstGeom>
            <a:pattFill prst="wdUpDiag">
              <a:fgClr>
                <a:schemeClr val="accent3">
                  <a:lumMod val="20000"/>
                  <a:lumOff val="80000"/>
                </a:schemeClr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</p:spPr>
          <p:txBody>
            <a:bodyPr spcFirstLastPara="1" wrap="square" lIns="0" tIns="0" rIns="0" bIns="0" rtlCol="0" anchor="ctr" anchorCtr="0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>
                  <a:srgbClr val="525455"/>
                </a:buClr>
                <a:buSzPts val="1100"/>
                <a:buFont typeface="微软雅黑" panose="020B0503020204020204" charset="-122"/>
              </a:pPr>
              <a:endParaRPr sz="1100">
                <a:solidFill>
                  <a:srgbClr val="5254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7" name="Google Shape;703;p30"/>
            <p:cNvSpPr/>
            <p:nvPr/>
          </p:nvSpPr>
          <p:spPr>
            <a:xfrm>
              <a:off x="3516" y="431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8" name="Google Shape;703;p30"/>
            <p:cNvSpPr/>
            <p:nvPr/>
          </p:nvSpPr>
          <p:spPr>
            <a:xfrm>
              <a:off x="3516" y="514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9" name="Google Shape;723;p30"/>
            <p:cNvSpPr txBox="1"/>
            <p:nvPr/>
          </p:nvSpPr>
          <p:spPr>
            <a:xfrm>
              <a:off x="3573" y="520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用户洞察线上服务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0" name="Google Shape;703;p30"/>
            <p:cNvSpPr/>
            <p:nvPr/>
          </p:nvSpPr>
          <p:spPr>
            <a:xfrm>
              <a:off x="3516" y="597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4" name="Google Shape;723;p30"/>
            <p:cNvSpPr txBox="1"/>
            <p:nvPr/>
          </p:nvSpPr>
          <p:spPr>
            <a:xfrm>
              <a:off x="3573" y="603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加速转化线上签单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9" name="Google Shape;703;p30"/>
            <p:cNvSpPr/>
            <p:nvPr/>
          </p:nvSpPr>
          <p:spPr>
            <a:xfrm>
              <a:off x="3516" y="680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0" name="Google Shape;723;p30"/>
            <p:cNvSpPr txBox="1"/>
            <p:nvPr/>
          </p:nvSpPr>
          <p:spPr>
            <a:xfrm>
              <a:off x="3573" y="686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提供服务个性推送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1" name="Google Shape;703;p30"/>
            <p:cNvSpPr/>
            <p:nvPr/>
          </p:nvSpPr>
          <p:spPr>
            <a:xfrm>
              <a:off x="3516" y="7634"/>
              <a:ext cx="1084" cy="671"/>
            </a:xfrm>
            <a:prstGeom prst="roundRect">
              <a:avLst>
                <a:gd name="adj" fmla="val 3814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schemeClr val="tx2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2" name="Google Shape;723;p30"/>
            <p:cNvSpPr txBox="1"/>
            <p:nvPr/>
          </p:nvSpPr>
          <p:spPr>
            <a:xfrm>
              <a:off x="3573" y="769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长期追踪客户洞察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4" name="Google Shape;723;p30"/>
            <p:cNvSpPr txBox="1"/>
            <p:nvPr/>
          </p:nvSpPr>
          <p:spPr>
            <a:xfrm>
              <a:off x="3573" y="4377"/>
              <a:ext cx="970" cy="5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p>
              <a:pPr algn="ctr"/>
              <a:r>
                <a:rPr lang="zh-CN" altLang="en-US" sz="1000" b="1" dirty="0">
                  <a:solidFill>
                    <a:schemeClr val="tx2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树立品牌引流拓客</a:t>
              </a:r>
              <a:endParaRPr lang="zh-CN" altLang="en-US" sz="10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95" name="直接连接符 94"/>
          <p:cNvCxnSpPr/>
          <p:nvPr/>
        </p:nvCxnSpPr>
        <p:spPr>
          <a:xfrm flipH="1">
            <a:off x="10009505" y="3958590"/>
            <a:ext cx="426720" cy="97155"/>
          </a:xfrm>
          <a:prstGeom prst="lin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19050">
            <a:gradFill>
              <a:gsLst>
                <a:gs pos="0">
                  <a:schemeClr val="accent2"/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7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新能源汽车用户体系分析</a:t>
            </a:r>
            <a:endParaRPr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6" name="等腰三角形 65"/>
          <p:cNvSpPr/>
          <p:nvPr/>
        </p:nvSpPr>
        <p:spPr>
          <a:xfrm>
            <a:off x="771525" y="1178560"/>
            <a:ext cx="10641330" cy="1617345"/>
          </a:xfrm>
          <a:prstGeom prst="triangle">
            <a:avLst/>
          </a:prstGeom>
          <a:noFill/>
          <a:ln w="127000">
            <a:gradFill>
              <a:gsLst>
                <a:gs pos="11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Freeform 34"/>
          <p:cNvSpPr/>
          <p:nvPr/>
        </p:nvSpPr>
        <p:spPr>
          <a:xfrm flipH="1">
            <a:off x="9027472" y="3358502"/>
            <a:ext cx="143246" cy="105235"/>
          </a:xfrm>
          <a:custGeom>
            <a:avLst/>
            <a:gdLst>
              <a:gd name="connsiteX0" fmla="*/ 0 w 104775"/>
              <a:gd name="connsiteY0" fmla="*/ 128587 h 128587"/>
              <a:gd name="connsiteX1" fmla="*/ 103187 w 104775"/>
              <a:gd name="connsiteY1" fmla="*/ 0 h 128587"/>
              <a:gd name="connsiteX2" fmla="*/ 104775 w 104775"/>
              <a:gd name="connsiteY2" fmla="*/ 128587 h 128587"/>
              <a:gd name="connsiteX3" fmla="*/ 0 w 104775"/>
              <a:gd name="connsiteY3" fmla="*/ 128587 h 12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75" h="128587">
                <a:moveTo>
                  <a:pt x="0" y="128587"/>
                </a:moveTo>
                <a:lnTo>
                  <a:pt x="103187" y="0"/>
                </a:lnTo>
                <a:cubicBezTo>
                  <a:pt x="103716" y="42862"/>
                  <a:pt x="104246" y="85725"/>
                  <a:pt x="104775" y="128587"/>
                </a:cubicBezTo>
                <a:lnTo>
                  <a:pt x="0" y="12858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370" tIns="45685" rIns="91370" bIns="45685" rtlCol="0" anchor="ctr"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Freeform 41"/>
          <p:cNvSpPr/>
          <p:nvPr/>
        </p:nvSpPr>
        <p:spPr>
          <a:xfrm>
            <a:off x="5118735" y="1402715"/>
            <a:ext cx="2005965" cy="2026285"/>
          </a:xfrm>
          <a:custGeom>
            <a:avLst/>
            <a:gdLst>
              <a:gd name="connsiteX0" fmla="*/ 842434 w 1689100"/>
              <a:gd name="connsiteY0" fmla="*/ 0 h 1214967"/>
              <a:gd name="connsiteX1" fmla="*/ 0 w 1689100"/>
              <a:gd name="connsiteY1" fmla="*/ 215900 h 1214967"/>
              <a:gd name="connsiteX2" fmla="*/ 0 w 1689100"/>
              <a:gd name="connsiteY2" fmla="*/ 1214967 h 1214967"/>
              <a:gd name="connsiteX3" fmla="*/ 1689100 w 1689100"/>
              <a:gd name="connsiteY3" fmla="*/ 1214967 h 1214967"/>
              <a:gd name="connsiteX4" fmla="*/ 1689100 w 1689100"/>
              <a:gd name="connsiteY4" fmla="*/ 203200 h 1214967"/>
              <a:gd name="connsiteX5" fmla="*/ 842434 w 1689100"/>
              <a:gd name="connsiteY5" fmla="*/ 0 h 121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9100" h="1214967">
                <a:moveTo>
                  <a:pt x="842434" y="0"/>
                </a:moveTo>
                <a:lnTo>
                  <a:pt x="0" y="215900"/>
                </a:lnTo>
                <a:lnTo>
                  <a:pt x="0" y="1214967"/>
                </a:lnTo>
                <a:lnTo>
                  <a:pt x="1689100" y="1214967"/>
                </a:lnTo>
                <a:lnTo>
                  <a:pt x="1689100" y="203200"/>
                </a:lnTo>
                <a:lnTo>
                  <a:pt x="842434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6600000" scaled="1"/>
          </a:gradFill>
          <a:ln>
            <a:noFill/>
            <a:prstDash val="solid"/>
          </a:ln>
          <a:effectLst>
            <a:innerShdw blurRad="2794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6" name="Freeform 42"/>
          <p:cNvSpPr/>
          <p:nvPr/>
        </p:nvSpPr>
        <p:spPr>
          <a:xfrm>
            <a:off x="2827655" y="1792509"/>
            <a:ext cx="2133600" cy="1636491"/>
          </a:xfrm>
          <a:custGeom>
            <a:avLst/>
            <a:gdLst>
              <a:gd name="connsiteX0" fmla="*/ 1320800 w 1325034"/>
              <a:gd name="connsiteY0" fmla="*/ 12700 h 952500"/>
              <a:gd name="connsiteX1" fmla="*/ 0 w 1325034"/>
              <a:gd name="connsiteY1" fmla="*/ 334434 h 952500"/>
              <a:gd name="connsiteX2" fmla="*/ 279400 w 1325034"/>
              <a:gd name="connsiteY2" fmla="*/ 334434 h 952500"/>
              <a:gd name="connsiteX3" fmla="*/ 279400 w 1325034"/>
              <a:gd name="connsiteY3" fmla="*/ 952500 h 952500"/>
              <a:gd name="connsiteX4" fmla="*/ 1325034 w 1325034"/>
              <a:gd name="connsiteY4" fmla="*/ 952500 h 952500"/>
              <a:gd name="connsiteX5" fmla="*/ 1325034 w 1325034"/>
              <a:gd name="connsiteY5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0" h="2577">
                <a:moveTo>
                  <a:pt x="3349" y="4"/>
                </a:moveTo>
                <a:lnTo>
                  <a:pt x="3137" y="60"/>
                </a:lnTo>
                <a:lnTo>
                  <a:pt x="2986" y="100"/>
                </a:lnTo>
                <a:lnTo>
                  <a:pt x="2986" y="100"/>
                </a:lnTo>
                <a:lnTo>
                  <a:pt x="0" y="885"/>
                </a:lnTo>
                <a:lnTo>
                  <a:pt x="708" y="885"/>
                </a:lnTo>
                <a:lnTo>
                  <a:pt x="708" y="2577"/>
                </a:lnTo>
                <a:lnTo>
                  <a:pt x="3360" y="2577"/>
                </a:lnTo>
                <a:lnTo>
                  <a:pt x="3360" y="0"/>
                </a:lnTo>
                <a:lnTo>
                  <a:pt x="3350" y="3"/>
                </a:lnTo>
                <a:lnTo>
                  <a:pt x="3349" y="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Freeform 43"/>
          <p:cNvSpPr/>
          <p:nvPr/>
        </p:nvSpPr>
        <p:spPr>
          <a:xfrm flipH="1">
            <a:off x="7283450" y="1795106"/>
            <a:ext cx="2133600" cy="1633894"/>
          </a:xfrm>
          <a:custGeom>
            <a:avLst/>
            <a:gdLst>
              <a:gd name="connsiteX0" fmla="*/ 1320800 w 1325034"/>
              <a:gd name="connsiteY0" fmla="*/ 12700 h 952500"/>
              <a:gd name="connsiteX1" fmla="*/ 0 w 1325034"/>
              <a:gd name="connsiteY1" fmla="*/ 334434 h 952500"/>
              <a:gd name="connsiteX2" fmla="*/ 279400 w 1325034"/>
              <a:gd name="connsiteY2" fmla="*/ 334434 h 952500"/>
              <a:gd name="connsiteX3" fmla="*/ 279400 w 1325034"/>
              <a:gd name="connsiteY3" fmla="*/ 952500 h 952500"/>
              <a:gd name="connsiteX4" fmla="*/ 1325034 w 1325034"/>
              <a:gd name="connsiteY4" fmla="*/ 952500 h 952500"/>
              <a:gd name="connsiteX5" fmla="*/ 1325034 w 1325034"/>
              <a:gd name="connsiteY5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0" h="2573">
                <a:moveTo>
                  <a:pt x="3142" y="54"/>
                </a:moveTo>
                <a:lnTo>
                  <a:pt x="0" y="881"/>
                </a:lnTo>
                <a:lnTo>
                  <a:pt x="708" y="881"/>
                </a:lnTo>
                <a:lnTo>
                  <a:pt x="708" y="2573"/>
                </a:lnTo>
                <a:lnTo>
                  <a:pt x="3360" y="2573"/>
                </a:lnTo>
                <a:lnTo>
                  <a:pt x="3360" y="0"/>
                </a:lnTo>
                <a:lnTo>
                  <a:pt x="3142" y="54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8" name="Freeform 44"/>
          <p:cNvSpPr/>
          <p:nvPr/>
        </p:nvSpPr>
        <p:spPr>
          <a:xfrm>
            <a:off x="3066866" y="3358502"/>
            <a:ext cx="143246" cy="105235"/>
          </a:xfrm>
          <a:custGeom>
            <a:avLst/>
            <a:gdLst>
              <a:gd name="connsiteX0" fmla="*/ 0 w 104775"/>
              <a:gd name="connsiteY0" fmla="*/ 128587 h 128587"/>
              <a:gd name="connsiteX1" fmla="*/ 103187 w 104775"/>
              <a:gd name="connsiteY1" fmla="*/ 0 h 128587"/>
              <a:gd name="connsiteX2" fmla="*/ 104775 w 104775"/>
              <a:gd name="connsiteY2" fmla="*/ 128587 h 128587"/>
              <a:gd name="connsiteX3" fmla="*/ 0 w 104775"/>
              <a:gd name="connsiteY3" fmla="*/ 128587 h 128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75" h="128587">
                <a:moveTo>
                  <a:pt x="0" y="128587"/>
                </a:moveTo>
                <a:lnTo>
                  <a:pt x="103187" y="0"/>
                </a:lnTo>
                <a:cubicBezTo>
                  <a:pt x="103716" y="42862"/>
                  <a:pt x="104246" y="85725"/>
                  <a:pt x="104775" y="128587"/>
                </a:cubicBezTo>
                <a:lnTo>
                  <a:pt x="0" y="12858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370" tIns="45685" rIns="91370" bIns="45685" rtlCol="0" anchor="ctr"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9"/>
          <p:cNvSpPr>
            <a:spLocks noChangeArrowheads="1"/>
          </p:cNvSpPr>
          <p:nvPr/>
        </p:nvSpPr>
        <p:spPr bwMode="gray">
          <a:xfrm>
            <a:off x="3070472" y="3461776"/>
            <a:ext cx="6100235" cy="674619"/>
          </a:xfrm>
          <a:prstGeom prst="rect">
            <a:avLst/>
          </a:prstGeom>
          <a:gradFill>
            <a:gsLst>
              <a:gs pos="9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9525">
            <a:noFill/>
            <a:miter lim="800000"/>
          </a:ln>
        </p:spPr>
        <p:txBody>
          <a:bodyPr wrap="square" lIns="0" tIns="45685" rIns="0" bIns="0" anchor="t" anchorCtr="0">
            <a:no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6" name="Rectangle 62"/>
          <p:cNvSpPr/>
          <p:nvPr/>
        </p:nvSpPr>
        <p:spPr>
          <a:xfrm>
            <a:off x="5215890" y="2733675"/>
            <a:ext cx="775335" cy="13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NIO Power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3315665" y="2849454"/>
            <a:ext cx="1609589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高端智能电动汽车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科技打造多重感官体验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11"/>
          <p:cNvSpPr>
            <a:spLocks noChangeArrowheads="1"/>
          </p:cNvSpPr>
          <p:nvPr/>
        </p:nvSpPr>
        <p:spPr bwMode="gray">
          <a:xfrm flipH="1">
            <a:off x="3434616" y="2471057"/>
            <a:ext cx="1377758" cy="262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zh-CN" altLang="zh-TW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产品</a:t>
            </a:r>
            <a:endParaRPr kumimoji="0" lang="zh-CN" altLang="zh-TW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3" name="Rectangle 60"/>
          <p:cNvSpPr/>
          <p:nvPr/>
        </p:nvSpPr>
        <p:spPr>
          <a:xfrm rot="10800000" flipV="1">
            <a:off x="3996197" y="3575685"/>
            <a:ext cx="424878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品牌基因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3" name="任意多边形 152"/>
          <p:cNvSpPr/>
          <p:nvPr/>
        </p:nvSpPr>
        <p:spPr>
          <a:xfrm>
            <a:off x="8317230" y="4204970"/>
            <a:ext cx="3258185" cy="921385"/>
          </a:xfrm>
          <a:custGeom>
            <a:avLst/>
            <a:gdLst>
              <a:gd name="adj" fmla="val 277394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5076" h="1451">
                <a:moveTo>
                  <a:pt x="0" y="0"/>
                </a:moveTo>
                <a:lnTo>
                  <a:pt x="1051" y="0"/>
                </a:lnTo>
                <a:lnTo>
                  <a:pt x="5076" y="1451"/>
                </a:lnTo>
                <a:lnTo>
                  <a:pt x="1857" y="14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gradFill>
              <a:gsLst>
                <a:gs pos="58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83000">
                  <a:schemeClr val="accent1">
                    <a:lumMod val="60000"/>
                    <a:lumOff val="40000"/>
                    <a:alpha val="65000"/>
                  </a:schemeClr>
                </a:gs>
              </a:gsLst>
              <a:lin ang="5400000" scaled="1"/>
            </a:gradFill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54" name="任意多边形 153"/>
          <p:cNvSpPr/>
          <p:nvPr/>
        </p:nvSpPr>
        <p:spPr>
          <a:xfrm>
            <a:off x="6553200" y="4212590"/>
            <a:ext cx="2823210" cy="921385"/>
          </a:xfrm>
          <a:custGeom>
            <a:avLst/>
            <a:gdLst>
              <a:gd name="adj" fmla="val 277394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4411" h="1451">
                <a:moveTo>
                  <a:pt x="0" y="0"/>
                </a:moveTo>
                <a:lnTo>
                  <a:pt x="2554" y="0"/>
                </a:lnTo>
                <a:lnTo>
                  <a:pt x="4411" y="1451"/>
                </a:lnTo>
                <a:lnTo>
                  <a:pt x="1134" y="14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gradFill>
              <a:gsLst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  <a:gs pos="83000">
                  <a:schemeClr val="accent5">
                    <a:lumMod val="60000"/>
                    <a:lumOff val="40000"/>
                    <a:alpha val="65000"/>
                  </a:schemeClr>
                </a:gs>
              </a:gsLst>
              <a:lin ang="5400000" scaled="1"/>
            </a:gradFill>
          </a:ln>
          <a:effectLst>
            <a:innerShdw blurRad="114300">
              <a:schemeClr val="accent5">
                <a:lumMod val="40000"/>
                <a:lumOff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155" name="任意多边形 154"/>
          <p:cNvSpPr/>
          <p:nvPr/>
        </p:nvSpPr>
        <p:spPr>
          <a:xfrm>
            <a:off x="5051425" y="4216400"/>
            <a:ext cx="2110740" cy="921385"/>
          </a:xfrm>
          <a:custGeom>
            <a:avLst/>
            <a:gdLst>
              <a:gd name="adj" fmla="val 277394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3290" h="1451">
                <a:moveTo>
                  <a:pt x="1134" y="0"/>
                </a:moveTo>
                <a:lnTo>
                  <a:pt x="2157" y="0"/>
                </a:lnTo>
                <a:lnTo>
                  <a:pt x="3290" y="1451"/>
                </a:lnTo>
                <a:lnTo>
                  <a:pt x="0" y="1451"/>
                </a:lnTo>
                <a:lnTo>
                  <a:pt x="1134" y="0"/>
                </a:lnTo>
                <a:close/>
              </a:path>
            </a:pathLst>
          </a:custGeom>
          <a:gradFill>
            <a:gsLst>
              <a:gs pos="1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gradFill>
              <a:gsLst>
                <a:gs pos="58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83000">
                  <a:schemeClr val="accent1">
                    <a:lumMod val="60000"/>
                    <a:lumOff val="40000"/>
                    <a:alpha val="65000"/>
                  </a:schemeClr>
                </a:gs>
              </a:gsLst>
              <a:lin ang="5400000" scaled="1"/>
            </a:gradFill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cs typeface="微软雅黑" panose="020B0503020204020204" charset="-122"/>
                <a:sym typeface="+mn-ea"/>
              </a:rPr>
              <a:t>0</a:t>
            </a: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56" name="任意多边形 155"/>
          <p:cNvSpPr/>
          <p:nvPr/>
        </p:nvSpPr>
        <p:spPr>
          <a:xfrm>
            <a:off x="2846705" y="4204970"/>
            <a:ext cx="2828925" cy="921385"/>
          </a:xfrm>
          <a:custGeom>
            <a:avLst/>
            <a:gdLst>
              <a:gd name="adj" fmla="val 277394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4407" h="1451">
                <a:moveTo>
                  <a:pt x="1857" y="0"/>
                </a:moveTo>
                <a:lnTo>
                  <a:pt x="4407" y="0"/>
                </a:lnTo>
                <a:lnTo>
                  <a:pt x="3273" y="1451"/>
                </a:lnTo>
                <a:lnTo>
                  <a:pt x="0" y="1451"/>
                </a:lnTo>
                <a:lnTo>
                  <a:pt x="1857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gradFill>
              <a:gsLst>
                <a:gs pos="58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  <a:gs pos="83000">
                  <a:schemeClr val="accent5">
                    <a:lumMod val="60000"/>
                    <a:lumOff val="40000"/>
                    <a:alpha val="65000"/>
                  </a:schemeClr>
                </a:gs>
              </a:gsLst>
              <a:lin ang="5400000" scaled="1"/>
            </a:gradFill>
          </a:ln>
          <a:effectLst>
            <a:innerShdw blurRad="114300">
              <a:schemeClr val="accent5">
                <a:lumMod val="40000"/>
                <a:lumOff val="6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170" name="任意多边形 169"/>
          <p:cNvSpPr/>
          <p:nvPr/>
        </p:nvSpPr>
        <p:spPr>
          <a:xfrm>
            <a:off x="633095" y="4204970"/>
            <a:ext cx="3277235" cy="921385"/>
          </a:xfrm>
          <a:custGeom>
            <a:avLst/>
            <a:gdLst>
              <a:gd name="adj" fmla="val 277394"/>
              <a:gd name="maxAdj" fmla="*/ 50000 w ss"/>
              <a:gd name="a" fmla="pin 0 adj maxAdj"/>
              <a:gd name="x1" fmla="*/ ss a 200000"/>
              <a:gd name="x2" fmla="*/ ss a 100000"/>
              <a:gd name="x3" fmla="+- r 0 x2"/>
              <a:gd name="x4" fmla="+- r 0 x1"/>
              <a:gd name="il" fmla="*/ wd3 a maxAdj"/>
              <a:gd name="it" fmla="*/ hd3 a maxAdj"/>
              <a:gd name="ir" fmla="+- r 0 il"/>
            </a:gdLst>
            <a:ahLst/>
            <a:cxnLst>
              <a:cxn ang="3">
                <a:pos x="hc" y="t"/>
              </a:cxn>
              <a:cxn ang="cd2">
                <a:pos x="x1" y="vc"/>
              </a:cxn>
              <a:cxn ang="cd4">
                <a:pos x="hc" y="b"/>
              </a:cxn>
              <a:cxn ang="0">
                <a:pos x="x4" y="vc"/>
              </a:cxn>
            </a:cxnLst>
            <a:rect l="l" t="t" r="r" b="b"/>
            <a:pathLst>
              <a:path w="5113" h="1451">
                <a:moveTo>
                  <a:pt x="0" y="1451"/>
                </a:moveTo>
                <a:lnTo>
                  <a:pt x="4025" y="0"/>
                </a:lnTo>
                <a:lnTo>
                  <a:pt x="5113" y="0"/>
                </a:lnTo>
                <a:lnTo>
                  <a:pt x="3255" y="1451"/>
                </a:lnTo>
                <a:lnTo>
                  <a:pt x="0" y="1451"/>
                </a:lnTo>
                <a:close/>
              </a:path>
            </a:pathLst>
          </a:custGeom>
          <a:gradFill>
            <a:gsLst>
              <a:gs pos="1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0000"/>
                </a:schemeClr>
              </a:gs>
            </a:gsLst>
            <a:lin ang="5400000" scaled="1"/>
          </a:gradFill>
          <a:ln>
            <a:gradFill>
              <a:gsLst>
                <a:gs pos="58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83000">
                  <a:schemeClr val="accent1">
                    <a:lumMod val="60000"/>
                    <a:lumOff val="40000"/>
                    <a:alpha val="65000"/>
                  </a:schemeClr>
                </a:gs>
              </a:gsLst>
              <a:lin ang="5400000" scaled="1"/>
            </a:gradFill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82" name="Rectangle 60"/>
          <p:cNvSpPr/>
          <p:nvPr/>
        </p:nvSpPr>
        <p:spPr>
          <a:xfrm rot="10800000" flipV="1">
            <a:off x="4025643" y="3821886"/>
            <a:ext cx="4248948" cy="18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有想法、有品味、靠谱的朋友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Freeform 35"/>
          <p:cNvSpPr/>
          <p:nvPr>
            <p:custDataLst>
              <p:tags r:id="rId1"/>
            </p:custDataLst>
          </p:nvPr>
        </p:nvSpPr>
        <p:spPr>
          <a:xfrm>
            <a:off x="2846705" y="5126355"/>
            <a:ext cx="2087880" cy="366395"/>
          </a:xfrm>
          <a:custGeom>
            <a:avLst/>
            <a:gdLst>
              <a:gd name="connsiteX0" fmla="*/ 0 w 1073399"/>
              <a:gd name="connsiteY0" fmla="*/ 0 h 644039"/>
              <a:gd name="connsiteX1" fmla="*/ 1073399 w 1073399"/>
              <a:gd name="connsiteY1" fmla="*/ 0 h 644039"/>
              <a:gd name="connsiteX2" fmla="*/ 1073399 w 1073399"/>
              <a:gd name="connsiteY2" fmla="*/ 644039 h 644039"/>
              <a:gd name="connsiteX3" fmla="*/ 0 w 1073399"/>
              <a:gd name="connsiteY3" fmla="*/ 644039 h 644039"/>
              <a:gd name="connsiteX4" fmla="*/ 0 w 1073399"/>
              <a:gd name="connsiteY4" fmla="*/ 0 h 64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399" h="644039">
                <a:moveTo>
                  <a:pt x="0" y="0"/>
                </a:moveTo>
                <a:lnTo>
                  <a:pt x="1073399" y="0"/>
                </a:lnTo>
                <a:lnTo>
                  <a:pt x="1073399" y="644039"/>
                </a:lnTo>
                <a:lnTo>
                  <a:pt x="0" y="6440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0000">
                <a:schemeClr val="accent5">
                  <a:lumMod val="60000"/>
                  <a:lumOff val="4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</a:gsLst>
            <a:lin ang="16200000" scaled="0"/>
          </a:gra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txBody>
          <a:bodyPr spcFirstLastPara="0" vert="horz" wrap="none" lIns="0" tIns="36548" rIns="0" bIns="0" numCol="1" spcCol="1270" anchor="ctr" anchorCtr="0">
            <a:noAutofit/>
          </a:bodyPr>
          <a:p>
            <a:pPr lvl="0" algn="ctr" defTabSz="799465">
              <a:spcAft>
                <a:spcPts val="0"/>
              </a:spcAft>
              <a:buClrTx/>
              <a:buSzTx/>
              <a:buFontTx/>
              <a:defRPr/>
            </a:pPr>
            <a:endParaRPr lang="zh-CN" altLang="en-US" b="1" kern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2" name="Rectangle 60"/>
          <p:cNvSpPr/>
          <p:nvPr/>
        </p:nvSpPr>
        <p:spPr>
          <a:xfrm rot="10800000" flipV="1">
            <a:off x="3096895" y="5193030"/>
            <a:ext cx="158813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②</a:t>
            </a:r>
            <a:r>
              <a:rPr lang="en-US" alt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供应链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4" name="Freeform 35"/>
          <p:cNvSpPr/>
          <p:nvPr>
            <p:custDataLst>
              <p:tags r:id="rId2"/>
            </p:custDataLst>
          </p:nvPr>
        </p:nvSpPr>
        <p:spPr>
          <a:xfrm>
            <a:off x="5060315" y="5126355"/>
            <a:ext cx="2087880" cy="366395"/>
          </a:xfrm>
          <a:custGeom>
            <a:avLst/>
            <a:gdLst>
              <a:gd name="connsiteX0" fmla="*/ 0 w 1073399"/>
              <a:gd name="connsiteY0" fmla="*/ 0 h 644039"/>
              <a:gd name="connsiteX1" fmla="*/ 1073399 w 1073399"/>
              <a:gd name="connsiteY1" fmla="*/ 0 h 644039"/>
              <a:gd name="connsiteX2" fmla="*/ 1073399 w 1073399"/>
              <a:gd name="connsiteY2" fmla="*/ 644039 h 644039"/>
              <a:gd name="connsiteX3" fmla="*/ 0 w 1073399"/>
              <a:gd name="connsiteY3" fmla="*/ 644039 h 644039"/>
              <a:gd name="connsiteX4" fmla="*/ 0 w 1073399"/>
              <a:gd name="connsiteY4" fmla="*/ 0 h 64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399" h="644039">
                <a:moveTo>
                  <a:pt x="0" y="0"/>
                </a:moveTo>
                <a:lnTo>
                  <a:pt x="1073399" y="0"/>
                </a:lnTo>
                <a:lnTo>
                  <a:pt x="1073399" y="644039"/>
                </a:lnTo>
                <a:lnTo>
                  <a:pt x="0" y="6440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16200000" scaled="0"/>
          </a:gra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/>
        </p:spPr>
        <p:txBody>
          <a:bodyPr spcFirstLastPara="0" vert="horz" wrap="none" lIns="0" tIns="36548" rIns="0" bIns="0" numCol="1" spcCol="1270" anchor="ctr" anchorCtr="0">
            <a:noAutofit/>
          </a:bodyPr>
          <a:p>
            <a:pPr lvl="0" algn="ctr" defTabSz="799465">
              <a:spcAft>
                <a:spcPts val="0"/>
              </a:spcAft>
              <a:buClrTx/>
              <a:buSzTx/>
              <a:buFontTx/>
              <a:defRPr/>
            </a:pPr>
            <a:endParaRPr lang="zh-CN" altLang="en-US" b="1" kern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6" name="Rectangle 60"/>
          <p:cNvSpPr/>
          <p:nvPr/>
        </p:nvSpPr>
        <p:spPr>
          <a:xfrm rot="10800000" flipV="1">
            <a:off x="5310505" y="5193030"/>
            <a:ext cx="158813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③</a:t>
            </a:r>
            <a:r>
              <a:rPr lang="en-US" alt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质量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8" name="Freeform 35"/>
          <p:cNvSpPr/>
          <p:nvPr>
            <p:custDataLst>
              <p:tags r:id="rId3"/>
            </p:custDataLst>
          </p:nvPr>
        </p:nvSpPr>
        <p:spPr>
          <a:xfrm>
            <a:off x="7273925" y="5126355"/>
            <a:ext cx="2087880" cy="366395"/>
          </a:xfrm>
          <a:custGeom>
            <a:avLst/>
            <a:gdLst>
              <a:gd name="connsiteX0" fmla="*/ 0 w 1073399"/>
              <a:gd name="connsiteY0" fmla="*/ 0 h 644039"/>
              <a:gd name="connsiteX1" fmla="*/ 1073399 w 1073399"/>
              <a:gd name="connsiteY1" fmla="*/ 0 h 644039"/>
              <a:gd name="connsiteX2" fmla="*/ 1073399 w 1073399"/>
              <a:gd name="connsiteY2" fmla="*/ 644039 h 644039"/>
              <a:gd name="connsiteX3" fmla="*/ 0 w 1073399"/>
              <a:gd name="connsiteY3" fmla="*/ 644039 h 644039"/>
              <a:gd name="connsiteX4" fmla="*/ 0 w 1073399"/>
              <a:gd name="connsiteY4" fmla="*/ 0 h 64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399" h="644039">
                <a:moveTo>
                  <a:pt x="0" y="0"/>
                </a:moveTo>
                <a:lnTo>
                  <a:pt x="1073399" y="0"/>
                </a:lnTo>
                <a:lnTo>
                  <a:pt x="1073399" y="644039"/>
                </a:lnTo>
                <a:lnTo>
                  <a:pt x="0" y="6440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0000">
                <a:schemeClr val="accent5">
                  <a:lumMod val="60000"/>
                  <a:lumOff val="40000"/>
                </a:schemeClr>
              </a:gs>
              <a:gs pos="0">
                <a:schemeClr val="accent5">
                  <a:lumMod val="40000"/>
                  <a:lumOff val="60000"/>
                </a:schemeClr>
              </a:gs>
            </a:gsLst>
            <a:lin ang="16200000" scaled="0"/>
          </a:gradFill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txBody>
          <a:bodyPr spcFirstLastPara="0" vert="horz" wrap="none" lIns="0" tIns="36548" rIns="0" bIns="0" numCol="1" spcCol="1270" anchor="ctr" anchorCtr="0">
            <a:noAutofit/>
          </a:bodyPr>
          <a:p>
            <a:pPr lvl="0" algn="ctr" defTabSz="799465">
              <a:spcAft>
                <a:spcPts val="0"/>
              </a:spcAft>
              <a:buClrTx/>
              <a:buSzTx/>
              <a:buFontTx/>
              <a:defRPr/>
            </a:pPr>
            <a:endParaRPr lang="zh-CN" altLang="en-US" b="1" kern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0" name="Rectangle 60"/>
          <p:cNvSpPr/>
          <p:nvPr/>
        </p:nvSpPr>
        <p:spPr>
          <a:xfrm rot="10800000" flipV="1">
            <a:off x="7524115" y="5193030"/>
            <a:ext cx="158813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④</a:t>
            </a:r>
            <a:r>
              <a:rPr lang="en-US" alt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营销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32" name="Freeform 35"/>
          <p:cNvSpPr/>
          <p:nvPr>
            <p:custDataLst>
              <p:tags r:id="rId4"/>
            </p:custDataLst>
          </p:nvPr>
        </p:nvSpPr>
        <p:spPr>
          <a:xfrm>
            <a:off x="9487535" y="5126355"/>
            <a:ext cx="2087880" cy="366395"/>
          </a:xfrm>
          <a:custGeom>
            <a:avLst/>
            <a:gdLst>
              <a:gd name="connsiteX0" fmla="*/ 0 w 1073399"/>
              <a:gd name="connsiteY0" fmla="*/ 0 h 644039"/>
              <a:gd name="connsiteX1" fmla="*/ 1073399 w 1073399"/>
              <a:gd name="connsiteY1" fmla="*/ 0 h 644039"/>
              <a:gd name="connsiteX2" fmla="*/ 1073399 w 1073399"/>
              <a:gd name="connsiteY2" fmla="*/ 644039 h 644039"/>
              <a:gd name="connsiteX3" fmla="*/ 0 w 1073399"/>
              <a:gd name="connsiteY3" fmla="*/ 644039 h 644039"/>
              <a:gd name="connsiteX4" fmla="*/ 0 w 1073399"/>
              <a:gd name="connsiteY4" fmla="*/ 0 h 64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399" h="644039">
                <a:moveTo>
                  <a:pt x="0" y="0"/>
                </a:moveTo>
                <a:lnTo>
                  <a:pt x="1073399" y="0"/>
                </a:lnTo>
                <a:lnTo>
                  <a:pt x="1073399" y="644039"/>
                </a:lnTo>
                <a:lnTo>
                  <a:pt x="0" y="6440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16200000" scaled="0"/>
          </a:gra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/>
        </p:spPr>
        <p:txBody>
          <a:bodyPr spcFirstLastPara="0" vert="horz" wrap="none" lIns="0" tIns="36548" rIns="0" bIns="0" numCol="1" spcCol="1270" anchor="ctr" anchorCtr="0">
            <a:noAutofit/>
          </a:bodyPr>
          <a:p>
            <a:pPr lvl="0" algn="ctr" defTabSz="799465">
              <a:spcAft>
                <a:spcPts val="0"/>
              </a:spcAft>
              <a:buClrTx/>
              <a:buSzTx/>
              <a:buFontTx/>
              <a:defRPr/>
            </a:pPr>
            <a:endParaRPr lang="zh-CN" altLang="en-US" b="1" kern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4" name="Rectangle 60"/>
          <p:cNvSpPr/>
          <p:nvPr/>
        </p:nvSpPr>
        <p:spPr>
          <a:xfrm rot="10800000" flipV="1">
            <a:off x="9737725" y="5193030"/>
            <a:ext cx="158813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⑤</a:t>
            </a:r>
            <a:r>
              <a:rPr lang="en-US" alt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售后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48" name="Rectangle 11"/>
          <p:cNvSpPr>
            <a:spLocks noChangeArrowheads="1"/>
          </p:cNvSpPr>
          <p:nvPr/>
        </p:nvSpPr>
        <p:spPr bwMode="gray">
          <a:xfrm flipH="1">
            <a:off x="5432839" y="2208167"/>
            <a:ext cx="1377758" cy="262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服务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249" name="直接连接符 248"/>
          <p:cNvCxnSpPr/>
          <p:nvPr/>
        </p:nvCxnSpPr>
        <p:spPr>
          <a:xfrm>
            <a:off x="6103620" y="2735580"/>
            <a:ext cx="0" cy="4978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0" name="Rectangle 64"/>
          <p:cNvSpPr/>
          <p:nvPr/>
        </p:nvSpPr>
        <p:spPr>
          <a:xfrm>
            <a:off x="5171440" y="2945765"/>
            <a:ext cx="86487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可充可换可升级的全场景补能</a:t>
            </a: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Rectangle 62"/>
          <p:cNvSpPr/>
          <p:nvPr/>
        </p:nvSpPr>
        <p:spPr>
          <a:xfrm>
            <a:off x="6237605" y="2733675"/>
            <a:ext cx="775335" cy="13843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NIO Service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Rectangle 64"/>
          <p:cNvSpPr/>
          <p:nvPr/>
        </p:nvSpPr>
        <p:spPr>
          <a:xfrm>
            <a:off x="6193155" y="2945765"/>
            <a:ext cx="785495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一站式用车服务体验</a:t>
            </a: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Rectangle 11"/>
          <p:cNvSpPr>
            <a:spLocks noChangeArrowheads="1"/>
          </p:cNvSpPr>
          <p:nvPr/>
        </p:nvSpPr>
        <p:spPr bwMode="gray">
          <a:xfrm flipH="1">
            <a:off x="7453091" y="2472962"/>
            <a:ext cx="1377758" cy="262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 anchor="ctr" anchorCtr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社区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55" name="Rectangle 62"/>
          <p:cNvSpPr/>
          <p:nvPr/>
        </p:nvSpPr>
        <p:spPr>
          <a:xfrm>
            <a:off x="7376795" y="2818130"/>
            <a:ext cx="1496695" cy="415290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1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NIO House </a:t>
            </a:r>
            <a:r>
              <a:rPr kumimoji="0" lang="zh-CN" altLang="en-US" sz="9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线下愉悦生活社区</a:t>
            </a: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1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lang="en-US" altLang="zh-CN" sz="9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NIO App </a:t>
            </a:r>
            <a:r>
              <a:rPr lang="zh-CN" altLang="en-US" sz="900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线上多元服务社区</a:t>
            </a: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1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defRPr/>
            </a:pPr>
            <a:r>
              <a:rPr lang="en-US" altLang="zh-CN" sz="9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NIO Life </a:t>
            </a:r>
            <a:r>
              <a:rPr lang="zh-CN" altLang="en-US" sz="900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品牌创意衍生精品</a:t>
            </a:r>
            <a:endParaRPr kumimoji="0" lang="zh-CN" altLang="en-US" sz="9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1910715" y="4265930"/>
            <a:ext cx="622300" cy="6223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3809365" y="4265930"/>
            <a:ext cx="622300" cy="62230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" name="Freeform 35"/>
          <p:cNvSpPr/>
          <p:nvPr>
            <p:custDataLst>
              <p:tags r:id="rId5"/>
            </p:custDataLst>
          </p:nvPr>
        </p:nvSpPr>
        <p:spPr>
          <a:xfrm>
            <a:off x="633095" y="5126355"/>
            <a:ext cx="2087880" cy="366395"/>
          </a:xfrm>
          <a:custGeom>
            <a:avLst/>
            <a:gdLst>
              <a:gd name="connsiteX0" fmla="*/ 0 w 1073399"/>
              <a:gd name="connsiteY0" fmla="*/ 0 h 644039"/>
              <a:gd name="connsiteX1" fmla="*/ 1073399 w 1073399"/>
              <a:gd name="connsiteY1" fmla="*/ 0 h 644039"/>
              <a:gd name="connsiteX2" fmla="*/ 1073399 w 1073399"/>
              <a:gd name="connsiteY2" fmla="*/ 644039 h 644039"/>
              <a:gd name="connsiteX3" fmla="*/ 0 w 1073399"/>
              <a:gd name="connsiteY3" fmla="*/ 644039 h 644039"/>
              <a:gd name="connsiteX4" fmla="*/ 0 w 1073399"/>
              <a:gd name="connsiteY4" fmla="*/ 0 h 64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3399" h="644039">
                <a:moveTo>
                  <a:pt x="0" y="0"/>
                </a:moveTo>
                <a:lnTo>
                  <a:pt x="1073399" y="0"/>
                </a:lnTo>
                <a:lnTo>
                  <a:pt x="1073399" y="644039"/>
                </a:lnTo>
                <a:lnTo>
                  <a:pt x="0" y="64403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16200000" scaled="0"/>
          </a:gradFill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/>
        </p:spPr>
        <p:txBody>
          <a:bodyPr spcFirstLastPara="0" vert="horz" wrap="none" lIns="0" tIns="36548" rIns="0" bIns="0" numCol="1" spcCol="1270" anchor="ctr" anchorCtr="0">
            <a:noAutofit/>
          </a:bodyPr>
          <a:p>
            <a:pPr marL="0" marR="0" lvl="0" indent="0" algn="ctr" defTabSz="7994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60"/>
          <p:cNvSpPr/>
          <p:nvPr/>
        </p:nvSpPr>
        <p:spPr>
          <a:xfrm rot="10800000" flipV="1">
            <a:off x="883285" y="5193030"/>
            <a:ext cx="1588135" cy="23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0" marR="0" lvl="0" indent="0" algn="ctr" defTabSz="786765" rtl="0" eaLnBrk="1" fontAlgn="auto" latinLnBrk="0" hangingPunct="1">
              <a:lnSpc>
                <a:spcPct val="95000"/>
              </a:lnSpc>
              <a:spcBef>
                <a:spcPct val="80000"/>
              </a:spcBef>
              <a:spcAft>
                <a:spcPts val="0"/>
              </a:spcAft>
              <a:buClr>
                <a:srgbClr val="313131"/>
              </a:buClr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①</a:t>
            </a:r>
            <a:r>
              <a:rPr lang="en-US" altLang="zh-CN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1600" b="1" kern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研发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" name="©显眼包PPT9"/>
          <p:cNvSpPr/>
          <p:nvPr/>
        </p:nvSpPr>
        <p:spPr>
          <a:xfrm>
            <a:off x="633095" y="5613400"/>
            <a:ext cx="2087245" cy="1089660"/>
          </a:xfrm>
          <a:prstGeom prst="roundRect">
            <a:avLst>
              <a:gd name="adj" fmla="val 9673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>
            <a:innerShdw blurRad="254000">
              <a:schemeClr val="accent1">
                <a:lumMod val="20000"/>
                <a:lumOff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20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7245" y="5789930"/>
            <a:ext cx="17195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围绕核心技术全栈自研以及关注用户直接感知的科技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©显眼包PPT9"/>
          <p:cNvSpPr/>
          <p:nvPr/>
        </p:nvSpPr>
        <p:spPr>
          <a:xfrm>
            <a:off x="2846705" y="5613400"/>
            <a:ext cx="2087245" cy="1089660"/>
          </a:xfrm>
          <a:prstGeom prst="roundRect">
            <a:avLst>
              <a:gd name="adj" fmla="val 9673"/>
            </a:avLst>
          </a:prstGeom>
          <a:solidFill>
            <a:schemeClr val="bg1"/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  <a:effectLst>
            <a:innerShdw blurRad="254000">
              <a:schemeClr val="accent5">
                <a:lumMod val="20000"/>
                <a:lumOff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8140" y="5789930"/>
            <a:ext cx="19792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部分核心零部件自主生产，为用户生产一流的整车和动力系统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©显眼包PPT9"/>
          <p:cNvSpPr/>
          <p:nvPr/>
        </p:nvSpPr>
        <p:spPr>
          <a:xfrm>
            <a:off x="5074920" y="5612765"/>
            <a:ext cx="2087245" cy="1089660"/>
          </a:xfrm>
          <a:prstGeom prst="roundRect">
            <a:avLst>
              <a:gd name="adj" fmla="val 9673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>
            <a:innerShdw blurRad="254000">
              <a:schemeClr val="accent1">
                <a:lumMod val="20000"/>
                <a:lumOff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53025" y="5681345"/>
            <a:ext cx="19310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产品开发、合作伙伴、制造、售后和服务五大支柱搭建横向拉通用户旅程和质量体系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©显眼包PPT9"/>
          <p:cNvSpPr/>
          <p:nvPr/>
        </p:nvSpPr>
        <p:spPr>
          <a:xfrm>
            <a:off x="7273925" y="5613400"/>
            <a:ext cx="2087245" cy="1089660"/>
          </a:xfrm>
          <a:prstGeom prst="roundRect">
            <a:avLst>
              <a:gd name="adj" fmla="val 9673"/>
            </a:avLst>
          </a:prstGeom>
          <a:solidFill>
            <a:schemeClr val="bg1"/>
          </a:solidFill>
          <a:ln w="6350">
            <a:solidFill>
              <a:schemeClr val="accent5">
                <a:lumMod val="60000"/>
                <a:lumOff val="40000"/>
              </a:schemeClr>
            </a:solidFill>
          </a:ln>
          <a:effectLst>
            <a:innerShdw blurRad="254000">
              <a:schemeClr val="accent5">
                <a:lumMod val="20000"/>
                <a:lumOff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22185" y="5789930"/>
            <a:ext cx="199136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不同于传统广告投放，通过服务用户形成口碑营销，驱动涟漪效应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©显眼包PPT9"/>
          <p:cNvSpPr/>
          <p:nvPr/>
        </p:nvSpPr>
        <p:spPr>
          <a:xfrm>
            <a:off x="9487535" y="5613400"/>
            <a:ext cx="2087245" cy="1089660"/>
          </a:xfrm>
          <a:prstGeom prst="roundRect">
            <a:avLst>
              <a:gd name="adj" fmla="val 9673"/>
            </a:avLst>
          </a:prstGeom>
          <a:solidFill>
            <a:schemeClr val="bg1"/>
          </a:solidFill>
          <a:ln w="6350">
            <a:solidFill>
              <a:schemeClr val="accent1">
                <a:lumMod val="60000"/>
                <a:lumOff val="40000"/>
              </a:schemeClr>
            </a:solidFill>
          </a:ln>
          <a:effectLst>
            <a:innerShdw blurRad="254000">
              <a:schemeClr val="accent1">
                <a:lumMod val="20000"/>
                <a:lumOff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20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71685" y="5897245"/>
            <a:ext cx="1719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为用户提供一站式的综合服务保障</a:t>
            </a:r>
            <a:endParaRPr lang="zh-CN" altLang="en-US" sz="14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799455" y="4265930"/>
            <a:ext cx="622300" cy="6223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606665" y="4265930"/>
            <a:ext cx="622300" cy="62230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9505315" y="4265930"/>
            <a:ext cx="622300" cy="62230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 descr="服务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1695" y="1676400"/>
            <a:ext cx="356870" cy="356870"/>
          </a:xfrm>
          <a:prstGeom prst="rect">
            <a:avLst/>
          </a:prstGeom>
        </p:spPr>
      </p:pic>
      <p:pic>
        <p:nvPicPr>
          <p:cNvPr id="8" name="图片 7" descr="社区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33945" y="2034540"/>
            <a:ext cx="415290" cy="415290"/>
          </a:xfrm>
          <a:prstGeom prst="rect">
            <a:avLst/>
          </a:prstGeom>
        </p:spPr>
      </p:pic>
      <p:pic>
        <p:nvPicPr>
          <p:cNvPr id="2" name="图片 1" descr="屋顶资源管理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pic>
        <p:nvPicPr>
          <p:cNvPr id="260" name="图片 259" descr="产品状态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36745" y="2061210"/>
            <a:ext cx="369570" cy="369570"/>
          </a:xfrm>
          <a:prstGeom prst="rect">
            <a:avLst/>
          </a:prstGeom>
        </p:spPr>
      </p:pic>
      <p:pic>
        <p:nvPicPr>
          <p:cNvPr id="270" name="图片 269" descr="研发设计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38985" y="4394200"/>
            <a:ext cx="365760" cy="365760"/>
          </a:xfrm>
          <a:prstGeom prst="rect">
            <a:avLst/>
          </a:prstGeom>
        </p:spPr>
      </p:pic>
      <p:pic>
        <p:nvPicPr>
          <p:cNvPr id="273" name="图片 272" descr="供应链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24618" y="4381183"/>
            <a:ext cx="391795" cy="391795"/>
          </a:xfrm>
          <a:prstGeom prst="rect">
            <a:avLst/>
          </a:prstGeom>
        </p:spPr>
      </p:pic>
      <p:pic>
        <p:nvPicPr>
          <p:cNvPr id="281" name="图片 280" descr="质量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30900" y="4397375"/>
            <a:ext cx="359410" cy="359410"/>
          </a:xfrm>
          <a:prstGeom prst="rect">
            <a:avLst/>
          </a:prstGeom>
        </p:spPr>
      </p:pic>
      <p:pic>
        <p:nvPicPr>
          <p:cNvPr id="282" name="图片 281" descr="营销中心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748588" y="4407853"/>
            <a:ext cx="338455" cy="338455"/>
          </a:xfrm>
          <a:prstGeom prst="rect">
            <a:avLst/>
          </a:prstGeom>
        </p:spPr>
      </p:pic>
      <p:pic>
        <p:nvPicPr>
          <p:cNvPr id="283" name="图片 282" descr="售后培训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37713" y="4398328"/>
            <a:ext cx="357505" cy="35750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24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3879850" y="1971675"/>
            <a:ext cx="4443095" cy="280035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accent5">
                  <a:lumMod val="20000"/>
                  <a:lumOff val="80000"/>
                  <a:alpha val="10000"/>
                </a:schemeClr>
              </a:gs>
            </a:gsLst>
            <a:lin ang="0" scaled="1"/>
            <a:tileRect/>
          </a:gra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>
            <a:outerShdw blurRad="101600" sx="101000" sy="101000" algn="ctr" rotWithShape="0">
              <a:schemeClr val="accent5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1" lang="zh-CN" altLang="en-US" sz="140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3923030" y="4822825"/>
            <a:ext cx="9309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私域运营的全流程拆解</a:t>
            </a:r>
            <a:endParaRPr lang="zh-CN" altLang="en-US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1" name="矩形: 圆角 2062"/>
          <p:cNvSpPr/>
          <p:nvPr/>
        </p:nvSpPr>
        <p:spPr>
          <a:xfrm>
            <a:off x="3960495" y="3556000"/>
            <a:ext cx="4272280" cy="1115060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2" name="等腰三角形 61"/>
          <p:cNvSpPr/>
          <p:nvPr/>
        </p:nvSpPr>
        <p:spPr>
          <a:xfrm>
            <a:off x="3866515" y="1101725"/>
            <a:ext cx="4479925" cy="869950"/>
          </a:xfrm>
          <a:prstGeom prst="triangle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16200000" scaled="1"/>
          </a:gradFill>
          <a:ln>
            <a:noFill/>
          </a:ln>
          <a:effectLst>
            <a:innerShdw blurRad="1143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内容占位符 20"/>
          <p:cNvSpPr txBox="1"/>
          <p:nvPr/>
        </p:nvSpPr>
        <p:spPr>
          <a:xfrm>
            <a:off x="5158740" y="2070100"/>
            <a:ext cx="2115185" cy="247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0"/>
                </a:gradFill>
                <a:cs typeface="微软雅黑" panose="020B0503020204020204" charset="-122"/>
              </a:rPr>
              <a:t>新零售模型下会员体系框架</a:t>
            </a:r>
            <a:endParaRPr lang="zh-CN" altLang="en-US" sz="1200" b="1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0"/>
              </a:gradFill>
              <a:cs typeface="微软雅黑" panose="020B0503020204020204" charset="-122"/>
            </a:endParaRPr>
          </a:p>
        </p:txBody>
      </p:sp>
      <p:sp>
        <p:nvSpPr>
          <p:cNvPr id="75" name="Rectangle: Top Corners Rounded 32"/>
          <p:cNvSpPr>
            <a:spLocks noChangeAspect="1"/>
          </p:cNvSpPr>
          <p:nvPr/>
        </p:nvSpPr>
        <p:spPr>
          <a:xfrm>
            <a:off x="5862955" y="2586355"/>
            <a:ext cx="685165" cy="68707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76" name="Rectangle: Top Corners Rounded 32"/>
          <p:cNvSpPr>
            <a:spLocks noChangeAspect="1"/>
          </p:cNvSpPr>
          <p:nvPr/>
        </p:nvSpPr>
        <p:spPr>
          <a:xfrm>
            <a:off x="7306310" y="2586355"/>
            <a:ext cx="685165" cy="68707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137" name="箭头: 下 47"/>
          <p:cNvSpPr/>
          <p:nvPr/>
        </p:nvSpPr>
        <p:spPr>
          <a:xfrm rot="5400000" flipH="1" flipV="1">
            <a:off x="3212465" y="3206750"/>
            <a:ext cx="473075" cy="638810"/>
          </a:xfrm>
          <a:custGeom>
            <a:avLst/>
            <a:gdLst>
              <a:gd name="connsiteX0" fmla="*/ 0 w 1222513"/>
              <a:gd name="connsiteY0" fmla="*/ 1515718 h 2126974"/>
              <a:gd name="connsiteX1" fmla="*/ 305628 w 1222513"/>
              <a:gd name="connsiteY1" fmla="*/ 1515718 h 2126974"/>
              <a:gd name="connsiteX2" fmla="*/ 305628 w 1222513"/>
              <a:gd name="connsiteY2" fmla="*/ 0 h 2126974"/>
              <a:gd name="connsiteX3" fmla="*/ 916885 w 1222513"/>
              <a:gd name="connsiteY3" fmla="*/ 0 h 2126974"/>
              <a:gd name="connsiteX4" fmla="*/ 916885 w 1222513"/>
              <a:gd name="connsiteY4" fmla="*/ 1515718 h 2126974"/>
              <a:gd name="connsiteX5" fmla="*/ 1222513 w 1222513"/>
              <a:gd name="connsiteY5" fmla="*/ 1515718 h 2126974"/>
              <a:gd name="connsiteX6" fmla="*/ 611257 w 1222513"/>
              <a:gd name="connsiteY6" fmla="*/ 2126974 h 2126974"/>
              <a:gd name="connsiteX7" fmla="*/ 0 w 1222513"/>
              <a:gd name="connsiteY7" fmla="*/ 1515718 h 2126974"/>
              <a:gd name="connsiteX0-1" fmla="*/ 101875 w 1324388"/>
              <a:gd name="connsiteY0-2" fmla="*/ 1545534 h 2156790"/>
              <a:gd name="connsiteX1-3" fmla="*/ 407503 w 1324388"/>
              <a:gd name="connsiteY1-4" fmla="*/ 1545534 h 2156790"/>
              <a:gd name="connsiteX2-5" fmla="*/ 0 w 1324388"/>
              <a:gd name="connsiteY2-6" fmla="*/ 0 h 2156790"/>
              <a:gd name="connsiteX3-7" fmla="*/ 1018760 w 1324388"/>
              <a:gd name="connsiteY3-8" fmla="*/ 29816 h 2156790"/>
              <a:gd name="connsiteX4-9" fmla="*/ 1018760 w 1324388"/>
              <a:gd name="connsiteY4-10" fmla="*/ 1545534 h 2156790"/>
              <a:gd name="connsiteX5-11" fmla="*/ 1324388 w 1324388"/>
              <a:gd name="connsiteY5-12" fmla="*/ 1545534 h 2156790"/>
              <a:gd name="connsiteX6-13" fmla="*/ 713132 w 1324388"/>
              <a:gd name="connsiteY6-14" fmla="*/ 2156790 h 2156790"/>
              <a:gd name="connsiteX7-15" fmla="*/ 101875 w 1324388"/>
              <a:gd name="connsiteY7-16" fmla="*/ 1545534 h 2156790"/>
              <a:gd name="connsiteX0-17" fmla="*/ 101875 w 1475960"/>
              <a:gd name="connsiteY0-18" fmla="*/ 1545535 h 2156791"/>
              <a:gd name="connsiteX1-19" fmla="*/ 407503 w 1475960"/>
              <a:gd name="connsiteY1-20" fmla="*/ 1545535 h 2156791"/>
              <a:gd name="connsiteX2-21" fmla="*/ 0 w 1475960"/>
              <a:gd name="connsiteY2-22" fmla="*/ 1 h 2156791"/>
              <a:gd name="connsiteX3-23" fmla="*/ 1475960 w 1475960"/>
              <a:gd name="connsiteY3-24" fmla="*/ 0 h 2156791"/>
              <a:gd name="connsiteX4-25" fmla="*/ 1018760 w 1475960"/>
              <a:gd name="connsiteY4-26" fmla="*/ 1545535 h 2156791"/>
              <a:gd name="connsiteX5-27" fmla="*/ 1324388 w 1475960"/>
              <a:gd name="connsiteY5-28" fmla="*/ 1545535 h 2156791"/>
              <a:gd name="connsiteX6-29" fmla="*/ 713132 w 1475960"/>
              <a:gd name="connsiteY6-30" fmla="*/ 2156791 h 2156791"/>
              <a:gd name="connsiteX7-31" fmla="*/ 101875 w 1475960"/>
              <a:gd name="connsiteY7-32" fmla="*/ 1545535 h 2156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475960" h="2156791">
                <a:moveTo>
                  <a:pt x="101875" y="1545535"/>
                </a:moveTo>
                <a:lnTo>
                  <a:pt x="407503" y="1545535"/>
                </a:lnTo>
                <a:lnTo>
                  <a:pt x="0" y="1"/>
                </a:lnTo>
                <a:lnTo>
                  <a:pt x="1475960" y="0"/>
                </a:lnTo>
                <a:lnTo>
                  <a:pt x="1018760" y="1545535"/>
                </a:lnTo>
                <a:lnTo>
                  <a:pt x="1324388" y="1545535"/>
                </a:lnTo>
                <a:lnTo>
                  <a:pt x="713132" y="2156791"/>
                </a:lnTo>
                <a:lnTo>
                  <a:pt x="101875" y="1545535"/>
                </a:lnTo>
                <a:close/>
              </a:path>
            </a:pathLst>
          </a:cu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8" name="箭头: 下 47"/>
          <p:cNvSpPr/>
          <p:nvPr/>
        </p:nvSpPr>
        <p:spPr>
          <a:xfrm rot="16200000" flipV="1">
            <a:off x="8513445" y="3206750"/>
            <a:ext cx="473075" cy="638810"/>
          </a:xfrm>
          <a:custGeom>
            <a:avLst/>
            <a:gdLst>
              <a:gd name="connsiteX0" fmla="*/ 0 w 1222513"/>
              <a:gd name="connsiteY0" fmla="*/ 1515718 h 2126974"/>
              <a:gd name="connsiteX1" fmla="*/ 305628 w 1222513"/>
              <a:gd name="connsiteY1" fmla="*/ 1515718 h 2126974"/>
              <a:gd name="connsiteX2" fmla="*/ 305628 w 1222513"/>
              <a:gd name="connsiteY2" fmla="*/ 0 h 2126974"/>
              <a:gd name="connsiteX3" fmla="*/ 916885 w 1222513"/>
              <a:gd name="connsiteY3" fmla="*/ 0 h 2126974"/>
              <a:gd name="connsiteX4" fmla="*/ 916885 w 1222513"/>
              <a:gd name="connsiteY4" fmla="*/ 1515718 h 2126974"/>
              <a:gd name="connsiteX5" fmla="*/ 1222513 w 1222513"/>
              <a:gd name="connsiteY5" fmla="*/ 1515718 h 2126974"/>
              <a:gd name="connsiteX6" fmla="*/ 611257 w 1222513"/>
              <a:gd name="connsiteY6" fmla="*/ 2126974 h 2126974"/>
              <a:gd name="connsiteX7" fmla="*/ 0 w 1222513"/>
              <a:gd name="connsiteY7" fmla="*/ 1515718 h 2126974"/>
              <a:gd name="connsiteX0-1" fmla="*/ 101875 w 1324388"/>
              <a:gd name="connsiteY0-2" fmla="*/ 1545534 h 2156790"/>
              <a:gd name="connsiteX1-3" fmla="*/ 407503 w 1324388"/>
              <a:gd name="connsiteY1-4" fmla="*/ 1545534 h 2156790"/>
              <a:gd name="connsiteX2-5" fmla="*/ 0 w 1324388"/>
              <a:gd name="connsiteY2-6" fmla="*/ 0 h 2156790"/>
              <a:gd name="connsiteX3-7" fmla="*/ 1018760 w 1324388"/>
              <a:gd name="connsiteY3-8" fmla="*/ 29816 h 2156790"/>
              <a:gd name="connsiteX4-9" fmla="*/ 1018760 w 1324388"/>
              <a:gd name="connsiteY4-10" fmla="*/ 1545534 h 2156790"/>
              <a:gd name="connsiteX5-11" fmla="*/ 1324388 w 1324388"/>
              <a:gd name="connsiteY5-12" fmla="*/ 1545534 h 2156790"/>
              <a:gd name="connsiteX6-13" fmla="*/ 713132 w 1324388"/>
              <a:gd name="connsiteY6-14" fmla="*/ 2156790 h 2156790"/>
              <a:gd name="connsiteX7-15" fmla="*/ 101875 w 1324388"/>
              <a:gd name="connsiteY7-16" fmla="*/ 1545534 h 2156790"/>
              <a:gd name="connsiteX0-17" fmla="*/ 101875 w 1475960"/>
              <a:gd name="connsiteY0-18" fmla="*/ 1545535 h 2156791"/>
              <a:gd name="connsiteX1-19" fmla="*/ 407503 w 1475960"/>
              <a:gd name="connsiteY1-20" fmla="*/ 1545535 h 2156791"/>
              <a:gd name="connsiteX2-21" fmla="*/ 0 w 1475960"/>
              <a:gd name="connsiteY2-22" fmla="*/ 1 h 2156791"/>
              <a:gd name="connsiteX3-23" fmla="*/ 1475960 w 1475960"/>
              <a:gd name="connsiteY3-24" fmla="*/ 0 h 2156791"/>
              <a:gd name="connsiteX4-25" fmla="*/ 1018760 w 1475960"/>
              <a:gd name="connsiteY4-26" fmla="*/ 1545535 h 2156791"/>
              <a:gd name="connsiteX5-27" fmla="*/ 1324388 w 1475960"/>
              <a:gd name="connsiteY5-28" fmla="*/ 1545535 h 2156791"/>
              <a:gd name="connsiteX6-29" fmla="*/ 713132 w 1475960"/>
              <a:gd name="connsiteY6-30" fmla="*/ 2156791 h 2156791"/>
              <a:gd name="connsiteX7-31" fmla="*/ 101875 w 1475960"/>
              <a:gd name="connsiteY7-32" fmla="*/ 1545535 h 2156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475960" h="2156791">
                <a:moveTo>
                  <a:pt x="101875" y="1545535"/>
                </a:moveTo>
                <a:lnTo>
                  <a:pt x="407503" y="1545535"/>
                </a:lnTo>
                <a:lnTo>
                  <a:pt x="0" y="1"/>
                </a:lnTo>
                <a:lnTo>
                  <a:pt x="1475960" y="0"/>
                </a:lnTo>
                <a:lnTo>
                  <a:pt x="1018760" y="1545535"/>
                </a:lnTo>
                <a:lnTo>
                  <a:pt x="1324388" y="1545535"/>
                </a:lnTo>
                <a:lnTo>
                  <a:pt x="713132" y="2156791"/>
                </a:lnTo>
                <a:lnTo>
                  <a:pt x="101875" y="1545535"/>
                </a:lnTo>
                <a:close/>
              </a:path>
            </a:pathLst>
          </a:custGeom>
          <a:gradFill>
            <a:gsLst>
              <a:gs pos="14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8347075" y="2560955"/>
            <a:ext cx="813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公域全域全渠道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一体运营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3014345" y="2806065"/>
            <a:ext cx="930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人货场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精准匹配</a:t>
            </a:r>
            <a:endParaRPr 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4" name="连接符: 肘形 263"/>
          <p:cNvCxnSpPr/>
          <p:nvPr/>
        </p:nvCxnSpPr>
        <p:spPr>
          <a:xfrm>
            <a:off x="1847850" y="5509260"/>
            <a:ext cx="1991360" cy="129540"/>
          </a:xfrm>
          <a:prstGeom prst="bentConnector3">
            <a:avLst>
              <a:gd name="adj1" fmla="val -446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263"/>
          <p:cNvCxnSpPr/>
          <p:nvPr/>
        </p:nvCxnSpPr>
        <p:spPr>
          <a:xfrm flipH="1">
            <a:off x="8342630" y="5509260"/>
            <a:ext cx="1991360" cy="129540"/>
          </a:xfrm>
          <a:prstGeom prst="bentConnector3">
            <a:avLst>
              <a:gd name="adj1" fmla="val -446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2591435" y="5652135"/>
            <a:ext cx="9309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数据互通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8424545" y="5652135"/>
            <a:ext cx="24041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站内站外数据持续接入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4" name="直接箭头连接符 163"/>
          <p:cNvCxnSpPr/>
          <p:nvPr/>
        </p:nvCxnSpPr>
        <p:spPr>
          <a:xfrm flipV="1">
            <a:off x="4953000" y="4822825"/>
            <a:ext cx="0" cy="271780"/>
          </a:xfrm>
          <a:prstGeom prst="straightConnector1">
            <a:avLst/>
          </a:prstGeom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7" name="文本框 166"/>
          <p:cNvSpPr txBox="1"/>
          <p:nvPr/>
        </p:nvSpPr>
        <p:spPr>
          <a:xfrm>
            <a:off x="4935220" y="4822825"/>
            <a:ext cx="9309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策略输出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5110480" y="1310005"/>
            <a:ext cx="1931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</a:t>
            </a:r>
            <a:endParaRPr lang="zh-CN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会员管理体系</a:t>
            </a:r>
            <a:endParaRPr lang="zh-CN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加号 184"/>
          <p:cNvSpPr/>
          <p:nvPr/>
        </p:nvSpPr>
        <p:spPr>
          <a:xfrm>
            <a:off x="6680200" y="2661285"/>
            <a:ext cx="504825" cy="504825"/>
          </a:xfrm>
          <a:prstGeom prst="mathPlus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6" name="Rectangle: Top Corners Rounded 32"/>
          <p:cNvSpPr>
            <a:spLocks noChangeAspect="1"/>
          </p:cNvSpPr>
          <p:nvPr/>
        </p:nvSpPr>
        <p:spPr>
          <a:xfrm>
            <a:off x="4423410" y="2673985"/>
            <a:ext cx="490220" cy="492125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cxnSp>
        <p:nvCxnSpPr>
          <p:cNvPr id="191" name="直接连接符 190"/>
          <p:cNvCxnSpPr/>
          <p:nvPr/>
        </p:nvCxnSpPr>
        <p:spPr>
          <a:xfrm>
            <a:off x="6113145" y="3716655"/>
            <a:ext cx="0" cy="525780"/>
          </a:xfrm>
          <a:prstGeom prst="line">
            <a:avLst/>
          </a:prstGeom>
          <a:ln w="31750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1620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>
            <a:off x="4756785" y="4819650"/>
            <a:ext cx="0" cy="271780"/>
          </a:xfrm>
          <a:prstGeom prst="straightConnector1">
            <a:avLst/>
          </a:prstGeom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V="1">
            <a:off x="7411085" y="4819015"/>
            <a:ext cx="0" cy="271780"/>
          </a:xfrm>
          <a:prstGeom prst="straightConnector1">
            <a:avLst/>
          </a:prstGeom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7" name="文本框 256"/>
          <p:cNvSpPr txBox="1"/>
          <p:nvPr/>
        </p:nvSpPr>
        <p:spPr>
          <a:xfrm>
            <a:off x="7362190" y="4822825"/>
            <a:ext cx="9309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服务输出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8" name="直接箭头连接符 257"/>
          <p:cNvCxnSpPr/>
          <p:nvPr/>
        </p:nvCxnSpPr>
        <p:spPr>
          <a:xfrm>
            <a:off x="7214870" y="4815840"/>
            <a:ext cx="0" cy="271780"/>
          </a:xfrm>
          <a:prstGeom prst="straightConnector1">
            <a:avLst/>
          </a:prstGeom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16200000" scaled="1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9" name="文本框 258"/>
          <p:cNvSpPr txBox="1"/>
          <p:nvPr/>
        </p:nvSpPr>
        <p:spPr>
          <a:xfrm>
            <a:off x="6376035" y="4822825"/>
            <a:ext cx="9309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数据输入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10280" y="6055360"/>
            <a:ext cx="5155565" cy="624205"/>
            <a:chOff x="369" y="11026"/>
            <a:chExt cx="18282" cy="1334"/>
          </a:xfrm>
        </p:grpSpPr>
        <p:sp>
          <p:nvSpPr>
            <p:cNvPr id="2" name="子陵职场PPT1"/>
            <p:cNvSpPr/>
            <p:nvPr/>
          </p:nvSpPr>
          <p:spPr>
            <a:xfrm>
              <a:off x="369" y="11026"/>
              <a:ext cx="18279" cy="299"/>
            </a:xfrm>
            <a:prstGeom prst="trapezoid">
              <a:avLst>
                <a:gd name="adj" fmla="val 164557"/>
              </a:avLst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微软雅黑" panose="020B0503020204020204" charset="-122"/>
              </a:endParaRPr>
            </a:p>
          </p:txBody>
        </p:sp>
        <p:sp>
          <p:nvSpPr>
            <p:cNvPr id="3" name="子陵职场PPT2"/>
            <p:cNvSpPr/>
            <p:nvPr/>
          </p:nvSpPr>
          <p:spPr>
            <a:xfrm>
              <a:off x="369" y="11324"/>
              <a:ext cx="18282" cy="1036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254000" dist="114300" dir="5400000" sx="99000" sy="99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2" name="任意多边形 31"/>
          <p:cNvSpPr>
            <a:spLocks noChangeAspect="1"/>
          </p:cNvSpPr>
          <p:nvPr/>
        </p:nvSpPr>
        <p:spPr>
          <a:xfrm rot="4396374" flipH="1" flipV="1">
            <a:off x="4761230" y="5718810"/>
            <a:ext cx="413385" cy="534035"/>
          </a:xfrm>
          <a:custGeom>
            <a:avLst/>
            <a:gdLst>
              <a:gd name="adj1" fmla="val 16310"/>
              <a:gd name="adj2" fmla="val 31370"/>
              <a:gd name="a1" fmla="pin 1 adj1 75000"/>
              <a:gd name="maxAdj2" fmla="*/ 70000 w ss"/>
              <a:gd name="a2" fmla="pin 0 adj2 maxAdj2"/>
              <a:gd name="ad1" fmla="*/ h a1 100000"/>
              <a:gd name="ad2" fmla="*/ ss a2 100000"/>
              <a:gd name="xB" fmla="+- r 0 ad2"/>
              <a:gd name="yB" fmla="+- t ssd8 0"/>
              <a:gd name="alfa" fmla="*/ cd4 1 14"/>
              <a:gd name="dx0" fmla="tan ssd8 alfa"/>
              <a:gd name="xC" fmla="+- xB 0 dx0"/>
              <a:gd name="dx1" fmla="tan ad1 alfa"/>
              <a:gd name="yF" fmla="+- yB ad1 0"/>
              <a:gd name="xF" fmla="+- xB dx1 0"/>
              <a:gd name="xE" fmla="+- xF dx0 0"/>
              <a:gd name="yE" fmla="+- yF ssd8 0"/>
              <a:gd name="dy2" fmla="+- yE 0 t"/>
              <a:gd name="dy22" fmla="*/ dy2 1 2"/>
              <a:gd name="dy3" fmla="*/ h 1 20"/>
              <a:gd name="yD" fmla="+- t dy22 dy3"/>
              <a:gd name="dy4" fmla="*/ hd6 1 1"/>
              <a:gd name="yP1" fmla="+- hd6 dy4 0"/>
              <a:gd name="xP1" fmla="val wd6"/>
              <a:gd name="dy5" fmla="*/ hd6 1 2"/>
              <a:gd name="yP2" fmla="+- yF dy5 0"/>
              <a:gd name="xP2" fmla="val wd4"/>
            </a:gdLst>
            <a:ahLst/>
            <a:cxnLst>
              <a:cxn ang="cd4">
                <a:pos x="l" y="b"/>
              </a:cxn>
              <a:cxn ang="3">
                <a:pos x="xC" y="t"/>
              </a:cxn>
              <a:cxn ang="0">
                <a:pos x="r" y="yD"/>
              </a:cxn>
              <a:cxn ang="cd4">
                <a:pos x="xE" y="yE"/>
              </a:cxn>
            </a:cxnLst>
            <a:rect l="l" t="t" r="r" b="b"/>
            <a:pathLst>
              <a:path w="651" h="841">
                <a:moveTo>
                  <a:pt x="0" y="841"/>
                </a:moveTo>
                <a:cubicBezTo>
                  <a:pt x="66" y="465"/>
                  <a:pt x="240" y="198"/>
                  <a:pt x="447" y="81"/>
                </a:cubicBezTo>
                <a:lnTo>
                  <a:pt x="438" y="0"/>
                </a:lnTo>
                <a:lnTo>
                  <a:pt x="651" y="108"/>
                </a:lnTo>
                <a:lnTo>
                  <a:pt x="471" y="300"/>
                </a:lnTo>
                <a:lnTo>
                  <a:pt x="462" y="219"/>
                </a:lnTo>
                <a:cubicBezTo>
                  <a:pt x="263" y="254"/>
                  <a:pt x="97" y="503"/>
                  <a:pt x="0" y="84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 dirty="0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33" name="形状 32"/>
          <p:cNvSpPr>
            <a:spLocks noChangeAspect="1"/>
          </p:cNvSpPr>
          <p:nvPr/>
        </p:nvSpPr>
        <p:spPr>
          <a:xfrm rot="17203626" flipV="1">
            <a:off x="6751955" y="5718810"/>
            <a:ext cx="413385" cy="534035"/>
          </a:xfrm>
          <a:prstGeom prst="swooshArrow">
            <a:avLst>
              <a:gd name="adj1" fmla="val 16310"/>
              <a:gd name="adj2" fmla="val 3137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610225" y="6314440"/>
            <a:ext cx="9309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跨界生态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880485" y="6333490"/>
            <a:ext cx="355600" cy="275590"/>
            <a:chOff x="6075" y="10082"/>
            <a:chExt cx="560" cy="434"/>
          </a:xfrm>
        </p:grpSpPr>
        <p:sp>
          <p:nvSpPr>
            <p:cNvPr id="36" name="椭圆 35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75" y="10082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航空</a:t>
              </a:r>
              <a:endParaRPr lang="zh-CN" altLang="en-US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公司</a:t>
              </a:r>
              <a:endParaRPr lang="zh-CN" altLang="en-US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4316095" y="6258560"/>
            <a:ext cx="355600" cy="275590"/>
            <a:chOff x="6075" y="10070"/>
            <a:chExt cx="560" cy="434"/>
          </a:xfrm>
        </p:grpSpPr>
        <p:sp>
          <p:nvSpPr>
            <p:cNvPr id="78" name="椭圆 77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LV</a:t>
              </a:r>
              <a:endParaRPr lang="en-US" alt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联名</a:t>
              </a:r>
              <a:endParaRPr lang="zh-CN" altLang="en-US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4751705" y="6350635"/>
            <a:ext cx="355600" cy="275590"/>
            <a:chOff x="6075" y="10070"/>
            <a:chExt cx="560" cy="434"/>
          </a:xfrm>
        </p:grpSpPr>
        <p:sp>
          <p:nvSpPr>
            <p:cNvPr id="87" name="椭圆 86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招商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银行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187315" y="6315710"/>
            <a:ext cx="355600" cy="275590"/>
            <a:chOff x="6075" y="10070"/>
            <a:chExt cx="560" cy="434"/>
          </a:xfrm>
        </p:grpSpPr>
        <p:sp>
          <p:nvSpPr>
            <p:cNvPr id="90" name="椭圆 89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山姆会员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05905" y="6304280"/>
            <a:ext cx="355600" cy="275590"/>
            <a:chOff x="6075" y="10070"/>
            <a:chExt cx="560" cy="434"/>
          </a:xfrm>
        </p:grpSpPr>
        <p:sp>
          <p:nvSpPr>
            <p:cNvPr id="106" name="椭圆 105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五星酒店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026275" y="6258560"/>
            <a:ext cx="355600" cy="275590"/>
            <a:chOff x="6075" y="10070"/>
            <a:chExt cx="560" cy="434"/>
          </a:xfrm>
        </p:grpSpPr>
        <p:sp>
          <p:nvSpPr>
            <p:cNvPr id="109" name="椭圆 108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大众点评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446645" y="6339205"/>
            <a:ext cx="355600" cy="275590"/>
            <a:chOff x="6075" y="10070"/>
            <a:chExt cx="560" cy="434"/>
          </a:xfrm>
        </p:grpSpPr>
        <p:sp>
          <p:nvSpPr>
            <p:cNvPr id="113" name="椭圆 112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加油站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7867015" y="6277610"/>
            <a:ext cx="355600" cy="275590"/>
            <a:chOff x="6075" y="10070"/>
            <a:chExt cx="560" cy="434"/>
          </a:xfrm>
        </p:grpSpPr>
        <p:sp>
          <p:nvSpPr>
            <p:cNvPr id="119" name="椭圆 118"/>
            <p:cNvSpPr/>
            <p:nvPr/>
          </p:nvSpPr>
          <p:spPr>
            <a:xfrm>
              <a:off x="6165" y="10101"/>
              <a:ext cx="385" cy="385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12700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glow rad="63500">
                <a:schemeClr val="accent1">
                  <a:lumMod val="20000"/>
                  <a:lumOff val="80000"/>
                  <a:alpha val="40000"/>
                </a:schemeClr>
              </a:glo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glow>
                    <a:schemeClr val="accent2">
                      <a:lumMod val="20000"/>
                      <a:lumOff val="80000"/>
                      <a:alpha val="100000"/>
                    </a:schemeClr>
                  </a:glow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075" y="10070"/>
              <a:ext cx="56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60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高端会所</a:t>
              </a:r>
              <a:endParaRPr lang="zh-CN" sz="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9" name="子陵职场PPT19"/>
          <p:cNvSpPr/>
          <p:nvPr>
            <p:custDataLst>
              <p:tags r:id="rId3"/>
            </p:custDataLst>
          </p:nvPr>
        </p:nvSpPr>
        <p:spPr>
          <a:xfrm flipH="1">
            <a:off x="4953000" y="2070100"/>
            <a:ext cx="241300" cy="24130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1" name="内容占位符 20"/>
          <p:cNvSpPr txBox="1"/>
          <p:nvPr/>
        </p:nvSpPr>
        <p:spPr>
          <a:xfrm>
            <a:off x="5176520" y="4386580"/>
            <a:ext cx="2115185" cy="247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0"/>
                </a:gradFill>
                <a:cs typeface="微软雅黑" panose="020B0503020204020204" charset="-122"/>
              </a:rPr>
              <a:t>会员的深度连接与价值沉淀</a:t>
            </a:r>
            <a:endParaRPr lang="zh-CN" altLang="en-US" sz="1200" b="1" dirty="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0"/>
              </a:gradFill>
              <a:cs typeface="微软雅黑" panose="020B0503020204020204" charset="-122"/>
            </a:endParaRPr>
          </a:p>
        </p:txBody>
      </p:sp>
      <p:sp>
        <p:nvSpPr>
          <p:cNvPr id="132" name="子陵职场PPT19"/>
          <p:cNvSpPr/>
          <p:nvPr>
            <p:custDataLst>
              <p:tags r:id="rId4"/>
            </p:custDataLst>
          </p:nvPr>
        </p:nvSpPr>
        <p:spPr>
          <a:xfrm flipH="1">
            <a:off x="4970780" y="4386580"/>
            <a:ext cx="241300" cy="24130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5833110" y="2699703"/>
            <a:ext cx="744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全员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7276465" y="2699703"/>
            <a:ext cx="744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全渠道整合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286885" y="2714943"/>
            <a:ext cx="744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人货</a:t>
            </a:r>
            <a:endParaRPr lang="zh-CN" altLang="en-US" sz="1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endParaRPr lang="zh-CN" altLang="en-US" sz="1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4106521" y="2370412"/>
            <a:ext cx="1220952" cy="1108491"/>
            <a:chOff x="18793" y="6794"/>
            <a:chExt cx="2210" cy="2006"/>
          </a:xfrm>
        </p:grpSpPr>
        <p:sp>
          <p:nvSpPr>
            <p:cNvPr id="143" name="子陵职场PPT9"/>
            <p:cNvSpPr txBox="1"/>
            <p:nvPr/>
          </p:nvSpPr>
          <p:spPr>
            <a:xfrm>
              <a:off x="18864" y="8223"/>
              <a:ext cx="845" cy="57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80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物流送达</a:t>
              </a:r>
              <a:endParaRPr lang="zh-CN" altLang="en-US" sz="8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5" name="子陵职场PPT10"/>
            <p:cNvSpPr txBox="1"/>
            <p:nvPr/>
          </p:nvSpPr>
          <p:spPr>
            <a:xfrm>
              <a:off x="18793" y="6921"/>
              <a:ext cx="845" cy="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80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货品供给</a:t>
              </a:r>
              <a:endParaRPr lang="zh-CN" altLang="en-US" sz="8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6" name="子陵职场PPT11"/>
            <p:cNvSpPr txBox="1"/>
            <p:nvPr/>
          </p:nvSpPr>
          <p:spPr>
            <a:xfrm>
              <a:off x="20064" y="6794"/>
              <a:ext cx="939" cy="6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80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购买</a:t>
              </a:r>
              <a:endParaRPr lang="zh-CN" altLang="en-US" sz="8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80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场景</a:t>
              </a:r>
              <a:endParaRPr lang="zh-CN" altLang="en-US" sz="8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7" name="子陵职场PPT12"/>
            <p:cNvSpPr txBox="1"/>
            <p:nvPr/>
          </p:nvSpPr>
          <p:spPr>
            <a:xfrm>
              <a:off x="20127" y="8131"/>
              <a:ext cx="774" cy="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buClrTx/>
                <a:buSzTx/>
                <a:buFontTx/>
              </a:pPr>
              <a:r>
                <a:rPr lang="zh-CN" altLang="en-US" sz="80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人货匹配</a:t>
              </a:r>
              <a:endParaRPr lang="zh-CN" altLang="en-US" sz="8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9" name="子陵职场PPT13-1"/>
            <p:cNvSpPr/>
            <p:nvPr>
              <p:custDataLst>
                <p:tags r:id="rId5"/>
              </p:custDataLst>
            </p:nvPr>
          </p:nvSpPr>
          <p:spPr>
            <a:xfrm rot="21180000" flipH="1">
              <a:off x="19038" y="6951"/>
              <a:ext cx="1510" cy="1510"/>
            </a:xfrm>
            <a:prstGeom prst="arc">
              <a:avLst>
                <a:gd name="adj1" fmla="val 14146529"/>
                <a:gd name="adj2" fmla="val 0"/>
              </a:avLst>
            </a:prstGeom>
            <a:noFill/>
            <a:ln w="25400">
              <a:gradFill flip="none" rotWithShape="1">
                <a:gsLst>
                  <a:gs pos="0">
                    <a:schemeClr val="accent5"/>
                  </a:gs>
                  <a:gs pos="66000">
                    <a:schemeClr val="accent5">
                      <a:alpha val="0"/>
                    </a:schemeClr>
                  </a:gs>
                </a:gsLst>
                <a:lin ang="0" scaled="1"/>
                <a:tileRect/>
              </a:gradFill>
              <a:headEnd type="arrow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000">
                <a:solidFill>
                  <a:schemeClr val="tx2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1" name="子陵职场PPT13-3"/>
            <p:cNvSpPr/>
            <p:nvPr>
              <p:custDataLst>
                <p:tags r:id="rId6"/>
              </p:custDataLst>
            </p:nvPr>
          </p:nvSpPr>
          <p:spPr>
            <a:xfrm rot="4620000" flipH="1">
              <a:off x="19166" y="7071"/>
              <a:ext cx="1510" cy="1510"/>
            </a:xfrm>
            <a:prstGeom prst="arc">
              <a:avLst>
                <a:gd name="adj1" fmla="val 14146529"/>
                <a:gd name="adj2" fmla="val 0"/>
              </a:avLst>
            </a:prstGeom>
            <a:noFill/>
            <a:ln w="25400">
              <a:gradFill flip="none" rotWithShape="1">
                <a:gsLst>
                  <a:gs pos="0">
                    <a:schemeClr val="accent5"/>
                  </a:gs>
                  <a:gs pos="66000">
                    <a:schemeClr val="accent5">
                      <a:alpha val="0"/>
                    </a:schemeClr>
                  </a:gs>
                </a:gsLst>
                <a:lin ang="0" scaled="1"/>
                <a:tileRect/>
              </a:gradFill>
              <a:headEnd type="arrow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>
                <a:solidFill>
                  <a:schemeClr val="tx2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2" name="子陵职场PPT13-4"/>
            <p:cNvSpPr/>
            <p:nvPr>
              <p:custDataLst>
                <p:tags r:id="rId7"/>
              </p:custDataLst>
            </p:nvPr>
          </p:nvSpPr>
          <p:spPr>
            <a:xfrm rot="10380000" flipH="1">
              <a:off x="19036" y="7155"/>
              <a:ext cx="1510" cy="1510"/>
            </a:xfrm>
            <a:prstGeom prst="arc">
              <a:avLst>
                <a:gd name="adj1" fmla="val 14146529"/>
                <a:gd name="adj2" fmla="val 0"/>
              </a:avLst>
            </a:prstGeom>
            <a:noFill/>
            <a:ln w="25400">
              <a:gradFill flip="none" rotWithShape="1">
                <a:gsLst>
                  <a:gs pos="0">
                    <a:schemeClr val="accent5"/>
                  </a:gs>
                  <a:gs pos="66000">
                    <a:schemeClr val="accent5">
                      <a:alpha val="0"/>
                    </a:schemeClr>
                  </a:gs>
                </a:gsLst>
                <a:lin ang="0" scaled="1"/>
                <a:tileRect/>
              </a:gradFill>
              <a:headEnd type="arrow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>
                <a:solidFill>
                  <a:schemeClr val="tx2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3" name="子陵职场PPT13-5"/>
            <p:cNvSpPr/>
            <p:nvPr>
              <p:custDataLst>
                <p:tags r:id="rId8"/>
              </p:custDataLst>
            </p:nvPr>
          </p:nvSpPr>
          <p:spPr>
            <a:xfrm rot="15720000" flipH="1">
              <a:off x="18962" y="7078"/>
              <a:ext cx="1510" cy="1510"/>
            </a:xfrm>
            <a:prstGeom prst="arc">
              <a:avLst>
                <a:gd name="adj1" fmla="val 14146529"/>
                <a:gd name="adj2" fmla="val 0"/>
              </a:avLst>
            </a:prstGeom>
            <a:noFill/>
            <a:ln w="25400">
              <a:gradFill flip="none" rotWithShape="1">
                <a:gsLst>
                  <a:gs pos="0">
                    <a:schemeClr val="accent5"/>
                  </a:gs>
                  <a:gs pos="66000">
                    <a:schemeClr val="accent5">
                      <a:alpha val="0"/>
                    </a:schemeClr>
                  </a:gs>
                </a:gsLst>
                <a:lin ang="0" scaled="1"/>
                <a:tileRect/>
              </a:gradFill>
              <a:headEnd type="arrow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>
                <a:solidFill>
                  <a:schemeClr val="tx2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68" name="子陵职场PPT18"/>
          <p:cNvSpPr/>
          <p:nvPr/>
        </p:nvSpPr>
        <p:spPr>
          <a:xfrm>
            <a:off x="5327650" y="2863850"/>
            <a:ext cx="438785" cy="228600"/>
          </a:xfrm>
          <a:prstGeom prst="left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50" name="组合 549"/>
          <p:cNvGrpSpPr/>
          <p:nvPr/>
        </p:nvGrpSpPr>
        <p:grpSpPr>
          <a:xfrm>
            <a:off x="3881120" y="5062220"/>
            <a:ext cx="2076450" cy="773430"/>
            <a:chOff x="6112" y="7972"/>
            <a:chExt cx="3270" cy="1218"/>
          </a:xfrm>
        </p:grpSpPr>
        <p:grpSp>
          <p:nvGrpSpPr>
            <p:cNvPr id="527" name="组合 526"/>
            <p:cNvGrpSpPr/>
            <p:nvPr/>
          </p:nvGrpSpPr>
          <p:grpSpPr>
            <a:xfrm>
              <a:off x="6112" y="7972"/>
              <a:ext cx="3271" cy="1218"/>
              <a:chOff x="14043" y="-655"/>
              <a:chExt cx="4787" cy="2037"/>
            </a:xfrm>
          </p:grpSpPr>
          <p:grpSp>
            <p:nvGrpSpPr>
              <p:cNvPr id="615" name="©显眼包PPT1"/>
              <p:cNvGrpSpPr/>
              <p:nvPr/>
            </p:nvGrpSpPr>
            <p:grpSpPr>
              <a:xfrm>
                <a:off x="14043" y="-655"/>
                <a:ext cx="4787" cy="2037"/>
                <a:chOff x="319048" y="2416431"/>
                <a:chExt cx="3039950" cy="1293557"/>
              </a:xfrm>
            </p:grpSpPr>
            <p:sp>
              <p:nvSpPr>
                <p:cNvPr id="502" name="©显眼包PPT1-1"/>
                <p:cNvSpPr/>
                <p:nvPr/>
              </p:nvSpPr>
              <p:spPr>
                <a:xfrm>
                  <a:off x="327668" y="2416431"/>
                  <a:ext cx="3031330" cy="116492"/>
                </a:xfrm>
                <a:prstGeom prst="parallelogram">
                  <a:avLst>
                    <a:gd name="adj" fmla="val 12586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03" name="©显眼包PPT1-2"/>
                <p:cNvSpPr/>
                <p:nvPr/>
              </p:nvSpPr>
              <p:spPr>
                <a:xfrm rot="16200000" flipH="1">
                  <a:off x="2632735" y="2993215"/>
                  <a:ext cx="1281110" cy="152435"/>
                </a:xfrm>
                <a:prstGeom prst="parallelogram">
                  <a:avLst>
                    <a:gd name="adj" fmla="val 77381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  <a:alpha val="60000"/>
                      </a:schemeClr>
                    </a:gs>
                    <a:gs pos="99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04" name="©显眼包PPT1-3"/>
                <p:cNvSpPr/>
                <p:nvPr/>
              </p:nvSpPr>
              <p:spPr>
                <a:xfrm flipH="1">
                  <a:off x="319048" y="2527300"/>
                  <a:ext cx="2901043" cy="1165353"/>
                </a:xfrm>
                <a:prstGeom prst="roundRect">
                  <a:avLst>
                    <a:gd name="adj" fmla="val 4679"/>
                  </a:avLst>
                </a:prstGeom>
                <a:solidFill>
                  <a:schemeClr val="bg1"/>
                </a:solidFill>
                <a:ln w="25400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526" name="©显眼包PPT2"/>
              <p:cNvSpPr/>
              <p:nvPr/>
            </p:nvSpPr>
            <p:spPr>
              <a:xfrm flipH="1">
                <a:off x="14734" y="-447"/>
                <a:ext cx="3188" cy="550"/>
              </a:xfrm>
              <a:custGeom>
                <a:avLst/>
                <a:gdLst>
                  <a:gd name="connsiteX0" fmla="*/ 718 w 1790049"/>
                  <a:gd name="connsiteY0" fmla="*/ 0 h 237380"/>
                  <a:gd name="connsiteX1" fmla="*/ 1789332 w 1790049"/>
                  <a:gd name="connsiteY1" fmla="*/ 0 h 237380"/>
                  <a:gd name="connsiteX2" fmla="*/ 1790049 w 1790049"/>
                  <a:gd name="connsiteY2" fmla="*/ 4297 h 237380"/>
                  <a:gd name="connsiteX3" fmla="*/ 1725074 w 1790049"/>
                  <a:gd name="connsiteY3" fmla="*/ 212122 h 237380"/>
                  <a:gd name="connsiteX4" fmla="*/ 1690714 w 1790049"/>
                  <a:gd name="connsiteY4" fmla="*/ 237380 h 237380"/>
                  <a:gd name="connsiteX5" fmla="*/ 99335 w 1790049"/>
                  <a:gd name="connsiteY5" fmla="*/ 237380 h 237380"/>
                  <a:gd name="connsiteX6" fmla="*/ 64975 w 1790049"/>
                  <a:gd name="connsiteY6" fmla="*/ 212122 h 237380"/>
                  <a:gd name="connsiteX7" fmla="*/ 0 w 1790049"/>
                  <a:gd name="connsiteY7" fmla="*/ 4297 h 237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0049" h="237380">
                    <a:moveTo>
                      <a:pt x="718" y="0"/>
                    </a:moveTo>
                    <a:lnTo>
                      <a:pt x="1789332" y="0"/>
                    </a:lnTo>
                    <a:lnTo>
                      <a:pt x="1790049" y="4297"/>
                    </a:lnTo>
                    <a:lnTo>
                      <a:pt x="1725074" y="212122"/>
                    </a:lnTo>
                    <a:cubicBezTo>
                      <a:pt x="1720376" y="227151"/>
                      <a:pt x="1706460" y="237380"/>
                      <a:pt x="1690714" y="237380"/>
                    </a:cubicBezTo>
                    <a:lnTo>
                      <a:pt x="99335" y="237380"/>
                    </a:lnTo>
                    <a:cubicBezTo>
                      <a:pt x="83589" y="237380"/>
                      <a:pt x="69673" y="227151"/>
                      <a:pt x="64975" y="212122"/>
                    </a:cubicBezTo>
                    <a:lnTo>
                      <a:pt x="0" y="429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CRM&amp;</a:t>
                </a:r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精准营销系统</a:t>
                </a:r>
                <a:endParaRPr lang="zh-CN" altLang="en-US" sz="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37" name="组合 536"/>
            <p:cNvGrpSpPr/>
            <p:nvPr/>
          </p:nvGrpSpPr>
          <p:grpSpPr>
            <a:xfrm>
              <a:off x="6183" y="8584"/>
              <a:ext cx="1035" cy="362"/>
              <a:chOff x="8146" y="8692"/>
              <a:chExt cx="1110" cy="362"/>
            </a:xfrm>
          </p:grpSpPr>
          <p:sp>
            <p:nvSpPr>
              <p:cNvPr id="534" name="圆角矩形 533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36" name="文本框 535"/>
              <p:cNvSpPr txBox="1"/>
              <p:nvPr/>
            </p:nvSpPr>
            <p:spPr>
              <a:xfrm>
                <a:off x="8146" y="8692"/>
                <a:ext cx="1110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360</a:t>
                </a:r>
                <a:r>
                  <a:rPr lang="zh-CN" altLang="en-US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画像</a:t>
                </a:r>
                <a:endParaRPr lang="zh-CN" altLang="en-US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38" name="组合 537"/>
            <p:cNvGrpSpPr/>
            <p:nvPr/>
          </p:nvGrpSpPr>
          <p:grpSpPr>
            <a:xfrm>
              <a:off x="7110" y="8584"/>
              <a:ext cx="1125" cy="362"/>
              <a:chOff x="8049" y="8692"/>
              <a:chExt cx="1207" cy="362"/>
            </a:xfrm>
          </p:grpSpPr>
          <p:sp>
            <p:nvSpPr>
              <p:cNvPr id="539" name="圆角矩形 538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40" name="文本框 539"/>
              <p:cNvSpPr txBox="1"/>
              <p:nvPr/>
            </p:nvSpPr>
            <p:spPr>
              <a:xfrm>
                <a:off x="8049" y="8692"/>
                <a:ext cx="1207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RFM</a:t>
                </a:r>
                <a:r>
                  <a:rPr lang="zh-CN" altLang="en-US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模型</a:t>
                </a:r>
                <a:endParaRPr lang="zh-CN" altLang="en-US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41" name="组合 540"/>
            <p:cNvGrpSpPr/>
            <p:nvPr/>
          </p:nvGrpSpPr>
          <p:grpSpPr>
            <a:xfrm>
              <a:off x="8217" y="8584"/>
              <a:ext cx="1035" cy="362"/>
              <a:chOff x="8146" y="8692"/>
              <a:chExt cx="1110" cy="362"/>
            </a:xfrm>
          </p:grpSpPr>
          <p:sp>
            <p:nvSpPr>
              <p:cNvPr id="542" name="圆角矩形 541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43" name="文本框 542"/>
              <p:cNvSpPr txBox="1"/>
              <p:nvPr/>
            </p:nvSpPr>
            <p:spPr>
              <a:xfrm>
                <a:off x="8146" y="8692"/>
                <a:ext cx="1110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产品推荐</a:t>
                </a:r>
                <a:endParaRPr lang="zh-CN" altLang="en-US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551" name="组合 550"/>
          <p:cNvGrpSpPr/>
          <p:nvPr/>
        </p:nvGrpSpPr>
        <p:grpSpPr>
          <a:xfrm>
            <a:off x="6320155" y="5062220"/>
            <a:ext cx="2076450" cy="773430"/>
            <a:chOff x="6112" y="7972"/>
            <a:chExt cx="3270" cy="1218"/>
          </a:xfrm>
        </p:grpSpPr>
        <p:grpSp>
          <p:nvGrpSpPr>
            <p:cNvPr id="552" name="组合 551"/>
            <p:cNvGrpSpPr/>
            <p:nvPr/>
          </p:nvGrpSpPr>
          <p:grpSpPr>
            <a:xfrm>
              <a:off x="6112" y="7972"/>
              <a:ext cx="3271" cy="1218"/>
              <a:chOff x="14043" y="-655"/>
              <a:chExt cx="4787" cy="2037"/>
            </a:xfrm>
          </p:grpSpPr>
          <p:grpSp>
            <p:nvGrpSpPr>
              <p:cNvPr id="553" name="©显眼包PPT1"/>
              <p:cNvGrpSpPr/>
              <p:nvPr/>
            </p:nvGrpSpPr>
            <p:grpSpPr>
              <a:xfrm>
                <a:off x="14043" y="-655"/>
                <a:ext cx="4787" cy="2037"/>
                <a:chOff x="319048" y="2416431"/>
                <a:chExt cx="3039950" cy="1293557"/>
              </a:xfrm>
            </p:grpSpPr>
            <p:sp>
              <p:nvSpPr>
                <p:cNvPr id="554" name="©显眼包PPT1-1"/>
                <p:cNvSpPr/>
                <p:nvPr/>
              </p:nvSpPr>
              <p:spPr>
                <a:xfrm>
                  <a:off x="327668" y="2416431"/>
                  <a:ext cx="3031330" cy="116492"/>
                </a:xfrm>
                <a:prstGeom prst="parallelogram">
                  <a:avLst>
                    <a:gd name="adj" fmla="val 125865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55" name="©显眼包PPT1-2"/>
                <p:cNvSpPr/>
                <p:nvPr/>
              </p:nvSpPr>
              <p:spPr>
                <a:xfrm rot="16200000" flipH="1">
                  <a:off x="2632735" y="2993215"/>
                  <a:ext cx="1281110" cy="152435"/>
                </a:xfrm>
                <a:prstGeom prst="parallelogram">
                  <a:avLst>
                    <a:gd name="adj" fmla="val 77381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  <a:alpha val="60000"/>
                      </a:schemeClr>
                    </a:gs>
                    <a:gs pos="99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556" name="©显眼包PPT1-3"/>
                <p:cNvSpPr/>
                <p:nvPr/>
              </p:nvSpPr>
              <p:spPr>
                <a:xfrm flipH="1">
                  <a:off x="319048" y="2527300"/>
                  <a:ext cx="2901043" cy="1165353"/>
                </a:xfrm>
                <a:prstGeom prst="roundRect">
                  <a:avLst>
                    <a:gd name="adj" fmla="val 4679"/>
                  </a:avLst>
                </a:prstGeom>
                <a:solidFill>
                  <a:schemeClr val="bg1"/>
                </a:solidFill>
                <a:ln w="25400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557" name="©显眼包PPT2"/>
              <p:cNvSpPr/>
              <p:nvPr/>
            </p:nvSpPr>
            <p:spPr>
              <a:xfrm flipH="1">
                <a:off x="14734" y="-447"/>
                <a:ext cx="3188" cy="550"/>
              </a:xfrm>
              <a:custGeom>
                <a:avLst/>
                <a:gdLst>
                  <a:gd name="connsiteX0" fmla="*/ 718 w 1790049"/>
                  <a:gd name="connsiteY0" fmla="*/ 0 h 237380"/>
                  <a:gd name="connsiteX1" fmla="*/ 1789332 w 1790049"/>
                  <a:gd name="connsiteY1" fmla="*/ 0 h 237380"/>
                  <a:gd name="connsiteX2" fmla="*/ 1790049 w 1790049"/>
                  <a:gd name="connsiteY2" fmla="*/ 4297 h 237380"/>
                  <a:gd name="connsiteX3" fmla="*/ 1725074 w 1790049"/>
                  <a:gd name="connsiteY3" fmla="*/ 212122 h 237380"/>
                  <a:gd name="connsiteX4" fmla="*/ 1690714 w 1790049"/>
                  <a:gd name="connsiteY4" fmla="*/ 237380 h 237380"/>
                  <a:gd name="connsiteX5" fmla="*/ 99335 w 1790049"/>
                  <a:gd name="connsiteY5" fmla="*/ 237380 h 237380"/>
                  <a:gd name="connsiteX6" fmla="*/ 64975 w 1790049"/>
                  <a:gd name="connsiteY6" fmla="*/ 212122 h 237380"/>
                  <a:gd name="connsiteX7" fmla="*/ 0 w 1790049"/>
                  <a:gd name="connsiteY7" fmla="*/ 4297 h 237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0049" h="237380">
                    <a:moveTo>
                      <a:pt x="718" y="0"/>
                    </a:moveTo>
                    <a:lnTo>
                      <a:pt x="1789332" y="0"/>
                    </a:lnTo>
                    <a:lnTo>
                      <a:pt x="1790049" y="4297"/>
                    </a:lnTo>
                    <a:lnTo>
                      <a:pt x="1725074" y="212122"/>
                    </a:lnTo>
                    <a:cubicBezTo>
                      <a:pt x="1720376" y="227151"/>
                      <a:pt x="1706460" y="237380"/>
                      <a:pt x="1690714" y="237380"/>
                    </a:cubicBezTo>
                    <a:lnTo>
                      <a:pt x="99335" y="237380"/>
                    </a:lnTo>
                    <a:cubicBezTo>
                      <a:pt x="83589" y="237380"/>
                      <a:pt x="69673" y="227151"/>
                      <a:pt x="64975" y="212122"/>
                    </a:cubicBezTo>
                    <a:lnTo>
                      <a:pt x="0" y="429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数据中台与</a:t>
                </a:r>
                <a:r>
                  <a:rPr lang="en-US" altLang="zh-CN" sz="8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CDP</a:t>
                </a:r>
                <a:r>
                  <a:rPr lang="zh-CN" altLang="en-US" sz="800" b="1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</a:t>
                </a:r>
                <a:endParaRPr lang="zh-CN" altLang="en-US" sz="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58" name="组合 557"/>
            <p:cNvGrpSpPr/>
            <p:nvPr/>
          </p:nvGrpSpPr>
          <p:grpSpPr>
            <a:xfrm>
              <a:off x="6183" y="8584"/>
              <a:ext cx="1035" cy="362"/>
              <a:chOff x="8146" y="8692"/>
              <a:chExt cx="1110" cy="362"/>
            </a:xfrm>
          </p:grpSpPr>
          <p:sp>
            <p:nvSpPr>
              <p:cNvPr id="559" name="圆角矩形 558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60" name="文本框 559"/>
              <p:cNvSpPr txBox="1"/>
              <p:nvPr/>
            </p:nvSpPr>
            <p:spPr>
              <a:xfrm>
                <a:off x="8146" y="8692"/>
                <a:ext cx="1110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全域数据</a:t>
                </a:r>
                <a:endParaRPr lang="zh-CN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61" name="组合 560"/>
            <p:cNvGrpSpPr/>
            <p:nvPr/>
          </p:nvGrpSpPr>
          <p:grpSpPr>
            <a:xfrm>
              <a:off x="7110" y="8584"/>
              <a:ext cx="1125" cy="362"/>
              <a:chOff x="8049" y="8692"/>
              <a:chExt cx="1207" cy="362"/>
            </a:xfrm>
          </p:grpSpPr>
          <p:sp>
            <p:nvSpPr>
              <p:cNvPr id="562" name="圆角矩形 561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63" name="文本框 562"/>
              <p:cNvSpPr txBox="1"/>
              <p:nvPr/>
            </p:nvSpPr>
            <p:spPr>
              <a:xfrm>
                <a:off x="8049" y="8692"/>
                <a:ext cx="1207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行为分析</a:t>
                </a:r>
                <a:endParaRPr lang="zh-CN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64" name="组合 563"/>
            <p:cNvGrpSpPr/>
            <p:nvPr/>
          </p:nvGrpSpPr>
          <p:grpSpPr>
            <a:xfrm>
              <a:off x="8217" y="8584"/>
              <a:ext cx="1035" cy="362"/>
              <a:chOff x="8146" y="8692"/>
              <a:chExt cx="1110" cy="362"/>
            </a:xfrm>
          </p:grpSpPr>
          <p:sp>
            <p:nvSpPr>
              <p:cNvPr id="565" name="圆角矩形 564"/>
              <p:cNvSpPr/>
              <p:nvPr/>
            </p:nvSpPr>
            <p:spPr>
              <a:xfrm>
                <a:off x="8173" y="8692"/>
                <a:ext cx="969" cy="34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 w="12700" cmpd="sng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</a:ln>
              <a:effectLst/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8755" tIns="49378" rIns="98755" bIns="49378" numCol="1" spcCol="0" rtlCol="0" fromWordArt="0" anchor="ctr" anchorCtr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566" name="文本框 565"/>
              <p:cNvSpPr txBox="1"/>
              <p:nvPr/>
            </p:nvSpPr>
            <p:spPr>
              <a:xfrm>
                <a:off x="8146" y="8692"/>
                <a:ext cx="1110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服务输出</a:t>
                </a:r>
                <a:endParaRPr lang="zh-CN" altLang="en-US" sz="9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583" name="显眼包PPT-1"/>
          <p:cNvSpPr/>
          <p:nvPr/>
        </p:nvSpPr>
        <p:spPr>
          <a:xfrm>
            <a:off x="4333240" y="3654425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企微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社群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584" name="显眼包PPT-1"/>
          <p:cNvSpPr/>
          <p:nvPr/>
        </p:nvSpPr>
        <p:spPr>
          <a:xfrm>
            <a:off x="4853940" y="3649980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品牌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en-US" altLang="zh-CN" sz="800" dirty="0">
                <a:solidFill>
                  <a:schemeClr val="tx2"/>
                </a:solidFill>
                <a:cs typeface="微软雅黑" panose="020B0503020204020204" charset="-122"/>
              </a:rPr>
              <a:t>APP</a:t>
            </a:r>
            <a:endParaRPr lang="en-US" altLang="zh-CN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585" name="显眼包PPT-1"/>
          <p:cNvSpPr/>
          <p:nvPr/>
        </p:nvSpPr>
        <p:spPr>
          <a:xfrm>
            <a:off x="4327525" y="3999230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微信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公众号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586" name="显眼包PPT-1"/>
          <p:cNvSpPr/>
          <p:nvPr/>
        </p:nvSpPr>
        <p:spPr>
          <a:xfrm>
            <a:off x="4859020" y="4001135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800" dirty="0">
                <a:solidFill>
                  <a:schemeClr val="tx2"/>
                </a:solidFill>
                <a:cs typeface="微软雅黑" panose="020B0503020204020204" charset="-122"/>
              </a:rPr>
              <a:t>线下</a:t>
            </a:r>
            <a:endParaRPr lang="zh-CN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zh-CN" sz="800" dirty="0">
                <a:solidFill>
                  <a:schemeClr val="tx2"/>
                </a:solidFill>
                <a:cs typeface="微软雅黑" panose="020B0503020204020204" charset="-122"/>
              </a:rPr>
              <a:t>导流</a:t>
            </a:r>
            <a:endParaRPr lang="zh-CN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587" name="显眼包PPT-1"/>
          <p:cNvSpPr/>
          <p:nvPr/>
        </p:nvSpPr>
        <p:spPr>
          <a:xfrm>
            <a:off x="5410200" y="3652520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800" dirty="0">
                <a:solidFill>
                  <a:schemeClr val="tx2"/>
                </a:solidFill>
                <a:cs typeface="微软雅黑" panose="020B0503020204020204" charset="-122"/>
              </a:rPr>
              <a:t>微信</a:t>
            </a:r>
            <a:endParaRPr lang="zh-CN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zh-CN" sz="800" dirty="0">
                <a:solidFill>
                  <a:schemeClr val="tx2"/>
                </a:solidFill>
                <a:cs typeface="微软雅黑" panose="020B0503020204020204" charset="-122"/>
              </a:rPr>
              <a:t>小程序</a:t>
            </a:r>
            <a:endParaRPr lang="zh-CN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588" name="显眼包PPT-1"/>
          <p:cNvSpPr/>
          <p:nvPr/>
        </p:nvSpPr>
        <p:spPr>
          <a:xfrm>
            <a:off x="5415280" y="4003675"/>
            <a:ext cx="424180" cy="281940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800" dirty="0">
                <a:solidFill>
                  <a:schemeClr val="tx2"/>
                </a:solidFill>
                <a:cs typeface="微软雅黑" panose="020B0503020204020204" charset="-122"/>
              </a:rPr>
              <a:t>VIP</a:t>
            </a:r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专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  <a:p>
            <a:pPr algn="ctr"/>
            <a:r>
              <a:rPr lang="zh-CN" altLang="en-US" sz="800" dirty="0">
                <a:solidFill>
                  <a:schemeClr val="tx2"/>
                </a:solidFill>
                <a:cs typeface="微软雅黑" panose="020B0503020204020204" charset="-122"/>
              </a:rPr>
              <a:t>属运营</a:t>
            </a:r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grpSp>
        <p:nvGrpSpPr>
          <p:cNvPr id="592" name="组合 591"/>
          <p:cNvGrpSpPr/>
          <p:nvPr/>
        </p:nvGrpSpPr>
        <p:grpSpPr>
          <a:xfrm>
            <a:off x="4008755" y="3649980"/>
            <a:ext cx="272415" cy="614680"/>
            <a:chOff x="6392" y="5910"/>
            <a:chExt cx="429" cy="968"/>
          </a:xfrm>
        </p:grpSpPr>
        <p:sp>
          <p:nvSpPr>
            <p:cNvPr id="590" name="内容占位符 20"/>
            <p:cNvSpPr txBox="1"/>
            <p:nvPr/>
          </p:nvSpPr>
          <p:spPr>
            <a:xfrm>
              <a:off x="6407" y="5910"/>
              <a:ext cx="414" cy="9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lumMod val="50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000" b="1" dirty="0">
                  <a:solidFill>
                    <a:schemeClr val="bg1"/>
                  </a:solidFill>
                  <a:effectLst/>
                  <a:cs typeface="微软雅黑" panose="020B0503020204020204" charset="-122"/>
                </a:rPr>
                <a:t>私域渠道</a:t>
              </a:r>
              <a:endParaRPr lang="zh-CN" sz="1000" b="1" dirty="0">
                <a:solidFill>
                  <a:schemeClr val="bg1"/>
                </a:solidFill>
                <a:effectLst/>
                <a:cs typeface="微软雅黑" panose="020B0503020204020204" charset="-122"/>
              </a:endParaRPr>
            </a:p>
          </p:txBody>
        </p:sp>
        <p:sp>
          <p:nvSpPr>
            <p:cNvPr id="591" name="内容占位符 20"/>
            <p:cNvSpPr txBox="1"/>
            <p:nvPr/>
          </p:nvSpPr>
          <p:spPr>
            <a:xfrm>
              <a:off x="6392" y="5920"/>
              <a:ext cx="414" cy="9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lumMod val="50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000" b="1" dirty="0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/>
                  <a:cs typeface="微软雅黑" panose="020B0503020204020204" charset="-122"/>
                </a:rPr>
                <a:t>私域渠道</a:t>
              </a:r>
              <a:endParaRPr lang="zh-CN" sz="1000" b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cs typeface="微软雅黑" panose="020B0503020204020204" charset="-122"/>
              </a:endParaRPr>
            </a:p>
          </p:txBody>
        </p:sp>
      </p:grpSp>
      <p:grpSp>
        <p:nvGrpSpPr>
          <p:cNvPr id="594" name="组合 593"/>
          <p:cNvGrpSpPr/>
          <p:nvPr/>
        </p:nvGrpSpPr>
        <p:grpSpPr>
          <a:xfrm>
            <a:off x="7861300" y="3649980"/>
            <a:ext cx="271780" cy="614045"/>
            <a:chOff x="6393" y="5910"/>
            <a:chExt cx="428" cy="967"/>
          </a:xfrm>
        </p:grpSpPr>
        <p:sp>
          <p:nvSpPr>
            <p:cNvPr id="595" name="内容占位符 20"/>
            <p:cNvSpPr txBox="1"/>
            <p:nvPr/>
          </p:nvSpPr>
          <p:spPr>
            <a:xfrm>
              <a:off x="6407" y="5910"/>
              <a:ext cx="414" cy="9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lumMod val="50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sz="1000" b="1" dirty="0">
                  <a:solidFill>
                    <a:schemeClr val="bg1"/>
                  </a:solidFill>
                  <a:effectLst/>
                  <a:cs typeface="微软雅黑" panose="020B0503020204020204" charset="-122"/>
                </a:rPr>
                <a:t>公域渠道</a:t>
              </a:r>
              <a:endParaRPr lang="zh-CN" sz="1000" b="1" dirty="0">
                <a:solidFill>
                  <a:schemeClr val="bg1"/>
                </a:solidFill>
                <a:effectLst/>
                <a:cs typeface="微软雅黑" panose="020B0503020204020204" charset="-122"/>
              </a:endParaRPr>
            </a:p>
          </p:txBody>
        </p:sp>
        <p:sp>
          <p:nvSpPr>
            <p:cNvPr id="596" name="内容占位符 20"/>
            <p:cNvSpPr txBox="1"/>
            <p:nvPr/>
          </p:nvSpPr>
          <p:spPr>
            <a:xfrm>
              <a:off x="6393" y="5918"/>
              <a:ext cx="414" cy="9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lumMod val="50000"/>
                    </a:schemeClr>
                  </a:solidFill>
                  <a:latin typeface="+mj-ea"/>
                  <a:ea typeface="+mj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000" b="1" dirty="0">
                  <a:gradFill>
                    <a:gsLst>
                      <a:gs pos="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/>
                  <a:cs typeface="微软雅黑" panose="020B0503020204020204" charset="-122"/>
                </a:rPr>
                <a:t>公域渠道</a:t>
              </a:r>
              <a:endParaRPr lang="zh-CN" altLang="en-US" sz="1000" b="1" dirty="0">
                <a:gradFill>
                  <a:gsLst>
                    <a:gs pos="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cs typeface="微软雅黑" panose="020B0503020204020204" charset="-122"/>
              </a:endParaRPr>
            </a:p>
          </p:txBody>
        </p:sp>
      </p:grpSp>
      <p:sp>
        <p:nvSpPr>
          <p:cNvPr id="602" name="显眼包PPT-1"/>
          <p:cNvSpPr/>
          <p:nvPr/>
        </p:nvSpPr>
        <p:spPr>
          <a:xfrm>
            <a:off x="6294120" y="3638550"/>
            <a:ext cx="1512570" cy="316865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6357938" y="3628390"/>
            <a:ext cx="1384935" cy="3371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zh-CN" altLang="en-US" sz="8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平台合作：</a:t>
            </a:r>
            <a:r>
              <a:rPr lang="zh-CN" altLang="en-US" sz="8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通过抖音、天猫品牌号等公域入口吸引泛流量。</a:t>
            </a:r>
            <a:endParaRPr lang="zh-CN" altLang="en-US" sz="80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5" name="显眼包PPT-1"/>
          <p:cNvSpPr/>
          <p:nvPr/>
        </p:nvSpPr>
        <p:spPr>
          <a:xfrm>
            <a:off x="6289675" y="4015740"/>
            <a:ext cx="1512570" cy="316865"/>
          </a:xfrm>
          <a:prstGeom prst="roundRect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8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607" name="文本框 606"/>
          <p:cNvSpPr txBox="1"/>
          <p:nvPr/>
        </p:nvSpPr>
        <p:spPr>
          <a:xfrm>
            <a:off x="6353493" y="4005580"/>
            <a:ext cx="1384935" cy="33718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8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联动：</a:t>
            </a:r>
            <a:r>
              <a:rPr lang="zh-CN" altLang="en-US" sz="8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联合头部主播</a:t>
            </a:r>
            <a:r>
              <a:rPr lang="en-US" altLang="zh-CN" sz="8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/KOL</a:t>
            </a:r>
            <a:r>
              <a:rPr lang="zh-CN" altLang="en-US" sz="80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打造爆款，引导用户跳转私域。</a:t>
            </a:r>
            <a:endParaRPr lang="zh-CN" altLang="en-US" sz="80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7" name="组合 616"/>
          <p:cNvGrpSpPr/>
          <p:nvPr/>
        </p:nvGrpSpPr>
        <p:grpSpPr>
          <a:xfrm flipH="1">
            <a:off x="6108065" y="998220"/>
            <a:ext cx="2506345" cy="1154430"/>
            <a:chOff x="5657" y="1548"/>
            <a:chExt cx="3947" cy="1818"/>
          </a:xfrm>
        </p:grpSpPr>
        <p:cxnSp>
          <p:nvCxnSpPr>
            <p:cNvPr id="618" name="直线连接符 128"/>
            <p:cNvCxnSpPr/>
            <p:nvPr/>
          </p:nvCxnSpPr>
          <p:spPr>
            <a:xfrm flipV="1">
              <a:off x="5686" y="1548"/>
              <a:ext cx="3918" cy="1509"/>
            </a:xfrm>
            <a:prstGeom prst="line">
              <a:avLst/>
            </a:prstGeom>
            <a:noFill/>
            <a:ln w="38100" cap="rnd" cmpd="sng" algn="ctr"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16200000" scaled="1"/>
              </a:gradFill>
              <a:prstDash val="solid"/>
              <a:round/>
            </a:ln>
            <a:effectLst/>
          </p:spPr>
        </p:cxnSp>
        <p:sp>
          <p:nvSpPr>
            <p:cNvPr id="619" name="直角三角形 618"/>
            <p:cNvSpPr/>
            <p:nvPr/>
          </p:nvSpPr>
          <p:spPr>
            <a:xfrm rot="10800000">
              <a:off x="5657" y="3081"/>
              <a:ext cx="465" cy="285"/>
            </a:xfrm>
            <a:prstGeom prst="rtTriangle">
              <a:avLst/>
            </a:prstGeom>
            <a:gradFill>
              <a:gsLst>
                <a:gs pos="100000">
                  <a:schemeClr val="accent5">
                    <a:lumMod val="40000"/>
                    <a:lumOff val="6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0" scaled="0"/>
            </a:gradFill>
            <a:ln w="38100" cap="rnd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620" name="组合 619"/>
          <p:cNvGrpSpPr/>
          <p:nvPr/>
        </p:nvGrpSpPr>
        <p:grpSpPr>
          <a:xfrm>
            <a:off x="3594735" y="998220"/>
            <a:ext cx="2498090" cy="1154430"/>
            <a:chOff x="5657" y="1548"/>
            <a:chExt cx="3934" cy="1818"/>
          </a:xfrm>
        </p:grpSpPr>
        <p:cxnSp>
          <p:nvCxnSpPr>
            <p:cNvPr id="621" name="直线连接符 128"/>
            <p:cNvCxnSpPr/>
            <p:nvPr/>
          </p:nvCxnSpPr>
          <p:spPr>
            <a:xfrm flipV="1">
              <a:off x="5686" y="1548"/>
              <a:ext cx="3905" cy="1509"/>
            </a:xfrm>
            <a:prstGeom prst="line">
              <a:avLst/>
            </a:prstGeom>
            <a:noFill/>
            <a:ln w="38100" cap="rnd" cmpd="sng" algn="ctr"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accent5"/>
                  </a:gs>
                </a:gsLst>
                <a:lin ang="16200000" scaled="1"/>
              </a:gradFill>
              <a:prstDash val="solid"/>
              <a:round/>
            </a:ln>
            <a:effectLst/>
          </p:spPr>
        </p:cxnSp>
        <p:sp>
          <p:nvSpPr>
            <p:cNvPr id="622" name="直角三角形 621"/>
            <p:cNvSpPr/>
            <p:nvPr/>
          </p:nvSpPr>
          <p:spPr>
            <a:xfrm rot="10800000">
              <a:off x="5657" y="3081"/>
              <a:ext cx="450" cy="285"/>
            </a:xfrm>
            <a:prstGeom prst="rtTriangle">
              <a:avLst/>
            </a:prstGeom>
            <a:gradFill>
              <a:gsLst>
                <a:gs pos="100000">
                  <a:schemeClr val="accent5">
                    <a:lumMod val="40000"/>
                    <a:lumOff val="6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0" scaled="0"/>
            </a:gradFill>
            <a:ln w="38100" cap="rnd" cmpd="sng" algn="ctr">
              <a:noFill/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5925" y="1116965"/>
            <a:ext cx="2598420" cy="4391660"/>
            <a:chOff x="655" y="1759"/>
            <a:chExt cx="4092" cy="6916"/>
          </a:xfrm>
        </p:grpSpPr>
        <p:sp>
          <p:nvSpPr>
            <p:cNvPr id="205" name="显眼包PPT4"/>
            <p:cNvSpPr/>
            <p:nvPr/>
          </p:nvSpPr>
          <p:spPr>
            <a:xfrm>
              <a:off x="655" y="2056"/>
              <a:ext cx="4092" cy="631"/>
            </a:xfrm>
            <a:prstGeom prst="roundRect">
              <a:avLst>
                <a:gd name="adj" fmla="val 28193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8000">
                    <a:schemeClr val="accent2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90500" dist="25400" dir="16200000" rotWithShape="0">
                <a:schemeClr val="accent1">
                  <a:lumMod val="60000"/>
                  <a:lumOff val="40000"/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3" name="显眼包PPT5"/>
            <p:cNvSpPr/>
            <p:nvPr/>
          </p:nvSpPr>
          <p:spPr>
            <a:xfrm>
              <a:off x="655" y="2127"/>
              <a:ext cx="4092" cy="6548"/>
            </a:xfrm>
            <a:prstGeom prst="roundRect">
              <a:avLst>
                <a:gd name="adj" fmla="val 4488"/>
              </a:avLst>
            </a:prstGeom>
            <a:gradFill>
              <a:gsLst>
                <a:gs pos="65000">
                  <a:schemeClr val="bg1"/>
                </a:gs>
                <a:gs pos="90000">
                  <a:schemeClr val="bg1">
                    <a:alpha val="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32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90500" dist="25400" dir="16200000" rotWithShape="0">
                <a:schemeClr val="accent1">
                  <a:lumMod val="60000"/>
                  <a:lumOff val="40000"/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1" name="显眼包PPT2"/>
            <p:cNvSpPr/>
            <p:nvPr/>
          </p:nvSpPr>
          <p:spPr>
            <a:xfrm rot="10800000" flipH="1" flipV="1">
              <a:off x="752" y="1759"/>
              <a:ext cx="3896" cy="316"/>
            </a:xfrm>
            <a:prstGeom prst="trapezoid">
              <a:avLst>
                <a:gd name="adj" fmla="val 132773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35" name="显眼包PPT1"/>
            <p:cNvGrpSpPr/>
            <p:nvPr/>
          </p:nvGrpSpPr>
          <p:grpSpPr>
            <a:xfrm rot="0">
              <a:off x="812" y="2259"/>
              <a:ext cx="3778" cy="6417"/>
              <a:chOff x="1239199" y="2593718"/>
              <a:chExt cx="2368665" cy="4074286"/>
            </a:xfrm>
          </p:grpSpPr>
          <p:sp>
            <p:nvSpPr>
              <p:cNvPr id="236" name="显眼包PPT1-1"/>
              <p:cNvSpPr/>
              <p:nvPr/>
            </p:nvSpPr>
            <p:spPr>
              <a:xfrm flipH="1" flipV="1">
                <a:off x="1240453" y="2664829"/>
                <a:ext cx="2367411" cy="400317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1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239" name="显眼包PPT1-2"/>
              <p:cNvSpPr/>
              <p:nvPr/>
            </p:nvSpPr>
            <p:spPr>
              <a:xfrm>
                <a:off x="1239199" y="2593718"/>
                <a:ext cx="2367337" cy="344127"/>
              </a:xfrm>
              <a:prstGeom prst="roundRect">
                <a:avLst>
                  <a:gd name="adj" fmla="val 19452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114300" dist="76200" dir="5400000" algn="t" rotWithShape="0">
                  <a:schemeClr val="accent1">
                    <a:lumMod val="60000"/>
                    <a:lumOff val="40000"/>
                    <a:alpha val="1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865" tIns="49432" rIns="98865" bIns="49432" rtlCol="0" anchor="ctr"/>
              <a:lstStyle/>
              <a:p>
                <a:pPr algn="ctr"/>
                <a:endParaRPr lang="zh-CN" altLang="en-US" sz="1400" dirty="0">
                  <a:solidFill>
                    <a:srgbClr val="FFFFFF"/>
                  </a:solidFill>
                  <a:effectLst>
                    <a:outerShdw blurRad="50800" dist="38100" dir="5400000" algn="t" rotWithShape="0">
                      <a:srgbClr val="1D4273">
                        <a:lumMod val="75000"/>
                        <a:alpha val="40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88" name="文本框 287"/>
            <p:cNvSpPr txBox="1"/>
            <p:nvPr/>
          </p:nvSpPr>
          <p:spPr>
            <a:xfrm>
              <a:off x="1116" y="2271"/>
              <a:ext cx="32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私域一体化运营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9" name="Rectangle: Top Corners Rounded 32"/>
            <p:cNvSpPr/>
            <p:nvPr/>
          </p:nvSpPr>
          <p:spPr>
            <a:xfrm>
              <a:off x="1140" y="2323"/>
              <a:ext cx="402" cy="38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1050" b="1" kern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4</a:t>
              </a:r>
              <a:endParaRPr lang="en-US" sz="1050" b="1" kern="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sp>
          <p:nvSpPr>
            <p:cNvPr id="291" name="圆角矩形 290"/>
            <p:cNvSpPr/>
            <p:nvPr/>
          </p:nvSpPr>
          <p:spPr>
            <a:xfrm>
              <a:off x="1084" y="3273"/>
              <a:ext cx="806" cy="743"/>
            </a:xfrm>
            <a:prstGeom prst="roundRect">
              <a:avLst/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00" b="1" dirty="0">
                <a:solidFill>
                  <a:schemeClr val="accent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93" name="圆角矩形 292"/>
            <p:cNvSpPr/>
            <p:nvPr/>
          </p:nvSpPr>
          <p:spPr>
            <a:xfrm>
              <a:off x="2391" y="3025"/>
              <a:ext cx="1705" cy="1291"/>
            </a:xfrm>
            <a:prstGeom prst="roundRect">
              <a:avLst>
                <a:gd name="adj" fmla="val 6111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94" name="圆角矩形 293"/>
            <p:cNvSpPr/>
            <p:nvPr/>
          </p:nvSpPr>
          <p:spPr>
            <a:xfrm>
              <a:off x="2484" y="3495"/>
              <a:ext cx="1517" cy="313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划分用户等级</a:t>
              </a:r>
              <a:endParaRPr 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95" name="圆角矩形 294"/>
            <p:cNvSpPr/>
            <p:nvPr/>
          </p:nvSpPr>
          <p:spPr>
            <a:xfrm>
              <a:off x="2484" y="3894"/>
              <a:ext cx="1517" cy="313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差异化运营</a:t>
              </a:r>
              <a:endPara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00" name="任意多边形 299"/>
            <p:cNvSpPr/>
            <p:nvPr/>
          </p:nvSpPr>
          <p:spPr>
            <a:xfrm>
              <a:off x="2391" y="3012"/>
              <a:ext cx="1705" cy="37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5" h="378">
                  <a:moveTo>
                    <a:pt x="0" y="60"/>
                  </a:moveTo>
                  <a:lnTo>
                    <a:pt x="2" y="60"/>
                  </a:lnTo>
                  <a:cubicBezTo>
                    <a:pt x="7" y="28"/>
                    <a:pt x="44" y="-2"/>
                    <a:pt x="77" y="0"/>
                  </a:cubicBezTo>
                  <a:lnTo>
                    <a:pt x="1628" y="0"/>
                  </a:lnTo>
                  <a:cubicBezTo>
                    <a:pt x="1665" y="-2"/>
                    <a:pt x="1698" y="32"/>
                    <a:pt x="1703" y="60"/>
                  </a:cubicBezTo>
                  <a:lnTo>
                    <a:pt x="1705" y="60"/>
                  </a:lnTo>
                  <a:lnTo>
                    <a:pt x="1705" y="378"/>
                  </a:lnTo>
                  <a:lnTo>
                    <a:pt x="0" y="378"/>
                  </a:lnTo>
                  <a:lnTo>
                    <a:pt x="0" y="60"/>
                  </a:lnTo>
                  <a:close/>
                </a:path>
              </a:pathLst>
            </a:custGeom>
            <a:gradFill>
              <a:gsLst>
                <a:gs pos="81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02" name="组合 301"/>
            <p:cNvGrpSpPr/>
            <p:nvPr/>
          </p:nvGrpSpPr>
          <p:grpSpPr>
            <a:xfrm rot="0">
              <a:off x="1958" y="3617"/>
              <a:ext cx="287" cy="111"/>
              <a:chOff x="2189" y="4946"/>
              <a:chExt cx="333" cy="209"/>
            </a:xfrm>
          </p:grpSpPr>
          <p:cxnSp>
            <p:nvCxnSpPr>
              <p:cNvPr id="303" name="直接箭头连接符 302"/>
              <p:cNvCxnSpPr/>
              <p:nvPr/>
            </p:nvCxnSpPr>
            <p:spPr>
              <a:xfrm rot="5400000">
                <a:off x="2342" y="4793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4" name="直接箭头连接符 303"/>
              <p:cNvCxnSpPr/>
              <p:nvPr/>
            </p:nvCxnSpPr>
            <p:spPr>
              <a:xfrm rot="5400000">
                <a:off x="2369" y="5002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06" name="圆角矩形 305"/>
            <p:cNvSpPr/>
            <p:nvPr/>
          </p:nvSpPr>
          <p:spPr>
            <a:xfrm>
              <a:off x="1086" y="5012"/>
              <a:ext cx="806" cy="743"/>
            </a:xfrm>
            <a:prstGeom prst="roundRect">
              <a:avLst/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00" b="1" dirty="0">
                <a:solidFill>
                  <a:schemeClr val="accent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08" name="圆角矩形 307"/>
            <p:cNvSpPr/>
            <p:nvPr/>
          </p:nvSpPr>
          <p:spPr>
            <a:xfrm>
              <a:off x="2393" y="4610"/>
              <a:ext cx="1705" cy="1760"/>
            </a:xfrm>
            <a:prstGeom prst="roundRect">
              <a:avLst>
                <a:gd name="adj" fmla="val 6111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09" name="圆角矩形 308"/>
            <p:cNvSpPr/>
            <p:nvPr/>
          </p:nvSpPr>
          <p:spPr>
            <a:xfrm>
              <a:off x="2486" y="5080"/>
              <a:ext cx="1517" cy="314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社群打卡</a:t>
              </a:r>
              <a:endParaRPr 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0" name="圆角矩形 309"/>
            <p:cNvSpPr/>
            <p:nvPr/>
          </p:nvSpPr>
          <p:spPr>
            <a:xfrm>
              <a:off x="2486" y="5479"/>
              <a:ext cx="1517" cy="314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会员福利</a:t>
              </a:r>
              <a:endPara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1" name="圆角矩形 310"/>
            <p:cNvSpPr/>
            <p:nvPr/>
          </p:nvSpPr>
          <p:spPr>
            <a:xfrm>
              <a:off x="2486" y="5878"/>
              <a:ext cx="1517" cy="314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完美日记</a:t>
              </a:r>
              <a:endPara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3" name="任意多边形 312"/>
            <p:cNvSpPr/>
            <p:nvPr/>
          </p:nvSpPr>
          <p:spPr>
            <a:xfrm>
              <a:off x="2393" y="4597"/>
              <a:ext cx="1705" cy="37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5" h="378">
                  <a:moveTo>
                    <a:pt x="0" y="60"/>
                  </a:moveTo>
                  <a:lnTo>
                    <a:pt x="2" y="60"/>
                  </a:lnTo>
                  <a:cubicBezTo>
                    <a:pt x="7" y="28"/>
                    <a:pt x="44" y="-2"/>
                    <a:pt x="77" y="0"/>
                  </a:cubicBezTo>
                  <a:lnTo>
                    <a:pt x="1628" y="0"/>
                  </a:lnTo>
                  <a:cubicBezTo>
                    <a:pt x="1665" y="-2"/>
                    <a:pt x="1698" y="32"/>
                    <a:pt x="1703" y="60"/>
                  </a:cubicBezTo>
                  <a:lnTo>
                    <a:pt x="1705" y="60"/>
                  </a:lnTo>
                  <a:lnTo>
                    <a:pt x="1705" y="378"/>
                  </a:lnTo>
                  <a:lnTo>
                    <a:pt x="0" y="378"/>
                  </a:lnTo>
                  <a:lnTo>
                    <a:pt x="0" y="60"/>
                  </a:lnTo>
                  <a:close/>
                </a:path>
              </a:pathLst>
            </a:custGeom>
            <a:gradFill>
              <a:gsLst>
                <a:gs pos="81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15" name="组合 314"/>
            <p:cNvGrpSpPr/>
            <p:nvPr/>
          </p:nvGrpSpPr>
          <p:grpSpPr>
            <a:xfrm rot="0">
              <a:off x="1961" y="5357"/>
              <a:ext cx="287" cy="111"/>
              <a:chOff x="2189" y="4946"/>
              <a:chExt cx="333" cy="209"/>
            </a:xfrm>
          </p:grpSpPr>
          <p:cxnSp>
            <p:nvCxnSpPr>
              <p:cNvPr id="316" name="直接箭头连接符 315"/>
              <p:cNvCxnSpPr/>
              <p:nvPr/>
            </p:nvCxnSpPr>
            <p:spPr>
              <a:xfrm rot="5400000">
                <a:off x="2342" y="4793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7" name="直接箭头连接符 316"/>
              <p:cNvCxnSpPr/>
              <p:nvPr/>
            </p:nvCxnSpPr>
            <p:spPr>
              <a:xfrm rot="5400000">
                <a:off x="2369" y="5002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19" name="圆角矩形 318"/>
            <p:cNvSpPr/>
            <p:nvPr/>
          </p:nvSpPr>
          <p:spPr>
            <a:xfrm>
              <a:off x="1071" y="7073"/>
              <a:ext cx="806" cy="743"/>
            </a:xfrm>
            <a:prstGeom prst="roundRect">
              <a:avLst/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ysDash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300" b="1" dirty="0">
                <a:solidFill>
                  <a:schemeClr val="accent2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1" name="圆角矩形 320"/>
            <p:cNvSpPr/>
            <p:nvPr/>
          </p:nvSpPr>
          <p:spPr>
            <a:xfrm>
              <a:off x="2378" y="6671"/>
              <a:ext cx="1705" cy="1656"/>
            </a:xfrm>
            <a:prstGeom prst="roundRect">
              <a:avLst>
                <a:gd name="adj" fmla="val 6111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2" name="圆角矩形 321"/>
            <p:cNvSpPr/>
            <p:nvPr/>
          </p:nvSpPr>
          <p:spPr>
            <a:xfrm>
              <a:off x="2471" y="7115"/>
              <a:ext cx="1517" cy="313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话题挑战</a:t>
              </a:r>
              <a:endParaRPr lang="zh-CN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3" name="圆角矩形 322"/>
            <p:cNvSpPr/>
            <p:nvPr/>
          </p:nvSpPr>
          <p:spPr>
            <a:xfrm>
              <a:off x="2471" y="7514"/>
              <a:ext cx="1517" cy="313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老荐新奖励</a:t>
              </a:r>
              <a:endPara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4" name="圆角矩形 323"/>
            <p:cNvSpPr/>
            <p:nvPr/>
          </p:nvSpPr>
          <p:spPr>
            <a:xfrm>
              <a:off x="2471" y="7913"/>
              <a:ext cx="1517" cy="313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发起盲盒开箱</a:t>
              </a:r>
              <a:endParaRPr lang="zh-CN" altLang="en-US" sz="9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6" name="任意多边形 325"/>
            <p:cNvSpPr/>
            <p:nvPr/>
          </p:nvSpPr>
          <p:spPr>
            <a:xfrm>
              <a:off x="2378" y="6658"/>
              <a:ext cx="1705" cy="37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5" h="378">
                  <a:moveTo>
                    <a:pt x="0" y="60"/>
                  </a:moveTo>
                  <a:lnTo>
                    <a:pt x="2" y="60"/>
                  </a:lnTo>
                  <a:cubicBezTo>
                    <a:pt x="7" y="28"/>
                    <a:pt x="44" y="-2"/>
                    <a:pt x="77" y="0"/>
                  </a:cubicBezTo>
                  <a:lnTo>
                    <a:pt x="1628" y="0"/>
                  </a:lnTo>
                  <a:cubicBezTo>
                    <a:pt x="1665" y="-2"/>
                    <a:pt x="1698" y="32"/>
                    <a:pt x="1703" y="60"/>
                  </a:cubicBezTo>
                  <a:lnTo>
                    <a:pt x="1705" y="60"/>
                  </a:lnTo>
                  <a:lnTo>
                    <a:pt x="1705" y="378"/>
                  </a:lnTo>
                  <a:lnTo>
                    <a:pt x="0" y="378"/>
                  </a:lnTo>
                  <a:lnTo>
                    <a:pt x="0" y="60"/>
                  </a:lnTo>
                  <a:close/>
                </a:path>
              </a:pathLst>
            </a:custGeom>
            <a:gradFill>
              <a:gsLst>
                <a:gs pos="81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28" name="组合 327"/>
            <p:cNvGrpSpPr/>
            <p:nvPr/>
          </p:nvGrpSpPr>
          <p:grpSpPr>
            <a:xfrm rot="0">
              <a:off x="1945" y="7418"/>
              <a:ext cx="287" cy="111"/>
              <a:chOff x="2189" y="4946"/>
              <a:chExt cx="333" cy="209"/>
            </a:xfrm>
          </p:grpSpPr>
          <p:cxnSp>
            <p:nvCxnSpPr>
              <p:cNvPr id="343" name="直接箭头连接符 342"/>
              <p:cNvCxnSpPr/>
              <p:nvPr/>
            </p:nvCxnSpPr>
            <p:spPr>
              <a:xfrm rot="5400000">
                <a:off x="2342" y="4793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4" name="直接箭头连接符 343"/>
              <p:cNvCxnSpPr/>
              <p:nvPr/>
            </p:nvCxnSpPr>
            <p:spPr>
              <a:xfrm rot="5400000">
                <a:off x="2369" y="5002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92" name="组合 391"/>
            <p:cNvGrpSpPr/>
            <p:nvPr/>
          </p:nvGrpSpPr>
          <p:grpSpPr>
            <a:xfrm rot="16200000">
              <a:off x="3107" y="4369"/>
              <a:ext cx="185" cy="130"/>
              <a:chOff x="2189" y="4946"/>
              <a:chExt cx="333" cy="209"/>
            </a:xfrm>
          </p:grpSpPr>
          <p:cxnSp>
            <p:nvCxnSpPr>
              <p:cNvPr id="393" name="直接箭头连接符 392"/>
              <p:cNvCxnSpPr/>
              <p:nvPr/>
            </p:nvCxnSpPr>
            <p:spPr>
              <a:xfrm rot="5400000">
                <a:off x="2342" y="4793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4" name="直接箭头连接符 393"/>
              <p:cNvCxnSpPr/>
              <p:nvPr/>
            </p:nvCxnSpPr>
            <p:spPr>
              <a:xfrm rot="5400000">
                <a:off x="2369" y="5002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95" name="组合 394"/>
            <p:cNvGrpSpPr/>
            <p:nvPr/>
          </p:nvGrpSpPr>
          <p:grpSpPr>
            <a:xfrm rot="16200000">
              <a:off x="3085" y="6423"/>
              <a:ext cx="185" cy="130"/>
              <a:chOff x="2189" y="4946"/>
              <a:chExt cx="333" cy="209"/>
            </a:xfrm>
          </p:grpSpPr>
          <p:cxnSp>
            <p:nvCxnSpPr>
              <p:cNvPr id="396" name="直接箭头连接符 395"/>
              <p:cNvCxnSpPr/>
              <p:nvPr/>
            </p:nvCxnSpPr>
            <p:spPr>
              <a:xfrm rot="5400000">
                <a:off x="2342" y="4793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7" name="直接箭头连接符 396"/>
              <p:cNvCxnSpPr/>
              <p:nvPr/>
            </p:nvCxnSpPr>
            <p:spPr>
              <a:xfrm rot="5400000">
                <a:off x="2369" y="5002"/>
                <a:ext cx="0" cy="306"/>
              </a:xfrm>
              <a:prstGeom prst="straightConnector1">
                <a:avLst/>
              </a:prstGeom>
              <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6200000" scaled="1"/>
                </a:gradFill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/>
            <p:cNvSpPr txBox="1"/>
            <p:nvPr/>
          </p:nvSpPr>
          <p:spPr>
            <a:xfrm>
              <a:off x="918" y="3281"/>
              <a:ext cx="1161" cy="73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21" y="5021"/>
              <a:ext cx="1161" cy="73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矩阵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92" y="7081"/>
              <a:ext cx="1161" cy="736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2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裂变</a:t>
              </a:r>
              <a:endParaRPr lang="zh-CN" altLang="en-US" sz="12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393" y="4589"/>
              <a:ext cx="175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内容与活动</a:t>
              </a:r>
              <a:endParaRPr 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331" y="6627"/>
              <a:ext cx="175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口碑裂变传播</a:t>
              </a:r>
              <a:endParaRPr 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331" y="3012"/>
              <a:ext cx="175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0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客户分层运营</a:t>
              </a:r>
              <a:endParaRPr 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9228455" y="1117600"/>
            <a:ext cx="2598420" cy="4391660"/>
            <a:chOff x="14533" y="1760"/>
            <a:chExt cx="4092" cy="6916"/>
          </a:xfrm>
        </p:grpSpPr>
        <p:sp>
          <p:nvSpPr>
            <p:cNvPr id="73" name="显眼包PPT4"/>
            <p:cNvSpPr/>
            <p:nvPr/>
          </p:nvSpPr>
          <p:spPr>
            <a:xfrm>
              <a:off x="14533" y="2057"/>
              <a:ext cx="4092" cy="631"/>
            </a:xfrm>
            <a:prstGeom prst="roundRect">
              <a:avLst>
                <a:gd name="adj" fmla="val 28193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8000">
                    <a:schemeClr val="accent2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90500" dist="25400" dir="16200000" rotWithShape="0">
                <a:schemeClr val="accent1">
                  <a:lumMod val="60000"/>
                  <a:lumOff val="40000"/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4" name="显眼包PPT5"/>
            <p:cNvSpPr/>
            <p:nvPr/>
          </p:nvSpPr>
          <p:spPr>
            <a:xfrm>
              <a:off x="14533" y="2128"/>
              <a:ext cx="4092" cy="6548"/>
            </a:xfrm>
            <a:prstGeom prst="roundRect">
              <a:avLst>
                <a:gd name="adj" fmla="val 4488"/>
              </a:avLst>
            </a:prstGeom>
            <a:gradFill>
              <a:gsLst>
                <a:gs pos="65000">
                  <a:schemeClr val="bg1"/>
                </a:gs>
                <a:gs pos="90000">
                  <a:schemeClr val="bg1">
                    <a:alpha val="0"/>
                  </a:schemeClr>
                </a:gs>
              </a:gsLst>
              <a:lin ang="5400000" scaled="1"/>
            </a:gradFill>
            <a:ln w="9525">
              <a:gradFill flip="none" rotWithShape="1">
                <a:gsLst>
                  <a:gs pos="32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90500" dist="25400" dir="16200000" rotWithShape="0">
                <a:schemeClr val="accent1">
                  <a:lumMod val="60000"/>
                  <a:lumOff val="40000"/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0" name="显眼包PPT2"/>
            <p:cNvSpPr/>
            <p:nvPr/>
          </p:nvSpPr>
          <p:spPr>
            <a:xfrm rot="10800000" flipH="1" flipV="1">
              <a:off x="14630" y="1760"/>
              <a:ext cx="3896" cy="316"/>
            </a:xfrm>
            <a:prstGeom prst="trapezoid">
              <a:avLst>
                <a:gd name="adj" fmla="val 132773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81" name="显眼包PPT1"/>
            <p:cNvGrpSpPr/>
            <p:nvPr/>
          </p:nvGrpSpPr>
          <p:grpSpPr>
            <a:xfrm rot="0">
              <a:off x="14690" y="2260"/>
              <a:ext cx="3778" cy="6417"/>
              <a:chOff x="1239199" y="2593718"/>
              <a:chExt cx="2368665" cy="4074286"/>
            </a:xfrm>
          </p:grpSpPr>
          <p:sp>
            <p:nvSpPr>
              <p:cNvPr id="82" name="显眼包PPT1-1"/>
              <p:cNvSpPr/>
              <p:nvPr/>
            </p:nvSpPr>
            <p:spPr>
              <a:xfrm flipH="1" flipV="1">
                <a:off x="1240453" y="2664829"/>
                <a:ext cx="2367411" cy="4003175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21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ln w="6350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j-ea"/>
                </a:endParaRPr>
              </a:p>
            </p:txBody>
          </p:sp>
          <p:sp>
            <p:nvSpPr>
              <p:cNvPr id="83" name="显眼包PPT1-2"/>
              <p:cNvSpPr/>
              <p:nvPr/>
            </p:nvSpPr>
            <p:spPr>
              <a:xfrm>
                <a:off x="1239199" y="2593718"/>
                <a:ext cx="2367337" cy="344127"/>
              </a:xfrm>
              <a:prstGeom prst="roundRect">
                <a:avLst>
                  <a:gd name="adj" fmla="val 19452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952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114300" dist="76200" dir="5400000" algn="t" rotWithShape="0">
                  <a:schemeClr val="accent1">
                    <a:lumMod val="60000"/>
                    <a:lumOff val="40000"/>
                    <a:alpha val="1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865" tIns="49432" rIns="98865" bIns="49432" rtlCol="0" anchor="ctr"/>
              <a:lstStyle/>
              <a:p>
                <a:pPr algn="ctr"/>
                <a:endParaRPr lang="zh-CN" altLang="en-US" sz="1400" dirty="0">
                  <a:solidFill>
                    <a:srgbClr val="FFFFFF"/>
                  </a:solidFill>
                  <a:effectLst>
                    <a:outerShdw blurRad="50800" dist="38100" dir="5400000" algn="t" rotWithShape="0">
                      <a:srgbClr val="1D4273">
                        <a:lumMod val="75000"/>
                        <a:alpha val="40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84" name="文本框 83"/>
            <p:cNvSpPr txBox="1"/>
            <p:nvPr/>
          </p:nvSpPr>
          <p:spPr>
            <a:xfrm>
              <a:off x="15122" y="2272"/>
              <a:ext cx="322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全域连接场景拓展</a:t>
              </a:r>
              <a:endPara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5" name="Rectangle: Top Corners Rounded 32"/>
            <p:cNvSpPr/>
            <p:nvPr/>
          </p:nvSpPr>
          <p:spPr>
            <a:xfrm>
              <a:off x="15018" y="2324"/>
              <a:ext cx="402" cy="38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1050" b="1" kern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3</a:t>
              </a:r>
              <a:endParaRPr lang="en-US" sz="1050" b="1" kern="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  <p:sp>
          <p:nvSpPr>
            <p:cNvPr id="160" name="圆角矩形 159"/>
            <p:cNvSpPr/>
            <p:nvPr/>
          </p:nvSpPr>
          <p:spPr>
            <a:xfrm>
              <a:off x="15122" y="2982"/>
              <a:ext cx="2946" cy="2530"/>
            </a:xfrm>
            <a:prstGeom prst="roundRect">
              <a:avLst>
                <a:gd name="adj" fmla="val 6111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15299" y="3048"/>
              <a:ext cx="261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公域流量引流至私域</a:t>
              </a:r>
              <a:endParaRPr lang="zh-CN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0" name="圆角矩形 169"/>
            <p:cNvSpPr/>
            <p:nvPr/>
          </p:nvSpPr>
          <p:spPr>
            <a:xfrm>
              <a:off x="15355" y="3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1" name="圆角矩形 170"/>
            <p:cNvSpPr/>
            <p:nvPr/>
          </p:nvSpPr>
          <p:spPr>
            <a:xfrm>
              <a:off x="15355" y="4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2" name="圆角矩形 171"/>
            <p:cNvSpPr/>
            <p:nvPr/>
          </p:nvSpPr>
          <p:spPr>
            <a:xfrm>
              <a:off x="16262" y="3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3" name="圆角矩形 172"/>
            <p:cNvSpPr/>
            <p:nvPr/>
          </p:nvSpPr>
          <p:spPr>
            <a:xfrm>
              <a:off x="16262" y="4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4" name="圆角矩形 173"/>
            <p:cNvSpPr/>
            <p:nvPr/>
          </p:nvSpPr>
          <p:spPr>
            <a:xfrm>
              <a:off x="17169" y="3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5" name="圆角矩形 174"/>
            <p:cNvSpPr/>
            <p:nvPr/>
          </p:nvSpPr>
          <p:spPr>
            <a:xfrm>
              <a:off x="17169" y="4566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6" name="圆角矩形 175"/>
            <p:cNvSpPr/>
            <p:nvPr/>
          </p:nvSpPr>
          <p:spPr>
            <a:xfrm>
              <a:off x="15122" y="5886"/>
              <a:ext cx="2946" cy="2530"/>
            </a:xfrm>
            <a:prstGeom prst="roundRect">
              <a:avLst>
                <a:gd name="adj" fmla="val 6111"/>
              </a:avLst>
            </a:prstGeom>
            <a:solidFill>
              <a:schemeClr val="bg1"/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15166" y="5952"/>
              <a:ext cx="28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定制化商品与动态供给</a:t>
              </a:r>
              <a:endParaRPr lang="zh-CN" altLang="en-US" sz="12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8" name="圆角矩形 177"/>
            <p:cNvSpPr/>
            <p:nvPr/>
          </p:nvSpPr>
          <p:spPr>
            <a:xfrm>
              <a:off x="15355" y="6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79" name="圆角矩形 178"/>
            <p:cNvSpPr/>
            <p:nvPr/>
          </p:nvSpPr>
          <p:spPr>
            <a:xfrm>
              <a:off x="15355" y="7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0" name="圆角矩形 179"/>
            <p:cNvSpPr/>
            <p:nvPr/>
          </p:nvSpPr>
          <p:spPr>
            <a:xfrm>
              <a:off x="16262" y="6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1" name="圆角矩形 180"/>
            <p:cNvSpPr/>
            <p:nvPr/>
          </p:nvSpPr>
          <p:spPr>
            <a:xfrm>
              <a:off x="16262" y="7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2" name="圆角矩形 181"/>
            <p:cNvSpPr/>
            <p:nvPr/>
          </p:nvSpPr>
          <p:spPr>
            <a:xfrm>
              <a:off x="17169" y="6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3" name="圆角矩形 182"/>
            <p:cNvSpPr/>
            <p:nvPr/>
          </p:nvSpPr>
          <p:spPr>
            <a:xfrm>
              <a:off x="17169" y="7470"/>
              <a:ext cx="717" cy="7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15227" y="3605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短视频广告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16124" y="3605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小红书种草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7056" y="3608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直播间引流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15250" y="4630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SEO</a:t>
              </a:r>
              <a:endParaRPr lang="en-US" alt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优化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16147" y="4630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电商平台硬广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4" name="文本框 203"/>
            <p:cNvSpPr txBox="1"/>
            <p:nvPr/>
          </p:nvSpPr>
          <p:spPr>
            <a:xfrm>
              <a:off x="17051" y="4633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门店活动物料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15227" y="6543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钩子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引流品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7" name="文本框 206"/>
            <p:cNvSpPr txBox="1"/>
            <p:nvPr/>
          </p:nvSpPr>
          <p:spPr>
            <a:xfrm>
              <a:off x="16124" y="6543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会员专属产品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8" name="文本框 207"/>
            <p:cNvSpPr txBox="1"/>
            <p:nvPr/>
          </p:nvSpPr>
          <p:spPr>
            <a:xfrm>
              <a:off x="17056" y="6543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动态选品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15250" y="7534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节假日契合品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16147" y="7534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公域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爆款</a:t>
              </a:r>
              <a:endParaRPr lang="zh-CN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17051" y="7537"/>
              <a:ext cx="95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</a:t>
              </a:r>
              <a:r>
                <a:rPr lang="en-US" altLang="zh-CN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  <a:r>
                <a:rPr lang="zh-CN" altLang="en-US" sz="90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限量礼盒</a:t>
              </a:r>
              <a:endParaRPr lang="zh-CN" altLang="en-US" sz="9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5" name="图片 14"/>
            <p:cNvPicPr>
              <a:picLocks noChangeAspect="1"/>
            </p:cNvPicPr>
            <p:nvPr userDrawn="1"/>
          </p:nvPicPr>
          <p:blipFill>
            <a:blip r:embed="rId9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矩形 436"/>
          <p:cNvSpPr/>
          <p:nvPr/>
        </p:nvSpPr>
        <p:spPr>
          <a:xfrm>
            <a:off x="539115" y="1040130"/>
            <a:ext cx="11269980" cy="75374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13" name="等腰三角形 12"/>
          <p:cNvSpPr/>
          <p:nvPr/>
        </p:nvSpPr>
        <p:spPr>
          <a:xfrm>
            <a:off x="705485" y="2082800"/>
            <a:ext cx="4667885" cy="1046480"/>
          </a:xfrm>
          <a:prstGeom prst="triangle">
            <a:avLst>
              <a:gd name="adj" fmla="val 49830"/>
            </a:avLst>
          </a:prstGeom>
          <a:gradFill flip="none" rotWithShape="1">
            <a:gsLst>
              <a:gs pos="100000">
                <a:schemeClr val="accent1">
                  <a:lumMod val="60000"/>
                  <a:lumOff val="40000"/>
                  <a:alpha val="10000"/>
                </a:schemeClr>
              </a:gs>
              <a:gs pos="30000">
                <a:schemeClr val="accent1">
                  <a:lumMod val="60000"/>
                  <a:lumOff val="40000"/>
                  <a:alpha val="40000"/>
                </a:schemeClr>
              </a:gs>
            </a:gsLst>
            <a:lin ang="5400000" scaled="1"/>
            <a:tileRect/>
          </a:gradFill>
          <a:ln w="25400">
            <a:noFill/>
          </a:ln>
          <a:effectLst>
            <a:outerShdw blurRad="241300" dist="190500" dir="5400000" sx="94000" sy="94000" algn="t" rotWithShape="0">
              <a:schemeClr val="accent1">
                <a:lumMod val="60000"/>
                <a:lumOff val="40000"/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 spc="300">
              <a:solidFill>
                <a:srgbClr val="FFFFFF"/>
              </a:solidFill>
              <a:effectLst>
                <a:outerShdw blurRad="50800" dist="38100" dir="5400000" algn="t" rotWithShape="0">
                  <a:srgbClr val="1D4273">
                    <a:lumMod val="75000"/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0430" y="3288665"/>
            <a:ext cx="4216400" cy="97155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25551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消费品行业运营管理体系框架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3" name="等腰三角形 12"/>
          <p:cNvSpPr/>
          <p:nvPr/>
        </p:nvSpPr>
        <p:spPr>
          <a:xfrm>
            <a:off x="950595" y="2165350"/>
            <a:ext cx="4189095" cy="960755"/>
          </a:xfrm>
          <a:prstGeom prst="triangle">
            <a:avLst>
              <a:gd name="adj" fmla="val 4983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36420" y="2531745"/>
            <a:ext cx="2435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消费品行业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运营管理体系框架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右箭头 258"/>
          <p:cNvSpPr/>
          <p:nvPr/>
        </p:nvSpPr>
        <p:spPr>
          <a:xfrm rot="5400000">
            <a:off x="1478915" y="3152775"/>
            <a:ext cx="392430" cy="219710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9" name="右箭头 8"/>
          <p:cNvSpPr/>
          <p:nvPr/>
        </p:nvSpPr>
        <p:spPr>
          <a:xfrm rot="5400000">
            <a:off x="4135120" y="3152775"/>
            <a:ext cx="392430" cy="219710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0430" y="4358005"/>
            <a:ext cx="4226560" cy="971550"/>
          </a:xfrm>
          <a:prstGeom prst="rect">
            <a:avLst/>
          </a:prstGeom>
          <a:solidFill>
            <a:schemeClr val="accent5">
              <a:alpha val="10000"/>
            </a:schemeClr>
          </a:solidFill>
          <a:ln w="12700" cmpd="sng">
            <a:solidFill>
              <a:schemeClr val="accent5"/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4710" y="5485130"/>
            <a:ext cx="4271645" cy="97155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左弧形箭头 13"/>
          <p:cNvSpPr/>
          <p:nvPr/>
        </p:nvSpPr>
        <p:spPr>
          <a:xfrm>
            <a:off x="615315" y="3980815"/>
            <a:ext cx="215900" cy="577850"/>
          </a:xfrm>
          <a:prstGeom prst="curvedRight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15" name="左弧形箭头 14"/>
          <p:cNvSpPr/>
          <p:nvPr/>
        </p:nvSpPr>
        <p:spPr>
          <a:xfrm>
            <a:off x="565785" y="5170170"/>
            <a:ext cx="215900" cy="577850"/>
          </a:xfrm>
          <a:prstGeom prst="curvedRightArrow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2" name="文本占位符 30"/>
          <p:cNvSpPr>
            <a:spLocks noGrp="1"/>
          </p:cNvSpPr>
          <p:nvPr/>
        </p:nvSpPr>
        <p:spPr>
          <a:xfrm>
            <a:off x="650875" y="1132205"/>
            <a:ext cx="10923270" cy="624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运营管理目标：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市场洞察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供应链协同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渠道增效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客户运营</a:t>
            </a:r>
            <a:r>
              <a:rPr lang="en-US" altLang="zh-CN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的全链路数字化管理体系，实现</a:t>
            </a:r>
            <a:r>
              <a:rPr lang="zh-CN" altLang="en-US" sz="1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需求精准响应、资源动态配置、成本持续优化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，支撑企业可持续增长。</a:t>
            </a:r>
            <a:endParaRPr lang="zh-CN" altLang="en-US" sz="15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84985" y="3354705"/>
            <a:ext cx="247015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消费品全生命周期管理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13155" y="3703955"/>
            <a:ext cx="756920" cy="450850"/>
            <a:chOff x="1753" y="5330"/>
            <a:chExt cx="1192" cy="710"/>
          </a:xfrm>
        </p:grpSpPr>
        <p:sp>
          <p:nvSpPr>
            <p:cNvPr id="24" name="矩形 23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7" name="Object60"/>
            <p:cNvSpPr/>
            <p:nvPr>
              <p:custDataLst>
                <p:tags r:id="rId3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市场需求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096770" y="3703955"/>
            <a:ext cx="757555" cy="450850"/>
            <a:chOff x="1753" y="5330"/>
            <a:chExt cx="1193" cy="710"/>
          </a:xfrm>
        </p:grpSpPr>
        <p:sp>
          <p:nvSpPr>
            <p:cNvPr id="30" name="矩形 29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Object60"/>
            <p:cNvSpPr/>
            <p:nvPr>
              <p:custDataLst>
                <p:tags r:id="rId4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产品生命周期管理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081020" y="3703955"/>
            <a:ext cx="757555" cy="450850"/>
            <a:chOff x="1753" y="5330"/>
            <a:chExt cx="1193" cy="710"/>
          </a:xfrm>
        </p:grpSpPr>
        <p:sp>
          <p:nvSpPr>
            <p:cNvPr id="33" name="矩形 32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Object60"/>
            <p:cNvSpPr/>
            <p:nvPr>
              <p:custDataLst>
                <p:tags r:id="rId5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渠道效能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65270" y="3703955"/>
            <a:ext cx="757555" cy="450850"/>
            <a:chOff x="1753" y="5330"/>
            <a:chExt cx="1193" cy="710"/>
          </a:xfrm>
        </p:grpSpPr>
        <p:sp>
          <p:nvSpPr>
            <p:cNvPr id="37" name="矩形 36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Object60"/>
            <p:cNvSpPr/>
            <p:nvPr>
              <p:custDataLst>
                <p:tags r:id="rId6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客户价值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分层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784985" y="4430395"/>
            <a:ext cx="243649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运营标准化与分析体系</a:t>
            </a:r>
            <a:endParaRPr lang="zh-CN" altLang="en-US" sz="15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148080" y="4779645"/>
            <a:ext cx="757555" cy="450850"/>
            <a:chOff x="1753" y="5330"/>
            <a:chExt cx="1193" cy="710"/>
          </a:xfrm>
        </p:grpSpPr>
        <p:sp>
          <p:nvSpPr>
            <p:cNvPr id="54" name="矩形 53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Object60"/>
            <p:cNvSpPr/>
            <p:nvPr>
              <p:custDataLst>
                <p:tags r:id="rId7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供应链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效率分析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131695" y="4779645"/>
            <a:ext cx="757555" cy="450850"/>
            <a:chOff x="1753" y="5330"/>
            <a:chExt cx="1193" cy="710"/>
          </a:xfrm>
        </p:grpSpPr>
        <p:sp>
          <p:nvSpPr>
            <p:cNvPr id="57" name="矩形 56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Object60"/>
            <p:cNvSpPr/>
            <p:nvPr>
              <p:custDataLst>
                <p:tags r:id="rId8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服务满意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度分析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115945" y="4779645"/>
            <a:ext cx="757555" cy="450850"/>
            <a:chOff x="1753" y="5330"/>
            <a:chExt cx="1193" cy="710"/>
          </a:xfrm>
        </p:grpSpPr>
        <p:sp>
          <p:nvSpPr>
            <p:cNvPr id="61" name="矩形 60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Object60"/>
            <p:cNvSpPr/>
            <p:nvPr>
              <p:custDataLst>
                <p:tags r:id="rId9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客户运营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100195" y="4779645"/>
            <a:ext cx="757555" cy="450850"/>
            <a:chOff x="1753" y="5330"/>
            <a:chExt cx="1193" cy="710"/>
          </a:xfrm>
        </p:grpSpPr>
        <p:sp>
          <p:nvSpPr>
            <p:cNvPr id="65" name="矩形 64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6"/>
                </a:solidFill>
                <a:cs typeface="微软雅黑" panose="020B0503020204020204" charset="-122"/>
              </a:endParaRPr>
            </a:p>
          </p:txBody>
        </p:sp>
        <p:sp>
          <p:nvSpPr>
            <p:cNvPr id="66" name="Object60"/>
            <p:cNvSpPr/>
            <p:nvPr>
              <p:custDataLst>
                <p:tags r:id="rId10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b="1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销售效能</a:t>
              </a:r>
              <a:endParaRPr lang="zh-CN" altLang="en-US" sz="105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b="1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endParaRPr lang="zh-CN" altLang="en-US" sz="105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1290320" y="5539740"/>
            <a:ext cx="35229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数据融合与智能决策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156970" y="5888990"/>
            <a:ext cx="757555" cy="450850"/>
            <a:chOff x="1753" y="5330"/>
            <a:chExt cx="1193" cy="710"/>
          </a:xfrm>
        </p:grpSpPr>
        <p:sp>
          <p:nvSpPr>
            <p:cNvPr id="72" name="矩形 71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" name="Object60"/>
            <p:cNvSpPr/>
            <p:nvPr>
              <p:custDataLst>
                <p:tags r:id="rId11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打通业务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数据链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140585" y="5888990"/>
            <a:ext cx="757555" cy="450850"/>
            <a:chOff x="1753" y="5330"/>
            <a:chExt cx="1193" cy="710"/>
          </a:xfrm>
        </p:grpSpPr>
        <p:sp>
          <p:nvSpPr>
            <p:cNvPr id="75" name="矩形 74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6" name="Object60"/>
            <p:cNvSpPr/>
            <p:nvPr>
              <p:custDataLst>
                <p:tags r:id="rId12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动态定价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策略体系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124835" y="5888990"/>
            <a:ext cx="757555" cy="450850"/>
            <a:chOff x="1753" y="5330"/>
            <a:chExt cx="1193" cy="710"/>
          </a:xfrm>
        </p:grpSpPr>
        <p:sp>
          <p:nvSpPr>
            <p:cNvPr id="78" name="矩形 77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9" name="Object60"/>
            <p:cNvSpPr/>
            <p:nvPr>
              <p:custDataLst>
                <p:tags r:id="rId13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促销资源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智能分配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109085" y="5888990"/>
            <a:ext cx="757555" cy="450850"/>
            <a:chOff x="1753" y="5330"/>
            <a:chExt cx="1193" cy="710"/>
          </a:xfrm>
        </p:grpSpPr>
        <p:sp>
          <p:nvSpPr>
            <p:cNvPr id="81" name="矩形 80"/>
            <p:cNvSpPr/>
            <p:nvPr/>
          </p:nvSpPr>
          <p:spPr>
            <a:xfrm>
              <a:off x="1753" y="5330"/>
              <a:ext cx="1179" cy="7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2" name="Object60"/>
            <p:cNvSpPr/>
            <p:nvPr>
              <p:custDataLst>
                <p:tags r:id="rId14"/>
              </p:custDataLst>
            </p:nvPr>
          </p:nvSpPr>
          <p:spPr>
            <a:xfrm flipH="1">
              <a:off x="1763" y="5437"/>
              <a:ext cx="1183" cy="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精准营销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731520"/>
              <a:r>
                <a:rPr lang="zh-CN" altLang="en-US" sz="105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触达</a:t>
              </a:r>
              <a:endPara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34" name="文本框 233"/>
          <p:cNvSpPr txBox="1"/>
          <p:nvPr/>
        </p:nvSpPr>
        <p:spPr>
          <a:xfrm>
            <a:off x="111760" y="4096385"/>
            <a:ext cx="535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需求洞察</a:t>
            </a:r>
            <a:endParaRPr lang="zh-CN" alt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115570" y="5252085"/>
            <a:ext cx="535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技术提效</a:t>
            </a:r>
            <a:endParaRPr lang="zh-CN" altLang="en-US" sz="12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 rot="16200000">
            <a:off x="5969000" y="849630"/>
            <a:ext cx="4740910" cy="6937375"/>
          </a:xfrm>
          <a:custGeom>
            <a:avLst/>
            <a:gdLst>
              <a:gd name="adj" fmla="val 36146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7304" h="10733">
                <a:moveTo>
                  <a:pt x="38" y="1506"/>
                </a:moveTo>
                <a:lnTo>
                  <a:pt x="2672" y="0"/>
                </a:lnTo>
                <a:lnTo>
                  <a:pt x="7304" y="1499"/>
                </a:lnTo>
                <a:lnTo>
                  <a:pt x="7304" y="1507"/>
                </a:lnTo>
                <a:lnTo>
                  <a:pt x="7293" y="1507"/>
                </a:lnTo>
                <a:lnTo>
                  <a:pt x="7293" y="10733"/>
                </a:lnTo>
                <a:lnTo>
                  <a:pt x="0" y="10733"/>
                </a:lnTo>
                <a:lnTo>
                  <a:pt x="0" y="1506"/>
                </a:lnTo>
                <a:lnTo>
                  <a:pt x="38" y="150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6"/>
              </a:solidFill>
              <a:cs typeface="微软雅黑" panose="020B0503020204020204" charset="-122"/>
              <a:sym typeface="+mn-ea"/>
            </a:endParaRPr>
          </a:p>
        </p:txBody>
      </p:sp>
      <p:grpSp>
        <p:nvGrpSpPr>
          <p:cNvPr id="498" name="显眼包PPT"/>
          <p:cNvGrpSpPr/>
          <p:nvPr/>
        </p:nvGrpSpPr>
        <p:grpSpPr>
          <a:xfrm>
            <a:off x="5656580" y="3504565"/>
            <a:ext cx="5935980" cy="175895"/>
            <a:chOff x="3701786" y="3441903"/>
            <a:chExt cx="4782717" cy="175999"/>
          </a:xfrm>
        </p:grpSpPr>
        <p:sp>
          <p:nvSpPr>
            <p:cNvPr id="483" name="显眼包PPT-1"/>
            <p:cNvSpPr/>
            <p:nvPr/>
          </p:nvSpPr>
          <p:spPr>
            <a:xfrm>
              <a:off x="3701786" y="3441903"/>
              <a:ext cx="4782717" cy="126905"/>
            </a:xfrm>
            <a:prstGeom prst="trapezoid">
              <a:avLst>
                <a:gd name="adj" fmla="val 12695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8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 w="635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97" name="显眼包PPT-2"/>
            <p:cNvSpPr/>
            <p:nvPr/>
          </p:nvSpPr>
          <p:spPr>
            <a:xfrm>
              <a:off x="3701786" y="3572183"/>
              <a:ext cx="4782717" cy="45719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</p:grpSp>
      <p:grpSp>
        <p:nvGrpSpPr>
          <p:cNvPr id="180" name="显眼包PPT"/>
          <p:cNvGrpSpPr/>
          <p:nvPr/>
        </p:nvGrpSpPr>
        <p:grpSpPr>
          <a:xfrm>
            <a:off x="5656580" y="4970780"/>
            <a:ext cx="5943600" cy="175895"/>
            <a:chOff x="3701786" y="3441903"/>
            <a:chExt cx="4782717" cy="175999"/>
          </a:xfrm>
        </p:grpSpPr>
        <p:sp>
          <p:nvSpPr>
            <p:cNvPr id="181" name="显眼包PPT-1"/>
            <p:cNvSpPr/>
            <p:nvPr/>
          </p:nvSpPr>
          <p:spPr>
            <a:xfrm>
              <a:off x="3701786" y="3441903"/>
              <a:ext cx="4782717" cy="126905"/>
            </a:xfrm>
            <a:prstGeom prst="trapezoid">
              <a:avLst>
                <a:gd name="adj" fmla="val 126950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8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6200000" scaled="1"/>
              <a:tileRect/>
            </a:gradFill>
            <a:ln w="635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82" name="显眼包PPT-2"/>
            <p:cNvSpPr/>
            <p:nvPr/>
          </p:nvSpPr>
          <p:spPr>
            <a:xfrm>
              <a:off x="3701786" y="3572183"/>
              <a:ext cx="4782717" cy="45719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</p:grpSp>
      <p:grpSp>
        <p:nvGrpSpPr>
          <p:cNvPr id="251" name="组合 250"/>
          <p:cNvGrpSpPr/>
          <p:nvPr/>
        </p:nvGrpSpPr>
        <p:grpSpPr>
          <a:xfrm rot="0">
            <a:off x="8783320" y="1970405"/>
            <a:ext cx="2870835" cy="1392555"/>
            <a:chOff x="23614" y="6785"/>
            <a:chExt cx="4521" cy="2193"/>
          </a:xfrm>
        </p:grpSpPr>
        <p:sp>
          <p:nvSpPr>
            <p:cNvPr id="226" name="不完整圆 100"/>
            <p:cNvSpPr/>
            <p:nvPr>
              <p:custDataLst>
                <p:tags r:id="rId15"/>
              </p:custDataLst>
            </p:nvPr>
          </p:nvSpPr>
          <p:spPr>
            <a:xfrm rot="10800000">
              <a:off x="23614" y="7169"/>
              <a:ext cx="1582" cy="1581"/>
            </a:xfrm>
            <a:prstGeom prst="pie">
              <a:avLst>
                <a:gd name="adj1" fmla="val 5449339"/>
                <a:gd name="adj2" fmla="val 16200000"/>
              </a:avLst>
            </a:prstGeom>
            <a:noFill/>
            <a:ln w="13716" cap="flat" cmpd="sng" algn="ctr">
              <a:gradFill flip="none" rotWithShape="1">
                <a:gsLst>
                  <a:gs pos="3000">
                    <a:schemeClr val="accent1">
                      <a:lumMod val="60000"/>
                      <a:lumOff val="40000"/>
                      <a:alpha val="0"/>
                    </a:schemeClr>
                  </a:gs>
                  <a:gs pos="11000">
                    <a:schemeClr val="accent1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prstDash val="dash"/>
              <a:miter lim="800000"/>
            </a:ln>
            <a:effectLst/>
          </p:spPr>
          <p:txBody>
            <a:bodyPr lIns="98755" tIns="49378" rIns="98755" bIns="49378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945" dirty="0">
                <a:solidFill>
                  <a:schemeClr val="accent6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227" name="直线连接符 97"/>
            <p:cNvCxnSpPr/>
            <p:nvPr>
              <p:custDataLst>
                <p:tags r:id="rId16"/>
              </p:custDataLst>
            </p:nvPr>
          </p:nvCxnSpPr>
          <p:spPr>
            <a:xfrm flipH="1">
              <a:off x="25134" y="7667"/>
              <a:ext cx="405" cy="2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dash"/>
              <a:headEnd type="triangle"/>
            </a:ln>
            <a:effectLst/>
          </p:spPr>
        </p:cxnSp>
        <p:cxnSp>
          <p:nvCxnSpPr>
            <p:cNvPr id="228" name="直线连接符 50"/>
            <p:cNvCxnSpPr/>
            <p:nvPr>
              <p:custDataLst>
                <p:tags r:id="rId17"/>
              </p:custDataLst>
            </p:nvPr>
          </p:nvCxnSpPr>
          <p:spPr>
            <a:xfrm flipH="1">
              <a:off x="24469" y="7144"/>
              <a:ext cx="812" cy="4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dash"/>
              <a:headEnd type="triangle"/>
            </a:ln>
            <a:effectLst/>
          </p:spPr>
        </p:cxnSp>
        <p:cxnSp>
          <p:nvCxnSpPr>
            <p:cNvPr id="230" name="直线连接符 97"/>
            <p:cNvCxnSpPr/>
            <p:nvPr>
              <p:custDataLst>
                <p:tags r:id="rId18"/>
              </p:custDataLst>
            </p:nvPr>
          </p:nvCxnSpPr>
          <p:spPr>
            <a:xfrm flipH="1">
              <a:off x="25153" y="8220"/>
              <a:ext cx="405" cy="2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dash"/>
              <a:headEnd type="triangle"/>
            </a:ln>
            <a:effectLst/>
          </p:spPr>
        </p:cxnSp>
        <p:cxnSp>
          <p:nvCxnSpPr>
            <p:cNvPr id="231" name="直线连接符 50"/>
            <p:cNvCxnSpPr/>
            <p:nvPr>
              <p:custDataLst>
                <p:tags r:id="rId19"/>
              </p:custDataLst>
            </p:nvPr>
          </p:nvCxnSpPr>
          <p:spPr>
            <a:xfrm flipH="1">
              <a:off x="24528" y="8749"/>
              <a:ext cx="909" cy="7"/>
            </a:xfrm>
            <a:prstGeom prst="line">
              <a:avLst/>
            </a:prstGeom>
            <a:noFill/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dash"/>
              <a:headEnd type="triangle"/>
            </a:ln>
            <a:effectLst/>
          </p:spPr>
        </p:cxnSp>
        <p:sp>
          <p:nvSpPr>
            <p:cNvPr id="232" name="椭圆 231"/>
            <p:cNvSpPr/>
            <p:nvPr/>
          </p:nvSpPr>
          <p:spPr>
            <a:xfrm>
              <a:off x="24082" y="7566"/>
              <a:ext cx="676" cy="67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accent6"/>
                </a:solidFill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矩形 232"/>
            <p:cNvSpPr/>
            <p:nvPr/>
          </p:nvSpPr>
          <p:spPr>
            <a:xfrm>
              <a:off x="24025" y="7736"/>
              <a:ext cx="790" cy="362"/>
            </a:xfrm>
            <a:prstGeom prst="rect">
              <a:avLst/>
            </a:prstGeom>
            <a:noFill/>
            <a:ln>
              <a:noFill/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>
                  <a:solidFill>
                    <a:schemeClr val="bg1"/>
                  </a:solidFill>
                  <a:cs typeface="微软雅黑" panose="020B0503020204020204" charset="-122"/>
                  <a:sym typeface="+mn-ea"/>
                </a:rPr>
                <a:t>策略</a:t>
              </a:r>
              <a:endParaRPr lang="zh-CN" altLang="en-US" sz="1000" b="1">
                <a:solidFill>
                  <a:schemeClr val="bg1"/>
                </a:solidFill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35" name="组合 234"/>
            <p:cNvGrpSpPr/>
            <p:nvPr/>
          </p:nvGrpSpPr>
          <p:grpSpPr>
            <a:xfrm>
              <a:off x="24427" y="7113"/>
              <a:ext cx="769" cy="1693"/>
              <a:chOff x="11551" y="4949"/>
              <a:chExt cx="1029" cy="2266"/>
            </a:xfrm>
          </p:grpSpPr>
          <p:sp>
            <p:nvSpPr>
              <p:cNvPr id="237" name="椭圆 2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11551" y="4949"/>
                <a:ext cx="135" cy="13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8" name="椭圆 237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551" y="7080"/>
                <a:ext cx="135" cy="13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9" name="椭圆 2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12445" y="5624"/>
                <a:ext cx="135" cy="13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40" name="椭圆 239"/>
              <p:cNvSpPr/>
              <p:nvPr>
                <p:custDataLst>
                  <p:tags r:id="rId23"/>
                </p:custDataLst>
              </p:nvPr>
            </p:nvSpPr>
            <p:spPr>
              <a:xfrm>
                <a:off x="12445" y="6382"/>
                <a:ext cx="135" cy="13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41" name="Text Box 103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5280" y="6785"/>
              <a:ext cx="2193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人均销量提升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2" name="Text Box 103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5475" y="7346"/>
              <a:ext cx="2193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平均客单价提升</a:t>
              </a:r>
              <a:endPara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3" name="Text Box 103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5530" y="7882"/>
              <a:ext cx="2605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高毛利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SKU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占比增加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6" name="Text Box 103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5371" y="8398"/>
              <a:ext cx="2193" cy="5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sz="120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拓展新区域</a:t>
              </a:r>
              <a:r>
                <a:rPr lang="en-US" altLang="zh-CN" sz="120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/</a:t>
              </a:r>
              <a:r>
                <a:rPr lang="zh-CN" altLang="en-US" sz="1200" dirty="0" err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渠道</a:t>
              </a:r>
              <a:endParaRPr lang="zh-CN" altLang="en-US" sz="120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50" name="组合 349"/>
          <p:cNvGrpSpPr/>
          <p:nvPr/>
        </p:nvGrpSpPr>
        <p:grpSpPr>
          <a:xfrm>
            <a:off x="6002020" y="2281555"/>
            <a:ext cx="3036570" cy="1125855"/>
            <a:chOff x="9452" y="3129"/>
            <a:chExt cx="4782" cy="1773"/>
          </a:xfrm>
        </p:grpSpPr>
        <p:grpSp>
          <p:nvGrpSpPr>
            <p:cNvPr id="274" name="组合 273"/>
            <p:cNvGrpSpPr/>
            <p:nvPr/>
          </p:nvGrpSpPr>
          <p:grpSpPr>
            <a:xfrm rot="0">
              <a:off x="11166" y="3129"/>
              <a:ext cx="2288" cy="479"/>
              <a:chOff x="10996" y="3157"/>
              <a:chExt cx="2288" cy="479"/>
            </a:xfrm>
          </p:grpSpPr>
          <p:grpSp>
            <p:nvGrpSpPr>
              <p:cNvPr id="1090" name="显眼包PPT"/>
              <p:cNvGrpSpPr/>
              <p:nvPr/>
            </p:nvGrpSpPr>
            <p:grpSpPr>
              <a:xfrm>
                <a:off x="10996" y="3157"/>
                <a:ext cx="2288" cy="479"/>
                <a:chOff x="5191704" y="4124207"/>
                <a:chExt cx="1452880" cy="304165"/>
              </a:xfrm>
            </p:grpSpPr>
            <p:sp>
              <p:nvSpPr>
                <p:cNvPr id="252" name="显眼包PPT-1"/>
                <p:cNvSpPr/>
                <p:nvPr/>
              </p:nvSpPr>
              <p:spPr>
                <a:xfrm>
                  <a:off x="5191704" y="4124207"/>
                  <a:ext cx="1452880" cy="30416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r"/>
                  <a:endParaRPr lang="zh-CN" altLang="en-US" sz="1600">
                    <a:solidFill>
                      <a:schemeClr val="tx1"/>
                    </a:solidFill>
                    <a:latin typeface="+mn-ea"/>
                    <a:cs typeface="微软雅黑" panose="020B0503020204020204" charset="-122"/>
                  </a:endParaRPr>
                </a:p>
              </p:txBody>
            </p:sp>
            <p:sp>
              <p:nvSpPr>
                <p:cNvPr id="260" name="显眼包PPT-2"/>
                <p:cNvSpPr/>
                <p:nvPr/>
              </p:nvSpPr>
              <p:spPr>
                <a:xfrm>
                  <a:off x="5257470" y="4176944"/>
                  <a:ext cx="198683" cy="1986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46000">
                      <a:schemeClr val="accent1">
                        <a:lumMod val="95000"/>
                        <a:lumOff val="5000"/>
                      </a:schemeClr>
                    </a:gs>
                    <a:gs pos="100000">
                      <a:schemeClr val="accent1">
                        <a:lumMod val="6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22225">
                  <a:noFill/>
                </a:ln>
                <a:effectLst>
                  <a:innerShdw blurRad="127000">
                    <a:schemeClr val="accent1">
                      <a:lumMod val="60000"/>
                      <a:lumOff val="40000"/>
                    </a:scheme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89555" tIns="44777" rIns="89555" bIns="44777" rtlCol="0" anchor="ctr"/>
                <a:lstStyle/>
                <a:p>
                  <a:pPr algn="ctr"/>
                  <a:endParaRPr lang="zh-CN" altLang="en-US" sz="1945">
                    <a:latin typeface="+mj-ea"/>
                    <a:ea typeface="+mj-ea"/>
                    <a:cs typeface="微软雅黑" panose="020B0503020204020204" charset="-122"/>
                  </a:endParaRPr>
                </a:p>
              </p:txBody>
            </p:sp>
            <p:sp>
              <p:nvSpPr>
                <p:cNvPr id="262" name="显眼包PPT-4"/>
                <p:cNvSpPr txBox="1"/>
                <p:nvPr/>
              </p:nvSpPr>
              <p:spPr>
                <a:xfrm>
                  <a:off x="5508083" y="4177452"/>
                  <a:ext cx="974090" cy="1841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spAutoFit/>
                </a:bodyPr>
                <a:lstStyle/>
                <a:p>
                  <a:pPr algn="ctr"/>
                  <a:r>
                    <a:rPr lang="zh-CN" altLang="en-US" sz="120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销售</a:t>
                  </a:r>
                  <a:r>
                    <a:rPr lang="en-US" altLang="zh-CN" sz="120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GMV</a:t>
                  </a:r>
                  <a:r>
                    <a:rPr lang="zh-CN" altLang="en-US" sz="1200">
                      <a:solidFill>
                        <a:schemeClr val="tx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提升</a:t>
                  </a:r>
                  <a:endParaRPr lang="zh-CN" altLang="en-US" sz="1200">
                    <a:cs typeface="微软雅黑" panose="020B0503020204020204" charset="-122"/>
                  </a:endParaRPr>
                </a:p>
              </p:txBody>
            </p:sp>
          </p:grpSp>
          <p:pic>
            <p:nvPicPr>
              <p:cNvPr id="273" name="图片 272" descr="销售额"/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1160" y="3296"/>
                <a:ext cx="183" cy="183"/>
              </a:xfrm>
              <a:prstGeom prst="rect">
                <a:avLst/>
              </a:prstGeom>
            </p:spPr>
          </p:pic>
        </p:grpSp>
        <p:grpSp>
          <p:nvGrpSpPr>
            <p:cNvPr id="280" name="显眼包PPT"/>
            <p:cNvGrpSpPr/>
            <p:nvPr/>
          </p:nvGrpSpPr>
          <p:grpSpPr>
            <a:xfrm rot="0">
              <a:off x="11166" y="3776"/>
              <a:ext cx="2288" cy="479"/>
              <a:chOff x="5191704" y="4124207"/>
              <a:chExt cx="1452880" cy="304165"/>
            </a:xfrm>
          </p:grpSpPr>
          <p:sp>
            <p:nvSpPr>
              <p:cNvPr id="281" name="显眼包PPT-1"/>
              <p:cNvSpPr/>
              <p:nvPr/>
            </p:nvSpPr>
            <p:spPr>
              <a:xfrm>
                <a:off x="5191704" y="4124207"/>
                <a:ext cx="1452880" cy="30416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/>
                <a:endParaRPr lang="zh-CN" altLang="en-US" sz="1600">
                  <a:solidFill>
                    <a:schemeClr val="tx1"/>
                  </a:solidFill>
                  <a:latin typeface="+mn-ea"/>
                  <a:cs typeface="微软雅黑" panose="020B0503020204020204" charset="-122"/>
                </a:endParaRPr>
              </a:p>
            </p:txBody>
          </p:sp>
          <p:sp>
            <p:nvSpPr>
              <p:cNvPr id="300" name="显眼包PPT-2"/>
              <p:cNvSpPr/>
              <p:nvPr/>
            </p:nvSpPr>
            <p:spPr>
              <a:xfrm>
                <a:off x="5257470" y="4176944"/>
                <a:ext cx="198683" cy="19868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6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22225">
                <a:noFill/>
              </a:ln>
              <a:effectLst>
                <a:innerShdw blurRad="1270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89555" tIns="44777" rIns="89555" bIns="44777" rtlCol="0" anchor="ctr"/>
              <a:lstStyle/>
              <a:p>
                <a:pPr algn="ctr"/>
                <a:endParaRPr lang="zh-CN" altLang="en-US" sz="1945"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301" name="显眼包PPT-4"/>
              <p:cNvSpPr txBox="1"/>
              <p:nvPr/>
            </p:nvSpPr>
            <p:spPr>
              <a:xfrm>
                <a:off x="5537928" y="4177452"/>
                <a:ext cx="914400" cy="18415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zh-CN" altLang="en-US" sz="1200">
                    <a:solidFill>
                      <a:schemeClr val="tx2"/>
                    </a:solidFill>
                    <a:cs typeface="微软雅黑" panose="020B0503020204020204" charset="-122"/>
                  </a:rPr>
                  <a:t>价格策略优化</a:t>
                </a:r>
                <a:endParaRPr lang="zh-CN" altLang="en-US" sz="1200">
                  <a:solidFill>
                    <a:schemeClr val="tx2"/>
                  </a:solidFill>
                  <a:cs typeface="微软雅黑" panose="020B0503020204020204" charset="-122"/>
                </a:endParaRPr>
              </a:p>
            </p:txBody>
          </p:sp>
        </p:grpSp>
        <p:grpSp>
          <p:nvGrpSpPr>
            <p:cNvPr id="304" name="显眼包PPT"/>
            <p:cNvGrpSpPr/>
            <p:nvPr/>
          </p:nvGrpSpPr>
          <p:grpSpPr>
            <a:xfrm rot="0">
              <a:off x="11166" y="4423"/>
              <a:ext cx="2288" cy="479"/>
              <a:chOff x="5191704" y="4124207"/>
              <a:chExt cx="1452880" cy="304165"/>
            </a:xfrm>
          </p:grpSpPr>
          <p:sp>
            <p:nvSpPr>
              <p:cNvPr id="305" name="显眼包PPT-1"/>
              <p:cNvSpPr/>
              <p:nvPr/>
            </p:nvSpPr>
            <p:spPr>
              <a:xfrm>
                <a:off x="5191704" y="4124207"/>
                <a:ext cx="1452880" cy="30416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/>
                <a:endParaRPr lang="zh-CN" altLang="en-US" sz="1600">
                  <a:solidFill>
                    <a:schemeClr val="tx1"/>
                  </a:solidFill>
                  <a:latin typeface="+mn-ea"/>
                  <a:cs typeface="微软雅黑" panose="020B0503020204020204" charset="-122"/>
                </a:endParaRPr>
              </a:p>
            </p:txBody>
          </p:sp>
          <p:sp>
            <p:nvSpPr>
              <p:cNvPr id="306" name="显眼包PPT-2"/>
              <p:cNvSpPr/>
              <p:nvPr/>
            </p:nvSpPr>
            <p:spPr>
              <a:xfrm>
                <a:off x="5257470" y="4176944"/>
                <a:ext cx="198683" cy="198681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46000">
                    <a:schemeClr val="accent1">
                      <a:lumMod val="95000"/>
                      <a:lumOff val="5000"/>
                    </a:schemeClr>
                  </a:gs>
                  <a:gs pos="100000">
                    <a:schemeClr val="accent1">
                      <a:lumMod val="6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22225">
                <a:noFill/>
              </a:ln>
              <a:effectLst>
                <a:innerShdw blurRad="127000">
                  <a:schemeClr val="accent1">
                    <a:lumMod val="60000"/>
                    <a:lumOff val="4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89555" tIns="44777" rIns="89555" bIns="44777" rtlCol="0" anchor="ctr"/>
              <a:lstStyle/>
              <a:p>
                <a:pPr algn="ctr"/>
                <a:endParaRPr lang="zh-CN" altLang="en-US" sz="1945"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307" name="显眼包PPT-4"/>
              <p:cNvSpPr txBox="1"/>
              <p:nvPr/>
            </p:nvSpPr>
            <p:spPr>
              <a:xfrm>
                <a:off x="5507448" y="4177452"/>
                <a:ext cx="1066800" cy="18415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zh-CN" altLang="en-US" sz="12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新产品增长趋势</a:t>
                </a:r>
                <a:endParaRPr lang="zh-CN" altLang="en-US" sz="1200">
                  <a:cs typeface="微软雅黑" panose="020B0503020204020204" charset="-122"/>
                </a:endParaRPr>
              </a:p>
            </p:txBody>
          </p:sp>
        </p:grpSp>
        <p:sp>
          <p:nvSpPr>
            <p:cNvPr id="309" name="右中括号 308"/>
            <p:cNvSpPr/>
            <p:nvPr/>
          </p:nvSpPr>
          <p:spPr>
            <a:xfrm>
              <a:off x="13481" y="3257"/>
              <a:ext cx="186" cy="924"/>
            </a:xfrm>
            <a:prstGeom prst="rightBracke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/>
                </a:solidFill>
                <a:cs typeface="微软雅黑" panose="020B0503020204020204" charset="-122"/>
              </a:endParaRPr>
            </a:p>
          </p:txBody>
        </p:sp>
        <p:cxnSp>
          <p:nvCxnSpPr>
            <p:cNvPr id="310" name="直接连接符 309"/>
            <p:cNvCxnSpPr/>
            <p:nvPr/>
          </p:nvCxnSpPr>
          <p:spPr>
            <a:xfrm>
              <a:off x="13667" y="3771"/>
              <a:ext cx="567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14" name="显眼包PPT"/>
            <p:cNvGrpSpPr/>
            <p:nvPr/>
          </p:nvGrpSpPr>
          <p:grpSpPr>
            <a:xfrm rot="0">
              <a:off x="9452" y="3410"/>
              <a:ext cx="1210" cy="1315"/>
              <a:chOff x="2109843" y="885746"/>
              <a:chExt cx="627380" cy="700632"/>
            </a:xfrm>
          </p:grpSpPr>
          <p:sp>
            <p:nvSpPr>
              <p:cNvPr id="315" name="显眼包PPT-1"/>
              <p:cNvSpPr/>
              <p:nvPr/>
            </p:nvSpPr>
            <p:spPr>
              <a:xfrm>
                <a:off x="2109843" y="885746"/>
                <a:ext cx="627380" cy="700632"/>
              </a:xfrm>
              <a:custGeom>
                <a:avLst/>
                <a:gdLst>
                  <a:gd name="connsiteX0" fmla="*/ 498562 w 848053"/>
                  <a:gd name="connsiteY0" fmla="*/ 26961 h 947071"/>
                  <a:gd name="connsiteX1" fmla="*/ 636035 w 848053"/>
                  <a:gd name="connsiteY1" fmla="*/ 106330 h 947071"/>
                  <a:gd name="connsiteX2" fmla="*/ 773510 w 848053"/>
                  <a:gd name="connsiteY2" fmla="*/ 185701 h 947071"/>
                  <a:gd name="connsiteX3" fmla="*/ 848038 w 848053"/>
                  <a:gd name="connsiteY3" fmla="*/ 314794 h 947071"/>
                  <a:gd name="connsiteX4" fmla="*/ 848038 w 848053"/>
                  <a:gd name="connsiteY4" fmla="*/ 473534 h 947071"/>
                  <a:gd name="connsiteX5" fmla="*/ 848038 w 848053"/>
                  <a:gd name="connsiteY5" fmla="*/ 632279 h 947071"/>
                  <a:gd name="connsiteX6" fmla="*/ 773510 w 848053"/>
                  <a:gd name="connsiteY6" fmla="*/ 761369 h 947071"/>
                  <a:gd name="connsiteX7" fmla="*/ 636035 w 848053"/>
                  <a:gd name="connsiteY7" fmla="*/ 840738 h 947071"/>
                  <a:gd name="connsiteX8" fmla="*/ 498562 w 848053"/>
                  <a:gd name="connsiteY8" fmla="*/ 920107 h 947071"/>
                  <a:gd name="connsiteX9" fmla="*/ 349489 w 848053"/>
                  <a:gd name="connsiteY9" fmla="*/ 920107 h 947071"/>
                  <a:gd name="connsiteX10" fmla="*/ 212022 w 848053"/>
                  <a:gd name="connsiteY10" fmla="*/ 840738 h 947071"/>
                  <a:gd name="connsiteX11" fmla="*/ 74554 w 848053"/>
                  <a:gd name="connsiteY11" fmla="*/ 761369 h 947071"/>
                  <a:gd name="connsiteX12" fmla="*/ 19 w 848053"/>
                  <a:gd name="connsiteY12" fmla="*/ 632279 h 947071"/>
                  <a:gd name="connsiteX13" fmla="*/ 19 w 848053"/>
                  <a:gd name="connsiteY13" fmla="*/ 473535 h 947071"/>
                  <a:gd name="connsiteX14" fmla="*/ 19 w 848053"/>
                  <a:gd name="connsiteY14" fmla="*/ 314795 h 947071"/>
                  <a:gd name="connsiteX15" fmla="*/ 74554 w 848053"/>
                  <a:gd name="connsiteY15" fmla="*/ 185702 h 947071"/>
                  <a:gd name="connsiteX16" fmla="*/ 212022 w 848053"/>
                  <a:gd name="connsiteY16" fmla="*/ 106330 h 947071"/>
                  <a:gd name="connsiteX17" fmla="*/ 349489 w 848053"/>
                  <a:gd name="connsiteY17" fmla="*/ 26961 h 947071"/>
                  <a:gd name="connsiteX18" fmla="*/ 498562 w 848053"/>
                  <a:gd name="connsiteY18" fmla="*/ 26961 h 94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8053" h="947071">
                    <a:moveTo>
                      <a:pt x="498562" y="26961"/>
                    </a:moveTo>
                    <a:cubicBezTo>
                      <a:pt x="544385" y="53416"/>
                      <a:pt x="590207" y="79874"/>
                      <a:pt x="636035" y="106330"/>
                    </a:cubicBezTo>
                    <a:cubicBezTo>
                      <a:pt x="681858" y="132786"/>
                      <a:pt x="727701" y="159210"/>
                      <a:pt x="773510" y="185701"/>
                    </a:cubicBezTo>
                    <a:cubicBezTo>
                      <a:pt x="836737" y="222272"/>
                      <a:pt x="846672" y="241592"/>
                      <a:pt x="848038" y="314794"/>
                    </a:cubicBezTo>
                    <a:lnTo>
                      <a:pt x="848038" y="473534"/>
                    </a:lnTo>
                    <a:cubicBezTo>
                      <a:pt x="848038" y="526446"/>
                      <a:pt x="848074" y="579367"/>
                      <a:pt x="848038" y="632279"/>
                    </a:cubicBezTo>
                    <a:cubicBezTo>
                      <a:pt x="847982" y="705330"/>
                      <a:pt x="836214" y="723584"/>
                      <a:pt x="773510" y="761369"/>
                    </a:cubicBezTo>
                    <a:cubicBezTo>
                      <a:pt x="727680" y="787831"/>
                      <a:pt x="681857" y="814281"/>
                      <a:pt x="636035" y="840738"/>
                    </a:cubicBezTo>
                    <a:cubicBezTo>
                      <a:pt x="590205" y="867194"/>
                      <a:pt x="544405" y="893685"/>
                      <a:pt x="498562" y="920107"/>
                    </a:cubicBezTo>
                    <a:cubicBezTo>
                      <a:pt x="435276" y="956589"/>
                      <a:pt x="413575" y="955527"/>
                      <a:pt x="349489" y="920107"/>
                    </a:cubicBezTo>
                    <a:cubicBezTo>
                      <a:pt x="303667" y="893657"/>
                      <a:pt x="257844" y="867194"/>
                      <a:pt x="212022" y="840738"/>
                    </a:cubicBezTo>
                    <a:cubicBezTo>
                      <a:pt x="166201" y="814281"/>
                      <a:pt x="120348" y="787860"/>
                      <a:pt x="74554" y="761369"/>
                    </a:cubicBezTo>
                    <a:cubicBezTo>
                      <a:pt x="11312" y="724802"/>
                      <a:pt x="1383" y="705477"/>
                      <a:pt x="19" y="632279"/>
                    </a:cubicBezTo>
                    <a:lnTo>
                      <a:pt x="19" y="473535"/>
                    </a:lnTo>
                    <a:cubicBezTo>
                      <a:pt x="19" y="420623"/>
                      <a:pt x="-24" y="367707"/>
                      <a:pt x="19" y="314795"/>
                    </a:cubicBezTo>
                    <a:cubicBezTo>
                      <a:pt x="75" y="241744"/>
                      <a:pt x="11836" y="223486"/>
                      <a:pt x="74554" y="185702"/>
                    </a:cubicBezTo>
                    <a:cubicBezTo>
                      <a:pt x="120370" y="159246"/>
                      <a:pt x="166199" y="132786"/>
                      <a:pt x="212022" y="106330"/>
                    </a:cubicBezTo>
                    <a:cubicBezTo>
                      <a:pt x="257844" y="79875"/>
                      <a:pt x="303653" y="53382"/>
                      <a:pt x="349489" y="26961"/>
                    </a:cubicBezTo>
                    <a:cubicBezTo>
                      <a:pt x="412782" y="-9514"/>
                      <a:pt x="434483" y="-8456"/>
                      <a:pt x="498562" y="2696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  <a:alpha val="29000"/>
                    </a:schemeClr>
                  </a:gs>
                </a:gsLst>
                <a:lin ang="5400000" scaled="1"/>
                <a:tileRect/>
              </a:gradFill>
              <a:ln w="25400">
                <a:noFill/>
              </a:ln>
              <a:effectLst>
                <a:outerShdw blurRad="241300" dist="190500" dir="5400000" sx="94000" sy="94000" algn="t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600" spc="300">
                  <a:solidFill>
                    <a:srgbClr val="FFFFFF"/>
                  </a:solidFill>
                  <a:effectLst>
                    <a:outerShdw blurRad="50800" dist="38100" dir="5400000" algn="t" rotWithShape="0">
                      <a:srgbClr val="1D4273">
                        <a:lumMod val="75000"/>
                        <a:alpha val="40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316" name="显眼包PPT-2"/>
              <p:cNvSpPr/>
              <p:nvPr/>
            </p:nvSpPr>
            <p:spPr>
              <a:xfrm>
                <a:off x="2197728" y="983891"/>
                <a:ext cx="451610" cy="504343"/>
              </a:xfrm>
              <a:custGeom>
                <a:avLst/>
                <a:gdLst>
                  <a:gd name="connsiteX0" fmla="*/ 498562 w 848053"/>
                  <a:gd name="connsiteY0" fmla="*/ 26961 h 947071"/>
                  <a:gd name="connsiteX1" fmla="*/ 636035 w 848053"/>
                  <a:gd name="connsiteY1" fmla="*/ 106330 h 947071"/>
                  <a:gd name="connsiteX2" fmla="*/ 773510 w 848053"/>
                  <a:gd name="connsiteY2" fmla="*/ 185701 h 947071"/>
                  <a:gd name="connsiteX3" fmla="*/ 848038 w 848053"/>
                  <a:gd name="connsiteY3" fmla="*/ 314794 h 947071"/>
                  <a:gd name="connsiteX4" fmla="*/ 848038 w 848053"/>
                  <a:gd name="connsiteY4" fmla="*/ 473534 h 947071"/>
                  <a:gd name="connsiteX5" fmla="*/ 848038 w 848053"/>
                  <a:gd name="connsiteY5" fmla="*/ 632279 h 947071"/>
                  <a:gd name="connsiteX6" fmla="*/ 773510 w 848053"/>
                  <a:gd name="connsiteY6" fmla="*/ 761369 h 947071"/>
                  <a:gd name="connsiteX7" fmla="*/ 636035 w 848053"/>
                  <a:gd name="connsiteY7" fmla="*/ 840738 h 947071"/>
                  <a:gd name="connsiteX8" fmla="*/ 498562 w 848053"/>
                  <a:gd name="connsiteY8" fmla="*/ 920107 h 947071"/>
                  <a:gd name="connsiteX9" fmla="*/ 349489 w 848053"/>
                  <a:gd name="connsiteY9" fmla="*/ 920107 h 947071"/>
                  <a:gd name="connsiteX10" fmla="*/ 212022 w 848053"/>
                  <a:gd name="connsiteY10" fmla="*/ 840738 h 947071"/>
                  <a:gd name="connsiteX11" fmla="*/ 74554 w 848053"/>
                  <a:gd name="connsiteY11" fmla="*/ 761369 h 947071"/>
                  <a:gd name="connsiteX12" fmla="*/ 19 w 848053"/>
                  <a:gd name="connsiteY12" fmla="*/ 632279 h 947071"/>
                  <a:gd name="connsiteX13" fmla="*/ 19 w 848053"/>
                  <a:gd name="connsiteY13" fmla="*/ 473535 h 947071"/>
                  <a:gd name="connsiteX14" fmla="*/ 19 w 848053"/>
                  <a:gd name="connsiteY14" fmla="*/ 314795 h 947071"/>
                  <a:gd name="connsiteX15" fmla="*/ 74554 w 848053"/>
                  <a:gd name="connsiteY15" fmla="*/ 185702 h 947071"/>
                  <a:gd name="connsiteX16" fmla="*/ 212022 w 848053"/>
                  <a:gd name="connsiteY16" fmla="*/ 106330 h 947071"/>
                  <a:gd name="connsiteX17" fmla="*/ 349489 w 848053"/>
                  <a:gd name="connsiteY17" fmla="*/ 26961 h 947071"/>
                  <a:gd name="connsiteX18" fmla="*/ 498562 w 848053"/>
                  <a:gd name="connsiteY18" fmla="*/ 26961 h 94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48053" h="947071">
                    <a:moveTo>
                      <a:pt x="498562" y="26961"/>
                    </a:moveTo>
                    <a:cubicBezTo>
                      <a:pt x="544385" y="53416"/>
                      <a:pt x="590207" y="79874"/>
                      <a:pt x="636035" y="106330"/>
                    </a:cubicBezTo>
                    <a:cubicBezTo>
                      <a:pt x="681858" y="132786"/>
                      <a:pt x="727701" y="159210"/>
                      <a:pt x="773510" y="185701"/>
                    </a:cubicBezTo>
                    <a:cubicBezTo>
                      <a:pt x="836737" y="222272"/>
                      <a:pt x="846672" y="241592"/>
                      <a:pt x="848038" y="314794"/>
                    </a:cubicBezTo>
                    <a:lnTo>
                      <a:pt x="848038" y="473534"/>
                    </a:lnTo>
                    <a:cubicBezTo>
                      <a:pt x="848038" y="526446"/>
                      <a:pt x="848074" y="579367"/>
                      <a:pt x="848038" y="632279"/>
                    </a:cubicBezTo>
                    <a:cubicBezTo>
                      <a:pt x="847982" y="705330"/>
                      <a:pt x="836214" y="723584"/>
                      <a:pt x="773510" y="761369"/>
                    </a:cubicBezTo>
                    <a:cubicBezTo>
                      <a:pt x="727680" y="787831"/>
                      <a:pt x="681857" y="814281"/>
                      <a:pt x="636035" y="840738"/>
                    </a:cubicBezTo>
                    <a:cubicBezTo>
                      <a:pt x="590205" y="867194"/>
                      <a:pt x="544405" y="893685"/>
                      <a:pt x="498562" y="920107"/>
                    </a:cubicBezTo>
                    <a:cubicBezTo>
                      <a:pt x="435276" y="956589"/>
                      <a:pt x="413575" y="955527"/>
                      <a:pt x="349489" y="920107"/>
                    </a:cubicBezTo>
                    <a:cubicBezTo>
                      <a:pt x="303667" y="893657"/>
                      <a:pt x="257844" y="867194"/>
                      <a:pt x="212022" y="840738"/>
                    </a:cubicBezTo>
                    <a:cubicBezTo>
                      <a:pt x="166201" y="814281"/>
                      <a:pt x="120348" y="787860"/>
                      <a:pt x="74554" y="761369"/>
                    </a:cubicBezTo>
                    <a:cubicBezTo>
                      <a:pt x="11312" y="724802"/>
                      <a:pt x="1383" y="705477"/>
                      <a:pt x="19" y="632279"/>
                    </a:cubicBezTo>
                    <a:lnTo>
                      <a:pt x="19" y="473535"/>
                    </a:lnTo>
                    <a:cubicBezTo>
                      <a:pt x="19" y="420623"/>
                      <a:pt x="-24" y="367707"/>
                      <a:pt x="19" y="314795"/>
                    </a:cubicBezTo>
                    <a:cubicBezTo>
                      <a:pt x="75" y="241744"/>
                      <a:pt x="11836" y="223486"/>
                      <a:pt x="74554" y="185702"/>
                    </a:cubicBezTo>
                    <a:cubicBezTo>
                      <a:pt x="120370" y="159246"/>
                      <a:pt x="166199" y="132786"/>
                      <a:pt x="212022" y="106330"/>
                    </a:cubicBezTo>
                    <a:cubicBezTo>
                      <a:pt x="257844" y="79875"/>
                      <a:pt x="303653" y="53382"/>
                      <a:pt x="349489" y="26961"/>
                    </a:cubicBezTo>
                    <a:cubicBezTo>
                      <a:pt x="412782" y="-9514"/>
                      <a:pt x="434483" y="-8456"/>
                      <a:pt x="498562" y="26961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7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>
                <a:gradFill>
                  <a:gsLst>
                    <a:gs pos="15000">
                      <a:schemeClr val="bg1"/>
                    </a:gs>
                    <a:gs pos="73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effectLst>
                <a:outerShdw blurRad="241300" dir="5400000" sx="98000" sy="98000" algn="t" rotWithShape="0">
                  <a:schemeClr val="accent1">
                    <a:lumMod val="60000"/>
                    <a:lumOff val="40000"/>
                    <a:alpha val="6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zh-CN" altLang="en-US" sz="1600" b="1">
                    <a:solidFill>
                      <a:srgbClr val="FFFFFF"/>
                    </a:solidFill>
                    <a:effectLst>
                      <a:outerShdw blurRad="50800" dist="38100" dir="5400000" algn="t" rotWithShape="0">
                        <a:schemeClr val="accent1">
                          <a:lumMod val="75000"/>
                          <a:alpha val="40000"/>
                        </a:scheme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收入</a:t>
                </a:r>
                <a:endParaRPr lang="zh-CN" altLang="en-US" sz="1600" b="1">
                  <a:solidFill>
                    <a:srgbClr val="FFFFFF"/>
                  </a:solidFill>
                  <a:effectLst>
                    <a:outerShdw blurRad="50800" dist="38100" dir="5400000" algn="t" rotWithShape="0">
                      <a:schemeClr val="accent1">
                        <a:lumMod val="75000"/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17" name="梯形 316"/>
            <p:cNvSpPr/>
            <p:nvPr/>
          </p:nvSpPr>
          <p:spPr>
            <a:xfrm rot="16200000">
              <a:off x="10117" y="3733"/>
              <a:ext cx="1426" cy="672"/>
            </a:xfrm>
            <a:prstGeom prst="trapezoid">
              <a:avLst>
                <a:gd name="adj" fmla="val 73363"/>
              </a:avLst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29000"/>
                  </a:schemeClr>
                </a:gs>
              </a:gsLst>
              <a:lin ang="5400000" scaled="0"/>
            </a:gradFill>
            <a:ln w="12700" cmpd="sng">
              <a:gradFill>
                <a:gsLst>
                  <a:gs pos="1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cxnSp>
          <p:nvCxnSpPr>
            <p:cNvPr id="321" name="直接连接符 320"/>
            <p:cNvCxnSpPr>
              <a:stCxn id="317" idx="0"/>
              <a:endCxn id="317" idx="2"/>
            </p:cNvCxnSpPr>
            <p:nvPr/>
          </p:nvCxnSpPr>
          <p:spPr>
            <a:xfrm>
              <a:off x="10494" y="4069"/>
              <a:ext cx="672" cy="0"/>
            </a:xfrm>
            <a:prstGeom prst="line">
              <a:avLst/>
            </a:prstGeom>
            <a:ln w="15875">
              <a:gradFill>
                <a:gsLst>
                  <a:gs pos="15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1"/>
              </a:gra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23" name="图片 322" descr="3.1-价格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306" y="3896"/>
              <a:ext cx="243" cy="243"/>
            </a:xfrm>
            <a:prstGeom prst="rect">
              <a:avLst/>
            </a:prstGeom>
          </p:spPr>
        </p:pic>
        <p:pic>
          <p:nvPicPr>
            <p:cNvPr id="324" name="图片 323" descr="agora_产品组合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1269" y="4493"/>
              <a:ext cx="326" cy="326"/>
            </a:xfrm>
            <a:prstGeom prst="rect">
              <a:avLst/>
            </a:prstGeom>
          </p:spPr>
        </p:pic>
      </p:grpSp>
      <p:grpSp>
        <p:nvGrpSpPr>
          <p:cNvPr id="349" name="组合 348"/>
          <p:cNvGrpSpPr/>
          <p:nvPr/>
        </p:nvGrpSpPr>
        <p:grpSpPr>
          <a:xfrm>
            <a:off x="8799830" y="3943350"/>
            <a:ext cx="2728595" cy="824230"/>
            <a:chOff x="13858" y="5874"/>
            <a:chExt cx="4297" cy="1298"/>
          </a:xfrm>
        </p:grpSpPr>
        <p:sp>
          <p:nvSpPr>
            <p:cNvPr id="326" name="Text Box 1030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4054" y="5932"/>
              <a:ext cx="1283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物流成本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7" name="Text Box 103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6763" y="6333"/>
              <a:ext cx="1308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生产效率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8" name="Text Box 103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6578" y="5874"/>
              <a:ext cx="1464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原料采购成本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29" name="直接连接符 328"/>
            <p:cNvCxnSpPr/>
            <p:nvPr/>
          </p:nvCxnSpPr>
          <p:spPr>
            <a:xfrm>
              <a:off x="14885" y="6137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grpSp>
          <p:nvGrpSpPr>
            <p:cNvPr id="330" name="组合 329"/>
            <p:cNvGrpSpPr/>
            <p:nvPr/>
          </p:nvGrpSpPr>
          <p:grpSpPr>
            <a:xfrm rot="0">
              <a:off x="15160" y="6021"/>
              <a:ext cx="1151" cy="1151"/>
              <a:chOff x="16037" y="5688"/>
              <a:chExt cx="996" cy="996"/>
            </a:xfrm>
          </p:grpSpPr>
          <p:sp>
            <p:nvSpPr>
              <p:cNvPr id="331" name="椭圆 330"/>
              <p:cNvSpPr/>
              <p:nvPr/>
            </p:nvSpPr>
            <p:spPr>
              <a:xfrm>
                <a:off x="16037" y="5688"/>
                <a:ext cx="996" cy="99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  <a:alpha val="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2"/>
                  </a:solidFill>
                  <a:cs typeface="微软雅黑" panose="020B0503020204020204" charset="-122"/>
                </a:endParaRPr>
              </a:p>
            </p:txBody>
          </p:sp>
          <p:sp>
            <p:nvSpPr>
              <p:cNvPr id="332" name="椭圆 331"/>
              <p:cNvSpPr/>
              <p:nvPr/>
            </p:nvSpPr>
            <p:spPr>
              <a:xfrm>
                <a:off x="16169" y="5820"/>
                <a:ext cx="733" cy="733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chemeClr val="tx2"/>
                  </a:solidFill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333" name="矩形 332"/>
              <p:cNvSpPr/>
              <p:nvPr/>
            </p:nvSpPr>
            <p:spPr>
              <a:xfrm>
                <a:off x="16140" y="5896"/>
                <a:ext cx="790" cy="580"/>
              </a:xfrm>
              <a:prstGeom prst="rect">
                <a:avLst/>
              </a:prstGeom>
              <a:noFill/>
              <a:ln>
                <a:noFill/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6">
                        <a:lumMod val="20000"/>
                        <a:lumOff val="80000"/>
                        <a:alpha val="5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1000" b="1">
                    <a:solidFill>
                      <a:schemeClr val="bg1"/>
                    </a:solidFill>
                    <a:cs typeface="微软雅黑" panose="020B0503020204020204" charset="-122"/>
                    <a:sym typeface="+mn-ea"/>
                  </a:rPr>
                  <a:t>控制点</a:t>
                </a:r>
                <a:endParaRPr lang="zh-CN" altLang="en-US" sz="1000" b="1">
                  <a:solidFill>
                    <a:schemeClr val="bg1"/>
                  </a:solidFill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334" name="椭圆 333"/>
            <p:cNvSpPr/>
            <p:nvPr>
              <p:custDataLst>
                <p:tags r:id="rId37"/>
              </p:custDataLst>
            </p:nvPr>
          </p:nvSpPr>
          <p:spPr>
            <a:xfrm>
              <a:off x="15279" y="6084"/>
              <a:ext cx="117" cy="11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5" name="椭圆 334"/>
            <p:cNvSpPr/>
            <p:nvPr>
              <p:custDataLst>
                <p:tags r:id="rId38"/>
              </p:custDataLst>
            </p:nvPr>
          </p:nvSpPr>
          <p:spPr>
            <a:xfrm>
              <a:off x="16085" y="6084"/>
              <a:ext cx="117" cy="11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6" name="椭圆 335"/>
            <p:cNvSpPr/>
            <p:nvPr>
              <p:custDataLst>
                <p:tags r:id="rId39"/>
              </p:custDataLst>
            </p:nvPr>
          </p:nvSpPr>
          <p:spPr>
            <a:xfrm>
              <a:off x="16113" y="6926"/>
              <a:ext cx="117" cy="11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7" name="椭圆 336"/>
            <p:cNvSpPr/>
            <p:nvPr>
              <p:custDataLst>
                <p:tags r:id="rId40"/>
              </p:custDataLst>
            </p:nvPr>
          </p:nvSpPr>
          <p:spPr>
            <a:xfrm>
              <a:off x="15226" y="6927"/>
              <a:ext cx="117" cy="11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8" name="椭圆 337"/>
            <p:cNvSpPr/>
            <p:nvPr>
              <p:custDataLst>
                <p:tags r:id="rId41"/>
              </p:custDataLst>
            </p:nvPr>
          </p:nvSpPr>
          <p:spPr>
            <a:xfrm>
              <a:off x="15109" y="6523"/>
              <a:ext cx="117" cy="11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9" name="椭圆 338"/>
            <p:cNvSpPr/>
            <p:nvPr>
              <p:custDataLst>
                <p:tags r:id="rId42"/>
              </p:custDataLst>
            </p:nvPr>
          </p:nvSpPr>
          <p:spPr>
            <a:xfrm>
              <a:off x="16252" y="6522"/>
              <a:ext cx="117" cy="11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>
            <a:xfrm>
              <a:off x="14722" y="6586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cxnSp>
          <p:nvCxnSpPr>
            <p:cNvPr id="341" name="直接连接符 340"/>
            <p:cNvCxnSpPr/>
            <p:nvPr/>
          </p:nvCxnSpPr>
          <p:spPr>
            <a:xfrm>
              <a:off x="14841" y="6985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sp>
          <p:nvSpPr>
            <p:cNvPr id="342" name="Text Box 103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3858" y="6359"/>
              <a:ext cx="1076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库存成本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3" name="Text Box 103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14147" y="6770"/>
              <a:ext cx="972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 anchor="ctr" anchorCtr="0">
              <a:no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人效比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44" name="直接连接符 343"/>
            <p:cNvCxnSpPr/>
            <p:nvPr/>
          </p:nvCxnSpPr>
          <p:spPr>
            <a:xfrm flipH="1">
              <a:off x="16230" y="6148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cxnSp>
          <p:nvCxnSpPr>
            <p:cNvPr id="345" name="直接连接符 344"/>
            <p:cNvCxnSpPr/>
            <p:nvPr/>
          </p:nvCxnSpPr>
          <p:spPr>
            <a:xfrm flipH="1">
              <a:off x="16369" y="6586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cxnSp>
          <p:nvCxnSpPr>
            <p:cNvPr id="346" name="直接连接符 345"/>
            <p:cNvCxnSpPr/>
            <p:nvPr/>
          </p:nvCxnSpPr>
          <p:spPr>
            <a:xfrm flipH="1">
              <a:off x="16230" y="6985"/>
              <a:ext cx="394" cy="0"/>
            </a:xfrm>
            <a:prstGeom prst="line">
              <a:avLst/>
            </a:prstGeom>
            <a:noFill/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ysDash"/>
              <a:headEnd type="triangle"/>
            </a:ln>
            <a:effectLst/>
          </p:spPr>
        </p:cxnSp>
        <p:sp>
          <p:nvSpPr>
            <p:cNvPr id="347" name="Text Box 1030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6587" y="6716"/>
              <a:ext cx="1568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C4274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7E6E6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职能调整并岗</a:t>
              </a:r>
              <a:endPara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3" name="显眼包PPT"/>
          <p:cNvGrpSpPr/>
          <p:nvPr/>
        </p:nvGrpSpPr>
        <p:grpSpPr>
          <a:xfrm rot="0">
            <a:off x="7090410" y="3981450"/>
            <a:ext cx="1452880" cy="304165"/>
            <a:chOff x="5191704" y="4124207"/>
            <a:chExt cx="1452880" cy="304165"/>
          </a:xfrm>
        </p:grpSpPr>
        <p:sp>
          <p:nvSpPr>
            <p:cNvPr id="354" name="显眼包PPT-1"/>
            <p:cNvSpPr/>
            <p:nvPr/>
          </p:nvSpPr>
          <p:spPr>
            <a:xfrm>
              <a:off x="5191704" y="4124207"/>
              <a:ext cx="1452880" cy="30416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endParaRPr lang="zh-CN" altLang="en-US" sz="1600">
                <a:solidFill>
                  <a:schemeClr val="tx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355" name="显眼包PPT-2"/>
            <p:cNvSpPr/>
            <p:nvPr/>
          </p:nvSpPr>
          <p:spPr>
            <a:xfrm>
              <a:off x="5257470" y="4176944"/>
              <a:ext cx="198683" cy="198681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path path="circle">
                <a:fillToRect r="100000" b="100000"/>
              </a:path>
              <a:tileRect l="-100000" t="-100000"/>
            </a:gradFill>
            <a:ln w="22225">
              <a:noFill/>
            </a:ln>
            <a:effectLst>
              <a:innerShdw blurRad="127000">
                <a:schemeClr val="accent5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9555" tIns="44777" rIns="89555" bIns="44777" rtlCol="0" anchor="ctr"/>
            <a:lstStyle/>
            <a:p>
              <a:pPr algn="ctr"/>
              <a:endParaRPr lang="zh-CN" altLang="en-US" sz="1945"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356" name="显眼包PPT-4"/>
            <p:cNvSpPr txBox="1"/>
            <p:nvPr/>
          </p:nvSpPr>
          <p:spPr>
            <a:xfrm>
              <a:off x="5537928" y="4177452"/>
              <a:ext cx="914400" cy="1841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sz="1200">
                  <a:cs typeface="微软雅黑" panose="020B0503020204020204" charset="-122"/>
                </a:rPr>
                <a:t>生产成本降低</a:t>
              </a:r>
              <a:endParaRPr lang="zh-CN" sz="1200">
                <a:cs typeface="微软雅黑" panose="020B0503020204020204" charset="-122"/>
              </a:endParaRPr>
            </a:p>
          </p:txBody>
        </p:sp>
      </p:grpSp>
      <p:grpSp>
        <p:nvGrpSpPr>
          <p:cNvPr id="369" name="显眼包PPT"/>
          <p:cNvGrpSpPr/>
          <p:nvPr/>
        </p:nvGrpSpPr>
        <p:grpSpPr>
          <a:xfrm rot="0">
            <a:off x="6003290" y="3966210"/>
            <a:ext cx="768350" cy="835025"/>
            <a:chOff x="2109843" y="885746"/>
            <a:chExt cx="627380" cy="700632"/>
          </a:xfrm>
        </p:grpSpPr>
        <p:sp>
          <p:nvSpPr>
            <p:cNvPr id="370" name="显眼包PPT-1"/>
            <p:cNvSpPr/>
            <p:nvPr/>
          </p:nvSpPr>
          <p:spPr>
            <a:xfrm>
              <a:off x="2109843" y="885746"/>
              <a:ext cx="627380" cy="700632"/>
            </a:xfrm>
            <a:custGeom>
              <a:avLst/>
              <a:gdLst>
                <a:gd name="connsiteX0" fmla="*/ 498562 w 848053"/>
                <a:gd name="connsiteY0" fmla="*/ 26961 h 947071"/>
                <a:gd name="connsiteX1" fmla="*/ 636035 w 848053"/>
                <a:gd name="connsiteY1" fmla="*/ 106330 h 947071"/>
                <a:gd name="connsiteX2" fmla="*/ 773510 w 848053"/>
                <a:gd name="connsiteY2" fmla="*/ 185701 h 947071"/>
                <a:gd name="connsiteX3" fmla="*/ 848038 w 848053"/>
                <a:gd name="connsiteY3" fmla="*/ 314794 h 947071"/>
                <a:gd name="connsiteX4" fmla="*/ 848038 w 848053"/>
                <a:gd name="connsiteY4" fmla="*/ 473534 h 947071"/>
                <a:gd name="connsiteX5" fmla="*/ 848038 w 848053"/>
                <a:gd name="connsiteY5" fmla="*/ 632279 h 947071"/>
                <a:gd name="connsiteX6" fmla="*/ 773510 w 848053"/>
                <a:gd name="connsiteY6" fmla="*/ 761369 h 947071"/>
                <a:gd name="connsiteX7" fmla="*/ 636035 w 848053"/>
                <a:gd name="connsiteY7" fmla="*/ 840738 h 947071"/>
                <a:gd name="connsiteX8" fmla="*/ 498562 w 848053"/>
                <a:gd name="connsiteY8" fmla="*/ 920107 h 947071"/>
                <a:gd name="connsiteX9" fmla="*/ 349489 w 848053"/>
                <a:gd name="connsiteY9" fmla="*/ 920107 h 947071"/>
                <a:gd name="connsiteX10" fmla="*/ 212022 w 848053"/>
                <a:gd name="connsiteY10" fmla="*/ 840738 h 947071"/>
                <a:gd name="connsiteX11" fmla="*/ 74554 w 848053"/>
                <a:gd name="connsiteY11" fmla="*/ 761369 h 947071"/>
                <a:gd name="connsiteX12" fmla="*/ 19 w 848053"/>
                <a:gd name="connsiteY12" fmla="*/ 632279 h 947071"/>
                <a:gd name="connsiteX13" fmla="*/ 19 w 848053"/>
                <a:gd name="connsiteY13" fmla="*/ 473535 h 947071"/>
                <a:gd name="connsiteX14" fmla="*/ 19 w 848053"/>
                <a:gd name="connsiteY14" fmla="*/ 314795 h 947071"/>
                <a:gd name="connsiteX15" fmla="*/ 74554 w 848053"/>
                <a:gd name="connsiteY15" fmla="*/ 185702 h 947071"/>
                <a:gd name="connsiteX16" fmla="*/ 212022 w 848053"/>
                <a:gd name="connsiteY16" fmla="*/ 106330 h 947071"/>
                <a:gd name="connsiteX17" fmla="*/ 349489 w 848053"/>
                <a:gd name="connsiteY17" fmla="*/ 26961 h 947071"/>
                <a:gd name="connsiteX18" fmla="*/ 498562 w 848053"/>
                <a:gd name="connsiteY18" fmla="*/ 26961 h 9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8053" h="947071">
                  <a:moveTo>
                    <a:pt x="498562" y="26961"/>
                  </a:moveTo>
                  <a:cubicBezTo>
                    <a:pt x="544385" y="53416"/>
                    <a:pt x="590207" y="79874"/>
                    <a:pt x="636035" y="106330"/>
                  </a:cubicBezTo>
                  <a:cubicBezTo>
                    <a:pt x="681858" y="132786"/>
                    <a:pt x="727701" y="159210"/>
                    <a:pt x="773510" y="185701"/>
                  </a:cubicBezTo>
                  <a:cubicBezTo>
                    <a:pt x="836737" y="222272"/>
                    <a:pt x="846672" y="241592"/>
                    <a:pt x="848038" y="314794"/>
                  </a:cubicBezTo>
                  <a:lnTo>
                    <a:pt x="848038" y="473534"/>
                  </a:lnTo>
                  <a:cubicBezTo>
                    <a:pt x="848038" y="526446"/>
                    <a:pt x="848074" y="579367"/>
                    <a:pt x="848038" y="632279"/>
                  </a:cubicBezTo>
                  <a:cubicBezTo>
                    <a:pt x="847982" y="705330"/>
                    <a:pt x="836214" y="723584"/>
                    <a:pt x="773510" y="761369"/>
                  </a:cubicBezTo>
                  <a:cubicBezTo>
                    <a:pt x="727680" y="787831"/>
                    <a:pt x="681857" y="814281"/>
                    <a:pt x="636035" y="840738"/>
                  </a:cubicBezTo>
                  <a:cubicBezTo>
                    <a:pt x="590205" y="867194"/>
                    <a:pt x="544405" y="893685"/>
                    <a:pt x="498562" y="920107"/>
                  </a:cubicBezTo>
                  <a:cubicBezTo>
                    <a:pt x="435276" y="956589"/>
                    <a:pt x="413575" y="955527"/>
                    <a:pt x="349489" y="920107"/>
                  </a:cubicBezTo>
                  <a:cubicBezTo>
                    <a:pt x="303667" y="893657"/>
                    <a:pt x="257844" y="867194"/>
                    <a:pt x="212022" y="840738"/>
                  </a:cubicBezTo>
                  <a:cubicBezTo>
                    <a:pt x="166201" y="814281"/>
                    <a:pt x="120348" y="787860"/>
                    <a:pt x="74554" y="761369"/>
                  </a:cubicBezTo>
                  <a:cubicBezTo>
                    <a:pt x="11312" y="724802"/>
                    <a:pt x="1383" y="705477"/>
                    <a:pt x="19" y="632279"/>
                  </a:cubicBezTo>
                  <a:lnTo>
                    <a:pt x="19" y="473535"/>
                  </a:lnTo>
                  <a:cubicBezTo>
                    <a:pt x="19" y="420623"/>
                    <a:pt x="-24" y="367707"/>
                    <a:pt x="19" y="314795"/>
                  </a:cubicBezTo>
                  <a:cubicBezTo>
                    <a:pt x="75" y="241744"/>
                    <a:pt x="11836" y="223486"/>
                    <a:pt x="74554" y="185702"/>
                  </a:cubicBezTo>
                  <a:cubicBezTo>
                    <a:pt x="120370" y="159246"/>
                    <a:pt x="166199" y="132786"/>
                    <a:pt x="212022" y="106330"/>
                  </a:cubicBezTo>
                  <a:cubicBezTo>
                    <a:pt x="257844" y="79875"/>
                    <a:pt x="303653" y="53382"/>
                    <a:pt x="349489" y="26961"/>
                  </a:cubicBezTo>
                  <a:cubicBezTo>
                    <a:pt x="412782" y="-9514"/>
                    <a:pt x="434483" y="-8456"/>
                    <a:pt x="498562" y="2696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5">
                    <a:lumMod val="60000"/>
                    <a:lumOff val="40000"/>
                    <a:alpha val="0"/>
                  </a:schemeClr>
                </a:gs>
                <a:gs pos="0">
                  <a:schemeClr val="accent5">
                    <a:lumMod val="60000"/>
                    <a:lumOff val="40000"/>
                    <a:alpha val="29000"/>
                  </a:schemeClr>
                </a:gs>
              </a:gsLst>
              <a:lin ang="5400000" scaled="1"/>
              <a:tileRect/>
            </a:gradFill>
            <a:ln w="25400">
              <a:noFill/>
            </a:ln>
            <a:effectLst>
              <a:outerShdw blurRad="241300" dist="190500" dir="5400000" sx="94000" sy="94000" algn="t" rotWithShape="0">
                <a:schemeClr val="accent5">
                  <a:lumMod val="60000"/>
                  <a:lumOff val="40000"/>
                  <a:alpha val="4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spc="300">
                <a:solidFill>
                  <a:srgbClr val="FFFFFF"/>
                </a:solidFill>
                <a:effectLst>
                  <a:outerShdw blurRad="50800" dist="38100" dir="5400000" algn="t" rotWithShape="0">
                    <a:srgbClr val="1D4273">
                      <a:lumMod val="75000"/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1" name="显眼包PPT-2"/>
            <p:cNvSpPr/>
            <p:nvPr/>
          </p:nvSpPr>
          <p:spPr>
            <a:xfrm>
              <a:off x="2197728" y="983891"/>
              <a:ext cx="451610" cy="504343"/>
            </a:xfrm>
            <a:custGeom>
              <a:avLst/>
              <a:gdLst>
                <a:gd name="connsiteX0" fmla="*/ 498562 w 848053"/>
                <a:gd name="connsiteY0" fmla="*/ 26961 h 947071"/>
                <a:gd name="connsiteX1" fmla="*/ 636035 w 848053"/>
                <a:gd name="connsiteY1" fmla="*/ 106330 h 947071"/>
                <a:gd name="connsiteX2" fmla="*/ 773510 w 848053"/>
                <a:gd name="connsiteY2" fmla="*/ 185701 h 947071"/>
                <a:gd name="connsiteX3" fmla="*/ 848038 w 848053"/>
                <a:gd name="connsiteY3" fmla="*/ 314794 h 947071"/>
                <a:gd name="connsiteX4" fmla="*/ 848038 w 848053"/>
                <a:gd name="connsiteY4" fmla="*/ 473534 h 947071"/>
                <a:gd name="connsiteX5" fmla="*/ 848038 w 848053"/>
                <a:gd name="connsiteY5" fmla="*/ 632279 h 947071"/>
                <a:gd name="connsiteX6" fmla="*/ 773510 w 848053"/>
                <a:gd name="connsiteY6" fmla="*/ 761369 h 947071"/>
                <a:gd name="connsiteX7" fmla="*/ 636035 w 848053"/>
                <a:gd name="connsiteY7" fmla="*/ 840738 h 947071"/>
                <a:gd name="connsiteX8" fmla="*/ 498562 w 848053"/>
                <a:gd name="connsiteY8" fmla="*/ 920107 h 947071"/>
                <a:gd name="connsiteX9" fmla="*/ 349489 w 848053"/>
                <a:gd name="connsiteY9" fmla="*/ 920107 h 947071"/>
                <a:gd name="connsiteX10" fmla="*/ 212022 w 848053"/>
                <a:gd name="connsiteY10" fmla="*/ 840738 h 947071"/>
                <a:gd name="connsiteX11" fmla="*/ 74554 w 848053"/>
                <a:gd name="connsiteY11" fmla="*/ 761369 h 947071"/>
                <a:gd name="connsiteX12" fmla="*/ 19 w 848053"/>
                <a:gd name="connsiteY12" fmla="*/ 632279 h 947071"/>
                <a:gd name="connsiteX13" fmla="*/ 19 w 848053"/>
                <a:gd name="connsiteY13" fmla="*/ 473535 h 947071"/>
                <a:gd name="connsiteX14" fmla="*/ 19 w 848053"/>
                <a:gd name="connsiteY14" fmla="*/ 314795 h 947071"/>
                <a:gd name="connsiteX15" fmla="*/ 74554 w 848053"/>
                <a:gd name="connsiteY15" fmla="*/ 185702 h 947071"/>
                <a:gd name="connsiteX16" fmla="*/ 212022 w 848053"/>
                <a:gd name="connsiteY16" fmla="*/ 106330 h 947071"/>
                <a:gd name="connsiteX17" fmla="*/ 349489 w 848053"/>
                <a:gd name="connsiteY17" fmla="*/ 26961 h 947071"/>
                <a:gd name="connsiteX18" fmla="*/ 498562 w 848053"/>
                <a:gd name="connsiteY18" fmla="*/ 26961 h 9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8053" h="947071">
                  <a:moveTo>
                    <a:pt x="498562" y="26961"/>
                  </a:moveTo>
                  <a:cubicBezTo>
                    <a:pt x="544385" y="53416"/>
                    <a:pt x="590207" y="79874"/>
                    <a:pt x="636035" y="106330"/>
                  </a:cubicBezTo>
                  <a:cubicBezTo>
                    <a:pt x="681858" y="132786"/>
                    <a:pt x="727701" y="159210"/>
                    <a:pt x="773510" y="185701"/>
                  </a:cubicBezTo>
                  <a:cubicBezTo>
                    <a:pt x="836737" y="222272"/>
                    <a:pt x="846672" y="241592"/>
                    <a:pt x="848038" y="314794"/>
                  </a:cubicBezTo>
                  <a:lnTo>
                    <a:pt x="848038" y="473534"/>
                  </a:lnTo>
                  <a:cubicBezTo>
                    <a:pt x="848038" y="526446"/>
                    <a:pt x="848074" y="579367"/>
                    <a:pt x="848038" y="632279"/>
                  </a:cubicBezTo>
                  <a:cubicBezTo>
                    <a:pt x="847982" y="705330"/>
                    <a:pt x="836214" y="723584"/>
                    <a:pt x="773510" y="761369"/>
                  </a:cubicBezTo>
                  <a:cubicBezTo>
                    <a:pt x="727680" y="787831"/>
                    <a:pt x="681857" y="814281"/>
                    <a:pt x="636035" y="840738"/>
                  </a:cubicBezTo>
                  <a:cubicBezTo>
                    <a:pt x="590205" y="867194"/>
                    <a:pt x="544405" y="893685"/>
                    <a:pt x="498562" y="920107"/>
                  </a:cubicBezTo>
                  <a:cubicBezTo>
                    <a:pt x="435276" y="956589"/>
                    <a:pt x="413575" y="955527"/>
                    <a:pt x="349489" y="920107"/>
                  </a:cubicBezTo>
                  <a:cubicBezTo>
                    <a:pt x="303667" y="893657"/>
                    <a:pt x="257844" y="867194"/>
                    <a:pt x="212022" y="840738"/>
                  </a:cubicBezTo>
                  <a:cubicBezTo>
                    <a:pt x="166201" y="814281"/>
                    <a:pt x="120348" y="787860"/>
                    <a:pt x="74554" y="761369"/>
                  </a:cubicBezTo>
                  <a:cubicBezTo>
                    <a:pt x="11312" y="724802"/>
                    <a:pt x="1383" y="705477"/>
                    <a:pt x="19" y="632279"/>
                  </a:cubicBezTo>
                  <a:lnTo>
                    <a:pt x="19" y="473535"/>
                  </a:lnTo>
                  <a:cubicBezTo>
                    <a:pt x="19" y="420623"/>
                    <a:pt x="-24" y="367707"/>
                    <a:pt x="19" y="314795"/>
                  </a:cubicBezTo>
                  <a:cubicBezTo>
                    <a:pt x="75" y="241744"/>
                    <a:pt x="11836" y="223486"/>
                    <a:pt x="74554" y="185702"/>
                  </a:cubicBezTo>
                  <a:cubicBezTo>
                    <a:pt x="120370" y="159246"/>
                    <a:pt x="166199" y="132786"/>
                    <a:pt x="212022" y="106330"/>
                  </a:cubicBezTo>
                  <a:cubicBezTo>
                    <a:pt x="257844" y="79875"/>
                    <a:pt x="303653" y="53382"/>
                    <a:pt x="349489" y="26961"/>
                  </a:cubicBezTo>
                  <a:cubicBezTo>
                    <a:pt x="412782" y="-9514"/>
                    <a:pt x="434483" y="-8456"/>
                    <a:pt x="498562" y="2696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  <a:gs pos="70000">
                  <a:schemeClr val="accent5"/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15000">
                    <a:schemeClr val="bg1"/>
                  </a:gs>
                  <a:gs pos="73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241300" dir="5400000" sx="98000" sy="98000" algn="t" rotWithShape="0">
                <a:schemeClr val="accent5">
                  <a:lumMod val="60000"/>
                  <a:lumOff val="40000"/>
                  <a:alpha val="6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b="1">
                  <a:solidFill>
                    <a:srgbClr val="FFFFFF"/>
                  </a:solidFill>
                  <a:effectLst>
                    <a:outerShdw blurRad="50800" dist="38100" dir="5400000" algn="t" rotWithShape="0">
                      <a:schemeClr val="accent1">
                        <a:lumMod val="75000"/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成本</a:t>
              </a:r>
              <a:endParaRPr lang="zh-CN" altLang="en-US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72" name="梯形 371"/>
          <p:cNvSpPr/>
          <p:nvPr/>
        </p:nvSpPr>
        <p:spPr>
          <a:xfrm rot="16200000">
            <a:off x="6557645" y="4170045"/>
            <a:ext cx="641350" cy="426720"/>
          </a:xfrm>
          <a:prstGeom prst="trapezoid">
            <a:avLst>
              <a:gd name="adj" fmla="val 40327"/>
            </a:avLst>
          </a:prstGeom>
          <a:gradFill>
            <a:gsLst>
              <a:gs pos="100000">
                <a:schemeClr val="accent5">
                  <a:lumMod val="60000"/>
                  <a:lumOff val="40000"/>
                  <a:alpha val="0"/>
                </a:schemeClr>
              </a:gs>
              <a:gs pos="0">
                <a:schemeClr val="accent5">
                  <a:lumMod val="60000"/>
                  <a:lumOff val="40000"/>
                  <a:alpha val="29000"/>
                </a:schemeClr>
              </a:gs>
            </a:gsLst>
            <a:lin ang="5400000" scaled="0"/>
          </a:gradFill>
          <a:ln w="12700" cmpd="sng">
            <a:gradFill>
              <a:gsLst>
                <a:gs pos="15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363" name="显眼包PPT"/>
          <p:cNvGrpSpPr/>
          <p:nvPr/>
        </p:nvGrpSpPr>
        <p:grpSpPr>
          <a:xfrm rot="0">
            <a:off x="7090410" y="4451350"/>
            <a:ext cx="1452880" cy="304165"/>
            <a:chOff x="5191704" y="4124207"/>
            <a:chExt cx="1452880" cy="304165"/>
          </a:xfrm>
        </p:grpSpPr>
        <p:sp>
          <p:nvSpPr>
            <p:cNvPr id="364" name="显眼包PPT-1"/>
            <p:cNvSpPr/>
            <p:nvPr/>
          </p:nvSpPr>
          <p:spPr>
            <a:xfrm>
              <a:off x="5191704" y="4124207"/>
              <a:ext cx="1452880" cy="30416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endParaRPr lang="zh-CN" altLang="en-US" sz="1600">
                <a:solidFill>
                  <a:schemeClr val="tx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365" name="显眼包PPT-2"/>
            <p:cNvSpPr/>
            <p:nvPr/>
          </p:nvSpPr>
          <p:spPr>
            <a:xfrm>
              <a:off x="5257470" y="4176944"/>
              <a:ext cx="198683" cy="198681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/>
                </a:gs>
                <a:gs pos="100000">
                  <a:schemeClr val="accent5"/>
                </a:gs>
              </a:gsLst>
              <a:path path="circle">
                <a:fillToRect r="100000" b="100000"/>
              </a:path>
              <a:tileRect l="-100000" t="-100000"/>
            </a:gradFill>
            <a:ln w="22225">
              <a:noFill/>
            </a:ln>
            <a:effectLst>
              <a:innerShdw blurRad="127000">
                <a:schemeClr val="accent5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9555" tIns="44777" rIns="89555" bIns="44777" rtlCol="0" anchor="ctr"/>
            <a:lstStyle/>
            <a:p>
              <a:pPr algn="ctr"/>
              <a:endParaRPr lang="zh-CN" altLang="en-US" sz="1945"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366" name="显眼包PPT-4"/>
            <p:cNvSpPr txBox="1"/>
            <p:nvPr/>
          </p:nvSpPr>
          <p:spPr>
            <a:xfrm>
              <a:off x="5507448" y="4177452"/>
              <a:ext cx="1066800" cy="1841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供应链成本管控</a:t>
              </a:r>
              <a:endParaRPr lang="zh-CN" altLang="en-US" sz="1200">
                <a:cs typeface="微软雅黑" panose="020B0503020204020204" charset="-122"/>
              </a:endParaRPr>
            </a:p>
          </p:txBody>
        </p:sp>
      </p:grpSp>
      <p:sp>
        <p:nvSpPr>
          <p:cNvPr id="377" name="右大括号 376"/>
          <p:cNvSpPr/>
          <p:nvPr/>
        </p:nvSpPr>
        <p:spPr>
          <a:xfrm>
            <a:off x="8560435" y="4076700"/>
            <a:ext cx="172085" cy="598170"/>
          </a:xfrm>
          <a:prstGeom prst="rightBrace">
            <a:avLst>
              <a:gd name="adj1" fmla="val 39483"/>
              <a:gd name="adj2" fmla="val 48726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402" name="显眼包PPT"/>
          <p:cNvGrpSpPr/>
          <p:nvPr/>
        </p:nvGrpSpPr>
        <p:grpSpPr>
          <a:xfrm rot="0">
            <a:off x="7090410" y="5495290"/>
            <a:ext cx="1452880" cy="304165"/>
            <a:chOff x="5191704" y="4124207"/>
            <a:chExt cx="1452880" cy="304165"/>
          </a:xfrm>
        </p:grpSpPr>
        <p:sp>
          <p:nvSpPr>
            <p:cNvPr id="403" name="显眼包PPT-1"/>
            <p:cNvSpPr/>
            <p:nvPr/>
          </p:nvSpPr>
          <p:spPr>
            <a:xfrm>
              <a:off x="5191704" y="4124207"/>
              <a:ext cx="1452880" cy="30416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endParaRPr lang="zh-CN" altLang="en-US" sz="1600">
                <a:solidFill>
                  <a:schemeClr val="tx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404" name="显眼包PPT-2"/>
            <p:cNvSpPr/>
            <p:nvPr/>
          </p:nvSpPr>
          <p:spPr>
            <a:xfrm>
              <a:off x="5257470" y="4176944"/>
              <a:ext cx="198683" cy="19868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>
              <a:noFill/>
            </a:ln>
            <a:effectLst>
              <a:innerShdw blurRad="127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9555" tIns="44777" rIns="89555" bIns="44777" rtlCol="0" anchor="ctr"/>
            <a:lstStyle/>
            <a:p>
              <a:pPr algn="ctr"/>
              <a:endParaRPr lang="zh-CN" altLang="en-US" sz="1945"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405" name="显眼包PPT-4"/>
            <p:cNvSpPr txBox="1"/>
            <p:nvPr/>
          </p:nvSpPr>
          <p:spPr>
            <a:xfrm>
              <a:off x="5537928" y="4177452"/>
              <a:ext cx="914400" cy="1841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>
                  <a:cs typeface="微软雅黑" panose="020B0503020204020204" charset="-122"/>
                </a:rPr>
                <a:t>营销费用管控</a:t>
              </a:r>
              <a:endParaRPr lang="zh-CN" altLang="en-US" sz="1200">
                <a:cs typeface="微软雅黑" panose="020B0503020204020204" charset="-122"/>
              </a:endParaRPr>
            </a:p>
          </p:txBody>
        </p:sp>
      </p:grpSp>
      <p:grpSp>
        <p:nvGrpSpPr>
          <p:cNvPr id="407" name="显眼包PPT"/>
          <p:cNvGrpSpPr/>
          <p:nvPr/>
        </p:nvGrpSpPr>
        <p:grpSpPr>
          <a:xfrm rot="0">
            <a:off x="6003290" y="5488940"/>
            <a:ext cx="768350" cy="835025"/>
            <a:chOff x="2109843" y="885746"/>
            <a:chExt cx="627380" cy="700632"/>
          </a:xfrm>
        </p:grpSpPr>
        <p:sp>
          <p:nvSpPr>
            <p:cNvPr id="408" name="显眼包PPT-1"/>
            <p:cNvSpPr/>
            <p:nvPr/>
          </p:nvSpPr>
          <p:spPr>
            <a:xfrm>
              <a:off x="2109843" y="885746"/>
              <a:ext cx="627380" cy="700632"/>
            </a:xfrm>
            <a:custGeom>
              <a:avLst/>
              <a:gdLst>
                <a:gd name="connsiteX0" fmla="*/ 498562 w 848053"/>
                <a:gd name="connsiteY0" fmla="*/ 26961 h 947071"/>
                <a:gd name="connsiteX1" fmla="*/ 636035 w 848053"/>
                <a:gd name="connsiteY1" fmla="*/ 106330 h 947071"/>
                <a:gd name="connsiteX2" fmla="*/ 773510 w 848053"/>
                <a:gd name="connsiteY2" fmla="*/ 185701 h 947071"/>
                <a:gd name="connsiteX3" fmla="*/ 848038 w 848053"/>
                <a:gd name="connsiteY3" fmla="*/ 314794 h 947071"/>
                <a:gd name="connsiteX4" fmla="*/ 848038 w 848053"/>
                <a:gd name="connsiteY4" fmla="*/ 473534 h 947071"/>
                <a:gd name="connsiteX5" fmla="*/ 848038 w 848053"/>
                <a:gd name="connsiteY5" fmla="*/ 632279 h 947071"/>
                <a:gd name="connsiteX6" fmla="*/ 773510 w 848053"/>
                <a:gd name="connsiteY6" fmla="*/ 761369 h 947071"/>
                <a:gd name="connsiteX7" fmla="*/ 636035 w 848053"/>
                <a:gd name="connsiteY7" fmla="*/ 840738 h 947071"/>
                <a:gd name="connsiteX8" fmla="*/ 498562 w 848053"/>
                <a:gd name="connsiteY8" fmla="*/ 920107 h 947071"/>
                <a:gd name="connsiteX9" fmla="*/ 349489 w 848053"/>
                <a:gd name="connsiteY9" fmla="*/ 920107 h 947071"/>
                <a:gd name="connsiteX10" fmla="*/ 212022 w 848053"/>
                <a:gd name="connsiteY10" fmla="*/ 840738 h 947071"/>
                <a:gd name="connsiteX11" fmla="*/ 74554 w 848053"/>
                <a:gd name="connsiteY11" fmla="*/ 761369 h 947071"/>
                <a:gd name="connsiteX12" fmla="*/ 19 w 848053"/>
                <a:gd name="connsiteY12" fmla="*/ 632279 h 947071"/>
                <a:gd name="connsiteX13" fmla="*/ 19 w 848053"/>
                <a:gd name="connsiteY13" fmla="*/ 473535 h 947071"/>
                <a:gd name="connsiteX14" fmla="*/ 19 w 848053"/>
                <a:gd name="connsiteY14" fmla="*/ 314795 h 947071"/>
                <a:gd name="connsiteX15" fmla="*/ 74554 w 848053"/>
                <a:gd name="connsiteY15" fmla="*/ 185702 h 947071"/>
                <a:gd name="connsiteX16" fmla="*/ 212022 w 848053"/>
                <a:gd name="connsiteY16" fmla="*/ 106330 h 947071"/>
                <a:gd name="connsiteX17" fmla="*/ 349489 w 848053"/>
                <a:gd name="connsiteY17" fmla="*/ 26961 h 947071"/>
                <a:gd name="connsiteX18" fmla="*/ 498562 w 848053"/>
                <a:gd name="connsiteY18" fmla="*/ 26961 h 9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8053" h="947071">
                  <a:moveTo>
                    <a:pt x="498562" y="26961"/>
                  </a:moveTo>
                  <a:cubicBezTo>
                    <a:pt x="544385" y="53416"/>
                    <a:pt x="590207" y="79874"/>
                    <a:pt x="636035" y="106330"/>
                  </a:cubicBezTo>
                  <a:cubicBezTo>
                    <a:pt x="681858" y="132786"/>
                    <a:pt x="727701" y="159210"/>
                    <a:pt x="773510" y="185701"/>
                  </a:cubicBezTo>
                  <a:cubicBezTo>
                    <a:pt x="836737" y="222272"/>
                    <a:pt x="846672" y="241592"/>
                    <a:pt x="848038" y="314794"/>
                  </a:cubicBezTo>
                  <a:lnTo>
                    <a:pt x="848038" y="473534"/>
                  </a:lnTo>
                  <a:cubicBezTo>
                    <a:pt x="848038" y="526446"/>
                    <a:pt x="848074" y="579367"/>
                    <a:pt x="848038" y="632279"/>
                  </a:cubicBezTo>
                  <a:cubicBezTo>
                    <a:pt x="847982" y="705330"/>
                    <a:pt x="836214" y="723584"/>
                    <a:pt x="773510" y="761369"/>
                  </a:cubicBezTo>
                  <a:cubicBezTo>
                    <a:pt x="727680" y="787831"/>
                    <a:pt x="681857" y="814281"/>
                    <a:pt x="636035" y="840738"/>
                  </a:cubicBezTo>
                  <a:cubicBezTo>
                    <a:pt x="590205" y="867194"/>
                    <a:pt x="544405" y="893685"/>
                    <a:pt x="498562" y="920107"/>
                  </a:cubicBezTo>
                  <a:cubicBezTo>
                    <a:pt x="435276" y="956589"/>
                    <a:pt x="413575" y="955527"/>
                    <a:pt x="349489" y="920107"/>
                  </a:cubicBezTo>
                  <a:cubicBezTo>
                    <a:pt x="303667" y="893657"/>
                    <a:pt x="257844" y="867194"/>
                    <a:pt x="212022" y="840738"/>
                  </a:cubicBezTo>
                  <a:cubicBezTo>
                    <a:pt x="166201" y="814281"/>
                    <a:pt x="120348" y="787860"/>
                    <a:pt x="74554" y="761369"/>
                  </a:cubicBezTo>
                  <a:cubicBezTo>
                    <a:pt x="11312" y="724802"/>
                    <a:pt x="1383" y="705477"/>
                    <a:pt x="19" y="632279"/>
                  </a:cubicBezTo>
                  <a:lnTo>
                    <a:pt x="19" y="473535"/>
                  </a:lnTo>
                  <a:cubicBezTo>
                    <a:pt x="19" y="420623"/>
                    <a:pt x="-24" y="367707"/>
                    <a:pt x="19" y="314795"/>
                  </a:cubicBezTo>
                  <a:cubicBezTo>
                    <a:pt x="75" y="241744"/>
                    <a:pt x="11836" y="223486"/>
                    <a:pt x="74554" y="185702"/>
                  </a:cubicBezTo>
                  <a:cubicBezTo>
                    <a:pt x="120370" y="159246"/>
                    <a:pt x="166199" y="132786"/>
                    <a:pt x="212022" y="106330"/>
                  </a:cubicBezTo>
                  <a:cubicBezTo>
                    <a:pt x="257844" y="79875"/>
                    <a:pt x="303653" y="53382"/>
                    <a:pt x="349489" y="26961"/>
                  </a:cubicBezTo>
                  <a:cubicBezTo>
                    <a:pt x="412782" y="-9514"/>
                    <a:pt x="434483" y="-8456"/>
                    <a:pt x="498562" y="2696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29000"/>
                  </a:schemeClr>
                </a:gs>
              </a:gsLst>
              <a:lin ang="5400000" scaled="1"/>
              <a:tileRect/>
            </a:gradFill>
            <a:ln w="25400">
              <a:noFill/>
            </a:ln>
            <a:effectLst>
              <a:outerShdw blurRad="241300" dist="190500" dir="5400000" sx="94000" sy="94000" algn="t" rotWithShape="0">
                <a:schemeClr val="accent1">
                  <a:lumMod val="60000"/>
                  <a:lumOff val="40000"/>
                  <a:alpha val="4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spc="300">
                <a:solidFill>
                  <a:srgbClr val="FFFFFF"/>
                </a:solidFill>
                <a:effectLst>
                  <a:outerShdw blurRad="50800" dist="38100" dir="5400000" algn="t" rotWithShape="0">
                    <a:srgbClr val="1D4273">
                      <a:lumMod val="75000"/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9" name="显眼包PPT-2"/>
            <p:cNvSpPr/>
            <p:nvPr/>
          </p:nvSpPr>
          <p:spPr>
            <a:xfrm>
              <a:off x="2197728" y="983891"/>
              <a:ext cx="451610" cy="504343"/>
            </a:xfrm>
            <a:custGeom>
              <a:avLst/>
              <a:gdLst>
                <a:gd name="connsiteX0" fmla="*/ 498562 w 848053"/>
                <a:gd name="connsiteY0" fmla="*/ 26961 h 947071"/>
                <a:gd name="connsiteX1" fmla="*/ 636035 w 848053"/>
                <a:gd name="connsiteY1" fmla="*/ 106330 h 947071"/>
                <a:gd name="connsiteX2" fmla="*/ 773510 w 848053"/>
                <a:gd name="connsiteY2" fmla="*/ 185701 h 947071"/>
                <a:gd name="connsiteX3" fmla="*/ 848038 w 848053"/>
                <a:gd name="connsiteY3" fmla="*/ 314794 h 947071"/>
                <a:gd name="connsiteX4" fmla="*/ 848038 w 848053"/>
                <a:gd name="connsiteY4" fmla="*/ 473534 h 947071"/>
                <a:gd name="connsiteX5" fmla="*/ 848038 w 848053"/>
                <a:gd name="connsiteY5" fmla="*/ 632279 h 947071"/>
                <a:gd name="connsiteX6" fmla="*/ 773510 w 848053"/>
                <a:gd name="connsiteY6" fmla="*/ 761369 h 947071"/>
                <a:gd name="connsiteX7" fmla="*/ 636035 w 848053"/>
                <a:gd name="connsiteY7" fmla="*/ 840738 h 947071"/>
                <a:gd name="connsiteX8" fmla="*/ 498562 w 848053"/>
                <a:gd name="connsiteY8" fmla="*/ 920107 h 947071"/>
                <a:gd name="connsiteX9" fmla="*/ 349489 w 848053"/>
                <a:gd name="connsiteY9" fmla="*/ 920107 h 947071"/>
                <a:gd name="connsiteX10" fmla="*/ 212022 w 848053"/>
                <a:gd name="connsiteY10" fmla="*/ 840738 h 947071"/>
                <a:gd name="connsiteX11" fmla="*/ 74554 w 848053"/>
                <a:gd name="connsiteY11" fmla="*/ 761369 h 947071"/>
                <a:gd name="connsiteX12" fmla="*/ 19 w 848053"/>
                <a:gd name="connsiteY12" fmla="*/ 632279 h 947071"/>
                <a:gd name="connsiteX13" fmla="*/ 19 w 848053"/>
                <a:gd name="connsiteY13" fmla="*/ 473535 h 947071"/>
                <a:gd name="connsiteX14" fmla="*/ 19 w 848053"/>
                <a:gd name="connsiteY14" fmla="*/ 314795 h 947071"/>
                <a:gd name="connsiteX15" fmla="*/ 74554 w 848053"/>
                <a:gd name="connsiteY15" fmla="*/ 185702 h 947071"/>
                <a:gd name="connsiteX16" fmla="*/ 212022 w 848053"/>
                <a:gd name="connsiteY16" fmla="*/ 106330 h 947071"/>
                <a:gd name="connsiteX17" fmla="*/ 349489 w 848053"/>
                <a:gd name="connsiteY17" fmla="*/ 26961 h 947071"/>
                <a:gd name="connsiteX18" fmla="*/ 498562 w 848053"/>
                <a:gd name="connsiteY18" fmla="*/ 26961 h 94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48053" h="947071">
                  <a:moveTo>
                    <a:pt x="498562" y="26961"/>
                  </a:moveTo>
                  <a:cubicBezTo>
                    <a:pt x="544385" y="53416"/>
                    <a:pt x="590207" y="79874"/>
                    <a:pt x="636035" y="106330"/>
                  </a:cubicBezTo>
                  <a:cubicBezTo>
                    <a:pt x="681858" y="132786"/>
                    <a:pt x="727701" y="159210"/>
                    <a:pt x="773510" y="185701"/>
                  </a:cubicBezTo>
                  <a:cubicBezTo>
                    <a:pt x="836737" y="222272"/>
                    <a:pt x="846672" y="241592"/>
                    <a:pt x="848038" y="314794"/>
                  </a:cubicBezTo>
                  <a:lnTo>
                    <a:pt x="848038" y="473534"/>
                  </a:lnTo>
                  <a:cubicBezTo>
                    <a:pt x="848038" y="526446"/>
                    <a:pt x="848074" y="579367"/>
                    <a:pt x="848038" y="632279"/>
                  </a:cubicBezTo>
                  <a:cubicBezTo>
                    <a:pt x="847982" y="705330"/>
                    <a:pt x="836214" y="723584"/>
                    <a:pt x="773510" y="761369"/>
                  </a:cubicBezTo>
                  <a:cubicBezTo>
                    <a:pt x="727680" y="787831"/>
                    <a:pt x="681857" y="814281"/>
                    <a:pt x="636035" y="840738"/>
                  </a:cubicBezTo>
                  <a:cubicBezTo>
                    <a:pt x="590205" y="867194"/>
                    <a:pt x="544405" y="893685"/>
                    <a:pt x="498562" y="920107"/>
                  </a:cubicBezTo>
                  <a:cubicBezTo>
                    <a:pt x="435276" y="956589"/>
                    <a:pt x="413575" y="955527"/>
                    <a:pt x="349489" y="920107"/>
                  </a:cubicBezTo>
                  <a:cubicBezTo>
                    <a:pt x="303667" y="893657"/>
                    <a:pt x="257844" y="867194"/>
                    <a:pt x="212022" y="840738"/>
                  </a:cubicBezTo>
                  <a:cubicBezTo>
                    <a:pt x="166201" y="814281"/>
                    <a:pt x="120348" y="787860"/>
                    <a:pt x="74554" y="761369"/>
                  </a:cubicBezTo>
                  <a:cubicBezTo>
                    <a:pt x="11312" y="724802"/>
                    <a:pt x="1383" y="705477"/>
                    <a:pt x="19" y="632279"/>
                  </a:cubicBezTo>
                  <a:lnTo>
                    <a:pt x="19" y="473535"/>
                  </a:lnTo>
                  <a:cubicBezTo>
                    <a:pt x="19" y="420623"/>
                    <a:pt x="-24" y="367707"/>
                    <a:pt x="19" y="314795"/>
                  </a:cubicBezTo>
                  <a:cubicBezTo>
                    <a:pt x="75" y="241744"/>
                    <a:pt x="11836" y="223486"/>
                    <a:pt x="74554" y="185702"/>
                  </a:cubicBezTo>
                  <a:cubicBezTo>
                    <a:pt x="120370" y="159246"/>
                    <a:pt x="166199" y="132786"/>
                    <a:pt x="212022" y="106330"/>
                  </a:cubicBezTo>
                  <a:cubicBezTo>
                    <a:pt x="257844" y="79875"/>
                    <a:pt x="303653" y="53382"/>
                    <a:pt x="349489" y="26961"/>
                  </a:cubicBezTo>
                  <a:cubicBezTo>
                    <a:pt x="412782" y="-9514"/>
                    <a:pt x="434483" y="-8456"/>
                    <a:pt x="498562" y="2696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15000">
                    <a:schemeClr val="bg1"/>
                  </a:gs>
                  <a:gs pos="73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241300" dir="5400000" sx="98000" sy="98000" algn="t" rotWithShape="0">
                <a:schemeClr val="accent1">
                  <a:lumMod val="60000"/>
                  <a:lumOff val="40000"/>
                  <a:alpha val="6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8865" tIns="49432" rIns="98865" bIns="49432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600" b="1">
                  <a:solidFill>
                    <a:srgbClr val="FFFFFF"/>
                  </a:solidFill>
                  <a:effectLst>
                    <a:outerShdw blurRad="50800" dist="38100" dir="5400000" algn="t" rotWithShape="0">
                      <a:schemeClr val="accent1">
                        <a:lumMod val="75000"/>
                        <a:alpha val="40000"/>
                      </a:scheme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费用</a:t>
              </a:r>
              <a:endParaRPr lang="zh-CN" altLang="en-US" sz="1600" b="1">
                <a:solidFill>
                  <a:srgbClr val="FFFFFF"/>
                </a:solidFill>
                <a:effectLst>
                  <a:outerShdw blurRad="50800" dist="38100" dir="5400000" algn="t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0" name="梯形 409"/>
          <p:cNvSpPr/>
          <p:nvPr/>
        </p:nvSpPr>
        <p:spPr>
          <a:xfrm rot="16200000">
            <a:off x="6557645" y="5692775"/>
            <a:ext cx="641350" cy="426720"/>
          </a:xfrm>
          <a:prstGeom prst="trapezoid">
            <a:avLst>
              <a:gd name="adj" fmla="val 40327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29000"/>
                </a:schemeClr>
              </a:gs>
            </a:gsLst>
            <a:lin ang="5400000" scaled="0"/>
          </a:gradFill>
          <a:ln w="12700" cmpd="sng">
            <a:gradFill>
              <a:gsLst>
                <a:gs pos="15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412" name="显眼包PPT"/>
          <p:cNvGrpSpPr/>
          <p:nvPr/>
        </p:nvGrpSpPr>
        <p:grpSpPr>
          <a:xfrm rot="0">
            <a:off x="7090410" y="6107113"/>
            <a:ext cx="1452880" cy="304165"/>
            <a:chOff x="5191704" y="4124207"/>
            <a:chExt cx="1452880" cy="304165"/>
          </a:xfrm>
        </p:grpSpPr>
        <p:sp>
          <p:nvSpPr>
            <p:cNvPr id="413" name="显眼包PPT-1"/>
            <p:cNvSpPr/>
            <p:nvPr/>
          </p:nvSpPr>
          <p:spPr>
            <a:xfrm>
              <a:off x="5191704" y="4124207"/>
              <a:ext cx="1452880" cy="30416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endParaRPr lang="zh-CN" altLang="en-US" sz="1600">
                <a:solidFill>
                  <a:schemeClr val="tx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414" name="显眼包PPT-2"/>
            <p:cNvSpPr/>
            <p:nvPr/>
          </p:nvSpPr>
          <p:spPr>
            <a:xfrm>
              <a:off x="5257470" y="4176944"/>
              <a:ext cx="198683" cy="19868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22225">
              <a:noFill/>
            </a:ln>
            <a:effectLst>
              <a:innerShdw blurRad="127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9555" tIns="44777" rIns="89555" bIns="44777" rtlCol="0" anchor="ctr"/>
            <a:lstStyle/>
            <a:p>
              <a:pPr algn="ctr"/>
              <a:endParaRPr lang="zh-CN" altLang="en-US" sz="1945"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415" name="显眼包PPT-4"/>
            <p:cNvSpPr txBox="1"/>
            <p:nvPr/>
          </p:nvSpPr>
          <p:spPr>
            <a:xfrm>
              <a:off x="5583648" y="4177452"/>
              <a:ext cx="914400" cy="18415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>
                  <a:cs typeface="微软雅黑" panose="020B0503020204020204" charset="-122"/>
                </a:rPr>
                <a:t>渠道费用管控</a:t>
              </a:r>
              <a:endParaRPr lang="zh-CN" altLang="en-US" sz="1200">
                <a:cs typeface="微软雅黑" panose="020B0503020204020204" charset="-122"/>
              </a:endParaRPr>
            </a:p>
          </p:txBody>
        </p:sp>
      </p:grpSp>
      <p:pic>
        <p:nvPicPr>
          <p:cNvPr id="420" name="图片 419" descr="营销管理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205345" y="5605780"/>
            <a:ext cx="97790" cy="97790"/>
          </a:xfrm>
          <a:prstGeom prst="rect">
            <a:avLst/>
          </a:prstGeom>
        </p:spPr>
      </p:pic>
      <p:pic>
        <p:nvPicPr>
          <p:cNvPr id="421" name="图片 420" descr="渠道系统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201535" y="6210300"/>
            <a:ext cx="114300" cy="106045"/>
          </a:xfrm>
          <a:prstGeom prst="rect">
            <a:avLst/>
          </a:prstGeom>
        </p:spPr>
      </p:pic>
      <p:cxnSp>
        <p:nvCxnSpPr>
          <p:cNvPr id="424" name="直接连接符 423"/>
          <p:cNvCxnSpPr/>
          <p:nvPr/>
        </p:nvCxnSpPr>
        <p:spPr>
          <a:xfrm>
            <a:off x="8559165" y="5647373"/>
            <a:ext cx="3302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5" name="直接连接符 424"/>
          <p:cNvCxnSpPr/>
          <p:nvPr/>
        </p:nvCxnSpPr>
        <p:spPr>
          <a:xfrm>
            <a:off x="8559165" y="6259195"/>
            <a:ext cx="3302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29" name="图片 428" descr="供应链 (1)"/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185660" y="4530725"/>
            <a:ext cx="146050" cy="146050"/>
          </a:xfrm>
          <a:prstGeom prst="rect">
            <a:avLst/>
          </a:prstGeom>
        </p:spPr>
      </p:pic>
      <p:pic>
        <p:nvPicPr>
          <p:cNvPr id="430" name="图片 429" descr="生产加工"/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7169785" y="4046855"/>
            <a:ext cx="172720" cy="172720"/>
          </a:xfrm>
          <a:prstGeom prst="rect">
            <a:avLst/>
          </a:prstGeom>
        </p:spPr>
      </p:pic>
      <p:sp>
        <p:nvSpPr>
          <p:cNvPr id="432" name="矩形 431"/>
          <p:cNvSpPr/>
          <p:nvPr/>
        </p:nvSpPr>
        <p:spPr>
          <a:xfrm>
            <a:off x="8924290" y="5388610"/>
            <a:ext cx="2649855" cy="51752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mpd="sng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3" name="矩形 432"/>
          <p:cNvSpPr/>
          <p:nvPr/>
        </p:nvSpPr>
        <p:spPr>
          <a:xfrm>
            <a:off x="8924290" y="6000750"/>
            <a:ext cx="2649855" cy="51752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mpd="sng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4" name="Text Box 1030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8924290" y="5429885"/>
            <a:ext cx="2604135" cy="43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07950" indent="-107950" eaLnBrk="1" fontAlgn="auto" hangingPunct="1">
              <a:lnSpc>
                <a:spcPts val="1060"/>
              </a:lnSpc>
              <a:buFont typeface="Wingdings" panose="05000000000000000000" charset="0"/>
              <a:buChar char="Ø"/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广告投放</a:t>
            </a:r>
            <a:r>
              <a:rPr lang="en-US" altLang="zh-CN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精准投放（</a:t>
            </a:r>
            <a:r>
              <a:rPr lang="en-US" altLang="zh-CN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DMP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人群定向）、效果归因分析；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950" indent="-107950" eaLnBrk="1" fontAlgn="auto" hangingPunct="1">
              <a:lnSpc>
                <a:spcPts val="1060"/>
              </a:lnSpc>
              <a:buFont typeface="Wingdings" panose="05000000000000000000" charset="0"/>
              <a:buChar char="Ø"/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促销费用：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档期活动</a:t>
            </a:r>
            <a:r>
              <a:rPr lang="en-US" altLang="zh-CN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GMV/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费用比、满减券核销率。</a:t>
            </a:r>
            <a:endParaRPr lang="en-US" altLang="zh-CN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Text Box 1030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8924290" y="6029325"/>
            <a:ext cx="2649855" cy="43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07950" indent="-107950" eaLnBrk="1" fontAlgn="auto" hangingPunct="1">
              <a:lnSpc>
                <a:spcPts val="1060"/>
              </a:lnSpc>
              <a:buFont typeface="Wingdings" panose="05000000000000000000" charset="0"/>
              <a:buChar char="Ø"/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渠道返点与佣金：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分级渠道激励政策（如</a:t>
            </a:r>
            <a:r>
              <a:rPr lang="en-US" altLang="zh-CN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客户阶梯返利）</a:t>
            </a:r>
            <a:r>
              <a:rPr lang="en-US" altLang="zh-CN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zh-CN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07950" indent="-107950" eaLnBrk="1" fontAlgn="auto" hangingPunct="1">
              <a:lnSpc>
                <a:spcPts val="1060"/>
              </a:lnSpc>
              <a:buFont typeface="Wingdings" panose="05000000000000000000" charset="0"/>
              <a:buChar char="Ø"/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终端陈列费：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高效陈列位利用率（如黄金货架坪效）。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右箭头 435"/>
          <p:cNvSpPr/>
          <p:nvPr/>
        </p:nvSpPr>
        <p:spPr>
          <a:xfrm rot="16200000" flipV="1">
            <a:off x="5210175" y="4218305"/>
            <a:ext cx="858520" cy="306705"/>
          </a:xfrm>
          <a:prstGeom prst="rightArrow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6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文本框 51"/>
          <p:cNvSpPr txBox="1"/>
          <p:nvPr/>
        </p:nvSpPr>
        <p:spPr>
          <a:xfrm>
            <a:off x="297815" y="2530475"/>
            <a:ext cx="690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lang="en-US" altLang="zh-CN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</a:t>
            </a:r>
            <a:endParaRPr lang="zh-CN" alt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燕尾形 65"/>
          <p:cNvSpPr/>
          <p:nvPr/>
        </p:nvSpPr>
        <p:spPr>
          <a:xfrm>
            <a:off x="6003925" y="4650740"/>
            <a:ext cx="2945765" cy="2009140"/>
          </a:xfrm>
          <a:prstGeom prst="roundRect">
            <a:avLst>
              <a:gd name="adj" fmla="val 385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60000"/>
                <a:lumOff val="40000"/>
                <a:alpha val="33534"/>
              </a:schemeClr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品牌战略支撑体系方法论</a:t>
            </a:r>
            <a:endParaRPr lang="en-US" altLang="zh-CN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88" name="燕尾形 65"/>
          <p:cNvSpPr/>
          <p:nvPr/>
        </p:nvSpPr>
        <p:spPr>
          <a:xfrm>
            <a:off x="9105900" y="4657725"/>
            <a:ext cx="2607945" cy="2009140"/>
          </a:xfrm>
          <a:prstGeom prst="roundRect">
            <a:avLst>
              <a:gd name="adj" fmla="val 3855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60000"/>
                <a:lumOff val="40000"/>
                <a:alpha val="33534"/>
              </a:schemeClr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等腰三角形 12"/>
          <p:cNvSpPr/>
          <p:nvPr/>
        </p:nvSpPr>
        <p:spPr>
          <a:xfrm>
            <a:off x="1171575" y="3846830"/>
            <a:ext cx="2058035" cy="290195"/>
          </a:xfrm>
          <a:prstGeom prst="triangle">
            <a:avLst>
              <a:gd name="adj" fmla="val 48380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4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6200000"/>
              <a:tileRect/>
            </a:gra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等腰三角形 12"/>
          <p:cNvSpPr/>
          <p:nvPr/>
        </p:nvSpPr>
        <p:spPr>
          <a:xfrm>
            <a:off x="862330" y="1898650"/>
            <a:ext cx="3996055" cy="490220"/>
          </a:xfrm>
          <a:prstGeom prst="triangle">
            <a:avLst>
              <a:gd name="adj" fmla="val 4983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内容占位符 20"/>
          <p:cNvSpPr txBox="1"/>
          <p:nvPr/>
        </p:nvSpPr>
        <p:spPr>
          <a:xfrm>
            <a:off x="2176145" y="2052955"/>
            <a:ext cx="1377315" cy="288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000000">
                    <a:lumMod val="50000"/>
                  </a:srgbClr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品牌架构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线连接符 128"/>
          <p:cNvCxnSpPr/>
          <p:nvPr/>
        </p:nvCxnSpPr>
        <p:spPr>
          <a:xfrm flipV="1">
            <a:off x="824230" y="1847850"/>
            <a:ext cx="2021840" cy="485775"/>
          </a:xfrm>
          <a:prstGeom prst="line">
            <a:avLst/>
          </a:prstGeom>
          <a:noFill/>
          <a:ln w="38100" cap="rnd" cmpd="sng" algn="ctr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13" name="直线连接符 133"/>
          <p:cNvCxnSpPr/>
          <p:nvPr/>
        </p:nvCxnSpPr>
        <p:spPr>
          <a:xfrm flipH="1" flipV="1">
            <a:off x="2853690" y="1847850"/>
            <a:ext cx="2068195" cy="476885"/>
          </a:xfrm>
          <a:prstGeom prst="line">
            <a:avLst/>
          </a:prstGeom>
          <a:noFill/>
          <a:ln w="38100" cap="rnd" cmpd="sng" algn="ctr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round/>
          </a:ln>
          <a:effectLst/>
        </p:spPr>
      </p:cxnSp>
      <p:grpSp>
        <p:nvGrpSpPr>
          <p:cNvPr id="14" name="组合 13"/>
          <p:cNvGrpSpPr/>
          <p:nvPr/>
        </p:nvGrpSpPr>
        <p:grpSpPr>
          <a:xfrm rot="0">
            <a:off x="797560" y="2513467"/>
            <a:ext cx="127635" cy="513368"/>
            <a:chOff x="1487" y="3855"/>
            <a:chExt cx="201" cy="661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487" y="3863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490" y="4513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677" y="3855"/>
              <a:ext cx="0" cy="661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</p:grpSp>
      <p:cxnSp>
        <p:nvCxnSpPr>
          <p:cNvPr id="30" name="直接连接符 29"/>
          <p:cNvCxnSpPr/>
          <p:nvPr/>
        </p:nvCxnSpPr>
        <p:spPr>
          <a:xfrm>
            <a:off x="570865" y="1594485"/>
            <a:ext cx="454787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70865" y="6477635"/>
            <a:ext cx="452628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32" name="标题 2"/>
          <p:cNvSpPr>
            <a:spLocks noGrp="1"/>
          </p:cNvSpPr>
          <p:nvPr/>
        </p:nvSpPr>
        <p:spPr>
          <a:xfrm>
            <a:off x="1088390" y="1142365"/>
            <a:ext cx="2049780" cy="32766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0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品牌战略拆解</a:t>
            </a:r>
            <a:endParaRPr sz="2000" b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095875" y="1585595"/>
            <a:ext cx="634365" cy="24511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5095875" y="4036695"/>
            <a:ext cx="634365" cy="24511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485765" y="2869565"/>
            <a:ext cx="301625" cy="1166495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5485765" y="4006850"/>
            <a:ext cx="295275" cy="1169035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975350" y="1594485"/>
            <a:ext cx="5675630" cy="0"/>
          </a:xfrm>
          <a:prstGeom prst="line">
            <a:avLst/>
          </a:prstGeom>
          <a:ln w="63500">
            <a:gradFill>
              <a:gsLst>
                <a:gs pos="0">
                  <a:schemeClr val="accent5">
                    <a:alpha val="0"/>
                  </a:schemeClr>
                </a:gs>
                <a:gs pos="67000">
                  <a:schemeClr val="accent5"/>
                </a:gs>
              </a:gsLst>
              <a:lin ang="0"/>
              <a:tileRect/>
            </a:gra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45" name="标题 2"/>
          <p:cNvSpPr>
            <a:spLocks noGrp="1"/>
          </p:cNvSpPr>
          <p:nvPr/>
        </p:nvSpPr>
        <p:spPr>
          <a:xfrm>
            <a:off x="6627495" y="1142365"/>
            <a:ext cx="3554095" cy="32766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0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品牌运营执行策略拆解</a:t>
            </a:r>
            <a:endParaRPr sz="2000" b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6000750" y="4535805"/>
            <a:ext cx="2955290" cy="0"/>
          </a:xfrm>
          <a:prstGeom prst="line">
            <a:avLst/>
          </a:prstGeom>
          <a:ln w="63500">
            <a:gradFill>
              <a:gsLst>
                <a:gs pos="0">
                  <a:srgbClr val="457B9D"/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67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47" name="标题 2"/>
          <p:cNvSpPr>
            <a:spLocks noGrp="1"/>
          </p:cNvSpPr>
          <p:nvPr/>
        </p:nvSpPr>
        <p:spPr>
          <a:xfrm>
            <a:off x="6686550" y="4145915"/>
            <a:ext cx="2112645" cy="32766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0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定指标与目标</a:t>
            </a:r>
            <a:endParaRPr sz="20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9105900" y="4535805"/>
            <a:ext cx="2607310" cy="0"/>
          </a:xfrm>
          <a:prstGeom prst="line">
            <a:avLst/>
          </a:prstGeom>
          <a:ln w="63500">
            <a:gradFill>
              <a:gsLst>
                <a:gs pos="0">
                  <a:srgbClr val="457B9D"/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51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49" name="矩形 48"/>
          <p:cNvSpPr/>
          <p:nvPr/>
        </p:nvSpPr>
        <p:spPr>
          <a:xfrm>
            <a:off x="1103630" y="2499360"/>
            <a:ext cx="3620770" cy="54546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chemeClr val="accent1">
                <a:lumMod val="60000"/>
                <a:lumOff val="40000"/>
                <a:alpha val="70000"/>
              </a:schemeClr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681480" y="2613660"/>
            <a:ext cx="2694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使命、愿景、价值观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97815" y="3290570"/>
            <a:ext cx="690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42570" y="4398645"/>
            <a:ext cx="800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endParaRPr 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</a:t>
            </a:r>
            <a:endParaRPr lang="zh-CN" alt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97815" y="5680075"/>
            <a:ext cx="690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endParaRPr 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延伸</a:t>
            </a:r>
            <a:endParaRPr lang="zh-CN" altLang="en-US" sz="1200" b="1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: 圆角 48"/>
          <p:cNvSpPr/>
          <p:nvPr/>
        </p:nvSpPr>
        <p:spPr>
          <a:xfrm>
            <a:off x="6003925" y="1696085"/>
            <a:ext cx="5647690" cy="2238375"/>
          </a:xfrm>
          <a:prstGeom prst="roundRect">
            <a:avLst>
              <a:gd name="adj" fmla="val 2567"/>
            </a:avLst>
          </a:prstGeom>
          <a:solidFill>
            <a:schemeClr val="accent5">
              <a:alpha val="5000"/>
            </a:schemeClr>
          </a:solidFill>
          <a:ln>
            <a:solidFill>
              <a:schemeClr val="accent5">
                <a:alpha val="33534"/>
              </a:schemeClr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Rectangle: Top Corners Rounded 32"/>
          <p:cNvSpPr/>
          <p:nvPr/>
        </p:nvSpPr>
        <p:spPr>
          <a:xfrm>
            <a:off x="8500745" y="2280920"/>
            <a:ext cx="899795" cy="899795"/>
          </a:xfrm>
          <a:prstGeom prst="ellipse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0" name="Rectangle: Top Corners Rounded 32"/>
          <p:cNvSpPr>
            <a:spLocks noChangeAspect="1"/>
          </p:cNvSpPr>
          <p:nvPr/>
        </p:nvSpPr>
        <p:spPr>
          <a:xfrm>
            <a:off x="8572500" y="2363153"/>
            <a:ext cx="756285" cy="756285"/>
          </a:xfrm>
          <a:prstGeom prst="ellipse">
            <a:avLst/>
          </a:prstGeom>
          <a:gradFill flip="none" rotWithShape="1">
            <a:gsLst>
              <a:gs pos="15000">
                <a:schemeClr val="accent5">
                  <a:lumMod val="60000"/>
                  <a:lumOff val="40000"/>
                </a:schemeClr>
              </a:gs>
              <a:gs pos="67000">
                <a:schemeClr val="accent5"/>
              </a:gs>
            </a:gsLst>
            <a:lin ang="2700000" scaled="1"/>
            <a:tileRect/>
          </a:gradFill>
          <a:ln>
            <a:noFill/>
          </a:ln>
          <a:effectLst>
            <a:innerShdw blurRad="3048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9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lt"/>
              </a:rPr>
              <a:t>会员的深度运营</a:t>
            </a:r>
            <a:endParaRPr lang="en-US" altLang="zh-CN" sz="9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lt"/>
            </a:endParaRPr>
          </a:p>
        </p:txBody>
      </p:sp>
      <p:cxnSp>
        <p:nvCxnSpPr>
          <p:cNvPr id="92" name="直接连接符 1127"/>
          <p:cNvCxnSpPr/>
          <p:nvPr/>
        </p:nvCxnSpPr>
        <p:spPr>
          <a:xfrm flipH="1">
            <a:off x="8950325" y="2043430"/>
            <a:ext cx="0" cy="215900"/>
          </a:xfrm>
          <a:prstGeom prst="line">
            <a:avLst/>
          </a:prstGeom>
          <a:ln>
            <a:solidFill>
              <a:srgbClr val="FFFFFF">
                <a:lumMod val="65000"/>
              </a:srgbClr>
            </a:solidFill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93" name="直接箭头连接符 1129"/>
          <p:cNvCxnSpPr/>
          <p:nvPr/>
        </p:nvCxnSpPr>
        <p:spPr>
          <a:xfrm>
            <a:off x="8950325" y="3156585"/>
            <a:ext cx="0" cy="39624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95" name="连接符: 肘形 1132"/>
          <p:cNvCxnSpPr/>
          <p:nvPr/>
        </p:nvCxnSpPr>
        <p:spPr>
          <a:xfrm rot="5400000" flipH="1" flipV="1">
            <a:off x="8963025" y="713105"/>
            <a:ext cx="6985" cy="3096260"/>
          </a:xfrm>
          <a:prstGeom prst="bentConnector3">
            <a:avLst>
              <a:gd name="adj1" fmla="val 180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96" name="连接符: 肘形 1133"/>
          <p:cNvCxnSpPr/>
          <p:nvPr/>
        </p:nvCxnSpPr>
        <p:spPr>
          <a:xfrm rot="16200000" flipH="1">
            <a:off x="8951595" y="1790700"/>
            <a:ext cx="6985" cy="3096260"/>
          </a:xfrm>
          <a:prstGeom prst="bentConnector3">
            <a:avLst>
              <a:gd name="adj1" fmla="val 180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97" name="文本框 96"/>
          <p:cNvSpPr txBox="1"/>
          <p:nvPr/>
        </p:nvSpPr>
        <p:spPr>
          <a:xfrm>
            <a:off x="6619875" y="2116455"/>
            <a:ext cx="76454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三位一体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7648575" y="2116455"/>
            <a:ext cx="764540" cy="26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体系搭建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9585325" y="2147570"/>
            <a:ext cx="7645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公域场景化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0" name="直接箭头连接符 1139"/>
          <p:cNvCxnSpPr/>
          <p:nvPr/>
        </p:nvCxnSpPr>
        <p:spPr>
          <a:xfrm>
            <a:off x="9400540" y="2712720"/>
            <a:ext cx="639445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01" name="直接箭头连接符 1140"/>
          <p:cNvCxnSpPr/>
          <p:nvPr/>
        </p:nvCxnSpPr>
        <p:spPr>
          <a:xfrm>
            <a:off x="7860665" y="2712720"/>
            <a:ext cx="639445" cy="0"/>
          </a:xfrm>
          <a:prstGeom prst="straightConnector1">
            <a:avLst/>
          </a:prstGeom>
          <a:ln>
            <a:solidFill>
              <a:srgbClr val="FFFFFF">
                <a:lumMod val="65000"/>
              </a:srgbClr>
            </a:solidFill>
            <a:headEnd type="triangle"/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02" name="文本框 101"/>
          <p:cNvSpPr txBox="1"/>
          <p:nvPr/>
        </p:nvSpPr>
        <p:spPr>
          <a:xfrm>
            <a:off x="7800340" y="2717800"/>
            <a:ext cx="764540" cy="2609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ID</a:t>
            </a:r>
            <a:endParaRPr lang="en-US" altLang="zh-CN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355455" y="2717800"/>
            <a:ext cx="764540" cy="26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场连接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892925" y="3153410"/>
            <a:ext cx="1062990" cy="26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消费者统一体验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9983470" y="3153410"/>
            <a:ext cx="106299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公私域协同运营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Rectangle: Top Corners Rounded 32"/>
          <p:cNvSpPr/>
          <p:nvPr/>
        </p:nvSpPr>
        <p:spPr>
          <a:xfrm>
            <a:off x="7957820" y="1793875"/>
            <a:ext cx="2006600" cy="252095"/>
          </a:xfrm>
          <a:prstGeom prst="round2SameRect">
            <a:avLst>
              <a:gd name="adj1" fmla="val 6470"/>
              <a:gd name="adj2" fmla="val 12821"/>
            </a:avLst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5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品牌运营的增长飞轮</a:t>
            </a:r>
            <a:endParaRPr lang="zh-CN" altLang="en-US" sz="105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1" name="Rectangle: Top Corners Rounded 32"/>
          <p:cNvSpPr/>
          <p:nvPr/>
        </p:nvSpPr>
        <p:spPr>
          <a:xfrm>
            <a:off x="7849235" y="3556635"/>
            <a:ext cx="2181860" cy="252095"/>
          </a:xfrm>
          <a:prstGeom prst="round2SameRect">
            <a:avLst>
              <a:gd name="adj1" fmla="val 6470"/>
              <a:gd name="adj2" fmla="val 12821"/>
            </a:avLst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105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品牌全渠道可持续性运营用户</a:t>
            </a:r>
            <a:endParaRPr lang="zh-CN" altLang="en-US" sz="105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4" name="AutoShape 8" descr="天猫logo|网页|电商|阿戈同学 - 原创作品 - 站酷 (ZCOOL)"/>
          <p:cNvSpPr>
            <a:spLocks noChangeAspect="1" noChangeArrowheads="1"/>
          </p:cNvSpPr>
          <p:nvPr/>
        </p:nvSpPr>
        <p:spPr bwMode="auto">
          <a:xfrm>
            <a:off x="10285730" y="22650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3" name="图片 102" descr="使命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4630" y="2569845"/>
            <a:ext cx="347980" cy="347980"/>
          </a:xfrm>
          <a:prstGeom prst="rect">
            <a:avLst/>
          </a:prstGeom>
        </p:spPr>
      </p:pic>
      <p:sp>
        <p:nvSpPr>
          <p:cNvPr id="109" name="矩形 108"/>
          <p:cNvSpPr/>
          <p:nvPr/>
        </p:nvSpPr>
        <p:spPr>
          <a:xfrm>
            <a:off x="1254125" y="4119880"/>
            <a:ext cx="539750" cy="127000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>
                <a:lumMod val="60000"/>
                <a:lumOff val="40000"/>
                <a:alpha val="80000"/>
              </a:schemeClr>
            </a:solidFill>
          </a:ln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972310" y="4119880"/>
            <a:ext cx="539750" cy="127000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>
                <a:lumMod val="60000"/>
                <a:lumOff val="40000"/>
                <a:alpha val="80000"/>
              </a:schemeClr>
            </a:solidFill>
          </a:ln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2690495" y="4119880"/>
            <a:ext cx="539750" cy="127000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accent5">
                <a:lumMod val="60000"/>
                <a:lumOff val="40000"/>
                <a:alpha val="80000"/>
              </a:schemeClr>
            </a:solidFill>
          </a:ln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3408680" y="4137025"/>
            <a:ext cx="539750" cy="1270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4126865" y="4137025"/>
            <a:ext cx="539750" cy="12700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280795" y="4145915"/>
            <a:ext cx="519430" cy="1198245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家电系列：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净水器、空调、扫地机器人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1939290" y="4145915"/>
            <a:ext cx="578485" cy="1198245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影音系列：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电视机、智能</a:t>
            </a:r>
            <a:r>
              <a:rPr lang="zh-CN" altLang="en-US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音箱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、路由器、摄像机等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665095" y="4145915"/>
            <a:ext cx="578485" cy="1198245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厨房家电：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净水器、空气炸锅、电饭煲、炒菜机、净烟器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389630" y="4170680"/>
            <a:ext cx="393700" cy="1198245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pPr algn="l"/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办公设备系列：</a:t>
            </a:r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笔记本、打印机、桌面快充插座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4164330" y="4181475"/>
            <a:ext cx="414655" cy="1198245"/>
          </a:xfrm>
          <a:prstGeom prst="rect">
            <a:avLst/>
          </a:prstGeom>
          <a:noFill/>
        </p:spPr>
        <p:txBody>
          <a:bodyPr vert="mongolianVert" wrap="square" rtlCol="0">
            <a:noAutofit/>
          </a:bodyPr>
          <a:lstStyle/>
          <a:p>
            <a:pPr algn="l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互联互通，整合生态互联技术</a:t>
            </a:r>
            <a:endParaRPr lang="zh-CN" altLang="en-US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7" name="直线连接符 11"/>
          <p:cNvCxnSpPr/>
          <p:nvPr/>
        </p:nvCxnSpPr>
        <p:spPr>
          <a:xfrm>
            <a:off x="4946015" y="2510790"/>
            <a:ext cx="0" cy="3639185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29" name="textbox 548"/>
          <p:cNvSpPr/>
          <p:nvPr/>
        </p:nvSpPr>
        <p:spPr>
          <a:xfrm>
            <a:off x="6096000" y="5888990"/>
            <a:ext cx="2738120" cy="6642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71450" indent="-171450" algn="l" rtl="0" ea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制定三级指标体系：一级品牌战略核心目标、二级业务单元支撑目标、三级执行层量化目标；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rtl="0" ea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目标达成与执行监控：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资源匹配与敏捷执行、数据仪表盘与纠偏机制、数据监控与预警机制。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Rectangle: Top Corners Rounded 32"/>
          <p:cNvSpPr/>
          <p:nvPr/>
        </p:nvSpPr>
        <p:spPr>
          <a:xfrm>
            <a:off x="665480" y="1090930"/>
            <a:ext cx="333375" cy="333375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endParaRPr lang="en-US" sz="1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276" name="组合 275"/>
          <p:cNvGrpSpPr/>
          <p:nvPr/>
        </p:nvGrpSpPr>
        <p:grpSpPr>
          <a:xfrm rot="0">
            <a:off x="6033770" y="4850130"/>
            <a:ext cx="2700020" cy="1136650"/>
            <a:chOff x="9472" y="7538"/>
            <a:chExt cx="4252" cy="1790"/>
          </a:xfrm>
        </p:grpSpPr>
        <p:grpSp>
          <p:nvGrpSpPr>
            <p:cNvPr id="268" name="组合 267"/>
            <p:cNvGrpSpPr/>
            <p:nvPr/>
          </p:nvGrpSpPr>
          <p:grpSpPr>
            <a:xfrm>
              <a:off x="9472" y="7538"/>
              <a:ext cx="4252" cy="1790"/>
              <a:chOff x="9629" y="7582"/>
              <a:chExt cx="4660" cy="1947"/>
            </a:xfrm>
          </p:grpSpPr>
          <p:graphicFrame>
            <p:nvGraphicFramePr>
              <p:cNvPr id="181" name="Chart 3"/>
              <p:cNvGraphicFramePr/>
              <p:nvPr/>
            </p:nvGraphicFramePr>
            <p:xfrm>
              <a:off x="9629" y="7683"/>
              <a:ext cx="4660" cy="1846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"/>
              </a:graphicData>
            </a:graphic>
          </p:graphicFrame>
          <p:cxnSp>
            <p:nvCxnSpPr>
              <p:cNvPr id="190" name="直接箭头连接符 189"/>
              <p:cNvCxnSpPr/>
              <p:nvPr/>
            </p:nvCxnSpPr>
            <p:spPr>
              <a:xfrm flipV="1">
                <a:off x="10017" y="7582"/>
                <a:ext cx="0" cy="1329"/>
              </a:xfrm>
              <a:prstGeom prst="straightConnector1">
                <a:avLst/>
              </a:prstGeom>
              <a:ln w="3175">
                <a:solidFill>
                  <a:schemeClr val="accent1"/>
                </a:solidFill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3" name="文本框 262"/>
              <p:cNvSpPr txBox="1"/>
              <p:nvPr/>
            </p:nvSpPr>
            <p:spPr>
              <a:xfrm>
                <a:off x="10705" y="8261"/>
                <a:ext cx="1717" cy="3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6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预算</a:t>
                </a:r>
                <a:r>
                  <a:rPr lang="en-US" altLang="zh-CN" sz="6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KPI</a:t>
                </a:r>
                <a:r>
                  <a:rPr lang="zh-CN" altLang="en-US" sz="60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值</a:t>
                </a:r>
                <a:endParaRPr lang="zh-CN" altLang="en-US" sz="6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74" name="文本框 273"/>
            <p:cNvSpPr txBox="1"/>
            <p:nvPr/>
          </p:nvSpPr>
          <p:spPr>
            <a:xfrm>
              <a:off x="11486" y="7802"/>
              <a:ext cx="1104" cy="3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sz="6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实际达成值</a:t>
              </a:r>
              <a:endParaRPr 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8" name="标题 2"/>
          <p:cNvSpPr>
            <a:spLocks noGrp="1"/>
          </p:cNvSpPr>
          <p:nvPr/>
        </p:nvSpPr>
        <p:spPr>
          <a:xfrm>
            <a:off x="6619875" y="4737100"/>
            <a:ext cx="1846580" cy="18923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ctr"/>
            <a:r>
              <a:rPr sz="10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</a:t>
            </a:r>
            <a:r>
              <a:rPr lang="en-US" altLang="zh-CN" sz="10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sz="10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制定及目标达成</a:t>
            </a:r>
            <a:endParaRPr sz="100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9" name="标题 2"/>
          <p:cNvSpPr>
            <a:spLocks noGrp="1"/>
          </p:cNvSpPr>
          <p:nvPr/>
        </p:nvSpPr>
        <p:spPr>
          <a:xfrm>
            <a:off x="9653270" y="4137025"/>
            <a:ext cx="1912620" cy="32766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lang="en-US" altLang="zh-CN" sz="20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定组织与制度</a:t>
            </a:r>
            <a:endParaRPr sz="2000" b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Rectangle: Top Corners Rounded 32"/>
          <p:cNvSpPr/>
          <p:nvPr/>
        </p:nvSpPr>
        <p:spPr>
          <a:xfrm>
            <a:off x="6157595" y="1090930"/>
            <a:ext cx="333375" cy="333375"/>
          </a:xfrm>
          <a:prstGeom prst="ellipse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endParaRPr lang="en-US" sz="1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82" name="Rectangle: Top Corners Rounded 32"/>
          <p:cNvSpPr/>
          <p:nvPr/>
        </p:nvSpPr>
        <p:spPr>
          <a:xfrm>
            <a:off x="6247765" y="4096385"/>
            <a:ext cx="333375" cy="333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endParaRPr lang="en-US" sz="1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83" name="Rectangle: Top Corners Rounded 32"/>
          <p:cNvSpPr/>
          <p:nvPr/>
        </p:nvSpPr>
        <p:spPr>
          <a:xfrm>
            <a:off x="9293225" y="4096385"/>
            <a:ext cx="333375" cy="333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sz="14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endParaRPr lang="en-US" sz="14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299" name="任意多边形: 形状 6"/>
          <p:cNvSpPr/>
          <p:nvPr/>
        </p:nvSpPr>
        <p:spPr>
          <a:xfrm>
            <a:off x="9328785" y="4850130"/>
            <a:ext cx="2357755" cy="1013460"/>
          </a:xfrm>
          <a:custGeom>
            <a:avLst/>
            <a:gdLst>
              <a:gd name="connsiteX0" fmla="*/ 97237 w 12454337"/>
              <a:gd name="connsiteY0" fmla="*/ 5448300 h 5546742"/>
              <a:gd name="connsiteX1" fmla="*/ 135337 w 12454337"/>
              <a:gd name="connsiteY1" fmla="*/ 5359400 h 5546742"/>
              <a:gd name="connsiteX2" fmla="*/ 1405337 w 12454337"/>
              <a:gd name="connsiteY2" fmla="*/ 3746500 h 5546742"/>
              <a:gd name="connsiteX3" fmla="*/ 5050237 w 12454337"/>
              <a:gd name="connsiteY3" fmla="*/ 3162300 h 5546742"/>
              <a:gd name="connsiteX4" fmla="*/ 7780737 w 12454337"/>
              <a:gd name="connsiteY4" fmla="*/ 1346200 h 5546742"/>
              <a:gd name="connsiteX5" fmla="*/ 11273237 w 12454337"/>
              <a:gd name="connsiteY5" fmla="*/ 787400 h 5546742"/>
              <a:gd name="connsiteX6" fmla="*/ 12454337 w 12454337"/>
              <a:gd name="connsiteY6" fmla="*/ 0 h 5546742"/>
              <a:gd name="connsiteX0-1" fmla="*/ 0 w 12319000"/>
              <a:gd name="connsiteY0-2" fmla="*/ 5359400 h 5359400"/>
              <a:gd name="connsiteX1-3" fmla="*/ 1270000 w 12319000"/>
              <a:gd name="connsiteY1-4" fmla="*/ 3746500 h 5359400"/>
              <a:gd name="connsiteX2-5" fmla="*/ 4914900 w 12319000"/>
              <a:gd name="connsiteY2-6" fmla="*/ 3162300 h 5359400"/>
              <a:gd name="connsiteX3-7" fmla="*/ 7645400 w 12319000"/>
              <a:gd name="connsiteY3-8" fmla="*/ 1346200 h 5359400"/>
              <a:gd name="connsiteX4-9" fmla="*/ 11137900 w 12319000"/>
              <a:gd name="connsiteY4-10" fmla="*/ 787400 h 5359400"/>
              <a:gd name="connsiteX5-11" fmla="*/ 12319000 w 12319000"/>
              <a:gd name="connsiteY5-12" fmla="*/ 0 h 5359400"/>
              <a:gd name="connsiteX0-13" fmla="*/ 0 w 12319000"/>
              <a:gd name="connsiteY0-14" fmla="*/ 5359400 h 5359400"/>
              <a:gd name="connsiteX1-15" fmla="*/ 1270000 w 12319000"/>
              <a:gd name="connsiteY1-16" fmla="*/ 3746500 h 5359400"/>
              <a:gd name="connsiteX2-17" fmla="*/ 4914900 w 12319000"/>
              <a:gd name="connsiteY2-18" fmla="*/ 3162300 h 5359400"/>
              <a:gd name="connsiteX3-19" fmla="*/ 7645400 w 12319000"/>
              <a:gd name="connsiteY3-20" fmla="*/ 1346200 h 5359400"/>
              <a:gd name="connsiteX4-21" fmla="*/ 11137900 w 12319000"/>
              <a:gd name="connsiteY4-22" fmla="*/ 787400 h 5359400"/>
              <a:gd name="connsiteX5-23" fmla="*/ 12319000 w 12319000"/>
              <a:gd name="connsiteY5-24" fmla="*/ 0 h 5359400"/>
              <a:gd name="connsiteX0-25" fmla="*/ 0 w 13088257"/>
              <a:gd name="connsiteY0-26" fmla="*/ 5388428 h 5388428"/>
              <a:gd name="connsiteX1-27" fmla="*/ 2039257 w 13088257"/>
              <a:gd name="connsiteY1-28" fmla="*/ 3746500 h 5388428"/>
              <a:gd name="connsiteX2-29" fmla="*/ 5684157 w 13088257"/>
              <a:gd name="connsiteY2-30" fmla="*/ 3162300 h 5388428"/>
              <a:gd name="connsiteX3-31" fmla="*/ 8414657 w 13088257"/>
              <a:gd name="connsiteY3-32" fmla="*/ 1346200 h 5388428"/>
              <a:gd name="connsiteX4-33" fmla="*/ 11907157 w 13088257"/>
              <a:gd name="connsiteY4-34" fmla="*/ 787400 h 5388428"/>
              <a:gd name="connsiteX5-35" fmla="*/ 13088257 w 13088257"/>
              <a:gd name="connsiteY5-36" fmla="*/ 0 h 5388428"/>
              <a:gd name="connsiteX0-37" fmla="*/ 0 w 13088257"/>
              <a:gd name="connsiteY0-38" fmla="*/ 5388428 h 5388428"/>
              <a:gd name="connsiteX1-39" fmla="*/ 2126343 w 13088257"/>
              <a:gd name="connsiteY1-40" fmla="*/ 3804557 h 5388428"/>
              <a:gd name="connsiteX2-41" fmla="*/ 5684157 w 13088257"/>
              <a:gd name="connsiteY2-42" fmla="*/ 3162300 h 5388428"/>
              <a:gd name="connsiteX3-43" fmla="*/ 8414657 w 13088257"/>
              <a:gd name="connsiteY3-44" fmla="*/ 1346200 h 5388428"/>
              <a:gd name="connsiteX4-45" fmla="*/ 11907157 w 13088257"/>
              <a:gd name="connsiteY4-46" fmla="*/ 787400 h 5388428"/>
              <a:gd name="connsiteX5-47" fmla="*/ 13088257 w 13088257"/>
              <a:gd name="connsiteY5-48" fmla="*/ 0 h 5388428"/>
              <a:gd name="connsiteX0-49" fmla="*/ 0 w 13088257"/>
              <a:gd name="connsiteY0-50" fmla="*/ 5388428 h 5388428"/>
              <a:gd name="connsiteX1-51" fmla="*/ 2084914 w 13088257"/>
              <a:gd name="connsiteY1-52" fmla="*/ 3684610 h 5388428"/>
              <a:gd name="connsiteX2-53" fmla="*/ 5684157 w 13088257"/>
              <a:gd name="connsiteY2-54" fmla="*/ 3162300 h 5388428"/>
              <a:gd name="connsiteX3-55" fmla="*/ 8414657 w 13088257"/>
              <a:gd name="connsiteY3-56" fmla="*/ 1346200 h 5388428"/>
              <a:gd name="connsiteX4-57" fmla="*/ 11907157 w 13088257"/>
              <a:gd name="connsiteY4-58" fmla="*/ 787400 h 5388428"/>
              <a:gd name="connsiteX5-59" fmla="*/ 13088257 w 13088257"/>
              <a:gd name="connsiteY5-60" fmla="*/ 0 h 5388428"/>
              <a:gd name="connsiteX0-61" fmla="*/ 0 w 13198736"/>
              <a:gd name="connsiteY0-62" fmla="*/ 4863659 h 4863659"/>
              <a:gd name="connsiteX1-63" fmla="*/ 2195393 w 13198736"/>
              <a:gd name="connsiteY1-64" fmla="*/ 3684610 h 4863659"/>
              <a:gd name="connsiteX2-65" fmla="*/ 5794636 w 13198736"/>
              <a:gd name="connsiteY2-66" fmla="*/ 3162300 h 4863659"/>
              <a:gd name="connsiteX3-67" fmla="*/ 8525136 w 13198736"/>
              <a:gd name="connsiteY3-68" fmla="*/ 1346200 h 4863659"/>
              <a:gd name="connsiteX4-69" fmla="*/ 12017636 w 13198736"/>
              <a:gd name="connsiteY4-70" fmla="*/ 787400 h 4863659"/>
              <a:gd name="connsiteX5-71" fmla="*/ 13198736 w 13198736"/>
              <a:gd name="connsiteY5-72" fmla="*/ 0 h 4863659"/>
              <a:gd name="connsiteX0-73" fmla="*/ 0 w 13198736"/>
              <a:gd name="connsiteY0-74" fmla="*/ 4863659 h 4863659"/>
              <a:gd name="connsiteX1-75" fmla="*/ 2195393 w 13198736"/>
              <a:gd name="connsiteY1-76" fmla="*/ 3684610 h 4863659"/>
              <a:gd name="connsiteX2-77" fmla="*/ 5725588 w 13198736"/>
              <a:gd name="connsiteY2-78" fmla="*/ 2832445 h 4863659"/>
              <a:gd name="connsiteX3-79" fmla="*/ 8525136 w 13198736"/>
              <a:gd name="connsiteY3-80" fmla="*/ 1346200 h 4863659"/>
              <a:gd name="connsiteX4-81" fmla="*/ 12017636 w 13198736"/>
              <a:gd name="connsiteY4-82" fmla="*/ 787400 h 4863659"/>
              <a:gd name="connsiteX5-83" fmla="*/ 13198736 w 13198736"/>
              <a:gd name="connsiteY5-84" fmla="*/ 0 h 4863659"/>
              <a:gd name="connsiteX0-85" fmla="*/ 0 w 13198736"/>
              <a:gd name="connsiteY0-86" fmla="*/ 4863659 h 4863659"/>
              <a:gd name="connsiteX1-87" fmla="*/ 2195393 w 13198736"/>
              <a:gd name="connsiteY1-88" fmla="*/ 3684610 h 4863659"/>
              <a:gd name="connsiteX2-89" fmla="*/ 6057024 w 13198736"/>
              <a:gd name="connsiteY2-90" fmla="*/ 2832445 h 4863659"/>
              <a:gd name="connsiteX3-91" fmla="*/ 8525136 w 13198736"/>
              <a:gd name="connsiteY3-92" fmla="*/ 1346200 h 4863659"/>
              <a:gd name="connsiteX4-93" fmla="*/ 12017636 w 13198736"/>
              <a:gd name="connsiteY4-94" fmla="*/ 787400 h 4863659"/>
              <a:gd name="connsiteX5-95" fmla="*/ 13198736 w 13198736"/>
              <a:gd name="connsiteY5-96" fmla="*/ 0 h 4863659"/>
              <a:gd name="connsiteX0-97" fmla="*/ 0 w 13198736"/>
              <a:gd name="connsiteY0-98" fmla="*/ 4863659 h 4863659"/>
              <a:gd name="connsiteX1-99" fmla="*/ 2195393 w 13198736"/>
              <a:gd name="connsiteY1-100" fmla="*/ 3684610 h 4863659"/>
              <a:gd name="connsiteX2-101" fmla="*/ 5513263 w 13198736"/>
              <a:gd name="connsiteY2-102" fmla="*/ 2556941 h 4863659"/>
              <a:gd name="connsiteX3-103" fmla="*/ 8525136 w 13198736"/>
              <a:gd name="connsiteY3-104" fmla="*/ 1346200 h 4863659"/>
              <a:gd name="connsiteX4-105" fmla="*/ 12017636 w 13198736"/>
              <a:gd name="connsiteY4-106" fmla="*/ 787400 h 4863659"/>
              <a:gd name="connsiteX5-107" fmla="*/ 13198736 w 13198736"/>
              <a:gd name="connsiteY5-108" fmla="*/ 0 h 4863659"/>
              <a:gd name="connsiteX0-109" fmla="*/ 0 w 13198736"/>
              <a:gd name="connsiteY0-110" fmla="*/ 4863659 h 4863659"/>
              <a:gd name="connsiteX1-111" fmla="*/ 2195393 w 13198736"/>
              <a:gd name="connsiteY1-112" fmla="*/ 3684610 h 4863659"/>
              <a:gd name="connsiteX2-113" fmla="*/ 5513263 w 13198736"/>
              <a:gd name="connsiteY2-114" fmla="*/ 2556941 h 4863659"/>
              <a:gd name="connsiteX3-115" fmla="*/ 8658056 w 13198736"/>
              <a:gd name="connsiteY3-116" fmla="*/ 1674181 h 4863659"/>
              <a:gd name="connsiteX4-117" fmla="*/ 12017636 w 13198736"/>
              <a:gd name="connsiteY4-118" fmla="*/ 787400 h 4863659"/>
              <a:gd name="connsiteX5-119" fmla="*/ 13198736 w 13198736"/>
              <a:gd name="connsiteY5-120" fmla="*/ 0 h 4863659"/>
              <a:gd name="connsiteX0-121" fmla="*/ 0 w 13198736"/>
              <a:gd name="connsiteY0-122" fmla="*/ 4863659 h 4863659"/>
              <a:gd name="connsiteX1-123" fmla="*/ 2195393 w 13198736"/>
              <a:gd name="connsiteY1-124" fmla="*/ 3684610 h 4863659"/>
              <a:gd name="connsiteX2-125" fmla="*/ 5694517 w 13198736"/>
              <a:gd name="connsiteY2-126" fmla="*/ 2884922 h 4863659"/>
              <a:gd name="connsiteX3-127" fmla="*/ 8658056 w 13198736"/>
              <a:gd name="connsiteY3-128" fmla="*/ 1674181 h 4863659"/>
              <a:gd name="connsiteX4-129" fmla="*/ 12017636 w 13198736"/>
              <a:gd name="connsiteY4-130" fmla="*/ 787400 h 4863659"/>
              <a:gd name="connsiteX5-131" fmla="*/ 13198736 w 13198736"/>
              <a:gd name="connsiteY5-132" fmla="*/ 0 h 4863659"/>
              <a:gd name="connsiteX0-133" fmla="*/ 0 w 13198736"/>
              <a:gd name="connsiteY0-134" fmla="*/ 4863659 h 4863659"/>
              <a:gd name="connsiteX1-135" fmla="*/ 2195393 w 13198736"/>
              <a:gd name="connsiteY1-136" fmla="*/ 3684610 h 4863659"/>
              <a:gd name="connsiteX2-137" fmla="*/ 5694517 w 13198736"/>
              <a:gd name="connsiteY2-138" fmla="*/ 2884922 h 4863659"/>
              <a:gd name="connsiteX3-139" fmla="*/ 6727110 w 13198736"/>
              <a:gd name="connsiteY3-140" fmla="*/ 1924780 h 4863659"/>
              <a:gd name="connsiteX4-141" fmla="*/ 8658056 w 13198736"/>
              <a:gd name="connsiteY4-142" fmla="*/ 1674181 h 4863659"/>
              <a:gd name="connsiteX5-143" fmla="*/ 12017636 w 13198736"/>
              <a:gd name="connsiteY5-144" fmla="*/ 787400 h 4863659"/>
              <a:gd name="connsiteX6-145" fmla="*/ 13198736 w 13198736"/>
              <a:gd name="connsiteY6-146" fmla="*/ 0 h 4863659"/>
              <a:gd name="connsiteX0-147" fmla="*/ 0 w 13198736"/>
              <a:gd name="connsiteY0-148" fmla="*/ 4863659 h 4863659"/>
              <a:gd name="connsiteX1-149" fmla="*/ 2195393 w 13198736"/>
              <a:gd name="connsiteY1-150" fmla="*/ 3684610 h 4863659"/>
              <a:gd name="connsiteX2-151" fmla="*/ 4957419 w 13198736"/>
              <a:gd name="connsiteY2-152" fmla="*/ 2832445 h 4863659"/>
              <a:gd name="connsiteX3-153" fmla="*/ 6727110 w 13198736"/>
              <a:gd name="connsiteY3-154" fmla="*/ 1924780 h 4863659"/>
              <a:gd name="connsiteX4-155" fmla="*/ 8658056 w 13198736"/>
              <a:gd name="connsiteY4-156" fmla="*/ 1674181 h 4863659"/>
              <a:gd name="connsiteX5-157" fmla="*/ 12017636 w 13198736"/>
              <a:gd name="connsiteY5-158" fmla="*/ 787400 h 4863659"/>
              <a:gd name="connsiteX6-159" fmla="*/ 13198736 w 13198736"/>
              <a:gd name="connsiteY6-160" fmla="*/ 0 h 4863659"/>
              <a:gd name="connsiteX0-161" fmla="*/ 0 w 13198736"/>
              <a:gd name="connsiteY0-162" fmla="*/ 4863659 h 4863659"/>
              <a:gd name="connsiteX1-163" fmla="*/ 2195393 w 13198736"/>
              <a:gd name="connsiteY1-164" fmla="*/ 3684610 h 4863659"/>
              <a:gd name="connsiteX2-165" fmla="*/ 5029921 w 13198736"/>
              <a:gd name="connsiteY2-166" fmla="*/ 3055472 h 4863659"/>
              <a:gd name="connsiteX3-167" fmla="*/ 6727110 w 13198736"/>
              <a:gd name="connsiteY3-168" fmla="*/ 1924780 h 4863659"/>
              <a:gd name="connsiteX4-169" fmla="*/ 8658056 w 13198736"/>
              <a:gd name="connsiteY4-170" fmla="*/ 1674181 h 4863659"/>
              <a:gd name="connsiteX5-171" fmla="*/ 12017636 w 13198736"/>
              <a:gd name="connsiteY5-172" fmla="*/ 787400 h 4863659"/>
              <a:gd name="connsiteX6-173" fmla="*/ 13198736 w 13198736"/>
              <a:gd name="connsiteY6-174" fmla="*/ 0 h 4863659"/>
              <a:gd name="connsiteX0-175" fmla="*/ 0 w 13198736"/>
              <a:gd name="connsiteY0-176" fmla="*/ 4863659 h 4863659"/>
              <a:gd name="connsiteX1-177" fmla="*/ 2195393 w 13198736"/>
              <a:gd name="connsiteY1-178" fmla="*/ 3684610 h 4863659"/>
              <a:gd name="connsiteX2-179" fmla="*/ 5029921 w 13198736"/>
              <a:gd name="connsiteY2-180" fmla="*/ 3055472 h 4863659"/>
              <a:gd name="connsiteX3-181" fmla="*/ 6449187 w 13198736"/>
              <a:gd name="connsiteY3-182" fmla="*/ 2003495 h 4863659"/>
              <a:gd name="connsiteX4-183" fmla="*/ 8658056 w 13198736"/>
              <a:gd name="connsiteY4-184" fmla="*/ 1674181 h 4863659"/>
              <a:gd name="connsiteX5-185" fmla="*/ 12017636 w 13198736"/>
              <a:gd name="connsiteY5-186" fmla="*/ 787400 h 4863659"/>
              <a:gd name="connsiteX6-187" fmla="*/ 13198736 w 13198736"/>
              <a:gd name="connsiteY6-188" fmla="*/ 0 h 4863659"/>
              <a:gd name="connsiteX0-189" fmla="*/ 0 w 13198736"/>
              <a:gd name="connsiteY0-190" fmla="*/ 4863659 h 4863659"/>
              <a:gd name="connsiteX1-191" fmla="*/ 2195393 w 13198736"/>
              <a:gd name="connsiteY1-192" fmla="*/ 3684610 h 4863659"/>
              <a:gd name="connsiteX2-193" fmla="*/ 5029921 w 13198736"/>
              <a:gd name="connsiteY2-194" fmla="*/ 3055472 h 4863659"/>
              <a:gd name="connsiteX3-195" fmla="*/ 6449187 w 13198736"/>
              <a:gd name="connsiteY3-196" fmla="*/ 2003495 h 4863659"/>
              <a:gd name="connsiteX4-197" fmla="*/ 8658056 w 13198736"/>
              <a:gd name="connsiteY4-198" fmla="*/ 1674181 h 4863659"/>
              <a:gd name="connsiteX5-199" fmla="*/ 10410518 w 13198736"/>
              <a:gd name="connsiteY5-200" fmla="*/ 892354 h 4863659"/>
              <a:gd name="connsiteX6-201" fmla="*/ 13198736 w 13198736"/>
              <a:gd name="connsiteY6-202" fmla="*/ 0 h 4863659"/>
              <a:gd name="connsiteX0-203" fmla="*/ 0 w 12763727"/>
              <a:gd name="connsiteY0-204" fmla="*/ 5558978 h 5558978"/>
              <a:gd name="connsiteX1-205" fmla="*/ 2195393 w 12763727"/>
              <a:gd name="connsiteY1-206" fmla="*/ 4379929 h 5558978"/>
              <a:gd name="connsiteX2-207" fmla="*/ 5029921 w 12763727"/>
              <a:gd name="connsiteY2-208" fmla="*/ 3750791 h 5558978"/>
              <a:gd name="connsiteX3-209" fmla="*/ 6449187 w 12763727"/>
              <a:gd name="connsiteY3-210" fmla="*/ 2698814 h 5558978"/>
              <a:gd name="connsiteX4-211" fmla="*/ 8658056 w 12763727"/>
              <a:gd name="connsiteY4-212" fmla="*/ 2369500 h 5558978"/>
              <a:gd name="connsiteX5-213" fmla="*/ 10410518 w 12763727"/>
              <a:gd name="connsiteY5-214" fmla="*/ 1587673 h 5558978"/>
              <a:gd name="connsiteX6-215" fmla="*/ 12763727 w 12763727"/>
              <a:gd name="connsiteY6-216" fmla="*/ 0 h 5558978"/>
              <a:gd name="connsiteX0-217" fmla="*/ 0 w 12763727"/>
              <a:gd name="connsiteY0-218" fmla="*/ 5558978 h 5558978"/>
              <a:gd name="connsiteX1-219" fmla="*/ 2195393 w 12763727"/>
              <a:gd name="connsiteY1-220" fmla="*/ 4379929 h 5558978"/>
              <a:gd name="connsiteX2-221" fmla="*/ 5029921 w 12763727"/>
              <a:gd name="connsiteY2-222" fmla="*/ 3750791 h 5558978"/>
              <a:gd name="connsiteX3-223" fmla="*/ 6449187 w 12763727"/>
              <a:gd name="connsiteY3-224" fmla="*/ 2698814 h 5558978"/>
              <a:gd name="connsiteX4-225" fmla="*/ 8658056 w 12763727"/>
              <a:gd name="connsiteY4-226" fmla="*/ 2369500 h 5558978"/>
              <a:gd name="connsiteX5-227" fmla="*/ 10410518 w 12763727"/>
              <a:gd name="connsiteY5-228" fmla="*/ 1587673 h 5558978"/>
              <a:gd name="connsiteX6-229" fmla="*/ 12763727 w 12763727"/>
              <a:gd name="connsiteY6-230" fmla="*/ 0 h 5558978"/>
              <a:gd name="connsiteX0-231" fmla="*/ 0 w 12763727"/>
              <a:gd name="connsiteY0-232" fmla="*/ 5558978 h 5558978"/>
              <a:gd name="connsiteX1-233" fmla="*/ 2195393 w 12763727"/>
              <a:gd name="connsiteY1-234" fmla="*/ 4379929 h 5558978"/>
              <a:gd name="connsiteX2-235" fmla="*/ 5029921 w 12763727"/>
              <a:gd name="connsiteY2-236" fmla="*/ 3750791 h 5558978"/>
              <a:gd name="connsiteX3-237" fmla="*/ 6449187 w 12763727"/>
              <a:gd name="connsiteY3-238" fmla="*/ 2698814 h 5558978"/>
              <a:gd name="connsiteX4-239" fmla="*/ 8440551 w 12763727"/>
              <a:gd name="connsiteY4-240" fmla="*/ 2303904 h 5558978"/>
              <a:gd name="connsiteX5-241" fmla="*/ 10410518 w 12763727"/>
              <a:gd name="connsiteY5-242" fmla="*/ 1587673 h 5558978"/>
              <a:gd name="connsiteX6-243" fmla="*/ 12763727 w 12763727"/>
              <a:gd name="connsiteY6-244" fmla="*/ 0 h 5558978"/>
              <a:gd name="connsiteX0-245" fmla="*/ 0 w 12763727"/>
              <a:gd name="connsiteY0-246" fmla="*/ 5558978 h 5558978"/>
              <a:gd name="connsiteX1-247" fmla="*/ 2195393 w 12763727"/>
              <a:gd name="connsiteY1-248" fmla="*/ 4379929 h 5558978"/>
              <a:gd name="connsiteX2-249" fmla="*/ 5029921 w 12763727"/>
              <a:gd name="connsiteY2-250" fmla="*/ 3750791 h 5558978"/>
              <a:gd name="connsiteX3-251" fmla="*/ 6449187 w 12763727"/>
              <a:gd name="connsiteY3-252" fmla="*/ 2698814 h 5558978"/>
              <a:gd name="connsiteX4-253" fmla="*/ 8428468 w 12763727"/>
              <a:gd name="connsiteY4-254" fmla="*/ 2513812 h 5558978"/>
              <a:gd name="connsiteX5-255" fmla="*/ 10410518 w 12763727"/>
              <a:gd name="connsiteY5-256" fmla="*/ 1587673 h 5558978"/>
              <a:gd name="connsiteX6-257" fmla="*/ 12763727 w 12763727"/>
              <a:gd name="connsiteY6-258" fmla="*/ 0 h 5558978"/>
              <a:gd name="connsiteX0-259" fmla="*/ 0 w 12763727"/>
              <a:gd name="connsiteY0-260" fmla="*/ 5558978 h 5558978"/>
              <a:gd name="connsiteX1-261" fmla="*/ 2026223 w 12763727"/>
              <a:gd name="connsiteY1-262" fmla="*/ 4209380 h 5558978"/>
              <a:gd name="connsiteX2-263" fmla="*/ 5029921 w 12763727"/>
              <a:gd name="connsiteY2-264" fmla="*/ 3750791 h 5558978"/>
              <a:gd name="connsiteX3-265" fmla="*/ 6449187 w 12763727"/>
              <a:gd name="connsiteY3-266" fmla="*/ 2698814 h 5558978"/>
              <a:gd name="connsiteX4-267" fmla="*/ 8428468 w 12763727"/>
              <a:gd name="connsiteY4-268" fmla="*/ 2513812 h 5558978"/>
              <a:gd name="connsiteX5-269" fmla="*/ 10410518 w 12763727"/>
              <a:gd name="connsiteY5-270" fmla="*/ 1587673 h 5558978"/>
              <a:gd name="connsiteX6-271" fmla="*/ 12763727 w 12763727"/>
              <a:gd name="connsiteY6-272" fmla="*/ 0 h 5558978"/>
              <a:gd name="connsiteX0-273" fmla="*/ 0 w 12763727"/>
              <a:gd name="connsiteY0-274" fmla="*/ 5558978 h 5558978"/>
              <a:gd name="connsiteX1-275" fmla="*/ 2026223 w 12763727"/>
              <a:gd name="connsiteY1-276" fmla="*/ 4209380 h 5558978"/>
              <a:gd name="connsiteX2-277" fmla="*/ 4570745 w 12763727"/>
              <a:gd name="connsiteY2-278" fmla="*/ 3842626 h 5558978"/>
              <a:gd name="connsiteX3-279" fmla="*/ 6449187 w 12763727"/>
              <a:gd name="connsiteY3-280" fmla="*/ 2698814 h 5558978"/>
              <a:gd name="connsiteX4-281" fmla="*/ 8428468 w 12763727"/>
              <a:gd name="connsiteY4-282" fmla="*/ 2513812 h 5558978"/>
              <a:gd name="connsiteX5-283" fmla="*/ 10410518 w 12763727"/>
              <a:gd name="connsiteY5-284" fmla="*/ 1587673 h 5558978"/>
              <a:gd name="connsiteX6-285" fmla="*/ 12763727 w 12763727"/>
              <a:gd name="connsiteY6-286" fmla="*/ 0 h 5558978"/>
              <a:gd name="connsiteX0-287" fmla="*/ 0 w 12763727"/>
              <a:gd name="connsiteY0-288" fmla="*/ 5558978 h 5558978"/>
              <a:gd name="connsiteX1-289" fmla="*/ 2026223 w 12763727"/>
              <a:gd name="connsiteY1-290" fmla="*/ 4209380 h 5558978"/>
              <a:gd name="connsiteX2-291" fmla="*/ 4570745 w 12763727"/>
              <a:gd name="connsiteY2-292" fmla="*/ 3842626 h 5558978"/>
              <a:gd name="connsiteX3-293" fmla="*/ 6098763 w 12763727"/>
              <a:gd name="connsiteY3-294" fmla="*/ 2830007 h 5558978"/>
              <a:gd name="connsiteX4-295" fmla="*/ 8428468 w 12763727"/>
              <a:gd name="connsiteY4-296" fmla="*/ 2513812 h 5558978"/>
              <a:gd name="connsiteX5-297" fmla="*/ 10410518 w 12763727"/>
              <a:gd name="connsiteY5-298" fmla="*/ 1587673 h 5558978"/>
              <a:gd name="connsiteX6-299" fmla="*/ 12763727 w 12763727"/>
              <a:gd name="connsiteY6-300" fmla="*/ 0 h 5558978"/>
              <a:gd name="connsiteX0-301" fmla="*/ 0 w 12763727"/>
              <a:gd name="connsiteY0-302" fmla="*/ 5558978 h 5558978"/>
              <a:gd name="connsiteX1-303" fmla="*/ 2026223 w 12763727"/>
              <a:gd name="connsiteY1-304" fmla="*/ 4209380 h 5558978"/>
              <a:gd name="connsiteX2-305" fmla="*/ 4280739 w 12763727"/>
              <a:gd name="connsiteY2-306" fmla="*/ 3921341 h 5558978"/>
              <a:gd name="connsiteX3-307" fmla="*/ 6098763 w 12763727"/>
              <a:gd name="connsiteY3-308" fmla="*/ 2830007 h 5558978"/>
              <a:gd name="connsiteX4-309" fmla="*/ 8428468 w 12763727"/>
              <a:gd name="connsiteY4-310" fmla="*/ 2513812 h 5558978"/>
              <a:gd name="connsiteX5-311" fmla="*/ 10410518 w 12763727"/>
              <a:gd name="connsiteY5-312" fmla="*/ 1587673 h 5558978"/>
              <a:gd name="connsiteX6-313" fmla="*/ 12763727 w 12763727"/>
              <a:gd name="connsiteY6-314" fmla="*/ 0 h 5558978"/>
              <a:gd name="connsiteX0-315" fmla="*/ 0 w 12763727"/>
              <a:gd name="connsiteY0-316" fmla="*/ 5558978 h 5558978"/>
              <a:gd name="connsiteX1-317" fmla="*/ 2026223 w 12763727"/>
              <a:gd name="connsiteY1-318" fmla="*/ 4209380 h 5558978"/>
              <a:gd name="connsiteX2-319" fmla="*/ 4280739 w 12763727"/>
              <a:gd name="connsiteY2-320" fmla="*/ 3921341 h 5558978"/>
              <a:gd name="connsiteX3-321" fmla="*/ 6098763 w 12763727"/>
              <a:gd name="connsiteY3-322" fmla="*/ 2830007 h 5558978"/>
              <a:gd name="connsiteX4-323" fmla="*/ 8428468 w 12763727"/>
              <a:gd name="connsiteY4-324" fmla="*/ 2513812 h 5558978"/>
              <a:gd name="connsiteX5-325" fmla="*/ 10410518 w 12763727"/>
              <a:gd name="connsiteY5-326" fmla="*/ 1587673 h 5558978"/>
              <a:gd name="connsiteX6-327" fmla="*/ 12763727 w 12763727"/>
              <a:gd name="connsiteY6-328" fmla="*/ 0 h 5558978"/>
              <a:gd name="connsiteX0-329" fmla="*/ 0 w 12763727"/>
              <a:gd name="connsiteY0-330" fmla="*/ 5558978 h 5558978"/>
              <a:gd name="connsiteX1-331" fmla="*/ 2026223 w 12763727"/>
              <a:gd name="connsiteY1-332" fmla="*/ 4209380 h 5558978"/>
              <a:gd name="connsiteX2-333" fmla="*/ 4280739 w 12763727"/>
              <a:gd name="connsiteY2-334" fmla="*/ 3921341 h 5558978"/>
              <a:gd name="connsiteX3-335" fmla="*/ 6098763 w 12763727"/>
              <a:gd name="connsiteY3-336" fmla="*/ 2830007 h 5558978"/>
              <a:gd name="connsiteX4-337" fmla="*/ 8428468 w 12763727"/>
              <a:gd name="connsiteY4-338" fmla="*/ 2513812 h 5558978"/>
              <a:gd name="connsiteX5-339" fmla="*/ 10410518 w 12763727"/>
              <a:gd name="connsiteY5-340" fmla="*/ 1587673 h 5558978"/>
              <a:gd name="connsiteX6-341" fmla="*/ 12763727 w 12763727"/>
              <a:gd name="connsiteY6-342" fmla="*/ 0 h 5558978"/>
              <a:gd name="connsiteX0-343" fmla="*/ 0 w 12944981"/>
              <a:gd name="connsiteY0-344" fmla="*/ 5047328 h 5047328"/>
              <a:gd name="connsiteX1-345" fmla="*/ 2026223 w 12944981"/>
              <a:gd name="connsiteY1-346" fmla="*/ 3697730 h 5047328"/>
              <a:gd name="connsiteX2-347" fmla="*/ 4280739 w 12944981"/>
              <a:gd name="connsiteY2-348" fmla="*/ 3409691 h 5047328"/>
              <a:gd name="connsiteX3-349" fmla="*/ 6098763 w 12944981"/>
              <a:gd name="connsiteY3-350" fmla="*/ 2318357 h 5047328"/>
              <a:gd name="connsiteX4-351" fmla="*/ 8428468 w 12944981"/>
              <a:gd name="connsiteY4-352" fmla="*/ 2002162 h 5047328"/>
              <a:gd name="connsiteX5-353" fmla="*/ 10410518 w 12944981"/>
              <a:gd name="connsiteY5-354" fmla="*/ 1076023 h 5047328"/>
              <a:gd name="connsiteX6-355" fmla="*/ 12944981 w 12944981"/>
              <a:gd name="connsiteY6-356" fmla="*/ 0 h 5047328"/>
              <a:gd name="connsiteX0-357" fmla="*/ 0 w 13198736"/>
              <a:gd name="connsiteY0-358" fmla="*/ 4761985 h 4761985"/>
              <a:gd name="connsiteX1-359" fmla="*/ 2026223 w 13198736"/>
              <a:gd name="connsiteY1-360" fmla="*/ 3412387 h 4761985"/>
              <a:gd name="connsiteX2-361" fmla="*/ 4280739 w 13198736"/>
              <a:gd name="connsiteY2-362" fmla="*/ 3124348 h 4761985"/>
              <a:gd name="connsiteX3-363" fmla="*/ 6098763 w 13198736"/>
              <a:gd name="connsiteY3-364" fmla="*/ 2033014 h 4761985"/>
              <a:gd name="connsiteX4-365" fmla="*/ 8428468 w 13198736"/>
              <a:gd name="connsiteY4-366" fmla="*/ 1716819 h 4761985"/>
              <a:gd name="connsiteX5-367" fmla="*/ 10410518 w 13198736"/>
              <a:gd name="connsiteY5-368" fmla="*/ 790680 h 4761985"/>
              <a:gd name="connsiteX6-369" fmla="*/ 13198736 w 13198736"/>
              <a:gd name="connsiteY6-370" fmla="*/ 0 h 47619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45" y="connsiteY6-146"/>
              </a:cxn>
            </a:cxnLst>
            <a:rect l="l" t="t" r="r" b="b"/>
            <a:pathLst>
              <a:path w="13198736" h="4761985">
                <a:moveTo>
                  <a:pt x="0" y="4761985"/>
                </a:moveTo>
                <a:cubicBezTo>
                  <a:pt x="164229" y="4467594"/>
                  <a:pt x="1312767" y="3685326"/>
                  <a:pt x="2026223" y="3412387"/>
                </a:cubicBezTo>
                <a:cubicBezTo>
                  <a:pt x="2739679" y="3139448"/>
                  <a:pt x="3601982" y="3354243"/>
                  <a:pt x="4280739" y="3124348"/>
                </a:cubicBezTo>
                <a:cubicBezTo>
                  <a:pt x="4959496" y="2894453"/>
                  <a:pt x="5604840" y="2234804"/>
                  <a:pt x="6098763" y="2033014"/>
                </a:cubicBezTo>
                <a:cubicBezTo>
                  <a:pt x="6592686" y="1831224"/>
                  <a:pt x="7709842" y="1923875"/>
                  <a:pt x="8428468" y="1716819"/>
                </a:cubicBezTo>
                <a:cubicBezTo>
                  <a:pt x="9147094" y="1509763"/>
                  <a:pt x="9290658" y="1086274"/>
                  <a:pt x="10410518" y="790680"/>
                </a:cubicBezTo>
                <a:cubicBezTo>
                  <a:pt x="11189452" y="566313"/>
                  <a:pt x="12743896" y="45370"/>
                  <a:pt x="13198736" y="0"/>
                </a:cubicBezTo>
              </a:path>
            </a:pathLst>
          </a:custGeom>
          <a:noFill/>
          <a:ln w="50800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2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64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</a:ln>
          <a:effectLst>
            <a:outerShdw blurRad="139700" dist="508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0" name="组合 299"/>
          <p:cNvGrpSpPr/>
          <p:nvPr/>
        </p:nvGrpSpPr>
        <p:grpSpPr>
          <a:xfrm rot="0">
            <a:off x="9163050" y="4806315"/>
            <a:ext cx="848360" cy="652780"/>
            <a:chOff x="14661" y="11021"/>
            <a:chExt cx="1336" cy="1028"/>
          </a:xfrm>
        </p:grpSpPr>
        <p:sp>
          <p:nvSpPr>
            <p:cNvPr id="301" name="菱形 300"/>
            <p:cNvSpPr/>
            <p:nvPr/>
          </p:nvSpPr>
          <p:spPr>
            <a:xfrm>
              <a:off x="14805" y="11021"/>
              <a:ext cx="1028" cy="1028"/>
            </a:xfrm>
            <a:prstGeom prst="diamond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2" name="文本框 301"/>
            <p:cNvSpPr txBox="1"/>
            <p:nvPr/>
          </p:nvSpPr>
          <p:spPr>
            <a:xfrm>
              <a:off x="14661" y="11235"/>
              <a:ext cx="1336" cy="4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梭状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人才结构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4" name="椭圆 303"/>
          <p:cNvSpPr/>
          <p:nvPr/>
        </p:nvSpPr>
        <p:spPr>
          <a:xfrm>
            <a:off x="11144250" y="4973955"/>
            <a:ext cx="86360" cy="863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FFFF"/>
            </a:solidFill>
          </a:ln>
          <a:effectLst>
            <a:outerShdw blurRad="203200" dist="635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10119995" y="5407025"/>
            <a:ext cx="86360" cy="863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FFFF"/>
            </a:solidFill>
          </a:ln>
          <a:effectLst>
            <a:outerShdw blurRad="203200" dist="635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6" name="椭圆 305"/>
          <p:cNvSpPr/>
          <p:nvPr/>
        </p:nvSpPr>
        <p:spPr>
          <a:xfrm>
            <a:off x="9417050" y="5680075"/>
            <a:ext cx="86360" cy="863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FFFF"/>
            </a:solidFill>
          </a:ln>
          <a:effectLst>
            <a:outerShdw blurRad="203200" dist="635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9551670" y="5710555"/>
            <a:ext cx="654685" cy="2755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招聘高素质本科生</a:t>
            </a:r>
            <a:endParaRPr lang="zh-CN" altLang="en-US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10181590" y="5490845"/>
            <a:ext cx="654685" cy="2755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业务培养一线经理</a:t>
            </a:r>
            <a:endParaRPr lang="zh-CN" altLang="en-US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10285730" y="4986655"/>
            <a:ext cx="654685" cy="2755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综合岗位试炼提拔</a:t>
            </a:r>
            <a:endParaRPr lang="zh-CN" altLang="en-US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" name="标题 2"/>
          <p:cNvSpPr>
            <a:spLocks noGrp="1"/>
          </p:cNvSpPr>
          <p:nvPr/>
        </p:nvSpPr>
        <p:spPr>
          <a:xfrm>
            <a:off x="9626600" y="4737100"/>
            <a:ext cx="1846580" cy="189230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rgbClr val="24396B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ctr"/>
            <a:r>
              <a:rPr sz="100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建立组织及人才培养机制</a:t>
            </a:r>
            <a:endParaRPr sz="100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3" name="textbox 548"/>
          <p:cNvSpPr/>
          <p:nvPr/>
        </p:nvSpPr>
        <p:spPr>
          <a:xfrm>
            <a:off x="9207500" y="5963285"/>
            <a:ext cx="2442845" cy="66421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71450" indent="-171450" algn="l" rtl="0" ea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敏捷协作机制：会议制度、一体化协同平台、绩效管理与反馈机制、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OKR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融合；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rtl="0" eaLnBrk="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制度落地保障措施</a:t>
            </a:r>
            <a:r>
              <a:rPr 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：工作管理制度、文化渗透、标杆引领、晋升管理制度。</a:t>
            </a:r>
            <a:endParaRPr lang="zh-CN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10566400" y="2147570"/>
            <a:ext cx="7645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私域差异化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60" name="组合 759"/>
          <p:cNvGrpSpPr/>
          <p:nvPr/>
        </p:nvGrpSpPr>
        <p:grpSpPr>
          <a:xfrm rot="0">
            <a:off x="1118870" y="5760085"/>
            <a:ext cx="821055" cy="512445"/>
            <a:chOff x="8798407" y="2673726"/>
            <a:chExt cx="775948" cy="558354"/>
          </a:xfrm>
        </p:grpSpPr>
        <p:sp>
          <p:nvSpPr>
            <p:cNvPr id="340" name="©显眼包PPT1-1"/>
            <p:cNvSpPr/>
            <p:nvPr/>
          </p:nvSpPr>
          <p:spPr>
            <a:xfrm>
              <a:off x="8798407" y="2673726"/>
              <a:ext cx="775948" cy="519149"/>
            </a:xfrm>
            <a:custGeom>
              <a:avLst/>
              <a:gdLst>
                <a:gd name="connsiteX0" fmla="*/ 0 w 888777"/>
                <a:gd name="connsiteY0" fmla="*/ 419295 h 519149"/>
                <a:gd name="connsiteX1" fmla="*/ 271413 w 888777"/>
                <a:gd name="connsiteY1" fmla="*/ 511302 h 519149"/>
                <a:gd name="connsiteX2" fmla="*/ 444389 w 888777"/>
                <a:gd name="connsiteY2" fmla="*/ 519149 h 519149"/>
                <a:gd name="connsiteX3" fmla="*/ 444388 w 888777"/>
                <a:gd name="connsiteY3" fmla="*/ 519149 h 519149"/>
                <a:gd name="connsiteX4" fmla="*/ 0 w 888777"/>
                <a:gd name="connsiteY4" fmla="*/ 419295 h 519149"/>
                <a:gd name="connsiteX5" fmla="*/ 0 w 888777"/>
                <a:gd name="connsiteY5" fmla="*/ 0 h 519149"/>
                <a:gd name="connsiteX6" fmla="*/ 888777 w 888777"/>
                <a:gd name="connsiteY6" fmla="*/ 0 h 519149"/>
                <a:gd name="connsiteX7" fmla="*/ 888777 w 888777"/>
                <a:gd name="connsiteY7" fmla="*/ 122940 h 519149"/>
                <a:gd name="connsiteX8" fmla="*/ 888777 w 888777"/>
                <a:gd name="connsiteY8" fmla="*/ 245879 h 519149"/>
                <a:gd name="connsiteX9" fmla="*/ 888777 w 888777"/>
                <a:gd name="connsiteY9" fmla="*/ 416722 h 519149"/>
                <a:gd name="connsiteX10" fmla="*/ 887624 w 888777"/>
                <a:gd name="connsiteY10" fmla="*/ 416722 h 519149"/>
                <a:gd name="connsiteX11" fmla="*/ 879750 w 888777"/>
                <a:gd name="connsiteY11" fmla="*/ 399171 h 519149"/>
                <a:gd name="connsiteX12" fmla="*/ 444389 w 888777"/>
                <a:gd name="connsiteY12" fmla="*/ 319441 h 519149"/>
                <a:gd name="connsiteX13" fmla="*/ 0 w 888777"/>
                <a:gd name="connsiteY13" fmla="*/ 419295 h 519149"/>
                <a:gd name="connsiteX14" fmla="*/ 1154 w 888777"/>
                <a:gd name="connsiteY14" fmla="*/ 416722 h 519149"/>
                <a:gd name="connsiteX15" fmla="*/ 0 w 888777"/>
                <a:gd name="connsiteY15" fmla="*/ 416722 h 519149"/>
                <a:gd name="connsiteX16" fmla="*/ 0 w 888777"/>
                <a:gd name="connsiteY16" fmla="*/ 245879 h 519149"/>
                <a:gd name="connsiteX17" fmla="*/ 0 w 888777"/>
                <a:gd name="connsiteY17" fmla="*/ 122940 h 51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8777" h="519149">
                  <a:moveTo>
                    <a:pt x="0" y="419295"/>
                  </a:moveTo>
                  <a:cubicBezTo>
                    <a:pt x="0" y="460656"/>
                    <a:pt x="111915" y="496144"/>
                    <a:pt x="271413" y="511302"/>
                  </a:cubicBezTo>
                  <a:lnTo>
                    <a:pt x="444389" y="519149"/>
                  </a:lnTo>
                  <a:lnTo>
                    <a:pt x="444388" y="519149"/>
                  </a:lnTo>
                  <a:cubicBezTo>
                    <a:pt x="198959" y="519149"/>
                    <a:pt x="0" y="474443"/>
                    <a:pt x="0" y="419295"/>
                  </a:cubicBezTo>
                  <a:close/>
                  <a:moveTo>
                    <a:pt x="0" y="0"/>
                  </a:moveTo>
                  <a:lnTo>
                    <a:pt x="888777" y="0"/>
                  </a:lnTo>
                  <a:lnTo>
                    <a:pt x="888777" y="122940"/>
                  </a:lnTo>
                  <a:lnTo>
                    <a:pt x="888777" y="245879"/>
                  </a:lnTo>
                  <a:lnTo>
                    <a:pt x="888777" y="416722"/>
                  </a:lnTo>
                  <a:lnTo>
                    <a:pt x="887624" y="416722"/>
                  </a:lnTo>
                  <a:lnTo>
                    <a:pt x="879750" y="399171"/>
                  </a:lnTo>
                  <a:cubicBezTo>
                    <a:pt x="838312" y="353669"/>
                    <a:pt x="659139" y="319441"/>
                    <a:pt x="444389" y="319441"/>
                  </a:cubicBezTo>
                  <a:cubicBezTo>
                    <a:pt x="198960" y="319441"/>
                    <a:pt x="0" y="364147"/>
                    <a:pt x="0" y="419295"/>
                  </a:cubicBezTo>
                  <a:lnTo>
                    <a:pt x="1154" y="416722"/>
                  </a:lnTo>
                  <a:lnTo>
                    <a:pt x="0" y="416722"/>
                  </a:lnTo>
                  <a:lnTo>
                    <a:pt x="0" y="245879"/>
                  </a:lnTo>
                  <a:lnTo>
                    <a:pt x="0" y="12294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  <a:gs pos="22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341" name="©显眼包PPT1-2"/>
            <p:cNvSpPr/>
            <p:nvPr/>
          </p:nvSpPr>
          <p:spPr>
            <a:xfrm>
              <a:off x="8798407" y="2993167"/>
              <a:ext cx="775948" cy="199708"/>
            </a:xfrm>
            <a:prstGeom prst="ellipse">
              <a:avLst/>
            </a:prstGeom>
            <a:gradFill flip="none" rotWithShape="1">
              <a:gsLst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</a:gsLst>
              <a:lin ang="0" scaled="1"/>
              <a:tileRect/>
            </a:gradFill>
            <a:ln w="12700">
              <a:gradFill flip="none" rotWithShape="1">
                <a:gsLst>
                  <a:gs pos="17000">
                    <a:schemeClr val="accent1">
                      <a:lumMod val="60000"/>
                      <a:lumOff val="40000"/>
                      <a:alpha val="0"/>
                    </a:schemeClr>
                  </a:gs>
                  <a:gs pos="7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342" name="©显眼包PPT1-3"/>
            <p:cNvSpPr/>
            <p:nvPr/>
          </p:nvSpPr>
          <p:spPr>
            <a:xfrm>
              <a:off x="8862565" y="3030198"/>
              <a:ext cx="647632" cy="117745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9000">
                  <a:schemeClr val="bg1">
                    <a:alpha val="70000"/>
                  </a:schemeClr>
                </a:gs>
              </a:gsLst>
              <a:lin ang="5400000" scaled="1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343" name="©显眼包PPT1-4"/>
            <p:cNvSpPr txBox="1"/>
            <p:nvPr/>
          </p:nvSpPr>
          <p:spPr>
            <a:xfrm>
              <a:off x="8951444" y="2829165"/>
              <a:ext cx="475877" cy="2006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rPr>
                <a:t>生态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344" name="©显眼包PPT1-5"/>
            <p:cNvSpPr/>
            <p:nvPr/>
          </p:nvSpPr>
          <p:spPr>
            <a:xfrm>
              <a:off x="8798407" y="3032372"/>
              <a:ext cx="775948" cy="199708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5300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66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958330" y="2299335"/>
            <a:ext cx="883920" cy="883920"/>
            <a:chOff x="9163" y="3645"/>
            <a:chExt cx="1392" cy="1392"/>
          </a:xfrm>
        </p:grpSpPr>
        <p:grpSp>
          <p:nvGrpSpPr>
            <p:cNvPr id="43" name="组合 42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51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60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9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61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9322" y="3987"/>
              <a:ext cx="1075" cy="70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会员体系化建设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0026650" y="2299335"/>
            <a:ext cx="883920" cy="883920"/>
            <a:chOff x="9163" y="3645"/>
            <a:chExt cx="1392" cy="1392"/>
          </a:xfrm>
        </p:grpSpPr>
        <p:grpSp>
          <p:nvGrpSpPr>
            <p:cNvPr id="71" name="组合 70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73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75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9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76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0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77" name="文本框 76"/>
            <p:cNvSpPr txBox="1"/>
            <p:nvPr/>
          </p:nvSpPr>
          <p:spPr>
            <a:xfrm>
              <a:off x="9322" y="3988"/>
              <a:ext cx="1075" cy="70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全渠道协同的运营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8" name="椭圆 77"/>
          <p:cNvSpPr/>
          <p:nvPr/>
        </p:nvSpPr>
        <p:spPr>
          <a:xfrm>
            <a:off x="10717530" y="5175885"/>
            <a:ext cx="86360" cy="8636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rgbClr val="FFFFFF"/>
            </a:solidFill>
          </a:ln>
          <a:effectLst>
            <a:outerShdw blurRad="203200" dist="63500" dir="2700000" algn="tl" rotWithShape="0">
              <a:schemeClr val="accent1">
                <a:lumMod val="60000"/>
                <a:lumOff val="40000"/>
                <a:alpha val="30000"/>
              </a:schemeClr>
            </a:outerShdw>
          </a:effectLst>
        </p:spPr>
        <p:style>
          <a:lnRef idx="2">
            <a:srgbClr val="0165FF">
              <a:shade val="50000"/>
            </a:srgbClr>
          </a:lnRef>
          <a:fillRef idx="1">
            <a:srgbClr val="0165FF"/>
          </a:fillRef>
          <a:effectRef idx="0">
            <a:srgbClr val="0165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1144250" y="5093335"/>
            <a:ext cx="654685" cy="2755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6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部门总总经理</a:t>
            </a:r>
            <a:endParaRPr lang="zh-CN" altLang="en-US" sz="6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625590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975475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325360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675245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025130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8375015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275705" y="5626100"/>
            <a:ext cx="321945" cy="105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6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6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 rot="0">
            <a:off x="1090295" y="3161030"/>
            <a:ext cx="692150" cy="692150"/>
            <a:chOff x="9163" y="3645"/>
            <a:chExt cx="1392" cy="1392"/>
          </a:xfrm>
        </p:grpSpPr>
        <p:grpSp>
          <p:nvGrpSpPr>
            <p:cNvPr id="149" name="组合 148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150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151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 kern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152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153" name="文本框 152"/>
            <p:cNvSpPr txBox="1"/>
            <p:nvPr/>
          </p:nvSpPr>
          <p:spPr>
            <a:xfrm>
              <a:off x="9322" y="3944"/>
              <a:ext cx="1075" cy="8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</a:t>
              </a:r>
              <a:endPara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手机</a:t>
              </a:r>
              <a:endPara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 rot="0">
            <a:off x="1826260" y="3161030"/>
            <a:ext cx="692150" cy="692150"/>
            <a:chOff x="9163" y="3645"/>
            <a:chExt cx="1392" cy="1392"/>
          </a:xfrm>
        </p:grpSpPr>
        <p:grpSp>
          <p:nvGrpSpPr>
            <p:cNvPr id="155" name="组合 154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156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157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 kern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158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159" name="文本框 158"/>
            <p:cNvSpPr txBox="1"/>
            <p:nvPr/>
          </p:nvSpPr>
          <p:spPr>
            <a:xfrm>
              <a:off x="9322" y="3945"/>
              <a:ext cx="1075" cy="8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家居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 rot="0">
            <a:off x="2562225" y="3161030"/>
            <a:ext cx="692150" cy="692150"/>
            <a:chOff x="9163" y="3645"/>
            <a:chExt cx="1392" cy="1392"/>
          </a:xfrm>
        </p:grpSpPr>
        <p:grpSp>
          <p:nvGrpSpPr>
            <p:cNvPr id="162" name="组合 161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163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164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 kern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165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167" name="文本框 166"/>
            <p:cNvSpPr txBox="1"/>
            <p:nvPr/>
          </p:nvSpPr>
          <p:spPr>
            <a:xfrm>
              <a:off x="9322" y="3946"/>
              <a:ext cx="1075" cy="8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办公设备</a:t>
              </a:r>
              <a:endPara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8" name="组合 167"/>
          <p:cNvGrpSpPr/>
          <p:nvPr/>
        </p:nvGrpSpPr>
        <p:grpSpPr>
          <a:xfrm rot="0">
            <a:off x="3298190" y="3161030"/>
            <a:ext cx="692150" cy="692150"/>
            <a:chOff x="9163" y="3645"/>
            <a:chExt cx="1392" cy="1392"/>
          </a:xfrm>
        </p:grpSpPr>
        <p:grpSp>
          <p:nvGrpSpPr>
            <p:cNvPr id="169" name="组合 168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170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174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 kern="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175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00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176" name="文本框 175"/>
            <p:cNvSpPr txBox="1"/>
            <p:nvPr/>
          </p:nvSpPr>
          <p:spPr>
            <a:xfrm>
              <a:off x="9322" y="3946"/>
              <a:ext cx="1075" cy="8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智能手机</a:t>
              </a:r>
              <a:endPara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 rot="0">
            <a:off x="4034155" y="3161030"/>
            <a:ext cx="692150" cy="692150"/>
            <a:chOff x="9163" y="3645"/>
            <a:chExt cx="1392" cy="1392"/>
          </a:xfrm>
        </p:grpSpPr>
        <p:grpSp>
          <p:nvGrpSpPr>
            <p:cNvPr id="178" name="组合 177"/>
            <p:cNvGrpSpPr/>
            <p:nvPr/>
          </p:nvGrpSpPr>
          <p:grpSpPr>
            <a:xfrm rot="0">
              <a:off x="9163" y="3645"/>
              <a:ext cx="1392" cy="1392"/>
              <a:chOff x="5719739" y="3319093"/>
              <a:chExt cx="752522" cy="752522"/>
            </a:xfrm>
          </p:grpSpPr>
          <p:sp>
            <p:nvSpPr>
              <p:cNvPr id="179" name="©显眼包PPT-1"/>
              <p:cNvSpPr/>
              <p:nvPr/>
            </p:nvSpPr>
            <p:spPr>
              <a:xfrm>
                <a:off x="5719739" y="3319093"/>
                <a:ext cx="752522" cy="75252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1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  <p:sp>
            <p:nvSpPr>
              <p:cNvPr id="180" name="©显眼包PPT-2"/>
              <p:cNvSpPr/>
              <p:nvPr/>
            </p:nvSpPr>
            <p:spPr>
              <a:xfrm>
                <a:off x="5756814" y="3356168"/>
                <a:ext cx="678371" cy="678371"/>
              </a:xfrm>
              <a:prstGeom prst="ellipse">
                <a:avLst/>
              </a:prstGeom>
              <a:gradFill flip="none" rotWithShape="1">
                <a:gsLst>
                  <a:gs pos="39000">
                    <a:schemeClr val="bg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100" kern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182" name="©显眼包PPT-3"/>
              <p:cNvSpPr/>
              <p:nvPr/>
            </p:nvSpPr>
            <p:spPr>
              <a:xfrm>
                <a:off x="5783108" y="3382462"/>
                <a:ext cx="625785" cy="625785"/>
              </a:xfrm>
              <a:prstGeom prst="ellipse">
                <a:avLst/>
              </a:pr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100">
                  <a:solidFill>
                    <a:schemeClr val="accent1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  <p:sp>
          <p:nvSpPr>
            <p:cNvPr id="184" name="文本框 183"/>
            <p:cNvSpPr txBox="1"/>
            <p:nvPr/>
          </p:nvSpPr>
          <p:spPr>
            <a:xfrm>
              <a:off x="9280" y="3946"/>
              <a:ext cx="1157" cy="80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1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互联网服务</a:t>
              </a:r>
              <a:endPara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87" name="直接连接符 186"/>
          <p:cNvCxnSpPr/>
          <p:nvPr/>
        </p:nvCxnSpPr>
        <p:spPr>
          <a:xfrm>
            <a:off x="1149985" y="5489575"/>
            <a:ext cx="3641090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88" name="直接连接符 187"/>
          <p:cNvCxnSpPr/>
          <p:nvPr/>
        </p:nvCxnSpPr>
        <p:spPr>
          <a:xfrm>
            <a:off x="1148080" y="3949065"/>
            <a:ext cx="3519170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pic>
        <p:nvPicPr>
          <p:cNvPr id="192" name="图片 191" descr="icon-办事服务-生态环境-生态环境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8255" y="5511165"/>
            <a:ext cx="520700" cy="520700"/>
          </a:xfrm>
          <a:prstGeom prst="rect">
            <a:avLst/>
          </a:prstGeom>
        </p:spPr>
      </p:pic>
      <p:grpSp>
        <p:nvGrpSpPr>
          <p:cNvPr id="238" name="组合 237"/>
          <p:cNvGrpSpPr/>
          <p:nvPr/>
        </p:nvGrpSpPr>
        <p:grpSpPr>
          <a:xfrm rot="0">
            <a:off x="2047240" y="5758180"/>
            <a:ext cx="821055" cy="512445"/>
            <a:chOff x="8798407" y="2673726"/>
            <a:chExt cx="775948" cy="558354"/>
          </a:xfrm>
        </p:grpSpPr>
        <p:sp>
          <p:nvSpPr>
            <p:cNvPr id="239" name="©显眼包PPT1-1"/>
            <p:cNvSpPr/>
            <p:nvPr/>
          </p:nvSpPr>
          <p:spPr>
            <a:xfrm>
              <a:off x="8798407" y="2673726"/>
              <a:ext cx="775948" cy="519149"/>
            </a:xfrm>
            <a:custGeom>
              <a:avLst/>
              <a:gdLst>
                <a:gd name="connsiteX0" fmla="*/ 0 w 888777"/>
                <a:gd name="connsiteY0" fmla="*/ 419295 h 519149"/>
                <a:gd name="connsiteX1" fmla="*/ 271413 w 888777"/>
                <a:gd name="connsiteY1" fmla="*/ 511302 h 519149"/>
                <a:gd name="connsiteX2" fmla="*/ 444389 w 888777"/>
                <a:gd name="connsiteY2" fmla="*/ 519149 h 519149"/>
                <a:gd name="connsiteX3" fmla="*/ 444388 w 888777"/>
                <a:gd name="connsiteY3" fmla="*/ 519149 h 519149"/>
                <a:gd name="connsiteX4" fmla="*/ 0 w 888777"/>
                <a:gd name="connsiteY4" fmla="*/ 419295 h 519149"/>
                <a:gd name="connsiteX5" fmla="*/ 0 w 888777"/>
                <a:gd name="connsiteY5" fmla="*/ 0 h 519149"/>
                <a:gd name="connsiteX6" fmla="*/ 888777 w 888777"/>
                <a:gd name="connsiteY6" fmla="*/ 0 h 519149"/>
                <a:gd name="connsiteX7" fmla="*/ 888777 w 888777"/>
                <a:gd name="connsiteY7" fmla="*/ 122940 h 519149"/>
                <a:gd name="connsiteX8" fmla="*/ 888777 w 888777"/>
                <a:gd name="connsiteY8" fmla="*/ 245879 h 519149"/>
                <a:gd name="connsiteX9" fmla="*/ 888777 w 888777"/>
                <a:gd name="connsiteY9" fmla="*/ 416722 h 519149"/>
                <a:gd name="connsiteX10" fmla="*/ 887624 w 888777"/>
                <a:gd name="connsiteY10" fmla="*/ 416722 h 519149"/>
                <a:gd name="connsiteX11" fmla="*/ 879750 w 888777"/>
                <a:gd name="connsiteY11" fmla="*/ 399171 h 519149"/>
                <a:gd name="connsiteX12" fmla="*/ 444389 w 888777"/>
                <a:gd name="connsiteY12" fmla="*/ 319441 h 519149"/>
                <a:gd name="connsiteX13" fmla="*/ 0 w 888777"/>
                <a:gd name="connsiteY13" fmla="*/ 419295 h 519149"/>
                <a:gd name="connsiteX14" fmla="*/ 1154 w 888777"/>
                <a:gd name="connsiteY14" fmla="*/ 416722 h 519149"/>
                <a:gd name="connsiteX15" fmla="*/ 0 w 888777"/>
                <a:gd name="connsiteY15" fmla="*/ 416722 h 519149"/>
                <a:gd name="connsiteX16" fmla="*/ 0 w 888777"/>
                <a:gd name="connsiteY16" fmla="*/ 245879 h 519149"/>
                <a:gd name="connsiteX17" fmla="*/ 0 w 888777"/>
                <a:gd name="connsiteY17" fmla="*/ 122940 h 51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8777" h="519149">
                  <a:moveTo>
                    <a:pt x="0" y="419295"/>
                  </a:moveTo>
                  <a:cubicBezTo>
                    <a:pt x="0" y="460656"/>
                    <a:pt x="111915" y="496144"/>
                    <a:pt x="271413" y="511302"/>
                  </a:cubicBezTo>
                  <a:lnTo>
                    <a:pt x="444389" y="519149"/>
                  </a:lnTo>
                  <a:lnTo>
                    <a:pt x="444388" y="519149"/>
                  </a:lnTo>
                  <a:cubicBezTo>
                    <a:pt x="198959" y="519149"/>
                    <a:pt x="0" y="474443"/>
                    <a:pt x="0" y="419295"/>
                  </a:cubicBezTo>
                  <a:close/>
                  <a:moveTo>
                    <a:pt x="0" y="0"/>
                  </a:moveTo>
                  <a:lnTo>
                    <a:pt x="888777" y="0"/>
                  </a:lnTo>
                  <a:lnTo>
                    <a:pt x="888777" y="122940"/>
                  </a:lnTo>
                  <a:lnTo>
                    <a:pt x="888777" y="245879"/>
                  </a:lnTo>
                  <a:lnTo>
                    <a:pt x="888777" y="416722"/>
                  </a:lnTo>
                  <a:lnTo>
                    <a:pt x="887624" y="416722"/>
                  </a:lnTo>
                  <a:lnTo>
                    <a:pt x="879750" y="399171"/>
                  </a:lnTo>
                  <a:cubicBezTo>
                    <a:pt x="838312" y="353669"/>
                    <a:pt x="659139" y="319441"/>
                    <a:pt x="444389" y="319441"/>
                  </a:cubicBezTo>
                  <a:cubicBezTo>
                    <a:pt x="198960" y="319441"/>
                    <a:pt x="0" y="364147"/>
                    <a:pt x="0" y="419295"/>
                  </a:cubicBezTo>
                  <a:lnTo>
                    <a:pt x="1154" y="416722"/>
                  </a:lnTo>
                  <a:lnTo>
                    <a:pt x="0" y="416722"/>
                  </a:lnTo>
                  <a:lnTo>
                    <a:pt x="0" y="245879"/>
                  </a:lnTo>
                  <a:lnTo>
                    <a:pt x="0" y="12294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  <a:gs pos="22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0" name="©显眼包PPT1-2"/>
            <p:cNvSpPr/>
            <p:nvPr/>
          </p:nvSpPr>
          <p:spPr>
            <a:xfrm>
              <a:off x="8798407" y="2993167"/>
              <a:ext cx="775948" cy="199708"/>
            </a:xfrm>
            <a:prstGeom prst="ellipse">
              <a:avLst/>
            </a:prstGeom>
            <a:gradFill flip="none" rotWithShape="1">
              <a:gsLst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</a:gsLst>
              <a:lin ang="0" scaled="1"/>
              <a:tileRect/>
            </a:gradFill>
            <a:ln w="12700">
              <a:gradFill flip="none" rotWithShape="1">
                <a:gsLst>
                  <a:gs pos="17000">
                    <a:schemeClr val="accent1">
                      <a:lumMod val="60000"/>
                      <a:lumOff val="40000"/>
                      <a:alpha val="0"/>
                    </a:schemeClr>
                  </a:gs>
                  <a:gs pos="7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1" name="©显眼包PPT1-3"/>
            <p:cNvSpPr/>
            <p:nvPr/>
          </p:nvSpPr>
          <p:spPr>
            <a:xfrm>
              <a:off x="8862565" y="3030198"/>
              <a:ext cx="647632" cy="117745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9000">
                  <a:schemeClr val="bg1">
                    <a:alpha val="70000"/>
                  </a:schemeClr>
                </a:gs>
              </a:gsLst>
              <a:lin ang="5400000" scaled="1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2" name="©显眼包PPT1-4"/>
            <p:cNvSpPr txBox="1"/>
            <p:nvPr/>
          </p:nvSpPr>
          <p:spPr>
            <a:xfrm>
              <a:off x="8951444" y="2829165"/>
              <a:ext cx="475877" cy="2006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rPr>
                <a:t>技术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243" name="©显眼包PPT1-5"/>
            <p:cNvSpPr/>
            <p:nvPr/>
          </p:nvSpPr>
          <p:spPr>
            <a:xfrm>
              <a:off x="8798407" y="3032372"/>
              <a:ext cx="775948" cy="199708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5300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66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</p:grpSp>
      <p:grpSp>
        <p:nvGrpSpPr>
          <p:cNvPr id="244" name="组合 243"/>
          <p:cNvGrpSpPr/>
          <p:nvPr/>
        </p:nvGrpSpPr>
        <p:grpSpPr>
          <a:xfrm rot="0">
            <a:off x="2975610" y="5756275"/>
            <a:ext cx="821055" cy="512445"/>
            <a:chOff x="8798407" y="2673726"/>
            <a:chExt cx="775948" cy="558354"/>
          </a:xfrm>
        </p:grpSpPr>
        <p:sp>
          <p:nvSpPr>
            <p:cNvPr id="245" name="©显眼包PPT1-1"/>
            <p:cNvSpPr/>
            <p:nvPr/>
          </p:nvSpPr>
          <p:spPr>
            <a:xfrm>
              <a:off x="8798407" y="2673726"/>
              <a:ext cx="775948" cy="519149"/>
            </a:xfrm>
            <a:custGeom>
              <a:avLst/>
              <a:gdLst>
                <a:gd name="connsiteX0" fmla="*/ 0 w 888777"/>
                <a:gd name="connsiteY0" fmla="*/ 419295 h 519149"/>
                <a:gd name="connsiteX1" fmla="*/ 271413 w 888777"/>
                <a:gd name="connsiteY1" fmla="*/ 511302 h 519149"/>
                <a:gd name="connsiteX2" fmla="*/ 444389 w 888777"/>
                <a:gd name="connsiteY2" fmla="*/ 519149 h 519149"/>
                <a:gd name="connsiteX3" fmla="*/ 444388 w 888777"/>
                <a:gd name="connsiteY3" fmla="*/ 519149 h 519149"/>
                <a:gd name="connsiteX4" fmla="*/ 0 w 888777"/>
                <a:gd name="connsiteY4" fmla="*/ 419295 h 519149"/>
                <a:gd name="connsiteX5" fmla="*/ 0 w 888777"/>
                <a:gd name="connsiteY5" fmla="*/ 0 h 519149"/>
                <a:gd name="connsiteX6" fmla="*/ 888777 w 888777"/>
                <a:gd name="connsiteY6" fmla="*/ 0 h 519149"/>
                <a:gd name="connsiteX7" fmla="*/ 888777 w 888777"/>
                <a:gd name="connsiteY7" fmla="*/ 122940 h 519149"/>
                <a:gd name="connsiteX8" fmla="*/ 888777 w 888777"/>
                <a:gd name="connsiteY8" fmla="*/ 245879 h 519149"/>
                <a:gd name="connsiteX9" fmla="*/ 888777 w 888777"/>
                <a:gd name="connsiteY9" fmla="*/ 416722 h 519149"/>
                <a:gd name="connsiteX10" fmla="*/ 887624 w 888777"/>
                <a:gd name="connsiteY10" fmla="*/ 416722 h 519149"/>
                <a:gd name="connsiteX11" fmla="*/ 879750 w 888777"/>
                <a:gd name="connsiteY11" fmla="*/ 399171 h 519149"/>
                <a:gd name="connsiteX12" fmla="*/ 444389 w 888777"/>
                <a:gd name="connsiteY12" fmla="*/ 319441 h 519149"/>
                <a:gd name="connsiteX13" fmla="*/ 0 w 888777"/>
                <a:gd name="connsiteY13" fmla="*/ 419295 h 519149"/>
                <a:gd name="connsiteX14" fmla="*/ 1154 w 888777"/>
                <a:gd name="connsiteY14" fmla="*/ 416722 h 519149"/>
                <a:gd name="connsiteX15" fmla="*/ 0 w 888777"/>
                <a:gd name="connsiteY15" fmla="*/ 416722 h 519149"/>
                <a:gd name="connsiteX16" fmla="*/ 0 w 888777"/>
                <a:gd name="connsiteY16" fmla="*/ 245879 h 519149"/>
                <a:gd name="connsiteX17" fmla="*/ 0 w 888777"/>
                <a:gd name="connsiteY17" fmla="*/ 122940 h 51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8777" h="519149">
                  <a:moveTo>
                    <a:pt x="0" y="419295"/>
                  </a:moveTo>
                  <a:cubicBezTo>
                    <a:pt x="0" y="460656"/>
                    <a:pt x="111915" y="496144"/>
                    <a:pt x="271413" y="511302"/>
                  </a:cubicBezTo>
                  <a:lnTo>
                    <a:pt x="444389" y="519149"/>
                  </a:lnTo>
                  <a:lnTo>
                    <a:pt x="444388" y="519149"/>
                  </a:lnTo>
                  <a:cubicBezTo>
                    <a:pt x="198959" y="519149"/>
                    <a:pt x="0" y="474443"/>
                    <a:pt x="0" y="419295"/>
                  </a:cubicBezTo>
                  <a:close/>
                  <a:moveTo>
                    <a:pt x="0" y="0"/>
                  </a:moveTo>
                  <a:lnTo>
                    <a:pt x="888777" y="0"/>
                  </a:lnTo>
                  <a:lnTo>
                    <a:pt x="888777" y="122940"/>
                  </a:lnTo>
                  <a:lnTo>
                    <a:pt x="888777" y="245879"/>
                  </a:lnTo>
                  <a:lnTo>
                    <a:pt x="888777" y="416722"/>
                  </a:lnTo>
                  <a:lnTo>
                    <a:pt x="887624" y="416722"/>
                  </a:lnTo>
                  <a:lnTo>
                    <a:pt x="879750" y="399171"/>
                  </a:lnTo>
                  <a:cubicBezTo>
                    <a:pt x="838312" y="353669"/>
                    <a:pt x="659139" y="319441"/>
                    <a:pt x="444389" y="319441"/>
                  </a:cubicBezTo>
                  <a:cubicBezTo>
                    <a:pt x="198960" y="319441"/>
                    <a:pt x="0" y="364147"/>
                    <a:pt x="0" y="419295"/>
                  </a:cubicBezTo>
                  <a:lnTo>
                    <a:pt x="1154" y="416722"/>
                  </a:lnTo>
                  <a:lnTo>
                    <a:pt x="0" y="416722"/>
                  </a:lnTo>
                  <a:lnTo>
                    <a:pt x="0" y="245879"/>
                  </a:lnTo>
                  <a:lnTo>
                    <a:pt x="0" y="12294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  <a:gs pos="22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6" name="©显眼包PPT1-2"/>
            <p:cNvSpPr/>
            <p:nvPr/>
          </p:nvSpPr>
          <p:spPr>
            <a:xfrm>
              <a:off x="8798407" y="2993167"/>
              <a:ext cx="775948" cy="199708"/>
            </a:xfrm>
            <a:prstGeom prst="ellipse">
              <a:avLst/>
            </a:prstGeom>
            <a:gradFill flip="none" rotWithShape="1">
              <a:gsLst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</a:gsLst>
              <a:lin ang="0" scaled="1"/>
              <a:tileRect/>
            </a:gradFill>
            <a:ln w="12700">
              <a:gradFill flip="none" rotWithShape="1">
                <a:gsLst>
                  <a:gs pos="17000">
                    <a:schemeClr val="accent1">
                      <a:lumMod val="60000"/>
                      <a:lumOff val="40000"/>
                      <a:alpha val="0"/>
                    </a:schemeClr>
                  </a:gs>
                  <a:gs pos="7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7" name="©显眼包PPT1-3"/>
            <p:cNvSpPr/>
            <p:nvPr/>
          </p:nvSpPr>
          <p:spPr>
            <a:xfrm>
              <a:off x="8862565" y="3030198"/>
              <a:ext cx="647632" cy="117745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9000">
                  <a:schemeClr val="bg1">
                    <a:alpha val="70000"/>
                  </a:schemeClr>
                </a:gs>
              </a:gsLst>
              <a:lin ang="5400000" scaled="1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48" name="©显眼包PPT1-4"/>
            <p:cNvSpPr txBox="1"/>
            <p:nvPr/>
          </p:nvSpPr>
          <p:spPr>
            <a:xfrm>
              <a:off x="8951444" y="2829165"/>
              <a:ext cx="475877" cy="2006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rPr>
                <a:t>产业链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249" name="©显眼包PPT1-5"/>
            <p:cNvSpPr/>
            <p:nvPr/>
          </p:nvSpPr>
          <p:spPr>
            <a:xfrm>
              <a:off x="8798407" y="3032372"/>
              <a:ext cx="775948" cy="199708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5300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66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</p:grpSp>
      <p:grpSp>
        <p:nvGrpSpPr>
          <p:cNvPr id="250" name="组合 249"/>
          <p:cNvGrpSpPr/>
          <p:nvPr/>
        </p:nvGrpSpPr>
        <p:grpSpPr>
          <a:xfrm rot="0">
            <a:off x="3911600" y="5760085"/>
            <a:ext cx="821055" cy="512445"/>
            <a:chOff x="8798407" y="2673726"/>
            <a:chExt cx="775948" cy="558354"/>
          </a:xfrm>
        </p:grpSpPr>
        <p:sp>
          <p:nvSpPr>
            <p:cNvPr id="251" name="©显眼包PPT1-1"/>
            <p:cNvSpPr/>
            <p:nvPr/>
          </p:nvSpPr>
          <p:spPr>
            <a:xfrm>
              <a:off x="8798407" y="2673726"/>
              <a:ext cx="775948" cy="519149"/>
            </a:xfrm>
            <a:custGeom>
              <a:avLst/>
              <a:gdLst>
                <a:gd name="connsiteX0" fmla="*/ 0 w 888777"/>
                <a:gd name="connsiteY0" fmla="*/ 419295 h 519149"/>
                <a:gd name="connsiteX1" fmla="*/ 271413 w 888777"/>
                <a:gd name="connsiteY1" fmla="*/ 511302 h 519149"/>
                <a:gd name="connsiteX2" fmla="*/ 444389 w 888777"/>
                <a:gd name="connsiteY2" fmla="*/ 519149 h 519149"/>
                <a:gd name="connsiteX3" fmla="*/ 444388 w 888777"/>
                <a:gd name="connsiteY3" fmla="*/ 519149 h 519149"/>
                <a:gd name="connsiteX4" fmla="*/ 0 w 888777"/>
                <a:gd name="connsiteY4" fmla="*/ 419295 h 519149"/>
                <a:gd name="connsiteX5" fmla="*/ 0 w 888777"/>
                <a:gd name="connsiteY5" fmla="*/ 0 h 519149"/>
                <a:gd name="connsiteX6" fmla="*/ 888777 w 888777"/>
                <a:gd name="connsiteY6" fmla="*/ 0 h 519149"/>
                <a:gd name="connsiteX7" fmla="*/ 888777 w 888777"/>
                <a:gd name="connsiteY7" fmla="*/ 122940 h 519149"/>
                <a:gd name="connsiteX8" fmla="*/ 888777 w 888777"/>
                <a:gd name="connsiteY8" fmla="*/ 245879 h 519149"/>
                <a:gd name="connsiteX9" fmla="*/ 888777 w 888777"/>
                <a:gd name="connsiteY9" fmla="*/ 416722 h 519149"/>
                <a:gd name="connsiteX10" fmla="*/ 887624 w 888777"/>
                <a:gd name="connsiteY10" fmla="*/ 416722 h 519149"/>
                <a:gd name="connsiteX11" fmla="*/ 879750 w 888777"/>
                <a:gd name="connsiteY11" fmla="*/ 399171 h 519149"/>
                <a:gd name="connsiteX12" fmla="*/ 444389 w 888777"/>
                <a:gd name="connsiteY12" fmla="*/ 319441 h 519149"/>
                <a:gd name="connsiteX13" fmla="*/ 0 w 888777"/>
                <a:gd name="connsiteY13" fmla="*/ 419295 h 519149"/>
                <a:gd name="connsiteX14" fmla="*/ 1154 w 888777"/>
                <a:gd name="connsiteY14" fmla="*/ 416722 h 519149"/>
                <a:gd name="connsiteX15" fmla="*/ 0 w 888777"/>
                <a:gd name="connsiteY15" fmla="*/ 416722 h 519149"/>
                <a:gd name="connsiteX16" fmla="*/ 0 w 888777"/>
                <a:gd name="connsiteY16" fmla="*/ 245879 h 519149"/>
                <a:gd name="connsiteX17" fmla="*/ 0 w 888777"/>
                <a:gd name="connsiteY17" fmla="*/ 122940 h 519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88777" h="519149">
                  <a:moveTo>
                    <a:pt x="0" y="419295"/>
                  </a:moveTo>
                  <a:cubicBezTo>
                    <a:pt x="0" y="460656"/>
                    <a:pt x="111915" y="496144"/>
                    <a:pt x="271413" y="511302"/>
                  </a:cubicBezTo>
                  <a:lnTo>
                    <a:pt x="444389" y="519149"/>
                  </a:lnTo>
                  <a:lnTo>
                    <a:pt x="444388" y="519149"/>
                  </a:lnTo>
                  <a:cubicBezTo>
                    <a:pt x="198959" y="519149"/>
                    <a:pt x="0" y="474443"/>
                    <a:pt x="0" y="419295"/>
                  </a:cubicBezTo>
                  <a:close/>
                  <a:moveTo>
                    <a:pt x="0" y="0"/>
                  </a:moveTo>
                  <a:lnTo>
                    <a:pt x="888777" y="0"/>
                  </a:lnTo>
                  <a:lnTo>
                    <a:pt x="888777" y="122940"/>
                  </a:lnTo>
                  <a:lnTo>
                    <a:pt x="888777" y="245879"/>
                  </a:lnTo>
                  <a:lnTo>
                    <a:pt x="888777" y="416722"/>
                  </a:lnTo>
                  <a:lnTo>
                    <a:pt x="887624" y="416722"/>
                  </a:lnTo>
                  <a:lnTo>
                    <a:pt x="879750" y="399171"/>
                  </a:lnTo>
                  <a:cubicBezTo>
                    <a:pt x="838312" y="353669"/>
                    <a:pt x="659139" y="319441"/>
                    <a:pt x="444389" y="319441"/>
                  </a:cubicBezTo>
                  <a:cubicBezTo>
                    <a:pt x="198960" y="319441"/>
                    <a:pt x="0" y="364147"/>
                    <a:pt x="0" y="419295"/>
                  </a:cubicBezTo>
                  <a:lnTo>
                    <a:pt x="1154" y="416722"/>
                  </a:lnTo>
                  <a:lnTo>
                    <a:pt x="0" y="416722"/>
                  </a:lnTo>
                  <a:lnTo>
                    <a:pt x="0" y="245879"/>
                  </a:lnTo>
                  <a:lnTo>
                    <a:pt x="0" y="12294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  <a:gs pos="22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52" name="©显眼包PPT1-2"/>
            <p:cNvSpPr/>
            <p:nvPr/>
          </p:nvSpPr>
          <p:spPr>
            <a:xfrm>
              <a:off x="8798407" y="2993167"/>
              <a:ext cx="775948" cy="199708"/>
            </a:xfrm>
            <a:prstGeom prst="ellipse">
              <a:avLst/>
            </a:prstGeom>
            <a:gradFill flip="none" rotWithShape="1">
              <a:gsLst>
                <a:gs pos="5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45000"/>
                  </a:schemeClr>
                </a:gs>
                <a:gs pos="100000">
                  <a:schemeClr val="accent1">
                    <a:lumMod val="60000"/>
                    <a:lumOff val="40000"/>
                    <a:alpha val="45000"/>
                  </a:schemeClr>
                </a:gs>
              </a:gsLst>
              <a:lin ang="0" scaled="1"/>
              <a:tileRect/>
            </a:gradFill>
            <a:ln w="12700">
              <a:gradFill flip="none" rotWithShape="1">
                <a:gsLst>
                  <a:gs pos="17000">
                    <a:schemeClr val="accent1">
                      <a:lumMod val="60000"/>
                      <a:lumOff val="40000"/>
                      <a:alpha val="0"/>
                    </a:schemeClr>
                  </a:gs>
                  <a:gs pos="7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53" name="©显眼包PPT1-3"/>
            <p:cNvSpPr/>
            <p:nvPr/>
          </p:nvSpPr>
          <p:spPr>
            <a:xfrm>
              <a:off x="8862565" y="3030198"/>
              <a:ext cx="647632" cy="117745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9000">
                  <a:schemeClr val="bg1">
                    <a:alpha val="70000"/>
                  </a:schemeClr>
                </a:gs>
              </a:gsLst>
              <a:lin ang="5400000" scaled="1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  <p:sp>
          <p:nvSpPr>
            <p:cNvPr id="254" name="©显眼包PPT1-4"/>
            <p:cNvSpPr txBox="1"/>
            <p:nvPr/>
          </p:nvSpPr>
          <p:spPr>
            <a:xfrm>
              <a:off x="8951444" y="2829165"/>
              <a:ext cx="475877" cy="2006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</a:rPr>
                <a:t>公益</a:t>
              </a:r>
              <a:endPara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</a:endParaRPr>
            </a:p>
          </p:txBody>
        </p:sp>
        <p:sp>
          <p:nvSpPr>
            <p:cNvPr id="255" name="©显眼包PPT1-5"/>
            <p:cNvSpPr/>
            <p:nvPr/>
          </p:nvSpPr>
          <p:spPr>
            <a:xfrm>
              <a:off x="8798407" y="3032372"/>
              <a:ext cx="775948" cy="199708"/>
            </a:xfrm>
            <a:prstGeom prst="ellipse">
              <a:avLst/>
            </a:prstGeom>
            <a:noFill/>
            <a:ln w="6350">
              <a:gradFill flip="none" rotWithShape="1">
                <a:gsLst>
                  <a:gs pos="5300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66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微软雅黑" panose="020B0503020204020204" charset="-122"/>
              </a:endParaRPr>
            </a:p>
          </p:txBody>
        </p:sp>
      </p:grpSp>
      <p:sp>
        <p:nvSpPr>
          <p:cNvPr id="256" name="©显眼包PPT1"/>
          <p:cNvSpPr/>
          <p:nvPr/>
        </p:nvSpPr>
        <p:spPr>
          <a:xfrm>
            <a:off x="3230880" y="5615305"/>
            <a:ext cx="333375" cy="273685"/>
          </a:xfrm>
          <a:custGeom>
            <a:avLst/>
            <a:gdLst>
              <a:gd name="connsiteX0" fmla="*/ 1391603 w 1785937"/>
              <a:gd name="connsiteY0" fmla="*/ 498991 h 1465540"/>
              <a:gd name="connsiteX1" fmla="*/ 1568768 w 1785937"/>
              <a:gd name="connsiteY1" fmla="*/ 578644 h 1465540"/>
              <a:gd name="connsiteX2" fmla="*/ 1568768 w 1785937"/>
              <a:gd name="connsiteY2" fmla="*/ 873800 h 1465540"/>
              <a:gd name="connsiteX3" fmla="*/ 1581983 w 1785937"/>
              <a:gd name="connsiteY3" fmla="*/ 888802 h 1465540"/>
              <a:gd name="connsiteX4" fmla="*/ 1682710 w 1785937"/>
              <a:gd name="connsiteY4" fmla="*/ 1001554 h 1465540"/>
              <a:gd name="connsiteX5" fmla="*/ 1682710 w 1785937"/>
              <a:gd name="connsiteY5" fmla="*/ 1465540 h 1465540"/>
              <a:gd name="connsiteX6" fmla="*/ 1785938 w 1785937"/>
              <a:gd name="connsiteY6" fmla="*/ 1465540 h 1465540"/>
              <a:gd name="connsiteX7" fmla="*/ 1785938 w 1785937"/>
              <a:gd name="connsiteY7" fmla="*/ 962620 h 1465540"/>
              <a:gd name="connsiteX8" fmla="*/ 1772722 w 1785937"/>
              <a:gd name="connsiteY8" fmla="*/ 947976 h 1465540"/>
              <a:gd name="connsiteX9" fmla="*/ 1672114 w 1785937"/>
              <a:gd name="connsiteY9" fmla="*/ 835223 h 1465540"/>
              <a:gd name="connsiteX10" fmla="*/ 1672114 w 1785937"/>
              <a:gd name="connsiteY10" fmla="*/ 519470 h 1465540"/>
              <a:gd name="connsiteX11" fmla="*/ 1646039 w 1785937"/>
              <a:gd name="connsiteY11" fmla="*/ 504587 h 1465540"/>
              <a:gd name="connsiteX12" fmla="*/ 1391484 w 1785937"/>
              <a:gd name="connsiteY12" fmla="*/ 386834 h 1465540"/>
              <a:gd name="connsiteX13" fmla="*/ 870228 w 1785937"/>
              <a:gd name="connsiteY13" fmla="*/ 553879 h 1465540"/>
              <a:gd name="connsiteX14" fmla="*/ 870228 w 1785937"/>
              <a:gd name="connsiteY14" fmla="*/ 1449348 h 1465540"/>
              <a:gd name="connsiteX15" fmla="*/ 1391603 w 1785937"/>
              <a:gd name="connsiteY15" fmla="*/ 1449348 h 1465540"/>
              <a:gd name="connsiteX16" fmla="*/ 1391603 w 1785937"/>
              <a:gd name="connsiteY16" fmla="*/ 498991 h 1465540"/>
              <a:gd name="connsiteX17" fmla="*/ 372666 w 1785937"/>
              <a:gd name="connsiteY17" fmla="*/ 254079 h 1465540"/>
              <a:gd name="connsiteX18" fmla="*/ 273129 w 1785937"/>
              <a:gd name="connsiteY18" fmla="*/ 280273 h 1465540"/>
              <a:gd name="connsiteX19" fmla="*/ 273129 w 1785937"/>
              <a:gd name="connsiteY19" fmla="*/ 437436 h 1465540"/>
              <a:gd name="connsiteX20" fmla="*/ 372666 w 1785937"/>
              <a:gd name="connsiteY20" fmla="*/ 417552 h 1465540"/>
              <a:gd name="connsiteX21" fmla="*/ 372666 w 1785937"/>
              <a:gd name="connsiteY21" fmla="*/ 254079 h 1465540"/>
              <a:gd name="connsiteX22" fmla="*/ 1305997 w 1785937"/>
              <a:gd name="connsiteY22" fmla="*/ 530066 h 1465540"/>
              <a:gd name="connsiteX23" fmla="*/ 1305997 w 1785937"/>
              <a:gd name="connsiteY23" fmla="*/ 660440 h 1465540"/>
              <a:gd name="connsiteX24" fmla="*/ 1219795 w 1785937"/>
              <a:gd name="connsiteY24" fmla="*/ 677585 h 1465540"/>
              <a:gd name="connsiteX25" fmla="*/ 1219795 w 1785937"/>
              <a:gd name="connsiteY25" fmla="*/ 552807 h 1465540"/>
              <a:gd name="connsiteX26" fmla="*/ 1305997 w 1785937"/>
              <a:gd name="connsiteY26" fmla="*/ 530066 h 1465540"/>
              <a:gd name="connsiteX27" fmla="*/ 1004292 w 1785937"/>
              <a:gd name="connsiteY27" fmla="*/ 950476 h 1465540"/>
              <a:gd name="connsiteX28" fmla="*/ 1004292 w 1785937"/>
              <a:gd name="connsiteY28" fmla="*/ 1061323 h 1465540"/>
              <a:gd name="connsiteX29" fmla="*/ 941427 w 1785937"/>
              <a:gd name="connsiteY29" fmla="*/ 1061323 h 1465540"/>
              <a:gd name="connsiteX30" fmla="*/ 941427 w 1785937"/>
              <a:gd name="connsiteY30" fmla="*/ 954643 h 1465540"/>
              <a:gd name="connsiteX31" fmla="*/ 1004292 w 1785937"/>
              <a:gd name="connsiteY31" fmla="*/ 950476 h 1465540"/>
              <a:gd name="connsiteX32" fmla="*/ 1143357 w 1785937"/>
              <a:gd name="connsiteY32" fmla="*/ 941546 h 1465540"/>
              <a:gd name="connsiteX33" fmla="*/ 1143357 w 1785937"/>
              <a:gd name="connsiteY33" fmla="*/ 1061323 h 1465540"/>
              <a:gd name="connsiteX34" fmla="*/ 1070253 w 1785937"/>
              <a:gd name="connsiteY34" fmla="*/ 1061323 h 1465540"/>
              <a:gd name="connsiteX35" fmla="*/ 1070253 w 1785937"/>
              <a:gd name="connsiteY35" fmla="*/ 946190 h 1465540"/>
              <a:gd name="connsiteX36" fmla="*/ 1143357 w 1785937"/>
              <a:gd name="connsiteY36" fmla="*/ 941546 h 1465540"/>
              <a:gd name="connsiteX37" fmla="*/ 1305997 w 1785937"/>
              <a:gd name="connsiteY37" fmla="*/ 930950 h 1465540"/>
              <a:gd name="connsiteX38" fmla="*/ 1305997 w 1785937"/>
              <a:gd name="connsiteY38" fmla="*/ 1061323 h 1465540"/>
              <a:gd name="connsiteX39" fmla="*/ 1219795 w 1785937"/>
              <a:gd name="connsiteY39" fmla="*/ 1061323 h 1465540"/>
              <a:gd name="connsiteX40" fmla="*/ 1219795 w 1785937"/>
              <a:gd name="connsiteY40" fmla="*/ 936546 h 1465540"/>
              <a:gd name="connsiteX41" fmla="*/ 1305997 w 1785937"/>
              <a:gd name="connsiteY41" fmla="*/ 930950 h 1465540"/>
              <a:gd name="connsiteX42" fmla="*/ 1004292 w 1785937"/>
              <a:gd name="connsiteY42" fmla="*/ 780217 h 1465540"/>
              <a:gd name="connsiteX43" fmla="*/ 1004292 w 1785937"/>
              <a:gd name="connsiteY43" fmla="*/ 891064 h 1465540"/>
              <a:gd name="connsiteX44" fmla="*/ 941427 w 1785937"/>
              <a:gd name="connsiteY44" fmla="*/ 897255 h 1465540"/>
              <a:gd name="connsiteX45" fmla="*/ 941427 w 1785937"/>
              <a:gd name="connsiteY45" fmla="*/ 790337 h 1465540"/>
              <a:gd name="connsiteX46" fmla="*/ 1004292 w 1785937"/>
              <a:gd name="connsiteY46" fmla="*/ 780217 h 1465540"/>
              <a:gd name="connsiteX47" fmla="*/ 1143357 w 1785937"/>
              <a:gd name="connsiteY47" fmla="*/ 757476 h 1465540"/>
              <a:gd name="connsiteX48" fmla="*/ 1143357 w 1785937"/>
              <a:gd name="connsiteY48" fmla="*/ 877133 h 1465540"/>
              <a:gd name="connsiteX49" fmla="*/ 1070372 w 1785937"/>
              <a:gd name="connsiteY49" fmla="*/ 884396 h 1465540"/>
              <a:gd name="connsiteX50" fmla="*/ 1070372 w 1785937"/>
              <a:gd name="connsiteY50" fmla="*/ 769382 h 1465540"/>
              <a:gd name="connsiteX51" fmla="*/ 1143357 w 1785937"/>
              <a:gd name="connsiteY51" fmla="*/ 757476 h 1465540"/>
              <a:gd name="connsiteX52" fmla="*/ 1305997 w 1785937"/>
              <a:gd name="connsiteY52" fmla="*/ 730687 h 1465540"/>
              <a:gd name="connsiteX53" fmla="*/ 1305997 w 1785937"/>
              <a:gd name="connsiteY53" fmla="*/ 861060 h 1465540"/>
              <a:gd name="connsiteX54" fmla="*/ 1219795 w 1785937"/>
              <a:gd name="connsiteY54" fmla="*/ 869513 h 1465540"/>
              <a:gd name="connsiteX55" fmla="*/ 1219795 w 1785937"/>
              <a:gd name="connsiteY55" fmla="*/ 744736 h 1465540"/>
              <a:gd name="connsiteX56" fmla="*/ 1305997 w 1785937"/>
              <a:gd name="connsiteY56" fmla="*/ 730687 h 1465540"/>
              <a:gd name="connsiteX57" fmla="*/ 1004292 w 1785937"/>
              <a:gd name="connsiteY57" fmla="*/ 609600 h 1465540"/>
              <a:gd name="connsiteX58" fmla="*/ 1004292 w 1785937"/>
              <a:gd name="connsiteY58" fmla="*/ 720566 h 1465540"/>
              <a:gd name="connsiteX59" fmla="*/ 941427 w 1785937"/>
              <a:gd name="connsiteY59" fmla="*/ 733068 h 1465540"/>
              <a:gd name="connsiteX60" fmla="*/ 941427 w 1785937"/>
              <a:gd name="connsiteY60" fmla="*/ 626150 h 1465540"/>
              <a:gd name="connsiteX61" fmla="*/ 1004292 w 1785937"/>
              <a:gd name="connsiteY61" fmla="*/ 609600 h 1465540"/>
              <a:gd name="connsiteX62" fmla="*/ 1143357 w 1785937"/>
              <a:gd name="connsiteY62" fmla="*/ 573048 h 1465540"/>
              <a:gd name="connsiteX63" fmla="*/ 1143357 w 1785937"/>
              <a:gd name="connsiteY63" fmla="*/ 693063 h 1465540"/>
              <a:gd name="connsiteX64" fmla="*/ 1070372 w 1785937"/>
              <a:gd name="connsiteY64" fmla="*/ 707469 h 1465540"/>
              <a:gd name="connsiteX65" fmla="*/ 1070372 w 1785937"/>
              <a:gd name="connsiteY65" fmla="*/ 592217 h 1465540"/>
              <a:gd name="connsiteX66" fmla="*/ 1143357 w 1785937"/>
              <a:gd name="connsiteY66" fmla="*/ 573048 h 1465540"/>
              <a:gd name="connsiteX67" fmla="*/ 594360 w 1785937"/>
              <a:gd name="connsiteY67" fmla="*/ 195620 h 1465540"/>
              <a:gd name="connsiteX68" fmla="*/ 477083 w 1785937"/>
              <a:gd name="connsiteY68" fmla="*/ 226576 h 1465540"/>
              <a:gd name="connsiteX69" fmla="*/ 477083 w 1785937"/>
              <a:gd name="connsiteY69" fmla="*/ 396835 h 1465540"/>
              <a:gd name="connsiteX70" fmla="*/ 594360 w 1785937"/>
              <a:gd name="connsiteY70" fmla="*/ 373499 h 1465540"/>
              <a:gd name="connsiteX71" fmla="*/ 594360 w 1785937"/>
              <a:gd name="connsiteY71" fmla="*/ 195620 h 1465540"/>
              <a:gd name="connsiteX72" fmla="*/ 182880 w 1785937"/>
              <a:gd name="connsiteY72" fmla="*/ 769144 h 1465540"/>
              <a:gd name="connsiteX73" fmla="*/ 97274 w 1785937"/>
              <a:gd name="connsiteY73" fmla="*/ 774740 h 1465540"/>
              <a:gd name="connsiteX74" fmla="*/ 97274 w 1785937"/>
              <a:gd name="connsiteY74" fmla="*/ 920234 h 1465540"/>
              <a:gd name="connsiteX75" fmla="*/ 182761 w 1785937"/>
              <a:gd name="connsiteY75" fmla="*/ 920234 h 1465540"/>
              <a:gd name="connsiteX76" fmla="*/ 182880 w 1785937"/>
              <a:gd name="connsiteY76" fmla="*/ 769144 h 1465540"/>
              <a:gd name="connsiteX77" fmla="*/ 372666 w 1785937"/>
              <a:gd name="connsiteY77" fmla="*/ 756761 h 1465540"/>
              <a:gd name="connsiteX78" fmla="*/ 273129 w 1785937"/>
              <a:gd name="connsiteY78" fmla="*/ 763310 h 1465540"/>
              <a:gd name="connsiteX79" fmla="*/ 273129 w 1785937"/>
              <a:gd name="connsiteY79" fmla="*/ 920115 h 1465540"/>
              <a:gd name="connsiteX80" fmla="*/ 372666 w 1785937"/>
              <a:gd name="connsiteY80" fmla="*/ 920115 h 1465540"/>
              <a:gd name="connsiteX81" fmla="*/ 372666 w 1785937"/>
              <a:gd name="connsiteY81" fmla="*/ 756761 h 1465540"/>
              <a:gd name="connsiteX82" fmla="*/ 594360 w 1785937"/>
              <a:gd name="connsiteY82" fmla="*/ 742355 h 1465540"/>
              <a:gd name="connsiteX83" fmla="*/ 477083 w 1785937"/>
              <a:gd name="connsiteY83" fmla="*/ 750094 h 1465540"/>
              <a:gd name="connsiteX84" fmla="*/ 477083 w 1785937"/>
              <a:gd name="connsiteY84" fmla="*/ 920234 h 1465540"/>
              <a:gd name="connsiteX85" fmla="*/ 594360 w 1785937"/>
              <a:gd name="connsiteY85" fmla="*/ 920234 h 1465540"/>
              <a:gd name="connsiteX86" fmla="*/ 594360 w 1785937"/>
              <a:gd name="connsiteY86" fmla="*/ 742355 h 1465540"/>
              <a:gd name="connsiteX87" fmla="*/ 182880 w 1785937"/>
              <a:gd name="connsiteY87" fmla="*/ 536615 h 1465540"/>
              <a:gd name="connsiteX88" fmla="*/ 97274 w 1785937"/>
              <a:gd name="connsiteY88" fmla="*/ 550664 h 1465540"/>
              <a:gd name="connsiteX89" fmla="*/ 97274 w 1785937"/>
              <a:gd name="connsiteY89" fmla="*/ 696278 h 1465540"/>
              <a:gd name="connsiteX90" fmla="*/ 182880 w 1785937"/>
              <a:gd name="connsiteY90" fmla="*/ 687943 h 1465540"/>
              <a:gd name="connsiteX91" fmla="*/ 182880 w 1785937"/>
              <a:gd name="connsiteY91" fmla="*/ 536615 h 1465540"/>
              <a:gd name="connsiteX92" fmla="*/ 372666 w 1785937"/>
              <a:gd name="connsiteY92" fmla="*/ 505539 h 1465540"/>
              <a:gd name="connsiteX93" fmla="*/ 273129 w 1785937"/>
              <a:gd name="connsiteY93" fmla="*/ 521851 h 1465540"/>
              <a:gd name="connsiteX94" fmla="*/ 273129 w 1785937"/>
              <a:gd name="connsiteY94" fmla="*/ 678775 h 1465540"/>
              <a:gd name="connsiteX95" fmla="*/ 372666 w 1785937"/>
              <a:gd name="connsiteY95" fmla="*/ 669012 h 1465540"/>
              <a:gd name="connsiteX96" fmla="*/ 372666 w 1785937"/>
              <a:gd name="connsiteY96" fmla="*/ 505539 h 1465540"/>
              <a:gd name="connsiteX97" fmla="*/ 594360 w 1785937"/>
              <a:gd name="connsiteY97" fmla="*/ 469225 h 1465540"/>
              <a:gd name="connsiteX98" fmla="*/ 477083 w 1785937"/>
              <a:gd name="connsiteY98" fmla="*/ 488394 h 1465540"/>
              <a:gd name="connsiteX99" fmla="*/ 477083 w 1785937"/>
              <a:gd name="connsiteY99" fmla="*/ 658535 h 1465540"/>
              <a:gd name="connsiteX100" fmla="*/ 594360 w 1785937"/>
              <a:gd name="connsiteY100" fmla="*/ 646867 h 1465540"/>
              <a:gd name="connsiteX101" fmla="*/ 594360 w 1785937"/>
              <a:gd name="connsiteY101" fmla="*/ 469225 h 1465540"/>
              <a:gd name="connsiteX102" fmla="*/ 182880 w 1785937"/>
              <a:gd name="connsiteY102" fmla="*/ 303967 h 1465540"/>
              <a:gd name="connsiteX103" fmla="*/ 97274 w 1785937"/>
              <a:gd name="connsiteY103" fmla="*/ 326469 h 1465540"/>
              <a:gd name="connsiteX104" fmla="*/ 97274 w 1785937"/>
              <a:gd name="connsiteY104" fmla="*/ 472202 h 1465540"/>
              <a:gd name="connsiteX105" fmla="*/ 182880 w 1785937"/>
              <a:gd name="connsiteY105" fmla="*/ 455176 h 1465540"/>
              <a:gd name="connsiteX106" fmla="*/ 182880 w 1785937"/>
              <a:gd name="connsiteY106" fmla="*/ 303967 h 1465540"/>
              <a:gd name="connsiteX107" fmla="*/ 711041 w 1785937"/>
              <a:gd name="connsiteY107" fmla="*/ 0 h 1465540"/>
              <a:gd name="connsiteX108" fmla="*/ 1048822 w 1785937"/>
              <a:gd name="connsiteY108" fmla="*/ 176808 h 1465540"/>
              <a:gd name="connsiteX109" fmla="*/ 1075134 w 1785937"/>
              <a:gd name="connsiteY109" fmla="*/ 191810 h 1465540"/>
              <a:gd name="connsiteX110" fmla="*/ 1075134 w 1785937"/>
              <a:gd name="connsiteY110" fmla="*/ 458510 h 1465540"/>
              <a:gd name="connsiteX111" fmla="*/ 971550 w 1785937"/>
              <a:gd name="connsiteY111" fmla="*/ 458510 h 1465540"/>
              <a:gd name="connsiteX112" fmla="*/ 971550 w 1785937"/>
              <a:gd name="connsiteY112" fmla="*/ 251103 h 1465540"/>
              <a:gd name="connsiteX113" fmla="*/ 711041 w 1785937"/>
              <a:gd name="connsiteY113" fmla="*/ 115967 h 1465540"/>
              <a:gd name="connsiteX114" fmla="*/ 711041 w 1785937"/>
              <a:gd name="connsiteY114" fmla="*/ 1449467 h 1465540"/>
              <a:gd name="connsiteX115" fmla="*/ 0 w 1785937"/>
              <a:gd name="connsiteY115" fmla="*/ 1449467 h 1465540"/>
              <a:gd name="connsiteX116" fmla="*/ 0 w 1785937"/>
              <a:gd name="connsiteY116" fmla="*/ 228005 h 1465540"/>
              <a:gd name="connsiteX117" fmla="*/ 711041 w 1785937"/>
              <a:gd name="connsiteY117" fmla="*/ 0 h 146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785937" h="1465540">
                <a:moveTo>
                  <a:pt x="1391603" y="498991"/>
                </a:moveTo>
                <a:lnTo>
                  <a:pt x="1568768" y="578644"/>
                </a:lnTo>
                <a:lnTo>
                  <a:pt x="1568768" y="873800"/>
                </a:lnTo>
                <a:lnTo>
                  <a:pt x="1581983" y="888802"/>
                </a:lnTo>
                <a:lnTo>
                  <a:pt x="1682710" y="1001554"/>
                </a:lnTo>
                <a:lnTo>
                  <a:pt x="1682710" y="1465540"/>
                </a:lnTo>
                <a:lnTo>
                  <a:pt x="1785938" y="1465540"/>
                </a:lnTo>
                <a:lnTo>
                  <a:pt x="1785938" y="962620"/>
                </a:lnTo>
                <a:lnTo>
                  <a:pt x="1772722" y="947976"/>
                </a:lnTo>
                <a:lnTo>
                  <a:pt x="1672114" y="835223"/>
                </a:lnTo>
                <a:lnTo>
                  <a:pt x="1672114" y="519470"/>
                </a:lnTo>
                <a:lnTo>
                  <a:pt x="1646039" y="504587"/>
                </a:lnTo>
                <a:lnTo>
                  <a:pt x="1391484" y="386834"/>
                </a:lnTo>
                <a:lnTo>
                  <a:pt x="870228" y="553879"/>
                </a:lnTo>
                <a:lnTo>
                  <a:pt x="870228" y="1449348"/>
                </a:lnTo>
                <a:lnTo>
                  <a:pt x="1391603" y="1449348"/>
                </a:lnTo>
                <a:lnTo>
                  <a:pt x="1391603" y="498991"/>
                </a:lnTo>
                <a:close/>
                <a:moveTo>
                  <a:pt x="372666" y="254079"/>
                </a:moveTo>
                <a:lnTo>
                  <a:pt x="273129" y="280273"/>
                </a:lnTo>
                <a:lnTo>
                  <a:pt x="273129" y="437436"/>
                </a:lnTo>
                <a:lnTo>
                  <a:pt x="372666" y="417552"/>
                </a:lnTo>
                <a:lnTo>
                  <a:pt x="372666" y="254079"/>
                </a:lnTo>
                <a:close/>
                <a:moveTo>
                  <a:pt x="1305997" y="530066"/>
                </a:moveTo>
                <a:lnTo>
                  <a:pt x="1305997" y="660440"/>
                </a:lnTo>
                <a:lnTo>
                  <a:pt x="1219795" y="677585"/>
                </a:lnTo>
                <a:lnTo>
                  <a:pt x="1219795" y="552807"/>
                </a:lnTo>
                <a:cubicBezTo>
                  <a:pt x="1247894" y="545544"/>
                  <a:pt x="1276350" y="537924"/>
                  <a:pt x="1305997" y="530066"/>
                </a:cubicBezTo>
                <a:moveTo>
                  <a:pt x="1004292" y="950476"/>
                </a:moveTo>
                <a:lnTo>
                  <a:pt x="1004292" y="1061323"/>
                </a:lnTo>
                <a:lnTo>
                  <a:pt x="941427" y="1061323"/>
                </a:lnTo>
                <a:lnTo>
                  <a:pt x="941427" y="954643"/>
                </a:lnTo>
                <a:lnTo>
                  <a:pt x="1004292" y="950476"/>
                </a:lnTo>
                <a:moveTo>
                  <a:pt x="1143357" y="941546"/>
                </a:moveTo>
                <a:lnTo>
                  <a:pt x="1143357" y="1061323"/>
                </a:lnTo>
                <a:lnTo>
                  <a:pt x="1070253" y="1061323"/>
                </a:lnTo>
                <a:lnTo>
                  <a:pt x="1070253" y="946190"/>
                </a:lnTo>
                <a:lnTo>
                  <a:pt x="1143357" y="941546"/>
                </a:lnTo>
                <a:moveTo>
                  <a:pt x="1305997" y="930950"/>
                </a:moveTo>
                <a:lnTo>
                  <a:pt x="1305997" y="1061323"/>
                </a:lnTo>
                <a:lnTo>
                  <a:pt x="1219795" y="1061323"/>
                </a:lnTo>
                <a:lnTo>
                  <a:pt x="1219795" y="936546"/>
                </a:lnTo>
                <a:lnTo>
                  <a:pt x="1305997" y="930950"/>
                </a:lnTo>
                <a:moveTo>
                  <a:pt x="1004292" y="780217"/>
                </a:moveTo>
                <a:lnTo>
                  <a:pt x="1004292" y="891064"/>
                </a:lnTo>
                <a:cubicBezTo>
                  <a:pt x="982861" y="893088"/>
                  <a:pt x="961787" y="895112"/>
                  <a:pt x="941427" y="897255"/>
                </a:cubicBezTo>
                <a:lnTo>
                  <a:pt x="941427" y="790337"/>
                </a:lnTo>
                <a:lnTo>
                  <a:pt x="1004292" y="780217"/>
                </a:lnTo>
                <a:moveTo>
                  <a:pt x="1143357" y="757476"/>
                </a:moveTo>
                <a:lnTo>
                  <a:pt x="1143357" y="877133"/>
                </a:lnTo>
                <a:lnTo>
                  <a:pt x="1070372" y="884396"/>
                </a:lnTo>
                <a:lnTo>
                  <a:pt x="1070372" y="769382"/>
                </a:lnTo>
                <a:cubicBezTo>
                  <a:pt x="1094065" y="765334"/>
                  <a:pt x="1118354" y="761405"/>
                  <a:pt x="1143357" y="757476"/>
                </a:cubicBezTo>
                <a:moveTo>
                  <a:pt x="1305997" y="730687"/>
                </a:moveTo>
                <a:lnTo>
                  <a:pt x="1305997" y="861060"/>
                </a:lnTo>
                <a:lnTo>
                  <a:pt x="1219795" y="869513"/>
                </a:lnTo>
                <a:lnTo>
                  <a:pt x="1219795" y="744736"/>
                </a:lnTo>
                <a:cubicBezTo>
                  <a:pt x="1247894" y="740331"/>
                  <a:pt x="1276350" y="735330"/>
                  <a:pt x="1305997" y="730687"/>
                </a:cubicBezTo>
                <a:moveTo>
                  <a:pt x="1004292" y="609600"/>
                </a:moveTo>
                <a:lnTo>
                  <a:pt x="1004292" y="720566"/>
                </a:lnTo>
                <a:cubicBezTo>
                  <a:pt x="982861" y="724733"/>
                  <a:pt x="961787" y="728782"/>
                  <a:pt x="941427" y="733068"/>
                </a:cubicBezTo>
                <a:lnTo>
                  <a:pt x="941427" y="626150"/>
                </a:lnTo>
                <a:lnTo>
                  <a:pt x="1004292" y="609600"/>
                </a:lnTo>
                <a:moveTo>
                  <a:pt x="1143357" y="573048"/>
                </a:moveTo>
                <a:lnTo>
                  <a:pt x="1143357" y="693063"/>
                </a:lnTo>
                <a:cubicBezTo>
                  <a:pt x="1118354" y="697825"/>
                  <a:pt x="1094065" y="702707"/>
                  <a:pt x="1070372" y="707469"/>
                </a:cubicBezTo>
                <a:lnTo>
                  <a:pt x="1070372" y="592217"/>
                </a:lnTo>
                <a:lnTo>
                  <a:pt x="1143357" y="573048"/>
                </a:lnTo>
                <a:moveTo>
                  <a:pt x="594360" y="195620"/>
                </a:moveTo>
                <a:cubicBezTo>
                  <a:pt x="554236" y="206335"/>
                  <a:pt x="515064" y="216575"/>
                  <a:pt x="477083" y="226576"/>
                </a:cubicBezTo>
                <a:lnTo>
                  <a:pt x="477083" y="396835"/>
                </a:lnTo>
                <a:lnTo>
                  <a:pt x="594360" y="373499"/>
                </a:lnTo>
                <a:lnTo>
                  <a:pt x="594360" y="195620"/>
                </a:lnTo>
                <a:close/>
                <a:moveTo>
                  <a:pt x="182880" y="769144"/>
                </a:moveTo>
                <a:cubicBezTo>
                  <a:pt x="153591" y="770930"/>
                  <a:pt x="125135" y="772597"/>
                  <a:pt x="97274" y="774740"/>
                </a:cubicBezTo>
                <a:lnTo>
                  <a:pt x="97274" y="920234"/>
                </a:lnTo>
                <a:lnTo>
                  <a:pt x="182761" y="920234"/>
                </a:lnTo>
                <a:lnTo>
                  <a:pt x="182880" y="769144"/>
                </a:lnTo>
                <a:moveTo>
                  <a:pt x="372666" y="756761"/>
                </a:moveTo>
                <a:lnTo>
                  <a:pt x="273129" y="763310"/>
                </a:lnTo>
                <a:lnTo>
                  <a:pt x="273129" y="920115"/>
                </a:lnTo>
                <a:lnTo>
                  <a:pt x="372666" y="920115"/>
                </a:lnTo>
                <a:lnTo>
                  <a:pt x="372666" y="756761"/>
                </a:lnTo>
                <a:close/>
                <a:moveTo>
                  <a:pt x="594360" y="742355"/>
                </a:moveTo>
                <a:cubicBezTo>
                  <a:pt x="554236" y="744974"/>
                  <a:pt x="515064" y="747713"/>
                  <a:pt x="477083" y="750094"/>
                </a:cubicBezTo>
                <a:lnTo>
                  <a:pt x="477083" y="920234"/>
                </a:lnTo>
                <a:lnTo>
                  <a:pt x="594360" y="920234"/>
                </a:lnTo>
                <a:lnTo>
                  <a:pt x="594360" y="742355"/>
                </a:lnTo>
                <a:close/>
                <a:moveTo>
                  <a:pt x="182880" y="536615"/>
                </a:moveTo>
                <a:lnTo>
                  <a:pt x="97274" y="550664"/>
                </a:lnTo>
                <a:lnTo>
                  <a:pt x="97274" y="696278"/>
                </a:lnTo>
                <a:lnTo>
                  <a:pt x="182880" y="687943"/>
                </a:lnTo>
                <a:lnTo>
                  <a:pt x="182880" y="536615"/>
                </a:lnTo>
                <a:close/>
                <a:moveTo>
                  <a:pt x="372666" y="505539"/>
                </a:moveTo>
                <a:lnTo>
                  <a:pt x="273129" y="521851"/>
                </a:lnTo>
                <a:lnTo>
                  <a:pt x="273129" y="678775"/>
                </a:lnTo>
                <a:lnTo>
                  <a:pt x="372666" y="669012"/>
                </a:lnTo>
                <a:lnTo>
                  <a:pt x="372666" y="505539"/>
                </a:lnTo>
                <a:close/>
                <a:moveTo>
                  <a:pt x="594360" y="469225"/>
                </a:moveTo>
                <a:lnTo>
                  <a:pt x="477083" y="488394"/>
                </a:lnTo>
                <a:lnTo>
                  <a:pt x="477083" y="658535"/>
                </a:lnTo>
                <a:lnTo>
                  <a:pt x="594360" y="646867"/>
                </a:lnTo>
                <a:lnTo>
                  <a:pt x="594360" y="469225"/>
                </a:lnTo>
                <a:close/>
                <a:moveTo>
                  <a:pt x="182880" y="303967"/>
                </a:moveTo>
                <a:lnTo>
                  <a:pt x="97274" y="326469"/>
                </a:lnTo>
                <a:lnTo>
                  <a:pt x="97274" y="472202"/>
                </a:lnTo>
                <a:lnTo>
                  <a:pt x="182880" y="455176"/>
                </a:lnTo>
                <a:lnTo>
                  <a:pt x="182880" y="303967"/>
                </a:lnTo>
                <a:close/>
                <a:moveTo>
                  <a:pt x="711041" y="0"/>
                </a:moveTo>
                <a:lnTo>
                  <a:pt x="1048822" y="176808"/>
                </a:lnTo>
                <a:lnTo>
                  <a:pt x="1075134" y="191810"/>
                </a:lnTo>
                <a:lnTo>
                  <a:pt x="1075134" y="458510"/>
                </a:lnTo>
                <a:lnTo>
                  <a:pt x="971550" y="458510"/>
                </a:lnTo>
                <a:lnTo>
                  <a:pt x="971550" y="251103"/>
                </a:lnTo>
                <a:lnTo>
                  <a:pt x="711041" y="115967"/>
                </a:lnTo>
                <a:lnTo>
                  <a:pt x="711041" y="1449467"/>
                </a:lnTo>
                <a:lnTo>
                  <a:pt x="0" y="1449467"/>
                </a:lnTo>
                <a:lnTo>
                  <a:pt x="0" y="228005"/>
                </a:lnTo>
                <a:lnTo>
                  <a:pt x="711041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6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257" name="图片 256" descr="科学技术-30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3145" y="5605780"/>
            <a:ext cx="293370" cy="293370"/>
          </a:xfrm>
          <a:prstGeom prst="rect">
            <a:avLst/>
          </a:prstGeom>
        </p:spPr>
      </p:pic>
      <p:pic>
        <p:nvPicPr>
          <p:cNvPr id="258" name="图片 257" descr="公益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99890" y="5590540"/>
            <a:ext cx="298450" cy="298450"/>
          </a:xfrm>
          <a:prstGeom prst="rect">
            <a:avLst/>
          </a:prstGeom>
        </p:spPr>
      </p:pic>
      <p:grpSp>
        <p:nvGrpSpPr>
          <p:cNvPr id="264" name="组合 263"/>
          <p:cNvGrpSpPr/>
          <p:nvPr/>
        </p:nvGrpSpPr>
        <p:grpSpPr>
          <a:xfrm rot="0">
            <a:off x="799465" y="3203575"/>
            <a:ext cx="127635" cy="725805"/>
            <a:chOff x="1487" y="3855"/>
            <a:chExt cx="201" cy="661"/>
          </a:xfrm>
        </p:grpSpPr>
        <p:cxnSp>
          <p:nvCxnSpPr>
            <p:cNvPr id="265" name="直接连接符 264"/>
            <p:cNvCxnSpPr/>
            <p:nvPr/>
          </p:nvCxnSpPr>
          <p:spPr>
            <a:xfrm>
              <a:off x="1487" y="3861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>
              <a:off x="1490" y="4513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>
              <a:off x="1677" y="3855"/>
              <a:ext cx="0" cy="661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</p:grpSp>
      <p:grpSp>
        <p:nvGrpSpPr>
          <p:cNvPr id="275" name="组合 274"/>
          <p:cNvGrpSpPr/>
          <p:nvPr/>
        </p:nvGrpSpPr>
        <p:grpSpPr>
          <a:xfrm rot="0">
            <a:off x="797560" y="4036060"/>
            <a:ext cx="127635" cy="1370330"/>
            <a:chOff x="1487" y="3855"/>
            <a:chExt cx="201" cy="661"/>
          </a:xfrm>
        </p:grpSpPr>
        <p:cxnSp>
          <p:nvCxnSpPr>
            <p:cNvPr id="277" name="直接连接符 276"/>
            <p:cNvCxnSpPr/>
            <p:nvPr/>
          </p:nvCxnSpPr>
          <p:spPr>
            <a:xfrm>
              <a:off x="1487" y="3861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80" name="直接连接符 279"/>
            <p:cNvCxnSpPr/>
            <p:nvPr/>
          </p:nvCxnSpPr>
          <p:spPr>
            <a:xfrm>
              <a:off x="1490" y="4513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>
              <a:off x="1677" y="3855"/>
              <a:ext cx="0" cy="661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</p:grpSp>
      <p:grpSp>
        <p:nvGrpSpPr>
          <p:cNvPr id="285" name="组合 284"/>
          <p:cNvGrpSpPr/>
          <p:nvPr/>
        </p:nvGrpSpPr>
        <p:grpSpPr>
          <a:xfrm rot="0">
            <a:off x="797560" y="5546725"/>
            <a:ext cx="127635" cy="725805"/>
            <a:chOff x="1487" y="3855"/>
            <a:chExt cx="201" cy="661"/>
          </a:xfrm>
        </p:grpSpPr>
        <p:cxnSp>
          <p:nvCxnSpPr>
            <p:cNvPr id="286" name="直接连接符 285"/>
            <p:cNvCxnSpPr/>
            <p:nvPr/>
          </p:nvCxnSpPr>
          <p:spPr>
            <a:xfrm>
              <a:off x="1487" y="3861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>
              <a:off x="1490" y="4513"/>
              <a:ext cx="198" cy="0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  <p:cxnSp>
          <p:nvCxnSpPr>
            <p:cNvPr id="289" name="直接连接符 288"/>
            <p:cNvCxnSpPr/>
            <p:nvPr/>
          </p:nvCxnSpPr>
          <p:spPr>
            <a:xfrm>
              <a:off x="1677" y="3855"/>
              <a:ext cx="0" cy="661"/>
            </a:xfrm>
            <a:prstGeom prst="line">
              <a:avLst/>
            </a:prstGeom>
            <a:ln>
              <a:solidFill>
                <a:schemeClr val="tx2">
                  <a:alpha val="95000"/>
                </a:schemeClr>
              </a:solidFill>
            </a:ln>
          </p:spPr>
          <p:style>
            <a:lnRef idx="2">
              <a:srgbClr val="24396B"/>
            </a:lnRef>
            <a:fillRef idx="0">
              <a:srgbClr val="FFFFFF"/>
            </a:fillRef>
            <a:effectRef idx="0">
              <a:srgbClr val="FFFFFF"/>
            </a:effectRef>
            <a:fontRef idx="minor">
              <a:srgbClr val="000000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2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: 圆角 470"/>
          <p:cNvSpPr/>
          <p:nvPr/>
        </p:nvSpPr>
        <p:spPr>
          <a:xfrm>
            <a:off x="1821815" y="1955800"/>
            <a:ext cx="9806305" cy="1435735"/>
          </a:xfrm>
          <a:prstGeom prst="roundRect">
            <a:avLst>
              <a:gd name="adj" fmla="val 2718"/>
            </a:avLst>
          </a:prstGeom>
          <a:solidFill>
            <a:schemeClr val="accent1">
              <a:alpha val="5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紫荆的职场Point28"/>
          <p:cNvSpPr/>
          <p:nvPr/>
        </p:nvSpPr>
        <p:spPr>
          <a:xfrm>
            <a:off x="181610" y="1044575"/>
            <a:ext cx="11842750" cy="799465"/>
          </a:xfrm>
          <a:prstGeom prst="triangle">
            <a:avLst>
              <a:gd name="adj" fmla="val 50311"/>
            </a:avLst>
          </a:prstGeom>
          <a:gradFill flip="none" rotWithShape="1">
            <a:gsLst>
              <a:gs pos="85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zh-CN" altLang="en-US" sz="25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传统企业在转型中的危与机</a:t>
            </a:r>
            <a:endParaRPr lang="en-US" altLang="zh-CN" sz="25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7" name="textbox 2040"/>
          <p:cNvSpPr/>
          <p:nvPr/>
        </p:nvSpPr>
        <p:spPr>
          <a:xfrm>
            <a:off x="4079875" y="1343025"/>
            <a:ext cx="4142740" cy="30734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传统企业转型中的危与机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2" name="矩形: 圆角 481"/>
          <p:cNvSpPr/>
          <p:nvPr>
            <p:custDataLst>
              <p:tags r:id="rId3"/>
            </p:custDataLst>
          </p:nvPr>
        </p:nvSpPr>
        <p:spPr>
          <a:xfrm>
            <a:off x="563880" y="1955800"/>
            <a:ext cx="1189355" cy="1435735"/>
          </a:xfrm>
          <a:prstGeom prst="roundRect">
            <a:avLst>
              <a:gd name="adj" fmla="val 6596"/>
            </a:avLst>
          </a:prstGeom>
          <a:gradFill>
            <a:gsLst>
              <a:gs pos="100000">
                <a:schemeClr val="accent1">
                  <a:lumMod val="80000"/>
                  <a:lumOff val="20000"/>
                </a:schemeClr>
              </a:gs>
              <a:gs pos="0">
                <a:schemeClr val="accent1"/>
              </a:gs>
            </a:gsLst>
            <a:lin ang="54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172460" y="1844040"/>
            <a:ext cx="332105" cy="492125"/>
            <a:chOff x="3703" y="3191"/>
            <a:chExt cx="798" cy="1127"/>
          </a:xfrm>
        </p:grpSpPr>
        <p:sp>
          <p:nvSpPr>
            <p:cNvPr id="318" name="菱形 317"/>
            <p:cNvSpPr/>
            <p:nvPr/>
          </p:nvSpPr>
          <p:spPr>
            <a:xfrm rot="16200000" flipH="1" flipV="1">
              <a:off x="3661" y="3478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9" name="菱形 318"/>
            <p:cNvSpPr/>
            <p:nvPr/>
          </p:nvSpPr>
          <p:spPr>
            <a:xfrm rot="16200000" flipH="1" flipV="1">
              <a:off x="3641" y="3253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146675" y="1844040"/>
            <a:ext cx="332105" cy="492125"/>
            <a:chOff x="3703" y="3191"/>
            <a:chExt cx="798" cy="1127"/>
          </a:xfrm>
        </p:grpSpPr>
        <p:sp>
          <p:nvSpPr>
            <p:cNvPr id="80" name="菱形 79"/>
            <p:cNvSpPr/>
            <p:nvPr/>
          </p:nvSpPr>
          <p:spPr>
            <a:xfrm rot="16200000" flipH="1" flipV="1">
              <a:off x="3661" y="3478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1" name="菱形 80"/>
            <p:cNvSpPr/>
            <p:nvPr/>
          </p:nvSpPr>
          <p:spPr>
            <a:xfrm rot="16200000" flipH="1" flipV="1">
              <a:off x="3641" y="3253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7120890" y="1844040"/>
            <a:ext cx="332105" cy="492125"/>
            <a:chOff x="3703" y="3191"/>
            <a:chExt cx="798" cy="1127"/>
          </a:xfrm>
        </p:grpSpPr>
        <p:sp>
          <p:nvSpPr>
            <p:cNvPr id="111" name="菱形 110"/>
            <p:cNvSpPr/>
            <p:nvPr/>
          </p:nvSpPr>
          <p:spPr>
            <a:xfrm rot="16200000" flipH="1" flipV="1">
              <a:off x="3661" y="3478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6" name="菱形 115"/>
            <p:cNvSpPr/>
            <p:nvPr/>
          </p:nvSpPr>
          <p:spPr>
            <a:xfrm rot="16200000" flipH="1" flipV="1">
              <a:off x="3641" y="3253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9095105" y="1844040"/>
            <a:ext cx="332105" cy="492125"/>
            <a:chOff x="3703" y="3191"/>
            <a:chExt cx="798" cy="1127"/>
          </a:xfrm>
        </p:grpSpPr>
        <p:sp>
          <p:nvSpPr>
            <p:cNvPr id="118" name="菱形 117"/>
            <p:cNvSpPr/>
            <p:nvPr/>
          </p:nvSpPr>
          <p:spPr>
            <a:xfrm rot="16200000" flipH="1" flipV="1">
              <a:off x="3661" y="3478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2" name="菱形 121"/>
            <p:cNvSpPr/>
            <p:nvPr/>
          </p:nvSpPr>
          <p:spPr>
            <a:xfrm rot="16200000" flipH="1" flipV="1">
              <a:off x="3641" y="3253"/>
              <a:ext cx="902" cy="779"/>
            </a:xfrm>
            <a:prstGeom prst="diamond">
              <a:avLst/>
            </a:prstGeom>
            <a:gradFill flip="none" rotWithShape="1">
              <a:gsLst>
                <a:gs pos="0">
                  <a:schemeClr val="accent1"/>
                </a:gs>
                <a:gs pos="50000">
                  <a:schemeClr val="accent1"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334510" y="2336800"/>
            <a:ext cx="4947920" cy="922655"/>
            <a:chOff x="5620" y="4229"/>
            <a:chExt cx="7792" cy="1453"/>
          </a:xfrm>
        </p:grpSpPr>
        <p:sp>
          <p:nvSpPr>
            <p:cNvPr id="136" name="文本框 135"/>
            <p:cNvSpPr txBox="1"/>
            <p:nvPr/>
          </p:nvSpPr>
          <p:spPr>
            <a:xfrm>
              <a:off x="9567" y="4229"/>
              <a:ext cx="1002" cy="4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5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失衡</a:t>
              </a:r>
              <a:endPara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620" y="4778"/>
              <a:ext cx="7792" cy="904"/>
              <a:chOff x="5620" y="4778"/>
              <a:chExt cx="7792" cy="904"/>
            </a:xfrm>
          </p:grpSpPr>
          <p:grpSp>
            <p:nvGrpSpPr>
              <p:cNvPr id="133" name="组合 132"/>
              <p:cNvGrpSpPr/>
              <p:nvPr/>
            </p:nvGrpSpPr>
            <p:grpSpPr>
              <a:xfrm>
                <a:off x="5620" y="4778"/>
                <a:ext cx="7793" cy="297"/>
                <a:chOff x="10749" y="5102"/>
                <a:chExt cx="5397" cy="297"/>
              </a:xfrm>
              <a:effectLst/>
            </p:grpSpPr>
            <p:sp>
              <p:nvSpPr>
                <p:cNvPr id="192" name="梯形 191"/>
                <p:cNvSpPr/>
                <p:nvPr/>
              </p:nvSpPr>
              <p:spPr>
                <a:xfrm rot="300000">
                  <a:off x="10762" y="5102"/>
                  <a:ext cx="5384" cy="178"/>
                </a:xfrm>
                <a:prstGeom prst="trapezoid">
                  <a:avLst>
                    <a:gd name="adj" fmla="val 119447"/>
                  </a:avLst>
                </a:prstGeom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16200000" scaled="0"/>
                </a:gradFill>
                <a:ln w="12700">
                  <a:noFill/>
                </a:ln>
                <a:effectLst>
                  <a:outerShdw blurRad="411480" dist="123444" dir="5400000" sx="108000" sy="108000" algn="ctr" rotWithShape="0">
                    <a:schemeClr val="accent1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>
                    <a:solidFill>
                      <a:schemeClr val="bg1"/>
                    </a:solidFill>
                    <a:effectLst>
                      <a:outerShdw blurRad="137160" dist="41148" dir="2699997" algn="tl">
                        <a:srgbClr val="000000">
                          <a:alpha val="40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>
                <a:xfrm rot="300000">
                  <a:off x="10749" y="5279"/>
                  <a:ext cx="5384" cy="12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135" name="等腰三角形 134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625" y="5106"/>
                <a:ext cx="535" cy="463"/>
              </a:xfrm>
              <a:prstGeom prst="triangle">
                <a:avLst/>
              </a:prstGeom>
              <a:gradFill>
                <a:gsLst>
                  <a:gs pos="100000">
                    <a:schemeClr val="accent1"/>
                  </a:gs>
                  <a:gs pos="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kumimoji="1" lang="zh-CN" altLang="en-US" sz="700">
                  <a:solidFill>
                    <a:srgbClr val="31313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6687" y="5538"/>
                <a:ext cx="6478" cy="144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60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8100000" scaled="0"/>
              </a:gradFill>
              <a:ln>
                <a:noFill/>
              </a:ln>
              <a:effectLst/>
              <a:scene3d>
                <a:camera prst="perspectiveRelaxedModerately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39" name="Google Shape;703;p30"/>
          <p:cNvSpPr/>
          <p:nvPr/>
        </p:nvSpPr>
        <p:spPr>
          <a:xfrm>
            <a:off x="2116455" y="2169160"/>
            <a:ext cx="1968500" cy="643255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新兴市场开拓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资源投入分散，缺乏持续培育机制</a:t>
            </a:r>
            <a:endParaRPr lang="zh-CN" altLang="en-US" sz="9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0" name="Google Shape;703;p30"/>
          <p:cNvSpPr/>
          <p:nvPr/>
        </p:nvSpPr>
        <p:spPr>
          <a:xfrm>
            <a:off x="9443720" y="2628900"/>
            <a:ext cx="1884045" cy="643255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传统业务维护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转型动力不足，资源固化难调配</a:t>
            </a:r>
            <a:endParaRPr lang="zh-CN" altLang="en-US" sz="9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084955" y="2521585"/>
            <a:ext cx="363855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55710" y="2893695"/>
            <a:ext cx="588010" cy="0"/>
          </a:xfrm>
          <a:prstGeom prst="line">
            <a:avLst/>
          </a:prstGeom>
          <a:ln>
            <a:solidFill>
              <a:schemeClr val="accent2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23583" y="2690495"/>
            <a:ext cx="8699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481"/>
          <p:cNvSpPr/>
          <p:nvPr>
            <p:custDataLst>
              <p:tags r:id="rId5"/>
            </p:custDataLst>
          </p:nvPr>
        </p:nvSpPr>
        <p:spPr>
          <a:xfrm>
            <a:off x="563880" y="3503295"/>
            <a:ext cx="1189355" cy="1111250"/>
          </a:xfrm>
          <a:prstGeom prst="roundRect">
            <a:avLst>
              <a:gd name="adj" fmla="val 65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50000"/>
                  <a:lumOff val="50000"/>
                </a:schemeClr>
              </a:gs>
            </a:gsLst>
            <a:lin ang="54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: 圆角 481"/>
          <p:cNvSpPr/>
          <p:nvPr>
            <p:custDataLst>
              <p:tags r:id="rId6"/>
            </p:custDataLst>
          </p:nvPr>
        </p:nvSpPr>
        <p:spPr>
          <a:xfrm>
            <a:off x="563880" y="4714875"/>
            <a:ext cx="1189355" cy="1956435"/>
          </a:xfrm>
          <a:prstGeom prst="roundRect">
            <a:avLst>
              <a:gd name="adj" fmla="val 6596"/>
            </a:avLst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583" y="4079240"/>
            <a:ext cx="8699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: 圆角 470"/>
          <p:cNvSpPr/>
          <p:nvPr/>
        </p:nvSpPr>
        <p:spPr>
          <a:xfrm>
            <a:off x="1821815" y="3503295"/>
            <a:ext cx="3240000" cy="1097280"/>
          </a:xfrm>
          <a:prstGeom prst="roundRect">
            <a:avLst>
              <a:gd name="adj" fmla="val 271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95630" y="3452495"/>
            <a:ext cx="11105515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23583" y="5755640"/>
            <a:ext cx="869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95630" y="4669155"/>
            <a:ext cx="11105515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: 圆角 470"/>
          <p:cNvSpPr/>
          <p:nvPr/>
        </p:nvSpPr>
        <p:spPr>
          <a:xfrm>
            <a:off x="5101820" y="3503295"/>
            <a:ext cx="3239770" cy="1097280"/>
          </a:xfrm>
          <a:prstGeom prst="roundRect">
            <a:avLst>
              <a:gd name="adj" fmla="val 271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矩形: 圆角 470"/>
          <p:cNvSpPr/>
          <p:nvPr/>
        </p:nvSpPr>
        <p:spPr>
          <a:xfrm>
            <a:off x="8381595" y="3517265"/>
            <a:ext cx="3239770" cy="1097280"/>
          </a:xfrm>
          <a:prstGeom prst="roundRect">
            <a:avLst>
              <a:gd name="adj" fmla="val 2718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: 圆角 470"/>
          <p:cNvSpPr/>
          <p:nvPr/>
        </p:nvSpPr>
        <p:spPr>
          <a:xfrm>
            <a:off x="1821815" y="4713605"/>
            <a:ext cx="3239135" cy="868045"/>
          </a:xfrm>
          <a:prstGeom prst="roundRect">
            <a:avLst>
              <a:gd name="adj" fmla="val 2718"/>
            </a:avLst>
          </a:prstGeom>
          <a:solidFill>
            <a:schemeClr val="accent5">
              <a:lumMod val="60000"/>
              <a:lumOff val="40000"/>
              <a:alpha val="5000"/>
            </a:schemeClr>
          </a:solidFill>
          <a:ln w="12700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textbox 2040"/>
          <p:cNvSpPr/>
          <p:nvPr/>
        </p:nvSpPr>
        <p:spPr>
          <a:xfrm>
            <a:off x="1924685" y="3599180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后台支撑失衡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2040"/>
          <p:cNvSpPr/>
          <p:nvPr/>
        </p:nvSpPr>
        <p:spPr>
          <a:xfrm>
            <a:off x="5189220" y="3599180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中台运营效率低下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2040"/>
          <p:cNvSpPr/>
          <p:nvPr/>
        </p:nvSpPr>
        <p:spPr>
          <a:xfrm>
            <a:off x="8468995" y="3599180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业务流程数字化不足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: 圆角 470"/>
          <p:cNvSpPr/>
          <p:nvPr/>
        </p:nvSpPr>
        <p:spPr>
          <a:xfrm>
            <a:off x="5102225" y="4713605"/>
            <a:ext cx="3239135" cy="868045"/>
          </a:xfrm>
          <a:prstGeom prst="roundRect">
            <a:avLst>
              <a:gd name="adj" fmla="val 2718"/>
            </a:avLst>
          </a:prstGeom>
          <a:solidFill>
            <a:schemeClr val="accent5">
              <a:lumMod val="60000"/>
              <a:lumOff val="40000"/>
              <a:alpha val="5000"/>
            </a:schemeClr>
          </a:solidFill>
          <a:ln w="12700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矩形: 圆角 470"/>
          <p:cNvSpPr/>
          <p:nvPr/>
        </p:nvSpPr>
        <p:spPr>
          <a:xfrm>
            <a:off x="8388985" y="4714875"/>
            <a:ext cx="3239135" cy="868045"/>
          </a:xfrm>
          <a:prstGeom prst="roundRect">
            <a:avLst>
              <a:gd name="adj" fmla="val 2718"/>
            </a:avLst>
          </a:prstGeom>
          <a:solidFill>
            <a:schemeClr val="accent5">
              <a:lumMod val="60000"/>
              <a:lumOff val="40000"/>
              <a:alpha val="5000"/>
            </a:schemeClr>
          </a:solidFill>
          <a:ln w="12700" cmpd="sng">
            <a:solidFill>
              <a:schemeClr val="accent5">
                <a:lumMod val="40000"/>
                <a:lumOff val="60000"/>
              </a:schemeClr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textbox 2040"/>
          <p:cNvSpPr/>
          <p:nvPr/>
        </p:nvSpPr>
        <p:spPr>
          <a:xfrm>
            <a:off x="1989455" y="4803775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资源分配失衡与动力不足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2040"/>
          <p:cNvSpPr/>
          <p:nvPr/>
        </p:nvSpPr>
        <p:spPr>
          <a:xfrm>
            <a:off x="2100580" y="5075555"/>
            <a:ext cx="2784475" cy="3689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组织惯性大，过度依赖传统业务，对新兴市场投入分散，缺乏长期培育机制。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2040"/>
          <p:cNvSpPr/>
          <p:nvPr/>
        </p:nvSpPr>
        <p:spPr>
          <a:xfrm>
            <a:off x="5217795" y="4777740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组织架构冗余与人才断层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2040"/>
          <p:cNvSpPr/>
          <p:nvPr/>
        </p:nvSpPr>
        <p:spPr>
          <a:xfrm>
            <a:off x="5217795" y="5049520"/>
            <a:ext cx="2947670" cy="3689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组织层级复杂，团队缺乏活力；人才缺失，晋升机制不规范，员工技能与转型需求脱节。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2040"/>
          <p:cNvSpPr/>
          <p:nvPr/>
        </p:nvSpPr>
        <p:spPr>
          <a:xfrm>
            <a:off x="8498205" y="4777740"/>
            <a:ext cx="30721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数字化工具落后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2040"/>
          <p:cNvSpPr/>
          <p:nvPr/>
        </p:nvSpPr>
        <p:spPr>
          <a:xfrm>
            <a:off x="8650605" y="5049520"/>
            <a:ext cx="2717800" cy="36893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多数存在系统老旧，各系统间数据孤岛严重、协同弱，智能化应用不足。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9230360" y="5478780"/>
            <a:ext cx="284480" cy="218440"/>
            <a:chOff x="3471" y="7328"/>
            <a:chExt cx="924" cy="460"/>
          </a:xfrm>
        </p:grpSpPr>
        <p:sp>
          <p:nvSpPr>
            <p:cNvPr id="84" name="箭头: 下 47"/>
            <p:cNvSpPr/>
            <p:nvPr>
              <p:custDataLst>
                <p:tags r:id="rId7"/>
              </p:custDataLst>
            </p:nvPr>
          </p:nvSpPr>
          <p:spPr>
            <a:xfrm rot="10800000" flipH="1" flipV="1">
              <a:off x="3471" y="73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7" name="箭头: 下 47"/>
            <p:cNvSpPr/>
            <p:nvPr>
              <p:custDataLst>
                <p:tags r:id="rId8"/>
              </p:custDataLst>
            </p:nvPr>
          </p:nvSpPr>
          <p:spPr>
            <a:xfrm rot="10800000" flipH="1" flipV="1">
              <a:off x="3471" y="748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47" name="矩形 246"/>
          <p:cNvSpPr/>
          <p:nvPr/>
        </p:nvSpPr>
        <p:spPr>
          <a:xfrm>
            <a:off x="8388985" y="5755640"/>
            <a:ext cx="3239135" cy="916305"/>
          </a:xfrm>
          <a:prstGeom prst="rect">
            <a:avLst/>
          </a:prstGeom>
          <a:solidFill>
            <a:schemeClr val="accent5">
              <a:alpha val="2000"/>
            </a:schemeClr>
          </a:solidFill>
          <a:ln w="12700" cmpd="sng">
            <a:solidFill>
              <a:schemeClr val="accent5"/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8388985" y="5755640"/>
            <a:ext cx="3239135" cy="308610"/>
          </a:xfrm>
          <a:prstGeom prst="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90000"/>
                  <a:lumOff val="1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智能化系统升级替代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8479790" y="6211570"/>
            <a:ext cx="1008380" cy="299720"/>
            <a:chOff x="13336" y="9782"/>
            <a:chExt cx="1588" cy="472"/>
          </a:xfrm>
        </p:grpSpPr>
        <p:sp>
          <p:nvSpPr>
            <p:cNvPr id="251" name="圆角矩形 250"/>
            <p:cNvSpPr/>
            <p:nvPr/>
          </p:nvSpPr>
          <p:spPr>
            <a:xfrm>
              <a:off x="13337" y="9782"/>
              <a:ext cx="1587" cy="472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sz="900" dirty="0">
                <a:solidFill>
                  <a:schemeClr val="accent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9" name="textbox 2040"/>
            <p:cNvSpPr/>
            <p:nvPr/>
          </p:nvSpPr>
          <p:spPr>
            <a:xfrm>
              <a:off x="13336" y="9909"/>
              <a:ext cx="1588" cy="218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9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部署智能管理工具</a:t>
              </a:r>
              <a:endParaRPr lang="zh-CN" altLang="en-US" sz="9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585960" y="6211570"/>
            <a:ext cx="855980" cy="299720"/>
            <a:chOff x="15226" y="9783"/>
            <a:chExt cx="1348" cy="472"/>
          </a:xfrm>
        </p:grpSpPr>
        <p:sp>
          <p:nvSpPr>
            <p:cNvPr id="87" name="圆角矩形 86"/>
            <p:cNvSpPr/>
            <p:nvPr/>
          </p:nvSpPr>
          <p:spPr>
            <a:xfrm>
              <a:off x="15227" y="9783"/>
              <a:ext cx="1347" cy="472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sz="900" dirty="0">
                <a:solidFill>
                  <a:schemeClr val="accent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0" name="textbox 2040"/>
            <p:cNvSpPr/>
            <p:nvPr/>
          </p:nvSpPr>
          <p:spPr>
            <a:xfrm>
              <a:off x="15226" y="9910"/>
              <a:ext cx="1348" cy="218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9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打通数据链</a:t>
              </a:r>
              <a:endParaRPr lang="zh-CN" altLang="en-US" sz="9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0438130" y="5478780"/>
            <a:ext cx="284480" cy="218440"/>
            <a:chOff x="3471" y="7328"/>
            <a:chExt cx="924" cy="460"/>
          </a:xfrm>
        </p:grpSpPr>
        <p:sp>
          <p:nvSpPr>
            <p:cNvPr id="92" name="箭头: 下 47"/>
            <p:cNvSpPr/>
            <p:nvPr>
              <p:custDataLst>
                <p:tags r:id="rId9"/>
              </p:custDataLst>
            </p:nvPr>
          </p:nvSpPr>
          <p:spPr>
            <a:xfrm rot="10800000" flipH="1" flipV="1">
              <a:off x="3471" y="73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3" name="箭头: 下 47"/>
            <p:cNvSpPr/>
            <p:nvPr>
              <p:custDataLst>
                <p:tags r:id="rId10"/>
              </p:custDataLst>
            </p:nvPr>
          </p:nvSpPr>
          <p:spPr>
            <a:xfrm rot="10800000" flipH="1" flipV="1">
              <a:off x="3471" y="748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0539730" y="6211570"/>
            <a:ext cx="1008380" cy="299720"/>
            <a:chOff x="16634" y="9782"/>
            <a:chExt cx="1588" cy="472"/>
          </a:xfrm>
        </p:grpSpPr>
        <p:sp>
          <p:nvSpPr>
            <p:cNvPr id="88" name="圆角矩形 87"/>
            <p:cNvSpPr/>
            <p:nvPr/>
          </p:nvSpPr>
          <p:spPr>
            <a:xfrm>
              <a:off x="16635" y="9782"/>
              <a:ext cx="1587" cy="472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 w="12700" cmpd="sng">
              <a:solidFill>
                <a:schemeClr val="accent5"/>
              </a:solidFill>
              <a:prstDash val="solid"/>
            </a:ln>
            <a:effectLst/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sz="900" dirty="0">
                <a:solidFill>
                  <a:schemeClr val="accent5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4" name="textbox 2040"/>
            <p:cNvSpPr/>
            <p:nvPr/>
          </p:nvSpPr>
          <p:spPr>
            <a:xfrm>
              <a:off x="16634" y="9909"/>
              <a:ext cx="1588" cy="218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90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提升生产运营效率</a:t>
              </a:r>
              <a:endParaRPr lang="zh-CN" altLang="en-US" sz="9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5937250" y="5478780"/>
            <a:ext cx="284480" cy="218440"/>
            <a:chOff x="3471" y="7328"/>
            <a:chExt cx="924" cy="460"/>
          </a:xfrm>
        </p:grpSpPr>
        <p:sp>
          <p:nvSpPr>
            <p:cNvPr id="98" name="箭头: 下 47"/>
            <p:cNvSpPr/>
            <p:nvPr>
              <p:custDataLst>
                <p:tags r:id="rId11"/>
              </p:custDataLst>
            </p:nvPr>
          </p:nvSpPr>
          <p:spPr>
            <a:xfrm rot="10800000" flipH="1" flipV="1">
              <a:off x="3471" y="73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9" name="箭头: 下 47"/>
            <p:cNvSpPr/>
            <p:nvPr>
              <p:custDataLst>
                <p:tags r:id="rId12"/>
              </p:custDataLst>
            </p:nvPr>
          </p:nvSpPr>
          <p:spPr>
            <a:xfrm rot="10800000" flipH="1" flipV="1">
              <a:off x="3471" y="748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5095875" y="5755640"/>
            <a:ext cx="3239135" cy="916305"/>
          </a:xfrm>
          <a:prstGeom prst="rect">
            <a:avLst/>
          </a:prstGeom>
          <a:solidFill>
            <a:schemeClr val="accent5">
              <a:alpha val="2000"/>
            </a:schemeClr>
          </a:solidFill>
          <a:ln w="12700" cmpd="sng">
            <a:solidFill>
              <a:schemeClr val="accent5"/>
            </a:solidFill>
            <a:prstDash val="solid"/>
          </a:ln>
        </p:spPr>
        <p:txBody>
          <a:bodyPr rot="0" spcFirstLastPara="0" vert="horz" wrap="square" lIns="0" tIns="0" rIns="0" bIns="0" numCol="1" spcCol="0" rtlCol="0" fromWordArt="0" anchor="ctr" anchorCtr="0" forceAA="0" compatLnSpc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5095875" y="5755640"/>
            <a:ext cx="3239135" cy="308610"/>
          </a:xfrm>
          <a:prstGeom prst="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90000"/>
                  <a:lumOff val="1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组织与人才双轮驱动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7145020" y="5478780"/>
            <a:ext cx="284480" cy="218440"/>
            <a:chOff x="3471" y="7328"/>
            <a:chExt cx="924" cy="460"/>
          </a:xfrm>
        </p:grpSpPr>
        <p:sp>
          <p:nvSpPr>
            <p:cNvPr id="109" name="箭头: 下 47"/>
            <p:cNvSpPr/>
            <p:nvPr>
              <p:custDataLst>
                <p:tags r:id="rId13"/>
              </p:custDataLst>
            </p:nvPr>
          </p:nvSpPr>
          <p:spPr>
            <a:xfrm rot="10800000" flipH="1" flipV="1">
              <a:off x="3471" y="73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箭头: 下 47"/>
            <p:cNvSpPr/>
            <p:nvPr>
              <p:custDataLst>
                <p:tags r:id="rId14"/>
              </p:custDataLst>
            </p:nvPr>
          </p:nvSpPr>
          <p:spPr>
            <a:xfrm rot="10800000" flipH="1" flipV="1">
              <a:off x="3471" y="748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1821815" y="5478780"/>
            <a:ext cx="3239135" cy="1193165"/>
            <a:chOff x="13331" y="8628"/>
            <a:chExt cx="5101" cy="1879"/>
          </a:xfrm>
        </p:grpSpPr>
        <p:grpSp>
          <p:nvGrpSpPr>
            <p:cNvPr id="114" name="组合 113"/>
            <p:cNvGrpSpPr/>
            <p:nvPr/>
          </p:nvGrpSpPr>
          <p:grpSpPr>
            <a:xfrm>
              <a:off x="14656" y="8628"/>
              <a:ext cx="448" cy="344"/>
              <a:chOff x="3471" y="7328"/>
              <a:chExt cx="924" cy="460"/>
            </a:xfrm>
          </p:grpSpPr>
          <p:sp>
            <p:nvSpPr>
              <p:cNvPr id="115" name="箭头: 下 47"/>
              <p:cNvSpPr/>
              <p:nvPr>
                <p:custDataLst>
                  <p:tags r:id="rId15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5">
                      <a:alpha val="0"/>
                    </a:schemeClr>
                  </a:gs>
                  <a:gs pos="0">
                    <a:schemeClr val="accent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19" name="箭头: 下 47"/>
              <p:cNvSpPr/>
              <p:nvPr>
                <p:custDataLst>
                  <p:tags r:id="rId16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5">
                      <a:alpha val="0"/>
                    </a:schemeClr>
                  </a:gs>
                  <a:gs pos="0">
                    <a:schemeClr val="accent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20" name="矩形 119"/>
            <p:cNvSpPr/>
            <p:nvPr/>
          </p:nvSpPr>
          <p:spPr>
            <a:xfrm>
              <a:off x="13331" y="9064"/>
              <a:ext cx="5101" cy="1443"/>
            </a:xfrm>
            <a:prstGeom prst="rect">
              <a:avLst/>
            </a:prstGeom>
            <a:solidFill>
              <a:schemeClr val="accent5">
                <a:alpha val="2000"/>
              </a:schemeClr>
            </a:solidFill>
            <a:ln w="12700" cmpd="sng">
              <a:solidFill>
                <a:schemeClr val="accent5"/>
              </a:solidFill>
              <a:prstDash val="solid"/>
            </a:ln>
          </p:spPr>
          <p:txBody>
            <a:bodyPr rot="0" spcFirstLastPara="0"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 eaLnBrk="0">
                <a:buClrTx/>
                <a:buSzTx/>
                <a:buFontTx/>
              </a:pPr>
              <a:endPara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3331" y="9064"/>
              <a:ext cx="5101" cy="486"/>
            </a:xfrm>
            <a:prstGeom prst="rect">
              <a:avLst/>
            </a:prstGeom>
            <a:gradFill flip="none" rotWithShape="1">
              <a:gsLst>
                <a:gs pos="23000">
                  <a:schemeClr val="accent5"/>
                </a:gs>
                <a:gs pos="100000">
                  <a:schemeClr val="accent5">
                    <a:lumMod val="90000"/>
                    <a:lumOff val="1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战略聚焦与创新激活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28" name="组合 127"/>
            <p:cNvGrpSpPr/>
            <p:nvPr/>
          </p:nvGrpSpPr>
          <p:grpSpPr>
            <a:xfrm>
              <a:off x="16558" y="8628"/>
              <a:ext cx="448" cy="344"/>
              <a:chOff x="3471" y="7328"/>
              <a:chExt cx="924" cy="460"/>
            </a:xfrm>
          </p:grpSpPr>
          <p:sp>
            <p:nvSpPr>
              <p:cNvPr id="129" name="箭头: 下 47"/>
              <p:cNvSpPr/>
              <p:nvPr>
                <p:custDataLst>
                  <p:tags r:id="rId17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5">
                      <a:alpha val="0"/>
                    </a:schemeClr>
                  </a:gs>
                  <a:gs pos="0">
                    <a:schemeClr val="accent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0" name="箭头: 下 47"/>
              <p:cNvSpPr/>
              <p:nvPr>
                <p:custDataLst>
                  <p:tags r:id="rId18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5">
                      <a:alpha val="0"/>
                    </a:schemeClr>
                  </a:gs>
                  <a:gs pos="0">
                    <a:schemeClr val="accent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42" name="圆角矩形 141"/>
          <p:cNvSpPr/>
          <p:nvPr/>
        </p:nvSpPr>
        <p:spPr>
          <a:xfrm>
            <a:off x="1889125" y="6136640"/>
            <a:ext cx="1537335" cy="457200"/>
          </a:xfrm>
          <a:prstGeom prst="roundRect">
            <a:avLst>
              <a:gd name="adj" fmla="val 11790"/>
            </a:avLst>
          </a:prstGeom>
          <a:solidFill>
            <a:schemeClr val="bg1"/>
          </a:solidFill>
          <a:ln w="12700" cmpd="sng">
            <a:solidFill>
              <a:schemeClr val="accent5">
                <a:alpha val="50000"/>
              </a:scheme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sz="900" dirty="0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" name="圆角矩形 142"/>
          <p:cNvSpPr/>
          <p:nvPr/>
        </p:nvSpPr>
        <p:spPr>
          <a:xfrm>
            <a:off x="3491865" y="6136640"/>
            <a:ext cx="1515745" cy="457200"/>
          </a:xfrm>
          <a:prstGeom prst="roundRect">
            <a:avLst>
              <a:gd name="adj" fmla="val 11790"/>
            </a:avLst>
          </a:prstGeom>
          <a:solidFill>
            <a:schemeClr val="bg1"/>
          </a:solidFill>
          <a:ln w="12700" cmpd="sng">
            <a:solidFill>
              <a:schemeClr val="accent5">
                <a:alpha val="50000"/>
              </a:scheme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sz="900" dirty="0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4" name="textbox 2040"/>
          <p:cNvSpPr/>
          <p:nvPr/>
        </p:nvSpPr>
        <p:spPr>
          <a:xfrm>
            <a:off x="1924685" y="6165850"/>
            <a:ext cx="1431925" cy="41529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9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聚焦资源培育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高潜力新兴业务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管理层牵头制定</a:t>
            </a:r>
            <a:r>
              <a:rPr lang="en-US" altLang="zh-CN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年转型路线图，明确优先级。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textbox 2040"/>
          <p:cNvSpPr/>
          <p:nvPr/>
        </p:nvSpPr>
        <p:spPr>
          <a:xfrm>
            <a:off x="3519805" y="6172200"/>
            <a:ext cx="1431925" cy="41529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sz="9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试点创新孵化：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设立独立创新单元，简化审批流程，允许小步快跑、快速迭代。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5165090" y="6136640"/>
            <a:ext cx="1515745" cy="457200"/>
          </a:xfrm>
          <a:prstGeom prst="roundRect">
            <a:avLst>
              <a:gd name="adj" fmla="val 11790"/>
            </a:avLst>
          </a:prstGeom>
          <a:solidFill>
            <a:schemeClr val="bg1"/>
          </a:solidFill>
          <a:ln w="12700" cmpd="sng">
            <a:solidFill>
              <a:schemeClr val="accent5">
                <a:alpha val="50000"/>
              </a:scheme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sz="900" dirty="0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6774180" y="6136640"/>
            <a:ext cx="1515745" cy="457200"/>
          </a:xfrm>
          <a:prstGeom prst="roundRect">
            <a:avLst>
              <a:gd name="adj" fmla="val 11790"/>
            </a:avLst>
          </a:prstGeom>
          <a:solidFill>
            <a:schemeClr val="bg1"/>
          </a:solidFill>
          <a:ln w="12700" cmpd="sng">
            <a:solidFill>
              <a:schemeClr val="accent5">
                <a:alpha val="50000"/>
              </a:scheme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sz="900" dirty="0">
              <a:solidFill>
                <a:schemeClr val="accent5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8" name="textbox 2040"/>
          <p:cNvSpPr/>
          <p:nvPr/>
        </p:nvSpPr>
        <p:spPr>
          <a:xfrm>
            <a:off x="5212715" y="6165850"/>
            <a:ext cx="1431925" cy="41529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9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扁平化组织：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压缩管理层级，建立跨部门协作小组，授权一线团队快速决策。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textbox 2040"/>
          <p:cNvSpPr/>
          <p:nvPr/>
        </p:nvSpPr>
        <p:spPr>
          <a:xfrm>
            <a:off x="6790055" y="6165850"/>
            <a:ext cx="1431925" cy="41529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9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人才战略升级：</a:t>
            </a:r>
            <a:r>
              <a:rPr lang="zh-CN" altLang="en-US" sz="9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定制培训计划，外部招募跨界复合型人才，设计长期留人机制。</a:t>
            </a:r>
            <a:endParaRPr lang="zh-CN" altLang="en-US" sz="9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右箭头 149"/>
          <p:cNvSpPr/>
          <p:nvPr/>
        </p:nvSpPr>
        <p:spPr>
          <a:xfrm>
            <a:off x="8608695" y="4135120"/>
            <a:ext cx="2827020" cy="194310"/>
          </a:xfrm>
          <a:prstGeom prst="rightArrow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  <a:cs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8601710" y="4048125"/>
            <a:ext cx="485140" cy="368300"/>
            <a:chOff x="13546" y="6375"/>
            <a:chExt cx="764" cy="580"/>
          </a:xfrm>
        </p:grpSpPr>
        <p:sp>
          <p:nvSpPr>
            <p:cNvPr id="151" name="矩形 150"/>
            <p:cNvSpPr/>
            <p:nvPr/>
          </p:nvSpPr>
          <p:spPr>
            <a:xfrm>
              <a:off x="13567" y="6375"/>
              <a:ext cx="723" cy="5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55" name="textbox 2040"/>
            <p:cNvSpPr/>
            <p:nvPr/>
          </p:nvSpPr>
          <p:spPr>
            <a:xfrm>
              <a:off x="13546" y="6520"/>
              <a:ext cx="764" cy="290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研发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272905" y="4048125"/>
            <a:ext cx="485140" cy="368300"/>
            <a:chOff x="14600" y="6375"/>
            <a:chExt cx="764" cy="580"/>
          </a:xfrm>
        </p:grpSpPr>
        <p:sp>
          <p:nvSpPr>
            <p:cNvPr id="152" name="矩形 151"/>
            <p:cNvSpPr/>
            <p:nvPr/>
          </p:nvSpPr>
          <p:spPr>
            <a:xfrm>
              <a:off x="14608" y="6375"/>
              <a:ext cx="723" cy="5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56" name="textbox 2040"/>
            <p:cNvSpPr/>
            <p:nvPr/>
          </p:nvSpPr>
          <p:spPr>
            <a:xfrm>
              <a:off x="14600" y="6510"/>
              <a:ext cx="764" cy="290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生产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3" name="矩形 152"/>
          <p:cNvSpPr/>
          <p:nvPr/>
        </p:nvSpPr>
        <p:spPr>
          <a:xfrm>
            <a:off x="9944100" y="4048125"/>
            <a:ext cx="459105" cy="3683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accent1">
                  <a:lumMod val="60000"/>
                  <a:lumOff val="40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57" name="textbox 2040"/>
          <p:cNvSpPr/>
          <p:nvPr/>
        </p:nvSpPr>
        <p:spPr>
          <a:xfrm>
            <a:off x="9927590" y="4068445"/>
            <a:ext cx="476250" cy="196215"/>
          </a:xfrm>
          <a:prstGeom prst="rect">
            <a:avLst/>
          </a:prstGeom>
        </p:spPr>
        <p:txBody>
          <a:bodyPr vert="horz" wrap="square" lIns="0" tIns="0" rIns="0" bIns="0">
            <a:noAutofit/>
          </a:bodyPr>
          <a:lstStyle/>
          <a:p>
            <a:pPr algn="ctr" rtl="0" eaLnBrk="0"/>
            <a:r>
              <a:rPr lang="zh-CN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</a:t>
            </a:r>
            <a:endParaRPr lang="zh-CN" altLang="en-US" sz="1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rtl="0" eaLnBrk="0"/>
            <a:r>
              <a:rPr lang="zh-CN" alt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</a:t>
            </a:r>
            <a:endParaRPr lang="zh-CN" altLang="en-US" sz="11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589260" y="4048125"/>
            <a:ext cx="485140" cy="368300"/>
            <a:chOff x="16676" y="6375"/>
            <a:chExt cx="764" cy="580"/>
          </a:xfrm>
        </p:grpSpPr>
        <p:sp>
          <p:nvSpPr>
            <p:cNvPr id="154" name="矩形 153"/>
            <p:cNvSpPr/>
            <p:nvPr/>
          </p:nvSpPr>
          <p:spPr>
            <a:xfrm>
              <a:off x="16697" y="6375"/>
              <a:ext cx="723" cy="58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59" name="textbox 2040"/>
            <p:cNvSpPr/>
            <p:nvPr/>
          </p:nvSpPr>
          <p:spPr>
            <a:xfrm>
              <a:off x="16676" y="6510"/>
              <a:ext cx="764" cy="290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1871980" y="3880485"/>
            <a:ext cx="897890" cy="610235"/>
            <a:chOff x="2948" y="6111"/>
            <a:chExt cx="1414" cy="961"/>
          </a:xfrm>
        </p:grpSpPr>
        <p:sp>
          <p:nvSpPr>
            <p:cNvPr id="161" name="矩形 160"/>
            <p:cNvSpPr/>
            <p:nvPr/>
          </p:nvSpPr>
          <p:spPr>
            <a:xfrm>
              <a:off x="3041" y="6111"/>
              <a:ext cx="1229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tx2"/>
                </a:solidFill>
                <a:cs typeface="微软雅黑" panose="020B0503020204020204" charset="-122"/>
              </a:endParaRPr>
            </a:p>
          </p:txBody>
        </p:sp>
        <p:sp>
          <p:nvSpPr>
            <p:cNvPr id="162" name="textbox 2040"/>
            <p:cNvSpPr/>
            <p:nvPr/>
          </p:nvSpPr>
          <p:spPr>
            <a:xfrm>
              <a:off x="2948" y="6197"/>
              <a:ext cx="141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预算</a:t>
              </a:r>
              <a:r>
                <a:rPr lang="en-US" alt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VS</a:t>
              </a:r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成本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3" name="textbox 2040"/>
            <p:cNvSpPr/>
            <p:nvPr/>
          </p:nvSpPr>
          <p:spPr>
            <a:xfrm>
              <a:off x="2948" y="6830"/>
              <a:ext cx="141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缺乏战略导向</a:t>
              </a:r>
              <a:endPara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65" name="直接箭头连接符 164"/>
            <p:cNvCxnSpPr>
              <a:stCxn id="161" idx="2"/>
              <a:endCxn id="163" idx="0"/>
            </p:cNvCxnSpPr>
            <p:nvPr/>
          </p:nvCxnSpPr>
          <p:spPr>
            <a:xfrm flipH="1">
              <a:off x="3655" y="6542"/>
              <a:ext cx="1" cy="28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矩形 165"/>
          <p:cNvSpPr/>
          <p:nvPr/>
        </p:nvSpPr>
        <p:spPr>
          <a:xfrm>
            <a:off x="2973070" y="3880485"/>
            <a:ext cx="897890" cy="273685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b="1">
              <a:solidFill>
                <a:schemeClr val="accent2">
                  <a:lumMod val="7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67" name="textbox 2040"/>
          <p:cNvSpPr/>
          <p:nvPr/>
        </p:nvSpPr>
        <p:spPr>
          <a:xfrm>
            <a:off x="2973070" y="3935095"/>
            <a:ext cx="887730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考核机制僵化</a:t>
            </a:r>
            <a:endParaRPr lang="zh-CN" sz="10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textbox 2040"/>
          <p:cNvSpPr/>
          <p:nvPr/>
        </p:nvSpPr>
        <p:spPr>
          <a:xfrm>
            <a:off x="2973070" y="4337050"/>
            <a:ext cx="897890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团队缺乏活力</a:t>
            </a:r>
            <a:endParaRPr 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9" name="直接箭头连接符 168"/>
          <p:cNvCxnSpPr>
            <a:stCxn id="166" idx="2"/>
            <a:endCxn id="168" idx="0"/>
          </p:cNvCxnSpPr>
          <p:nvPr/>
        </p:nvCxnSpPr>
        <p:spPr>
          <a:xfrm>
            <a:off x="3422015" y="4154170"/>
            <a:ext cx="0" cy="18288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4" name="组合 173"/>
          <p:cNvGrpSpPr/>
          <p:nvPr/>
        </p:nvGrpSpPr>
        <p:grpSpPr>
          <a:xfrm>
            <a:off x="4123690" y="3880485"/>
            <a:ext cx="908050" cy="610235"/>
            <a:chOff x="6494" y="6111"/>
            <a:chExt cx="1430" cy="961"/>
          </a:xfrm>
        </p:grpSpPr>
        <p:sp>
          <p:nvSpPr>
            <p:cNvPr id="170" name="矩形 169"/>
            <p:cNvSpPr/>
            <p:nvPr/>
          </p:nvSpPr>
          <p:spPr>
            <a:xfrm>
              <a:off x="6587" y="6111"/>
              <a:ext cx="1229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tx2"/>
                </a:solidFill>
                <a:cs typeface="微软雅黑" panose="020B0503020204020204" charset="-122"/>
              </a:endParaRPr>
            </a:p>
          </p:txBody>
        </p:sp>
        <p:sp>
          <p:nvSpPr>
            <p:cNvPr id="171" name="textbox 2040"/>
            <p:cNvSpPr/>
            <p:nvPr/>
          </p:nvSpPr>
          <p:spPr>
            <a:xfrm>
              <a:off x="6494" y="6197"/>
              <a:ext cx="141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员工培育滞后</a:t>
              </a:r>
              <a:endParaRPr lang="zh-CN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2" name="textbox 2040"/>
            <p:cNvSpPr/>
            <p:nvPr/>
          </p:nvSpPr>
          <p:spPr>
            <a:xfrm>
              <a:off x="6510" y="6830"/>
              <a:ext cx="141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员工能力不足</a:t>
              </a:r>
              <a:endParaRPr 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73" name="直接箭头连接符 172"/>
            <p:cNvCxnSpPr>
              <a:endCxn id="172" idx="0"/>
            </p:cNvCxnSpPr>
            <p:nvPr/>
          </p:nvCxnSpPr>
          <p:spPr>
            <a:xfrm>
              <a:off x="7213" y="6565"/>
              <a:ext cx="8" cy="265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9" name="textbox 2040"/>
          <p:cNvSpPr/>
          <p:nvPr/>
        </p:nvSpPr>
        <p:spPr>
          <a:xfrm>
            <a:off x="2639060" y="3907155"/>
            <a:ext cx="420370" cy="23050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sz="15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lang="zh-CN" sz="15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textbox 2040"/>
          <p:cNvSpPr/>
          <p:nvPr/>
        </p:nvSpPr>
        <p:spPr>
          <a:xfrm>
            <a:off x="3834130" y="3895090"/>
            <a:ext cx="420370" cy="23050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sz="15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</a:t>
            </a:r>
            <a:endParaRPr lang="zh-CN" sz="15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954723" y="2192655"/>
            <a:ext cx="407670" cy="407670"/>
            <a:chOff x="1506" y="3453"/>
            <a:chExt cx="642" cy="642"/>
          </a:xfrm>
        </p:grpSpPr>
        <p:sp>
          <p:nvSpPr>
            <p:cNvPr id="21" name="椭圆 20"/>
            <p:cNvSpPr/>
            <p:nvPr/>
          </p:nvSpPr>
          <p:spPr>
            <a:xfrm>
              <a:off x="1506" y="3453"/>
              <a:ext cx="642" cy="6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29" name="图片 28" descr="战略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 rot="1560000">
              <a:off x="1567" y="3514"/>
              <a:ext cx="519" cy="519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954723" y="3655060"/>
            <a:ext cx="407670" cy="407670"/>
            <a:chOff x="1532" y="5756"/>
            <a:chExt cx="642" cy="642"/>
          </a:xfrm>
        </p:grpSpPr>
        <p:sp>
          <p:nvSpPr>
            <p:cNvPr id="33" name="椭圆 32"/>
            <p:cNvSpPr/>
            <p:nvPr/>
          </p:nvSpPr>
          <p:spPr>
            <a:xfrm>
              <a:off x="1532" y="5756"/>
              <a:ext cx="642" cy="6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35" name="图片 34" descr="3运营 (1)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76" y="5900"/>
              <a:ext cx="355" cy="355"/>
            </a:xfrm>
            <a:prstGeom prst="rect">
              <a:avLst/>
            </a:prstGeom>
          </p:spPr>
        </p:pic>
      </p:grpSp>
      <p:sp>
        <p:nvSpPr>
          <p:cNvPr id="38" name="椭圆 37"/>
          <p:cNvSpPr/>
          <p:nvPr/>
        </p:nvSpPr>
        <p:spPr>
          <a:xfrm>
            <a:off x="954723" y="5218430"/>
            <a:ext cx="407670" cy="407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40" name="图片 39" descr="独立体系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6320" y="5300028"/>
            <a:ext cx="244475" cy="244475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5377815" y="3895090"/>
            <a:ext cx="2792095" cy="622300"/>
            <a:chOff x="8217" y="6134"/>
            <a:chExt cx="4397" cy="980"/>
          </a:xfrm>
        </p:grpSpPr>
        <p:sp>
          <p:nvSpPr>
            <p:cNvPr id="178" name="矩形 177"/>
            <p:cNvSpPr/>
            <p:nvPr/>
          </p:nvSpPr>
          <p:spPr>
            <a:xfrm>
              <a:off x="8217" y="6134"/>
              <a:ext cx="894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79" name="矩形 178"/>
            <p:cNvSpPr/>
            <p:nvPr/>
          </p:nvSpPr>
          <p:spPr>
            <a:xfrm>
              <a:off x="8217" y="6684"/>
              <a:ext cx="894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80" name="矩形 179"/>
            <p:cNvSpPr/>
            <p:nvPr/>
          </p:nvSpPr>
          <p:spPr>
            <a:xfrm>
              <a:off x="9220" y="6134"/>
              <a:ext cx="894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81" name="矩形 180"/>
            <p:cNvSpPr/>
            <p:nvPr/>
          </p:nvSpPr>
          <p:spPr>
            <a:xfrm>
              <a:off x="9220" y="6684"/>
              <a:ext cx="894" cy="43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>
                <a:solidFill>
                  <a:schemeClr val="accent1">
                    <a:lumMod val="60000"/>
                    <a:lumOff val="40000"/>
                  </a:schemeClr>
                </a:solidFill>
                <a:cs typeface="微软雅黑" panose="020B0503020204020204" charset="-122"/>
              </a:endParaRPr>
            </a:p>
          </p:txBody>
        </p:sp>
        <p:sp>
          <p:nvSpPr>
            <p:cNvPr id="183" name="textbox 2040"/>
            <p:cNvSpPr/>
            <p:nvPr/>
          </p:nvSpPr>
          <p:spPr>
            <a:xfrm>
              <a:off x="8217" y="6222"/>
              <a:ext cx="89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生产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4" name="textbox 2040"/>
            <p:cNvSpPr/>
            <p:nvPr/>
          </p:nvSpPr>
          <p:spPr>
            <a:xfrm>
              <a:off x="8217" y="6771"/>
              <a:ext cx="89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供应链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5" name="textbox 2040"/>
            <p:cNvSpPr/>
            <p:nvPr/>
          </p:nvSpPr>
          <p:spPr>
            <a:xfrm>
              <a:off x="9220" y="6222"/>
              <a:ext cx="89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运营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6" name="textbox 2040"/>
            <p:cNvSpPr/>
            <p:nvPr/>
          </p:nvSpPr>
          <p:spPr>
            <a:xfrm>
              <a:off x="9220" y="6800"/>
              <a:ext cx="894" cy="242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ctr" rtl="0" eaLnBrk="0"/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财务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87" name="直接箭头连接符 186"/>
            <p:cNvCxnSpPr/>
            <p:nvPr/>
          </p:nvCxnSpPr>
          <p:spPr>
            <a:xfrm flipV="1">
              <a:off x="10300" y="6616"/>
              <a:ext cx="279" cy="1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9" name="右中括号 308"/>
            <p:cNvSpPr/>
            <p:nvPr/>
          </p:nvSpPr>
          <p:spPr>
            <a:xfrm>
              <a:off x="10114" y="6280"/>
              <a:ext cx="186" cy="676"/>
            </a:xfrm>
            <a:prstGeom prst="rightBracket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/>
                </a:solidFill>
                <a:cs typeface="微软雅黑" panose="020B0503020204020204" charset="-122"/>
              </a:endParaRPr>
            </a:p>
          </p:txBody>
        </p:sp>
        <p:sp>
          <p:nvSpPr>
            <p:cNvPr id="42" name="textbox 2040"/>
            <p:cNvSpPr/>
            <p:nvPr/>
          </p:nvSpPr>
          <p:spPr>
            <a:xfrm>
              <a:off x="10668" y="6346"/>
              <a:ext cx="1946" cy="484"/>
            </a:xfrm>
            <a:prstGeom prst="rect">
              <a:avLst/>
            </a:prstGeom>
          </p:spPr>
          <p:txBody>
            <a:bodyPr vert="horz" wrap="square" lIns="0" tIns="0" rIns="0" bIns="0">
              <a:spAutoFit/>
            </a:bodyPr>
            <a:lstStyle/>
            <a:p>
              <a:pPr algn="l" rtl="0" eaLnBrk="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过度追求标准化，忽视灵活性与成本优化。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2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rgbClr val="2132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消费者全生命周期运营模型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7" name="紫荆的职场Point5"/>
          <p:cNvSpPr/>
          <p:nvPr/>
        </p:nvSpPr>
        <p:spPr>
          <a:xfrm flipV="1">
            <a:off x="1132840" y="2094230"/>
            <a:ext cx="10759440" cy="2611755"/>
          </a:xfrm>
          <a:prstGeom prst="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紫荆的职场Point6"/>
          <p:cNvSpPr/>
          <p:nvPr/>
        </p:nvSpPr>
        <p:spPr>
          <a:xfrm>
            <a:off x="1170369" y="969513"/>
            <a:ext cx="10759320" cy="563941"/>
          </a:xfrm>
          <a:prstGeom prst="triangl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紫荆的职场Point7"/>
          <p:cNvSpPr txBox="1"/>
          <p:nvPr/>
        </p:nvSpPr>
        <p:spPr>
          <a:xfrm>
            <a:off x="5017671" y="1139204"/>
            <a:ext cx="29337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消费者全生命周期运营模型</a:t>
            </a:r>
            <a:endParaRPr lang="zh-CN" altLang="en-US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紫荆的职场Point8"/>
          <p:cNvSpPr/>
          <p:nvPr/>
        </p:nvSpPr>
        <p:spPr>
          <a:xfrm>
            <a:off x="1133475" y="1610995"/>
            <a:ext cx="3748405" cy="409575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围绕消费者生命周期</a:t>
            </a:r>
            <a:endParaRPr lang="zh-CN" altLang="en-US" sz="1600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紫荆的职场Point9"/>
          <p:cNvSpPr/>
          <p:nvPr/>
        </p:nvSpPr>
        <p:spPr>
          <a:xfrm>
            <a:off x="4759234" y="1611167"/>
            <a:ext cx="3745738" cy="409296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打造全业务链精益管理能力</a:t>
            </a:r>
            <a:endParaRPr lang="zh-CN" altLang="en-US" sz="1600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紫荆的职场Point10"/>
          <p:cNvSpPr/>
          <p:nvPr/>
        </p:nvSpPr>
        <p:spPr>
          <a:xfrm>
            <a:off x="8385827" y="1611167"/>
            <a:ext cx="3512670" cy="409296"/>
          </a:xfrm>
          <a:custGeom>
            <a:avLst/>
            <a:gdLst>
              <a:gd name="connsiteX0" fmla="*/ 0 w 3512670"/>
              <a:gd name="connsiteY0" fmla="*/ 0 h 409296"/>
              <a:gd name="connsiteX1" fmla="*/ 3512670 w 3512670"/>
              <a:gd name="connsiteY1" fmla="*/ 0 h 409296"/>
              <a:gd name="connsiteX2" fmla="*/ 3512670 w 3512670"/>
              <a:gd name="connsiteY2" fmla="*/ 409296 h 409296"/>
              <a:gd name="connsiteX3" fmla="*/ 0 w 3512670"/>
              <a:gd name="connsiteY3" fmla="*/ 409296 h 409296"/>
              <a:gd name="connsiteX4" fmla="*/ 204648 w 3512670"/>
              <a:gd name="connsiteY4" fmla="*/ 204648 h 40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2670" h="409296">
                <a:moveTo>
                  <a:pt x="0" y="0"/>
                </a:moveTo>
                <a:lnTo>
                  <a:pt x="3512670" y="0"/>
                </a:lnTo>
                <a:lnTo>
                  <a:pt x="3512670" y="409296"/>
                </a:lnTo>
                <a:lnTo>
                  <a:pt x="0" y="409296"/>
                </a:lnTo>
                <a:lnTo>
                  <a:pt x="204648" y="204648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挖掘增值服务与价值产出</a:t>
            </a:r>
            <a:endParaRPr lang="zh-CN" altLang="en-US" sz="1600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1463040" y="2564765"/>
            <a:ext cx="10097770" cy="1696085"/>
          </a:xfrm>
          <a:prstGeom prst="roundRect">
            <a:avLst/>
          </a:prstGeom>
          <a:noFill/>
          <a:ln w="25400" cmpd="sng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>
            <a:off x="2204085" y="250380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/>
          <p:nvPr>
            <p:custDataLst>
              <p:tags r:id="rId5"/>
            </p:custDataLst>
          </p:nvPr>
        </p:nvSpPr>
        <p:spPr>
          <a:xfrm>
            <a:off x="208534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/>
          <p:nvPr>
            <p:custDataLst>
              <p:tags r:id="rId6"/>
            </p:custDataLst>
          </p:nvPr>
        </p:nvSpPr>
        <p:spPr>
          <a:xfrm>
            <a:off x="354330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椭圆 17"/>
          <p:cNvSpPr/>
          <p:nvPr>
            <p:custDataLst>
              <p:tags r:id="rId7"/>
            </p:custDataLst>
          </p:nvPr>
        </p:nvSpPr>
        <p:spPr>
          <a:xfrm>
            <a:off x="1083310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8"/>
            </p:custDataLst>
          </p:nvPr>
        </p:nvSpPr>
        <p:spPr>
          <a:xfrm>
            <a:off x="500126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>
            <p:custDataLst>
              <p:tags r:id="rId9"/>
            </p:custDataLst>
          </p:nvPr>
        </p:nvSpPr>
        <p:spPr>
          <a:xfrm>
            <a:off x="645922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791718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/>
          <p:nvPr>
            <p:custDataLst>
              <p:tags r:id="rId11"/>
            </p:custDataLst>
          </p:nvPr>
        </p:nvSpPr>
        <p:spPr>
          <a:xfrm>
            <a:off x="9375140" y="419354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 flipH="1">
            <a:off x="7660640" y="2198370"/>
            <a:ext cx="8731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客户提车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 flipH="1">
            <a:off x="9023985" y="2198370"/>
            <a:ext cx="10363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亲子活动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 flipH="1">
            <a:off x="10523855" y="4367848"/>
            <a:ext cx="10985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保险到期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5"/>
            </p:custDataLst>
          </p:nvPr>
        </p:nvSpPr>
        <p:spPr>
          <a:xfrm flipH="1">
            <a:off x="7663815" y="4367848"/>
            <a:ext cx="10217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流失招揽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6"/>
            </p:custDataLst>
          </p:nvPr>
        </p:nvSpPr>
        <p:spPr>
          <a:xfrm flipH="1">
            <a:off x="4555490" y="4367848"/>
            <a:ext cx="11461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车辆健康检测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7"/>
            </p:custDataLst>
          </p:nvPr>
        </p:nvSpPr>
        <p:spPr>
          <a:xfrm flipH="1">
            <a:off x="1893570" y="2198370"/>
            <a:ext cx="8267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潜客拉新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 flipH="1">
            <a:off x="1712595" y="4367848"/>
            <a:ext cx="1021715" cy="2755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老客户推荐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 flipH="1">
            <a:off x="6169025" y="4367848"/>
            <a:ext cx="10217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汽车美容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 flipH="1">
            <a:off x="3273425" y="2198370"/>
            <a:ext cx="10223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邀约进店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1"/>
            </p:custDataLst>
          </p:nvPr>
        </p:nvSpPr>
        <p:spPr>
          <a:xfrm flipH="1">
            <a:off x="4744720" y="2198370"/>
            <a:ext cx="10223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销售跟进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2"/>
            </p:custDataLst>
          </p:nvPr>
        </p:nvSpPr>
        <p:spPr>
          <a:xfrm flipH="1">
            <a:off x="6164580" y="2198370"/>
            <a:ext cx="10223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下订购车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Parallelogram 3"/>
          <p:cNvSpPr/>
          <p:nvPr>
            <p:custDataLst>
              <p:tags r:id="rId23"/>
            </p:custDataLst>
          </p:nvPr>
        </p:nvSpPr>
        <p:spPr>
          <a:xfrm>
            <a:off x="1624965" y="2743835"/>
            <a:ext cx="5015230" cy="320675"/>
          </a:xfrm>
          <a:custGeom>
            <a:avLst/>
            <a:gdLst>
              <a:gd name="connsiteX0" fmla="*/ 405 w 7701"/>
              <a:gd name="connsiteY0" fmla="*/ 505 h 505"/>
              <a:gd name="connsiteX1" fmla="*/ 0 w 7701"/>
              <a:gd name="connsiteY1" fmla="*/ 10 h 505"/>
              <a:gd name="connsiteX2" fmla="*/ 7701 w 7701"/>
              <a:gd name="connsiteY2" fmla="*/ 0 h 505"/>
              <a:gd name="connsiteX3" fmla="*/ 7447 w 7701"/>
              <a:gd name="connsiteY3" fmla="*/ 498 h 505"/>
              <a:gd name="connsiteX4" fmla="*/ 405 w 7701"/>
              <a:gd name="connsiteY4" fmla="*/ 505 h 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01" h="505">
                <a:moveTo>
                  <a:pt x="405" y="505"/>
                </a:moveTo>
                <a:lnTo>
                  <a:pt x="0" y="10"/>
                </a:lnTo>
                <a:lnTo>
                  <a:pt x="7701" y="0"/>
                </a:lnTo>
                <a:lnTo>
                  <a:pt x="7447" y="498"/>
                </a:lnTo>
                <a:lnTo>
                  <a:pt x="405" y="505"/>
                </a:lnTo>
                <a:close/>
              </a:path>
            </a:pathLst>
          </a:custGeom>
          <a:gradFill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销售客户转化</a:t>
            </a:r>
            <a:endParaRPr lang="zh-CN" altLang="en-US" sz="13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Parallelogram 4"/>
          <p:cNvSpPr/>
          <p:nvPr>
            <p:custDataLst>
              <p:tags r:id="rId24"/>
            </p:custDataLst>
          </p:nvPr>
        </p:nvSpPr>
        <p:spPr>
          <a:xfrm>
            <a:off x="6586855" y="2751455"/>
            <a:ext cx="4726940" cy="308610"/>
          </a:xfrm>
          <a:prstGeom prst="parallelogram">
            <a:avLst>
              <a:gd name="adj" fmla="val 50926"/>
            </a:avLst>
          </a:prstGeom>
          <a:gradFill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algn="ctr"/>
            <a:r>
              <a:rPr lang="zh-CN" altLang="en-US" sz="13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新车用户保持</a:t>
            </a:r>
            <a:endParaRPr lang="zh-CN" altLang="en-US" sz="13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Parallelogram 3"/>
          <p:cNvSpPr/>
          <p:nvPr>
            <p:custDataLst>
              <p:tags r:id="rId25"/>
            </p:custDataLst>
          </p:nvPr>
        </p:nvSpPr>
        <p:spPr>
          <a:xfrm rot="16200000" flipV="1">
            <a:off x="10649585" y="3324225"/>
            <a:ext cx="1317625" cy="171450"/>
          </a:xfrm>
          <a:custGeom>
            <a:avLst/>
            <a:gdLst>
              <a:gd name="connsiteX0" fmla="*/ 500 w 2075"/>
              <a:gd name="connsiteY0" fmla="*/ 245 h 270"/>
              <a:gd name="connsiteX1" fmla="*/ 0 w 2075"/>
              <a:gd name="connsiteY1" fmla="*/ 0 h 270"/>
              <a:gd name="connsiteX2" fmla="*/ 2075 w 2075"/>
              <a:gd name="connsiteY2" fmla="*/ 25 h 270"/>
              <a:gd name="connsiteX3" fmla="*/ 1605 w 2075"/>
              <a:gd name="connsiteY3" fmla="*/ 270 h 270"/>
              <a:gd name="connsiteX4" fmla="*/ 500 w 2075"/>
              <a:gd name="connsiteY4" fmla="*/ 245 h 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" h="270">
                <a:moveTo>
                  <a:pt x="500" y="245"/>
                </a:moveTo>
                <a:lnTo>
                  <a:pt x="0" y="0"/>
                </a:lnTo>
                <a:lnTo>
                  <a:pt x="2075" y="25"/>
                </a:lnTo>
                <a:lnTo>
                  <a:pt x="1605" y="270"/>
                </a:lnTo>
                <a:lnTo>
                  <a:pt x="500" y="245"/>
                </a:lnTo>
                <a:close/>
              </a:path>
            </a:pathLst>
          </a:custGeom>
          <a:gradFill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7" name="图片 46" descr="303b343532343232313bd0c2d4f6d3c3bba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185150" y="2781935"/>
            <a:ext cx="178435" cy="208915"/>
          </a:xfrm>
          <a:prstGeom prst="rect">
            <a:avLst/>
          </a:prstGeom>
        </p:spPr>
      </p:pic>
      <p:sp>
        <p:nvSpPr>
          <p:cNvPr id="48" name="Parallelogram 3"/>
          <p:cNvSpPr/>
          <p:nvPr>
            <p:custDataLst>
              <p:tags r:id="rId29"/>
            </p:custDataLst>
          </p:nvPr>
        </p:nvSpPr>
        <p:spPr>
          <a:xfrm flipH="1">
            <a:off x="6689090" y="3766185"/>
            <a:ext cx="4674870" cy="316230"/>
          </a:xfrm>
          <a:prstGeom prst="parallelogram">
            <a:avLst>
              <a:gd name="adj" fmla="val 50926"/>
            </a:avLst>
          </a:prstGeom>
          <a:gradFill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忠诚客户保持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30"/>
            </p:custDataLst>
          </p:nvPr>
        </p:nvSpPr>
        <p:spPr>
          <a:xfrm flipH="1">
            <a:off x="10541635" y="2198370"/>
            <a:ext cx="10375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首保邀约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1"/>
            </p:custDataLst>
          </p:nvPr>
        </p:nvSpPr>
        <p:spPr>
          <a:xfrm flipH="1">
            <a:off x="9048750" y="4367848"/>
            <a:ext cx="10985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保养提醒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32"/>
            </p:custDataLst>
          </p:nvPr>
        </p:nvSpPr>
        <p:spPr>
          <a:xfrm flipH="1">
            <a:off x="3244850" y="4367848"/>
            <a:ext cx="10217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年检到期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Parallelogram 3"/>
          <p:cNvSpPr/>
          <p:nvPr>
            <p:custDataLst>
              <p:tags r:id="rId33"/>
            </p:custDataLst>
          </p:nvPr>
        </p:nvSpPr>
        <p:spPr>
          <a:xfrm flipH="1">
            <a:off x="1624965" y="3766185"/>
            <a:ext cx="5150485" cy="316230"/>
          </a:xfrm>
          <a:custGeom>
            <a:avLst/>
            <a:gdLst>
              <a:gd name="connsiteX0" fmla="*/ 0 w 7556"/>
              <a:gd name="connsiteY0" fmla="*/ 498 h 498"/>
              <a:gd name="connsiteX1" fmla="*/ 254 w 7556"/>
              <a:gd name="connsiteY1" fmla="*/ 0 h 498"/>
              <a:gd name="connsiteX2" fmla="*/ 7149 w 7556"/>
              <a:gd name="connsiteY2" fmla="*/ 5 h 498"/>
              <a:gd name="connsiteX3" fmla="*/ 7556 w 7556"/>
              <a:gd name="connsiteY3" fmla="*/ 498 h 498"/>
              <a:gd name="connsiteX4" fmla="*/ 0 w 7556"/>
              <a:gd name="connsiteY4" fmla="*/ 498 h 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6" h="498">
                <a:moveTo>
                  <a:pt x="0" y="498"/>
                </a:moveTo>
                <a:lnTo>
                  <a:pt x="254" y="0"/>
                </a:lnTo>
                <a:lnTo>
                  <a:pt x="7149" y="5"/>
                </a:lnTo>
                <a:lnTo>
                  <a:pt x="7556" y="498"/>
                </a:lnTo>
                <a:lnTo>
                  <a:pt x="0" y="498"/>
                </a:lnTo>
                <a:close/>
              </a:path>
            </a:pathLst>
          </a:custGeom>
          <a:gradFill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增值业务开发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Parallelogram 3"/>
          <p:cNvSpPr/>
          <p:nvPr>
            <p:custDataLst>
              <p:tags r:id="rId34"/>
            </p:custDataLst>
          </p:nvPr>
        </p:nvSpPr>
        <p:spPr>
          <a:xfrm rot="16200000">
            <a:off x="1023620" y="3290570"/>
            <a:ext cx="1317625" cy="266700"/>
          </a:xfrm>
          <a:custGeom>
            <a:avLst/>
            <a:gdLst>
              <a:gd name="connsiteX0" fmla="*/ 500 w 2075"/>
              <a:gd name="connsiteY0" fmla="*/ 245 h 270"/>
              <a:gd name="connsiteX1" fmla="*/ 0 w 2075"/>
              <a:gd name="connsiteY1" fmla="*/ 0 h 270"/>
              <a:gd name="connsiteX2" fmla="*/ 2075 w 2075"/>
              <a:gd name="connsiteY2" fmla="*/ 25 h 270"/>
              <a:gd name="connsiteX3" fmla="*/ 1605 w 2075"/>
              <a:gd name="connsiteY3" fmla="*/ 270 h 270"/>
              <a:gd name="connsiteX4" fmla="*/ 500 w 2075"/>
              <a:gd name="connsiteY4" fmla="*/ 245 h 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" h="270">
                <a:moveTo>
                  <a:pt x="500" y="245"/>
                </a:moveTo>
                <a:lnTo>
                  <a:pt x="0" y="0"/>
                </a:lnTo>
                <a:lnTo>
                  <a:pt x="2075" y="25"/>
                </a:lnTo>
                <a:lnTo>
                  <a:pt x="1605" y="270"/>
                </a:lnTo>
                <a:lnTo>
                  <a:pt x="500" y="245"/>
                </a:lnTo>
                <a:close/>
              </a:path>
            </a:pathLst>
          </a:custGeom>
          <a:gradFill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ysClr val="window" lastClr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ysClr val="window" lastClr="FFFFFF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iconfont-11672-5428412"/>
          <p:cNvSpPr/>
          <p:nvPr>
            <p:custDataLst>
              <p:tags r:id="rId35"/>
            </p:custDataLst>
          </p:nvPr>
        </p:nvSpPr>
        <p:spPr>
          <a:xfrm>
            <a:off x="8274050" y="3846830"/>
            <a:ext cx="111760" cy="154940"/>
          </a:xfrm>
          <a:custGeom>
            <a:avLst/>
            <a:gdLst>
              <a:gd name="T0" fmla="*/ 12000 w 12800"/>
              <a:gd name="T1" fmla="*/ 12800 h 12800"/>
              <a:gd name="T2" fmla="*/ 4000 w 12800"/>
              <a:gd name="T3" fmla="*/ 12800 h 12800"/>
              <a:gd name="T4" fmla="*/ 3200 w 12800"/>
              <a:gd name="T5" fmla="*/ 12000 h 12800"/>
              <a:gd name="T6" fmla="*/ 3200 w 12800"/>
              <a:gd name="T7" fmla="*/ 9600 h 12800"/>
              <a:gd name="T8" fmla="*/ 800 w 12800"/>
              <a:gd name="T9" fmla="*/ 9600 h 12800"/>
              <a:gd name="T10" fmla="*/ 0 w 12800"/>
              <a:gd name="T11" fmla="*/ 8800 h 12800"/>
              <a:gd name="T12" fmla="*/ 0 w 12800"/>
              <a:gd name="T13" fmla="*/ 800 h 12800"/>
              <a:gd name="T14" fmla="*/ 800 w 12800"/>
              <a:gd name="T15" fmla="*/ 0 h 12800"/>
              <a:gd name="T16" fmla="*/ 8800 w 12800"/>
              <a:gd name="T17" fmla="*/ 0 h 12800"/>
              <a:gd name="T18" fmla="*/ 9600 w 12800"/>
              <a:gd name="T19" fmla="*/ 800 h 12800"/>
              <a:gd name="T20" fmla="*/ 9600 w 12800"/>
              <a:gd name="T21" fmla="*/ 3200 h 12800"/>
              <a:gd name="T22" fmla="*/ 12000 w 12800"/>
              <a:gd name="T23" fmla="*/ 3200 h 12800"/>
              <a:gd name="T24" fmla="*/ 12800 w 12800"/>
              <a:gd name="T25" fmla="*/ 4000 h 12800"/>
              <a:gd name="T26" fmla="*/ 12800 w 12800"/>
              <a:gd name="T27" fmla="*/ 12000 h 12800"/>
              <a:gd name="T28" fmla="*/ 12000 w 12800"/>
              <a:gd name="T29" fmla="*/ 12800 h 12800"/>
              <a:gd name="T30" fmla="*/ 8000 w 12800"/>
              <a:gd name="T31" fmla="*/ 1600 h 12800"/>
              <a:gd name="T32" fmla="*/ 1600 w 12800"/>
              <a:gd name="T33" fmla="*/ 1600 h 12800"/>
              <a:gd name="T34" fmla="*/ 1600 w 12800"/>
              <a:gd name="T35" fmla="*/ 8000 h 12800"/>
              <a:gd name="T36" fmla="*/ 3200 w 12800"/>
              <a:gd name="T37" fmla="*/ 8000 h 12800"/>
              <a:gd name="T38" fmla="*/ 3200 w 12800"/>
              <a:gd name="T39" fmla="*/ 4000 h 12800"/>
              <a:gd name="T40" fmla="*/ 4000 w 12800"/>
              <a:gd name="T41" fmla="*/ 3200 h 12800"/>
              <a:gd name="T42" fmla="*/ 8000 w 12800"/>
              <a:gd name="T43" fmla="*/ 3200 h 12800"/>
              <a:gd name="T44" fmla="*/ 8000 w 12800"/>
              <a:gd name="T45" fmla="*/ 1600 h 12800"/>
              <a:gd name="T46" fmla="*/ 11200 w 12800"/>
              <a:gd name="T47" fmla="*/ 4800 h 12800"/>
              <a:gd name="T48" fmla="*/ 9600 w 12800"/>
              <a:gd name="T49" fmla="*/ 4800 h 12800"/>
              <a:gd name="T50" fmla="*/ 9600 w 12800"/>
              <a:gd name="T51" fmla="*/ 8800 h 12800"/>
              <a:gd name="T52" fmla="*/ 8800 w 12800"/>
              <a:gd name="T53" fmla="*/ 9600 h 12800"/>
              <a:gd name="T54" fmla="*/ 4800 w 12800"/>
              <a:gd name="T55" fmla="*/ 9600 h 12800"/>
              <a:gd name="T56" fmla="*/ 4800 w 12800"/>
              <a:gd name="T57" fmla="*/ 11200 h 12800"/>
              <a:gd name="T58" fmla="*/ 11200 w 12800"/>
              <a:gd name="T59" fmla="*/ 11200 h 12800"/>
              <a:gd name="T60" fmla="*/ 11200 w 12800"/>
              <a:gd name="T61" fmla="*/ 48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00" h="12800">
                <a:moveTo>
                  <a:pt x="12000" y="12800"/>
                </a:moveTo>
                <a:lnTo>
                  <a:pt x="4000" y="12800"/>
                </a:lnTo>
                <a:cubicBezTo>
                  <a:pt x="3558" y="12800"/>
                  <a:pt x="3200" y="12442"/>
                  <a:pt x="3200" y="12000"/>
                </a:cubicBezTo>
                <a:lnTo>
                  <a:pt x="3200" y="9600"/>
                </a:lnTo>
                <a:lnTo>
                  <a:pt x="800" y="9600"/>
                </a:lnTo>
                <a:cubicBezTo>
                  <a:pt x="358" y="9600"/>
                  <a:pt x="0" y="9242"/>
                  <a:pt x="0" y="8800"/>
                </a:cubicBezTo>
                <a:lnTo>
                  <a:pt x="0" y="800"/>
                </a:lnTo>
                <a:cubicBezTo>
                  <a:pt x="0" y="358"/>
                  <a:pt x="358" y="0"/>
                  <a:pt x="800" y="0"/>
                </a:cubicBezTo>
                <a:lnTo>
                  <a:pt x="8800" y="0"/>
                </a:lnTo>
                <a:cubicBezTo>
                  <a:pt x="9242" y="0"/>
                  <a:pt x="9600" y="358"/>
                  <a:pt x="9600" y="800"/>
                </a:cubicBezTo>
                <a:lnTo>
                  <a:pt x="9600" y="3200"/>
                </a:lnTo>
                <a:lnTo>
                  <a:pt x="12000" y="3200"/>
                </a:lnTo>
                <a:cubicBezTo>
                  <a:pt x="12442" y="3200"/>
                  <a:pt x="12800" y="3558"/>
                  <a:pt x="12800" y="4000"/>
                </a:cubicBezTo>
                <a:lnTo>
                  <a:pt x="12800" y="12000"/>
                </a:lnTo>
                <a:cubicBezTo>
                  <a:pt x="12800" y="12442"/>
                  <a:pt x="12442" y="12800"/>
                  <a:pt x="12000" y="12800"/>
                </a:cubicBezTo>
                <a:close/>
                <a:moveTo>
                  <a:pt x="8000" y="1600"/>
                </a:moveTo>
                <a:lnTo>
                  <a:pt x="1600" y="1600"/>
                </a:lnTo>
                <a:lnTo>
                  <a:pt x="1600" y="8000"/>
                </a:lnTo>
                <a:lnTo>
                  <a:pt x="3200" y="8000"/>
                </a:lnTo>
                <a:lnTo>
                  <a:pt x="3200" y="4000"/>
                </a:lnTo>
                <a:cubicBezTo>
                  <a:pt x="3200" y="3558"/>
                  <a:pt x="3558" y="3200"/>
                  <a:pt x="4000" y="3200"/>
                </a:cubicBezTo>
                <a:lnTo>
                  <a:pt x="8000" y="3200"/>
                </a:lnTo>
                <a:lnTo>
                  <a:pt x="8000" y="1600"/>
                </a:lnTo>
                <a:close/>
                <a:moveTo>
                  <a:pt x="11200" y="4800"/>
                </a:moveTo>
                <a:lnTo>
                  <a:pt x="9600" y="4800"/>
                </a:lnTo>
                <a:lnTo>
                  <a:pt x="9600" y="8800"/>
                </a:lnTo>
                <a:cubicBezTo>
                  <a:pt x="9600" y="9242"/>
                  <a:pt x="9242" y="9600"/>
                  <a:pt x="8800" y="9600"/>
                </a:cubicBezTo>
                <a:lnTo>
                  <a:pt x="4800" y="9600"/>
                </a:lnTo>
                <a:lnTo>
                  <a:pt x="4800" y="11200"/>
                </a:lnTo>
                <a:lnTo>
                  <a:pt x="11200" y="11200"/>
                </a:lnTo>
                <a:lnTo>
                  <a:pt x="11200" y="48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图片 56" descr="303b333530343937363bc9e8b1b8b0f3b6a8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376930" y="3811905"/>
            <a:ext cx="161925" cy="189865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39"/>
            </p:custDataLst>
          </p:nvPr>
        </p:nvSpPr>
        <p:spPr>
          <a:xfrm flipH="1">
            <a:off x="1115060" y="3097530"/>
            <a:ext cx="330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椭圆 58"/>
          <p:cNvSpPr/>
          <p:nvPr>
            <p:custDataLst>
              <p:tags r:id="rId40"/>
            </p:custDataLst>
          </p:nvPr>
        </p:nvSpPr>
        <p:spPr>
          <a:xfrm>
            <a:off x="1393190" y="3255010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60"/>
          <p:cNvSpPr/>
          <p:nvPr>
            <p:custDataLst>
              <p:tags r:id="rId41"/>
            </p:custDataLst>
          </p:nvPr>
        </p:nvSpPr>
        <p:spPr>
          <a:xfrm>
            <a:off x="3600450" y="250380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61"/>
          <p:cNvSpPr/>
          <p:nvPr>
            <p:custDataLst>
              <p:tags r:id="rId42"/>
            </p:custDataLst>
          </p:nvPr>
        </p:nvSpPr>
        <p:spPr>
          <a:xfrm>
            <a:off x="5057775" y="249999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64"/>
          <p:cNvSpPr/>
          <p:nvPr>
            <p:custDataLst>
              <p:tags r:id="rId43"/>
            </p:custDataLst>
          </p:nvPr>
        </p:nvSpPr>
        <p:spPr>
          <a:xfrm>
            <a:off x="6515735" y="249999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椭圆 65"/>
          <p:cNvSpPr/>
          <p:nvPr>
            <p:custDataLst>
              <p:tags r:id="rId44"/>
            </p:custDataLst>
          </p:nvPr>
        </p:nvSpPr>
        <p:spPr>
          <a:xfrm>
            <a:off x="8034655" y="249618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椭圆 66"/>
          <p:cNvSpPr/>
          <p:nvPr>
            <p:custDataLst>
              <p:tags r:id="rId45"/>
            </p:custDataLst>
          </p:nvPr>
        </p:nvSpPr>
        <p:spPr>
          <a:xfrm>
            <a:off x="9375140" y="249999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椭圆 70"/>
          <p:cNvSpPr/>
          <p:nvPr>
            <p:custDataLst>
              <p:tags r:id="rId46"/>
            </p:custDataLst>
          </p:nvPr>
        </p:nvSpPr>
        <p:spPr>
          <a:xfrm>
            <a:off x="10889615" y="2503805"/>
            <a:ext cx="129600" cy="1296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椭圆 71"/>
          <p:cNvSpPr/>
          <p:nvPr>
            <p:custDataLst>
              <p:tags r:id="rId47"/>
            </p:custDataLst>
          </p:nvPr>
        </p:nvSpPr>
        <p:spPr>
          <a:xfrm>
            <a:off x="11507470" y="3270885"/>
            <a:ext cx="124460" cy="13081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48"/>
            </p:custDataLst>
          </p:nvPr>
        </p:nvSpPr>
        <p:spPr>
          <a:xfrm flipH="1">
            <a:off x="11586210" y="2968625"/>
            <a:ext cx="18288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系统升级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图片 73" descr="关键指标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342005" y="2789555"/>
            <a:ext cx="196850" cy="201295"/>
          </a:xfrm>
          <a:prstGeom prst="rect">
            <a:avLst/>
          </a:prstGeom>
        </p:spPr>
      </p:pic>
      <p:sp>
        <p:nvSpPr>
          <p:cNvPr id="75" name="圆角矩形 74"/>
          <p:cNvSpPr/>
          <p:nvPr/>
        </p:nvSpPr>
        <p:spPr>
          <a:xfrm>
            <a:off x="2082165" y="3206115"/>
            <a:ext cx="8918575" cy="454660"/>
          </a:xfrm>
          <a:prstGeom prst="roundRect">
            <a:avLst>
              <a:gd name="adj" fmla="val 50000"/>
            </a:avLst>
          </a:prstGeom>
          <a:noFill/>
          <a:ln w="38100"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</a:extLst>
        </p:spPr>
        <p:style>
          <a:lnRef idx="2">
            <a:srgbClr val="24396B">
              <a:lumMod val="75000"/>
            </a:srgbClr>
          </a:lnRef>
          <a:fillRef idx="1">
            <a:srgbClr val="24396B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accent5"/>
                </a:solidFill>
                <a:cs typeface="微软雅黑" panose="020B0503020204020204" charset="-122"/>
              </a:rPr>
              <a:t>客户生命周期全流程节点</a:t>
            </a:r>
            <a:endParaRPr lang="zh-CN" altLang="en-US" b="1">
              <a:solidFill>
                <a:schemeClr val="accent5"/>
              </a:solidFill>
              <a:cs typeface="微软雅黑" panose="020B0503020204020204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2700655" y="2499360"/>
            <a:ext cx="7573645" cy="124460"/>
            <a:chOff x="4253" y="3936"/>
            <a:chExt cx="11927" cy="19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5" name="等腰三角形 134"/>
            <p:cNvSpPr/>
            <p:nvPr/>
          </p:nvSpPr>
          <p:spPr>
            <a:xfrm rot="5400000">
              <a:off x="422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6" name="等腰三角形 135"/>
            <p:cNvSpPr/>
            <p:nvPr/>
          </p:nvSpPr>
          <p:spPr>
            <a:xfrm rot="5400000">
              <a:off x="679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8" name="等腰三角形 137"/>
            <p:cNvSpPr/>
            <p:nvPr/>
          </p:nvSpPr>
          <p:spPr>
            <a:xfrm rot="5400000">
              <a:off x="900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5400000">
              <a:off x="1157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0" name="等腰三角形 139"/>
            <p:cNvSpPr/>
            <p:nvPr/>
          </p:nvSpPr>
          <p:spPr>
            <a:xfrm rot="5400000">
              <a:off x="1378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1601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 flipH="1">
            <a:off x="2753995" y="4197985"/>
            <a:ext cx="7573645" cy="124460"/>
            <a:chOff x="4253" y="3936"/>
            <a:chExt cx="11927" cy="19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43" name="等腰三角形 142"/>
            <p:cNvSpPr/>
            <p:nvPr/>
          </p:nvSpPr>
          <p:spPr>
            <a:xfrm rot="5400000">
              <a:off x="422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4" name="等腰三角形 143"/>
            <p:cNvSpPr/>
            <p:nvPr/>
          </p:nvSpPr>
          <p:spPr>
            <a:xfrm rot="5400000">
              <a:off x="679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7" name="等腰三角形 146"/>
            <p:cNvSpPr/>
            <p:nvPr/>
          </p:nvSpPr>
          <p:spPr>
            <a:xfrm rot="5400000">
              <a:off x="900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8" name="等腰三角形 147"/>
            <p:cNvSpPr/>
            <p:nvPr/>
          </p:nvSpPr>
          <p:spPr>
            <a:xfrm rot="5400000">
              <a:off x="1157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9" name="等腰三角形 148"/>
            <p:cNvSpPr/>
            <p:nvPr/>
          </p:nvSpPr>
          <p:spPr>
            <a:xfrm rot="5400000">
              <a:off x="13786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0" name="等腰三角形 149"/>
            <p:cNvSpPr/>
            <p:nvPr/>
          </p:nvSpPr>
          <p:spPr>
            <a:xfrm rot="5400000">
              <a:off x="16011" y="3963"/>
              <a:ext cx="196" cy="143"/>
            </a:xfrm>
            <a:prstGeom prst="triangle">
              <a:avLst/>
            </a:prstGeom>
            <a:grpFill/>
            <a:ln w="25400" cmpd="sng">
              <a:noFill/>
              <a:prstDash val="solid"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55" name="等腰三角形 154"/>
          <p:cNvSpPr/>
          <p:nvPr/>
        </p:nvSpPr>
        <p:spPr>
          <a:xfrm flipH="1">
            <a:off x="1393190" y="3467100"/>
            <a:ext cx="124460" cy="9080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mpd="sng">
            <a:noFill/>
            <a:prstDash val="solid"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等腰三角形 155"/>
          <p:cNvSpPr/>
          <p:nvPr/>
        </p:nvSpPr>
        <p:spPr>
          <a:xfrm rot="10800000">
            <a:off x="11497945" y="3630930"/>
            <a:ext cx="124460" cy="9080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mpd="sng">
            <a:noFill/>
            <a:prstDash val="solid"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125730" y="5562600"/>
            <a:ext cx="986155" cy="412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能力支撑</a:t>
            </a:r>
            <a:endParaRPr lang="zh-CN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8" name="直接连接符 1187"/>
          <p:cNvCxnSpPr/>
          <p:nvPr/>
        </p:nvCxnSpPr>
        <p:spPr>
          <a:xfrm flipV="1">
            <a:off x="174422" y="6649633"/>
            <a:ext cx="930910" cy="7620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59" name="直接箭头连接符 1207"/>
          <p:cNvCxnSpPr/>
          <p:nvPr/>
        </p:nvCxnSpPr>
        <p:spPr>
          <a:xfrm flipV="1">
            <a:off x="541184" y="3813164"/>
            <a:ext cx="0" cy="158750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60" name="直接箭头连接符 1209"/>
          <p:cNvCxnSpPr/>
          <p:nvPr/>
        </p:nvCxnSpPr>
        <p:spPr>
          <a:xfrm>
            <a:off x="580977" y="6023579"/>
            <a:ext cx="4445" cy="55689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62" name="直接连接符 1186"/>
          <p:cNvCxnSpPr/>
          <p:nvPr/>
        </p:nvCxnSpPr>
        <p:spPr>
          <a:xfrm flipV="1">
            <a:off x="249987" y="1138147"/>
            <a:ext cx="920115" cy="7620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63" name="直接箭头连接符 1207"/>
          <p:cNvCxnSpPr/>
          <p:nvPr/>
        </p:nvCxnSpPr>
        <p:spPr>
          <a:xfrm>
            <a:off x="668184" y="3857614"/>
            <a:ext cx="0" cy="158369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64" name="文本框 163"/>
          <p:cNvSpPr txBox="1"/>
          <p:nvPr>
            <p:custDataLst>
              <p:tags r:id="rId51"/>
            </p:custDataLst>
          </p:nvPr>
        </p:nvSpPr>
        <p:spPr>
          <a:xfrm flipH="1">
            <a:off x="238125" y="4046855"/>
            <a:ext cx="377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文本框 164"/>
          <p:cNvSpPr txBox="1"/>
          <p:nvPr>
            <p:custDataLst>
              <p:tags r:id="rId52"/>
            </p:custDataLst>
          </p:nvPr>
        </p:nvSpPr>
        <p:spPr>
          <a:xfrm flipH="1">
            <a:off x="655320" y="4809490"/>
            <a:ext cx="377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6" name="直接箭头连接符 1209"/>
          <p:cNvCxnSpPr/>
          <p:nvPr/>
        </p:nvCxnSpPr>
        <p:spPr>
          <a:xfrm flipV="1">
            <a:off x="613997" y="1196944"/>
            <a:ext cx="3175" cy="41211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68" name="文本框 167"/>
          <p:cNvSpPr txBox="1"/>
          <p:nvPr/>
        </p:nvSpPr>
        <p:spPr>
          <a:xfrm>
            <a:off x="146685" y="1680210"/>
            <a:ext cx="98615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盈利能力</a:t>
            </a:r>
            <a:endParaRPr lang="zh-CN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541020" y="2020570"/>
            <a:ext cx="127000" cy="1381125"/>
            <a:chOff x="852" y="3091"/>
            <a:chExt cx="200" cy="2564"/>
          </a:xfrm>
        </p:grpSpPr>
        <p:cxnSp>
          <p:nvCxnSpPr>
            <p:cNvPr id="170" name="直接箭头连接符 1207"/>
            <p:cNvCxnSpPr/>
            <p:nvPr/>
          </p:nvCxnSpPr>
          <p:spPr>
            <a:xfrm flipV="1">
              <a:off x="852" y="3091"/>
              <a:ext cx="0" cy="250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rgbClr val="24396B"/>
            </a:lnRef>
            <a:fillRef idx="0">
              <a:srgbClr val="24396B"/>
            </a:fillRef>
            <a:effectRef idx="0">
              <a:srgbClr val="24396B"/>
            </a:effectRef>
            <a:fontRef idx="minor">
              <a:srgbClr val="000000"/>
            </a:fontRef>
          </p:style>
        </p:cxnSp>
        <p:cxnSp>
          <p:nvCxnSpPr>
            <p:cNvPr id="172" name="直接箭头连接符 1207"/>
            <p:cNvCxnSpPr/>
            <p:nvPr/>
          </p:nvCxnSpPr>
          <p:spPr>
            <a:xfrm>
              <a:off x="1052" y="3161"/>
              <a:ext cx="0" cy="2494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rgbClr val="24396B"/>
            </a:lnRef>
            <a:fillRef idx="0">
              <a:srgbClr val="24396B"/>
            </a:fillRef>
            <a:effectRef idx="0">
              <a:srgbClr val="24396B"/>
            </a:effectRef>
            <a:fontRef idx="minor">
              <a:srgbClr val="000000"/>
            </a:fontRef>
          </p:style>
        </p:cxnSp>
      </p:grpSp>
      <p:sp>
        <p:nvSpPr>
          <p:cNvPr id="173" name="文本框 172"/>
          <p:cNvSpPr txBox="1"/>
          <p:nvPr>
            <p:custDataLst>
              <p:tags r:id="rId53"/>
            </p:custDataLst>
          </p:nvPr>
        </p:nvSpPr>
        <p:spPr>
          <a:xfrm flipH="1">
            <a:off x="228600" y="2094230"/>
            <a:ext cx="377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文本框 173"/>
          <p:cNvSpPr txBox="1"/>
          <p:nvPr>
            <p:custDataLst>
              <p:tags r:id="rId54"/>
            </p:custDataLst>
          </p:nvPr>
        </p:nvSpPr>
        <p:spPr>
          <a:xfrm flipH="1">
            <a:off x="645795" y="2856865"/>
            <a:ext cx="377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引领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直接连接符 1186"/>
          <p:cNvCxnSpPr/>
          <p:nvPr/>
        </p:nvCxnSpPr>
        <p:spPr>
          <a:xfrm flipV="1">
            <a:off x="102667" y="3558132"/>
            <a:ext cx="920115" cy="7620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grpSp>
        <p:nvGrpSpPr>
          <p:cNvPr id="96" name="组合 95"/>
          <p:cNvGrpSpPr/>
          <p:nvPr/>
        </p:nvGrpSpPr>
        <p:grpSpPr>
          <a:xfrm>
            <a:off x="1132840" y="4653280"/>
            <a:ext cx="2672080" cy="2007235"/>
            <a:chOff x="1784" y="7328"/>
            <a:chExt cx="4208" cy="3161"/>
          </a:xfrm>
        </p:grpSpPr>
        <p:sp>
          <p:nvSpPr>
            <p:cNvPr id="76" name="矩形 75"/>
            <p:cNvSpPr/>
            <p:nvPr>
              <p:custDataLst>
                <p:tags r:id="rId55"/>
              </p:custDataLst>
            </p:nvPr>
          </p:nvSpPr>
          <p:spPr>
            <a:xfrm>
              <a:off x="1784" y="8053"/>
              <a:ext cx="4208" cy="2436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2" name="矩形: 圆角 138"/>
            <p:cNvSpPr/>
            <p:nvPr>
              <p:custDataLst>
                <p:tags r:id="rId56"/>
              </p:custDataLst>
            </p:nvPr>
          </p:nvSpPr>
          <p:spPr>
            <a:xfrm>
              <a:off x="2744" y="7789"/>
              <a:ext cx="2340" cy="610"/>
            </a:xfrm>
            <a:prstGeom prst="roundRect">
              <a:avLst>
                <a:gd name="adj" fmla="val 893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数字化系统支撑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471" y="7328"/>
              <a:ext cx="924" cy="460"/>
              <a:chOff x="3471" y="7328"/>
              <a:chExt cx="924" cy="460"/>
            </a:xfrm>
          </p:grpSpPr>
          <p:sp>
            <p:nvSpPr>
              <p:cNvPr id="84" name="箭头: 下 47"/>
              <p:cNvSpPr/>
              <p:nvPr>
                <p:custDataLst>
                  <p:tags r:id="rId57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5" name="箭头: 下 47"/>
              <p:cNvSpPr/>
              <p:nvPr>
                <p:custDataLst>
                  <p:tags r:id="rId58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45" name="显眼包PPT-6"/>
            <p:cNvSpPr/>
            <p:nvPr/>
          </p:nvSpPr>
          <p:spPr>
            <a:xfrm>
              <a:off x="1957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客户手机</a:t>
              </a:r>
              <a:r>
                <a:rPr lang="en-US" alt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APP</a:t>
              </a:r>
              <a:endPara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0" name="显眼包PPT-6"/>
            <p:cNvSpPr/>
            <p:nvPr/>
          </p:nvSpPr>
          <p:spPr>
            <a:xfrm>
              <a:off x="3988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企业微信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8" name="显眼包PPT-6"/>
            <p:cNvSpPr/>
            <p:nvPr/>
          </p:nvSpPr>
          <p:spPr>
            <a:xfrm>
              <a:off x="1957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营销系统工具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3" name="显眼包PPT-6"/>
            <p:cNvSpPr/>
            <p:nvPr/>
          </p:nvSpPr>
          <p:spPr>
            <a:xfrm>
              <a:off x="3988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销售系统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显眼包PPT-6"/>
            <p:cNvSpPr/>
            <p:nvPr/>
          </p:nvSpPr>
          <p:spPr>
            <a:xfrm>
              <a:off x="1957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SCRM</a:t>
              </a:r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0" name="显眼包PPT-6"/>
            <p:cNvSpPr/>
            <p:nvPr/>
          </p:nvSpPr>
          <p:spPr>
            <a:xfrm>
              <a:off x="3988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ERP</a:t>
              </a:r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3943350" y="4642485"/>
            <a:ext cx="2464435" cy="2007235"/>
            <a:chOff x="1784" y="7328"/>
            <a:chExt cx="4208" cy="3161"/>
          </a:xfrm>
        </p:grpSpPr>
        <p:sp>
          <p:nvSpPr>
            <p:cNvPr id="181" name="矩形 180"/>
            <p:cNvSpPr/>
            <p:nvPr>
              <p:custDataLst>
                <p:tags r:id="rId59"/>
              </p:custDataLst>
            </p:nvPr>
          </p:nvSpPr>
          <p:spPr>
            <a:xfrm>
              <a:off x="1784" y="8053"/>
              <a:ext cx="4208" cy="2436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2" name="矩形: 圆角 138"/>
            <p:cNvSpPr/>
            <p:nvPr>
              <p:custDataLst>
                <p:tags r:id="rId60"/>
              </p:custDataLst>
            </p:nvPr>
          </p:nvSpPr>
          <p:spPr>
            <a:xfrm>
              <a:off x="2645" y="7789"/>
              <a:ext cx="2536" cy="610"/>
            </a:xfrm>
            <a:prstGeom prst="roundRect">
              <a:avLst>
                <a:gd name="adj" fmla="val 893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精益业务运营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83" name="组合 182"/>
            <p:cNvGrpSpPr/>
            <p:nvPr/>
          </p:nvGrpSpPr>
          <p:grpSpPr>
            <a:xfrm>
              <a:off x="3471" y="7328"/>
              <a:ext cx="924" cy="460"/>
              <a:chOff x="3471" y="7328"/>
              <a:chExt cx="924" cy="460"/>
            </a:xfrm>
          </p:grpSpPr>
          <p:sp>
            <p:nvSpPr>
              <p:cNvPr id="184" name="箭头: 下 47"/>
              <p:cNvSpPr/>
              <p:nvPr>
                <p:custDataLst>
                  <p:tags r:id="rId61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85" name="箭头: 下 47"/>
              <p:cNvSpPr/>
              <p:nvPr>
                <p:custDataLst>
                  <p:tags r:id="rId62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86" name="显眼包PPT-6"/>
            <p:cNvSpPr/>
            <p:nvPr/>
          </p:nvSpPr>
          <p:spPr>
            <a:xfrm>
              <a:off x="1957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精准策略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显眼包PPT-6"/>
            <p:cNvSpPr/>
            <p:nvPr/>
          </p:nvSpPr>
          <p:spPr>
            <a:xfrm>
              <a:off x="3988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靶向治疗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8" name="显眼包PPT-6"/>
            <p:cNvSpPr/>
            <p:nvPr/>
          </p:nvSpPr>
          <p:spPr>
            <a:xfrm>
              <a:off x="1957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营销自动化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9" name="显眼包PPT-6"/>
            <p:cNvSpPr/>
            <p:nvPr/>
          </p:nvSpPr>
          <p:spPr>
            <a:xfrm>
              <a:off x="3988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执行透明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显眼包PPT-6"/>
            <p:cNvSpPr/>
            <p:nvPr/>
          </p:nvSpPr>
          <p:spPr>
            <a:xfrm>
              <a:off x="1957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业绩有效</a:t>
              </a:r>
              <a:endParaRPr 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显眼包PPT-6"/>
            <p:cNvSpPr/>
            <p:nvPr/>
          </p:nvSpPr>
          <p:spPr>
            <a:xfrm>
              <a:off x="3988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标杆可比</a:t>
              </a:r>
              <a:endParaRPr 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6" name="组合 215"/>
          <p:cNvGrpSpPr/>
          <p:nvPr/>
        </p:nvGrpSpPr>
        <p:grpSpPr>
          <a:xfrm>
            <a:off x="6532245" y="4642485"/>
            <a:ext cx="2567305" cy="2007235"/>
            <a:chOff x="1784" y="7328"/>
            <a:chExt cx="4208" cy="3161"/>
          </a:xfrm>
        </p:grpSpPr>
        <p:sp>
          <p:nvSpPr>
            <p:cNvPr id="217" name="矩形 216"/>
            <p:cNvSpPr/>
            <p:nvPr>
              <p:custDataLst>
                <p:tags r:id="rId63"/>
              </p:custDataLst>
            </p:nvPr>
          </p:nvSpPr>
          <p:spPr>
            <a:xfrm>
              <a:off x="1784" y="8053"/>
              <a:ext cx="4208" cy="2436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8" name="矩形: 圆角 138"/>
            <p:cNvSpPr/>
            <p:nvPr>
              <p:custDataLst>
                <p:tags r:id="rId64"/>
              </p:custDataLst>
            </p:nvPr>
          </p:nvSpPr>
          <p:spPr>
            <a:xfrm>
              <a:off x="2595" y="7806"/>
              <a:ext cx="2435" cy="610"/>
            </a:xfrm>
            <a:prstGeom prst="roundRect">
              <a:avLst>
                <a:gd name="adj" fmla="val 893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客户服务管理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19" name="组合 218"/>
            <p:cNvGrpSpPr/>
            <p:nvPr/>
          </p:nvGrpSpPr>
          <p:grpSpPr>
            <a:xfrm>
              <a:off x="3471" y="7328"/>
              <a:ext cx="924" cy="460"/>
              <a:chOff x="3471" y="7328"/>
              <a:chExt cx="924" cy="460"/>
            </a:xfrm>
          </p:grpSpPr>
          <p:sp>
            <p:nvSpPr>
              <p:cNvPr id="220" name="箭头: 下 47"/>
              <p:cNvSpPr/>
              <p:nvPr>
                <p:custDataLst>
                  <p:tags r:id="rId65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1" name="箭头: 下 47"/>
              <p:cNvSpPr/>
              <p:nvPr>
                <p:custDataLst>
                  <p:tags r:id="rId66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22" name="显眼包PPT-6"/>
            <p:cNvSpPr/>
            <p:nvPr/>
          </p:nvSpPr>
          <p:spPr>
            <a:xfrm>
              <a:off x="1957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服务数字化</a:t>
              </a:r>
              <a:endParaRPr 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3" name="显眼包PPT-6"/>
            <p:cNvSpPr/>
            <p:nvPr/>
          </p:nvSpPr>
          <p:spPr>
            <a:xfrm>
              <a:off x="3988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全流程监测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4" name="显眼包PPT-6"/>
            <p:cNvSpPr/>
            <p:nvPr/>
          </p:nvSpPr>
          <p:spPr>
            <a:xfrm>
              <a:off x="1957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统一服务标准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5" name="显眼包PPT-6"/>
            <p:cNvSpPr/>
            <p:nvPr/>
          </p:nvSpPr>
          <p:spPr>
            <a:xfrm>
              <a:off x="3988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客服接管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6" name="显眼包PPT-6"/>
            <p:cNvSpPr/>
            <p:nvPr/>
          </p:nvSpPr>
          <p:spPr>
            <a:xfrm>
              <a:off x="1957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售前售后衔接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7" name="显眼包PPT-6"/>
            <p:cNvSpPr/>
            <p:nvPr/>
          </p:nvSpPr>
          <p:spPr>
            <a:xfrm>
              <a:off x="3988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客户回访调研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8" name="组合 227"/>
          <p:cNvGrpSpPr/>
          <p:nvPr/>
        </p:nvGrpSpPr>
        <p:grpSpPr>
          <a:xfrm>
            <a:off x="9237980" y="4653280"/>
            <a:ext cx="2531110" cy="2007235"/>
            <a:chOff x="1784" y="7328"/>
            <a:chExt cx="4208" cy="3161"/>
          </a:xfrm>
        </p:grpSpPr>
        <p:sp>
          <p:nvSpPr>
            <p:cNvPr id="229" name="矩形 228"/>
            <p:cNvSpPr/>
            <p:nvPr>
              <p:custDataLst>
                <p:tags r:id="rId67"/>
              </p:custDataLst>
            </p:nvPr>
          </p:nvSpPr>
          <p:spPr>
            <a:xfrm>
              <a:off x="1784" y="8053"/>
              <a:ext cx="4208" cy="2436"/>
            </a:xfrm>
            <a:prstGeom prst="rect">
              <a:avLst/>
            </a:prstGeom>
            <a:gradFill flip="none" rotWithShape="1">
              <a:gsLst>
                <a:gs pos="18000">
                  <a:schemeClr val="accent1">
                    <a:lumMod val="20000"/>
                    <a:lumOff val="80000"/>
                    <a:alpha val="4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0" name="矩形: 圆角 138"/>
            <p:cNvSpPr/>
            <p:nvPr>
              <p:custDataLst>
                <p:tags r:id="rId68"/>
              </p:custDataLst>
            </p:nvPr>
          </p:nvSpPr>
          <p:spPr>
            <a:xfrm>
              <a:off x="2645" y="7789"/>
              <a:ext cx="2536" cy="610"/>
            </a:xfrm>
            <a:prstGeom prst="roundRect">
              <a:avLst>
                <a:gd name="adj" fmla="val 8930"/>
              </a:avLst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有形管理体系</a:t>
              </a:r>
              <a:endPara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231" name="组合 230"/>
            <p:cNvGrpSpPr/>
            <p:nvPr/>
          </p:nvGrpSpPr>
          <p:grpSpPr>
            <a:xfrm>
              <a:off x="3471" y="7328"/>
              <a:ext cx="924" cy="460"/>
              <a:chOff x="3471" y="7328"/>
              <a:chExt cx="924" cy="460"/>
            </a:xfrm>
          </p:grpSpPr>
          <p:sp>
            <p:nvSpPr>
              <p:cNvPr id="232" name="箭头: 下 47"/>
              <p:cNvSpPr/>
              <p:nvPr>
                <p:custDataLst>
                  <p:tags r:id="rId69"/>
                </p:custDataLst>
              </p:nvPr>
            </p:nvSpPr>
            <p:spPr>
              <a:xfrm rot="10800000" flipH="1" flipV="1">
                <a:off x="3471" y="732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33" name="箭头: 下 47"/>
              <p:cNvSpPr/>
              <p:nvPr>
                <p:custDataLst>
                  <p:tags r:id="rId70"/>
                </p:custDataLst>
              </p:nvPr>
            </p:nvSpPr>
            <p:spPr>
              <a:xfrm rot="10800000" flipH="1" flipV="1">
                <a:off x="3471" y="7488"/>
                <a:ext cx="925" cy="301"/>
              </a:xfrm>
              <a:prstGeom prst="triangle">
                <a:avLst/>
              </a:prstGeom>
              <a:gradFill>
                <a:gsLst>
                  <a:gs pos="99000">
                    <a:schemeClr val="accent1">
                      <a:lumMod val="60000"/>
                      <a:lumOff val="40000"/>
                      <a:alpha val="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rgbClr val="24396B">
                  <a:shade val="50000"/>
                </a:srgbClr>
              </a:lnRef>
              <a:fillRef idx="1">
                <a:srgbClr val="24396B"/>
              </a:fillRef>
              <a:effectRef idx="0">
                <a:srgbClr val="24396B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34" name="显眼包PPT-6"/>
            <p:cNvSpPr/>
            <p:nvPr/>
          </p:nvSpPr>
          <p:spPr>
            <a:xfrm>
              <a:off x="1957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客户管理体系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5" name="显眼包PPT-6"/>
            <p:cNvSpPr/>
            <p:nvPr/>
          </p:nvSpPr>
          <p:spPr>
            <a:xfrm>
              <a:off x="3988" y="8568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营销管理体系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6" name="显眼包PPT-6"/>
            <p:cNvSpPr/>
            <p:nvPr/>
          </p:nvSpPr>
          <p:spPr>
            <a:xfrm>
              <a:off x="1957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执行监控体系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7" name="显眼包PPT-6"/>
            <p:cNvSpPr/>
            <p:nvPr/>
          </p:nvSpPr>
          <p:spPr>
            <a:xfrm>
              <a:off x="3988" y="9222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服务管理体系</a:t>
              </a:r>
              <a:r>
                <a:rPr lang="en-US" alt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alt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8" name="显眼包PPT-6"/>
            <p:cNvSpPr/>
            <p:nvPr/>
          </p:nvSpPr>
          <p:spPr>
            <a:xfrm>
              <a:off x="1957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培训管理体系</a:t>
              </a:r>
              <a:endParaRPr lang="zh-CN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9" name="显眼包PPT-6"/>
            <p:cNvSpPr/>
            <p:nvPr/>
          </p:nvSpPr>
          <p:spPr>
            <a:xfrm>
              <a:off x="3988" y="9876"/>
              <a:ext cx="1862" cy="482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数据决策体系</a:t>
              </a:r>
              <a:endPara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71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紫荆的职场Point28"/>
          <p:cNvSpPr/>
          <p:nvPr/>
        </p:nvSpPr>
        <p:spPr>
          <a:xfrm>
            <a:off x="201930" y="1012190"/>
            <a:ext cx="11842750" cy="812165"/>
          </a:xfrm>
          <a:prstGeom prst="triangle">
            <a:avLst>
              <a:gd name="adj" fmla="val 50311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图形 22"/>
          <p:cNvSpPr/>
          <p:nvPr/>
        </p:nvSpPr>
        <p:spPr>
          <a:xfrm>
            <a:off x="1352550" y="1912620"/>
            <a:ext cx="9893935" cy="76200"/>
          </a:xfrm>
          <a:custGeom>
            <a:avLst/>
            <a:gdLst>
              <a:gd name="connsiteX0" fmla="*/ 0 w 11766158"/>
              <a:gd name="connsiteY0" fmla="*/ 76486 h 150040"/>
              <a:gd name="connsiteX1" fmla="*/ 0 w 11766158"/>
              <a:gd name="connsiteY1" fmla="*/ 150040 h 150040"/>
              <a:gd name="connsiteX2" fmla="*/ 11766158 w 11766158"/>
              <a:gd name="connsiteY2" fmla="*/ 150040 h 150040"/>
              <a:gd name="connsiteX3" fmla="*/ 11319987 w 11766158"/>
              <a:gd name="connsiteY3" fmla="*/ 0 h 150040"/>
              <a:gd name="connsiteX4" fmla="*/ 11319987 w 11766158"/>
              <a:gd name="connsiteY4" fmla="*/ 74956 h 150040"/>
              <a:gd name="connsiteX5" fmla="*/ 0 w 11766158"/>
              <a:gd name="connsiteY5" fmla="*/ 76486 h 15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66158" h="150040">
                <a:moveTo>
                  <a:pt x="0" y="76486"/>
                </a:moveTo>
                <a:lnTo>
                  <a:pt x="0" y="150040"/>
                </a:lnTo>
                <a:lnTo>
                  <a:pt x="11766158" y="150040"/>
                </a:lnTo>
                <a:lnTo>
                  <a:pt x="11319987" y="0"/>
                </a:lnTo>
                <a:lnTo>
                  <a:pt x="11319987" y="74956"/>
                </a:lnTo>
                <a:lnTo>
                  <a:pt x="0" y="76486"/>
                </a:lnTo>
                <a:close/>
              </a:path>
            </a:pathLst>
          </a:custGeom>
          <a:ln w="63500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43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7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0322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5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运营规划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138680" y="1571625"/>
            <a:ext cx="936625" cy="309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06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10" b="1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起步阶段</a:t>
            </a:r>
            <a:endParaRPr kumimoji="0" lang="zh-CN" altLang="en-US" sz="1410" b="1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494655" y="1571625"/>
            <a:ext cx="909320" cy="309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06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10" b="1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运营阶段</a:t>
            </a:r>
            <a:endParaRPr kumimoji="0" lang="zh-CN" altLang="en-US" sz="1410" b="1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392920" y="1571625"/>
            <a:ext cx="909320" cy="309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06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10" b="1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变革阶段</a:t>
            </a:r>
            <a:endParaRPr kumimoji="0" lang="zh-CN" altLang="en-US" sz="1410" b="1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543810" y="1898015"/>
            <a:ext cx="126365" cy="12636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endParaRPr lang="zh-CN" altLang="en-US" sz="1600" b="1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889625" y="1898015"/>
            <a:ext cx="126365" cy="12636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b="1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9784080" y="1898015"/>
            <a:ext cx="126365" cy="126365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600" b="1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273810" y="2122805"/>
            <a:ext cx="2665730" cy="345440"/>
          </a:xfrm>
          <a:prstGeom prst="roundRect">
            <a:avLst>
              <a:gd name="adj" fmla="val 988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708" cap="flat">
            <a:noFill/>
            <a:prstDash val="solid"/>
            <a:miter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提高销售额：增加产品销售额</a:t>
            </a:r>
            <a:r>
              <a:rPr lang="en-US" altLang="zh-CN" sz="105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lang="zh-CN" altLang="en-US" sz="105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4100195" y="2122805"/>
            <a:ext cx="3705225" cy="345440"/>
          </a:xfrm>
          <a:prstGeom prst="roundRect">
            <a:avLst>
              <a:gd name="adj" fmla="val 9886"/>
            </a:avLst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0"/>
          </a:gradFill>
          <a:ln w="9708" cap="flat">
            <a:noFill/>
            <a:prstDash val="solid"/>
            <a:miter/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提升用户满意度：提高客户满意度评分至85%以上。</a:t>
            </a:r>
            <a:endParaRPr lang="zh-CN" altLang="en-US" sz="105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7964805" y="2122805"/>
            <a:ext cx="3764915" cy="345440"/>
          </a:xfrm>
          <a:prstGeom prst="roundRect">
            <a:avLst>
              <a:gd name="adj" fmla="val 988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708" cap="flat">
            <a:noFill/>
            <a:prstDash val="solid"/>
            <a:miter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5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扩大市场份额：增加市场份额2%。</a:t>
            </a:r>
            <a:endParaRPr lang="zh-CN" altLang="en-US" sz="105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9" name="矩形: 圆角 478"/>
          <p:cNvSpPr/>
          <p:nvPr>
            <p:custDataLst>
              <p:tags r:id="rId3"/>
            </p:custDataLst>
          </p:nvPr>
        </p:nvSpPr>
        <p:spPr>
          <a:xfrm>
            <a:off x="356235" y="2122805"/>
            <a:ext cx="803275" cy="345440"/>
          </a:xfrm>
          <a:prstGeom prst="roundRect">
            <a:avLst>
              <a:gd name="adj" fmla="val 9886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4" name="矩形: 圆角 483"/>
          <p:cNvSpPr/>
          <p:nvPr>
            <p:custDataLst>
              <p:tags r:id="rId4"/>
            </p:custDataLst>
          </p:nvPr>
        </p:nvSpPr>
        <p:spPr>
          <a:xfrm>
            <a:off x="356235" y="6020435"/>
            <a:ext cx="11374120" cy="701675"/>
          </a:xfrm>
          <a:prstGeom prst="roundRect">
            <a:avLst>
              <a:gd name="adj" fmla="val 65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0" name="矩形: 圆角 469"/>
          <p:cNvSpPr/>
          <p:nvPr/>
        </p:nvSpPr>
        <p:spPr>
          <a:xfrm>
            <a:off x="1273810" y="2542540"/>
            <a:ext cx="2665730" cy="1435735"/>
          </a:xfrm>
          <a:prstGeom prst="roundRect">
            <a:avLst>
              <a:gd name="adj" fmla="val 2718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>
                  <a:lumMod val="20000"/>
                  <a:lumOff val="80000"/>
                  <a:alpha val="3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1348740" y="2796540"/>
            <a:ext cx="2520950" cy="927735"/>
            <a:chOff x="1189619" y="2339833"/>
            <a:chExt cx="2521077" cy="927621"/>
          </a:xfrm>
        </p:grpSpPr>
        <p:sp>
          <p:nvSpPr>
            <p:cNvPr id="144" name="文本框 143"/>
            <p:cNvSpPr txBox="1"/>
            <p:nvPr/>
          </p:nvSpPr>
          <p:spPr>
            <a:xfrm>
              <a:off x="1189619" y="2339833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200" b="1">
                  <a:solidFill>
                    <a:schemeClr val="accent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市场推广策略</a:t>
              </a:r>
              <a:endParaRPr lang="zh-CN" altLang="en-US" sz="1200" b="1">
                <a:solidFill>
                  <a:schemeClr val="accent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189620" y="2573448"/>
              <a:ext cx="2486522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800" kern="0">
                  <a:solidFill>
                    <a:schemeClr val="tx2">
                      <a:alpha val="8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制定全年市场推广计划，包括线上广告、社交媒体宣传等，以吸引更多潜在客户。</a:t>
              </a:r>
              <a:endParaRPr lang="zh-CN" altLang="en-US" sz="800" kern="0">
                <a:solidFill>
                  <a:schemeClr val="tx2">
                    <a:alpha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1189620" y="2890428"/>
              <a:ext cx="2521076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800" kern="0">
                  <a:solidFill>
                    <a:schemeClr val="tx2">
                      <a:alpha val="8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与品牌合作伙伴建立战略合作关系，增强品牌知名度和影响力。 </a:t>
              </a:r>
              <a:endParaRPr lang="zh-CN" altLang="en-US" sz="800" kern="0">
                <a:solidFill>
                  <a:schemeClr val="tx2">
                    <a:alpha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71" name="矩形: 圆角 470"/>
          <p:cNvSpPr/>
          <p:nvPr/>
        </p:nvSpPr>
        <p:spPr>
          <a:xfrm>
            <a:off x="4100195" y="2542540"/>
            <a:ext cx="3705225" cy="1435735"/>
          </a:xfrm>
          <a:prstGeom prst="roundRect">
            <a:avLst>
              <a:gd name="adj" fmla="val 2718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6350">
            <a:solidFill>
              <a:schemeClr val="accent5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4155440" y="2646680"/>
            <a:ext cx="3630295" cy="1222375"/>
            <a:chOff x="4015591" y="2277400"/>
            <a:chExt cx="3630157" cy="1222488"/>
          </a:xfrm>
        </p:grpSpPr>
        <p:sp>
          <p:nvSpPr>
            <p:cNvPr id="156" name="文本框 155"/>
            <p:cNvSpPr txBox="1"/>
            <p:nvPr/>
          </p:nvSpPr>
          <p:spPr>
            <a:xfrm>
              <a:off x="4015591" y="2277400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200" b="1">
                  <a:solidFill>
                    <a:schemeClr val="accent5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社交媒体推广</a:t>
              </a:r>
              <a:endParaRPr lang="zh-CN" altLang="en-US" sz="1200" b="1">
                <a:solidFill>
                  <a:schemeClr val="accent5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4015591" y="2506782"/>
              <a:ext cx="3630157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u="none" strike="noStrike" kern="0" cap="none" spc="0" normalizeH="0" baseline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通过在主要社交媒体平台上创建和分享有趣、有价值的内容，吸引潜在用户的注意，并鼓励他们访问和使用产品。</a:t>
              </a:r>
              <a:endParaRPr kumimoji="0" lang="zh-CN" altLang="en-US" sz="80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8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4015591" y="2893480"/>
              <a:ext cx="3630157" cy="606408"/>
              <a:chOff x="4015591" y="2893480"/>
              <a:chExt cx="3630157" cy="606408"/>
            </a:xfrm>
          </p:grpSpPr>
          <p:sp>
            <p:nvSpPr>
              <p:cNvPr id="174" name="文本框 173"/>
              <p:cNvSpPr txBox="1"/>
              <p:nvPr/>
            </p:nvSpPr>
            <p:spPr>
              <a:xfrm>
                <a:off x="4015591" y="2893480"/>
                <a:ext cx="792450" cy="275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200" b="1">
                    <a:solidFill>
                      <a:schemeClr val="accent5">
                        <a:alpha val="8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口碑</a:t>
                </a:r>
                <a:r>
                  <a:rPr lang="zh-CN" altLang="en-US" sz="1200" b="1">
                    <a:solidFill>
                      <a:schemeClr val="accent5">
                        <a:alpha val="8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营销</a:t>
                </a:r>
                <a:endParaRPr lang="zh-CN" altLang="en-US" sz="1200" b="1">
                  <a:solidFill>
                    <a:schemeClr val="accent5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015591" y="3122862"/>
                <a:ext cx="3630157" cy="377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800" kern="0">
                    <a:solidFill>
                      <a:schemeClr val="tx2">
                        <a:alpha val="8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提供卓越的产品和服务，以激发用户口碑传播。满足用户需求并提供出色的用户体验，以使现有用户愿意向朋友、家人和同事推荐产品。</a:t>
                </a:r>
                <a:endParaRPr lang="zh-CN" altLang="en-US" sz="800" kern="0">
                  <a:solidFill>
                    <a:schemeClr val="tx2">
                      <a:alpha val="8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190" name="矩形: 圆角 189"/>
          <p:cNvSpPr/>
          <p:nvPr/>
        </p:nvSpPr>
        <p:spPr>
          <a:xfrm>
            <a:off x="7964805" y="2542540"/>
            <a:ext cx="3764915" cy="1435735"/>
          </a:xfrm>
          <a:prstGeom prst="roundRect">
            <a:avLst>
              <a:gd name="adj" fmla="val 2718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>
                  <a:lumMod val="20000"/>
                  <a:lumOff val="80000"/>
                  <a:alpha val="3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2" name="文本框 511"/>
          <p:cNvSpPr txBox="1"/>
          <p:nvPr/>
        </p:nvSpPr>
        <p:spPr>
          <a:xfrm>
            <a:off x="8020685" y="2646680"/>
            <a:ext cx="1416050" cy="276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200" b="1">
                <a:solidFill>
                  <a:schemeClr val="accent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产品创新和差异化</a:t>
            </a:r>
            <a:endParaRPr lang="zh-CN" altLang="en-US" sz="1200" b="1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3" name="文本框 512"/>
          <p:cNvSpPr txBox="1"/>
          <p:nvPr/>
        </p:nvSpPr>
        <p:spPr>
          <a:xfrm>
            <a:off x="8020685" y="2876550"/>
            <a:ext cx="3630295" cy="377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800" kern="0">
                <a:solidFill>
                  <a:schemeClr val="tx2">
                    <a:alpha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进行市场调研，了解用户未满足的需求，开发符合市场需求的新产品或服务，提升市场竞争力。</a:t>
            </a:r>
            <a:endParaRPr lang="zh-CN" altLang="en-US" sz="800" kern="0">
              <a:solidFill>
                <a:schemeClr val="tx2">
                  <a:alpha val="8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14" name="组合 513"/>
          <p:cNvGrpSpPr/>
          <p:nvPr/>
        </p:nvGrpSpPr>
        <p:grpSpPr>
          <a:xfrm>
            <a:off x="8020685" y="3263265"/>
            <a:ext cx="3630295" cy="606425"/>
            <a:chOff x="4015591" y="2893480"/>
            <a:chExt cx="3630157" cy="606408"/>
          </a:xfrm>
        </p:grpSpPr>
        <p:sp>
          <p:nvSpPr>
            <p:cNvPr id="515" name="文本框 514"/>
            <p:cNvSpPr txBox="1"/>
            <p:nvPr/>
          </p:nvSpPr>
          <p:spPr>
            <a:xfrm>
              <a:off x="4015591" y="2893480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1200" b="1">
                  <a:solidFill>
                    <a:schemeClr val="accent1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产品改进和更新</a:t>
              </a:r>
              <a:endParaRPr lang="zh-CN" altLang="en-US" sz="1200" b="1">
                <a:solidFill>
                  <a:schemeClr val="accent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6" name="文本框 515"/>
            <p:cNvSpPr txBox="1"/>
            <p:nvPr/>
          </p:nvSpPr>
          <p:spPr>
            <a:xfrm>
              <a:off x="4015591" y="3122862"/>
              <a:ext cx="3630157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800" kern="0">
                  <a:solidFill>
                    <a:schemeClr val="tx2">
                      <a:alpha val="8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基于用户需求和市场趋势，持续进行产品功能的更新和升级，提供更好的用户体验和附加价值。</a:t>
              </a:r>
              <a:endParaRPr lang="zh-CN" altLang="en-US" sz="800" kern="0">
                <a:solidFill>
                  <a:schemeClr val="tx2">
                    <a:alpha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" name="矩形: 圆角 21"/>
          <p:cNvSpPr/>
          <p:nvPr/>
        </p:nvSpPr>
        <p:spPr>
          <a:xfrm>
            <a:off x="7964805" y="4054475"/>
            <a:ext cx="3764915" cy="1888490"/>
          </a:xfrm>
          <a:prstGeom prst="roundRect">
            <a:avLst>
              <a:gd name="adj" fmla="val 211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>
                  <a:lumMod val="20000"/>
                  <a:lumOff val="80000"/>
                  <a:alpha val="3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8" name="任意多边形: 形状 477"/>
          <p:cNvSpPr/>
          <p:nvPr/>
        </p:nvSpPr>
        <p:spPr>
          <a:xfrm rot="5400000">
            <a:off x="9665335" y="4902835"/>
            <a:ext cx="356235" cy="1012825"/>
          </a:xfrm>
          <a:custGeom>
            <a:avLst/>
            <a:gdLst>
              <a:gd name="connsiteX0" fmla="*/ 0 w 1288078"/>
              <a:gd name="connsiteY0" fmla="*/ 0 h 2041172"/>
              <a:gd name="connsiteX1" fmla="*/ 1000010 w 1288078"/>
              <a:gd name="connsiteY1" fmla="*/ 802476 h 2041172"/>
              <a:gd name="connsiteX2" fmla="*/ 1000010 w 1288078"/>
              <a:gd name="connsiteY2" fmla="*/ 658442 h 2041172"/>
              <a:gd name="connsiteX3" fmla="*/ 1288078 w 1288078"/>
              <a:gd name="connsiteY3" fmla="*/ 1020587 h 2041172"/>
              <a:gd name="connsiteX4" fmla="*/ 1000010 w 1288078"/>
              <a:gd name="connsiteY4" fmla="*/ 1382730 h 2041172"/>
              <a:gd name="connsiteX5" fmla="*/ 1000010 w 1288078"/>
              <a:gd name="connsiteY5" fmla="*/ 1238696 h 2041172"/>
              <a:gd name="connsiteX6" fmla="*/ 0 w 1288078"/>
              <a:gd name="connsiteY6" fmla="*/ 2041172 h 2041172"/>
              <a:gd name="connsiteX7" fmla="*/ 0 w 1288078"/>
              <a:gd name="connsiteY7" fmla="*/ 1020587 h 20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078" h="2041172">
                <a:moveTo>
                  <a:pt x="0" y="0"/>
                </a:moveTo>
                <a:cubicBezTo>
                  <a:pt x="267492" y="423872"/>
                  <a:pt x="502063" y="761324"/>
                  <a:pt x="1000010" y="802476"/>
                </a:cubicBezTo>
                <a:lnTo>
                  <a:pt x="1000010" y="658442"/>
                </a:lnTo>
                <a:lnTo>
                  <a:pt x="1288078" y="1020587"/>
                </a:lnTo>
                <a:lnTo>
                  <a:pt x="1000010" y="1382730"/>
                </a:lnTo>
                <a:lnTo>
                  <a:pt x="1000010" y="1238696"/>
                </a:lnTo>
                <a:cubicBezTo>
                  <a:pt x="502063" y="1279848"/>
                  <a:pt x="267492" y="1617300"/>
                  <a:pt x="0" y="2041172"/>
                </a:cubicBezTo>
                <a:lnTo>
                  <a:pt x="0" y="10205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7198" cap="flat">
            <a:gradFill>
              <a:gsLst>
                <a:gs pos="12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prstDash val="solid"/>
            <a:miter/>
          </a:ln>
          <a:effectLst/>
        </p:spPr>
        <p:txBody>
          <a:bodyPr lIns="82296" tIns="41148" rIns="82296" bIns="4114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70" b="1" kern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0" name="矩形: 圆角 479"/>
          <p:cNvSpPr/>
          <p:nvPr>
            <p:custDataLst>
              <p:tags r:id="rId5"/>
            </p:custDataLst>
          </p:nvPr>
        </p:nvSpPr>
        <p:spPr>
          <a:xfrm>
            <a:off x="8448675" y="4318635"/>
            <a:ext cx="2797175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" name="矩形: 圆角 480"/>
          <p:cNvSpPr/>
          <p:nvPr>
            <p:custDataLst>
              <p:tags r:id="rId6"/>
            </p:custDataLst>
          </p:nvPr>
        </p:nvSpPr>
        <p:spPr>
          <a:xfrm>
            <a:off x="8637905" y="5606415"/>
            <a:ext cx="2419350" cy="25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全面实施策略以扩大市场份额。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5" name="矩形: 圆角 484"/>
          <p:cNvSpPr/>
          <p:nvPr>
            <p:custDataLst>
              <p:tags r:id="rId7"/>
            </p:custDataLst>
          </p:nvPr>
        </p:nvSpPr>
        <p:spPr>
          <a:xfrm>
            <a:off x="10758170" y="460375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差异化定位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8" name="矩形: 圆角 487"/>
          <p:cNvSpPr/>
          <p:nvPr>
            <p:custDataLst>
              <p:tags r:id="rId8"/>
            </p:custDataLst>
          </p:nvPr>
        </p:nvSpPr>
        <p:spPr>
          <a:xfrm>
            <a:off x="8132445" y="460375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产品创新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9" name="矩形: 圆角 488"/>
          <p:cNvSpPr/>
          <p:nvPr>
            <p:custDataLst>
              <p:tags r:id="rId9"/>
            </p:custDataLst>
          </p:nvPr>
        </p:nvSpPr>
        <p:spPr>
          <a:xfrm>
            <a:off x="8919845" y="501078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品牌推广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0" name="矩形: 圆角 489"/>
          <p:cNvSpPr/>
          <p:nvPr>
            <p:custDataLst>
              <p:tags r:id="rId10"/>
            </p:custDataLst>
          </p:nvPr>
        </p:nvSpPr>
        <p:spPr>
          <a:xfrm>
            <a:off x="9977755" y="501777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渠道拓展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1" name="矩形: 圆角 490"/>
          <p:cNvSpPr/>
          <p:nvPr>
            <p:custDataLst>
              <p:tags r:id="rId11"/>
            </p:custDataLst>
          </p:nvPr>
        </p:nvSpPr>
        <p:spPr>
          <a:xfrm>
            <a:off x="8919845" y="419989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市场调研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2" name="矩形: 圆角 491"/>
          <p:cNvSpPr/>
          <p:nvPr>
            <p:custDataLst>
              <p:tags r:id="rId12"/>
            </p:custDataLst>
          </p:nvPr>
        </p:nvSpPr>
        <p:spPr>
          <a:xfrm>
            <a:off x="9977755" y="419989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竞争分析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矩形: 圆角 129"/>
          <p:cNvSpPr/>
          <p:nvPr>
            <p:custDataLst>
              <p:tags r:id="rId13"/>
            </p:custDataLst>
          </p:nvPr>
        </p:nvSpPr>
        <p:spPr>
          <a:xfrm>
            <a:off x="9237345" y="4627880"/>
            <a:ext cx="1220470" cy="25336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实现市场份额扩大</a:t>
            </a:r>
            <a:endParaRPr lang="zh-CN" altLang="en-US" sz="8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273810" y="4055110"/>
            <a:ext cx="2665730" cy="1887220"/>
          </a:xfrm>
          <a:prstGeom prst="roundRect">
            <a:avLst>
              <a:gd name="adj" fmla="val 2116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>
                  <a:lumMod val="20000"/>
                  <a:lumOff val="80000"/>
                  <a:alpha val="3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7" name="任意多边形: 形状 496"/>
          <p:cNvSpPr/>
          <p:nvPr/>
        </p:nvSpPr>
        <p:spPr>
          <a:xfrm rot="5400000">
            <a:off x="2421255" y="4900295"/>
            <a:ext cx="356235" cy="998220"/>
          </a:xfrm>
          <a:custGeom>
            <a:avLst/>
            <a:gdLst>
              <a:gd name="connsiteX0" fmla="*/ 0 w 1288078"/>
              <a:gd name="connsiteY0" fmla="*/ 0 h 2041172"/>
              <a:gd name="connsiteX1" fmla="*/ 1000010 w 1288078"/>
              <a:gd name="connsiteY1" fmla="*/ 802476 h 2041172"/>
              <a:gd name="connsiteX2" fmla="*/ 1000010 w 1288078"/>
              <a:gd name="connsiteY2" fmla="*/ 658442 h 2041172"/>
              <a:gd name="connsiteX3" fmla="*/ 1288078 w 1288078"/>
              <a:gd name="connsiteY3" fmla="*/ 1020587 h 2041172"/>
              <a:gd name="connsiteX4" fmla="*/ 1000010 w 1288078"/>
              <a:gd name="connsiteY4" fmla="*/ 1382730 h 2041172"/>
              <a:gd name="connsiteX5" fmla="*/ 1000010 w 1288078"/>
              <a:gd name="connsiteY5" fmla="*/ 1238696 h 2041172"/>
              <a:gd name="connsiteX6" fmla="*/ 0 w 1288078"/>
              <a:gd name="connsiteY6" fmla="*/ 2041172 h 2041172"/>
              <a:gd name="connsiteX7" fmla="*/ 0 w 1288078"/>
              <a:gd name="connsiteY7" fmla="*/ 1020587 h 20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078" h="2041172">
                <a:moveTo>
                  <a:pt x="0" y="0"/>
                </a:moveTo>
                <a:cubicBezTo>
                  <a:pt x="267492" y="423872"/>
                  <a:pt x="502063" y="761324"/>
                  <a:pt x="1000010" y="802476"/>
                </a:cubicBezTo>
                <a:lnTo>
                  <a:pt x="1000010" y="658442"/>
                </a:lnTo>
                <a:lnTo>
                  <a:pt x="1288078" y="1020587"/>
                </a:lnTo>
                <a:lnTo>
                  <a:pt x="1000010" y="1382730"/>
                </a:lnTo>
                <a:lnTo>
                  <a:pt x="1000010" y="1238696"/>
                </a:lnTo>
                <a:cubicBezTo>
                  <a:pt x="502063" y="1279848"/>
                  <a:pt x="267492" y="1617300"/>
                  <a:pt x="0" y="2041172"/>
                </a:cubicBezTo>
                <a:lnTo>
                  <a:pt x="0" y="102058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 w="7198" cap="flat">
            <a:gradFill>
              <a:gsLst>
                <a:gs pos="12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prstDash val="solid"/>
            <a:miter/>
          </a:ln>
          <a:effectLst/>
        </p:spPr>
        <p:txBody>
          <a:bodyPr lIns="82296" tIns="41148" rIns="82296" bIns="41148" rtlCol="0" anchor="ctr"/>
          <a:lstStyle/>
          <a:p>
            <a:pPr algn="ctr"/>
            <a:endParaRPr lang="zh-CN" altLang="en-US" sz="1170" b="1" kern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8" name="矩形: 圆角 497"/>
          <p:cNvSpPr/>
          <p:nvPr>
            <p:custDataLst>
              <p:tags r:id="rId14"/>
            </p:custDataLst>
          </p:nvPr>
        </p:nvSpPr>
        <p:spPr>
          <a:xfrm>
            <a:off x="1710690" y="5596890"/>
            <a:ext cx="1791970" cy="25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全面提升品牌曝光和用户体验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0" name="矩形: 圆角 499"/>
          <p:cNvSpPr/>
          <p:nvPr>
            <p:custDataLst>
              <p:tags r:id="rId15"/>
            </p:custDataLst>
          </p:nvPr>
        </p:nvSpPr>
        <p:spPr>
          <a:xfrm>
            <a:off x="1474470" y="4314825"/>
            <a:ext cx="2265045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3" name="矩形: 圆角 502"/>
          <p:cNvSpPr/>
          <p:nvPr>
            <p:custDataLst>
              <p:tags r:id="rId16"/>
            </p:custDataLst>
          </p:nvPr>
        </p:nvSpPr>
        <p:spPr>
          <a:xfrm>
            <a:off x="1645285" y="5001260"/>
            <a:ext cx="88138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4" name="矩形: 圆角 503"/>
          <p:cNvSpPr/>
          <p:nvPr>
            <p:custDataLst>
              <p:tags r:id="rId17"/>
            </p:custDataLst>
          </p:nvPr>
        </p:nvSpPr>
        <p:spPr>
          <a:xfrm>
            <a:off x="2687320" y="5008245"/>
            <a:ext cx="88138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合作伙伴关系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5" name="矩形: 圆角 504"/>
          <p:cNvSpPr/>
          <p:nvPr>
            <p:custDataLst>
              <p:tags r:id="rId18"/>
            </p:custDataLst>
          </p:nvPr>
        </p:nvSpPr>
        <p:spPr>
          <a:xfrm>
            <a:off x="1645285" y="4190365"/>
            <a:ext cx="88138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社交媒体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6" name="矩形: 圆角 505"/>
          <p:cNvSpPr/>
          <p:nvPr>
            <p:custDataLst>
              <p:tags r:id="rId19"/>
            </p:custDataLst>
          </p:nvPr>
        </p:nvSpPr>
        <p:spPr>
          <a:xfrm>
            <a:off x="2687320" y="4190365"/>
            <a:ext cx="88138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内容营销</a:t>
            </a:r>
            <a:endParaRPr lang="zh-CN" altLang="en-US" sz="90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矩形: 圆角 131"/>
          <p:cNvSpPr/>
          <p:nvPr>
            <p:custDataLst>
              <p:tags r:id="rId20"/>
            </p:custDataLst>
          </p:nvPr>
        </p:nvSpPr>
        <p:spPr>
          <a:xfrm>
            <a:off x="2005965" y="4599305"/>
            <a:ext cx="1201420" cy="25336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创新市场推广策略</a:t>
            </a:r>
            <a:endParaRPr lang="zh-CN" altLang="en-US" sz="8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4100195" y="4054475"/>
            <a:ext cx="3705225" cy="1888490"/>
          </a:xfrm>
          <a:prstGeom prst="roundRect">
            <a:avLst>
              <a:gd name="adj" fmla="val 2116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6350">
            <a:solidFill>
              <a:schemeClr val="accent5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3" name="矩形: 圆角 462"/>
          <p:cNvSpPr/>
          <p:nvPr>
            <p:custDataLst>
              <p:tags r:id="rId21"/>
            </p:custDataLst>
          </p:nvPr>
        </p:nvSpPr>
        <p:spPr>
          <a:xfrm>
            <a:off x="4550410" y="4309110"/>
            <a:ext cx="2797175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0" name="任意多边形: 形状 459"/>
          <p:cNvSpPr/>
          <p:nvPr/>
        </p:nvSpPr>
        <p:spPr>
          <a:xfrm rot="5400000">
            <a:off x="5767070" y="4893310"/>
            <a:ext cx="356235" cy="1012825"/>
          </a:xfrm>
          <a:custGeom>
            <a:avLst/>
            <a:gdLst>
              <a:gd name="connsiteX0" fmla="*/ 0 w 1288078"/>
              <a:gd name="connsiteY0" fmla="*/ 0 h 2041172"/>
              <a:gd name="connsiteX1" fmla="*/ 1000010 w 1288078"/>
              <a:gd name="connsiteY1" fmla="*/ 802476 h 2041172"/>
              <a:gd name="connsiteX2" fmla="*/ 1000010 w 1288078"/>
              <a:gd name="connsiteY2" fmla="*/ 658442 h 2041172"/>
              <a:gd name="connsiteX3" fmla="*/ 1288078 w 1288078"/>
              <a:gd name="connsiteY3" fmla="*/ 1020587 h 2041172"/>
              <a:gd name="connsiteX4" fmla="*/ 1000010 w 1288078"/>
              <a:gd name="connsiteY4" fmla="*/ 1382730 h 2041172"/>
              <a:gd name="connsiteX5" fmla="*/ 1000010 w 1288078"/>
              <a:gd name="connsiteY5" fmla="*/ 1238696 h 2041172"/>
              <a:gd name="connsiteX6" fmla="*/ 0 w 1288078"/>
              <a:gd name="connsiteY6" fmla="*/ 2041172 h 2041172"/>
              <a:gd name="connsiteX7" fmla="*/ 0 w 1288078"/>
              <a:gd name="connsiteY7" fmla="*/ 1020587 h 20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078" h="2041172">
                <a:moveTo>
                  <a:pt x="0" y="0"/>
                </a:moveTo>
                <a:cubicBezTo>
                  <a:pt x="267492" y="423872"/>
                  <a:pt x="502063" y="761324"/>
                  <a:pt x="1000010" y="802476"/>
                </a:cubicBezTo>
                <a:lnTo>
                  <a:pt x="1000010" y="658442"/>
                </a:lnTo>
                <a:lnTo>
                  <a:pt x="1288078" y="1020587"/>
                </a:lnTo>
                <a:lnTo>
                  <a:pt x="1000010" y="1382730"/>
                </a:lnTo>
                <a:lnTo>
                  <a:pt x="1000010" y="1238696"/>
                </a:lnTo>
                <a:cubicBezTo>
                  <a:pt x="502063" y="1279848"/>
                  <a:pt x="267492" y="1617300"/>
                  <a:pt x="0" y="2041172"/>
                </a:cubicBezTo>
                <a:lnTo>
                  <a:pt x="0" y="1020587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7198" cap="flat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8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lIns="82296" tIns="41148" rIns="82296" bIns="4114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70" b="1" kern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5" name="矩形: 圆角 464"/>
          <p:cNvSpPr/>
          <p:nvPr>
            <p:custDataLst>
              <p:tags r:id="rId22"/>
            </p:custDataLst>
          </p:nvPr>
        </p:nvSpPr>
        <p:spPr>
          <a:xfrm>
            <a:off x="6866890" y="474980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持续优化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7" name="矩形: 圆角 466"/>
          <p:cNvSpPr/>
          <p:nvPr>
            <p:custDataLst>
              <p:tags r:id="rId23"/>
            </p:custDataLst>
          </p:nvPr>
        </p:nvSpPr>
        <p:spPr>
          <a:xfrm>
            <a:off x="4234180" y="474980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品牌建设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8" name="矩形: 圆角 467"/>
          <p:cNvSpPr/>
          <p:nvPr>
            <p:custDataLst>
              <p:tags r:id="rId24"/>
            </p:custDataLst>
          </p:nvPr>
        </p:nvSpPr>
        <p:spPr>
          <a:xfrm>
            <a:off x="6859905" y="443801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客户关系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9" name="矩形: 圆角 468"/>
          <p:cNvSpPr/>
          <p:nvPr>
            <p:custDataLst>
              <p:tags r:id="rId25"/>
            </p:custDataLst>
          </p:nvPr>
        </p:nvSpPr>
        <p:spPr>
          <a:xfrm>
            <a:off x="4234180" y="443801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用户反馈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3" name="矩形: 圆角 472"/>
          <p:cNvSpPr/>
          <p:nvPr>
            <p:custDataLst>
              <p:tags r:id="rId26"/>
            </p:custDataLst>
          </p:nvPr>
        </p:nvSpPr>
        <p:spPr>
          <a:xfrm>
            <a:off x="5021580" y="5001260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内容营销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4" name="矩形: 圆角 473"/>
          <p:cNvSpPr/>
          <p:nvPr>
            <p:custDataLst>
              <p:tags r:id="rId27"/>
            </p:custDataLst>
          </p:nvPr>
        </p:nvSpPr>
        <p:spPr>
          <a:xfrm>
            <a:off x="6079490" y="500824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社交媒体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5" name="矩形: 圆角 474"/>
          <p:cNvSpPr/>
          <p:nvPr>
            <p:custDataLst>
              <p:tags r:id="rId28"/>
            </p:custDataLst>
          </p:nvPr>
        </p:nvSpPr>
        <p:spPr>
          <a:xfrm>
            <a:off x="5021580" y="419036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矩形: 圆角 475"/>
          <p:cNvSpPr/>
          <p:nvPr>
            <p:custDataLst>
              <p:tags r:id="rId29"/>
            </p:custDataLst>
          </p:nvPr>
        </p:nvSpPr>
        <p:spPr>
          <a:xfrm>
            <a:off x="6079490" y="4190365"/>
            <a:ext cx="803910" cy="254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90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</a:t>
            </a:r>
            <a:endParaRPr lang="zh-CN" altLang="en-US" sz="90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3" name="矩形: 圆角 522"/>
          <p:cNvSpPr/>
          <p:nvPr>
            <p:custDataLst>
              <p:tags r:id="rId30"/>
            </p:custDataLst>
          </p:nvPr>
        </p:nvSpPr>
        <p:spPr>
          <a:xfrm>
            <a:off x="4824730" y="5596890"/>
            <a:ext cx="2255520" cy="25400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9708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持续优化运营策略，不断提升运营效果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: 圆角 460"/>
          <p:cNvSpPr/>
          <p:nvPr>
            <p:custDataLst>
              <p:tags r:id="rId31"/>
            </p:custDataLst>
          </p:nvPr>
        </p:nvSpPr>
        <p:spPr>
          <a:xfrm>
            <a:off x="5335270" y="4618355"/>
            <a:ext cx="1228090" cy="253365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  <a:alpha val="30000"/>
            </a:schemeClr>
          </a:solidFill>
          <a:ln w="9708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持续提升运营效果</a:t>
            </a:r>
            <a:endParaRPr lang="zh-CN" altLang="en-US" sz="8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box 2040"/>
          <p:cNvSpPr txBox="1"/>
          <p:nvPr/>
        </p:nvSpPr>
        <p:spPr>
          <a:xfrm>
            <a:off x="4102735" y="1224280"/>
            <a:ext cx="4142740" cy="39878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chemeClr val="accent1"/>
                </a:solidFill>
                <a:effectLst>
                  <a:reflection blurRad="101600" stA="33000" endPos="22000" dist="38100" dir="5400000" sy="-100000" algn="bl" rotWithShape="0"/>
                </a:effectLst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公司年度运营规划</a:t>
            </a:r>
            <a:endParaRPr lang="zh-CN" altLang="en-US" sz="2000" b="1" noProof="0" dirty="0">
              <a:ln>
                <a:noFill/>
              </a:ln>
              <a:solidFill>
                <a:schemeClr val="accent1"/>
              </a:solidFill>
              <a:effectLst>
                <a:reflection blurRad="101600" stA="33000" endPos="22000" dist="38100" dir="5400000" sy="-100000" algn="bl" rotWithShape="0"/>
              </a:effectLst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: 圆角 478"/>
          <p:cNvSpPr/>
          <p:nvPr>
            <p:custDataLst>
              <p:tags r:id="rId32"/>
            </p:custDataLst>
          </p:nvPr>
        </p:nvSpPr>
        <p:spPr>
          <a:xfrm>
            <a:off x="355600" y="2530475"/>
            <a:ext cx="803275" cy="1447800"/>
          </a:xfrm>
          <a:prstGeom prst="roundRect">
            <a:avLst>
              <a:gd name="adj" fmla="val 6086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: 圆角 478"/>
          <p:cNvSpPr/>
          <p:nvPr>
            <p:custDataLst>
              <p:tags r:id="rId33"/>
            </p:custDataLst>
          </p:nvPr>
        </p:nvSpPr>
        <p:spPr>
          <a:xfrm>
            <a:off x="356235" y="4055110"/>
            <a:ext cx="803275" cy="1886585"/>
          </a:xfrm>
          <a:prstGeom prst="roundRect">
            <a:avLst>
              <a:gd name="adj" fmla="val 6086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310640" y="6114415"/>
            <a:ext cx="2558415" cy="524510"/>
            <a:chOff x="2064" y="9629"/>
            <a:chExt cx="4029" cy="826"/>
          </a:xfrm>
        </p:grpSpPr>
        <p:sp>
          <p:nvSpPr>
            <p:cNvPr id="4307" name="显眼包PPT14"/>
            <p:cNvSpPr/>
            <p:nvPr/>
          </p:nvSpPr>
          <p:spPr>
            <a:xfrm>
              <a:off x="2065" y="9629"/>
              <a:ext cx="4028" cy="827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endParaRPr lang="en-US" altLang="zh-CN" sz="1400">
                <a:solidFill>
                  <a:schemeClr val="tx1"/>
                </a:solidFill>
                <a:effectLst/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64" y="9739"/>
              <a:ext cx="4029" cy="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0322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u="none" strike="noStrike" kern="0" cap="none" spc="0" normalizeH="0" baseline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设立定期的</a:t>
              </a:r>
              <a:r>
                <a:rPr kumimoji="0" lang="zh-CN" altLang="en-US" sz="800" b="1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8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绩效评估</a:t>
              </a:r>
              <a:r>
                <a:rPr kumimoji="0" lang="zh-CN" altLang="en-US" sz="80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8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</a:t>
              </a:r>
              <a:r>
                <a:rPr kumimoji="0" lang="zh-CN" altLang="en-US" sz="800" b="1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alpha val="8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反馈机制</a:t>
              </a:r>
              <a:r>
                <a:rPr kumimoji="0" lang="zh-CN" altLang="en-US" sz="800" u="none" strike="noStrike" kern="0" cap="none" spc="0" normalizeH="0" baseline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，以跟踪目标的实现情况，并对团队成员的表现给予及时反馈和激励。</a:t>
              </a:r>
              <a:endParaRPr kumimoji="0" lang="zh-CN" altLang="en-US" sz="80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8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102100" y="6114415"/>
            <a:ext cx="3683635" cy="533400"/>
            <a:chOff x="2064" y="9684"/>
            <a:chExt cx="4029" cy="840"/>
          </a:xfrm>
        </p:grpSpPr>
        <p:sp>
          <p:nvSpPr>
            <p:cNvPr id="19" name="显眼包PPT14"/>
            <p:cNvSpPr/>
            <p:nvPr/>
          </p:nvSpPr>
          <p:spPr>
            <a:xfrm>
              <a:off x="2065" y="9691"/>
              <a:ext cx="4028" cy="827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endParaRPr lang="en-US" altLang="zh-CN" sz="1400">
                <a:solidFill>
                  <a:schemeClr val="tx1"/>
                </a:solidFill>
                <a:effectLst/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064" y="9684"/>
              <a:ext cx="4029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0322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b="1" kern="0" noProof="0">
                  <a:ln>
                    <a:noFill/>
                  </a:ln>
                  <a:solidFill>
                    <a:schemeClr val="accent1">
                      <a:alpha val="8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定期举行团队会议</a:t>
              </a:r>
              <a:r>
                <a:rPr lang="zh-CN" altLang="en-US" sz="800" kern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是一个重要的管理实践，通过这种方式可以促进团队学习和交流，分享最佳实践和经验教训。会议不仅可以提高团队员工的专业能力，还可以加强团队凝聚力和协作精神。</a:t>
              </a:r>
              <a:endParaRPr kumimoji="0" lang="zh-CN" altLang="en-US" sz="80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8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964805" y="6108065"/>
            <a:ext cx="3597275" cy="533400"/>
            <a:chOff x="2064" y="9619"/>
            <a:chExt cx="4029" cy="840"/>
          </a:xfrm>
        </p:grpSpPr>
        <p:sp>
          <p:nvSpPr>
            <p:cNvPr id="25" name="显眼包PPT14"/>
            <p:cNvSpPr/>
            <p:nvPr/>
          </p:nvSpPr>
          <p:spPr>
            <a:xfrm>
              <a:off x="2065" y="9629"/>
              <a:ext cx="4028" cy="827"/>
            </a:xfrm>
            <a:prstGeom prst="rect">
              <a:avLst/>
            </a:prstGeom>
            <a:solidFill>
              <a:schemeClr val="bg1">
                <a:alpha val="77000"/>
              </a:schemeClr>
            </a:solidFill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endParaRPr lang="en-US" altLang="zh-CN" sz="1400">
                <a:solidFill>
                  <a:schemeClr val="tx1"/>
                </a:solidFill>
                <a:effectLst/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064" y="9619"/>
              <a:ext cx="4029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03225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kern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在现代商业环境下，</a:t>
              </a:r>
              <a:r>
                <a:rPr lang="zh-CN" altLang="en-US" sz="800" b="1" kern="0" noProof="0">
                  <a:ln>
                    <a:noFill/>
                  </a:ln>
                  <a:solidFill>
                    <a:schemeClr val="accent1">
                      <a:alpha val="8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持续改进</a:t>
              </a:r>
              <a:r>
                <a:rPr lang="zh-CN" altLang="en-US" sz="800" kern="0" noProof="0">
                  <a:ln>
                    <a:noFill/>
                  </a:ln>
                  <a:solidFill>
                    <a:schemeClr val="tx2">
                      <a:alpha val="85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已经成为企业取得成功的关键因素之一。它强调团队成员的积极性和创造性，并鼓励他们不断提出改进建议，以推动企业的发展和进步。</a:t>
              </a:r>
              <a:endParaRPr kumimoji="0" lang="zh-CN" altLang="en-US" sz="800" u="none" strike="noStrike" kern="0" cap="none" spc="0" normalizeH="0" baseline="0" noProof="0">
                <a:ln>
                  <a:noFill/>
                </a:ln>
                <a:solidFill>
                  <a:schemeClr val="tx2">
                    <a:alpha val="8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533718" y="6109018"/>
            <a:ext cx="541020" cy="524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06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10" b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</a:t>
            </a:r>
            <a:endParaRPr kumimoji="0" lang="zh-CN" altLang="en-US" sz="1410" b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8064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10" b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  <a:endParaRPr kumimoji="0" lang="zh-CN" altLang="en-US" sz="1410" b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8" name="图片 27"/>
            <p:cNvPicPr>
              <a:picLocks noChangeAspect="1"/>
            </p:cNvPicPr>
            <p:nvPr userDrawn="1"/>
          </p:nvPicPr>
          <p:blipFill>
            <a:blip r:embed="rId34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/>
          <p:cNvGrpSpPr/>
          <p:nvPr/>
        </p:nvGrpSpPr>
        <p:grpSpPr>
          <a:xfrm rot="0">
            <a:off x="7969250" y="2388235"/>
            <a:ext cx="3591016" cy="4191000"/>
            <a:chOff x="1369" y="3776"/>
            <a:chExt cx="5147" cy="6600"/>
          </a:xfrm>
        </p:grpSpPr>
        <p:sp>
          <p:nvSpPr>
            <p:cNvPr id="98" name="显眼包PPT1"/>
            <p:cNvSpPr/>
            <p:nvPr/>
          </p:nvSpPr>
          <p:spPr>
            <a:xfrm>
              <a:off x="1369" y="3776"/>
              <a:ext cx="5147" cy="6600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20000"/>
                    <a:lumOff val="80000"/>
                    <a:alpha val="47000"/>
                  </a:schemeClr>
                </a:gs>
                <a:gs pos="100000">
                  <a:schemeClr val="accent5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99" name="显眼包PPT13"/>
            <p:cNvSpPr/>
            <p:nvPr/>
          </p:nvSpPr>
          <p:spPr>
            <a:xfrm>
              <a:off x="1369" y="3776"/>
              <a:ext cx="5147" cy="858"/>
            </a:xfrm>
            <a:prstGeom prst="rect">
              <a:avLst/>
            </a:prstGeom>
            <a:gradFill flip="none" rotWithShape="1">
              <a:gsLst>
                <a:gs pos="18000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j-ea"/>
              </a:endParaRPr>
            </a:p>
          </p:txBody>
        </p:sp>
      </p:grp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数字化营销及运营体系建设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50" name="Google Shape;450;p24"/>
          <p:cNvSpPr/>
          <p:nvPr/>
        </p:nvSpPr>
        <p:spPr>
          <a:xfrm>
            <a:off x="713105" y="1125855"/>
            <a:ext cx="10847705" cy="1201420"/>
          </a:xfrm>
          <a:custGeom>
            <a:avLst/>
            <a:gdLst/>
            <a:ahLst/>
            <a:cxnLst/>
            <a:rect l="l" t="t" r="r" b="b"/>
            <a:pathLst>
              <a:path w="21588" h="21575" extrusionOk="0">
                <a:moveTo>
                  <a:pt x="109" y="19963"/>
                </a:moveTo>
                <a:cubicBezTo>
                  <a:pt x="41" y="20039"/>
                  <a:pt x="-6" y="20418"/>
                  <a:pt x="0" y="20836"/>
                </a:cubicBezTo>
                <a:cubicBezTo>
                  <a:pt x="7" y="21266"/>
                  <a:pt x="68" y="21590"/>
                  <a:pt x="139" y="21574"/>
                </a:cubicBezTo>
                <a:lnTo>
                  <a:pt x="21476" y="21515"/>
                </a:lnTo>
                <a:cubicBezTo>
                  <a:pt x="21535" y="21473"/>
                  <a:pt x="21581" y="21191"/>
                  <a:pt x="21587" y="20835"/>
                </a:cubicBezTo>
                <a:cubicBezTo>
                  <a:pt x="21594" y="20443"/>
                  <a:pt x="21552" y="20082"/>
                  <a:pt x="21489" y="19993"/>
                </a:cubicBezTo>
                <a:lnTo>
                  <a:pt x="10898" y="125"/>
                </a:lnTo>
                <a:cubicBezTo>
                  <a:pt x="10866" y="51"/>
                  <a:pt x="10833" y="10"/>
                  <a:pt x="10798" y="2"/>
                </a:cubicBezTo>
                <a:cubicBezTo>
                  <a:pt x="10748" y="-10"/>
                  <a:pt x="10699" y="50"/>
                  <a:pt x="10653" y="176"/>
                </a:cubicBezTo>
                <a:lnTo>
                  <a:pt x="109" y="19963"/>
                </a:lnTo>
                <a:close/>
              </a:path>
            </a:pathLst>
          </a:cu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4339273" y="1607185"/>
            <a:ext cx="3595370" cy="45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algn="ctr">
              <a:buClr>
                <a:sysClr val="windowText" lastClr="000000"/>
              </a:buClr>
              <a:buSzPts val="1100"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数字化营销及运营体系建设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49" name="Google Shape;698;p30"/>
          <p:cNvCxnSpPr>
            <a:endCxn id="500" idx="1"/>
          </p:cNvCxnSpPr>
          <p:nvPr/>
        </p:nvCxnSpPr>
        <p:spPr>
          <a:xfrm rot="10800000" flipH="1">
            <a:off x="1710706" y="5698618"/>
            <a:ext cx="5050375" cy="1015"/>
          </a:xfrm>
          <a:prstGeom prst="straightConnector1">
            <a:avLst/>
          </a:prstGeom>
          <a:noFill/>
          <a:ln w="12700" cap="flat" cmpd="sng">
            <a:solidFill>
              <a:schemeClr val="tx2">
                <a:lumMod val="60000"/>
                <a:lumOff val="40000"/>
              </a:schemeClr>
            </a:solidFill>
            <a:prstDash val="dash"/>
            <a:miter lim="400000"/>
            <a:headEnd type="none" w="sm" len="sm"/>
            <a:tailEnd type="triangle" w="med" len="med"/>
          </a:ln>
        </p:spPr>
      </p:cxnSp>
      <p:sp>
        <p:nvSpPr>
          <p:cNvPr id="475" name="Google Shape;700;p30"/>
          <p:cNvSpPr/>
          <p:nvPr/>
        </p:nvSpPr>
        <p:spPr>
          <a:xfrm>
            <a:off x="727063" y="4551771"/>
            <a:ext cx="2024355" cy="902014"/>
          </a:xfrm>
          <a:custGeom>
            <a:avLst/>
            <a:gdLst/>
            <a:ahLst/>
            <a:cxnLst/>
            <a:rect l="l" t="t" r="r" b="b"/>
            <a:pathLst>
              <a:path w="21591" h="21600" extrusionOk="0">
                <a:moveTo>
                  <a:pt x="1105" y="0"/>
                </a:moveTo>
                <a:cubicBezTo>
                  <a:pt x="781" y="0"/>
                  <a:pt x="586" y="1"/>
                  <a:pt x="456" y="115"/>
                </a:cubicBezTo>
                <a:cubicBezTo>
                  <a:pt x="269" y="257"/>
                  <a:pt x="121" y="563"/>
                  <a:pt x="53" y="955"/>
                </a:cubicBezTo>
                <a:cubicBezTo>
                  <a:pt x="-1" y="1227"/>
                  <a:pt x="0" y="1635"/>
                  <a:pt x="0" y="2314"/>
                </a:cubicBezTo>
                <a:lnTo>
                  <a:pt x="0" y="19286"/>
                </a:lnTo>
                <a:cubicBezTo>
                  <a:pt x="0" y="19965"/>
                  <a:pt x="-1" y="20373"/>
                  <a:pt x="53" y="20645"/>
                </a:cubicBezTo>
                <a:cubicBezTo>
                  <a:pt x="121" y="21037"/>
                  <a:pt x="269" y="21343"/>
                  <a:pt x="456" y="21485"/>
                </a:cubicBezTo>
                <a:cubicBezTo>
                  <a:pt x="586" y="21599"/>
                  <a:pt x="781" y="21600"/>
                  <a:pt x="1105" y="21600"/>
                </a:cubicBezTo>
                <a:lnTo>
                  <a:pt x="16542" y="21600"/>
                </a:lnTo>
                <a:lnTo>
                  <a:pt x="21414" y="11400"/>
                </a:lnTo>
                <a:cubicBezTo>
                  <a:pt x="21498" y="11223"/>
                  <a:pt x="21548" y="11120"/>
                  <a:pt x="21568" y="11020"/>
                </a:cubicBezTo>
                <a:cubicBezTo>
                  <a:pt x="21599" y="10881"/>
                  <a:pt x="21599" y="10719"/>
                  <a:pt x="21568" y="10580"/>
                </a:cubicBezTo>
                <a:cubicBezTo>
                  <a:pt x="21548" y="10480"/>
                  <a:pt x="21498" y="10377"/>
                  <a:pt x="21414" y="10200"/>
                </a:cubicBezTo>
                <a:lnTo>
                  <a:pt x="16542" y="0"/>
                </a:lnTo>
                <a:lnTo>
                  <a:pt x="1105" y="0"/>
                </a:lnTo>
                <a:close/>
              </a:path>
            </a:pathLst>
          </a:cu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  <a:buNone/>
            </a:pPr>
            <a:endParaRPr sz="1100" b="0" i="0" u="none" strike="noStrike" cap="none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6" name="Google Shape;701;p30"/>
          <p:cNvSpPr/>
          <p:nvPr/>
        </p:nvSpPr>
        <p:spPr>
          <a:xfrm>
            <a:off x="2342352" y="4551771"/>
            <a:ext cx="3993498" cy="902014"/>
          </a:xfrm>
          <a:custGeom>
            <a:avLst/>
            <a:gdLst/>
            <a:ahLst/>
            <a:cxnLst/>
            <a:rect l="l" t="t" r="r" b="b"/>
            <a:pathLst>
              <a:path w="21596" h="21600" extrusionOk="0">
                <a:moveTo>
                  <a:pt x="0" y="0"/>
                </a:moveTo>
                <a:lnTo>
                  <a:pt x="2229" y="9203"/>
                </a:lnTo>
                <a:cubicBezTo>
                  <a:pt x="2346" y="9685"/>
                  <a:pt x="2415" y="9975"/>
                  <a:pt x="2443" y="10249"/>
                </a:cubicBezTo>
                <a:cubicBezTo>
                  <a:pt x="2486" y="10628"/>
                  <a:pt x="2486" y="11066"/>
                  <a:pt x="2443" y="11445"/>
                </a:cubicBezTo>
                <a:cubicBezTo>
                  <a:pt x="2415" y="11718"/>
                  <a:pt x="2346" y="12005"/>
                  <a:pt x="2229" y="12488"/>
                </a:cubicBezTo>
                <a:lnTo>
                  <a:pt x="23" y="21600"/>
                </a:lnTo>
                <a:lnTo>
                  <a:pt x="19025" y="21600"/>
                </a:lnTo>
                <a:lnTo>
                  <a:pt x="21506" y="11354"/>
                </a:lnTo>
                <a:cubicBezTo>
                  <a:pt x="21549" y="11178"/>
                  <a:pt x="21574" y="11075"/>
                  <a:pt x="21584" y="10975"/>
                </a:cubicBezTo>
                <a:cubicBezTo>
                  <a:pt x="21600" y="10836"/>
                  <a:pt x="21600" y="10674"/>
                  <a:pt x="21584" y="10535"/>
                </a:cubicBezTo>
                <a:cubicBezTo>
                  <a:pt x="21574" y="10435"/>
                  <a:pt x="21549" y="10331"/>
                  <a:pt x="21506" y="10155"/>
                </a:cubicBezTo>
                <a:lnTo>
                  <a:pt x="19047" y="0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7" name="Google Shape;702;p30"/>
          <p:cNvSpPr/>
          <p:nvPr/>
        </p:nvSpPr>
        <p:spPr>
          <a:xfrm>
            <a:off x="5928811" y="4551771"/>
            <a:ext cx="1952409" cy="902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4537" y="9158"/>
                </a:lnTo>
                <a:cubicBezTo>
                  <a:pt x="4776" y="9640"/>
                  <a:pt x="4919" y="9930"/>
                  <a:pt x="4975" y="10203"/>
                </a:cubicBezTo>
                <a:cubicBezTo>
                  <a:pt x="5062" y="10583"/>
                  <a:pt x="5062" y="11020"/>
                  <a:pt x="4975" y="11400"/>
                </a:cubicBezTo>
                <a:cubicBezTo>
                  <a:pt x="4919" y="11673"/>
                  <a:pt x="4776" y="11960"/>
                  <a:pt x="4537" y="12442"/>
                </a:cubicBezTo>
                <a:lnTo>
                  <a:pt x="1" y="21600"/>
                </a:lnTo>
                <a:lnTo>
                  <a:pt x="20453" y="21600"/>
                </a:lnTo>
                <a:cubicBezTo>
                  <a:pt x="20790" y="21600"/>
                  <a:pt x="20992" y="21599"/>
                  <a:pt x="21127" y="21485"/>
                </a:cubicBezTo>
                <a:cubicBezTo>
                  <a:pt x="21321" y="21343"/>
                  <a:pt x="21473" y="21037"/>
                  <a:pt x="21543" y="20645"/>
                </a:cubicBezTo>
                <a:cubicBezTo>
                  <a:pt x="21599" y="20373"/>
                  <a:pt x="21600" y="19965"/>
                  <a:pt x="21600" y="19286"/>
                </a:cubicBezTo>
                <a:lnTo>
                  <a:pt x="21600" y="2314"/>
                </a:lnTo>
                <a:cubicBezTo>
                  <a:pt x="21600" y="1635"/>
                  <a:pt x="21599" y="1227"/>
                  <a:pt x="21543" y="955"/>
                </a:cubicBezTo>
                <a:cubicBezTo>
                  <a:pt x="21473" y="563"/>
                  <a:pt x="21321" y="257"/>
                  <a:pt x="21127" y="115"/>
                </a:cubicBezTo>
                <a:cubicBezTo>
                  <a:pt x="20992" y="1"/>
                  <a:pt x="20790" y="0"/>
                  <a:pt x="20453" y="0"/>
                </a:cubicBez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</a:pPr>
            <a:endParaRPr sz="1100">
              <a:solidFill>
                <a:srgbClr val="5254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2" name="Google Shape;709;p30"/>
          <p:cNvSpPr/>
          <p:nvPr/>
        </p:nvSpPr>
        <p:spPr>
          <a:xfrm>
            <a:off x="859155" y="5564505"/>
            <a:ext cx="1087755" cy="269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3" name="Google Shape;710;p30"/>
          <p:cNvSpPr/>
          <p:nvPr/>
        </p:nvSpPr>
        <p:spPr>
          <a:xfrm>
            <a:off x="953770" y="5609590"/>
            <a:ext cx="898525" cy="17907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12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</a:t>
            </a:r>
            <a:endParaRPr lang="zh-CN" altLang="en-US" sz="12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01" name="Google Shape;712;p30"/>
          <p:cNvSpPr/>
          <p:nvPr/>
        </p:nvSpPr>
        <p:spPr>
          <a:xfrm>
            <a:off x="6832106" y="5634066"/>
            <a:ext cx="1049006" cy="130118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800" b="0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变现</a:t>
            </a:r>
            <a:endParaRPr lang="zh-CN" altLang="en-US" sz="800" b="0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851535" y="4680585"/>
            <a:ext cx="750570" cy="642620"/>
            <a:chOff x="1743" y="7371"/>
            <a:chExt cx="1182" cy="1012"/>
          </a:xfrm>
        </p:grpSpPr>
        <p:sp>
          <p:nvSpPr>
            <p:cNvPr id="478" name="Google Shape;703;p30"/>
            <p:cNvSpPr/>
            <p:nvPr/>
          </p:nvSpPr>
          <p:spPr>
            <a:xfrm>
              <a:off x="1793" y="7371"/>
              <a:ext cx="1084" cy="1013"/>
            </a:xfrm>
            <a:prstGeom prst="roundRect">
              <a:avLst>
                <a:gd name="adj" fmla="val 3814"/>
              </a:avLst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8100">
              <a:noFill/>
            </a:ln>
            <a:effectLst>
              <a:outerShdw blurRad="50800" dist="38100" dir="2700000" algn="tl" rotWithShape="0">
                <a:schemeClr val="tx2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91" name="Google Shape;723;p30"/>
            <p:cNvSpPr txBox="1"/>
            <p:nvPr/>
          </p:nvSpPr>
          <p:spPr>
            <a:xfrm>
              <a:off x="1743" y="7509"/>
              <a:ext cx="1183" cy="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ysClr val="window" lastClr="FFFFFF"/>
                </a:buClr>
                <a:buSzPts val="800"/>
                <a:buFont typeface="微软雅黑" panose="020B0503020204020204" charset="-122"/>
                <a:buNone/>
              </a:pPr>
              <a:r>
                <a:rPr lang="zh-CN" sz="1400" b="1" i="0" u="none" strike="noStrike" cap="none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营销</a:t>
              </a:r>
              <a:endPara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ysClr val="window" lastClr="FFFFFF"/>
                </a:buClr>
                <a:buSzPts val="800"/>
                <a:buFont typeface="微软雅黑" panose="020B0503020204020204" charset="-122"/>
                <a:buNone/>
              </a:pPr>
              <a:r>
                <a:rPr lang="zh-CN" sz="1400" b="1" i="0" u="none" strike="noStrike" cap="none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对象</a:t>
              </a:r>
              <a:endParaRPr lang="zh-CN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3" name="Google Shape;703;p30"/>
          <p:cNvSpPr/>
          <p:nvPr/>
        </p:nvSpPr>
        <p:spPr>
          <a:xfrm>
            <a:off x="7027017" y="4686935"/>
            <a:ext cx="687600" cy="644400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Google Shape;723;p30"/>
          <p:cNvSpPr txBox="1"/>
          <p:nvPr/>
        </p:nvSpPr>
        <p:spPr>
          <a:xfrm>
            <a:off x="6995106" y="4774820"/>
            <a:ext cx="751421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忠诚</a:t>
            </a:r>
            <a:endParaRPr lang="zh-CN" sz="14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客户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Google Shape;709;p30"/>
          <p:cNvSpPr/>
          <p:nvPr/>
        </p:nvSpPr>
        <p:spPr>
          <a:xfrm>
            <a:off x="3867150" y="5564505"/>
            <a:ext cx="1087755" cy="269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Google Shape;710;p30"/>
          <p:cNvSpPr/>
          <p:nvPr/>
        </p:nvSpPr>
        <p:spPr>
          <a:xfrm>
            <a:off x="3992880" y="5609590"/>
            <a:ext cx="898525" cy="17907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12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引流</a:t>
            </a:r>
            <a:endParaRPr lang="zh-CN" altLang="en-US" sz="12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Google Shape;709;p30"/>
          <p:cNvSpPr/>
          <p:nvPr/>
        </p:nvSpPr>
        <p:spPr>
          <a:xfrm>
            <a:off x="6797675" y="5564505"/>
            <a:ext cx="1087755" cy="2692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accent5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Google Shape;710;p30"/>
          <p:cNvSpPr/>
          <p:nvPr/>
        </p:nvSpPr>
        <p:spPr>
          <a:xfrm>
            <a:off x="6892290" y="5609590"/>
            <a:ext cx="898525" cy="179070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12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变现</a:t>
            </a:r>
            <a:endParaRPr lang="zh-CN" altLang="en-US" sz="12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Google Shape;703;p30"/>
          <p:cNvSpPr/>
          <p:nvPr/>
        </p:nvSpPr>
        <p:spPr>
          <a:xfrm>
            <a:off x="3117850" y="4681220"/>
            <a:ext cx="688340" cy="643255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8" name="Google Shape;723;p30"/>
          <p:cNvSpPr txBox="1"/>
          <p:nvPr/>
        </p:nvSpPr>
        <p:spPr>
          <a:xfrm>
            <a:off x="3086100" y="4768850"/>
            <a:ext cx="751205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Google Shape;703;p30"/>
          <p:cNvSpPr/>
          <p:nvPr/>
        </p:nvSpPr>
        <p:spPr>
          <a:xfrm>
            <a:off x="3978910" y="4681220"/>
            <a:ext cx="688340" cy="643255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Google Shape;723;p30"/>
          <p:cNvSpPr txBox="1"/>
          <p:nvPr/>
        </p:nvSpPr>
        <p:spPr>
          <a:xfrm>
            <a:off x="3947160" y="4768850"/>
            <a:ext cx="751205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营销</a:t>
            </a:r>
            <a:endParaRPr lang="zh-CN" sz="14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Google Shape;703;p30"/>
          <p:cNvSpPr/>
          <p:nvPr/>
        </p:nvSpPr>
        <p:spPr>
          <a:xfrm>
            <a:off x="4839970" y="4681220"/>
            <a:ext cx="688340" cy="643255"/>
          </a:xfrm>
          <a:prstGeom prst="roundRect">
            <a:avLst>
              <a:gd name="adj" fmla="val 3814"/>
            </a:avLst>
          </a:prstGeom>
          <a:gradFill flip="none" rotWithShape="1">
            <a:gsLst>
              <a:gs pos="2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4" name="Google Shape;723;p30"/>
          <p:cNvSpPr txBox="1"/>
          <p:nvPr/>
        </p:nvSpPr>
        <p:spPr>
          <a:xfrm>
            <a:off x="4808220" y="4768850"/>
            <a:ext cx="751205" cy="468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营销</a:t>
            </a:r>
            <a:endParaRPr lang="zh-CN" sz="1400" b="1" i="0" u="none" strike="noStrike" cap="none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800"/>
              <a:buFont typeface="微软雅黑" panose="020B0503020204020204" charset="-122"/>
              <a:buNone/>
            </a:pPr>
            <a:r>
              <a:rPr lang="zh-CN" sz="1400" b="1" i="0" u="none" strike="noStrike" cap="none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机制</a:t>
            </a:r>
            <a:endParaRPr lang="zh-CN"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2" name="任意多边形: 形状 331"/>
          <p:cNvSpPr/>
          <p:nvPr>
            <p:custDataLst>
              <p:tags r:id="rId3"/>
            </p:custDataLst>
          </p:nvPr>
        </p:nvSpPr>
        <p:spPr>
          <a:xfrm>
            <a:off x="734060" y="5980430"/>
            <a:ext cx="7137400" cy="594995"/>
          </a:xfrm>
          <a:custGeom>
            <a:avLst/>
            <a:gdLst>
              <a:gd name="connsiteX0" fmla="*/ 0 w 2581486"/>
              <a:gd name="connsiteY0" fmla="*/ 0 h 374210"/>
              <a:gd name="connsiteX1" fmla="*/ 2581486 w 2581486"/>
              <a:gd name="connsiteY1" fmla="*/ 0 h 374210"/>
              <a:gd name="connsiteX2" fmla="*/ 2581486 w 2581486"/>
              <a:gd name="connsiteY2" fmla="*/ 374210 h 374210"/>
              <a:gd name="connsiteX3" fmla="*/ 0 w 2581486"/>
              <a:gd name="connsiteY3" fmla="*/ 374210 h 374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1486" h="374210">
                <a:moveTo>
                  <a:pt x="0" y="0"/>
                </a:moveTo>
                <a:lnTo>
                  <a:pt x="2581486" y="0"/>
                </a:lnTo>
                <a:lnTo>
                  <a:pt x="2581486" y="374210"/>
                </a:lnTo>
                <a:lnTo>
                  <a:pt x="0" y="374210"/>
                </a:lnTo>
                <a:close/>
              </a:path>
            </a:pathLst>
          </a:custGeom>
          <a:gradFill>
            <a:gsLst>
              <a:gs pos="18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1"/>
          </a:gradFill>
          <a:ln>
            <a:noFill/>
          </a:ln>
          <a:effectLst>
            <a:innerShdw blurRad="2540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2518410" y="5980430"/>
            <a:ext cx="0" cy="5994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4302760" y="5980430"/>
            <a:ext cx="0" cy="62166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6087110" y="5980430"/>
            <a:ext cx="0" cy="59372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3" name="文本框 442"/>
          <p:cNvSpPr txBox="1"/>
          <p:nvPr>
            <p:custDataLst>
              <p:tags r:id="rId4"/>
            </p:custDataLst>
          </p:nvPr>
        </p:nvSpPr>
        <p:spPr>
          <a:xfrm>
            <a:off x="1125538" y="6080125"/>
            <a:ext cx="889000" cy="36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23322"/>
                </a:solidFill>
              </a14:hiddenFill>
            </a:ext>
          </a:extLst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数字基建</a:t>
            </a:r>
            <a:endParaRPr lang="zh-CN" altLang="en-US" sz="1400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做好数字化支撑</a:t>
            </a:r>
            <a:endParaRPr lang="zh-CN" altLang="en-US" sz="1000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5"/>
            </p:custDataLst>
          </p:nvPr>
        </p:nvSpPr>
        <p:spPr>
          <a:xfrm>
            <a:off x="2727008" y="6080125"/>
            <a:ext cx="1397000" cy="36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23322"/>
                </a:solidFill>
              </a14:hiddenFill>
            </a:ext>
          </a:extLst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敏捷开发体系</a:t>
            </a:r>
            <a:endParaRPr lang="zh-CN" altLang="en-US" sz="1400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建立用户共创的产品体系</a:t>
            </a:r>
            <a:endParaRPr lang="zh-CN" altLang="en-US" sz="1000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6"/>
            </p:custDataLst>
          </p:nvPr>
        </p:nvSpPr>
        <p:spPr>
          <a:xfrm>
            <a:off x="4582478" y="6080125"/>
            <a:ext cx="1397000" cy="36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23322"/>
                </a:solidFill>
              </a14:hiddenFill>
            </a:ext>
          </a:extLst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闭环运营能力</a:t>
            </a:r>
            <a:endParaRPr lang="zh-CN" altLang="en-US" sz="1400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打造团队精细化运营能力</a:t>
            </a:r>
            <a:endParaRPr lang="zh-CN" altLang="en-US" sz="1000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7"/>
            </p:custDataLst>
          </p:nvPr>
        </p:nvSpPr>
        <p:spPr>
          <a:xfrm>
            <a:off x="6272848" y="6080125"/>
            <a:ext cx="1524000" cy="36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23322"/>
                </a:solidFill>
              </a14:hiddenFill>
            </a:ext>
          </a:extLst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全场景思维</a:t>
            </a:r>
            <a:endParaRPr lang="zh-CN" altLang="en-US" sz="1400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全场景流量捕获与精准营销</a:t>
            </a:r>
            <a:endParaRPr lang="zh-CN" altLang="en-US" sz="1000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324985" y="2397760"/>
            <a:ext cx="3505835" cy="2082800"/>
            <a:chOff x="1368" y="3776"/>
            <a:chExt cx="5521" cy="3280"/>
          </a:xfrm>
        </p:grpSpPr>
        <p:grpSp>
          <p:nvGrpSpPr>
            <p:cNvPr id="4" name="组合 3"/>
            <p:cNvGrpSpPr/>
            <p:nvPr/>
          </p:nvGrpSpPr>
          <p:grpSpPr>
            <a:xfrm>
              <a:off x="1369" y="3776"/>
              <a:ext cx="5520" cy="3280"/>
              <a:chOff x="1369" y="3776"/>
              <a:chExt cx="5024" cy="3280"/>
            </a:xfrm>
          </p:grpSpPr>
          <p:sp>
            <p:nvSpPr>
              <p:cNvPr id="33" name="显眼包PPT1"/>
              <p:cNvSpPr/>
              <p:nvPr/>
            </p:nvSpPr>
            <p:spPr>
              <a:xfrm>
                <a:off x="1369" y="3776"/>
                <a:ext cx="5024" cy="3281"/>
              </a:xfrm>
              <a:prstGeom prst="rect">
                <a:avLst/>
              </a:prstGeom>
              <a:gradFill flip="none" rotWithShape="1">
                <a:gsLst>
                  <a:gs pos="18000">
                    <a:schemeClr val="accent1">
                      <a:lumMod val="20000"/>
                      <a:lumOff val="80000"/>
                      <a:alpha val="47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202" name="显眼包PPT13"/>
              <p:cNvSpPr/>
              <p:nvPr/>
            </p:nvSpPr>
            <p:spPr>
              <a:xfrm>
                <a:off x="1369" y="3776"/>
                <a:ext cx="5024" cy="858"/>
              </a:xfrm>
              <a:prstGeom prst="rect">
                <a:avLst/>
              </a:prstGeom>
              <a:gradFill flip="none" rotWithShape="1">
                <a:gsLst>
                  <a:gs pos="18000">
                    <a:schemeClr val="accent1">
                      <a:lumMod val="60000"/>
                      <a:lumOff val="40000"/>
                      <a:alpha val="10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charset="-122"/>
                  <a:sym typeface="+mj-ea"/>
                </a:endParaRPr>
              </a:p>
            </p:txBody>
          </p:sp>
        </p:grpSp>
        <p:sp>
          <p:nvSpPr>
            <p:cNvPr id="29" name="Google Shape;454;p24"/>
            <p:cNvSpPr txBox="1"/>
            <p:nvPr/>
          </p:nvSpPr>
          <p:spPr>
            <a:xfrm>
              <a:off x="2322" y="3872"/>
              <a:ext cx="3620" cy="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algn="ctr">
                <a:buClr>
                  <a:sysClr val="window" lastClr="FFFFFF"/>
                </a:buClr>
                <a:buSzPts val="1000"/>
              </a:pPr>
              <a:r>
                <a:rPr lang="zh-CN" altLang="en-US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打造爆款</a:t>
              </a:r>
              <a:endParaRPr lang="zh-CN" altLang="en-US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0" name="Google Shape;455;p24"/>
            <p:cNvSpPr txBox="1"/>
            <p:nvPr/>
          </p:nvSpPr>
          <p:spPr>
            <a:xfrm>
              <a:off x="2179" y="4208"/>
              <a:ext cx="4039" cy="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algn="ctr">
                <a:buClr>
                  <a:sysClr val="window" lastClr="FFFFFF"/>
                </a:buClr>
                <a:buSzPts val="700"/>
              </a:pPr>
              <a:r>
                <a:rPr lang="zh-CN" altLang="en-US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需求导向的产品创新机制</a:t>
              </a:r>
              <a:endParaRPr lang="zh-CN" altLang="en-US" sz="10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62" name="显眼包PPT-38"/>
            <p:cNvSpPr/>
            <p:nvPr/>
          </p:nvSpPr>
          <p:spPr>
            <a:xfrm>
              <a:off x="1368" y="4889"/>
              <a:ext cx="5521" cy="2167"/>
            </a:xfrm>
            <a:prstGeom prst="roundRect">
              <a:avLst>
                <a:gd name="adj" fmla="val 4165"/>
              </a:avLst>
            </a:prstGeom>
            <a:noFill/>
            <a:ln w="6350"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31" name="Google Shape;456;p24"/>
            <p:cNvSpPr txBox="1"/>
            <p:nvPr/>
          </p:nvSpPr>
          <p:spPr>
            <a:xfrm>
              <a:off x="1631" y="4889"/>
              <a:ext cx="4921" cy="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indent="-171450" algn="l">
                <a:buClr>
                  <a:srgbClr val="44546A"/>
                </a:buClr>
                <a:buSzPts val="800"/>
                <a:buFont typeface="Wingdings" panose="05000000000000000000" charset="0"/>
                <a:buChar char="l"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为目标市场设计产品、服务、与体验，并使其组合的特征可实现核心价值主张。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39" name="Google Shape;456;p24"/>
            <p:cNvSpPr txBox="1"/>
            <p:nvPr/>
          </p:nvSpPr>
          <p:spPr>
            <a:xfrm>
              <a:off x="1631" y="5698"/>
              <a:ext cx="4921" cy="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lvl="0" indent="-171450" algn="l">
                <a:buClr>
                  <a:srgbClr val="44546A"/>
                </a:buClr>
                <a:buSzPts val="800"/>
                <a:buFont typeface="Wingdings" panose="05000000000000000000" charset="0"/>
                <a:buChar char="l"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设计竞争卖点：产品性能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服务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产品体验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3" name="显眼包PPT-30"/>
            <p:cNvSpPr/>
            <p:nvPr/>
          </p:nvSpPr>
          <p:spPr>
            <a:xfrm>
              <a:off x="1680" y="6214"/>
              <a:ext cx="1461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产品特征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sp>
          <p:nvSpPr>
            <p:cNvPr id="42" name="显眼包PPT-30"/>
            <p:cNvSpPr/>
            <p:nvPr/>
          </p:nvSpPr>
          <p:spPr>
            <a:xfrm>
              <a:off x="3289" y="6214"/>
              <a:ext cx="1756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服务特征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sp>
          <p:nvSpPr>
            <p:cNvPr id="45" name="显眼包PPT-30"/>
            <p:cNvSpPr/>
            <p:nvPr/>
          </p:nvSpPr>
          <p:spPr>
            <a:xfrm>
              <a:off x="5193" y="6214"/>
              <a:ext cx="1461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体验特征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</p:grpSp>
      <p:sp>
        <p:nvSpPr>
          <p:cNvPr id="100" name="Google Shape;454;p24"/>
          <p:cNvSpPr txBox="1"/>
          <p:nvPr/>
        </p:nvSpPr>
        <p:spPr>
          <a:xfrm>
            <a:off x="8574405" y="2449195"/>
            <a:ext cx="2298700" cy="26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algn="ctr">
              <a:buClr>
                <a:sysClr val="window" lastClr="FFFFFF"/>
              </a:buClr>
              <a:buSzPts val="1000"/>
            </a:pPr>
            <a:r>
              <a:rPr lang="zh-CN" altLang="en-US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全域织网</a:t>
            </a:r>
            <a:endParaRPr lang="zh-CN" altLang="en-US" sz="1400" b="1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1" name="Google Shape;455;p24"/>
          <p:cNvSpPr txBox="1"/>
          <p:nvPr/>
        </p:nvSpPr>
        <p:spPr>
          <a:xfrm>
            <a:off x="8483600" y="2662555"/>
            <a:ext cx="2564765" cy="20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algn="ctr">
              <a:buClr>
                <a:sysClr val="window" lastClr="FFFFFF"/>
              </a:buClr>
              <a:buSzPts val="700"/>
            </a:pPr>
            <a:r>
              <a:rPr lang="zh-CN" altLang="en-US" sz="10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布局营销触点渠道与场景</a:t>
            </a:r>
            <a:endParaRPr lang="zh-CN" altLang="en-US" sz="10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2" name="显眼包PPT-38"/>
          <p:cNvSpPr/>
          <p:nvPr/>
        </p:nvSpPr>
        <p:spPr>
          <a:xfrm>
            <a:off x="7954010" y="2932430"/>
            <a:ext cx="3606800" cy="3641725"/>
          </a:xfrm>
          <a:prstGeom prst="roundRect">
            <a:avLst>
              <a:gd name="adj" fmla="val 4165"/>
            </a:avLst>
          </a:prstGeom>
          <a:noFill/>
          <a:ln w="6350">
            <a:gradFill flip="none" rotWithShape="1">
              <a:gsLst>
                <a:gs pos="0">
                  <a:schemeClr val="accent5">
                    <a:lumMod val="40000"/>
                    <a:lumOff val="60000"/>
                    <a:alpha val="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微软雅黑" panose="020B0503020204020204" charset="-122"/>
              </a:rPr>
              <a:t>..</a:t>
            </a:r>
            <a:endParaRPr lang="en-US" altLang="zh-CN">
              <a:cs typeface="微软雅黑" panose="020B0503020204020204" charset="-122"/>
            </a:endParaRPr>
          </a:p>
        </p:txBody>
      </p:sp>
      <p:sp>
        <p:nvSpPr>
          <p:cNvPr id="103" name="Google Shape;456;p24"/>
          <p:cNvSpPr txBox="1"/>
          <p:nvPr/>
        </p:nvSpPr>
        <p:spPr>
          <a:xfrm>
            <a:off x="8135620" y="3094990"/>
            <a:ext cx="3124835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171450" indent="-171450" algn="l">
              <a:buClr>
                <a:srgbClr val="44546A"/>
              </a:buClr>
              <a:buSzPts val="800"/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渠道矩阵的立体布局，线上：构建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"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官网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电商平台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私域小程序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"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黄金三角，线下：构建智能门店数字化改造。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4" name="Google Shape;456;p24"/>
          <p:cNvSpPr txBox="1"/>
          <p:nvPr/>
        </p:nvSpPr>
        <p:spPr>
          <a:xfrm>
            <a:off x="8135620" y="3715385"/>
            <a:ext cx="3253740" cy="23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marL="171450" lvl="0" indent="-171450" algn="l">
              <a:buClr>
                <a:srgbClr val="44546A"/>
              </a:buClr>
              <a:buSzPts val="800"/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以全域触达理念，构建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OMO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融合的渠道网络：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3" name="显眼包PPT9"/>
          <p:cNvSpPr txBox="1"/>
          <p:nvPr/>
        </p:nvSpPr>
        <p:spPr>
          <a:xfrm>
            <a:off x="4506913" y="2051685"/>
            <a:ext cx="3260090" cy="18415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spc="3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j-ea"/>
              </a:rPr>
              <a:t>破圈纳新 </a:t>
            </a:r>
            <a:r>
              <a:rPr lang="en-US" altLang="zh-CN" sz="1200" spc="3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j-ea"/>
              </a:rPr>
              <a:t>| </a:t>
            </a:r>
            <a:r>
              <a:rPr lang="zh-CN" altLang="en-US" sz="1200" spc="3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j-ea"/>
              </a:rPr>
              <a:t>打造爆款 </a:t>
            </a:r>
            <a:r>
              <a:rPr lang="en-US" altLang="zh-CN" sz="1200" spc="3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j-ea"/>
              </a:rPr>
              <a:t>| </a:t>
            </a:r>
            <a:r>
              <a:rPr lang="zh-CN" altLang="en-US" sz="1200" spc="3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j-ea"/>
              </a:rPr>
              <a:t>全域织网</a:t>
            </a:r>
            <a:endParaRPr lang="zh-CN" altLang="en-US" sz="1200" spc="300" dirty="0">
              <a:solidFill>
                <a:schemeClr val="bg1"/>
              </a:solidFill>
              <a:latin typeface="+mn-ea"/>
              <a:cs typeface="微软雅黑" panose="020B0503020204020204" charset="-122"/>
              <a:sym typeface="+mj-ea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8052435" y="4349842"/>
            <a:ext cx="3436236" cy="1898558"/>
            <a:chOff x="12582" y="6985"/>
            <a:chExt cx="5411" cy="2990"/>
          </a:xfrm>
        </p:grpSpPr>
        <p:sp>
          <p:nvSpPr>
            <p:cNvPr id="124" name="显眼包PPT3"/>
            <p:cNvSpPr/>
            <p:nvPr/>
          </p:nvSpPr>
          <p:spPr>
            <a:xfrm>
              <a:off x="12582" y="7709"/>
              <a:ext cx="1751" cy="226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19" name="Google Shape;456;p24"/>
            <p:cNvSpPr txBox="1"/>
            <p:nvPr/>
          </p:nvSpPr>
          <p:spPr>
            <a:xfrm>
              <a:off x="12690" y="8740"/>
              <a:ext cx="1536" cy="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官网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电商平台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小红书种草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社群私域运营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5" name="显眼包PPT3"/>
            <p:cNvSpPr/>
            <p:nvPr/>
          </p:nvSpPr>
          <p:spPr>
            <a:xfrm>
              <a:off x="14412" y="7709"/>
              <a:ext cx="1751" cy="226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26" name="显眼包PPT3"/>
            <p:cNvSpPr/>
            <p:nvPr/>
          </p:nvSpPr>
          <p:spPr>
            <a:xfrm>
              <a:off x="16233" y="7709"/>
              <a:ext cx="1751" cy="226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grpSp>
          <p:nvGrpSpPr>
            <p:cNvPr id="127" name="组合 126"/>
            <p:cNvGrpSpPr/>
            <p:nvPr/>
          </p:nvGrpSpPr>
          <p:grpSpPr>
            <a:xfrm>
              <a:off x="12582" y="6985"/>
              <a:ext cx="5411" cy="1363"/>
              <a:chOff x="7930632" y="4771734"/>
              <a:chExt cx="3232423" cy="1082483"/>
            </a:xfrm>
          </p:grpSpPr>
          <p:sp>
            <p:nvSpPr>
              <p:cNvPr id="128" name="Google Shape;153;p19"/>
              <p:cNvSpPr/>
              <p:nvPr/>
            </p:nvSpPr>
            <p:spPr>
              <a:xfrm>
                <a:off x="7940066" y="4771734"/>
                <a:ext cx="3222989" cy="533616"/>
              </a:xfrm>
              <a:custGeom>
                <a:avLst/>
                <a:gdLst/>
                <a:ahLst/>
                <a:cxnLst/>
                <a:rect l="l" t="t" r="r" b="b"/>
                <a:pathLst>
                  <a:path w="21586" h="21593" extrusionOk="0">
                    <a:moveTo>
                      <a:pt x="94" y="20250"/>
                    </a:moveTo>
                    <a:lnTo>
                      <a:pt x="10624" y="189"/>
                    </a:lnTo>
                    <a:cubicBezTo>
                      <a:pt x="10680" y="73"/>
                      <a:pt x="10740" y="9"/>
                      <a:pt x="10801" y="1"/>
                    </a:cubicBezTo>
                    <a:cubicBezTo>
                      <a:pt x="10864" y="-7"/>
                      <a:pt x="10927" y="44"/>
                      <a:pt x="10985" y="151"/>
                    </a:cubicBezTo>
                    <a:lnTo>
                      <a:pt x="21477" y="20160"/>
                    </a:lnTo>
                    <a:cubicBezTo>
                      <a:pt x="21547" y="20260"/>
                      <a:pt x="21593" y="20590"/>
                      <a:pt x="21585" y="20943"/>
                    </a:cubicBezTo>
                    <a:cubicBezTo>
                      <a:pt x="21577" y="21295"/>
                      <a:pt x="21517" y="21570"/>
                      <a:pt x="21444" y="21593"/>
                    </a:cubicBezTo>
                    <a:lnTo>
                      <a:pt x="125" y="21592"/>
                    </a:lnTo>
                    <a:cubicBezTo>
                      <a:pt x="59" y="21549"/>
                      <a:pt x="8" y="21298"/>
                      <a:pt x="1" y="20983"/>
                    </a:cubicBezTo>
                    <a:cubicBezTo>
                      <a:pt x="-7" y="20664"/>
                      <a:pt x="31" y="20362"/>
                      <a:pt x="94" y="20250"/>
                    </a:cubicBezTo>
                    <a:close/>
                  </a:path>
                </a:pathLst>
              </a:custGeom>
              <a:gradFill>
                <a:gsLst>
                  <a:gs pos="18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7150" tIns="17150" rIns="17150" bIns="1715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25455"/>
                  </a:buClr>
                  <a:buSzPts val="1100"/>
                  <a:buFont typeface="微软雅黑" panose="020B0503020204020204" charset="-122"/>
                  <a:buNone/>
                </a:pPr>
                <a:endParaRPr sz="1100" b="0" i="0" u="none" strike="noStrike" cap="none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29" name="Google Shape;164;p19"/>
              <p:cNvSpPr txBox="1"/>
              <p:nvPr/>
            </p:nvSpPr>
            <p:spPr>
              <a:xfrm>
                <a:off x="8864272" y="5018780"/>
                <a:ext cx="1333857" cy="239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Text" lastClr="000000"/>
                  </a:buClr>
                  <a:buSzPts val="900"/>
                  <a:buFont typeface="微软雅黑" panose="020B0503020204020204" charset="-122"/>
                  <a:buNone/>
                </a:pPr>
                <a:r>
                  <a:rPr lang="en-US" altLang="zh-CN" sz="1000" b="1" i="0" u="none" strike="noStrike" cap="none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OMO</a:t>
                </a:r>
                <a:r>
                  <a:rPr lang="zh-CN" altLang="en-US" sz="1000" b="1" i="0" u="none" strike="noStrike" cap="none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融合的渠道网络</a:t>
                </a:r>
                <a:r>
                  <a:rPr lang="en-US" altLang="zh-CN" sz="1000" b="1" i="0" u="none" strike="noStrike" cap="none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​</a:t>
                </a:r>
                <a:endParaRPr lang="en-US" altLang="zh-CN" sz="1000" b="1" i="0" u="none" strike="noStrike" cap="none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0" name="Google Shape;155;p19"/>
              <p:cNvSpPr/>
              <p:nvPr/>
            </p:nvSpPr>
            <p:spPr>
              <a:xfrm>
                <a:off x="7930632" y="5347773"/>
                <a:ext cx="1046235" cy="506444"/>
              </a:xfrm>
              <a:prstGeom prst="roundRect">
                <a:avLst>
                  <a:gd name="adj" fmla="val 6258"/>
                </a:avLst>
              </a:prstGeom>
              <a:solidFill>
                <a:schemeClr val="accent5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25455"/>
                  </a:buClr>
                  <a:buSzPts val="1100"/>
                  <a:buFont typeface="微软雅黑" panose="020B0503020204020204" charset="-122"/>
                  <a:buNone/>
                </a:pPr>
                <a:endParaRPr sz="1100" b="0" i="0" u="none" strike="noStrike" cap="none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1" name="Google Shape;158;p19"/>
              <p:cNvSpPr/>
              <p:nvPr/>
            </p:nvSpPr>
            <p:spPr>
              <a:xfrm>
                <a:off x="9023725" y="5347773"/>
                <a:ext cx="1046235" cy="506444"/>
              </a:xfrm>
              <a:prstGeom prst="roundRect">
                <a:avLst>
                  <a:gd name="adj" fmla="val 6032"/>
                </a:avLst>
              </a:prstGeom>
              <a:solidFill>
                <a:schemeClr val="accent5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525455"/>
                  </a:buClr>
                  <a:buSzPts val="1100"/>
                  <a:buFont typeface="微软雅黑" panose="020B0503020204020204" charset="-122"/>
                </a:pPr>
                <a:endParaRPr sz="11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2" name="Google Shape;161;p19"/>
              <p:cNvSpPr/>
              <p:nvPr/>
            </p:nvSpPr>
            <p:spPr>
              <a:xfrm>
                <a:off x="10116818" y="5347773"/>
                <a:ext cx="1046235" cy="506444"/>
              </a:xfrm>
              <a:prstGeom prst="roundRect">
                <a:avLst>
                  <a:gd name="adj" fmla="val 6258"/>
                </a:avLst>
              </a:prstGeom>
              <a:solidFill>
                <a:schemeClr val="accent5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525455"/>
                  </a:buClr>
                  <a:buSzPts val="1100"/>
                  <a:buFont typeface="微软雅黑" panose="020B0503020204020204" charset="-122"/>
                </a:pPr>
                <a:endParaRPr sz="11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3" name="Google Shape;163;p19"/>
              <p:cNvSpPr txBox="1"/>
              <p:nvPr/>
            </p:nvSpPr>
            <p:spPr>
              <a:xfrm>
                <a:off x="7995145" y="5489834"/>
                <a:ext cx="981427" cy="239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" lastClr="FFFFFF"/>
                  </a:buClr>
                  <a:buSzPts val="600"/>
                  <a:buFont typeface="微软雅黑" panose="020B0503020204020204" charset="-122"/>
                  <a:buNone/>
                </a:pPr>
                <a:r>
                  <a:rPr lang="zh-CN" altLang="en-US" sz="1000" b="0" i="0" u="none" strike="noStrike" cap="none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渠道矩阵布局</a:t>
                </a:r>
                <a:endParaRPr lang="zh-CN" altLang="en-US" sz="1000" b="0" i="0" u="none" strike="noStrike" cap="none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4" name="Google Shape;165;p19"/>
              <p:cNvSpPr txBox="1"/>
              <p:nvPr/>
            </p:nvSpPr>
            <p:spPr>
              <a:xfrm>
                <a:off x="9152189" y="5489834"/>
                <a:ext cx="811783" cy="239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" lastClr="FFFFFF"/>
                  </a:buClr>
                  <a:buSzPts val="600"/>
                  <a:buFont typeface="微软雅黑" panose="020B0503020204020204" charset="-122"/>
                  <a:buNone/>
                </a:pPr>
                <a:r>
                  <a:rPr lang="zh-CN" altLang="en-US" sz="1000" b="0" i="0" u="none" strike="noStrike" cap="none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数字化门店</a:t>
                </a:r>
                <a:endParaRPr lang="zh-CN" altLang="en-US" sz="1000" b="0" i="0" u="none" strike="noStrike" cap="none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  <p:sp>
            <p:nvSpPr>
              <p:cNvPr id="135" name="Google Shape;166;p19"/>
              <p:cNvSpPr txBox="1"/>
              <p:nvPr/>
            </p:nvSpPr>
            <p:spPr>
              <a:xfrm>
                <a:off x="10248306" y="5489834"/>
                <a:ext cx="857181" cy="239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" tIns="19050" rIns="19050" bIns="1905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ysClr val="window" lastClr="FFFFFF"/>
                  </a:buClr>
                  <a:buSzPts val="600"/>
                  <a:buFont typeface="微软雅黑" panose="020B0503020204020204" charset="-122"/>
                  <a:buNone/>
                </a:pPr>
                <a:r>
                  <a:rPr lang="zh-CN" altLang="en-US" sz="1000" b="0" i="0" u="none" strike="noStrike" cap="none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营销自动化</a:t>
                </a:r>
                <a:endParaRPr lang="zh-CN" altLang="en-US" sz="1000" b="0" i="0" u="none" strike="noStrike" cap="none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</p:txBody>
          </p:sp>
        </p:grpSp>
        <p:sp>
          <p:nvSpPr>
            <p:cNvPr id="140" name="Google Shape;456;p24"/>
            <p:cNvSpPr txBox="1"/>
            <p:nvPr/>
          </p:nvSpPr>
          <p:spPr>
            <a:xfrm>
              <a:off x="14627" y="8740"/>
              <a:ext cx="1536" cy="9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智能门店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VR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试衣间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AI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导购屏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智能</a:t>
              </a: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WIFI</a:t>
              </a:r>
              <a:endPara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1" name="Google Shape;456;p24"/>
            <p:cNvSpPr txBox="1"/>
            <p:nvPr/>
          </p:nvSpPr>
          <p:spPr>
            <a:xfrm>
              <a:off x="16319" y="8631"/>
              <a:ext cx="1665" cy="1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en-US" altLang="zh-CN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O2O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优惠券派发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线上浏览行为监测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活动智能推荐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marL="171450" indent="-171450">
                <a:buClr>
                  <a:srgbClr val="44546A"/>
                </a:buClr>
                <a:buSzPts val="800"/>
                <a:buFont typeface="微软雅黑" panose="020B0503020204020204" charset="-122"/>
                <a:buChar char="•"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触发企微通知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9532620" y="3986530"/>
            <a:ext cx="485140" cy="485140"/>
            <a:chOff x="15917" y="6387"/>
            <a:chExt cx="764" cy="764"/>
          </a:xfrm>
        </p:grpSpPr>
        <p:sp>
          <p:nvSpPr>
            <p:cNvPr id="143" name="椭圆 142"/>
            <p:cNvSpPr/>
            <p:nvPr/>
          </p:nvSpPr>
          <p:spPr>
            <a:xfrm>
              <a:off x="15917" y="6387"/>
              <a:ext cx="765" cy="765"/>
            </a:xfrm>
            <a:prstGeom prst="ellipse">
              <a:avLst/>
            </a:prstGeom>
            <a:solidFill>
              <a:sysClr val="window" lastClr="FFFFFF"/>
            </a:solidFill>
            <a:ln w="38100">
              <a:gradFill>
                <a:gsLst>
                  <a:gs pos="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44" name="图片 143" descr="发布渠道-线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040" y="6511"/>
              <a:ext cx="519" cy="519"/>
            </a:xfrm>
            <a:prstGeom prst="rect">
              <a:avLst/>
            </a:prstGeom>
          </p:spPr>
        </p:pic>
      </p:grpSp>
      <p:sp>
        <p:nvSpPr>
          <p:cNvPr id="146" name="Google Shape;155;p19"/>
          <p:cNvSpPr/>
          <p:nvPr/>
        </p:nvSpPr>
        <p:spPr>
          <a:xfrm>
            <a:off x="8062595" y="6277610"/>
            <a:ext cx="3420110" cy="236220"/>
          </a:xfrm>
          <a:prstGeom prst="roundRect">
            <a:avLst>
              <a:gd name="adj" fmla="val 6258"/>
            </a:avLst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455"/>
              </a:buClr>
              <a:buSzPts val="1100"/>
              <a:buFont typeface="微软雅黑" panose="020B0503020204020204" charset="-122"/>
              <a:buNone/>
            </a:pPr>
            <a:endParaRPr sz="1100" b="0" i="0" u="none" strike="noStrike" cap="none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Google Shape;456;p24"/>
          <p:cNvSpPr txBox="1"/>
          <p:nvPr/>
        </p:nvSpPr>
        <p:spPr>
          <a:xfrm>
            <a:off x="8182594" y="6293485"/>
            <a:ext cx="3206634" cy="20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 algn="ctr">
              <a:buClr>
                <a:srgbClr val="44546A"/>
              </a:buClr>
              <a:buSzPts val="800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数据驱动的全域营销触达体系，实现多场景精准营销。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726440" y="2397760"/>
            <a:ext cx="3505835" cy="2082800"/>
            <a:chOff x="1368" y="3776"/>
            <a:chExt cx="5521" cy="3280"/>
          </a:xfrm>
        </p:grpSpPr>
        <p:grpSp>
          <p:nvGrpSpPr>
            <p:cNvPr id="185" name="组合 184"/>
            <p:cNvGrpSpPr/>
            <p:nvPr/>
          </p:nvGrpSpPr>
          <p:grpSpPr>
            <a:xfrm>
              <a:off x="1369" y="3776"/>
              <a:ext cx="5520" cy="3280"/>
              <a:chOff x="1369" y="3776"/>
              <a:chExt cx="5024" cy="3280"/>
            </a:xfrm>
          </p:grpSpPr>
          <p:sp>
            <p:nvSpPr>
              <p:cNvPr id="186" name="显眼包PPT1"/>
              <p:cNvSpPr/>
              <p:nvPr/>
            </p:nvSpPr>
            <p:spPr>
              <a:xfrm>
                <a:off x="1369" y="3776"/>
                <a:ext cx="5024" cy="3281"/>
              </a:xfrm>
              <a:prstGeom prst="rect">
                <a:avLst/>
              </a:prstGeom>
              <a:gradFill flip="none" rotWithShape="1">
                <a:gsLst>
                  <a:gs pos="18000">
                    <a:schemeClr val="accent1">
                      <a:lumMod val="20000"/>
                      <a:lumOff val="80000"/>
                      <a:alpha val="47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187" name="显眼包PPT13"/>
              <p:cNvSpPr/>
              <p:nvPr/>
            </p:nvSpPr>
            <p:spPr>
              <a:xfrm>
                <a:off x="1369" y="3776"/>
                <a:ext cx="5024" cy="858"/>
              </a:xfrm>
              <a:prstGeom prst="rect">
                <a:avLst/>
              </a:prstGeom>
              <a:gradFill flip="none" rotWithShape="1">
                <a:gsLst>
                  <a:gs pos="18000">
                    <a:schemeClr val="accent1">
                      <a:lumMod val="60000"/>
                      <a:lumOff val="40000"/>
                      <a:alpha val="10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400" dirty="0">
                  <a:solidFill>
                    <a:schemeClr val="bg1"/>
                  </a:solidFill>
                  <a:latin typeface="+mj-ea"/>
                  <a:ea typeface="+mj-ea"/>
                  <a:cs typeface="微软雅黑" panose="020B0503020204020204" charset="-122"/>
                  <a:sym typeface="+mj-ea"/>
                </a:endParaRPr>
              </a:p>
            </p:txBody>
          </p:sp>
        </p:grpSp>
        <p:sp>
          <p:nvSpPr>
            <p:cNvPr id="188" name="Google Shape;454;p24"/>
            <p:cNvSpPr txBox="1"/>
            <p:nvPr/>
          </p:nvSpPr>
          <p:spPr>
            <a:xfrm>
              <a:off x="2322" y="3872"/>
              <a:ext cx="3620" cy="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algn="ctr">
                <a:buClr>
                  <a:sysClr val="window" lastClr="FFFFFF"/>
                </a:buClr>
                <a:buSzPts val="1000"/>
              </a:pPr>
              <a:r>
                <a:rPr lang="zh-CN" altLang="en-US" sz="1400" b="1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破圈纳新</a:t>
              </a:r>
              <a:endParaRPr lang="zh-CN" altLang="en-US" sz="1400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9" name="Google Shape;455;p24"/>
            <p:cNvSpPr txBox="1"/>
            <p:nvPr/>
          </p:nvSpPr>
          <p:spPr>
            <a:xfrm>
              <a:off x="2179" y="4208"/>
              <a:ext cx="4039" cy="3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algn="ctr">
                <a:buClr>
                  <a:sysClr val="window" lastClr="FFFFFF"/>
                </a:buClr>
                <a:buSzPts val="700"/>
              </a:pPr>
              <a:r>
                <a:rPr lang="en-US" altLang="zh-CN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360</a:t>
              </a:r>
              <a:r>
                <a:rPr lang="en-US" altLang="en-US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°</a:t>
              </a:r>
              <a:r>
                <a:rPr lang="zh-CN" altLang="en-US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用户画像构建</a:t>
              </a:r>
              <a:r>
                <a:rPr lang="en-US" altLang="zh-CN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​</a:t>
              </a:r>
              <a:r>
                <a:rPr lang="zh-CN" altLang="en-US" sz="100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，需求精准定位</a:t>
              </a:r>
              <a:endParaRPr lang="zh-CN" altLang="en-US" sz="10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0" name="显眼包PPT-38"/>
            <p:cNvSpPr/>
            <p:nvPr/>
          </p:nvSpPr>
          <p:spPr>
            <a:xfrm>
              <a:off x="1368" y="4889"/>
              <a:ext cx="5521" cy="2167"/>
            </a:xfrm>
            <a:prstGeom prst="roundRect">
              <a:avLst>
                <a:gd name="adj" fmla="val 4165"/>
              </a:avLst>
            </a:prstGeom>
            <a:noFill/>
            <a:ln w="6350"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191" name="Google Shape;456;p24"/>
            <p:cNvSpPr txBox="1"/>
            <p:nvPr/>
          </p:nvSpPr>
          <p:spPr>
            <a:xfrm>
              <a:off x="1631" y="4889"/>
              <a:ext cx="4921" cy="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indent="-171450" algn="l">
                <a:buClr>
                  <a:srgbClr val="44546A"/>
                </a:buClr>
                <a:buSzPts val="800"/>
                <a:buFont typeface="Wingdings" panose="05000000000000000000" charset="0"/>
                <a:buChar char="l"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识别目标细分市场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(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细分客群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/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品类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)-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定义核心价值主张</a:t>
              </a:r>
              <a:r>
                <a:rPr lang="en-US" altLang="zh-CN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-</a:t>
              </a: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以共性需求分类客群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2" name="Google Shape;456;p24"/>
            <p:cNvSpPr txBox="1"/>
            <p:nvPr/>
          </p:nvSpPr>
          <p:spPr>
            <a:xfrm>
              <a:off x="1631" y="5698"/>
              <a:ext cx="4921" cy="3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spAutoFit/>
            </a:bodyPr>
            <a:lstStyle/>
            <a:p>
              <a:pPr marL="171450" lvl="0" indent="-171450" algn="l">
                <a:buClr>
                  <a:srgbClr val="44546A"/>
                </a:buClr>
                <a:buSzPts val="800"/>
                <a:buFont typeface="Wingdings" panose="05000000000000000000" charset="0"/>
                <a:buChar char="l"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挖掘用户需求：从功能-情感-到价值观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3" name="显眼包PPT-30"/>
            <p:cNvSpPr/>
            <p:nvPr/>
          </p:nvSpPr>
          <p:spPr>
            <a:xfrm>
              <a:off x="1680" y="6214"/>
              <a:ext cx="1461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人口属性分析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sp>
          <p:nvSpPr>
            <p:cNvPr id="194" name="显眼包PPT-30"/>
            <p:cNvSpPr/>
            <p:nvPr/>
          </p:nvSpPr>
          <p:spPr>
            <a:xfrm>
              <a:off x="3289" y="6214"/>
              <a:ext cx="1756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差异化需求识别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sp>
          <p:nvSpPr>
            <p:cNvPr id="195" name="显眼包PPT-30"/>
            <p:cNvSpPr/>
            <p:nvPr/>
          </p:nvSpPr>
          <p:spPr>
            <a:xfrm>
              <a:off x="5193" y="6214"/>
              <a:ext cx="1461" cy="567"/>
            </a:xfrm>
            <a:prstGeom prst="roundRect">
              <a:avLst/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>
                <a:buClrTx/>
                <a:buSzTx/>
                <a:buFontTx/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用户标签画像</a:t>
              </a:r>
              <a:endParaRPr lang="zh-CN" altLang="en-US" sz="1000" dirty="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10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27138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互联网平台广告业务分析模型</a:t>
            </a:r>
            <a:endParaRPr lang="zh-CN" altLang="en-US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" name="梯形 1"/>
          <p:cNvSpPr/>
          <p:nvPr/>
        </p:nvSpPr>
        <p:spPr>
          <a:xfrm>
            <a:off x="769620" y="1057274"/>
            <a:ext cx="10979468" cy="548890"/>
          </a:xfrm>
          <a:prstGeom prst="trapezoid">
            <a:avLst>
              <a:gd name="adj" fmla="val 42219"/>
            </a:avLst>
          </a:prstGeom>
          <a:gradFill>
            <a:gsLst>
              <a:gs pos="19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05840" y="1142814"/>
            <a:ext cx="29070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互联网平台广告业务分析模型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9620" y="1715601"/>
            <a:ext cx="2665759" cy="2045079"/>
          </a:xfrm>
          <a:prstGeom prst="rect">
            <a:avLst/>
          </a:prstGeom>
          <a:gradFill>
            <a:gsLst>
              <a:gs pos="18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innerShdw blurRad="2540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40858" y="1715601"/>
            <a:ext cx="2665759" cy="2045079"/>
          </a:xfrm>
          <a:prstGeom prst="rect">
            <a:avLst/>
          </a:prstGeom>
          <a:gradFill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innerShdw blurRad="2540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12093" y="1715601"/>
            <a:ext cx="2665759" cy="2045079"/>
          </a:xfrm>
          <a:prstGeom prst="rect">
            <a:avLst/>
          </a:prstGeom>
          <a:gradFill>
            <a:gsLst>
              <a:gs pos="18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innerShdw blurRad="2540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83330" y="1715601"/>
            <a:ext cx="2665759" cy="2045079"/>
          </a:xfrm>
          <a:prstGeom prst="rect">
            <a:avLst/>
          </a:prstGeom>
          <a:gradFill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innerShdw blurRad="254000">
              <a:schemeClr val="accent5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212842" y="2462863"/>
            <a:ext cx="550552" cy="5505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84078" y="2462863"/>
            <a:ext cx="550552" cy="55055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8755313" y="2462863"/>
            <a:ext cx="550552" cy="55055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94817" y="2933948"/>
            <a:ext cx="1015364" cy="37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广告用户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62748" y="2933948"/>
            <a:ext cx="1221979" cy="37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库存利用率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37291" y="2933948"/>
            <a:ext cx="1015364" cy="37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变现效率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08528" y="2933948"/>
            <a:ext cx="1015364" cy="37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广告频数</a:t>
            </a:r>
            <a:endParaRPr kumimoji="0" lang="zh-CN" altLang="en-US" sz="1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9620" y="3861548"/>
            <a:ext cx="2665759" cy="598200"/>
          </a:xfrm>
          <a:prstGeom prst="rect">
            <a:avLst/>
          </a:prstGeom>
          <a:gradFill>
            <a:gsLst>
              <a:gs pos="1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40858" y="3864723"/>
            <a:ext cx="2665759" cy="598200"/>
          </a:xfrm>
          <a:prstGeom prst="rect">
            <a:avLst/>
          </a:prstGeom>
          <a:gradFill>
            <a:gsLst>
              <a:gs pos="1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12093" y="3864723"/>
            <a:ext cx="2665759" cy="598200"/>
          </a:xfrm>
          <a:prstGeom prst="rect">
            <a:avLst/>
          </a:prstGeom>
          <a:gradFill>
            <a:gsLst>
              <a:gs pos="19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083330" y="3864723"/>
            <a:ext cx="2665759" cy="598200"/>
          </a:xfrm>
          <a:prstGeom prst="rect">
            <a:avLst/>
          </a:prstGeom>
          <a:gradFill>
            <a:gsLst>
              <a:gs pos="19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9620" y="4566966"/>
            <a:ext cx="2665759" cy="2033859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40858" y="4566966"/>
            <a:ext cx="2665759" cy="2033859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20000"/>
                  <a:lumOff val="80000"/>
                  <a:alpha val="50000"/>
                </a:schemeClr>
              </a:gs>
              <a:gs pos="100000">
                <a:schemeClr val="accent5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12093" y="4566966"/>
            <a:ext cx="2665759" cy="2033859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83330" y="4566966"/>
            <a:ext cx="2665759" cy="2033859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20000"/>
                  <a:lumOff val="80000"/>
                  <a:alpha val="50000"/>
                </a:schemeClr>
              </a:gs>
              <a:gs pos="100000">
                <a:schemeClr val="accent5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7591" y="4018969"/>
            <a:ext cx="2329815" cy="27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平台用户规模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广告用户渗透率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859642" y="4018969"/>
            <a:ext cx="2028190" cy="27559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提示次数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进入率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填充率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392437" y="4018969"/>
            <a:ext cx="2505075" cy="27559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CPA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（各类出价）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pCTR x pCVR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172565" y="4018969"/>
            <a:ext cx="2487295" cy="27559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库存利用率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变现效率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广告频数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3552" y="4733823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用户增长策略：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通过市场推广、优惠活动、内容合作等方式，吸引更多用户注册和使用平台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3552" y="5379248"/>
            <a:ext cx="237779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用户留存优化：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提升用户体验，增加用户粘性，减少用户流失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3552" y="5867253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广告渗透策略：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在用户使用的关键路径中，合理插入广告，提升广告的曝光率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644336" y="4733823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优化广告展示位置：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分析用户行为数据，选择用户关注度高的位置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展示广告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644336" y="5370427"/>
            <a:ext cx="237779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通过设计吸引人的广告创意，提高用户点击广告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的意愿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644336" y="5849610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提升填充率：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与更多广告主合作，丰富广告库存，确保广告位能够及时填充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415119" y="4733823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优化定价策略：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根据市场需求和竞争情况，动态调整广告定价，确保广告主的出价合理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且有竞争力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15119" y="5289910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测试，不断优化广告创意和文案，提高广告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的吸引力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415119" y="5845998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提升转化率：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优化广告落地页，确保用户点击广告后能够顺利完成转化动作（如购买、注册等）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9185903" y="4733823"/>
            <a:ext cx="237779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库存管理：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分析广告库存情况，优化广告投放策略，避免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库存浪费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185903" y="5221828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现策略：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通过精准投放，提高广告的变现效率，确保每一次展示都能带来更高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的收入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185903" y="5867253"/>
            <a:ext cx="2377791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•"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合理控制广告频数：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避免广告过度展示导致用户反感，合理设置广告频次，确保用户体验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44545" y="2549525"/>
            <a:ext cx="28702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kumimoji="0" lang="en-US" altLang="zh-CN" sz="1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15665" y="2549235"/>
            <a:ext cx="2870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kumimoji="0" lang="en-US" altLang="zh-CN" sz="18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886720" y="2549235"/>
            <a:ext cx="2870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kumimoji="0" lang="en-US" altLang="zh-CN" sz="18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2" name="图片 91" descr="变现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2238" y="2122805"/>
            <a:ext cx="585470" cy="585470"/>
          </a:xfrm>
          <a:prstGeom prst="rect">
            <a:avLst/>
          </a:pr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</p:spPr>
      </p:pic>
      <p:pic>
        <p:nvPicPr>
          <p:cNvPr id="93" name="图片 92" descr="重点广告位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1035" y="2122805"/>
            <a:ext cx="582930" cy="571500"/>
          </a:xfrm>
          <a:prstGeom prst="rect">
            <a:avLst/>
          </a:prstGeom>
        </p:spPr>
      </p:pic>
      <p:pic>
        <p:nvPicPr>
          <p:cNvPr id="95" name="图片 94" descr="库存分析 (1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4337" y="2122805"/>
            <a:ext cx="658800" cy="658800"/>
          </a:xfrm>
          <a:prstGeom prst="rect">
            <a:avLst/>
          </a:prstGeom>
        </p:spPr>
      </p:pic>
      <p:pic>
        <p:nvPicPr>
          <p:cNvPr id="96" name="图片 95" descr="winfo-icon-雷达站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86809" y="2122805"/>
            <a:ext cx="658800" cy="6588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7" name="图片 26"/>
            <p:cNvPicPr>
              <a:picLocks noChangeAspect="1"/>
            </p:cNvPicPr>
            <p:nvPr userDrawn="1"/>
          </p:nvPicPr>
          <p:blipFill>
            <a:blip r:embed="rId11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企业五大核心竞争力分析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56" name="矩形 155"/>
          <p:cNvSpPr/>
          <p:nvPr/>
        </p:nvSpPr>
        <p:spPr>
          <a:xfrm>
            <a:off x="239151" y="1123057"/>
            <a:ext cx="11725836" cy="605927"/>
          </a:xfrm>
          <a:prstGeom prst="rect">
            <a:avLst/>
          </a:prstGeom>
          <a:gradFill>
            <a:gsLst>
              <a:gs pos="16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 w="1587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157" name="椭圆 156"/>
          <p:cNvSpPr/>
          <p:nvPr/>
        </p:nvSpPr>
        <p:spPr>
          <a:xfrm>
            <a:off x="4815798" y="1015365"/>
            <a:ext cx="2560404" cy="2560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4952577" y="1121906"/>
            <a:ext cx="2286846" cy="2286846"/>
          </a:xfrm>
          <a:prstGeom prst="ellipse">
            <a:avLst/>
          </a:prstGeom>
          <a:gradFill flip="none" rotWithShape="1">
            <a:gsLst>
              <a:gs pos="39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3" name="任意多边形: 形状 42"/>
          <p:cNvSpPr/>
          <p:nvPr/>
        </p:nvSpPr>
        <p:spPr>
          <a:xfrm>
            <a:off x="4990175" y="2135235"/>
            <a:ext cx="2257373" cy="1531974"/>
          </a:xfrm>
          <a:custGeom>
            <a:avLst/>
            <a:gdLst>
              <a:gd name="connsiteX0" fmla="*/ 1123289 w 2257373"/>
              <a:gd name="connsiteY0" fmla="*/ 0 h 1531974"/>
              <a:gd name="connsiteX1" fmla="*/ 1136320 w 2257373"/>
              <a:gd name="connsiteY1" fmla="*/ 3391 h 1531974"/>
              <a:gd name="connsiteX2" fmla="*/ 2257373 w 2257373"/>
              <a:gd name="connsiteY2" fmla="*/ 1531974 h 1531974"/>
              <a:gd name="connsiteX3" fmla="*/ 0 w 2257373"/>
              <a:gd name="connsiteY3" fmla="*/ 1531974 h 1531974"/>
              <a:gd name="connsiteX4" fmla="*/ 1121066 w 2257373"/>
              <a:gd name="connsiteY4" fmla="*/ 3373 h 1531974"/>
              <a:gd name="connsiteX5" fmla="*/ 1046928 w 2257373"/>
              <a:gd name="connsiteY5" fmla="*/ 96108 h 1531974"/>
              <a:gd name="connsiteX6" fmla="*/ 1118420 w 2257373"/>
              <a:gd name="connsiteY6" fmla="*/ 1267 h 1531974"/>
              <a:gd name="connsiteX7" fmla="*/ 1123289 w 2257373"/>
              <a:gd name="connsiteY7" fmla="*/ 0 h 1531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57373" h="1531974">
                <a:moveTo>
                  <a:pt x="1123289" y="0"/>
                </a:moveTo>
                <a:lnTo>
                  <a:pt x="1136320" y="3391"/>
                </a:lnTo>
                <a:lnTo>
                  <a:pt x="2257373" y="1531974"/>
                </a:lnTo>
                <a:lnTo>
                  <a:pt x="0" y="1531974"/>
                </a:lnTo>
                <a:lnTo>
                  <a:pt x="1121066" y="3373"/>
                </a:lnTo>
                <a:lnTo>
                  <a:pt x="1046928" y="96108"/>
                </a:lnTo>
                <a:lnTo>
                  <a:pt x="1118420" y="1267"/>
                </a:lnTo>
                <a:lnTo>
                  <a:pt x="1123289" y="0"/>
                </a:lnTo>
                <a:close/>
              </a:path>
            </a:pathLst>
          </a:custGeom>
          <a:gradFill>
            <a:gsLst>
              <a:gs pos="33000">
                <a:schemeClr val="accent5">
                  <a:alpha val="62000"/>
                </a:schemeClr>
              </a:gs>
              <a:gs pos="0">
                <a:schemeClr val="accent5">
                  <a:alpha val="0"/>
                </a:schemeClr>
              </a:gs>
              <a:gs pos="8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6" name="任意多边形: 形状 40"/>
          <p:cNvSpPr/>
          <p:nvPr/>
        </p:nvSpPr>
        <p:spPr>
          <a:xfrm>
            <a:off x="2652062" y="2136503"/>
            <a:ext cx="3456533" cy="1530707"/>
          </a:xfrm>
          <a:custGeom>
            <a:avLst/>
            <a:gdLst>
              <a:gd name="connsiteX0" fmla="*/ 3456533 w 3456533"/>
              <a:gd name="connsiteY0" fmla="*/ 0 h 1530707"/>
              <a:gd name="connsiteX1" fmla="*/ 3385041 w 3456533"/>
              <a:gd name="connsiteY1" fmla="*/ 94841 h 1530707"/>
              <a:gd name="connsiteX2" fmla="*/ 2237116 w 3456533"/>
              <a:gd name="connsiteY2" fmla="*/ 1530707 h 1530707"/>
              <a:gd name="connsiteX3" fmla="*/ 0 w 3456533"/>
              <a:gd name="connsiteY3" fmla="*/ 1530707 h 1530707"/>
              <a:gd name="connsiteX4" fmla="*/ 3394331 w 3456533"/>
              <a:gd name="connsiteY4" fmla="*/ 16189 h 1530707"/>
              <a:gd name="connsiteX5" fmla="*/ 3456533 w 3456533"/>
              <a:gd name="connsiteY5" fmla="*/ 0 h 153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6533" h="1530707">
                <a:moveTo>
                  <a:pt x="3456533" y="0"/>
                </a:moveTo>
                <a:lnTo>
                  <a:pt x="3385041" y="94841"/>
                </a:lnTo>
                <a:lnTo>
                  <a:pt x="2237116" y="1530707"/>
                </a:lnTo>
                <a:lnTo>
                  <a:pt x="0" y="1530707"/>
                </a:lnTo>
                <a:lnTo>
                  <a:pt x="3394331" y="16189"/>
                </a:lnTo>
                <a:lnTo>
                  <a:pt x="3456533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330" y="3725545"/>
            <a:ext cx="2265045" cy="298894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7013" y="3725459"/>
            <a:ext cx="2265292" cy="5055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供应链能力</a:t>
            </a:r>
            <a:endParaRPr lang="en-US" altLang="zh-CN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04135" y="3725545"/>
            <a:ext cx="2265045" cy="298894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03914" y="3725459"/>
            <a:ext cx="2265292" cy="5055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产品创新能力</a:t>
            </a:r>
            <a:endParaRPr lang="en-US" altLang="zh-CN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80940" y="3725545"/>
            <a:ext cx="2265045" cy="2988945"/>
          </a:xfrm>
          <a:prstGeom prst="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 w="15875"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980817" y="3725459"/>
            <a:ext cx="2265292" cy="5055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89000">
                <a:schemeClr val="accent5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渠道渗透能力</a:t>
            </a:r>
            <a:endParaRPr lang="en-US" altLang="zh-CN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357745" y="3725545"/>
            <a:ext cx="2265045" cy="298894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357718" y="3725459"/>
            <a:ext cx="2265292" cy="5055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合规经营能力</a:t>
            </a:r>
            <a:endParaRPr lang="en-US" altLang="zh-CN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734550" y="3725545"/>
            <a:ext cx="2265045" cy="298894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5875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734621" y="3725459"/>
            <a:ext cx="2265292" cy="5055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89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  <a:sym typeface="+mn-ea"/>
              </a:rPr>
              <a:t>品牌建设能力</a:t>
            </a:r>
            <a:endParaRPr lang="en-US" altLang="zh-CN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任意多边形: 形状 26"/>
          <p:cNvSpPr/>
          <p:nvPr/>
        </p:nvSpPr>
        <p:spPr>
          <a:xfrm>
            <a:off x="6126495" y="2138627"/>
            <a:ext cx="3459164" cy="1528582"/>
          </a:xfrm>
          <a:custGeom>
            <a:avLst/>
            <a:gdLst>
              <a:gd name="connsiteX0" fmla="*/ 0 w 3459164"/>
              <a:gd name="connsiteY0" fmla="*/ 0 h 1528582"/>
              <a:gd name="connsiteX1" fmla="*/ 79941 w 3459164"/>
              <a:gd name="connsiteY1" fmla="*/ 20805 h 1528582"/>
              <a:gd name="connsiteX2" fmla="*/ 3459164 w 3459164"/>
              <a:gd name="connsiteY2" fmla="*/ 1528582 h 1528582"/>
              <a:gd name="connsiteX3" fmla="*/ 1222049 w 3459164"/>
              <a:gd name="connsiteY3" fmla="*/ 1528582 h 1528582"/>
              <a:gd name="connsiteX4" fmla="*/ 0 w 3459164"/>
              <a:gd name="connsiteY4" fmla="*/ 0 h 152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164" h="1528582">
                <a:moveTo>
                  <a:pt x="0" y="0"/>
                </a:moveTo>
                <a:lnTo>
                  <a:pt x="79941" y="20805"/>
                </a:lnTo>
                <a:lnTo>
                  <a:pt x="3459164" y="1528582"/>
                </a:lnTo>
                <a:lnTo>
                  <a:pt x="1222049" y="15285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任意多边形: 形状 25"/>
          <p:cNvSpPr/>
          <p:nvPr/>
        </p:nvSpPr>
        <p:spPr>
          <a:xfrm>
            <a:off x="227013" y="2154343"/>
            <a:ext cx="5813036" cy="1512867"/>
          </a:xfrm>
          <a:custGeom>
            <a:avLst/>
            <a:gdLst>
              <a:gd name="connsiteX0" fmla="*/ 5813036 w 5813036"/>
              <a:gd name="connsiteY0" fmla="*/ 0 h 1512867"/>
              <a:gd name="connsiteX1" fmla="*/ 2304725 w 5813036"/>
              <a:gd name="connsiteY1" fmla="*/ 1512867 h 1512867"/>
              <a:gd name="connsiteX2" fmla="*/ 0 w 5813036"/>
              <a:gd name="connsiteY2" fmla="*/ 1512867 h 1512867"/>
              <a:gd name="connsiteX3" fmla="*/ 5813036 w 5813036"/>
              <a:gd name="connsiteY3" fmla="*/ 0 h 1512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3036" h="1512867">
                <a:moveTo>
                  <a:pt x="5813036" y="0"/>
                </a:moveTo>
                <a:lnTo>
                  <a:pt x="2304725" y="1512867"/>
                </a:lnTo>
                <a:lnTo>
                  <a:pt x="0" y="1512867"/>
                </a:lnTo>
                <a:lnTo>
                  <a:pt x="5813036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17" name="任意多边形: 形状 24"/>
          <p:cNvSpPr/>
          <p:nvPr/>
        </p:nvSpPr>
        <p:spPr>
          <a:xfrm>
            <a:off x="6214103" y="2161427"/>
            <a:ext cx="5785810" cy="1505782"/>
          </a:xfrm>
          <a:custGeom>
            <a:avLst/>
            <a:gdLst>
              <a:gd name="connsiteX0" fmla="*/ 0 w 5785810"/>
              <a:gd name="connsiteY0" fmla="*/ 0 h 1505782"/>
              <a:gd name="connsiteX1" fmla="*/ 5785810 w 5785810"/>
              <a:gd name="connsiteY1" fmla="*/ 1505782 h 1505782"/>
              <a:gd name="connsiteX2" fmla="*/ 3491879 w 5785810"/>
              <a:gd name="connsiteY2" fmla="*/ 1505782 h 1505782"/>
              <a:gd name="connsiteX3" fmla="*/ 0 w 5785810"/>
              <a:gd name="connsiteY3" fmla="*/ 0 h 150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85810" h="1505782">
                <a:moveTo>
                  <a:pt x="0" y="0"/>
                </a:moveTo>
                <a:lnTo>
                  <a:pt x="5785810" y="1505782"/>
                </a:lnTo>
                <a:lnTo>
                  <a:pt x="3491879" y="1505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29184" y="469831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实现基于柔性供应链的以销定产，提升全链条协同效率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16573" y="439038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数字化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329184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1859280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29184" y="571226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着力构建起全球化的供应链物流运输网络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16573" y="540433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全球化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3" name="任意多边形: 形状 62"/>
          <p:cNvSpPr/>
          <p:nvPr/>
        </p:nvSpPr>
        <p:spPr>
          <a:xfrm>
            <a:off x="329184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4" name="任意多边形: 形状 63"/>
          <p:cNvSpPr/>
          <p:nvPr/>
        </p:nvSpPr>
        <p:spPr>
          <a:xfrm>
            <a:off x="1859280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08339" y="469831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新材料、新功能加持解决消费痛点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595728" y="439038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产品研发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8" name="任意多边形: 形状 67"/>
          <p:cNvSpPr/>
          <p:nvPr/>
        </p:nvSpPr>
        <p:spPr>
          <a:xfrm>
            <a:off x="2708339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69" name="任意多边形: 形状 68"/>
          <p:cNvSpPr/>
          <p:nvPr/>
        </p:nvSpPr>
        <p:spPr>
          <a:xfrm>
            <a:off x="4238435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08339" y="571226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开拓新品类，满足空白市场需求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595728" y="540433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品类细分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73" name="任意多边形: 形状 72"/>
          <p:cNvSpPr/>
          <p:nvPr/>
        </p:nvSpPr>
        <p:spPr>
          <a:xfrm>
            <a:off x="2708339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32" name="任意多边形: 形状 73"/>
          <p:cNvSpPr/>
          <p:nvPr/>
        </p:nvSpPr>
        <p:spPr>
          <a:xfrm>
            <a:off x="4238435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085240" y="469831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传统市场 </a:t>
            </a:r>
            <a:endParaRPr lang="en-US" altLang="zh-CN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新兴市场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972629" y="439038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5"/>
                </a:solidFill>
                <a:latin typeface="+mj-ea"/>
                <a:ea typeface="+mj-ea"/>
                <a:cs typeface="微软雅黑" panose="020B0503020204020204" charset="-122"/>
              </a:rPr>
              <a:t>市场渗透</a:t>
            </a:r>
            <a:endParaRPr lang="zh-CN" altLang="en-US" sz="1600" b="1">
              <a:solidFill>
                <a:schemeClr val="accent5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78" name="任意多边形: 形状 77"/>
          <p:cNvSpPr/>
          <p:nvPr/>
        </p:nvSpPr>
        <p:spPr>
          <a:xfrm>
            <a:off x="5085240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79" name="任意多边形: 形状 78"/>
          <p:cNvSpPr/>
          <p:nvPr/>
        </p:nvSpPr>
        <p:spPr>
          <a:xfrm>
            <a:off x="6615336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085240" y="5712262"/>
            <a:ext cx="2048256" cy="52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第三方平台、直播带货、独立站</a:t>
            </a:r>
            <a:r>
              <a:rPr lang="en-US" altLang="zh-CN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&amp;</a:t>
            </a: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实体商超供货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72629" y="540433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5"/>
                </a:solidFill>
                <a:latin typeface="+mj-ea"/>
                <a:ea typeface="+mj-ea"/>
                <a:cs typeface="微软雅黑" panose="020B0503020204020204" charset="-122"/>
              </a:rPr>
              <a:t>线上</a:t>
            </a:r>
            <a:r>
              <a:rPr lang="en-US" altLang="zh-CN" sz="1600" b="1">
                <a:solidFill>
                  <a:schemeClr val="accent5"/>
                </a:solidFill>
                <a:latin typeface="+mj-ea"/>
                <a:ea typeface="+mj-ea"/>
                <a:cs typeface="微软雅黑" panose="020B0503020204020204" charset="-122"/>
              </a:rPr>
              <a:t>&amp;</a:t>
            </a:r>
            <a:r>
              <a:rPr lang="zh-CN" altLang="en-US" sz="1600" b="1">
                <a:solidFill>
                  <a:schemeClr val="accent5"/>
                </a:solidFill>
                <a:latin typeface="+mj-ea"/>
                <a:ea typeface="+mj-ea"/>
                <a:cs typeface="微软雅黑" panose="020B0503020204020204" charset="-122"/>
              </a:rPr>
              <a:t>线下</a:t>
            </a:r>
            <a:endParaRPr lang="zh-CN" altLang="en-US" sz="1600" b="1">
              <a:solidFill>
                <a:schemeClr val="accent5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88" name="任意多边形: 形状 87"/>
          <p:cNvSpPr/>
          <p:nvPr/>
        </p:nvSpPr>
        <p:spPr>
          <a:xfrm>
            <a:off x="5085240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89" name="任意多边形: 形状 88"/>
          <p:cNvSpPr/>
          <p:nvPr/>
        </p:nvSpPr>
        <p:spPr>
          <a:xfrm>
            <a:off x="6615336" y="558791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462143" y="4698312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产品质量、资质许可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349532" y="439038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 </a:t>
            </a: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产品合规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93" name="任意多边形: 形状 92"/>
          <p:cNvSpPr/>
          <p:nvPr/>
        </p:nvSpPr>
        <p:spPr>
          <a:xfrm>
            <a:off x="7462143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94" name="任意多边形: 形状 93"/>
          <p:cNvSpPr/>
          <p:nvPr/>
        </p:nvSpPr>
        <p:spPr>
          <a:xfrm>
            <a:off x="8992239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7462143" y="5490260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税务、履约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349532" y="5182337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经营合规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46" name="任意多边形: 形状 97"/>
          <p:cNvSpPr/>
          <p:nvPr/>
        </p:nvSpPr>
        <p:spPr>
          <a:xfrm>
            <a:off x="7462143" y="5365913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47" name="任意多边形: 形状 98"/>
          <p:cNvSpPr/>
          <p:nvPr/>
        </p:nvSpPr>
        <p:spPr>
          <a:xfrm>
            <a:off x="8992239" y="5365913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462143" y="6282207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隐私保护、金融支付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349532" y="5974284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市场合规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52" name="任意多边形: 形状 102"/>
          <p:cNvSpPr/>
          <p:nvPr/>
        </p:nvSpPr>
        <p:spPr>
          <a:xfrm>
            <a:off x="7462143" y="6157860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56" name="任意多边形: 形状 103"/>
          <p:cNvSpPr/>
          <p:nvPr/>
        </p:nvSpPr>
        <p:spPr>
          <a:xfrm>
            <a:off x="8992239" y="6157860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839046" y="4698312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品牌定位、形象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9726435" y="4390389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品牌文化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08" name="任意多边形: 形状 107"/>
          <p:cNvSpPr/>
          <p:nvPr/>
        </p:nvSpPr>
        <p:spPr>
          <a:xfrm>
            <a:off x="9839046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09" name="任意多边形: 形状 108"/>
          <p:cNvSpPr/>
          <p:nvPr/>
        </p:nvSpPr>
        <p:spPr>
          <a:xfrm>
            <a:off x="11369142" y="4573965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9839046" y="5490260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站内外引流获得人群关注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726435" y="5182337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品牌营销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13" name="任意多边形: 形状 112"/>
          <p:cNvSpPr/>
          <p:nvPr/>
        </p:nvSpPr>
        <p:spPr>
          <a:xfrm>
            <a:off x="9839046" y="5365913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11369142" y="5365913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839046" y="6282207"/>
            <a:ext cx="2048256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>
                <a:solidFill>
                  <a:schemeClr val="tx2"/>
                </a:solidFill>
                <a:latin typeface="+mn-ea"/>
                <a:cs typeface="微软雅黑" panose="020B0503020204020204" charset="-122"/>
              </a:rPr>
              <a:t>用户全生命周期管理</a:t>
            </a:r>
            <a:endParaRPr lang="zh-CN" altLang="en-US" sz="1200">
              <a:solidFill>
                <a:schemeClr val="tx2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9726435" y="5974284"/>
            <a:ext cx="2273478" cy="37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</a:rPr>
              <a:t>用户运营</a:t>
            </a:r>
            <a:endParaRPr lang="en-US" altLang="zh-CN" sz="16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9839046" y="6157860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57" name="任意多边形: 形状 118"/>
          <p:cNvSpPr/>
          <p:nvPr/>
        </p:nvSpPr>
        <p:spPr>
          <a:xfrm>
            <a:off x="11369142" y="6157860"/>
            <a:ext cx="518160" cy="0"/>
          </a:xfrm>
          <a:custGeom>
            <a:avLst/>
            <a:gdLst>
              <a:gd name="connsiteX0" fmla="*/ 0 w 518160"/>
              <a:gd name="connsiteY0" fmla="*/ 0 h 0"/>
              <a:gd name="connsiteX1" fmla="*/ 518160 w 5181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>
                <a:moveTo>
                  <a:pt x="0" y="0"/>
                </a:moveTo>
                <a:lnTo>
                  <a:pt x="518160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707574" y="2156520"/>
            <a:ext cx="4776853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>
                <a:ln w="1905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reflection blurRad="6350" stA="24000" endPos="50000" dist="29997" dir="5400000" sy="-100000" algn="bl" rotWithShape="0"/>
                </a:effectLst>
                <a:latin typeface="+mj-ea"/>
                <a:ea typeface="+mj-ea"/>
                <a:cs typeface="微软雅黑" panose="020B0503020204020204" charset="-122"/>
              </a:rPr>
              <a:t>五大核心竞争力</a:t>
            </a:r>
            <a:endParaRPr lang="zh-CN" altLang="en-US" sz="4000" b="1">
              <a:ln w="1905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reflection blurRad="6350" stA="24000" endPos="50000" dist="29997" dir="5400000" sy="-100000" algn="bl" rotWithShape="0"/>
              </a:effectLst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59" name="任意多边形: 形状 134"/>
          <p:cNvSpPr/>
          <p:nvPr/>
        </p:nvSpPr>
        <p:spPr>
          <a:xfrm flipH="1">
            <a:off x="5403392" y="1300288"/>
            <a:ext cx="1385217" cy="1220726"/>
          </a:xfrm>
          <a:custGeom>
            <a:avLst/>
            <a:gdLst>
              <a:gd name="connsiteX0" fmla="*/ 5775087 w 11550173"/>
              <a:gd name="connsiteY0" fmla="*/ 0 h 8473605"/>
              <a:gd name="connsiteX1" fmla="*/ 7606805 w 11550173"/>
              <a:gd name="connsiteY1" fmla="*/ 1718520 h 8473605"/>
              <a:gd name="connsiteX2" fmla="*/ 6816079 w 11550173"/>
              <a:gd name="connsiteY2" fmla="*/ 1718520 h 8473605"/>
              <a:gd name="connsiteX3" fmla="*/ 6922742 w 11550173"/>
              <a:gd name="connsiteY3" fmla="*/ 2131905 h 8473605"/>
              <a:gd name="connsiteX4" fmla="*/ 8539568 w 11550173"/>
              <a:gd name="connsiteY4" fmla="*/ 5446657 h 8473605"/>
              <a:gd name="connsiteX5" fmla="*/ 11436485 w 11550173"/>
              <a:gd name="connsiteY5" fmla="*/ 8400691 h 8473605"/>
              <a:gd name="connsiteX6" fmla="*/ 11550173 w 11550173"/>
              <a:gd name="connsiteY6" fmla="*/ 8473605 h 8473605"/>
              <a:gd name="connsiteX7" fmla="*/ 0 w 11550173"/>
              <a:gd name="connsiteY7" fmla="*/ 8473605 h 8473605"/>
              <a:gd name="connsiteX8" fmla="*/ 113687 w 11550173"/>
              <a:gd name="connsiteY8" fmla="*/ 8400691 h 8473605"/>
              <a:gd name="connsiteX9" fmla="*/ 3010605 w 11550173"/>
              <a:gd name="connsiteY9" fmla="*/ 5446657 h 8473605"/>
              <a:gd name="connsiteX10" fmla="*/ 4627432 w 11550173"/>
              <a:gd name="connsiteY10" fmla="*/ 2131906 h 8473605"/>
              <a:gd name="connsiteX11" fmla="*/ 4734094 w 11550173"/>
              <a:gd name="connsiteY11" fmla="*/ 1718520 h 8473605"/>
              <a:gd name="connsiteX12" fmla="*/ 3943368 w 11550173"/>
              <a:gd name="connsiteY12" fmla="*/ 1718520 h 8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0173" h="8473605">
                <a:moveTo>
                  <a:pt x="5775087" y="0"/>
                </a:moveTo>
                <a:lnTo>
                  <a:pt x="7606805" y="1718520"/>
                </a:lnTo>
                <a:lnTo>
                  <a:pt x="6816079" y="1718520"/>
                </a:lnTo>
                <a:lnTo>
                  <a:pt x="6922742" y="2131905"/>
                </a:lnTo>
                <a:cubicBezTo>
                  <a:pt x="7224533" y="3181157"/>
                  <a:pt x="7770439" y="4331222"/>
                  <a:pt x="8539568" y="5446657"/>
                </a:cubicBezTo>
                <a:cubicBezTo>
                  <a:pt x="9418572" y="6721439"/>
                  <a:pt x="10443506" y="7739793"/>
                  <a:pt x="11436485" y="8400691"/>
                </a:cubicBezTo>
                <a:lnTo>
                  <a:pt x="11550173" y="8473605"/>
                </a:lnTo>
                <a:lnTo>
                  <a:pt x="0" y="8473605"/>
                </a:lnTo>
                <a:lnTo>
                  <a:pt x="113687" y="8400691"/>
                </a:lnTo>
                <a:cubicBezTo>
                  <a:pt x="1106667" y="7739793"/>
                  <a:pt x="2131600" y="6721439"/>
                  <a:pt x="3010605" y="5446657"/>
                </a:cubicBezTo>
                <a:cubicBezTo>
                  <a:pt x="3779734" y="4331223"/>
                  <a:pt x="4325641" y="3181158"/>
                  <a:pt x="4627432" y="2131906"/>
                </a:cubicBezTo>
                <a:lnTo>
                  <a:pt x="4734094" y="1718520"/>
                </a:lnTo>
                <a:lnTo>
                  <a:pt x="3943368" y="1718520"/>
                </a:lnTo>
                <a:close/>
              </a:path>
            </a:pathLst>
          </a:custGeom>
          <a:gradFill flip="none" rotWithShape="1">
            <a:gsLst>
              <a:gs pos="60000">
                <a:schemeClr val="accent5">
                  <a:alpha val="0"/>
                </a:schemeClr>
              </a:gs>
              <a:gs pos="16000">
                <a:schemeClr val="accent5"/>
              </a:gs>
              <a:gs pos="100000">
                <a:schemeClr val="accent5">
                  <a:alpha val="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5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39152" y="1204442"/>
            <a:ext cx="4713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+mn-ea"/>
                <a:cs typeface="微软雅黑" panose="020B0503020204020204" charset="-122"/>
              </a:rPr>
              <a:t>消费需求的日益多元化</a:t>
            </a:r>
            <a:endParaRPr lang="zh-CN" altLang="en-US" sz="2400">
              <a:solidFill>
                <a:schemeClr val="bg1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7239423" y="1204442"/>
            <a:ext cx="4713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+mn-ea"/>
                <a:cs typeface="微软雅黑" panose="020B0503020204020204" charset="-122"/>
              </a:rPr>
              <a:t>出海品牌降低不确定性</a:t>
            </a:r>
            <a:endParaRPr lang="zh-CN" altLang="en-US" sz="2400">
              <a:solidFill>
                <a:schemeClr val="bg1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319512" y="1801032"/>
            <a:ext cx="3987839" cy="74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200">
                <a:latin typeface="+mn-ea"/>
                <a:cs typeface="微软雅黑" panose="020B0503020204020204" charset="-122"/>
              </a:rPr>
              <a:t>随着中国出海企业数量的不断增多，其对相关配套出海服务的多元化需求持续增强，直接推动国内服务商的进一步出海，从而增强对海外市场的辐射和服务。</a:t>
            </a:r>
            <a:endParaRPr lang="zh-CN" altLang="en-US" sz="1200">
              <a:latin typeface="+mn-ea"/>
              <a:cs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981605" y="1801032"/>
            <a:ext cx="3987839" cy="742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1200">
                <a:latin typeface="+mn-ea"/>
                <a:cs typeface="微软雅黑" panose="020B0503020204020204" charset="-122"/>
              </a:rPr>
              <a:t>企业通过出海的方式，掘金全球市场的同时，也在持续完善自身业务模式和提升创新能力，降低外部不确定性对自身发展的影响。</a:t>
            </a:r>
            <a:endParaRPr lang="zh-CN" altLang="en-US" sz="1200">
              <a:latin typeface="+mn-ea"/>
              <a:cs typeface="微软雅黑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6044" y="3332828"/>
            <a:ext cx="11999913" cy="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 flipH="1">
            <a:off x="1675147" y="3497215"/>
            <a:ext cx="375059" cy="58931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80" name="椭圆 79"/>
          <p:cNvSpPr>
            <a:spLocks noChangeAspect="1"/>
          </p:cNvSpPr>
          <p:nvPr/>
        </p:nvSpPr>
        <p:spPr>
          <a:xfrm flipH="1">
            <a:off x="1622978" y="2981946"/>
            <a:ext cx="472603" cy="472602"/>
          </a:xfrm>
          <a:prstGeom prst="ellipse">
            <a:avLst/>
          </a:prstGeom>
          <a:gradFill flip="none" rotWithShape="1">
            <a:gsLst>
              <a:gs pos="33000">
                <a:schemeClr val="accent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>
              <a:latin typeface="+mn-ea"/>
              <a:cs typeface="微软雅黑" panose="020B0503020204020204" charset="-122"/>
            </a:endParaRPr>
          </a:p>
        </p:txBody>
      </p:sp>
      <p:sp>
        <p:nvSpPr>
          <p:cNvPr id="81" name="椭圆 80"/>
          <p:cNvSpPr/>
          <p:nvPr/>
        </p:nvSpPr>
        <p:spPr>
          <a:xfrm flipH="1">
            <a:off x="3938108" y="3497215"/>
            <a:ext cx="375059" cy="58931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82" name="椭圆 81"/>
          <p:cNvSpPr>
            <a:spLocks noChangeAspect="1"/>
          </p:cNvSpPr>
          <p:nvPr/>
        </p:nvSpPr>
        <p:spPr>
          <a:xfrm flipH="1">
            <a:off x="3885939" y="2981946"/>
            <a:ext cx="472603" cy="472602"/>
          </a:xfrm>
          <a:prstGeom prst="ellipse">
            <a:avLst/>
          </a:prstGeom>
          <a:gradFill flip="none" rotWithShape="1">
            <a:gsLst>
              <a:gs pos="33000">
                <a:schemeClr val="accent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>
              <a:latin typeface="+mn-ea"/>
              <a:cs typeface="微软雅黑" panose="020B0503020204020204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5905072" y="3497215"/>
            <a:ext cx="375059" cy="58931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微软雅黑" panose="020B0503020204020204" charset="-122"/>
            </a:endParaRPr>
          </a:p>
        </p:txBody>
      </p:sp>
      <p:sp>
        <p:nvSpPr>
          <p:cNvPr id="84" name="椭圆 83"/>
          <p:cNvSpPr>
            <a:spLocks noChangeAspect="1"/>
          </p:cNvSpPr>
          <p:nvPr/>
        </p:nvSpPr>
        <p:spPr>
          <a:xfrm>
            <a:off x="5859697" y="2981946"/>
            <a:ext cx="472603" cy="472602"/>
          </a:xfrm>
          <a:prstGeom prst="ellipse">
            <a:avLst/>
          </a:prstGeom>
          <a:gradFill flip="none" rotWithShape="1">
            <a:gsLst>
              <a:gs pos="33000">
                <a:schemeClr val="accent5"/>
              </a:gs>
              <a:gs pos="100000">
                <a:schemeClr val="accent5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>
              <a:latin typeface="+mn-ea"/>
              <a:cs typeface="微软雅黑" panose="020B0503020204020204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7981605" y="3497215"/>
            <a:ext cx="375059" cy="58931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120" name="椭圆 119"/>
          <p:cNvSpPr>
            <a:spLocks noChangeAspect="1"/>
          </p:cNvSpPr>
          <p:nvPr/>
        </p:nvSpPr>
        <p:spPr>
          <a:xfrm>
            <a:off x="7936230" y="2981946"/>
            <a:ext cx="472603" cy="472602"/>
          </a:xfrm>
          <a:prstGeom prst="ellipse">
            <a:avLst/>
          </a:prstGeom>
          <a:gradFill flip="none" rotWithShape="1">
            <a:gsLst>
              <a:gs pos="33000">
                <a:schemeClr val="accent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>
              <a:latin typeface="+mn-ea"/>
              <a:cs typeface="微软雅黑" panose="020B0503020204020204" charset="-122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10288950" y="3497215"/>
            <a:ext cx="375059" cy="58931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122" name="椭圆 121"/>
          <p:cNvSpPr>
            <a:spLocks noChangeAspect="1"/>
          </p:cNvSpPr>
          <p:nvPr/>
        </p:nvSpPr>
        <p:spPr>
          <a:xfrm>
            <a:off x="10243575" y="2981946"/>
            <a:ext cx="472603" cy="472602"/>
          </a:xfrm>
          <a:prstGeom prst="ellipse">
            <a:avLst/>
          </a:prstGeom>
          <a:gradFill flip="none" rotWithShape="1">
            <a:gsLst>
              <a:gs pos="33000">
                <a:schemeClr val="accent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>
              <a:latin typeface="+mn-ea"/>
              <a:cs typeface="微软雅黑" panose="020B0503020204020204" charset="-122"/>
            </a:endParaRPr>
          </a:p>
        </p:txBody>
      </p:sp>
      <p:sp>
        <p:nvSpPr>
          <p:cNvPr id="90" name="图形 3"/>
          <p:cNvSpPr/>
          <p:nvPr/>
        </p:nvSpPr>
        <p:spPr>
          <a:xfrm>
            <a:off x="1741582" y="3100526"/>
            <a:ext cx="235393" cy="235441"/>
          </a:xfrm>
          <a:custGeom>
            <a:avLst/>
            <a:gdLst>
              <a:gd name="connsiteX0" fmla="*/ 1073470 w 1218950"/>
              <a:gd name="connsiteY0" fmla="*/ 850302 h 1219200"/>
              <a:gd name="connsiteX1" fmla="*/ 927995 w 1218950"/>
              <a:gd name="connsiteY1" fmla="*/ 704893 h 1219200"/>
              <a:gd name="connsiteX2" fmla="*/ 928119 w 1218950"/>
              <a:gd name="connsiteY2" fmla="*/ 700173 h 1219200"/>
              <a:gd name="connsiteX3" fmla="*/ 845666 w 1218950"/>
              <a:gd name="connsiteY3" fmla="*/ 681561 h 1219200"/>
              <a:gd name="connsiteX4" fmla="*/ 744439 w 1218950"/>
              <a:gd name="connsiteY4" fmla="*/ 814773 h 1219200"/>
              <a:gd name="connsiteX5" fmla="*/ 813676 w 1218950"/>
              <a:gd name="connsiteY5" fmla="*/ 934650 h 1219200"/>
              <a:gd name="connsiteX6" fmla="*/ 856015 w 1218950"/>
              <a:gd name="connsiteY6" fmla="*/ 928373 h 1219200"/>
              <a:gd name="connsiteX7" fmla="*/ 1001500 w 1218950"/>
              <a:gd name="connsiteY7" fmla="*/ 1073787 h 1219200"/>
              <a:gd name="connsiteX8" fmla="*/ 856015 w 1218950"/>
              <a:gd name="connsiteY8" fmla="*/ 1219200 h 1219200"/>
              <a:gd name="connsiteX9" fmla="*/ 710539 w 1218950"/>
              <a:gd name="connsiteY9" fmla="*/ 1073787 h 1219200"/>
              <a:gd name="connsiteX10" fmla="*/ 769809 w 1218950"/>
              <a:gd name="connsiteY10" fmla="*/ 956672 h 1219200"/>
              <a:gd name="connsiteX11" fmla="*/ 700805 w 1218950"/>
              <a:gd name="connsiteY11" fmla="*/ 837200 h 1219200"/>
              <a:gd name="connsiteX12" fmla="*/ 611003 w 1218950"/>
              <a:gd name="connsiteY12" fmla="*/ 854121 h 1219200"/>
              <a:gd name="connsiteX13" fmla="*/ 433671 w 1218950"/>
              <a:gd name="connsiteY13" fmla="*/ 778535 h 1219200"/>
              <a:gd name="connsiteX14" fmla="*/ 273034 w 1218950"/>
              <a:gd name="connsiteY14" fmla="*/ 905094 h 1219200"/>
              <a:gd name="connsiteX15" fmla="*/ 290958 w 1218950"/>
              <a:gd name="connsiteY15" fmla="*/ 975046 h 1219200"/>
              <a:gd name="connsiteX16" fmla="*/ 145475 w 1218950"/>
              <a:gd name="connsiteY16" fmla="*/ 1120454 h 1219200"/>
              <a:gd name="connsiteX17" fmla="*/ 0 w 1218950"/>
              <a:gd name="connsiteY17" fmla="*/ 975046 h 1219200"/>
              <a:gd name="connsiteX18" fmla="*/ 145475 w 1218950"/>
              <a:gd name="connsiteY18" fmla="*/ 829628 h 1219200"/>
              <a:gd name="connsiteX19" fmla="*/ 243693 w 1218950"/>
              <a:gd name="connsiteY19" fmla="*/ 867789 h 1219200"/>
              <a:gd name="connsiteX20" fmla="*/ 404236 w 1218950"/>
              <a:gd name="connsiteY20" fmla="*/ 741302 h 1219200"/>
              <a:gd name="connsiteX21" fmla="*/ 365229 w 1218950"/>
              <a:gd name="connsiteY21" fmla="*/ 608443 h 1219200"/>
              <a:gd name="connsiteX22" fmla="*/ 420617 w 1218950"/>
              <a:gd name="connsiteY22" fmla="*/ 453075 h 1219200"/>
              <a:gd name="connsiteX23" fmla="*/ 231019 w 1218950"/>
              <a:gd name="connsiteY23" fmla="*/ 263553 h 1219200"/>
              <a:gd name="connsiteX24" fmla="*/ 146250 w 1218950"/>
              <a:gd name="connsiteY24" fmla="*/ 290825 h 1219200"/>
              <a:gd name="connsiteX25" fmla="*/ 775 w 1218950"/>
              <a:gd name="connsiteY25" fmla="*/ 145415 h 1219200"/>
              <a:gd name="connsiteX26" fmla="*/ 146250 w 1218950"/>
              <a:gd name="connsiteY26" fmla="*/ 0 h 1219200"/>
              <a:gd name="connsiteX27" fmla="*/ 291726 w 1218950"/>
              <a:gd name="connsiteY27" fmla="*/ 145415 h 1219200"/>
              <a:gd name="connsiteX28" fmla="*/ 264294 w 1218950"/>
              <a:gd name="connsiteY28" fmla="*/ 230357 h 1219200"/>
              <a:gd name="connsiteX29" fmla="*/ 453694 w 1218950"/>
              <a:gd name="connsiteY29" fmla="*/ 419683 h 1219200"/>
              <a:gd name="connsiteX30" fmla="*/ 611003 w 1218950"/>
              <a:gd name="connsiteY30" fmla="*/ 362763 h 1219200"/>
              <a:gd name="connsiteX31" fmla="*/ 673263 w 1218950"/>
              <a:gd name="connsiteY31" fmla="*/ 370722 h 1219200"/>
              <a:gd name="connsiteX32" fmla="*/ 711601 w 1218950"/>
              <a:gd name="connsiteY32" fmla="*/ 273634 h 1219200"/>
              <a:gd name="connsiteX33" fmla="*/ 634758 w 1218950"/>
              <a:gd name="connsiteY33" fmla="*/ 145415 h 1219200"/>
              <a:gd name="connsiteX34" fmla="*/ 780239 w 1218950"/>
              <a:gd name="connsiteY34" fmla="*/ 0 h 1219200"/>
              <a:gd name="connsiteX35" fmla="*/ 925719 w 1218950"/>
              <a:gd name="connsiteY35" fmla="*/ 145415 h 1219200"/>
              <a:gd name="connsiteX36" fmla="*/ 780239 w 1218950"/>
              <a:gd name="connsiteY36" fmla="*/ 290825 h 1219200"/>
              <a:gd name="connsiteX37" fmla="*/ 753535 w 1218950"/>
              <a:gd name="connsiteY37" fmla="*/ 288343 h 1219200"/>
              <a:gd name="connsiteX38" fmla="*/ 715045 w 1218950"/>
              <a:gd name="connsiteY38" fmla="*/ 385819 h 1219200"/>
              <a:gd name="connsiteX39" fmla="*/ 856762 w 1218950"/>
              <a:gd name="connsiteY39" fmla="*/ 608443 h 1219200"/>
              <a:gd name="connsiteX40" fmla="*/ 855486 w 1218950"/>
              <a:gd name="connsiteY40" fmla="*/ 633565 h 1219200"/>
              <a:gd name="connsiteX41" fmla="*/ 937896 w 1218950"/>
              <a:gd name="connsiteY41" fmla="*/ 652167 h 1219200"/>
              <a:gd name="connsiteX42" fmla="*/ 1073470 w 1218950"/>
              <a:gd name="connsiteY42" fmla="*/ 559479 h 1219200"/>
              <a:gd name="connsiteX43" fmla="*/ 1218951 w 1218950"/>
              <a:gd name="connsiteY43" fmla="*/ 704893 h 1219200"/>
              <a:gd name="connsiteX44" fmla="*/ 1073470 w 1218950"/>
              <a:gd name="connsiteY44" fmla="*/ 850302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218950" h="1219200">
                <a:moveTo>
                  <a:pt x="1073470" y="850302"/>
                </a:moveTo>
                <a:cubicBezTo>
                  <a:pt x="993127" y="850302"/>
                  <a:pt x="927995" y="785203"/>
                  <a:pt x="927995" y="704893"/>
                </a:cubicBezTo>
                <a:cubicBezTo>
                  <a:pt x="927995" y="703307"/>
                  <a:pt x="928067" y="701745"/>
                  <a:pt x="928119" y="700173"/>
                </a:cubicBezTo>
                <a:lnTo>
                  <a:pt x="845666" y="681561"/>
                </a:lnTo>
                <a:cubicBezTo>
                  <a:pt x="828421" y="736925"/>
                  <a:pt x="792131" y="783893"/>
                  <a:pt x="744439" y="814773"/>
                </a:cubicBezTo>
                <a:lnTo>
                  <a:pt x="813676" y="934650"/>
                </a:lnTo>
                <a:cubicBezTo>
                  <a:pt x="827073" y="930583"/>
                  <a:pt x="841289" y="928373"/>
                  <a:pt x="856015" y="928373"/>
                </a:cubicBezTo>
                <a:cubicBezTo>
                  <a:pt x="936363" y="928373"/>
                  <a:pt x="1001500" y="993472"/>
                  <a:pt x="1001500" y="1073787"/>
                </a:cubicBezTo>
                <a:cubicBezTo>
                  <a:pt x="1001500" y="1154097"/>
                  <a:pt x="936363" y="1219200"/>
                  <a:pt x="856015" y="1219200"/>
                </a:cubicBezTo>
                <a:cubicBezTo>
                  <a:pt x="775671" y="1219200"/>
                  <a:pt x="710539" y="1154097"/>
                  <a:pt x="710539" y="1073787"/>
                </a:cubicBezTo>
                <a:cubicBezTo>
                  <a:pt x="710539" y="1025733"/>
                  <a:pt x="733866" y="983142"/>
                  <a:pt x="769809" y="956672"/>
                </a:cubicBezTo>
                <a:lnTo>
                  <a:pt x="700805" y="837200"/>
                </a:lnTo>
                <a:cubicBezTo>
                  <a:pt x="672987" y="848120"/>
                  <a:pt x="642693" y="854121"/>
                  <a:pt x="611003" y="854121"/>
                </a:cubicBezTo>
                <a:cubicBezTo>
                  <a:pt x="541309" y="854121"/>
                  <a:pt x="478401" y="825117"/>
                  <a:pt x="433671" y="778535"/>
                </a:cubicBezTo>
                <a:lnTo>
                  <a:pt x="273034" y="905094"/>
                </a:lnTo>
                <a:cubicBezTo>
                  <a:pt x="284447" y="925849"/>
                  <a:pt x="290958" y="949685"/>
                  <a:pt x="290958" y="975046"/>
                </a:cubicBezTo>
                <a:cubicBezTo>
                  <a:pt x="290958" y="1055356"/>
                  <a:pt x="225823" y="1120454"/>
                  <a:pt x="145475" y="1120454"/>
                </a:cubicBezTo>
                <a:cubicBezTo>
                  <a:pt x="65136" y="1120454"/>
                  <a:pt x="0" y="1055356"/>
                  <a:pt x="0" y="975046"/>
                </a:cubicBezTo>
                <a:cubicBezTo>
                  <a:pt x="0" y="894731"/>
                  <a:pt x="65136" y="829628"/>
                  <a:pt x="145475" y="829628"/>
                </a:cubicBezTo>
                <a:cubicBezTo>
                  <a:pt x="183342" y="829628"/>
                  <a:pt x="217815" y="844096"/>
                  <a:pt x="243693" y="867789"/>
                </a:cubicBezTo>
                <a:lnTo>
                  <a:pt x="404236" y="741302"/>
                </a:lnTo>
                <a:cubicBezTo>
                  <a:pt x="379556" y="702997"/>
                  <a:pt x="365229" y="657396"/>
                  <a:pt x="365229" y="608443"/>
                </a:cubicBezTo>
                <a:cubicBezTo>
                  <a:pt x="365229" y="549502"/>
                  <a:pt x="386004" y="495410"/>
                  <a:pt x="420617" y="453075"/>
                </a:cubicBezTo>
                <a:lnTo>
                  <a:pt x="231019" y="263553"/>
                </a:lnTo>
                <a:cubicBezTo>
                  <a:pt x="207143" y="280697"/>
                  <a:pt x="177889" y="290825"/>
                  <a:pt x="146250" y="290825"/>
                </a:cubicBezTo>
                <a:cubicBezTo>
                  <a:pt x="65903" y="290825"/>
                  <a:pt x="775" y="225725"/>
                  <a:pt x="775" y="145415"/>
                </a:cubicBezTo>
                <a:cubicBezTo>
                  <a:pt x="775" y="65106"/>
                  <a:pt x="65903" y="0"/>
                  <a:pt x="146250" y="0"/>
                </a:cubicBezTo>
                <a:cubicBezTo>
                  <a:pt x="226596" y="0"/>
                  <a:pt x="291726" y="65106"/>
                  <a:pt x="291726" y="145415"/>
                </a:cubicBezTo>
                <a:cubicBezTo>
                  <a:pt x="291726" y="177135"/>
                  <a:pt x="281536" y="206459"/>
                  <a:pt x="264294" y="230357"/>
                </a:cubicBezTo>
                <a:lnTo>
                  <a:pt x="453694" y="419683"/>
                </a:lnTo>
                <a:cubicBezTo>
                  <a:pt x="496322" y="384151"/>
                  <a:pt x="551158" y="362763"/>
                  <a:pt x="611003" y="362763"/>
                </a:cubicBezTo>
                <a:cubicBezTo>
                  <a:pt x="632511" y="362763"/>
                  <a:pt x="653375" y="365535"/>
                  <a:pt x="673263" y="370722"/>
                </a:cubicBezTo>
                <a:lnTo>
                  <a:pt x="711601" y="273634"/>
                </a:lnTo>
                <a:cubicBezTo>
                  <a:pt x="665872" y="249124"/>
                  <a:pt x="634758" y="200906"/>
                  <a:pt x="634758" y="145415"/>
                </a:cubicBezTo>
                <a:cubicBezTo>
                  <a:pt x="634758" y="65106"/>
                  <a:pt x="699900" y="0"/>
                  <a:pt x="780239" y="0"/>
                </a:cubicBezTo>
                <a:cubicBezTo>
                  <a:pt x="860582" y="0"/>
                  <a:pt x="925719" y="65106"/>
                  <a:pt x="925719" y="145415"/>
                </a:cubicBezTo>
                <a:cubicBezTo>
                  <a:pt x="925719" y="225725"/>
                  <a:pt x="860582" y="290825"/>
                  <a:pt x="780239" y="290825"/>
                </a:cubicBezTo>
                <a:cubicBezTo>
                  <a:pt x="771114" y="290825"/>
                  <a:pt x="762198" y="289947"/>
                  <a:pt x="753535" y="288343"/>
                </a:cubicBezTo>
                <a:lnTo>
                  <a:pt x="715045" y="385819"/>
                </a:lnTo>
                <a:cubicBezTo>
                  <a:pt x="798765" y="424986"/>
                  <a:pt x="856762" y="509930"/>
                  <a:pt x="856762" y="608443"/>
                </a:cubicBezTo>
                <a:cubicBezTo>
                  <a:pt x="856762" y="616925"/>
                  <a:pt x="856324" y="625307"/>
                  <a:pt x="855486" y="633565"/>
                </a:cubicBezTo>
                <a:lnTo>
                  <a:pt x="937896" y="652167"/>
                </a:lnTo>
                <a:cubicBezTo>
                  <a:pt x="959023" y="597932"/>
                  <a:pt x="1011739" y="559479"/>
                  <a:pt x="1073470" y="559479"/>
                </a:cubicBezTo>
                <a:cubicBezTo>
                  <a:pt x="1153819" y="559479"/>
                  <a:pt x="1218951" y="624578"/>
                  <a:pt x="1218951" y="704893"/>
                </a:cubicBezTo>
                <a:cubicBezTo>
                  <a:pt x="1218951" y="785203"/>
                  <a:pt x="1153819" y="850302"/>
                  <a:pt x="1073470" y="850302"/>
                </a:cubicBezTo>
                <a:close/>
              </a:path>
            </a:pathLst>
          </a:custGeom>
          <a:solidFill>
            <a:schemeClr val="bg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  <a:latin typeface="+mn-ea"/>
              <a:cs typeface="微软雅黑" panose="020B0503020204020204" charset="-122"/>
            </a:endParaRPr>
          </a:p>
        </p:txBody>
      </p:sp>
      <p:grpSp>
        <p:nvGrpSpPr>
          <p:cNvPr id="95" name="图形 11"/>
          <p:cNvGrpSpPr/>
          <p:nvPr/>
        </p:nvGrpSpPr>
        <p:grpSpPr>
          <a:xfrm>
            <a:off x="4009167" y="3085930"/>
            <a:ext cx="235492" cy="227046"/>
            <a:chOff x="5486338" y="2841109"/>
            <a:chExt cx="1219465" cy="1175726"/>
          </a:xfrm>
          <a:solidFill>
            <a:schemeClr val="bg1"/>
          </a:solidFill>
        </p:grpSpPr>
        <p:sp>
          <p:nvSpPr>
            <p:cNvPr id="105" name="任意多边形: 形状 126"/>
            <p:cNvSpPr/>
            <p:nvPr/>
          </p:nvSpPr>
          <p:spPr>
            <a:xfrm>
              <a:off x="5486338" y="2841109"/>
              <a:ext cx="1219465" cy="864738"/>
            </a:xfrm>
            <a:custGeom>
              <a:avLst/>
              <a:gdLst>
                <a:gd name="connsiteX0" fmla="*/ 762918 w 1219465"/>
                <a:gd name="connsiteY0" fmla="*/ 232512 h 864738"/>
                <a:gd name="connsiteX1" fmla="*/ 801923 w 1219465"/>
                <a:gd name="connsiteY1" fmla="*/ 217082 h 864738"/>
                <a:gd name="connsiteX2" fmla="*/ 878504 w 1219465"/>
                <a:gd name="connsiteY2" fmla="*/ 41727 h 864738"/>
                <a:gd name="connsiteX3" fmla="*/ 863917 w 1219465"/>
                <a:gd name="connsiteY3" fmla="*/ 4040 h 864738"/>
                <a:gd name="connsiteX4" fmla="*/ 862931 w 1219465"/>
                <a:gd name="connsiteY4" fmla="*/ 3627 h 864738"/>
                <a:gd name="connsiteX5" fmla="*/ 823974 w 1219465"/>
                <a:gd name="connsiteY5" fmla="*/ 18867 h 864738"/>
                <a:gd name="connsiteX6" fmla="*/ 747345 w 1219465"/>
                <a:gd name="connsiteY6" fmla="*/ 194365 h 864738"/>
                <a:gd name="connsiteX7" fmla="*/ 762498 w 1219465"/>
                <a:gd name="connsiteY7" fmla="*/ 232336 h 864738"/>
                <a:gd name="connsiteX8" fmla="*/ 762918 w 1219465"/>
                <a:gd name="connsiteY8" fmla="*/ 232512 h 864738"/>
                <a:gd name="connsiteX9" fmla="*/ 415875 w 1219465"/>
                <a:gd name="connsiteY9" fmla="*/ 217082 h 864738"/>
                <a:gd name="connsiteX10" fmla="*/ 443450 w 1219465"/>
                <a:gd name="connsiteY10" fmla="*/ 235465 h 864738"/>
                <a:gd name="connsiteX11" fmla="*/ 454451 w 1219465"/>
                <a:gd name="connsiteY11" fmla="*/ 233465 h 864738"/>
                <a:gd name="connsiteX12" fmla="*/ 471245 w 1219465"/>
                <a:gd name="connsiteY12" fmla="*/ 196043 h 864738"/>
                <a:gd name="connsiteX13" fmla="*/ 470977 w 1219465"/>
                <a:gd name="connsiteY13" fmla="*/ 195365 h 864738"/>
                <a:gd name="connsiteX14" fmla="*/ 398825 w 1219465"/>
                <a:gd name="connsiteY14" fmla="*/ 18343 h 864738"/>
                <a:gd name="connsiteX15" fmla="*/ 360249 w 1219465"/>
                <a:gd name="connsiteY15" fmla="*/ 2103 h 864738"/>
                <a:gd name="connsiteX16" fmla="*/ 343384 w 1219465"/>
                <a:gd name="connsiteY16" fmla="*/ 39345 h 864738"/>
                <a:gd name="connsiteX17" fmla="*/ 343723 w 1219465"/>
                <a:gd name="connsiteY17" fmla="*/ 40203 h 864738"/>
                <a:gd name="connsiteX18" fmla="*/ 19397 w 1219465"/>
                <a:gd name="connsiteY18" fmla="*/ 388103 h 864738"/>
                <a:gd name="connsiteX19" fmla="*/ 197943 w 1219465"/>
                <a:gd name="connsiteY19" fmla="*/ 463303 h 864738"/>
                <a:gd name="connsiteX20" fmla="*/ 236948 w 1219465"/>
                <a:gd name="connsiteY20" fmla="*/ 448016 h 864738"/>
                <a:gd name="connsiteX21" fmla="*/ 221473 w 1219465"/>
                <a:gd name="connsiteY21" fmla="*/ 409957 h 864738"/>
                <a:gd name="connsiteX22" fmla="*/ 221375 w 1219465"/>
                <a:gd name="connsiteY22" fmla="*/ 409916 h 864738"/>
                <a:gd name="connsiteX23" fmla="*/ 42924 w 1219465"/>
                <a:gd name="connsiteY23" fmla="*/ 334668 h 864738"/>
                <a:gd name="connsiteX24" fmla="*/ 3824 w 1219465"/>
                <a:gd name="connsiteY24" fmla="*/ 349765 h 864738"/>
                <a:gd name="connsiteX25" fmla="*/ 18655 w 1219465"/>
                <a:gd name="connsiteY25" fmla="*/ 387790 h 864738"/>
                <a:gd name="connsiteX26" fmla="*/ 19397 w 1219465"/>
                <a:gd name="connsiteY26" fmla="*/ 388103 h 864738"/>
                <a:gd name="connsiteX27" fmla="*/ 199181 w 1219465"/>
                <a:gd name="connsiteY27" fmla="*/ 734718 h 864738"/>
                <a:gd name="connsiteX28" fmla="*/ 18683 w 1219465"/>
                <a:gd name="connsiteY28" fmla="*/ 805584 h 864738"/>
                <a:gd name="connsiteX29" fmla="*/ 1924 w 1219465"/>
                <a:gd name="connsiteY29" fmla="*/ 843096 h 864738"/>
                <a:gd name="connsiteX30" fmla="*/ 2157 w 1219465"/>
                <a:gd name="connsiteY30" fmla="*/ 843684 h 864738"/>
                <a:gd name="connsiteX31" fmla="*/ 29732 w 1219465"/>
                <a:gd name="connsiteY31" fmla="*/ 861924 h 864738"/>
                <a:gd name="connsiteX32" fmla="*/ 40733 w 1219465"/>
                <a:gd name="connsiteY32" fmla="*/ 859877 h 864738"/>
                <a:gd name="connsiteX33" fmla="*/ 221089 w 1219465"/>
                <a:gd name="connsiteY33" fmla="*/ 789011 h 864738"/>
                <a:gd name="connsiteX34" fmla="*/ 237767 w 1219465"/>
                <a:gd name="connsiteY34" fmla="*/ 751537 h 864738"/>
                <a:gd name="connsiteX35" fmla="*/ 237615 w 1219465"/>
                <a:gd name="connsiteY35" fmla="*/ 751149 h 864738"/>
                <a:gd name="connsiteX36" fmla="*/ 199181 w 1219465"/>
                <a:gd name="connsiteY36" fmla="*/ 734718 h 864738"/>
                <a:gd name="connsiteX37" fmla="*/ 1199783 w 1219465"/>
                <a:gd name="connsiteY37" fmla="*/ 808965 h 864738"/>
                <a:gd name="connsiteX38" fmla="*/ 1021094 w 1219465"/>
                <a:gd name="connsiteY38" fmla="*/ 733908 h 864738"/>
                <a:gd name="connsiteX39" fmla="*/ 982279 w 1219465"/>
                <a:gd name="connsiteY39" fmla="*/ 749196 h 864738"/>
                <a:gd name="connsiteX40" fmla="*/ 997289 w 1219465"/>
                <a:gd name="connsiteY40" fmla="*/ 787079 h 864738"/>
                <a:gd name="connsiteX41" fmla="*/ 997805 w 1219465"/>
                <a:gd name="connsiteY41" fmla="*/ 787296 h 864738"/>
                <a:gd name="connsiteX42" fmla="*/ 1176399 w 1219465"/>
                <a:gd name="connsiteY42" fmla="*/ 862401 h 864738"/>
                <a:gd name="connsiteX43" fmla="*/ 1215404 w 1219465"/>
                <a:gd name="connsiteY43" fmla="*/ 847113 h 864738"/>
                <a:gd name="connsiteX44" fmla="*/ 1200139 w 1219465"/>
                <a:gd name="connsiteY44" fmla="*/ 809115 h 864738"/>
                <a:gd name="connsiteX45" fmla="*/ 1199783 w 1219465"/>
                <a:gd name="connsiteY45" fmla="*/ 808965 h 864738"/>
                <a:gd name="connsiteX46" fmla="*/ 1009283 w 1219465"/>
                <a:gd name="connsiteY46" fmla="*/ 464541 h 864738"/>
                <a:gd name="connsiteX47" fmla="*/ 1020284 w 1219465"/>
                <a:gd name="connsiteY47" fmla="*/ 462494 h 864738"/>
                <a:gd name="connsiteX48" fmla="*/ 1200783 w 1219465"/>
                <a:gd name="connsiteY48" fmla="*/ 391628 h 864738"/>
                <a:gd name="connsiteX49" fmla="*/ 1217541 w 1219465"/>
                <a:gd name="connsiteY49" fmla="*/ 354116 h 864738"/>
                <a:gd name="connsiteX50" fmla="*/ 1217309 w 1219465"/>
                <a:gd name="connsiteY50" fmla="*/ 353528 h 864738"/>
                <a:gd name="connsiteX51" fmla="*/ 1178732 w 1219465"/>
                <a:gd name="connsiteY51" fmla="*/ 337287 h 864738"/>
                <a:gd name="connsiteX52" fmla="*/ 998234 w 1219465"/>
                <a:gd name="connsiteY52" fmla="*/ 408201 h 864738"/>
                <a:gd name="connsiteX53" fmla="*/ 981440 w 1219465"/>
                <a:gd name="connsiteY53" fmla="*/ 445623 h 864738"/>
                <a:gd name="connsiteX54" fmla="*/ 981708 w 1219465"/>
                <a:gd name="connsiteY54" fmla="*/ 446301 h 864738"/>
                <a:gd name="connsiteX55" fmla="*/ 1009140 w 1219465"/>
                <a:gd name="connsiteY55" fmla="*/ 464541 h 864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219465" h="864738">
                  <a:moveTo>
                    <a:pt x="762918" y="232512"/>
                  </a:moveTo>
                  <a:cubicBezTo>
                    <a:pt x="777954" y="238713"/>
                    <a:pt x="795199" y="231891"/>
                    <a:pt x="801923" y="217082"/>
                  </a:cubicBezTo>
                  <a:lnTo>
                    <a:pt x="878504" y="41727"/>
                  </a:lnTo>
                  <a:cubicBezTo>
                    <a:pt x="884883" y="27292"/>
                    <a:pt x="878352" y="10419"/>
                    <a:pt x="863917" y="4040"/>
                  </a:cubicBezTo>
                  <a:cubicBezTo>
                    <a:pt x="863591" y="3896"/>
                    <a:pt x="863262" y="3758"/>
                    <a:pt x="862931" y="3627"/>
                  </a:cubicBezTo>
                  <a:cubicBezTo>
                    <a:pt x="847961" y="-2703"/>
                    <a:pt x="830675" y="4060"/>
                    <a:pt x="823974" y="18867"/>
                  </a:cubicBezTo>
                  <a:lnTo>
                    <a:pt x="747345" y="194365"/>
                  </a:lnTo>
                  <a:cubicBezTo>
                    <a:pt x="741044" y="209034"/>
                    <a:pt x="747828" y="226035"/>
                    <a:pt x="762498" y="232336"/>
                  </a:cubicBezTo>
                  <a:cubicBezTo>
                    <a:pt x="762638" y="232396"/>
                    <a:pt x="762778" y="232455"/>
                    <a:pt x="762918" y="232512"/>
                  </a:cubicBezTo>
                  <a:close/>
                  <a:moveTo>
                    <a:pt x="415875" y="217082"/>
                  </a:moveTo>
                  <a:cubicBezTo>
                    <a:pt x="420458" y="228259"/>
                    <a:pt x="431370" y="235533"/>
                    <a:pt x="443450" y="235465"/>
                  </a:cubicBezTo>
                  <a:cubicBezTo>
                    <a:pt x="447207" y="235461"/>
                    <a:pt x="450933" y="234784"/>
                    <a:pt x="454451" y="233465"/>
                  </a:cubicBezTo>
                  <a:cubicBezTo>
                    <a:pt x="469422" y="227769"/>
                    <a:pt x="476941" y="211014"/>
                    <a:pt x="471245" y="196043"/>
                  </a:cubicBezTo>
                  <a:cubicBezTo>
                    <a:pt x="471159" y="195816"/>
                    <a:pt x="471069" y="195590"/>
                    <a:pt x="470977" y="195365"/>
                  </a:cubicBezTo>
                  <a:lnTo>
                    <a:pt x="398825" y="18343"/>
                  </a:lnTo>
                  <a:cubicBezTo>
                    <a:pt x="392527" y="3335"/>
                    <a:pt x="375385" y="-3882"/>
                    <a:pt x="360249" y="2103"/>
                  </a:cubicBezTo>
                  <a:cubicBezTo>
                    <a:pt x="345308" y="7730"/>
                    <a:pt x="337757" y="24404"/>
                    <a:pt x="343384" y="39345"/>
                  </a:cubicBezTo>
                  <a:cubicBezTo>
                    <a:pt x="343493" y="39632"/>
                    <a:pt x="343606" y="39919"/>
                    <a:pt x="343723" y="40203"/>
                  </a:cubicBezTo>
                  <a:close/>
                  <a:moveTo>
                    <a:pt x="19397" y="388103"/>
                  </a:moveTo>
                  <a:lnTo>
                    <a:pt x="197943" y="463303"/>
                  </a:lnTo>
                  <a:cubicBezTo>
                    <a:pt x="212941" y="469496"/>
                    <a:pt x="230153" y="462750"/>
                    <a:pt x="236948" y="448016"/>
                  </a:cubicBezTo>
                  <a:cubicBezTo>
                    <a:pt x="243184" y="433233"/>
                    <a:pt x="236256" y="416193"/>
                    <a:pt x="221473" y="409957"/>
                  </a:cubicBezTo>
                  <a:cubicBezTo>
                    <a:pt x="221440" y="409943"/>
                    <a:pt x="221407" y="409929"/>
                    <a:pt x="221375" y="409916"/>
                  </a:cubicBezTo>
                  <a:lnTo>
                    <a:pt x="42924" y="334668"/>
                  </a:lnTo>
                  <a:cubicBezTo>
                    <a:pt x="27954" y="328199"/>
                    <a:pt x="10562" y="334915"/>
                    <a:pt x="3824" y="349765"/>
                  </a:cubicBezTo>
                  <a:cubicBezTo>
                    <a:pt x="-2581" y="364361"/>
                    <a:pt x="4059" y="381386"/>
                    <a:pt x="18655" y="387790"/>
                  </a:cubicBezTo>
                  <a:cubicBezTo>
                    <a:pt x="18901" y="387898"/>
                    <a:pt x="19148" y="388002"/>
                    <a:pt x="19397" y="388103"/>
                  </a:cubicBezTo>
                  <a:close/>
                  <a:moveTo>
                    <a:pt x="199181" y="734718"/>
                  </a:moveTo>
                  <a:lnTo>
                    <a:pt x="18683" y="805584"/>
                  </a:lnTo>
                  <a:cubicBezTo>
                    <a:pt x="3696" y="811315"/>
                    <a:pt x="-3807" y="828109"/>
                    <a:pt x="1924" y="843096"/>
                  </a:cubicBezTo>
                  <a:cubicBezTo>
                    <a:pt x="2000" y="843293"/>
                    <a:pt x="2077" y="843489"/>
                    <a:pt x="2157" y="843684"/>
                  </a:cubicBezTo>
                  <a:cubicBezTo>
                    <a:pt x="6806" y="854788"/>
                    <a:pt x="17694" y="861990"/>
                    <a:pt x="29732" y="861924"/>
                  </a:cubicBezTo>
                  <a:cubicBezTo>
                    <a:pt x="33494" y="861928"/>
                    <a:pt x="37224" y="861233"/>
                    <a:pt x="40733" y="859877"/>
                  </a:cubicBezTo>
                  <a:lnTo>
                    <a:pt x="221089" y="789011"/>
                  </a:lnTo>
                  <a:cubicBezTo>
                    <a:pt x="236042" y="783268"/>
                    <a:pt x="243509" y="766491"/>
                    <a:pt x="237767" y="751537"/>
                  </a:cubicBezTo>
                  <a:cubicBezTo>
                    <a:pt x="237717" y="751407"/>
                    <a:pt x="237666" y="751278"/>
                    <a:pt x="237615" y="751149"/>
                  </a:cubicBezTo>
                  <a:cubicBezTo>
                    <a:pt x="231450" y="736085"/>
                    <a:pt x="214330" y="728766"/>
                    <a:pt x="199181" y="734718"/>
                  </a:cubicBezTo>
                  <a:close/>
                  <a:moveTo>
                    <a:pt x="1199783" y="808965"/>
                  </a:moveTo>
                  <a:lnTo>
                    <a:pt x="1021094" y="733908"/>
                  </a:lnTo>
                  <a:cubicBezTo>
                    <a:pt x="1006152" y="727514"/>
                    <a:pt x="988847" y="734330"/>
                    <a:pt x="982279" y="749196"/>
                  </a:cubicBezTo>
                  <a:cubicBezTo>
                    <a:pt x="975963" y="763802"/>
                    <a:pt x="982683" y="780763"/>
                    <a:pt x="997289" y="787079"/>
                  </a:cubicBezTo>
                  <a:cubicBezTo>
                    <a:pt x="997460" y="787153"/>
                    <a:pt x="997632" y="787225"/>
                    <a:pt x="997805" y="787296"/>
                  </a:cubicBezTo>
                  <a:lnTo>
                    <a:pt x="1176399" y="862401"/>
                  </a:lnTo>
                  <a:cubicBezTo>
                    <a:pt x="1191395" y="868674"/>
                    <a:pt x="1208663" y="861906"/>
                    <a:pt x="1215404" y="847113"/>
                  </a:cubicBezTo>
                  <a:cubicBezTo>
                    <a:pt x="1221681" y="832405"/>
                    <a:pt x="1214847" y="815392"/>
                    <a:pt x="1200139" y="809115"/>
                  </a:cubicBezTo>
                  <a:cubicBezTo>
                    <a:pt x="1200020" y="809064"/>
                    <a:pt x="1199902" y="809014"/>
                    <a:pt x="1199783" y="808965"/>
                  </a:cubicBezTo>
                  <a:close/>
                  <a:moveTo>
                    <a:pt x="1009283" y="464541"/>
                  </a:moveTo>
                  <a:cubicBezTo>
                    <a:pt x="1013045" y="464545"/>
                    <a:pt x="1016775" y="463850"/>
                    <a:pt x="1020284" y="462494"/>
                  </a:cubicBezTo>
                  <a:lnTo>
                    <a:pt x="1200783" y="391628"/>
                  </a:lnTo>
                  <a:cubicBezTo>
                    <a:pt x="1215769" y="385897"/>
                    <a:pt x="1223272" y="369102"/>
                    <a:pt x="1217541" y="354116"/>
                  </a:cubicBezTo>
                  <a:cubicBezTo>
                    <a:pt x="1217466" y="353919"/>
                    <a:pt x="1217388" y="353723"/>
                    <a:pt x="1217309" y="353528"/>
                  </a:cubicBezTo>
                  <a:cubicBezTo>
                    <a:pt x="1210991" y="338539"/>
                    <a:pt x="1193868" y="331330"/>
                    <a:pt x="1178732" y="337287"/>
                  </a:cubicBezTo>
                  <a:lnTo>
                    <a:pt x="998234" y="408201"/>
                  </a:lnTo>
                  <a:cubicBezTo>
                    <a:pt x="983262" y="413897"/>
                    <a:pt x="975744" y="430652"/>
                    <a:pt x="981440" y="445623"/>
                  </a:cubicBezTo>
                  <a:cubicBezTo>
                    <a:pt x="981526" y="445850"/>
                    <a:pt x="981616" y="446076"/>
                    <a:pt x="981708" y="446301"/>
                  </a:cubicBezTo>
                  <a:cubicBezTo>
                    <a:pt x="986285" y="457400"/>
                    <a:pt x="997135" y="464614"/>
                    <a:pt x="1009140" y="464541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110" name="任意多边形: 形状 127"/>
            <p:cNvSpPr/>
            <p:nvPr/>
          </p:nvSpPr>
          <p:spPr>
            <a:xfrm>
              <a:off x="5937646" y="3409664"/>
              <a:ext cx="314659" cy="423195"/>
            </a:xfrm>
            <a:custGeom>
              <a:avLst/>
              <a:gdLst>
                <a:gd name="connsiteX0" fmla="*/ 314658 w 314659"/>
                <a:gd name="connsiteY0" fmla="*/ 24765 h 423195"/>
                <a:gd name="connsiteX1" fmla="*/ 293037 w 314659"/>
                <a:gd name="connsiteY1" fmla="*/ 1762 h 423195"/>
                <a:gd name="connsiteX2" fmla="*/ 254937 w 314659"/>
                <a:gd name="connsiteY2" fmla="*/ 44244 h 423195"/>
                <a:gd name="connsiteX3" fmla="*/ 254556 w 314659"/>
                <a:gd name="connsiteY3" fmla="*/ 49530 h 423195"/>
                <a:gd name="connsiteX4" fmla="*/ 292656 w 314659"/>
                <a:gd name="connsiteY4" fmla="*/ 49530 h 423195"/>
                <a:gd name="connsiteX5" fmla="*/ 314658 w 314659"/>
                <a:gd name="connsiteY5" fmla="*/ 24765 h 423195"/>
                <a:gd name="connsiteX6" fmla="*/ 21622 w 314659"/>
                <a:gd name="connsiteY6" fmla="*/ 0 h 423195"/>
                <a:gd name="connsiteX7" fmla="*/ 0 w 314659"/>
                <a:gd name="connsiteY7" fmla="*/ 24765 h 423195"/>
                <a:gd name="connsiteX8" fmla="*/ 21622 w 314659"/>
                <a:gd name="connsiteY8" fmla="*/ 49530 h 423195"/>
                <a:gd name="connsiteX9" fmla="*/ 60055 w 314659"/>
                <a:gd name="connsiteY9" fmla="*/ 49530 h 423195"/>
                <a:gd name="connsiteX10" fmla="*/ 59531 w 314659"/>
                <a:gd name="connsiteY10" fmla="*/ 43291 h 423195"/>
                <a:gd name="connsiteX11" fmla="*/ 21622 w 314659"/>
                <a:gd name="connsiteY11" fmla="*/ 0 h 423195"/>
                <a:gd name="connsiteX12" fmla="*/ 121206 w 314659"/>
                <a:gd name="connsiteY12" fmla="*/ 107680 h 423195"/>
                <a:gd name="connsiteX13" fmla="*/ 124825 w 314659"/>
                <a:gd name="connsiteY13" fmla="*/ 421291 h 423195"/>
                <a:gd name="connsiteX14" fmla="*/ 124825 w 314659"/>
                <a:gd name="connsiteY14" fmla="*/ 423196 h 423195"/>
                <a:gd name="connsiteX15" fmla="*/ 189976 w 314659"/>
                <a:gd name="connsiteY15" fmla="*/ 423196 h 423195"/>
                <a:gd name="connsiteX16" fmla="*/ 189976 w 314659"/>
                <a:gd name="connsiteY16" fmla="*/ 421862 h 423195"/>
                <a:gd name="connsiteX17" fmla="*/ 193548 w 314659"/>
                <a:gd name="connsiteY17" fmla="*/ 107537 h 423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4659" h="423195">
                  <a:moveTo>
                    <a:pt x="314658" y="24765"/>
                  </a:moveTo>
                  <a:cubicBezTo>
                    <a:pt x="314753" y="12553"/>
                    <a:pt x="305231" y="2423"/>
                    <a:pt x="293037" y="1762"/>
                  </a:cubicBezTo>
                  <a:cubicBezTo>
                    <a:pt x="267271" y="1762"/>
                    <a:pt x="258175" y="24908"/>
                    <a:pt x="254937" y="44244"/>
                  </a:cubicBezTo>
                  <a:cubicBezTo>
                    <a:pt x="254937" y="45339"/>
                    <a:pt x="254651" y="47101"/>
                    <a:pt x="254556" y="49530"/>
                  </a:cubicBezTo>
                  <a:lnTo>
                    <a:pt x="292656" y="49530"/>
                  </a:lnTo>
                  <a:cubicBezTo>
                    <a:pt x="303895" y="49530"/>
                    <a:pt x="314658" y="37195"/>
                    <a:pt x="314658" y="24765"/>
                  </a:cubicBezTo>
                  <a:close/>
                  <a:moveTo>
                    <a:pt x="21622" y="0"/>
                  </a:moveTo>
                  <a:cubicBezTo>
                    <a:pt x="10716" y="0"/>
                    <a:pt x="0" y="12335"/>
                    <a:pt x="0" y="24765"/>
                  </a:cubicBezTo>
                  <a:cubicBezTo>
                    <a:pt x="0" y="37195"/>
                    <a:pt x="10716" y="49530"/>
                    <a:pt x="21622" y="49530"/>
                  </a:cubicBezTo>
                  <a:lnTo>
                    <a:pt x="60055" y="49530"/>
                  </a:lnTo>
                  <a:cubicBezTo>
                    <a:pt x="60055" y="46673"/>
                    <a:pt x="59626" y="44529"/>
                    <a:pt x="59531" y="43291"/>
                  </a:cubicBezTo>
                  <a:cubicBezTo>
                    <a:pt x="56864" y="27051"/>
                    <a:pt x="48816" y="0"/>
                    <a:pt x="21622" y="0"/>
                  </a:cubicBezTo>
                  <a:close/>
                  <a:moveTo>
                    <a:pt x="121206" y="107680"/>
                  </a:moveTo>
                  <a:cubicBezTo>
                    <a:pt x="123444" y="201882"/>
                    <a:pt x="124825" y="358235"/>
                    <a:pt x="124825" y="421291"/>
                  </a:cubicBezTo>
                  <a:cubicBezTo>
                    <a:pt x="124896" y="421924"/>
                    <a:pt x="124896" y="422563"/>
                    <a:pt x="124825" y="423196"/>
                  </a:cubicBezTo>
                  <a:lnTo>
                    <a:pt x="189976" y="423196"/>
                  </a:lnTo>
                  <a:cubicBezTo>
                    <a:pt x="189976" y="422672"/>
                    <a:pt x="189976" y="422243"/>
                    <a:pt x="189976" y="421862"/>
                  </a:cubicBezTo>
                  <a:cubicBezTo>
                    <a:pt x="189976" y="358664"/>
                    <a:pt x="191357" y="201740"/>
                    <a:pt x="193548" y="107537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115" name="任意多边形: 形状 128"/>
            <p:cNvSpPr/>
            <p:nvPr/>
          </p:nvSpPr>
          <p:spPr>
            <a:xfrm>
              <a:off x="5741850" y="3092284"/>
              <a:ext cx="705830" cy="924551"/>
            </a:xfrm>
            <a:custGeom>
              <a:avLst/>
              <a:gdLst>
                <a:gd name="connsiteX0" fmla="*/ 353387 w 705830"/>
                <a:gd name="connsiteY0" fmla="*/ 7 h 924551"/>
                <a:gd name="connsiteX1" fmla="*/ 352435 w 705830"/>
                <a:gd name="connsiteY1" fmla="*/ 7 h 924551"/>
                <a:gd name="connsiteX2" fmla="*/ 103594 w 705830"/>
                <a:gd name="connsiteY2" fmla="*/ 99448 h 924551"/>
                <a:gd name="connsiteX3" fmla="*/ 94568 w 705830"/>
                <a:gd name="connsiteY3" fmla="*/ 577561 h 924551"/>
                <a:gd name="connsiteX4" fmla="*/ 124692 w 705830"/>
                <a:gd name="connsiteY4" fmla="*/ 605273 h 924551"/>
                <a:gd name="connsiteX5" fmla="*/ 157363 w 705830"/>
                <a:gd name="connsiteY5" fmla="*/ 740718 h 924551"/>
                <a:gd name="connsiteX6" fmla="*/ 261376 w 705830"/>
                <a:gd name="connsiteY6" fmla="*/ 740718 h 924551"/>
                <a:gd name="connsiteX7" fmla="*/ 261376 w 705830"/>
                <a:gd name="connsiteY7" fmla="*/ 738813 h 924551"/>
                <a:gd name="connsiteX8" fmla="*/ 257804 w 705830"/>
                <a:gd name="connsiteY8" fmla="*/ 425060 h 924551"/>
                <a:gd name="connsiteX9" fmla="*/ 217275 w 705830"/>
                <a:gd name="connsiteY9" fmla="*/ 425060 h 924551"/>
                <a:gd name="connsiteX10" fmla="*/ 136313 w 705830"/>
                <a:gd name="connsiteY10" fmla="*/ 342145 h 924551"/>
                <a:gd name="connsiteX11" fmla="*/ 217275 w 705830"/>
                <a:gd name="connsiteY11" fmla="*/ 259230 h 924551"/>
                <a:gd name="connsiteX12" fmla="*/ 313716 w 705830"/>
                <a:gd name="connsiteY12" fmla="*/ 351765 h 924551"/>
                <a:gd name="connsiteX13" fmla="*/ 314954 w 705830"/>
                <a:gd name="connsiteY13" fmla="*/ 366910 h 924551"/>
                <a:gd name="connsiteX14" fmla="*/ 391154 w 705830"/>
                <a:gd name="connsiteY14" fmla="*/ 366910 h 924551"/>
                <a:gd name="connsiteX15" fmla="*/ 392249 w 705830"/>
                <a:gd name="connsiteY15" fmla="*/ 352622 h 924551"/>
                <a:gd name="connsiteX16" fmla="*/ 488690 w 705830"/>
                <a:gd name="connsiteY16" fmla="*/ 260897 h 924551"/>
                <a:gd name="connsiteX17" fmla="*/ 569652 w 705830"/>
                <a:gd name="connsiteY17" fmla="*/ 341859 h 924551"/>
                <a:gd name="connsiteX18" fmla="*/ 488690 w 705830"/>
                <a:gd name="connsiteY18" fmla="*/ 424774 h 924551"/>
                <a:gd name="connsiteX19" fmla="*/ 448304 w 705830"/>
                <a:gd name="connsiteY19" fmla="*/ 424774 h 924551"/>
                <a:gd name="connsiteX20" fmla="*/ 444732 w 705830"/>
                <a:gd name="connsiteY20" fmla="*/ 739099 h 924551"/>
                <a:gd name="connsiteX21" fmla="*/ 444732 w 705830"/>
                <a:gd name="connsiteY21" fmla="*/ 740433 h 924551"/>
                <a:gd name="connsiteX22" fmla="*/ 548317 w 705830"/>
                <a:gd name="connsiteY22" fmla="*/ 740433 h 924551"/>
                <a:gd name="connsiteX23" fmla="*/ 581130 w 705830"/>
                <a:gd name="connsiteY23" fmla="*/ 602987 h 924551"/>
                <a:gd name="connsiteX24" fmla="*/ 705812 w 705830"/>
                <a:gd name="connsiteY24" fmla="*/ 342669 h 924551"/>
                <a:gd name="connsiteX25" fmla="*/ 602180 w 705830"/>
                <a:gd name="connsiteY25" fmla="*/ 99305 h 924551"/>
                <a:gd name="connsiteX26" fmla="*/ 353387 w 705830"/>
                <a:gd name="connsiteY26" fmla="*/ 7 h 924551"/>
                <a:gd name="connsiteX27" fmla="*/ 157363 w 705830"/>
                <a:gd name="connsiteY27" fmla="*/ 902786 h 924551"/>
                <a:gd name="connsiteX28" fmla="*/ 179507 w 705830"/>
                <a:gd name="connsiteY28" fmla="*/ 924551 h 924551"/>
                <a:gd name="connsiteX29" fmla="*/ 179508 w 705830"/>
                <a:gd name="connsiteY29" fmla="*/ 924551 h 924551"/>
                <a:gd name="connsiteX30" fmla="*/ 526171 w 705830"/>
                <a:gd name="connsiteY30" fmla="*/ 924551 h 924551"/>
                <a:gd name="connsiteX31" fmla="*/ 548316 w 705830"/>
                <a:gd name="connsiteY31" fmla="*/ 902788 h 924551"/>
                <a:gd name="connsiteX32" fmla="*/ 548316 w 705830"/>
                <a:gd name="connsiteY32" fmla="*/ 902786 h 924551"/>
                <a:gd name="connsiteX33" fmla="*/ 548317 w 705830"/>
                <a:gd name="connsiteY33" fmla="*/ 798678 h 924551"/>
                <a:gd name="connsiteX34" fmla="*/ 157363 w 705830"/>
                <a:gd name="connsiteY34" fmla="*/ 798678 h 92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705830" h="924551">
                  <a:moveTo>
                    <a:pt x="353387" y="7"/>
                  </a:moveTo>
                  <a:lnTo>
                    <a:pt x="352435" y="7"/>
                  </a:lnTo>
                  <a:cubicBezTo>
                    <a:pt x="259726" y="-396"/>
                    <a:pt x="170493" y="35263"/>
                    <a:pt x="103594" y="99448"/>
                  </a:cubicBezTo>
                  <a:cubicBezTo>
                    <a:pt x="-30926" y="228983"/>
                    <a:pt x="-34967" y="443041"/>
                    <a:pt x="94568" y="577561"/>
                  </a:cubicBezTo>
                  <a:cubicBezTo>
                    <a:pt x="104041" y="587398"/>
                    <a:pt x="114100" y="596653"/>
                    <a:pt x="124692" y="605273"/>
                  </a:cubicBezTo>
                  <a:cubicBezTo>
                    <a:pt x="136836" y="614798"/>
                    <a:pt x="156934" y="645326"/>
                    <a:pt x="157363" y="740718"/>
                  </a:cubicBezTo>
                  <a:lnTo>
                    <a:pt x="261376" y="740718"/>
                  </a:lnTo>
                  <a:cubicBezTo>
                    <a:pt x="261376" y="740052"/>
                    <a:pt x="261376" y="739480"/>
                    <a:pt x="261376" y="738813"/>
                  </a:cubicBezTo>
                  <a:cubicBezTo>
                    <a:pt x="261376" y="647897"/>
                    <a:pt x="259709" y="507356"/>
                    <a:pt x="257804" y="425060"/>
                  </a:cubicBezTo>
                  <a:lnTo>
                    <a:pt x="217275" y="425060"/>
                  </a:lnTo>
                  <a:cubicBezTo>
                    <a:pt x="173460" y="425060"/>
                    <a:pt x="136313" y="386960"/>
                    <a:pt x="136313" y="342145"/>
                  </a:cubicBezTo>
                  <a:cubicBezTo>
                    <a:pt x="136313" y="297330"/>
                    <a:pt x="173365" y="259230"/>
                    <a:pt x="217275" y="259230"/>
                  </a:cubicBezTo>
                  <a:cubicBezTo>
                    <a:pt x="267853" y="259230"/>
                    <a:pt x="304762" y="294663"/>
                    <a:pt x="313716" y="351765"/>
                  </a:cubicBezTo>
                  <a:cubicBezTo>
                    <a:pt x="314144" y="354337"/>
                    <a:pt x="314525" y="359623"/>
                    <a:pt x="314954" y="366910"/>
                  </a:cubicBezTo>
                  <a:lnTo>
                    <a:pt x="391154" y="366910"/>
                  </a:lnTo>
                  <a:cubicBezTo>
                    <a:pt x="391535" y="360147"/>
                    <a:pt x="391821" y="355289"/>
                    <a:pt x="392249" y="352622"/>
                  </a:cubicBezTo>
                  <a:cubicBezTo>
                    <a:pt x="401203" y="296044"/>
                    <a:pt x="438112" y="260897"/>
                    <a:pt x="488690" y="260897"/>
                  </a:cubicBezTo>
                  <a:cubicBezTo>
                    <a:pt x="533137" y="261536"/>
                    <a:pt x="569013" y="297412"/>
                    <a:pt x="569652" y="341859"/>
                  </a:cubicBezTo>
                  <a:cubicBezTo>
                    <a:pt x="569652" y="386769"/>
                    <a:pt x="532600" y="424774"/>
                    <a:pt x="488690" y="424774"/>
                  </a:cubicBezTo>
                  <a:lnTo>
                    <a:pt x="448304" y="424774"/>
                  </a:lnTo>
                  <a:cubicBezTo>
                    <a:pt x="446399" y="506642"/>
                    <a:pt x="444732" y="647897"/>
                    <a:pt x="444732" y="739099"/>
                  </a:cubicBezTo>
                  <a:cubicBezTo>
                    <a:pt x="444811" y="739540"/>
                    <a:pt x="444811" y="739992"/>
                    <a:pt x="444732" y="740433"/>
                  </a:cubicBezTo>
                  <a:lnTo>
                    <a:pt x="548317" y="740433"/>
                  </a:lnTo>
                  <a:cubicBezTo>
                    <a:pt x="548745" y="643278"/>
                    <a:pt x="568986" y="612607"/>
                    <a:pt x="581130" y="602987"/>
                  </a:cubicBezTo>
                  <a:cubicBezTo>
                    <a:pt x="660817" y="540250"/>
                    <a:pt x="706877" y="444083"/>
                    <a:pt x="705812" y="342669"/>
                  </a:cubicBezTo>
                  <a:cubicBezTo>
                    <a:pt x="706023" y="250785"/>
                    <a:pt x="668569" y="162829"/>
                    <a:pt x="602180" y="99305"/>
                  </a:cubicBezTo>
                  <a:cubicBezTo>
                    <a:pt x="535352" y="35059"/>
                    <a:pt x="446087" y="-568"/>
                    <a:pt x="353387" y="7"/>
                  </a:cubicBezTo>
                  <a:close/>
                  <a:moveTo>
                    <a:pt x="157363" y="902786"/>
                  </a:moveTo>
                  <a:cubicBezTo>
                    <a:pt x="157468" y="914911"/>
                    <a:pt x="167382" y="924656"/>
                    <a:pt x="179507" y="924551"/>
                  </a:cubicBezTo>
                  <a:cubicBezTo>
                    <a:pt x="179507" y="924551"/>
                    <a:pt x="179508" y="924551"/>
                    <a:pt x="179508" y="924551"/>
                  </a:cubicBezTo>
                  <a:lnTo>
                    <a:pt x="526171" y="924551"/>
                  </a:lnTo>
                  <a:cubicBezTo>
                    <a:pt x="538296" y="924657"/>
                    <a:pt x="548211" y="914913"/>
                    <a:pt x="548316" y="902788"/>
                  </a:cubicBezTo>
                  <a:cubicBezTo>
                    <a:pt x="548316" y="902787"/>
                    <a:pt x="548316" y="902787"/>
                    <a:pt x="548316" y="902786"/>
                  </a:cubicBezTo>
                  <a:lnTo>
                    <a:pt x="548317" y="798678"/>
                  </a:lnTo>
                  <a:lnTo>
                    <a:pt x="157363" y="798678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+mn-ea"/>
                <a:cs typeface="微软雅黑" panose="020B0503020204020204" charset="-122"/>
              </a:endParaRPr>
            </a:p>
          </p:txBody>
        </p:sp>
      </p:grpSp>
      <p:sp>
        <p:nvSpPr>
          <p:cNvPr id="136" name="图形 5"/>
          <p:cNvSpPr/>
          <p:nvPr/>
        </p:nvSpPr>
        <p:spPr>
          <a:xfrm>
            <a:off x="10358758" y="3122598"/>
            <a:ext cx="235441" cy="191296"/>
          </a:xfrm>
          <a:custGeom>
            <a:avLst/>
            <a:gdLst>
              <a:gd name="connsiteX0" fmla="*/ 1025543 w 1219200"/>
              <a:gd name="connsiteY0" fmla="*/ 383948 h 990600"/>
              <a:gd name="connsiteX1" fmla="*/ 1005307 w 1219200"/>
              <a:gd name="connsiteY1" fmla="*/ 321254 h 990600"/>
              <a:gd name="connsiteX2" fmla="*/ 1112253 w 1219200"/>
              <a:gd name="connsiteY2" fmla="*/ 214170 h 990600"/>
              <a:gd name="connsiteX3" fmla="*/ 1219200 w 1219200"/>
              <a:gd name="connsiteY3" fmla="*/ 321254 h 990600"/>
              <a:gd name="connsiteX4" fmla="*/ 1112253 w 1219200"/>
              <a:gd name="connsiteY4" fmla="*/ 428339 h 990600"/>
              <a:gd name="connsiteX5" fmla="*/ 1105572 w 1219200"/>
              <a:gd name="connsiteY5" fmla="*/ 428134 h 990600"/>
              <a:gd name="connsiteX6" fmla="*/ 948138 w 1219200"/>
              <a:gd name="connsiteY6" fmla="*/ 813835 h 990600"/>
              <a:gd name="connsiteX7" fmla="*/ 226881 w 1219200"/>
              <a:gd name="connsiteY7" fmla="*/ 813835 h 990600"/>
              <a:gd name="connsiteX8" fmla="*/ 91456 w 1219200"/>
              <a:gd name="connsiteY8" fmla="*/ 427225 h 990600"/>
              <a:gd name="connsiteX9" fmla="*/ 0 w 1219200"/>
              <a:gd name="connsiteY9" fmla="*/ 321254 h 990600"/>
              <a:gd name="connsiteX10" fmla="*/ 106947 w 1219200"/>
              <a:gd name="connsiteY10" fmla="*/ 214170 h 990600"/>
              <a:gd name="connsiteX11" fmla="*/ 213895 w 1219200"/>
              <a:gd name="connsiteY11" fmla="*/ 321254 h 990600"/>
              <a:gd name="connsiteX12" fmla="*/ 180096 w 1219200"/>
              <a:gd name="connsiteY12" fmla="*/ 399374 h 990600"/>
              <a:gd name="connsiteX13" fmla="*/ 319950 w 1219200"/>
              <a:gd name="connsiteY13" fmla="*/ 446046 h 990600"/>
              <a:gd name="connsiteX14" fmla="*/ 385825 w 1219200"/>
              <a:gd name="connsiteY14" fmla="*/ 205611 h 990600"/>
              <a:gd name="connsiteX15" fmla="*/ 320842 w 1219200"/>
              <a:gd name="connsiteY15" fmla="*/ 107084 h 990600"/>
              <a:gd name="connsiteX16" fmla="*/ 427789 w 1219200"/>
              <a:gd name="connsiteY16" fmla="*/ 0 h 990600"/>
              <a:gd name="connsiteX17" fmla="*/ 534738 w 1219200"/>
              <a:gd name="connsiteY17" fmla="*/ 107084 h 990600"/>
              <a:gd name="connsiteX18" fmla="*/ 497243 w 1219200"/>
              <a:gd name="connsiteY18" fmla="*/ 188517 h 990600"/>
              <a:gd name="connsiteX19" fmla="*/ 618830 w 1219200"/>
              <a:gd name="connsiteY19" fmla="*/ 319269 h 990600"/>
              <a:gd name="connsiteX20" fmla="*/ 698540 w 1219200"/>
              <a:gd name="connsiteY20" fmla="*/ 186738 h 990600"/>
              <a:gd name="connsiteX21" fmla="*/ 663073 w 1219200"/>
              <a:gd name="connsiteY21" fmla="*/ 107084 h 990600"/>
              <a:gd name="connsiteX22" fmla="*/ 770020 w 1219200"/>
              <a:gd name="connsiteY22" fmla="*/ 0 h 990600"/>
              <a:gd name="connsiteX23" fmla="*/ 876967 w 1219200"/>
              <a:gd name="connsiteY23" fmla="*/ 107084 h 990600"/>
              <a:gd name="connsiteX24" fmla="*/ 808306 w 1219200"/>
              <a:gd name="connsiteY24" fmla="*/ 207104 h 990600"/>
              <a:gd name="connsiteX25" fmla="*/ 857102 w 1219200"/>
              <a:gd name="connsiteY25" fmla="*/ 446046 h 990600"/>
              <a:gd name="connsiteX26" fmla="*/ 923768 w 1219200"/>
              <a:gd name="connsiteY26" fmla="*/ 471173 h 990600"/>
              <a:gd name="connsiteX27" fmla="*/ 1025543 w 1219200"/>
              <a:gd name="connsiteY27" fmla="*/ 383948 h 990600"/>
              <a:gd name="connsiteX28" fmla="*/ 279465 w 1219200"/>
              <a:gd name="connsiteY28" fmla="*/ 888868 h 990600"/>
              <a:gd name="connsiteX29" fmla="*/ 939737 w 1219200"/>
              <a:gd name="connsiteY29" fmla="*/ 888868 h 990600"/>
              <a:gd name="connsiteX30" fmla="*/ 990600 w 1219200"/>
              <a:gd name="connsiteY30" fmla="*/ 939737 h 990600"/>
              <a:gd name="connsiteX31" fmla="*/ 939737 w 1219200"/>
              <a:gd name="connsiteY31" fmla="*/ 990600 h 990600"/>
              <a:gd name="connsiteX32" fmla="*/ 279465 w 1219200"/>
              <a:gd name="connsiteY32" fmla="*/ 990600 h 990600"/>
              <a:gd name="connsiteX33" fmla="*/ 228600 w 1219200"/>
              <a:gd name="connsiteY33" fmla="*/ 939737 h 990600"/>
              <a:gd name="connsiteX34" fmla="*/ 279465 w 1219200"/>
              <a:gd name="connsiteY34" fmla="*/ 888868 h 99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19200" h="990600">
                <a:moveTo>
                  <a:pt x="1025543" y="383948"/>
                </a:moveTo>
                <a:cubicBezTo>
                  <a:pt x="1012812" y="366327"/>
                  <a:pt x="1005307" y="344667"/>
                  <a:pt x="1005307" y="321254"/>
                </a:cubicBezTo>
                <a:cubicBezTo>
                  <a:pt x="1005307" y="262113"/>
                  <a:pt x="1053184" y="214170"/>
                  <a:pt x="1112253" y="214170"/>
                </a:cubicBezTo>
                <a:cubicBezTo>
                  <a:pt x="1171323" y="214170"/>
                  <a:pt x="1219200" y="262113"/>
                  <a:pt x="1219200" y="321254"/>
                </a:cubicBezTo>
                <a:cubicBezTo>
                  <a:pt x="1219200" y="380395"/>
                  <a:pt x="1171323" y="428339"/>
                  <a:pt x="1112253" y="428339"/>
                </a:cubicBezTo>
                <a:cubicBezTo>
                  <a:pt x="1110010" y="428339"/>
                  <a:pt x="1107781" y="428268"/>
                  <a:pt x="1105572" y="428134"/>
                </a:cubicBezTo>
                <a:cubicBezTo>
                  <a:pt x="1063871" y="686410"/>
                  <a:pt x="1011398" y="814978"/>
                  <a:pt x="948138" y="813835"/>
                </a:cubicBezTo>
                <a:cubicBezTo>
                  <a:pt x="530076" y="813835"/>
                  <a:pt x="289659" y="813835"/>
                  <a:pt x="226881" y="813835"/>
                </a:cubicBezTo>
                <a:cubicBezTo>
                  <a:pt x="169797" y="782460"/>
                  <a:pt x="124656" y="653591"/>
                  <a:pt x="91456" y="427225"/>
                </a:cubicBezTo>
                <a:cubicBezTo>
                  <a:pt x="39732" y="419710"/>
                  <a:pt x="0" y="375128"/>
                  <a:pt x="0" y="321254"/>
                </a:cubicBezTo>
                <a:cubicBezTo>
                  <a:pt x="0" y="262113"/>
                  <a:pt x="47882" y="214170"/>
                  <a:pt x="106947" y="214170"/>
                </a:cubicBezTo>
                <a:cubicBezTo>
                  <a:pt x="166013" y="214170"/>
                  <a:pt x="213895" y="262113"/>
                  <a:pt x="213895" y="321254"/>
                </a:cubicBezTo>
                <a:cubicBezTo>
                  <a:pt x="213895" y="352065"/>
                  <a:pt x="200899" y="379838"/>
                  <a:pt x="180096" y="399374"/>
                </a:cubicBezTo>
                <a:cubicBezTo>
                  <a:pt x="244643" y="475055"/>
                  <a:pt x="291261" y="490609"/>
                  <a:pt x="319950" y="446046"/>
                </a:cubicBezTo>
                <a:cubicBezTo>
                  <a:pt x="350671" y="362217"/>
                  <a:pt x="372629" y="282070"/>
                  <a:pt x="385825" y="205611"/>
                </a:cubicBezTo>
                <a:cubicBezTo>
                  <a:pt x="347619" y="189276"/>
                  <a:pt x="320842" y="151311"/>
                  <a:pt x="320842" y="107084"/>
                </a:cubicBezTo>
                <a:cubicBezTo>
                  <a:pt x="320842" y="47944"/>
                  <a:pt x="368724" y="0"/>
                  <a:pt x="427789" y="0"/>
                </a:cubicBezTo>
                <a:cubicBezTo>
                  <a:pt x="486856" y="0"/>
                  <a:pt x="534738" y="47944"/>
                  <a:pt x="534738" y="107084"/>
                </a:cubicBezTo>
                <a:cubicBezTo>
                  <a:pt x="534738" y="139682"/>
                  <a:pt x="520189" y="168876"/>
                  <a:pt x="497243" y="188517"/>
                </a:cubicBezTo>
                <a:cubicBezTo>
                  <a:pt x="537658" y="305446"/>
                  <a:pt x="578187" y="349030"/>
                  <a:pt x="618830" y="319269"/>
                </a:cubicBezTo>
                <a:cubicBezTo>
                  <a:pt x="643266" y="299292"/>
                  <a:pt x="669836" y="255115"/>
                  <a:pt x="698540" y="186738"/>
                </a:cubicBezTo>
                <a:cubicBezTo>
                  <a:pt x="676766" y="167135"/>
                  <a:pt x="663073" y="138711"/>
                  <a:pt x="663073" y="107084"/>
                </a:cubicBezTo>
                <a:cubicBezTo>
                  <a:pt x="663073" y="47944"/>
                  <a:pt x="710960" y="0"/>
                  <a:pt x="770020" y="0"/>
                </a:cubicBezTo>
                <a:cubicBezTo>
                  <a:pt x="829089" y="0"/>
                  <a:pt x="876967" y="47944"/>
                  <a:pt x="876967" y="107084"/>
                </a:cubicBezTo>
                <a:cubicBezTo>
                  <a:pt x="876967" y="152718"/>
                  <a:pt x="848463" y="191683"/>
                  <a:pt x="808306" y="207104"/>
                </a:cubicBezTo>
                <a:cubicBezTo>
                  <a:pt x="812940" y="369032"/>
                  <a:pt x="840967" y="403450"/>
                  <a:pt x="857102" y="446046"/>
                </a:cubicBezTo>
                <a:cubicBezTo>
                  <a:pt x="871047" y="473421"/>
                  <a:pt x="898993" y="487109"/>
                  <a:pt x="923768" y="471173"/>
                </a:cubicBezTo>
                <a:cubicBezTo>
                  <a:pt x="944704" y="456657"/>
                  <a:pt x="978632" y="427582"/>
                  <a:pt x="1025543" y="383948"/>
                </a:cubicBezTo>
                <a:close/>
                <a:moveTo>
                  <a:pt x="279465" y="888868"/>
                </a:moveTo>
                <a:lnTo>
                  <a:pt x="939737" y="888868"/>
                </a:lnTo>
                <a:cubicBezTo>
                  <a:pt x="967830" y="888868"/>
                  <a:pt x="990600" y="911643"/>
                  <a:pt x="990600" y="939737"/>
                </a:cubicBezTo>
                <a:cubicBezTo>
                  <a:pt x="990600" y="967830"/>
                  <a:pt x="967830" y="990600"/>
                  <a:pt x="939737" y="990600"/>
                </a:cubicBezTo>
                <a:lnTo>
                  <a:pt x="279465" y="990600"/>
                </a:lnTo>
                <a:cubicBezTo>
                  <a:pt x="251373" y="990600"/>
                  <a:pt x="228600" y="967830"/>
                  <a:pt x="228600" y="939737"/>
                </a:cubicBezTo>
                <a:cubicBezTo>
                  <a:pt x="228600" y="911643"/>
                  <a:pt x="251373" y="888868"/>
                  <a:pt x="279465" y="888868"/>
                </a:cubicBezTo>
                <a:close/>
              </a:path>
            </a:pathLst>
          </a:custGeom>
          <a:solidFill>
            <a:schemeClr val="bg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  <a:latin typeface="+mn-ea"/>
              <a:cs typeface="微软雅黑" panose="020B0503020204020204" charset="-122"/>
            </a:endParaRPr>
          </a:p>
        </p:txBody>
      </p:sp>
      <p:sp>
        <p:nvSpPr>
          <p:cNvPr id="137" name="图形 7"/>
          <p:cNvSpPr/>
          <p:nvPr/>
        </p:nvSpPr>
        <p:spPr>
          <a:xfrm>
            <a:off x="8058131" y="3100526"/>
            <a:ext cx="235441" cy="215820"/>
          </a:xfrm>
          <a:custGeom>
            <a:avLst/>
            <a:gdLst>
              <a:gd name="connsiteX0" fmla="*/ 503582 w 1219201"/>
              <a:gd name="connsiteY0" fmla="*/ 1117598 h 1117597"/>
              <a:gd name="connsiteX1" fmla="*/ 194781 w 1219201"/>
              <a:gd name="connsiteY1" fmla="*/ 1117598 h 1117597"/>
              <a:gd name="connsiteX2" fmla="*/ 108863 w 1219201"/>
              <a:gd name="connsiteY2" fmla="*/ 1030249 h 1117597"/>
              <a:gd name="connsiteX3" fmla="*/ 108863 w 1219201"/>
              <a:gd name="connsiteY3" fmla="*/ 663513 h 1117597"/>
              <a:gd name="connsiteX4" fmla="*/ 123519 w 1219201"/>
              <a:gd name="connsiteY4" fmla="*/ 631309 h 1117597"/>
              <a:gd name="connsiteX5" fmla="*/ 157571 w 1219201"/>
              <a:gd name="connsiteY5" fmla="*/ 620907 h 1117597"/>
              <a:gd name="connsiteX6" fmla="*/ 374090 w 1219201"/>
              <a:gd name="connsiteY6" fmla="*/ 562109 h 1117597"/>
              <a:gd name="connsiteX7" fmla="*/ 429071 w 1219201"/>
              <a:gd name="connsiteY7" fmla="*/ 562109 h 1117597"/>
              <a:gd name="connsiteX8" fmla="*/ 609600 w 1219201"/>
              <a:gd name="connsiteY8" fmla="*/ 623107 h 1117597"/>
              <a:gd name="connsiteX9" fmla="*/ 790094 w 1219201"/>
              <a:gd name="connsiteY9" fmla="*/ 562109 h 1117597"/>
              <a:gd name="connsiteX10" fmla="*/ 845110 w 1219201"/>
              <a:gd name="connsiteY10" fmla="*/ 562109 h 1117597"/>
              <a:gd name="connsiteX11" fmla="*/ 1062023 w 1219201"/>
              <a:gd name="connsiteY11" fmla="*/ 620879 h 1117597"/>
              <a:gd name="connsiteX12" fmla="*/ 1110367 w 1219201"/>
              <a:gd name="connsiteY12" fmla="*/ 663655 h 1117597"/>
              <a:gd name="connsiteX13" fmla="*/ 1110367 w 1219201"/>
              <a:gd name="connsiteY13" fmla="*/ 1030249 h 1117597"/>
              <a:gd name="connsiteX14" fmla="*/ 1024438 w 1219201"/>
              <a:gd name="connsiteY14" fmla="*/ 1117598 h 1117597"/>
              <a:gd name="connsiteX15" fmla="*/ 715618 w 1219201"/>
              <a:gd name="connsiteY15" fmla="*/ 1117598 h 1117597"/>
              <a:gd name="connsiteX16" fmla="*/ 715618 w 1219201"/>
              <a:gd name="connsiteY16" fmla="*/ 851293 h 1117597"/>
              <a:gd name="connsiteX17" fmla="*/ 662611 w 1219201"/>
              <a:gd name="connsiteY17" fmla="*/ 798282 h 1117597"/>
              <a:gd name="connsiteX18" fmla="*/ 556589 w 1219201"/>
              <a:gd name="connsiteY18" fmla="*/ 798282 h 1117597"/>
              <a:gd name="connsiteX19" fmla="*/ 503582 w 1219201"/>
              <a:gd name="connsiteY19" fmla="*/ 851293 h 1117597"/>
              <a:gd name="connsiteX20" fmla="*/ 503582 w 1219201"/>
              <a:gd name="connsiteY20" fmla="*/ 1117598 h 1117597"/>
              <a:gd name="connsiteX21" fmla="*/ 1202260 w 1219201"/>
              <a:gd name="connsiteY21" fmla="*/ 259782 h 1117597"/>
              <a:gd name="connsiteX22" fmla="*/ 1042697 w 1219201"/>
              <a:gd name="connsiteY22" fmla="*/ 536244 h 1117597"/>
              <a:gd name="connsiteX23" fmla="*/ 853578 w 1219201"/>
              <a:gd name="connsiteY23" fmla="*/ 446785 h 1117597"/>
              <a:gd name="connsiteX24" fmla="*/ 817621 w 1219201"/>
              <a:gd name="connsiteY24" fmla="*/ 427888 h 1117597"/>
              <a:gd name="connsiteX25" fmla="*/ 781645 w 1219201"/>
              <a:gd name="connsiteY25" fmla="*/ 446785 h 1117597"/>
              <a:gd name="connsiteX26" fmla="*/ 609600 w 1219201"/>
              <a:gd name="connsiteY26" fmla="*/ 536935 h 1117597"/>
              <a:gd name="connsiteX27" fmla="*/ 437540 w 1219201"/>
              <a:gd name="connsiteY27" fmla="*/ 446785 h 1117597"/>
              <a:gd name="connsiteX28" fmla="*/ 401580 w 1219201"/>
              <a:gd name="connsiteY28" fmla="*/ 427888 h 1117597"/>
              <a:gd name="connsiteX29" fmla="*/ 365616 w 1219201"/>
              <a:gd name="connsiteY29" fmla="*/ 446785 h 1117597"/>
              <a:gd name="connsiteX30" fmla="*/ 176493 w 1219201"/>
              <a:gd name="connsiteY30" fmla="*/ 536244 h 1117597"/>
              <a:gd name="connsiteX31" fmla="*/ 16940 w 1219201"/>
              <a:gd name="connsiteY31" fmla="*/ 259782 h 1117597"/>
              <a:gd name="connsiteX32" fmla="*/ 113620 w 1219201"/>
              <a:gd name="connsiteY32" fmla="*/ 72242 h 1117597"/>
              <a:gd name="connsiteX33" fmla="*/ 232728 w 1219201"/>
              <a:gd name="connsiteY33" fmla="*/ 0 h 1117597"/>
              <a:gd name="connsiteX34" fmla="*/ 986471 w 1219201"/>
              <a:gd name="connsiteY34" fmla="*/ 0 h 1117597"/>
              <a:gd name="connsiteX35" fmla="*/ 1105581 w 1219201"/>
              <a:gd name="connsiteY35" fmla="*/ 72242 h 1117597"/>
              <a:gd name="connsiteX36" fmla="*/ 1202260 w 1219201"/>
              <a:gd name="connsiteY36" fmla="*/ 259782 h 1117597"/>
              <a:gd name="connsiteX37" fmla="*/ 881315 w 1219201"/>
              <a:gd name="connsiteY37" fmla="*/ 141623 h 1117597"/>
              <a:gd name="connsiteX38" fmla="*/ 924873 w 1219201"/>
              <a:gd name="connsiteY38" fmla="*/ 115006 h 1117597"/>
              <a:gd name="connsiteX39" fmla="*/ 881315 w 1219201"/>
              <a:gd name="connsiteY39" fmla="*/ 88404 h 1117597"/>
              <a:gd name="connsiteX40" fmla="*/ 337850 w 1219201"/>
              <a:gd name="connsiteY40" fmla="*/ 88404 h 1117597"/>
              <a:gd name="connsiteX41" fmla="*/ 294295 w 1219201"/>
              <a:gd name="connsiteY41" fmla="*/ 115006 h 1117597"/>
              <a:gd name="connsiteX42" fmla="*/ 337850 w 1219201"/>
              <a:gd name="connsiteY42" fmla="*/ 141623 h 1117597"/>
              <a:gd name="connsiteX43" fmla="*/ 881315 w 1219201"/>
              <a:gd name="connsiteY43" fmla="*/ 141623 h 1117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219201" h="1117597">
                <a:moveTo>
                  <a:pt x="503582" y="1117598"/>
                </a:moveTo>
                <a:lnTo>
                  <a:pt x="194781" y="1117598"/>
                </a:lnTo>
                <a:cubicBezTo>
                  <a:pt x="147327" y="1117598"/>
                  <a:pt x="108863" y="1078498"/>
                  <a:pt x="108863" y="1030249"/>
                </a:cubicBezTo>
                <a:lnTo>
                  <a:pt x="108863" y="663513"/>
                </a:lnTo>
                <a:cubicBezTo>
                  <a:pt x="108863" y="651192"/>
                  <a:pt x="114203" y="639462"/>
                  <a:pt x="123519" y="631309"/>
                </a:cubicBezTo>
                <a:cubicBezTo>
                  <a:pt x="132838" y="623155"/>
                  <a:pt x="145236" y="619364"/>
                  <a:pt x="157571" y="620907"/>
                </a:cubicBezTo>
                <a:cubicBezTo>
                  <a:pt x="234736" y="630327"/>
                  <a:pt x="312540" y="609201"/>
                  <a:pt x="374090" y="562109"/>
                </a:cubicBezTo>
                <a:cubicBezTo>
                  <a:pt x="390242" y="549594"/>
                  <a:pt x="412917" y="549594"/>
                  <a:pt x="429071" y="562109"/>
                </a:cubicBezTo>
                <a:cubicBezTo>
                  <a:pt x="480779" y="601695"/>
                  <a:pt x="544273" y="623146"/>
                  <a:pt x="609600" y="623107"/>
                </a:cubicBezTo>
                <a:cubicBezTo>
                  <a:pt x="674918" y="623117"/>
                  <a:pt x="738392" y="601667"/>
                  <a:pt x="790094" y="562109"/>
                </a:cubicBezTo>
                <a:cubicBezTo>
                  <a:pt x="806258" y="549598"/>
                  <a:pt x="828937" y="549598"/>
                  <a:pt x="845110" y="562109"/>
                </a:cubicBezTo>
                <a:cubicBezTo>
                  <a:pt x="906756" y="609315"/>
                  <a:pt x="984733" y="630432"/>
                  <a:pt x="1062023" y="620879"/>
                </a:cubicBezTo>
                <a:cubicBezTo>
                  <a:pt x="1087750" y="617583"/>
                  <a:pt x="1110334" y="637947"/>
                  <a:pt x="1110367" y="663655"/>
                </a:cubicBezTo>
                <a:lnTo>
                  <a:pt x="1110367" y="1030249"/>
                </a:lnTo>
                <a:cubicBezTo>
                  <a:pt x="1110367" y="1078498"/>
                  <a:pt x="1071901" y="1117598"/>
                  <a:pt x="1024438" y="1117598"/>
                </a:cubicBezTo>
                <a:lnTo>
                  <a:pt x="715618" y="1117598"/>
                </a:lnTo>
                <a:lnTo>
                  <a:pt x="715618" y="851293"/>
                </a:lnTo>
                <a:cubicBezTo>
                  <a:pt x="715618" y="822018"/>
                  <a:pt x="691882" y="798282"/>
                  <a:pt x="662611" y="798282"/>
                </a:cubicBezTo>
                <a:lnTo>
                  <a:pt x="556589" y="798282"/>
                </a:lnTo>
                <a:cubicBezTo>
                  <a:pt x="527318" y="798282"/>
                  <a:pt x="503582" y="822018"/>
                  <a:pt x="503582" y="851293"/>
                </a:cubicBezTo>
                <a:lnTo>
                  <a:pt x="503582" y="1117598"/>
                </a:lnTo>
                <a:close/>
                <a:moveTo>
                  <a:pt x="1202260" y="259782"/>
                </a:moveTo>
                <a:cubicBezTo>
                  <a:pt x="1255928" y="381578"/>
                  <a:pt x="1176504" y="525495"/>
                  <a:pt x="1042697" y="536244"/>
                </a:cubicBezTo>
                <a:cubicBezTo>
                  <a:pt x="968002" y="542402"/>
                  <a:pt x="895745" y="508222"/>
                  <a:pt x="853578" y="446785"/>
                </a:cubicBezTo>
                <a:cubicBezTo>
                  <a:pt x="845491" y="434960"/>
                  <a:pt x="832023" y="427888"/>
                  <a:pt x="817621" y="427888"/>
                </a:cubicBezTo>
                <a:cubicBezTo>
                  <a:pt x="803210" y="427888"/>
                  <a:pt x="789737" y="434960"/>
                  <a:pt x="781645" y="446785"/>
                </a:cubicBezTo>
                <a:cubicBezTo>
                  <a:pt x="742907" y="503231"/>
                  <a:pt x="678480" y="537001"/>
                  <a:pt x="609600" y="536935"/>
                </a:cubicBezTo>
                <a:cubicBezTo>
                  <a:pt x="540720" y="537001"/>
                  <a:pt x="476288" y="503231"/>
                  <a:pt x="437540" y="446785"/>
                </a:cubicBezTo>
                <a:cubicBezTo>
                  <a:pt x="429460" y="434960"/>
                  <a:pt x="415986" y="427888"/>
                  <a:pt x="401580" y="427888"/>
                </a:cubicBezTo>
                <a:cubicBezTo>
                  <a:pt x="387173" y="427888"/>
                  <a:pt x="373705" y="434960"/>
                  <a:pt x="365616" y="446785"/>
                </a:cubicBezTo>
                <a:cubicBezTo>
                  <a:pt x="323456" y="508222"/>
                  <a:pt x="251196" y="542402"/>
                  <a:pt x="176493" y="536244"/>
                </a:cubicBezTo>
                <a:cubicBezTo>
                  <a:pt x="42723" y="525495"/>
                  <a:pt x="-36732" y="381578"/>
                  <a:pt x="16940" y="259782"/>
                </a:cubicBezTo>
                <a:lnTo>
                  <a:pt x="113620" y="72242"/>
                </a:lnTo>
                <a:cubicBezTo>
                  <a:pt x="136475" y="27886"/>
                  <a:pt x="182486" y="-26"/>
                  <a:pt x="232728" y="0"/>
                </a:cubicBezTo>
                <a:lnTo>
                  <a:pt x="986471" y="0"/>
                </a:lnTo>
                <a:cubicBezTo>
                  <a:pt x="1036715" y="-26"/>
                  <a:pt x="1082726" y="27886"/>
                  <a:pt x="1105581" y="72242"/>
                </a:cubicBezTo>
                <a:lnTo>
                  <a:pt x="1202260" y="259782"/>
                </a:lnTo>
                <a:close/>
                <a:moveTo>
                  <a:pt x="881315" y="141623"/>
                </a:moveTo>
                <a:cubicBezTo>
                  <a:pt x="905270" y="141623"/>
                  <a:pt x="924873" y="129648"/>
                  <a:pt x="924873" y="115006"/>
                </a:cubicBezTo>
                <a:cubicBezTo>
                  <a:pt x="924873" y="100381"/>
                  <a:pt x="905270" y="88404"/>
                  <a:pt x="881315" y="88404"/>
                </a:cubicBezTo>
                <a:lnTo>
                  <a:pt x="337850" y="88404"/>
                </a:lnTo>
                <a:cubicBezTo>
                  <a:pt x="313895" y="88404"/>
                  <a:pt x="294295" y="100381"/>
                  <a:pt x="294295" y="115006"/>
                </a:cubicBezTo>
                <a:cubicBezTo>
                  <a:pt x="294379" y="129698"/>
                  <a:pt x="313838" y="141592"/>
                  <a:pt x="337850" y="141623"/>
                </a:cubicBezTo>
                <a:lnTo>
                  <a:pt x="881315" y="141623"/>
                </a:lnTo>
                <a:close/>
              </a:path>
            </a:pathLst>
          </a:custGeom>
          <a:solidFill>
            <a:schemeClr val="bg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  <a:latin typeface="+mn-ea"/>
              <a:cs typeface="微软雅黑" panose="020B0503020204020204" charset="-122"/>
            </a:endParaRPr>
          </a:p>
        </p:txBody>
      </p:sp>
      <p:grpSp>
        <p:nvGrpSpPr>
          <p:cNvPr id="138" name="图形 176"/>
          <p:cNvGrpSpPr/>
          <p:nvPr/>
        </p:nvGrpSpPr>
        <p:grpSpPr>
          <a:xfrm>
            <a:off x="5972321" y="3115575"/>
            <a:ext cx="220963" cy="220962"/>
            <a:chOff x="5486417" y="2819423"/>
            <a:chExt cx="1219167" cy="1219162"/>
          </a:xfrm>
          <a:solidFill>
            <a:schemeClr val="bg1"/>
          </a:solidFill>
        </p:grpSpPr>
        <p:sp>
          <p:nvSpPr>
            <p:cNvPr id="139" name="任意多边形: 形状 135"/>
            <p:cNvSpPr/>
            <p:nvPr/>
          </p:nvSpPr>
          <p:spPr>
            <a:xfrm>
              <a:off x="5486417" y="3527726"/>
              <a:ext cx="510808" cy="510859"/>
            </a:xfrm>
            <a:custGeom>
              <a:avLst/>
              <a:gdLst>
                <a:gd name="connsiteX0" fmla="*/ 421368 w 510808"/>
                <a:gd name="connsiteY0" fmla="*/ 89535 h 510859"/>
                <a:gd name="connsiteX1" fmla="*/ 351169 w 510808"/>
                <a:gd name="connsiteY1" fmla="*/ 0 h 510859"/>
                <a:gd name="connsiteX2" fmla="*/ 22033 w 510808"/>
                <a:gd name="connsiteY2" fmla="*/ 329136 h 510859"/>
                <a:gd name="connsiteX3" fmla="*/ 22033 w 510808"/>
                <a:gd name="connsiteY3" fmla="*/ 435578 h 510859"/>
                <a:gd name="connsiteX4" fmla="*/ 75277 w 510808"/>
                <a:gd name="connsiteY4" fmla="*/ 488823 h 510859"/>
                <a:gd name="connsiteX5" fmla="*/ 181767 w 510808"/>
                <a:gd name="connsiteY5" fmla="*/ 488823 h 510859"/>
                <a:gd name="connsiteX6" fmla="*/ 510808 w 510808"/>
                <a:gd name="connsiteY6" fmla="*/ 159782 h 510859"/>
                <a:gd name="connsiteX7" fmla="*/ 421368 w 510808"/>
                <a:gd name="connsiteY7" fmla="*/ 89535 h 5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0808" h="510859">
                  <a:moveTo>
                    <a:pt x="421368" y="89535"/>
                  </a:moveTo>
                  <a:cubicBezTo>
                    <a:pt x="394562" y="62525"/>
                    <a:pt x="371003" y="32476"/>
                    <a:pt x="351169" y="0"/>
                  </a:cubicBezTo>
                  <a:lnTo>
                    <a:pt x="22033" y="329136"/>
                  </a:lnTo>
                  <a:cubicBezTo>
                    <a:pt x="-7344" y="358536"/>
                    <a:pt x="-7344" y="406178"/>
                    <a:pt x="22033" y="435578"/>
                  </a:cubicBezTo>
                  <a:lnTo>
                    <a:pt x="75277" y="488823"/>
                  </a:lnTo>
                  <a:cubicBezTo>
                    <a:pt x="104694" y="518205"/>
                    <a:pt x="152351" y="518205"/>
                    <a:pt x="181767" y="488823"/>
                  </a:cubicBezTo>
                  <a:lnTo>
                    <a:pt x="510808" y="159782"/>
                  </a:lnTo>
                  <a:cubicBezTo>
                    <a:pt x="478384" y="139896"/>
                    <a:pt x="448371" y="116323"/>
                    <a:pt x="421368" y="89535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  <a:cs typeface="微软雅黑" panose="020B0503020204020204" charset="-122"/>
              </a:endParaRPr>
            </a:p>
          </p:txBody>
        </p:sp>
        <p:sp>
          <p:nvSpPr>
            <p:cNvPr id="148" name="任意多边形: 形状 136"/>
            <p:cNvSpPr/>
            <p:nvPr/>
          </p:nvSpPr>
          <p:spPr>
            <a:xfrm>
              <a:off x="5802023" y="2819423"/>
              <a:ext cx="903561" cy="903541"/>
            </a:xfrm>
            <a:custGeom>
              <a:avLst/>
              <a:gdLst>
                <a:gd name="connsiteX0" fmla="*/ 771226 w 903561"/>
                <a:gd name="connsiteY0" fmla="*/ 132326 h 903541"/>
                <a:gd name="connsiteX1" fmla="*/ 132326 w 903561"/>
                <a:gd name="connsiteY1" fmla="*/ 132315 h 903541"/>
                <a:gd name="connsiteX2" fmla="*/ 132315 w 903561"/>
                <a:gd name="connsiteY2" fmla="*/ 771215 h 903541"/>
                <a:gd name="connsiteX3" fmla="*/ 771216 w 903561"/>
                <a:gd name="connsiteY3" fmla="*/ 771226 h 903541"/>
                <a:gd name="connsiteX4" fmla="*/ 771226 w 903561"/>
                <a:gd name="connsiteY4" fmla="*/ 771215 h 903541"/>
                <a:gd name="connsiteX5" fmla="*/ 771283 w 903561"/>
                <a:gd name="connsiteY5" fmla="*/ 132382 h 903541"/>
                <a:gd name="connsiteX6" fmla="*/ 771226 w 903561"/>
                <a:gd name="connsiteY6" fmla="*/ 132326 h 903541"/>
                <a:gd name="connsiteX7" fmla="*/ 597776 w 903561"/>
                <a:gd name="connsiteY7" fmla="*/ 229100 h 903541"/>
                <a:gd name="connsiteX8" fmla="*/ 547733 w 903561"/>
                <a:gd name="connsiteY8" fmla="*/ 247177 h 903541"/>
                <a:gd name="connsiteX9" fmla="*/ 547675 w 903561"/>
                <a:gd name="connsiteY9" fmla="*/ 247150 h 903541"/>
                <a:gd name="connsiteX10" fmla="*/ 260639 w 903561"/>
                <a:gd name="connsiteY10" fmla="*/ 331494 h 903541"/>
                <a:gd name="connsiteX11" fmla="*/ 208727 w 903561"/>
                <a:gd name="connsiteY11" fmla="*/ 343257 h 903541"/>
                <a:gd name="connsiteX12" fmla="*/ 196964 w 903561"/>
                <a:gd name="connsiteY12" fmla="*/ 291346 h 903541"/>
                <a:gd name="connsiteX13" fmla="*/ 579726 w 903561"/>
                <a:gd name="connsiteY13" fmla="*/ 179046 h 903541"/>
                <a:gd name="connsiteX14" fmla="*/ 597817 w 903561"/>
                <a:gd name="connsiteY14" fmla="*/ 229013 h 903541"/>
                <a:gd name="connsiteX15" fmla="*/ 597776 w 903561"/>
                <a:gd name="connsiteY15" fmla="*/ 229100 h 903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03561" h="903541">
                  <a:moveTo>
                    <a:pt x="771226" y="132326"/>
                  </a:moveTo>
                  <a:cubicBezTo>
                    <a:pt x="594802" y="-44104"/>
                    <a:pt x="308757" y="-44109"/>
                    <a:pt x="132326" y="132315"/>
                  </a:cubicBezTo>
                  <a:cubicBezTo>
                    <a:pt x="-44104" y="308740"/>
                    <a:pt x="-44109" y="594785"/>
                    <a:pt x="132315" y="771215"/>
                  </a:cubicBezTo>
                  <a:cubicBezTo>
                    <a:pt x="308740" y="947646"/>
                    <a:pt x="594785" y="947651"/>
                    <a:pt x="771216" y="771226"/>
                  </a:cubicBezTo>
                  <a:cubicBezTo>
                    <a:pt x="771219" y="771223"/>
                    <a:pt x="771223" y="771219"/>
                    <a:pt x="771226" y="771215"/>
                  </a:cubicBezTo>
                  <a:cubicBezTo>
                    <a:pt x="947651" y="594822"/>
                    <a:pt x="947676" y="308807"/>
                    <a:pt x="771283" y="132382"/>
                  </a:cubicBezTo>
                  <a:cubicBezTo>
                    <a:pt x="771264" y="132364"/>
                    <a:pt x="771245" y="132345"/>
                    <a:pt x="771226" y="132326"/>
                  </a:cubicBezTo>
                  <a:close/>
                  <a:moveTo>
                    <a:pt x="597776" y="229100"/>
                  </a:moveTo>
                  <a:cubicBezTo>
                    <a:pt x="588949" y="247911"/>
                    <a:pt x="566544" y="256005"/>
                    <a:pt x="547733" y="247177"/>
                  </a:cubicBezTo>
                  <a:cubicBezTo>
                    <a:pt x="547714" y="247168"/>
                    <a:pt x="547694" y="247159"/>
                    <a:pt x="547675" y="247150"/>
                  </a:cubicBezTo>
                  <a:cubicBezTo>
                    <a:pt x="444413" y="198908"/>
                    <a:pt x="321388" y="235058"/>
                    <a:pt x="260639" y="331494"/>
                  </a:cubicBezTo>
                  <a:cubicBezTo>
                    <a:pt x="249552" y="349077"/>
                    <a:pt x="226311" y="354344"/>
                    <a:pt x="208727" y="343257"/>
                  </a:cubicBezTo>
                  <a:cubicBezTo>
                    <a:pt x="191144" y="332171"/>
                    <a:pt x="185878" y="308929"/>
                    <a:pt x="196964" y="291346"/>
                  </a:cubicBezTo>
                  <a:cubicBezTo>
                    <a:pt x="277980" y="162750"/>
                    <a:pt x="442075" y="114606"/>
                    <a:pt x="579726" y="179046"/>
                  </a:cubicBezTo>
                  <a:cubicBezTo>
                    <a:pt x="598520" y="187848"/>
                    <a:pt x="606619" y="210219"/>
                    <a:pt x="597817" y="229013"/>
                  </a:cubicBezTo>
                  <a:cubicBezTo>
                    <a:pt x="597803" y="229042"/>
                    <a:pt x="597790" y="229071"/>
                    <a:pt x="597776" y="229100"/>
                  </a:cubicBezTo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  <a:cs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3" name="图片 22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销售运营分析模型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2" name="任意多边形: 形状 305"/>
          <p:cNvSpPr/>
          <p:nvPr/>
        </p:nvSpPr>
        <p:spPr bwMode="invGray">
          <a:xfrm>
            <a:off x="129540" y="5688965"/>
            <a:ext cx="2258060" cy="191770"/>
          </a:xfrm>
          <a:custGeom>
            <a:avLst/>
            <a:gdLst>
              <a:gd name="connsiteX0" fmla="*/ 395219 w 2012086"/>
              <a:gd name="connsiteY0" fmla="*/ 0 h 191574"/>
              <a:gd name="connsiteX1" fmla="*/ 2012086 w 2012086"/>
              <a:gd name="connsiteY1" fmla="*/ 0 h 191574"/>
              <a:gd name="connsiteX2" fmla="*/ 1865471 w 2012086"/>
              <a:gd name="connsiteY2" fmla="*/ 191574 h 191574"/>
              <a:gd name="connsiteX3" fmla="*/ 0 w 2012086"/>
              <a:gd name="connsiteY3" fmla="*/ 191574 h 191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2086" h="191574">
                <a:moveTo>
                  <a:pt x="395219" y="0"/>
                </a:moveTo>
                <a:lnTo>
                  <a:pt x="2012086" y="0"/>
                </a:lnTo>
                <a:lnTo>
                  <a:pt x="1865471" y="191574"/>
                </a:lnTo>
                <a:lnTo>
                  <a:pt x="0" y="19157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任意多边形: 形状 304"/>
          <p:cNvSpPr/>
          <p:nvPr/>
        </p:nvSpPr>
        <p:spPr bwMode="invGray">
          <a:xfrm>
            <a:off x="2259330" y="5690235"/>
            <a:ext cx="1978025" cy="191770"/>
          </a:xfrm>
          <a:custGeom>
            <a:avLst/>
            <a:gdLst>
              <a:gd name="connsiteX0" fmla="*/ 153770 w 1931996"/>
              <a:gd name="connsiteY0" fmla="*/ 0 h 191574"/>
              <a:gd name="connsiteX1" fmla="*/ 1931996 w 1931996"/>
              <a:gd name="connsiteY1" fmla="*/ 0 h 191574"/>
              <a:gd name="connsiteX2" fmla="*/ 1854924 w 1931996"/>
              <a:gd name="connsiteY2" fmla="*/ 191574 h 191574"/>
              <a:gd name="connsiteX3" fmla="*/ 0 w 1931996"/>
              <a:gd name="connsiteY3" fmla="*/ 191574 h 191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1996" h="191574">
                <a:moveTo>
                  <a:pt x="153770" y="0"/>
                </a:moveTo>
                <a:lnTo>
                  <a:pt x="1931996" y="0"/>
                </a:lnTo>
                <a:lnTo>
                  <a:pt x="1854924" y="191574"/>
                </a:lnTo>
                <a:lnTo>
                  <a:pt x="0" y="19157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任意多边形: 形状 300"/>
          <p:cNvSpPr/>
          <p:nvPr/>
        </p:nvSpPr>
        <p:spPr bwMode="invGray">
          <a:xfrm>
            <a:off x="6110605" y="5688965"/>
            <a:ext cx="1885315" cy="193675"/>
          </a:xfrm>
          <a:custGeom>
            <a:avLst/>
            <a:gdLst>
              <a:gd name="connsiteX0" fmla="*/ 201 w 1865797"/>
              <a:gd name="connsiteY0" fmla="*/ 0 h 193479"/>
              <a:gd name="connsiteX1" fmla="*/ 1794094 w 1865797"/>
              <a:gd name="connsiteY1" fmla="*/ 0 h 193479"/>
              <a:gd name="connsiteX2" fmla="*/ 1865797 w 1865797"/>
              <a:gd name="connsiteY2" fmla="*/ 193479 h 193479"/>
              <a:gd name="connsiteX3" fmla="*/ 0 w 1865797"/>
              <a:gd name="connsiteY3" fmla="*/ 191574 h 193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5797" h="193479">
                <a:moveTo>
                  <a:pt x="201" y="0"/>
                </a:moveTo>
                <a:lnTo>
                  <a:pt x="1794094" y="0"/>
                </a:lnTo>
                <a:lnTo>
                  <a:pt x="1865797" y="193479"/>
                </a:lnTo>
                <a:lnTo>
                  <a:pt x="0" y="19157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任意多边形: 形状 299"/>
          <p:cNvSpPr/>
          <p:nvPr/>
        </p:nvSpPr>
        <p:spPr bwMode="invGray">
          <a:xfrm>
            <a:off x="7961630" y="5688965"/>
            <a:ext cx="1974215" cy="193675"/>
          </a:xfrm>
          <a:custGeom>
            <a:avLst/>
            <a:gdLst>
              <a:gd name="connsiteX0" fmla="*/ 0 w 1934501"/>
              <a:gd name="connsiteY0" fmla="*/ 0 h 193479"/>
              <a:gd name="connsiteX1" fmla="*/ 1780689 w 1934501"/>
              <a:gd name="connsiteY1" fmla="*/ 0 h 193479"/>
              <a:gd name="connsiteX2" fmla="*/ 1934501 w 1934501"/>
              <a:gd name="connsiteY2" fmla="*/ 191574 h 193479"/>
              <a:gd name="connsiteX3" fmla="*/ 71704 w 1934501"/>
              <a:gd name="connsiteY3" fmla="*/ 193479 h 193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4501" h="193479">
                <a:moveTo>
                  <a:pt x="0" y="0"/>
                </a:moveTo>
                <a:lnTo>
                  <a:pt x="1780689" y="0"/>
                </a:lnTo>
                <a:lnTo>
                  <a:pt x="1934501" y="191574"/>
                </a:lnTo>
                <a:lnTo>
                  <a:pt x="71704" y="19347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任意多边形: 形状 298"/>
          <p:cNvSpPr/>
          <p:nvPr/>
        </p:nvSpPr>
        <p:spPr bwMode="invGray">
          <a:xfrm>
            <a:off x="9825990" y="5688330"/>
            <a:ext cx="2230755" cy="191770"/>
          </a:xfrm>
          <a:custGeom>
            <a:avLst/>
            <a:gdLst>
              <a:gd name="connsiteX0" fmla="*/ 0 w 2007768"/>
              <a:gd name="connsiteY0" fmla="*/ 0 h 191574"/>
              <a:gd name="connsiteX1" fmla="*/ 1612549 w 2007768"/>
              <a:gd name="connsiteY1" fmla="*/ 0 h 191574"/>
              <a:gd name="connsiteX2" fmla="*/ 2007768 w 2007768"/>
              <a:gd name="connsiteY2" fmla="*/ 191574 h 191574"/>
              <a:gd name="connsiteX3" fmla="*/ 148447 w 2007768"/>
              <a:gd name="connsiteY3" fmla="*/ 191574 h 191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7768" h="191574">
                <a:moveTo>
                  <a:pt x="0" y="0"/>
                </a:moveTo>
                <a:lnTo>
                  <a:pt x="1612549" y="0"/>
                </a:lnTo>
                <a:lnTo>
                  <a:pt x="2007768" y="191574"/>
                </a:lnTo>
                <a:lnTo>
                  <a:pt x="148447" y="1915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  <a:alpha val="70000"/>
            </a:schemeClr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63245" y="3416300"/>
            <a:ext cx="1824990" cy="225679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413000" y="3416300"/>
            <a:ext cx="1824990" cy="225679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262755" y="3416300"/>
            <a:ext cx="1824990" cy="225679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12510" y="3416300"/>
            <a:ext cx="1824990" cy="225679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962265" y="3416300"/>
            <a:ext cx="1824990" cy="225679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811385" y="3416300"/>
            <a:ext cx="1824990" cy="2256790"/>
          </a:xfrm>
          <a:prstGeom prst="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 w="12700" cap="flat" cmpd="sng" algn="ctr">
            <a:solidFill>
              <a:srgbClr val="FFFFFF">
                <a:alpha val="70000"/>
              </a:srgb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2925" y="2479040"/>
            <a:ext cx="1953895" cy="9601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 bwMode="invGray">
          <a:xfrm>
            <a:off x="2375535" y="2468880"/>
            <a:ext cx="1886585" cy="9601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 bwMode="invGray">
          <a:xfrm>
            <a:off x="4225925" y="2468880"/>
            <a:ext cx="1887855" cy="9601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 bwMode="invGray">
          <a:xfrm>
            <a:off x="6096000" y="2468880"/>
            <a:ext cx="1865630" cy="9601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 bwMode="invGray">
          <a:xfrm>
            <a:off x="7932420" y="2468880"/>
            <a:ext cx="1878965" cy="9601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27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803765" y="2468880"/>
            <a:ext cx="1845945" cy="960120"/>
          </a:xfrm>
          <a:prstGeom prst="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chemeClr val="bg1"/>
            </a:solidFill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任意多边形: 形状 231"/>
          <p:cNvSpPr/>
          <p:nvPr/>
        </p:nvSpPr>
        <p:spPr bwMode="invGray">
          <a:xfrm>
            <a:off x="563245" y="1470025"/>
            <a:ext cx="4614545" cy="1016000"/>
          </a:xfrm>
          <a:custGeom>
            <a:avLst/>
            <a:gdLst>
              <a:gd name="connsiteX0" fmla="*/ 4366887 w 4711646"/>
              <a:gd name="connsiteY0" fmla="*/ 0 h 1015788"/>
              <a:gd name="connsiteX1" fmla="*/ 4711646 w 4711646"/>
              <a:gd name="connsiteY1" fmla="*/ 0 h 1015788"/>
              <a:gd name="connsiteX2" fmla="*/ 1851459 w 4711646"/>
              <a:gd name="connsiteY2" fmla="*/ 1001689 h 1015788"/>
              <a:gd name="connsiteX3" fmla="*/ 0 w 4711646"/>
              <a:gd name="connsiteY3" fmla="*/ 1015788 h 1015788"/>
              <a:gd name="connsiteX4" fmla="*/ 0 w 4711646"/>
              <a:gd name="connsiteY4" fmla="*/ 1001071 h 1015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646" h="1015788">
                <a:moveTo>
                  <a:pt x="4366887" y="0"/>
                </a:moveTo>
                <a:lnTo>
                  <a:pt x="4711646" y="0"/>
                </a:lnTo>
                <a:lnTo>
                  <a:pt x="1851459" y="1001689"/>
                </a:lnTo>
                <a:lnTo>
                  <a:pt x="0" y="1015788"/>
                </a:lnTo>
                <a:lnTo>
                  <a:pt x="0" y="1001071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任意多边形: 形状 175"/>
          <p:cNvSpPr/>
          <p:nvPr/>
        </p:nvSpPr>
        <p:spPr bwMode="invGray">
          <a:xfrm>
            <a:off x="2420620" y="1470025"/>
            <a:ext cx="3218180" cy="998855"/>
          </a:xfrm>
          <a:custGeom>
            <a:avLst/>
            <a:gdLst>
              <a:gd name="connsiteX0" fmla="*/ 2883053 w 3276378"/>
              <a:gd name="connsiteY0" fmla="*/ 0 h 999149"/>
              <a:gd name="connsiteX1" fmla="*/ 3276378 w 3276378"/>
              <a:gd name="connsiteY1" fmla="*/ 0 h 999149"/>
              <a:gd name="connsiteX2" fmla="*/ 1844317 w 3276378"/>
              <a:gd name="connsiteY2" fmla="*/ 999149 h 999149"/>
              <a:gd name="connsiteX3" fmla="*/ 0 w 3276378"/>
              <a:gd name="connsiteY3" fmla="*/ 999149 h 999149"/>
              <a:gd name="connsiteX4" fmla="*/ 2883053 w 3276378"/>
              <a:gd name="connsiteY4" fmla="*/ 0 h 999149"/>
              <a:gd name="connsiteX0-1" fmla="*/ 2892578 w 3285903"/>
              <a:gd name="connsiteY0-2" fmla="*/ 0 h 999149"/>
              <a:gd name="connsiteX1-3" fmla="*/ 3285903 w 3285903"/>
              <a:gd name="connsiteY1-4" fmla="*/ 0 h 999149"/>
              <a:gd name="connsiteX2-5" fmla="*/ 1853842 w 3285903"/>
              <a:gd name="connsiteY2-6" fmla="*/ 999149 h 999149"/>
              <a:gd name="connsiteX3-7" fmla="*/ 0 w 3285903"/>
              <a:gd name="connsiteY3-8" fmla="*/ 999149 h 999149"/>
              <a:gd name="connsiteX4-9" fmla="*/ 2892578 w 3285903"/>
              <a:gd name="connsiteY4-10" fmla="*/ 0 h 9991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85903" h="999149">
                <a:moveTo>
                  <a:pt x="2892578" y="0"/>
                </a:moveTo>
                <a:lnTo>
                  <a:pt x="3285903" y="0"/>
                </a:lnTo>
                <a:lnTo>
                  <a:pt x="1853842" y="999149"/>
                </a:lnTo>
                <a:lnTo>
                  <a:pt x="0" y="999149"/>
                </a:lnTo>
                <a:lnTo>
                  <a:pt x="2892578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任意多边形: 形状 174"/>
          <p:cNvSpPr/>
          <p:nvPr/>
        </p:nvSpPr>
        <p:spPr bwMode="invGray">
          <a:xfrm>
            <a:off x="4258310" y="1470025"/>
            <a:ext cx="1827530" cy="1001395"/>
          </a:xfrm>
          <a:custGeom>
            <a:avLst/>
            <a:gdLst>
              <a:gd name="connsiteX0" fmla="*/ 1432070 w 1848407"/>
              <a:gd name="connsiteY0" fmla="*/ 0 h 999149"/>
              <a:gd name="connsiteX1" fmla="*/ 1848407 w 1848407"/>
              <a:gd name="connsiteY1" fmla="*/ 0 h 999149"/>
              <a:gd name="connsiteX2" fmla="*/ 1847356 w 1848407"/>
              <a:gd name="connsiteY2" fmla="*/ 999149 h 999149"/>
              <a:gd name="connsiteX3" fmla="*/ 0 w 1848407"/>
              <a:gd name="connsiteY3" fmla="*/ 999149 h 999149"/>
              <a:gd name="connsiteX4" fmla="*/ 1432070 w 1848407"/>
              <a:gd name="connsiteY4" fmla="*/ 0 h 999149"/>
              <a:gd name="connsiteX0-1" fmla="*/ 1442230 w 1858567"/>
              <a:gd name="connsiteY0-2" fmla="*/ 0 h 1001689"/>
              <a:gd name="connsiteX1-3" fmla="*/ 1858567 w 1858567"/>
              <a:gd name="connsiteY1-4" fmla="*/ 0 h 1001689"/>
              <a:gd name="connsiteX2-5" fmla="*/ 1857516 w 1858567"/>
              <a:gd name="connsiteY2-6" fmla="*/ 999149 h 1001689"/>
              <a:gd name="connsiteX3-7" fmla="*/ 0 w 1858567"/>
              <a:gd name="connsiteY3-8" fmla="*/ 1001689 h 1001689"/>
              <a:gd name="connsiteX4-9" fmla="*/ 1442230 w 1858567"/>
              <a:gd name="connsiteY4-10" fmla="*/ 0 h 10016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858567" h="1001689">
                <a:moveTo>
                  <a:pt x="1442230" y="0"/>
                </a:moveTo>
                <a:lnTo>
                  <a:pt x="1858567" y="0"/>
                </a:lnTo>
                <a:cubicBezTo>
                  <a:pt x="1858217" y="333050"/>
                  <a:pt x="1857866" y="666099"/>
                  <a:pt x="1857516" y="999149"/>
                </a:cubicBezTo>
                <a:lnTo>
                  <a:pt x="0" y="1001689"/>
                </a:lnTo>
                <a:lnTo>
                  <a:pt x="1442230" y="0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任意多边形: 形状 173"/>
          <p:cNvSpPr/>
          <p:nvPr/>
        </p:nvSpPr>
        <p:spPr bwMode="invGray">
          <a:xfrm>
            <a:off x="6113780" y="1470025"/>
            <a:ext cx="1818640" cy="998855"/>
          </a:xfrm>
          <a:custGeom>
            <a:avLst/>
            <a:gdLst>
              <a:gd name="connsiteX0" fmla="*/ 1051 w 1849948"/>
              <a:gd name="connsiteY0" fmla="*/ 0 h 999149"/>
              <a:gd name="connsiteX1" fmla="*/ 415559 w 1849948"/>
              <a:gd name="connsiteY1" fmla="*/ 0 h 999149"/>
              <a:gd name="connsiteX2" fmla="*/ 1849948 w 1849948"/>
              <a:gd name="connsiteY2" fmla="*/ 999149 h 999149"/>
              <a:gd name="connsiteX3" fmla="*/ 0 w 1849948"/>
              <a:gd name="connsiteY3" fmla="*/ 999149 h 999149"/>
              <a:gd name="connsiteX4" fmla="*/ 1051 w 1849948"/>
              <a:gd name="connsiteY4" fmla="*/ 0 h 999149"/>
              <a:gd name="connsiteX0-1" fmla="*/ 1051 w 1862648"/>
              <a:gd name="connsiteY0-2" fmla="*/ 0 h 999149"/>
              <a:gd name="connsiteX1-3" fmla="*/ 415559 w 1862648"/>
              <a:gd name="connsiteY1-4" fmla="*/ 0 h 999149"/>
              <a:gd name="connsiteX2-5" fmla="*/ 1862648 w 1862648"/>
              <a:gd name="connsiteY2-6" fmla="*/ 999149 h 999149"/>
              <a:gd name="connsiteX3-7" fmla="*/ 0 w 1862648"/>
              <a:gd name="connsiteY3-8" fmla="*/ 999149 h 999149"/>
              <a:gd name="connsiteX4-9" fmla="*/ 1051 w 1862648"/>
              <a:gd name="connsiteY4-10" fmla="*/ 0 h 9991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862648" h="999149">
                <a:moveTo>
                  <a:pt x="1051" y="0"/>
                </a:moveTo>
                <a:lnTo>
                  <a:pt x="415559" y="0"/>
                </a:lnTo>
                <a:lnTo>
                  <a:pt x="1862648" y="999149"/>
                </a:lnTo>
                <a:lnTo>
                  <a:pt x="0" y="999149"/>
                </a:lnTo>
                <a:cubicBezTo>
                  <a:pt x="350" y="666099"/>
                  <a:pt x="701" y="333050"/>
                  <a:pt x="1051" y="0"/>
                </a:cubicBez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任意多边形: 形状 233"/>
          <p:cNvSpPr/>
          <p:nvPr/>
        </p:nvSpPr>
        <p:spPr bwMode="invGray">
          <a:xfrm>
            <a:off x="6564630" y="1470025"/>
            <a:ext cx="3221990" cy="1004570"/>
          </a:xfrm>
          <a:custGeom>
            <a:avLst/>
            <a:gdLst>
              <a:gd name="connsiteX0" fmla="*/ 0 w 3289483"/>
              <a:gd name="connsiteY0" fmla="*/ 0 h 1004830"/>
              <a:gd name="connsiteX1" fmla="*/ 385153 w 3289483"/>
              <a:gd name="connsiteY1" fmla="*/ 0 h 1004830"/>
              <a:gd name="connsiteX2" fmla="*/ 3289483 w 3289483"/>
              <a:gd name="connsiteY2" fmla="*/ 1000976 h 1004830"/>
              <a:gd name="connsiteX3" fmla="*/ 3289483 w 3289483"/>
              <a:gd name="connsiteY3" fmla="*/ 1004830 h 1004830"/>
              <a:gd name="connsiteX4" fmla="*/ 1434403 w 3289483"/>
              <a:gd name="connsiteY4" fmla="*/ 999149 h 1004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9483" h="1004830">
                <a:moveTo>
                  <a:pt x="0" y="0"/>
                </a:moveTo>
                <a:lnTo>
                  <a:pt x="385153" y="0"/>
                </a:lnTo>
                <a:lnTo>
                  <a:pt x="3289483" y="1000976"/>
                </a:lnTo>
                <a:lnTo>
                  <a:pt x="3289483" y="1004830"/>
                </a:lnTo>
                <a:lnTo>
                  <a:pt x="1434403" y="999149"/>
                </a:lnTo>
                <a:close/>
              </a:path>
            </a:pathLst>
          </a:custGeom>
          <a:gradFill>
            <a:gsLst>
              <a:gs pos="33000">
                <a:schemeClr val="accent1">
                  <a:alpha val="62000"/>
                </a:schemeClr>
              </a:gs>
              <a:gs pos="0">
                <a:schemeClr val="accent1">
                  <a:alpha val="0"/>
                </a:schemeClr>
              </a:gs>
              <a:gs pos="8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39" name="任意多边形: 形状 235"/>
          <p:cNvSpPr/>
          <p:nvPr/>
        </p:nvSpPr>
        <p:spPr bwMode="invGray">
          <a:xfrm>
            <a:off x="7017385" y="1470025"/>
            <a:ext cx="4622800" cy="1000125"/>
          </a:xfrm>
          <a:custGeom>
            <a:avLst/>
            <a:gdLst>
              <a:gd name="connsiteX0" fmla="*/ 0 w 4716450"/>
              <a:gd name="connsiteY0" fmla="*/ 0 h 1010362"/>
              <a:gd name="connsiteX1" fmla="*/ 349563 w 4716450"/>
              <a:gd name="connsiteY1" fmla="*/ 0 h 1010362"/>
              <a:gd name="connsiteX2" fmla="*/ 4716450 w 4716450"/>
              <a:gd name="connsiteY2" fmla="*/ 1002332 h 1010362"/>
              <a:gd name="connsiteX3" fmla="*/ 4716450 w 4716450"/>
              <a:gd name="connsiteY3" fmla="*/ 1010362 h 1010362"/>
              <a:gd name="connsiteX4" fmla="*/ 2858464 w 4716450"/>
              <a:gd name="connsiteY4" fmla="*/ 999149 h 1010362"/>
              <a:gd name="connsiteX0-1" fmla="*/ 0 w 4737405"/>
              <a:gd name="connsiteY0-2" fmla="*/ 0 h 1006552"/>
              <a:gd name="connsiteX1-3" fmla="*/ 349563 w 4737405"/>
              <a:gd name="connsiteY1-4" fmla="*/ 0 h 1006552"/>
              <a:gd name="connsiteX2-5" fmla="*/ 4716450 w 4737405"/>
              <a:gd name="connsiteY2-6" fmla="*/ 1002332 h 1006552"/>
              <a:gd name="connsiteX3-7" fmla="*/ 4737405 w 4737405"/>
              <a:gd name="connsiteY3-8" fmla="*/ 1006552 h 1006552"/>
              <a:gd name="connsiteX4-9" fmla="*/ 2858464 w 4737405"/>
              <a:gd name="connsiteY4-10" fmla="*/ 999149 h 1006552"/>
              <a:gd name="connsiteX5" fmla="*/ 0 w 4737405"/>
              <a:gd name="connsiteY5" fmla="*/ 0 h 1006552"/>
              <a:gd name="connsiteX0-11" fmla="*/ 0 w 4716450"/>
              <a:gd name="connsiteY0-12" fmla="*/ 0 h 1002332"/>
              <a:gd name="connsiteX1-13" fmla="*/ 349563 w 4716450"/>
              <a:gd name="connsiteY1-14" fmla="*/ 0 h 1002332"/>
              <a:gd name="connsiteX2-15" fmla="*/ 4716450 w 4716450"/>
              <a:gd name="connsiteY2-16" fmla="*/ 1002332 h 1002332"/>
              <a:gd name="connsiteX3-17" fmla="*/ 2858464 w 4716450"/>
              <a:gd name="connsiteY3-18" fmla="*/ 999149 h 1002332"/>
              <a:gd name="connsiteX4-19" fmla="*/ 0 w 4716450"/>
              <a:gd name="connsiteY4-20" fmla="*/ 0 h 1002332"/>
              <a:gd name="connsiteX0-21" fmla="*/ 0 w 4720260"/>
              <a:gd name="connsiteY0-22" fmla="*/ 0 h 1000427"/>
              <a:gd name="connsiteX1-23" fmla="*/ 349563 w 4720260"/>
              <a:gd name="connsiteY1-24" fmla="*/ 0 h 1000427"/>
              <a:gd name="connsiteX2-25" fmla="*/ 4720260 w 4720260"/>
              <a:gd name="connsiteY2-26" fmla="*/ 1000427 h 1000427"/>
              <a:gd name="connsiteX3-27" fmla="*/ 2858464 w 4720260"/>
              <a:gd name="connsiteY3-28" fmla="*/ 999149 h 1000427"/>
              <a:gd name="connsiteX4-29" fmla="*/ 0 w 4720260"/>
              <a:gd name="connsiteY4-30" fmla="*/ 0 h 10004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720260" h="1000427">
                <a:moveTo>
                  <a:pt x="0" y="0"/>
                </a:moveTo>
                <a:lnTo>
                  <a:pt x="349563" y="0"/>
                </a:lnTo>
                <a:lnTo>
                  <a:pt x="4720260" y="1000427"/>
                </a:lnTo>
                <a:lnTo>
                  <a:pt x="2858464" y="99914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3000">
                <a:schemeClr val="accent5">
                  <a:alpha val="62000"/>
                </a:schemeClr>
              </a:gs>
              <a:gs pos="0">
                <a:schemeClr val="accent5">
                  <a:alpha val="0"/>
                </a:schemeClr>
              </a:gs>
              <a:gs pos="8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矩形 39"/>
          <p:cNvSpPr/>
          <p:nvPr/>
        </p:nvSpPr>
        <p:spPr bwMode="invGray">
          <a:xfrm>
            <a:off x="130175" y="5880100"/>
            <a:ext cx="2096770" cy="62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 bwMode="invGray">
          <a:xfrm>
            <a:off x="2259965" y="5880100"/>
            <a:ext cx="1903730" cy="62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 bwMode="invGray">
          <a:xfrm>
            <a:off x="8030210" y="5880100"/>
            <a:ext cx="1915795" cy="62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 bwMode="invGray">
          <a:xfrm>
            <a:off x="9996805" y="5879465"/>
            <a:ext cx="2044065" cy="6248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27355" y="5992495"/>
            <a:ext cx="15017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提升华南市场份额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25%</a:t>
            </a:r>
            <a:endParaRPr lang="en-US" altLang="zh-CN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420620" y="5992495"/>
            <a:ext cx="166814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个核心指标，每月进行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指标健康度诊断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260080" y="5992495"/>
            <a:ext cx="15017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PowerBI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等报表工具，建立敏捷管理框架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0113010" y="5992495"/>
            <a:ext cx="162623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长期价值，构建持续进化的销售运营体系</a:t>
            </a:r>
            <a:endParaRPr lang="zh-CN" altLang="en-US" sz="100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val 13"/>
          <p:cNvSpPr>
            <a:spLocks noChangeArrowheads="1"/>
          </p:cNvSpPr>
          <p:nvPr>
            <p:custDataLst>
              <p:tags r:id="rId3"/>
            </p:custDataLst>
          </p:nvPr>
        </p:nvSpPr>
        <p:spPr bwMode="invGray">
          <a:xfrm>
            <a:off x="4682490" y="1067435"/>
            <a:ext cx="2699385" cy="798195"/>
          </a:xfrm>
          <a:prstGeom prst="ellipse">
            <a:avLst/>
          </a:prstGeom>
          <a:solidFill>
            <a:srgbClr val="FFFFFF"/>
          </a:solidFill>
          <a:ln w="12700">
            <a:gradFill>
              <a:gsLst>
                <a:gs pos="1000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round/>
          </a:ln>
          <a:effectLst/>
        </p:spPr>
        <p:txBody>
          <a:bodyPr wrap="none" anchor="ctr"/>
          <a:lstStyle/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Rectangle 1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86655" y="1303020"/>
            <a:ext cx="220789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25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销售运营分析</a:t>
            </a:r>
            <a:endParaRPr lang="zh-CN" altLang="en-US" sz="25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1" name="文本框 80"/>
          <p:cNvSpPr txBox="1"/>
          <p:nvPr>
            <p:custDataLst>
              <p:tags r:id="rId5"/>
            </p:custDataLst>
          </p:nvPr>
        </p:nvSpPr>
        <p:spPr>
          <a:xfrm>
            <a:off x="609600" y="3672840"/>
            <a:ext cx="1743710" cy="161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制定一个明确而有效的战略对于企业的成功至关重要。</a:t>
            </a:r>
            <a:endParaRPr lang="en-US" alt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战略不仅是一纸空谈，更是指导企业走向辉煌的行动纲领。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2" name="图片 81" descr="战略分区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79320" y="2131060"/>
            <a:ext cx="266700" cy="272415"/>
          </a:xfrm>
          <a:prstGeom prst="rect">
            <a:avLst/>
          </a:prstGeom>
        </p:spPr>
      </p:pic>
      <p:pic>
        <p:nvPicPr>
          <p:cNvPr id="83" name="图片 82" descr="关键指标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2310" y="2131060"/>
            <a:ext cx="286385" cy="292735"/>
          </a:xfrm>
          <a:prstGeom prst="rect">
            <a:avLst/>
          </a:prstGeom>
        </p:spPr>
      </p:pic>
      <p:sp>
        <p:nvSpPr>
          <p:cNvPr id="84" name="圆角矩形 83"/>
          <p:cNvSpPr/>
          <p:nvPr/>
        </p:nvSpPr>
        <p:spPr>
          <a:xfrm>
            <a:off x="2496820" y="4448810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线索转化率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3377565" y="4448810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l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客户留存率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2496820" y="4806315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营收增长率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3377565" y="4806315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销售毛利率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2496820" y="5163820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3377565" y="5163820"/>
            <a:ext cx="786765" cy="3124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10"/>
            </p:custDataLst>
          </p:nvPr>
        </p:nvSpPr>
        <p:spPr>
          <a:xfrm>
            <a:off x="2446020" y="3594100"/>
            <a:ext cx="1780540" cy="85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根据战略进行拆解，</a:t>
            </a:r>
            <a:r>
              <a:rPr 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转化为可量化、可落地的关键指标。</a:t>
            </a:r>
            <a:endParaRPr 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任意多边形: 形状 301"/>
          <p:cNvSpPr/>
          <p:nvPr/>
        </p:nvSpPr>
        <p:spPr bwMode="invGray">
          <a:xfrm>
            <a:off x="4200525" y="5688965"/>
            <a:ext cx="1885315" cy="191770"/>
          </a:xfrm>
          <a:custGeom>
            <a:avLst/>
            <a:gdLst>
              <a:gd name="connsiteX0" fmla="*/ 69874 w 1858476"/>
              <a:gd name="connsiteY0" fmla="*/ 0 h 191574"/>
              <a:gd name="connsiteX1" fmla="*/ 1858476 w 1858476"/>
              <a:gd name="connsiteY1" fmla="*/ 0 h 191574"/>
              <a:gd name="connsiteX2" fmla="*/ 1858275 w 1858476"/>
              <a:gd name="connsiteY2" fmla="*/ 191574 h 191574"/>
              <a:gd name="connsiteX3" fmla="*/ 0 w 1858476"/>
              <a:gd name="connsiteY3" fmla="*/ 189669 h 191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8476" h="191574">
                <a:moveTo>
                  <a:pt x="69874" y="0"/>
                </a:moveTo>
                <a:lnTo>
                  <a:pt x="1858476" y="0"/>
                </a:lnTo>
                <a:lnTo>
                  <a:pt x="1858275" y="191574"/>
                </a:lnTo>
                <a:lnTo>
                  <a:pt x="0" y="18966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矩形 91"/>
          <p:cNvSpPr/>
          <p:nvPr/>
        </p:nvSpPr>
        <p:spPr bwMode="invGray">
          <a:xfrm>
            <a:off x="4202430" y="5880100"/>
            <a:ext cx="1885315" cy="62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Rectangle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46455" y="5702300"/>
            <a:ext cx="80645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Rectangle 19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891790" y="5702300"/>
            <a:ext cx="80645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ectangle 1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760595" y="5702300"/>
            <a:ext cx="91313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ectangle 1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649720" y="5688965"/>
            <a:ext cx="80645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375785" y="5991225"/>
            <a:ext cx="15017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建立里程碑：季度攻坚计划、百日冲刺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矩形 104"/>
          <p:cNvSpPr/>
          <p:nvPr/>
        </p:nvSpPr>
        <p:spPr bwMode="invGray">
          <a:xfrm>
            <a:off x="6112510" y="5880100"/>
            <a:ext cx="1884045" cy="624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Rectangle 1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545195" y="5688965"/>
            <a:ext cx="80645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7" name="图片 106" descr="数据模型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4575" y="2131060"/>
            <a:ext cx="278130" cy="278130"/>
          </a:xfrm>
          <a:prstGeom prst="rect">
            <a:avLst/>
          </a:prstGeom>
        </p:spPr>
      </p:pic>
      <p:sp>
        <p:nvSpPr>
          <p:cNvPr id="108" name="文本框 107"/>
          <p:cNvSpPr txBox="1"/>
          <p:nvPr>
            <p:custDataLst>
              <p:tags r:id="rId18"/>
            </p:custDataLst>
          </p:nvPr>
        </p:nvSpPr>
        <p:spPr>
          <a:xfrm>
            <a:off x="4262755" y="3603625"/>
            <a:ext cx="1823085" cy="186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将目标转化为可执行的战术动作与时间表；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做好资源分配，销售团队规模与技能匹配，市场费用分配；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周任务分解（每周新增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条有效线索）。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9" name="图片 108" descr="工作计划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62245" y="2131060"/>
            <a:ext cx="266700" cy="266700"/>
          </a:xfrm>
          <a:prstGeom prst="rect">
            <a:avLst/>
          </a:prstGeom>
        </p:spPr>
      </p:pic>
      <p:cxnSp>
        <p:nvCxnSpPr>
          <p:cNvPr id="111" name="直线连接符 27"/>
          <p:cNvCxnSpPr/>
          <p:nvPr/>
        </p:nvCxnSpPr>
        <p:spPr>
          <a:xfrm>
            <a:off x="6222365" y="4224655"/>
            <a:ext cx="1670050" cy="0"/>
          </a:xfrm>
          <a:prstGeom prst="line">
            <a:avLst/>
          </a:prstGeom>
          <a:ln>
            <a:solidFill>
              <a:srgbClr val="24396B">
                <a:alpha val="26531"/>
              </a:srgbClr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12" name="直线连接符 28"/>
          <p:cNvCxnSpPr/>
          <p:nvPr/>
        </p:nvCxnSpPr>
        <p:spPr>
          <a:xfrm>
            <a:off x="6973570" y="3688715"/>
            <a:ext cx="0" cy="1816100"/>
          </a:xfrm>
          <a:prstGeom prst="line">
            <a:avLst/>
          </a:prstGeom>
          <a:ln>
            <a:solidFill>
              <a:srgbClr val="24396B">
                <a:alpha val="26531"/>
              </a:srgbClr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14" name="直线连接符 83"/>
          <p:cNvCxnSpPr/>
          <p:nvPr/>
        </p:nvCxnSpPr>
        <p:spPr>
          <a:xfrm>
            <a:off x="6222365" y="4877435"/>
            <a:ext cx="1612900" cy="0"/>
          </a:xfrm>
          <a:prstGeom prst="line">
            <a:avLst/>
          </a:prstGeom>
          <a:ln>
            <a:solidFill>
              <a:srgbClr val="24396B">
                <a:alpha val="26531"/>
              </a:srgbClr>
            </a:solidFill>
            <a:prstDash val="lgDash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15" name="文本框 114"/>
          <p:cNvSpPr txBox="1"/>
          <p:nvPr/>
        </p:nvSpPr>
        <p:spPr>
          <a:xfrm>
            <a:off x="6260783" y="3646170"/>
            <a:ext cx="7296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120%</a:t>
            </a:r>
            <a:endParaRPr 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250305" y="3873500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超额目标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6355080" y="4265295"/>
            <a:ext cx="63500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endParaRPr 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250305" y="4492625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销售奖金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330315" y="4954905"/>
            <a:ext cx="59055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7%</a:t>
            </a:r>
            <a:endParaRPr 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250305" y="5182235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毛利提升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7057390" y="3646170"/>
            <a:ext cx="76835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15%</a:t>
            </a:r>
            <a:endParaRPr 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056755" y="3873500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绩效提成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7076758" y="4265295"/>
            <a:ext cx="7296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lang="zh-CN" alt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7070725" y="4492625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销售拜访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7076758" y="4954905"/>
            <a:ext cx="7296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en-US" sz="15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056755" y="5182235"/>
            <a:ext cx="75057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任务跟进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6165215" y="5992495"/>
            <a:ext cx="177863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新客户占比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纳入考核，奖金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与新客业绩挂钩。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8" name="图片 127" descr="钱袋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744970" y="2099310"/>
            <a:ext cx="292100" cy="292100"/>
          </a:xfrm>
          <a:prstGeom prst="rect">
            <a:avLst/>
          </a:prstGeom>
        </p:spPr>
      </p:pic>
      <p:sp>
        <p:nvSpPr>
          <p:cNvPr id="129" name="文本框 128"/>
          <p:cNvSpPr txBox="1"/>
          <p:nvPr>
            <p:custDataLst>
              <p:tags r:id="rId23"/>
            </p:custDataLst>
          </p:nvPr>
        </p:nvSpPr>
        <p:spPr>
          <a:xfrm>
            <a:off x="7951470" y="3660140"/>
            <a:ext cx="1823085" cy="161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双周经营会议，对比目标差距，调整策略（如清理长库龄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实时仪表盘：监控核心指标波动（如线索转化率单日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-5%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触发预警）。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0" name="图片 129" descr="复盘（OKR导航专用）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77120" y="2131060"/>
            <a:ext cx="295910" cy="295910"/>
          </a:xfrm>
          <a:prstGeom prst="rect">
            <a:avLst/>
          </a:prstGeom>
        </p:spPr>
      </p:pic>
      <p:sp>
        <p:nvSpPr>
          <p:cNvPr id="132" name="Rectangle 19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0405110" y="5690235"/>
            <a:ext cx="993140" cy="184150"/>
          </a:xfrm>
          <a:prstGeom prst="rect">
            <a:avLst/>
          </a:prstGeom>
          <a:noFill/>
          <a:ln>
            <a:noFill/>
          </a:ln>
          <a:effectLst/>
          <a:scene3d>
            <a:camera prst="perspectiveRelaxed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24396B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5F7FC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787400"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133350" indent="-132080" defTabSz="787400">
              <a:spcAft>
                <a:spcPct val="0"/>
              </a:spcAft>
              <a:buSzPct val="120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marL="301625" indent="-151130" defTabSz="787400">
              <a:spcAft>
                <a:spcPct val="0"/>
              </a:spcAft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marL="440055" indent="-136525" defTabSz="787400">
              <a:spcAft>
                <a:spcPct val="0"/>
              </a:spcAft>
              <a:buSzPct val="89000"/>
              <a:buChar char="•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marL="603250" indent="-142875" defTabSz="787400"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  <a:lvl6pPr marL="10604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6pPr>
            <a:lvl7pPr marL="15176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7pPr>
            <a:lvl8pPr marL="19748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8pPr>
            <a:lvl9pPr marL="2432050" indent="-142875" defTabSz="787400" eaLnBrk="0" fontAlgn="base" hangingPunct="0">
              <a:spcBef>
                <a:spcPct val="0"/>
              </a:spcBef>
              <a:spcAft>
                <a:spcPct val="0"/>
              </a:spcAft>
              <a:buSzPct val="75000"/>
              <a:buChar char="–"/>
              <a:defRPr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第六步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2449830" y="5205095"/>
            <a:ext cx="880745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平均成交周期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3330575" y="5205095"/>
            <a:ext cx="880745" cy="2298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产品使用频率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8820" y="2689225"/>
            <a:ext cx="146113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制定战略目标</a:t>
            </a:r>
            <a:endParaRPr lang="en-US" altLang="zh-CN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26995" y="2689225"/>
            <a:ext cx="13557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确定关键指标</a:t>
            </a:r>
            <a:endParaRPr lang="zh-CN" altLang="en-US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90720" y="2689225"/>
            <a:ext cx="146113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制定工作计划</a:t>
            </a:r>
            <a:endParaRPr lang="zh-CN" altLang="en-US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87770" y="2689225"/>
            <a:ext cx="145923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设计绩效政策</a:t>
            </a:r>
            <a:endParaRPr lang="zh-CN" altLang="en-US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59445" y="2689225"/>
            <a:ext cx="12376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执行与监控</a:t>
            </a:r>
            <a:endParaRPr lang="zh-CN" altLang="en-US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13645" y="2689225"/>
            <a:ext cx="12471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复盘与优化</a:t>
            </a:r>
            <a:endParaRPr lang="zh-CN" altLang="en-US" sz="140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0235" y="2947670"/>
            <a:ext cx="168846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Strategic Goal Setting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821940" y="2947670"/>
            <a:ext cx="98615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Define KPIs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91355" y="2947670"/>
            <a:ext cx="138620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 Planning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87745" y="2947670"/>
            <a:ext cx="184531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Performance Policy Design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961630" y="2947670"/>
            <a:ext cx="1800860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Execution &amp; Monitoring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897745" y="2947670"/>
            <a:ext cx="165544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 i="0"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latin typeface="-apple-system"/>
              </a:defRPr>
            </a:lvl1pPr>
          </a:lstStyle>
          <a:p>
            <a:pPr algn="ctr"/>
            <a:r>
              <a:rPr lang="en-US" altLang="zh-CN" sz="1050" b="0" dirty="0">
                <a:solidFill>
                  <a:sysClr val="window" lastClr="FFFFFF">
                    <a:alpha val="80000"/>
                  </a:sys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 &amp; Optimization</a:t>
            </a:r>
            <a:endParaRPr lang="en-US" altLang="zh-CN" sz="1050" b="0" dirty="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7"/>
            </p:custDataLst>
          </p:nvPr>
        </p:nvSpPr>
        <p:spPr>
          <a:xfrm>
            <a:off x="9803765" y="3551555"/>
            <a:ext cx="182308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将经验转化为系统能力，避免重复错误并放大成功路径。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救火式应对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体系化改进</a:t>
            </a:r>
            <a:r>
              <a:rPr lang="en-US" altLang="zh-CN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：通过复盘将个人经验沉淀为组织规则。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数据驱动决策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：用客观分析替代主观经验判断。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>
            <a:blip r:embed="rId28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高科技跑鞋单品</a:t>
            </a:r>
            <a:r>
              <a:rPr lang="en-US" altLang="zh-CN" sz="2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产品信息屋</a:t>
            </a:r>
            <a:endParaRPr sz="2500" b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12010" y="2035810"/>
            <a:ext cx="9511030" cy="533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869815" y="2133600"/>
            <a:ext cx="26765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rgbClr val="44546A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专业跑者与进阶运动爱好者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112010" y="2638425"/>
            <a:ext cx="9511030" cy="533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822168" y="2735812"/>
            <a:ext cx="2620348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rgbClr val="44546A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新一代高性能竞速跑鞋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2305" y="2035810"/>
            <a:ext cx="1371600" cy="533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人群定位</a:t>
            </a:r>
            <a:endParaRPr lang="zh-CN" altLang="en-US" sz="14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2305" y="2641600"/>
            <a:ext cx="1371600" cy="5334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产品定位</a:t>
            </a:r>
            <a:endParaRPr lang="zh-CN" altLang="en-US" sz="1400" b="1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2305" y="3247390"/>
            <a:ext cx="1371600" cy="3460750"/>
          </a:xfrm>
          <a:prstGeom prst="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利益点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12010" y="3247390"/>
            <a:ext cx="1569600" cy="9994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03835" y="3247390"/>
            <a:ext cx="1569085" cy="99949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295145" y="3247390"/>
            <a:ext cx="1569085" cy="9994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886455" y="3247390"/>
            <a:ext cx="1569085" cy="99949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477765" y="3247390"/>
            <a:ext cx="1569085" cy="99949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0069075" y="3247390"/>
            <a:ext cx="1569085" cy="99949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112010" y="4246880"/>
            <a:ext cx="1569085" cy="2461260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708400" y="4246880"/>
            <a:ext cx="1569085" cy="2461260"/>
          </a:xfrm>
          <a:prstGeom prst="rect">
            <a:avLst/>
          </a:prstGeom>
          <a:solidFill>
            <a:schemeClr val="accent5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304790" y="4246880"/>
            <a:ext cx="1569085" cy="2461260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901180" y="4246880"/>
            <a:ext cx="1569085" cy="2461260"/>
          </a:xfrm>
          <a:prstGeom prst="rect">
            <a:avLst/>
          </a:prstGeom>
          <a:solidFill>
            <a:schemeClr val="accent5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497570" y="4246880"/>
            <a:ext cx="1569085" cy="2461260"/>
          </a:xfrm>
          <a:prstGeom prst="rect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0093960" y="4246880"/>
            <a:ext cx="1569085" cy="2461260"/>
          </a:xfrm>
          <a:prstGeom prst="rect">
            <a:avLst/>
          </a:prstGeom>
          <a:solidFill>
            <a:schemeClr val="accent5">
              <a:lumMod val="20000"/>
              <a:lumOff val="80000"/>
              <a:alpha val="6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2112010" y="3881120"/>
            <a:ext cx="9550400" cy="245110"/>
            <a:chOff x="3524" y="5811"/>
            <a:chExt cx="15040" cy="386"/>
          </a:xfrm>
        </p:grpSpPr>
        <p:sp>
          <p:nvSpPr>
            <p:cNvPr id="109" name="文本框 108"/>
            <p:cNvSpPr txBox="1"/>
            <p:nvPr/>
          </p:nvSpPr>
          <p:spPr>
            <a:xfrm>
              <a:off x="3524" y="5811"/>
              <a:ext cx="2470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rgbClr val="44546A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极速响应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持久支撑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6038" y="5811"/>
              <a:ext cx="2470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rgbClr val="44546A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流线美学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多场景适配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8552" y="5811"/>
              <a:ext cx="2470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rgbClr val="44546A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超临界发泡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智能温控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11066" y="5811"/>
              <a:ext cx="2470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rgbClr val="44546A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数据互联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语音指导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16094" y="5811"/>
              <a:ext cx="2470" cy="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000">
                  <a:solidFill>
                    <a:srgbClr val="44546A"/>
                  </a:solidFill>
                  <a:latin typeface="+mj-ea"/>
                  <a:ea typeface="+mj-ea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终身质保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环保循环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20" name="图片 119" descr="空间设计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6445" y="3392495"/>
            <a:ext cx="424800" cy="424800"/>
          </a:xfrm>
          <a:prstGeom prst="rect">
            <a:avLst/>
          </a:prstGeom>
        </p:spPr>
      </p:pic>
      <p:pic>
        <p:nvPicPr>
          <p:cNvPr id="121" name="图片 120" descr="安全防护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41330" y="3392495"/>
            <a:ext cx="424800" cy="424800"/>
          </a:xfrm>
          <a:prstGeom prst="rect">
            <a:avLst/>
          </a:prstGeom>
        </p:spPr>
      </p:pic>
      <p:pic>
        <p:nvPicPr>
          <p:cNvPr id="122" name="图片 121" descr="科技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2200" y="3392495"/>
            <a:ext cx="424800" cy="424800"/>
          </a:xfrm>
          <a:prstGeom prst="rect">
            <a:avLst/>
          </a:prstGeom>
        </p:spPr>
      </p:pic>
      <p:sp>
        <p:nvSpPr>
          <p:cNvPr id="126" name="矩形: 圆角 57"/>
          <p:cNvSpPr/>
          <p:nvPr/>
        </p:nvSpPr>
        <p:spPr>
          <a:xfrm>
            <a:off x="2274570" y="4394200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仿生弧度设计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矩形: 圆角 58"/>
          <p:cNvSpPr/>
          <p:nvPr/>
        </p:nvSpPr>
        <p:spPr>
          <a:xfrm>
            <a:off x="2274570" y="4768215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超临界发泡中底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8" name="矩形: 圆角 59"/>
          <p:cNvSpPr/>
          <p:nvPr/>
        </p:nvSpPr>
        <p:spPr>
          <a:xfrm>
            <a:off x="2274570" y="5141595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足跟稳定器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9" name="矩形: 圆角 60"/>
          <p:cNvSpPr/>
          <p:nvPr/>
        </p:nvSpPr>
        <p:spPr>
          <a:xfrm>
            <a:off x="2274570" y="5515610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5000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公里极限验证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0" name="矩形: 圆角 61"/>
          <p:cNvSpPr/>
          <p:nvPr/>
        </p:nvSpPr>
        <p:spPr>
          <a:xfrm>
            <a:off x="2274570" y="5888990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动态编织鞋面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1" name="矩形: 圆角 62"/>
          <p:cNvSpPr/>
          <p:nvPr/>
        </p:nvSpPr>
        <p:spPr>
          <a:xfrm>
            <a:off x="2274570" y="6263005"/>
            <a:ext cx="1269365" cy="2851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DSP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颗粒大底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846830" y="4394200"/>
            <a:ext cx="1240790" cy="2153920"/>
            <a:chOff x="1120140" y="4161158"/>
            <a:chExt cx="1341184" cy="2166448"/>
          </a:xfrm>
        </p:grpSpPr>
        <p:sp>
          <p:nvSpPr>
            <p:cNvPr id="134" name="矩形: 圆角 73"/>
            <p:cNvSpPr/>
            <p:nvPr/>
          </p:nvSpPr>
          <p:spPr>
            <a:xfrm>
              <a:off x="1120140" y="416115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空气动力学剪裁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5" name="矩形: 圆角 74"/>
            <p:cNvSpPr/>
            <p:nvPr/>
          </p:nvSpPr>
          <p:spPr>
            <a:xfrm>
              <a:off x="1120140" y="453707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6" name="矩形: 圆角 75"/>
            <p:cNvSpPr/>
            <p:nvPr/>
          </p:nvSpPr>
          <p:spPr>
            <a:xfrm>
              <a:off x="1120140" y="491299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磁吸式鞋带系统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7" name="矩形: 圆角 76"/>
            <p:cNvSpPr/>
            <p:nvPr/>
          </p:nvSpPr>
          <p:spPr>
            <a:xfrm>
              <a:off x="1120140" y="528891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模块化鞋舌设计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8" name="矩形: 圆角 77"/>
            <p:cNvSpPr/>
            <p:nvPr/>
          </p:nvSpPr>
          <p:spPr>
            <a:xfrm>
              <a:off x="1120140" y="566483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多地形适配大底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9" name="矩形: 圆角 78"/>
            <p:cNvSpPr/>
            <p:nvPr/>
          </p:nvSpPr>
          <p:spPr>
            <a:xfrm>
              <a:off x="1120140" y="6040756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联名限定款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0" name="文本框 139"/>
          <p:cNvSpPr txBox="1"/>
          <p:nvPr/>
        </p:nvSpPr>
        <p:spPr>
          <a:xfrm>
            <a:off x="3645535" y="4808220"/>
            <a:ext cx="163322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荧光夜跑配色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5425440" y="4394200"/>
            <a:ext cx="1322705" cy="2153920"/>
            <a:chOff x="1120140" y="4161158"/>
            <a:chExt cx="1341184" cy="2166448"/>
          </a:xfrm>
        </p:grpSpPr>
        <p:sp>
          <p:nvSpPr>
            <p:cNvPr id="142" name="矩形: 圆角 80"/>
            <p:cNvSpPr/>
            <p:nvPr/>
          </p:nvSpPr>
          <p:spPr>
            <a:xfrm>
              <a:off x="1120140" y="416115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超临界氮气发泡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3" name="矩形: 圆角 81"/>
            <p:cNvSpPr/>
            <p:nvPr/>
          </p:nvSpPr>
          <p:spPr>
            <a:xfrm>
              <a:off x="1120140" y="453707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鞋舌微型风扇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4" name="矩形: 圆角 82"/>
            <p:cNvSpPr/>
            <p:nvPr/>
          </p:nvSpPr>
          <p:spPr>
            <a:xfrm>
              <a:off x="1120140" y="491299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自修复大底涂层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5" name="矩形: 圆角 83"/>
            <p:cNvSpPr/>
            <p:nvPr/>
          </p:nvSpPr>
          <p:spPr>
            <a:xfrm>
              <a:off x="1120140" y="528891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银离子抗菌鞋垫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6" name="矩形: 圆角 84"/>
            <p:cNvSpPr/>
            <p:nvPr/>
          </p:nvSpPr>
          <p:spPr>
            <a:xfrm>
              <a:off x="1120140" y="566483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冬季保暖内衬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7" name="矩形: 圆角 85"/>
            <p:cNvSpPr/>
            <p:nvPr/>
          </p:nvSpPr>
          <p:spPr>
            <a:xfrm>
              <a:off x="1120140" y="6040756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48" name="文本框 147"/>
          <p:cNvSpPr txBox="1"/>
          <p:nvPr/>
        </p:nvSpPr>
        <p:spPr>
          <a:xfrm>
            <a:off x="5230495" y="6297930"/>
            <a:ext cx="165735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环保粘合工艺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6993255" y="4394200"/>
            <a:ext cx="1343660" cy="2153920"/>
            <a:chOff x="1120140" y="4161158"/>
            <a:chExt cx="1341184" cy="2166448"/>
          </a:xfrm>
        </p:grpSpPr>
        <p:sp>
          <p:nvSpPr>
            <p:cNvPr id="150" name="矩形: 圆角 87"/>
            <p:cNvSpPr/>
            <p:nvPr/>
          </p:nvSpPr>
          <p:spPr>
            <a:xfrm>
              <a:off x="1120140" y="416115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监测步态对称性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1" name="矩形: 圆角 88"/>
            <p:cNvSpPr/>
            <p:nvPr/>
          </p:nvSpPr>
          <p:spPr>
            <a:xfrm>
              <a:off x="1120140" y="453707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APP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跑步报告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2" name="矩形: 圆角 89"/>
            <p:cNvSpPr/>
            <p:nvPr/>
          </p:nvSpPr>
          <p:spPr>
            <a:xfrm>
              <a:off x="1120140" y="491299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语音教练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3" name="矩形: 圆角 90"/>
            <p:cNvSpPr/>
            <p:nvPr/>
          </p:nvSpPr>
          <p:spPr>
            <a:xfrm>
              <a:off x="1120140" y="528891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鞋跟隐藏式充电仓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4" name="矩形: 圆角 91"/>
            <p:cNvSpPr/>
            <p:nvPr/>
          </p:nvSpPr>
          <p:spPr>
            <a:xfrm>
              <a:off x="1120140" y="566483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赛事导航联动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5" name="矩形: 圆角 92"/>
            <p:cNvSpPr/>
            <p:nvPr/>
          </p:nvSpPr>
          <p:spPr>
            <a:xfrm>
              <a:off x="1120140" y="6040756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全球跑者</a:t>
              </a: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PK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8587740" y="4378960"/>
            <a:ext cx="1381760" cy="2153920"/>
            <a:chOff x="1120140" y="4161158"/>
            <a:chExt cx="1341184" cy="2166448"/>
          </a:xfrm>
        </p:grpSpPr>
        <p:sp>
          <p:nvSpPr>
            <p:cNvPr id="157" name="矩形: 圆角 94"/>
            <p:cNvSpPr/>
            <p:nvPr/>
          </p:nvSpPr>
          <p:spPr>
            <a:xfrm>
              <a:off x="1120140" y="416115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足弓减压结构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8" name="矩形: 圆角 95"/>
            <p:cNvSpPr/>
            <p:nvPr/>
          </p:nvSpPr>
          <p:spPr>
            <a:xfrm>
              <a:off x="1120140" y="453707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跟腱缓冲槽柔性包裹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9" name="矩形: 圆角 96"/>
            <p:cNvSpPr/>
            <p:nvPr/>
          </p:nvSpPr>
          <p:spPr>
            <a:xfrm>
              <a:off x="1120140" y="491299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中底微震技术降疲劳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0" name="矩形: 圆角 97"/>
            <p:cNvSpPr/>
            <p:nvPr/>
          </p:nvSpPr>
          <p:spPr>
            <a:xfrm>
              <a:off x="1120140" y="528891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自适应缓震模块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1" name="矩形: 圆角 98"/>
            <p:cNvSpPr/>
            <p:nvPr/>
          </p:nvSpPr>
          <p:spPr>
            <a:xfrm>
              <a:off x="1120140" y="566483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姿态矫正方案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2" name="矩形: 圆角 99"/>
            <p:cNvSpPr/>
            <p:nvPr/>
          </p:nvSpPr>
          <p:spPr>
            <a:xfrm>
              <a:off x="1120140" y="6040756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赛后恢复鞋垫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10198100" y="4378960"/>
            <a:ext cx="1326515" cy="2153920"/>
            <a:chOff x="1120140" y="4161158"/>
            <a:chExt cx="1341184" cy="2166448"/>
          </a:xfrm>
        </p:grpSpPr>
        <p:sp>
          <p:nvSpPr>
            <p:cNvPr id="164" name="矩形: 圆角 101"/>
            <p:cNvSpPr/>
            <p:nvPr/>
          </p:nvSpPr>
          <p:spPr>
            <a:xfrm>
              <a:off x="1120140" y="416115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大底终身换新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5" name="矩形: 圆角 102"/>
            <p:cNvSpPr/>
            <p:nvPr/>
          </p:nvSpPr>
          <p:spPr>
            <a:xfrm>
              <a:off x="1120140" y="453707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碳足迹溯源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6" name="矩形: 圆角 103"/>
            <p:cNvSpPr/>
            <p:nvPr/>
          </p:nvSpPr>
          <p:spPr>
            <a:xfrm>
              <a:off x="1120140" y="491299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旧鞋回收计划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7" name="矩形: 圆角 104"/>
            <p:cNvSpPr/>
            <p:nvPr/>
          </p:nvSpPr>
          <p:spPr>
            <a:xfrm>
              <a:off x="1120140" y="5288917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会员专属权益</a:t>
              </a: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8" name="矩形: 圆角 105"/>
            <p:cNvSpPr/>
            <p:nvPr/>
          </p:nvSpPr>
          <p:spPr>
            <a:xfrm>
              <a:off x="1120140" y="5664838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9" name="矩形: 圆角 106"/>
            <p:cNvSpPr/>
            <p:nvPr/>
          </p:nvSpPr>
          <p:spPr>
            <a:xfrm>
              <a:off x="1120140" y="6040756"/>
              <a:ext cx="1341184" cy="286850"/>
            </a:xfrm>
            <a:prstGeom prst="roundRect">
              <a:avLst>
                <a:gd name="adj" fmla="val 50000"/>
              </a:avLst>
            </a:prstGeom>
            <a:solidFill>
              <a:sysClr val="window" lastClr="FFFFFF"/>
            </a:solidFill>
            <a:ln w="12700" cap="flat" cmpd="sng" algn="ctr">
              <a:solidFill>
                <a:schemeClr val="accent5">
                  <a:lumMod val="40000"/>
                  <a:lumOff val="6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10017760" y="5902960"/>
            <a:ext cx="172275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赛事直通资格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9963150" y="6278245"/>
            <a:ext cx="181292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公益捐赠机制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97570" y="3881120"/>
            <a:ext cx="156845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rgbClr val="44546A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足部减负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跟腱防护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 descr="821qt_kaiqi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83510" y="3350895"/>
            <a:ext cx="508000" cy="508000"/>
          </a:xfrm>
          <a:prstGeom prst="rect">
            <a:avLst/>
          </a:prstGeom>
        </p:spPr>
      </p:pic>
      <p:pic>
        <p:nvPicPr>
          <p:cNvPr id="12" name="图片 11" descr="运动鞋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76090" y="3351213"/>
            <a:ext cx="507365" cy="507365"/>
          </a:xfrm>
          <a:prstGeom prst="rect">
            <a:avLst/>
          </a:prstGeom>
        </p:spPr>
      </p:pic>
      <p:pic>
        <p:nvPicPr>
          <p:cNvPr id="13" name="图片 12" descr="General-2-5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13520" y="3392495"/>
            <a:ext cx="424800" cy="424800"/>
          </a:xfrm>
          <a:prstGeom prst="rect">
            <a:avLst/>
          </a:prstGeom>
        </p:spPr>
      </p:pic>
      <p:grpSp>
        <p:nvGrpSpPr>
          <p:cNvPr id="4357" name="显眼包PPT"/>
          <p:cNvGrpSpPr/>
          <p:nvPr/>
        </p:nvGrpSpPr>
        <p:grpSpPr>
          <a:xfrm>
            <a:off x="499110" y="1002030"/>
            <a:ext cx="11259820" cy="998855"/>
            <a:chOff x="355745" y="854943"/>
            <a:chExt cx="11480512" cy="1291095"/>
          </a:xfrm>
        </p:grpSpPr>
        <p:sp>
          <p:nvSpPr>
            <p:cNvPr id="22" name="显眼包PPT-1"/>
            <p:cNvSpPr/>
            <p:nvPr/>
          </p:nvSpPr>
          <p:spPr>
            <a:xfrm>
              <a:off x="474818" y="1446875"/>
              <a:ext cx="11263146" cy="668308"/>
            </a:xfrm>
            <a:prstGeom prst="trapezoid">
              <a:avLst>
                <a:gd name="adj" fmla="val 223417"/>
              </a:avLst>
            </a:prstGeom>
            <a:gradFill flip="none" rotWithShape="1">
              <a:gsLst>
                <a:gs pos="48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9525" cap="rnd">
              <a:gradFill>
                <a:gsLst>
                  <a:gs pos="1200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355745" y="854943"/>
              <a:ext cx="11480512" cy="1291095"/>
              <a:chOff x="330199" y="792739"/>
              <a:chExt cx="11723255" cy="1095637"/>
            </a:xfrm>
          </p:grpSpPr>
          <p:sp>
            <p:nvSpPr>
              <p:cNvPr id="26" name="显眼包PPT-2"/>
              <p:cNvSpPr/>
              <p:nvPr/>
            </p:nvSpPr>
            <p:spPr>
              <a:xfrm>
                <a:off x="6191827" y="792739"/>
                <a:ext cx="5859846" cy="1079036"/>
              </a:xfrm>
              <a:custGeom>
                <a:avLst/>
                <a:gdLst>
                  <a:gd name="connsiteX0" fmla="*/ 4100513 w 5219700"/>
                  <a:gd name="connsiteY0" fmla="*/ 1033463 h 1857375"/>
                  <a:gd name="connsiteX1" fmla="*/ 0 w 5219700"/>
                  <a:gd name="connsiteY1" fmla="*/ 0 h 1857375"/>
                  <a:gd name="connsiteX2" fmla="*/ 5219700 w 5219700"/>
                  <a:gd name="connsiteY2" fmla="*/ 1857375 h 1857375"/>
                  <a:gd name="connsiteX3" fmla="*/ 4100513 w 5219700"/>
                  <a:gd name="connsiteY3" fmla="*/ 1033463 h 1857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19700" h="1857375">
                    <a:moveTo>
                      <a:pt x="4100513" y="1033463"/>
                    </a:moveTo>
                    <a:lnTo>
                      <a:pt x="0" y="0"/>
                    </a:lnTo>
                    <a:lnTo>
                      <a:pt x="5219700" y="1857375"/>
                    </a:lnTo>
                    <a:lnTo>
                      <a:pt x="4100513" y="1033463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  <a:alpha val="67000"/>
                    </a:schemeClr>
                  </a:gs>
                  <a:gs pos="73000">
                    <a:schemeClr val="accent1">
                      <a:lumMod val="20000"/>
                      <a:lumOff val="80000"/>
                      <a:alpha val="0"/>
                    </a:schemeClr>
                  </a:gs>
                </a:gsLst>
                <a:lin ang="3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" name="显眼包PPT-3"/>
              <p:cNvSpPr/>
              <p:nvPr/>
            </p:nvSpPr>
            <p:spPr>
              <a:xfrm>
                <a:off x="330199" y="794985"/>
                <a:ext cx="11723255" cy="1074558"/>
              </a:xfrm>
              <a:prstGeom prst="triangle">
                <a:avLst/>
              </a:prstGeom>
              <a:gradFill>
                <a:gsLst>
                  <a:gs pos="1000">
                    <a:schemeClr val="accent1">
                      <a:lumMod val="40000"/>
                      <a:lumOff val="60000"/>
                    </a:schemeClr>
                  </a:gs>
                  <a:gs pos="84000">
                    <a:schemeClr val="bg1">
                      <a:alpha val="0"/>
                    </a:schemeClr>
                  </a:gs>
                </a:gsLst>
                <a:lin ang="5400000" scaled="1"/>
              </a:gradFill>
              <a:ln>
                <a:gradFill>
                  <a:gsLst>
                    <a:gs pos="23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cxnSp>
            <p:nvCxnSpPr>
              <p:cNvPr id="4482" name="显眼包PPT-6"/>
              <p:cNvCxnSpPr/>
              <p:nvPr/>
            </p:nvCxnSpPr>
            <p:spPr>
              <a:xfrm>
                <a:off x="6184849" y="793525"/>
                <a:ext cx="4637198" cy="611301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3" name="显眼包PPT-7"/>
              <p:cNvCxnSpPr/>
              <p:nvPr/>
            </p:nvCxnSpPr>
            <p:spPr>
              <a:xfrm flipH="1">
                <a:off x="1561608" y="793525"/>
                <a:ext cx="4623568" cy="60153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84" name="显眼包PPT-8"/>
              <p:cNvSpPr/>
              <p:nvPr/>
            </p:nvSpPr>
            <p:spPr>
              <a:xfrm>
                <a:off x="342674" y="792739"/>
                <a:ext cx="5870539" cy="1095637"/>
              </a:xfrm>
              <a:custGeom>
                <a:avLst/>
                <a:gdLst>
                  <a:gd name="connsiteX0" fmla="*/ 5229225 w 5229225"/>
                  <a:gd name="connsiteY0" fmla="*/ 0 h 1885950"/>
                  <a:gd name="connsiteX1" fmla="*/ 0 w 5229225"/>
                  <a:gd name="connsiteY1" fmla="*/ 1885950 h 1885950"/>
                  <a:gd name="connsiteX2" fmla="*/ 1081088 w 5229225"/>
                  <a:gd name="connsiteY2" fmla="*/ 1033463 h 1885950"/>
                  <a:gd name="connsiteX3" fmla="*/ 5229225 w 5229225"/>
                  <a:gd name="connsiteY3" fmla="*/ 0 h 1885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29225" h="1885950">
                    <a:moveTo>
                      <a:pt x="5229225" y="0"/>
                    </a:moveTo>
                    <a:lnTo>
                      <a:pt x="0" y="1885950"/>
                    </a:lnTo>
                    <a:lnTo>
                      <a:pt x="1081088" y="1033463"/>
                    </a:lnTo>
                    <a:lnTo>
                      <a:pt x="52292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  <a:alpha val="67000"/>
                    </a:schemeClr>
                  </a:gs>
                  <a:gs pos="75000">
                    <a:schemeClr val="accent1">
                      <a:lumMod val="40000"/>
                      <a:lumOff val="60000"/>
                      <a:alpha val="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4920615" y="1257300"/>
            <a:ext cx="22802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>
                <a:solidFill>
                  <a:srgbClr val="44546A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某高科技</a:t>
            </a:r>
            <a:r>
              <a:rPr lang="zh-CN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跑鞋</a:t>
            </a:r>
            <a:endParaRPr lang="zh-CN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69974" y="1606050"/>
            <a:ext cx="24688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rgbClr val="FFCC66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1200" dirty="0">
                <a:solidFill>
                  <a:schemeClr val="accent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沟通主张：突破极限，尽在每一步</a:t>
            </a:r>
            <a:endParaRPr lang="zh-CN" altLang="en-US" sz="1200" dirty="0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1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汽车品牌战略分析框架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4" name="梯形 13"/>
          <p:cNvSpPr/>
          <p:nvPr/>
        </p:nvSpPr>
        <p:spPr>
          <a:xfrm>
            <a:off x="1396365" y="1042035"/>
            <a:ext cx="9398635" cy="876935"/>
          </a:xfrm>
          <a:prstGeom prst="trapezoid">
            <a:avLst>
              <a:gd name="adj" fmla="val 51148"/>
            </a:avLst>
          </a:prstGeom>
          <a:gradFill flip="none" rotWithShape="1">
            <a:gsLst>
              <a:gs pos="0">
                <a:schemeClr val="accent1">
                  <a:lumMod val="40000"/>
                  <a:lumOff val="60000"/>
                  <a:alpha val="4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0"/>
          </a:gradFill>
          <a:ln w="19050" cap="flat" cmpd="sng" algn="ctr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: 圆角 14"/>
          <p:cNvSpPr/>
          <p:nvPr>
            <p:custDataLst>
              <p:tags r:id="rId3"/>
            </p:custDataLst>
          </p:nvPr>
        </p:nvSpPr>
        <p:spPr>
          <a:xfrm>
            <a:off x="2327910" y="2018665"/>
            <a:ext cx="8467090" cy="82105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40000"/>
            </a:schemeClr>
          </a:solidFill>
          <a:ln w="12065">
            <a:solidFill>
              <a:schemeClr val="accent5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68" tIns="43434" rIns="86868" bIns="43434" rtlCol="0" anchor="ctr"/>
          <a:lstStyle/>
          <a:p>
            <a:pPr algn="ctr"/>
            <a:endParaRPr lang="zh-CN" altLang="en-US" sz="171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: 圆顶角 2"/>
          <p:cNvSpPr/>
          <p:nvPr>
            <p:custDataLst>
              <p:tags r:id="rId4"/>
            </p:custDataLst>
          </p:nvPr>
        </p:nvSpPr>
        <p:spPr>
          <a:xfrm>
            <a:off x="2327910" y="2927350"/>
            <a:ext cx="4206875" cy="732790"/>
          </a:xfrm>
          <a:prstGeom prst="round2Same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817" tIns="46909" rIns="93817" bIns="46909" rtlCol="0" anchor="ctr"/>
          <a:lstStyle/>
          <a:p>
            <a:pPr algn="ctr"/>
            <a:endParaRPr lang="zh-CN" altLang="en-US" sz="1845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: 圆顶角 5"/>
          <p:cNvSpPr/>
          <p:nvPr>
            <p:custDataLst>
              <p:tags r:id="rId5"/>
            </p:custDataLst>
          </p:nvPr>
        </p:nvSpPr>
        <p:spPr>
          <a:xfrm>
            <a:off x="6588125" y="2927350"/>
            <a:ext cx="4206875" cy="732790"/>
          </a:xfrm>
          <a:prstGeom prst="round2Same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89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: 圆顶角 6"/>
          <p:cNvSpPr/>
          <p:nvPr>
            <p:custDataLst>
              <p:tags r:id="rId6"/>
            </p:custDataLst>
          </p:nvPr>
        </p:nvSpPr>
        <p:spPr>
          <a:xfrm>
            <a:off x="2327910" y="3777615"/>
            <a:ext cx="2770505" cy="732790"/>
          </a:xfrm>
          <a:prstGeom prst="round2Same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: 圆顶角 10"/>
          <p:cNvSpPr/>
          <p:nvPr>
            <p:custDataLst>
              <p:tags r:id="rId7"/>
            </p:custDataLst>
          </p:nvPr>
        </p:nvSpPr>
        <p:spPr>
          <a:xfrm>
            <a:off x="5176520" y="3777615"/>
            <a:ext cx="2770505" cy="732790"/>
          </a:xfrm>
          <a:prstGeom prst="round2Same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: 圆顶角 15"/>
          <p:cNvSpPr/>
          <p:nvPr>
            <p:custDataLst>
              <p:tags r:id="rId8"/>
            </p:custDataLst>
          </p:nvPr>
        </p:nvSpPr>
        <p:spPr>
          <a:xfrm>
            <a:off x="8024495" y="3777615"/>
            <a:ext cx="2770505" cy="732790"/>
          </a:xfrm>
          <a:prstGeom prst="round2Same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27910" y="4636770"/>
            <a:ext cx="2770505" cy="155003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76520" y="4636770"/>
            <a:ext cx="2770505" cy="155003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024495" y="4636770"/>
            <a:ext cx="2770505" cy="155003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96365" y="3777615"/>
            <a:ext cx="844550" cy="732790"/>
          </a:xfrm>
          <a:prstGeom prst="rect">
            <a:avLst/>
          </a:prstGeom>
          <a:noFill/>
          <a:ln w="12065">
            <a:solidFill>
              <a:schemeClr val="accent1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1FAEE">
                    <a:alpha val="2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6868" tIns="43434" rIns="86868" bIns="43434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人群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396365" y="4636770"/>
            <a:ext cx="844550" cy="1550035"/>
          </a:xfrm>
          <a:prstGeom prst="rect">
            <a:avLst/>
          </a:prstGeom>
          <a:noFill/>
          <a:ln w="12065">
            <a:solidFill>
              <a:schemeClr val="accent1"/>
            </a:solidFill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1FAEE">
                    <a:alpha val="2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86868" tIns="43434" rIns="86868" bIns="43434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策略</a:t>
            </a:r>
            <a:endParaRPr lang="zh-CN" altLang="en-US"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3" name="文本框 452"/>
          <p:cNvSpPr txBox="1"/>
          <p:nvPr/>
        </p:nvSpPr>
        <p:spPr>
          <a:xfrm>
            <a:off x="1504315" y="2541270"/>
            <a:ext cx="9162415" cy="290830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/>
            <a:r>
              <a:rPr lang="zh-CN" altLang="en-US" sz="133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致力于为注重实用性与科技感的家庭用户，提供德系精工制造的全场景出行解决方案。</a:t>
            </a:r>
            <a:endParaRPr lang="zh-CN" altLang="en-US" sz="133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3" name="任意多边形: 形状 462"/>
          <p:cNvSpPr/>
          <p:nvPr>
            <p:custDataLst>
              <p:tags r:id="rId9"/>
            </p:custDataLst>
          </p:nvPr>
        </p:nvSpPr>
        <p:spPr>
          <a:xfrm>
            <a:off x="4624705" y="2124075"/>
            <a:ext cx="751840" cy="374650"/>
          </a:xfrm>
          <a:custGeom>
            <a:avLst/>
            <a:gdLst>
              <a:gd name="connsiteX0" fmla="*/ 0 w 791307"/>
              <a:gd name="connsiteY0" fmla="*/ 0 h 394564"/>
              <a:gd name="connsiteX1" fmla="*/ 131885 w 791307"/>
              <a:gd name="connsiteY1" fmla="*/ 0 h 394564"/>
              <a:gd name="connsiteX2" fmla="*/ 329711 w 791307"/>
              <a:gd name="connsiteY2" fmla="*/ 0 h 394564"/>
              <a:gd name="connsiteX3" fmla="*/ 791307 w 791307"/>
              <a:gd name="connsiteY3" fmla="*/ 0 h 394564"/>
              <a:gd name="connsiteX4" fmla="*/ 791307 w 791307"/>
              <a:gd name="connsiteY4" fmla="*/ 44672 h 394564"/>
              <a:gd name="connsiteX5" fmla="*/ 791307 w 791307"/>
              <a:gd name="connsiteY5" fmla="*/ 111680 h 394564"/>
              <a:gd name="connsiteX6" fmla="*/ 791307 w 791307"/>
              <a:gd name="connsiteY6" fmla="*/ 268033 h 394564"/>
              <a:gd name="connsiteX7" fmla="*/ 470452 w 791307"/>
              <a:gd name="connsiteY7" fmla="*/ 268033 h 394564"/>
              <a:gd name="connsiteX8" fmla="*/ 397064 w 791307"/>
              <a:gd name="connsiteY8" fmla="*/ 394564 h 394564"/>
              <a:gd name="connsiteX9" fmla="*/ 323676 w 791307"/>
              <a:gd name="connsiteY9" fmla="*/ 268033 h 394564"/>
              <a:gd name="connsiteX10" fmla="*/ 131885 w 791307"/>
              <a:gd name="connsiteY10" fmla="*/ 268033 h 394564"/>
              <a:gd name="connsiteX11" fmla="*/ 0 w 791307"/>
              <a:gd name="connsiteY11" fmla="*/ 268033 h 394564"/>
              <a:gd name="connsiteX12" fmla="*/ 0 w 791307"/>
              <a:gd name="connsiteY12" fmla="*/ 124322 h 394564"/>
              <a:gd name="connsiteX13" fmla="*/ 0 w 791307"/>
              <a:gd name="connsiteY13" fmla="*/ 111680 h 394564"/>
              <a:gd name="connsiteX14" fmla="*/ 0 w 791307"/>
              <a:gd name="connsiteY14" fmla="*/ 44672 h 39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1307" h="394564">
                <a:moveTo>
                  <a:pt x="0" y="0"/>
                </a:moveTo>
                <a:lnTo>
                  <a:pt x="131885" y="0"/>
                </a:lnTo>
                <a:lnTo>
                  <a:pt x="329711" y="0"/>
                </a:lnTo>
                <a:lnTo>
                  <a:pt x="791307" y="0"/>
                </a:lnTo>
                <a:lnTo>
                  <a:pt x="791307" y="44672"/>
                </a:lnTo>
                <a:lnTo>
                  <a:pt x="791307" y="111680"/>
                </a:lnTo>
                <a:lnTo>
                  <a:pt x="791307" y="268033"/>
                </a:lnTo>
                <a:lnTo>
                  <a:pt x="470452" y="268033"/>
                </a:lnTo>
                <a:lnTo>
                  <a:pt x="397064" y="394564"/>
                </a:lnTo>
                <a:lnTo>
                  <a:pt x="323676" y="268033"/>
                </a:lnTo>
                <a:lnTo>
                  <a:pt x="131885" y="268033"/>
                </a:lnTo>
                <a:lnTo>
                  <a:pt x="0" y="268033"/>
                </a:lnTo>
                <a:lnTo>
                  <a:pt x="0" y="124322"/>
                </a:lnTo>
                <a:lnTo>
                  <a:pt x="0" y="111680"/>
                </a:lnTo>
                <a:lnTo>
                  <a:pt x="0" y="4467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3817" tIns="46909" rIns="93817" bIns="46909" rtlCol="0" anchor="ctr">
            <a:noAutofit/>
          </a:bodyPr>
          <a:lstStyle/>
          <a:p>
            <a:pPr algn="ctr"/>
            <a:endParaRPr lang="zh-CN" altLang="en-US" sz="1845" dirty="0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4" name="任意多边形: 形状 463"/>
          <p:cNvSpPr/>
          <p:nvPr>
            <p:custDataLst>
              <p:tags r:id="rId10"/>
            </p:custDataLst>
          </p:nvPr>
        </p:nvSpPr>
        <p:spPr>
          <a:xfrm>
            <a:off x="5701665" y="2124075"/>
            <a:ext cx="751840" cy="374650"/>
          </a:xfrm>
          <a:custGeom>
            <a:avLst/>
            <a:gdLst>
              <a:gd name="connsiteX0" fmla="*/ 0 w 791307"/>
              <a:gd name="connsiteY0" fmla="*/ 0 h 394564"/>
              <a:gd name="connsiteX1" fmla="*/ 131885 w 791307"/>
              <a:gd name="connsiteY1" fmla="*/ 0 h 394564"/>
              <a:gd name="connsiteX2" fmla="*/ 329711 w 791307"/>
              <a:gd name="connsiteY2" fmla="*/ 0 h 394564"/>
              <a:gd name="connsiteX3" fmla="*/ 791307 w 791307"/>
              <a:gd name="connsiteY3" fmla="*/ 0 h 394564"/>
              <a:gd name="connsiteX4" fmla="*/ 791307 w 791307"/>
              <a:gd name="connsiteY4" fmla="*/ 44672 h 394564"/>
              <a:gd name="connsiteX5" fmla="*/ 791307 w 791307"/>
              <a:gd name="connsiteY5" fmla="*/ 111680 h 394564"/>
              <a:gd name="connsiteX6" fmla="*/ 791307 w 791307"/>
              <a:gd name="connsiteY6" fmla="*/ 268033 h 394564"/>
              <a:gd name="connsiteX7" fmla="*/ 470452 w 791307"/>
              <a:gd name="connsiteY7" fmla="*/ 268033 h 394564"/>
              <a:gd name="connsiteX8" fmla="*/ 397064 w 791307"/>
              <a:gd name="connsiteY8" fmla="*/ 394564 h 394564"/>
              <a:gd name="connsiteX9" fmla="*/ 323676 w 791307"/>
              <a:gd name="connsiteY9" fmla="*/ 268033 h 394564"/>
              <a:gd name="connsiteX10" fmla="*/ 131885 w 791307"/>
              <a:gd name="connsiteY10" fmla="*/ 268033 h 394564"/>
              <a:gd name="connsiteX11" fmla="*/ 0 w 791307"/>
              <a:gd name="connsiteY11" fmla="*/ 268033 h 394564"/>
              <a:gd name="connsiteX12" fmla="*/ 0 w 791307"/>
              <a:gd name="connsiteY12" fmla="*/ 124322 h 394564"/>
              <a:gd name="connsiteX13" fmla="*/ 0 w 791307"/>
              <a:gd name="connsiteY13" fmla="*/ 111680 h 394564"/>
              <a:gd name="connsiteX14" fmla="*/ 0 w 791307"/>
              <a:gd name="connsiteY14" fmla="*/ 44672 h 39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1307" h="394564">
                <a:moveTo>
                  <a:pt x="0" y="0"/>
                </a:moveTo>
                <a:lnTo>
                  <a:pt x="131885" y="0"/>
                </a:lnTo>
                <a:lnTo>
                  <a:pt x="329711" y="0"/>
                </a:lnTo>
                <a:lnTo>
                  <a:pt x="791307" y="0"/>
                </a:lnTo>
                <a:lnTo>
                  <a:pt x="791307" y="44672"/>
                </a:lnTo>
                <a:lnTo>
                  <a:pt x="791307" y="111680"/>
                </a:lnTo>
                <a:lnTo>
                  <a:pt x="791307" y="268033"/>
                </a:lnTo>
                <a:lnTo>
                  <a:pt x="470452" y="268033"/>
                </a:lnTo>
                <a:lnTo>
                  <a:pt x="397064" y="394564"/>
                </a:lnTo>
                <a:lnTo>
                  <a:pt x="323676" y="268033"/>
                </a:lnTo>
                <a:lnTo>
                  <a:pt x="131885" y="268033"/>
                </a:lnTo>
                <a:lnTo>
                  <a:pt x="0" y="268033"/>
                </a:lnTo>
                <a:lnTo>
                  <a:pt x="0" y="124322"/>
                </a:lnTo>
                <a:lnTo>
                  <a:pt x="0" y="111680"/>
                </a:lnTo>
                <a:lnTo>
                  <a:pt x="0" y="4467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 dirty="0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7" name="任意多边形: 形状 466"/>
          <p:cNvSpPr/>
          <p:nvPr>
            <p:custDataLst>
              <p:tags r:id="rId11"/>
            </p:custDataLst>
          </p:nvPr>
        </p:nvSpPr>
        <p:spPr>
          <a:xfrm>
            <a:off x="6795770" y="2124075"/>
            <a:ext cx="751840" cy="374650"/>
          </a:xfrm>
          <a:custGeom>
            <a:avLst/>
            <a:gdLst>
              <a:gd name="connsiteX0" fmla="*/ 0 w 791307"/>
              <a:gd name="connsiteY0" fmla="*/ 0 h 394564"/>
              <a:gd name="connsiteX1" fmla="*/ 131885 w 791307"/>
              <a:gd name="connsiteY1" fmla="*/ 0 h 394564"/>
              <a:gd name="connsiteX2" fmla="*/ 329711 w 791307"/>
              <a:gd name="connsiteY2" fmla="*/ 0 h 394564"/>
              <a:gd name="connsiteX3" fmla="*/ 791307 w 791307"/>
              <a:gd name="connsiteY3" fmla="*/ 0 h 394564"/>
              <a:gd name="connsiteX4" fmla="*/ 791307 w 791307"/>
              <a:gd name="connsiteY4" fmla="*/ 44672 h 394564"/>
              <a:gd name="connsiteX5" fmla="*/ 791307 w 791307"/>
              <a:gd name="connsiteY5" fmla="*/ 111680 h 394564"/>
              <a:gd name="connsiteX6" fmla="*/ 791307 w 791307"/>
              <a:gd name="connsiteY6" fmla="*/ 268033 h 394564"/>
              <a:gd name="connsiteX7" fmla="*/ 470452 w 791307"/>
              <a:gd name="connsiteY7" fmla="*/ 268033 h 394564"/>
              <a:gd name="connsiteX8" fmla="*/ 397064 w 791307"/>
              <a:gd name="connsiteY8" fmla="*/ 394564 h 394564"/>
              <a:gd name="connsiteX9" fmla="*/ 323676 w 791307"/>
              <a:gd name="connsiteY9" fmla="*/ 268033 h 394564"/>
              <a:gd name="connsiteX10" fmla="*/ 131885 w 791307"/>
              <a:gd name="connsiteY10" fmla="*/ 268033 h 394564"/>
              <a:gd name="connsiteX11" fmla="*/ 0 w 791307"/>
              <a:gd name="connsiteY11" fmla="*/ 268033 h 394564"/>
              <a:gd name="connsiteX12" fmla="*/ 0 w 791307"/>
              <a:gd name="connsiteY12" fmla="*/ 124322 h 394564"/>
              <a:gd name="connsiteX13" fmla="*/ 0 w 791307"/>
              <a:gd name="connsiteY13" fmla="*/ 111680 h 394564"/>
              <a:gd name="connsiteX14" fmla="*/ 0 w 791307"/>
              <a:gd name="connsiteY14" fmla="*/ 44672 h 39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1307" h="394564">
                <a:moveTo>
                  <a:pt x="0" y="0"/>
                </a:moveTo>
                <a:lnTo>
                  <a:pt x="131885" y="0"/>
                </a:lnTo>
                <a:lnTo>
                  <a:pt x="329711" y="0"/>
                </a:lnTo>
                <a:lnTo>
                  <a:pt x="791307" y="0"/>
                </a:lnTo>
                <a:lnTo>
                  <a:pt x="791307" y="44672"/>
                </a:lnTo>
                <a:lnTo>
                  <a:pt x="791307" y="111680"/>
                </a:lnTo>
                <a:lnTo>
                  <a:pt x="791307" y="268033"/>
                </a:lnTo>
                <a:lnTo>
                  <a:pt x="470452" y="268033"/>
                </a:lnTo>
                <a:lnTo>
                  <a:pt x="397064" y="394564"/>
                </a:lnTo>
                <a:lnTo>
                  <a:pt x="323676" y="268033"/>
                </a:lnTo>
                <a:lnTo>
                  <a:pt x="131885" y="268033"/>
                </a:lnTo>
                <a:lnTo>
                  <a:pt x="0" y="268033"/>
                </a:lnTo>
                <a:lnTo>
                  <a:pt x="0" y="124322"/>
                </a:lnTo>
                <a:lnTo>
                  <a:pt x="0" y="111680"/>
                </a:lnTo>
                <a:lnTo>
                  <a:pt x="0" y="44672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38100">
            <a:noFill/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 dirty="0">
              <a:solidFill>
                <a:schemeClr val="bg1"/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8" name="文本框 467"/>
          <p:cNvSpPr txBox="1"/>
          <p:nvPr/>
        </p:nvSpPr>
        <p:spPr>
          <a:xfrm>
            <a:off x="4769485" y="2111375"/>
            <a:ext cx="462280" cy="260985"/>
          </a:xfrm>
          <a:prstGeom prst="rect">
            <a:avLst/>
          </a:prstGeom>
          <a:noFill/>
          <a:effectLst/>
        </p:spPr>
        <p:txBody>
          <a:bodyPr wrap="none" lIns="86868" tIns="43434" rIns="86868" bIns="43434">
            <a:spAutoFit/>
          </a:bodyPr>
          <a:lstStyle/>
          <a:p>
            <a:pPr algn="ctr"/>
            <a:r>
              <a:rPr kumimoji="0" lang="zh-CN" altLang="en-US" sz="1140" b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kumimoji="0" lang="zh-CN" altLang="en-US" sz="114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9" name="文本框 468"/>
          <p:cNvSpPr txBox="1"/>
          <p:nvPr/>
        </p:nvSpPr>
        <p:spPr>
          <a:xfrm>
            <a:off x="5845810" y="2113280"/>
            <a:ext cx="462280" cy="260985"/>
          </a:xfrm>
          <a:prstGeom prst="rect">
            <a:avLst/>
          </a:prstGeom>
          <a:noFill/>
          <a:effectLst/>
        </p:spPr>
        <p:txBody>
          <a:bodyPr wrap="none" lIns="86868" tIns="43434" rIns="86868" bIns="43434">
            <a:spAutoFit/>
          </a:bodyPr>
          <a:lstStyle/>
          <a:p>
            <a:pPr algn="ctr"/>
            <a:r>
              <a:rPr kumimoji="0" lang="zh-CN" altLang="en-US" sz="114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</a:t>
            </a:r>
            <a:endParaRPr kumimoji="0" lang="zh-CN" altLang="en-US" sz="114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文本框 469"/>
          <p:cNvSpPr txBox="1"/>
          <p:nvPr/>
        </p:nvSpPr>
        <p:spPr>
          <a:xfrm>
            <a:off x="6951345" y="2117090"/>
            <a:ext cx="462280" cy="260985"/>
          </a:xfrm>
          <a:prstGeom prst="rect">
            <a:avLst/>
          </a:prstGeom>
          <a:noFill/>
          <a:effectLst/>
        </p:spPr>
        <p:txBody>
          <a:bodyPr wrap="none" lIns="86868" tIns="43434" rIns="86868" bIns="43434">
            <a:spAutoFit/>
          </a:bodyPr>
          <a:lstStyle/>
          <a:p>
            <a:pPr algn="ctr"/>
            <a:r>
              <a:rPr kumimoji="0" lang="zh-CN" altLang="en-US" sz="1140" b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  <a:endParaRPr kumimoji="0" lang="zh-CN" altLang="en-US" sz="114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2667635" y="3014980"/>
            <a:ext cx="3527425" cy="57721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3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以模块化平台技术重塑驾乘基准，</a:t>
            </a:r>
            <a:endParaRPr lang="zh-CN" altLang="en-US" sz="13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3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让每款车型都成为德系精工的移动安全堡垒</a:t>
            </a:r>
            <a:endParaRPr lang="zh-CN" altLang="en-US" sz="133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3" name="文本框 472"/>
          <p:cNvSpPr txBox="1"/>
          <p:nvPr/>
        </p:nvSpPr>
        <p:spPr>
          <a:xfrm>
            <a:off x="6927850" y="3014980"/>
            <a:ext cx="3635375" cy="57721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30" b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通过智能驾驶系统的持续进化，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30" b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构建从城市通勤到长途旅行的全场景生态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2283460" y="3870325"/>
            <a:ext cx="2814320" cy="57721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3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年轻家庭（首购群体）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30" b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注重智能科技与性价比平衡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文本框 475"/>
          <p:cNvSpPr txBox="1"/>
          <p:nvPr/>
        </p:nvSpPr>
        <p:spPr>
          <a:xfrm>
            <a:off x="5156200" y="3870325"/>
            <a:ext cx="2814320" cy="57721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3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都市菁英（增换购群体）</a:t>
            </a:r>
            <a:endParaRPr lang="zh-CN" altLang="en-US" sz="133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30" b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追求德系品质与空间实用性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8024495" y="3870325"/>
            <a:ext cx="2814320" cy="57721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30" b="1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商务人士（高端需求群体）</a:t>
            </a:r>
            <a:endParaRPr lang="zh-CN" altLang="en-US" sz="1330" b="1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30" b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重视商务形象与舒适驾乘体验</a:t>
            </a:r>
            <a:endParaRPr lang="zh-CN" altLang="en-US" sz="1330" b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2667635" y="4719955"/>
            <a:ext cx="2352040" cy="1400810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家庭友好型产品矩阵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4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全系标配</a:t>
            </a:r>
            <a:r>
              <a:rPr lang="en-US" altLang="zh-CN" sz="114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IQ.DRIVE L2+</a:t>
            </a:r>
            <a:r>
              <a:rPr lang="zh-CN" altLang="en-US" sz="1140" dirty="0">
                <a:solidFill>
                  <a:schemeClr val="tx2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altLang="en-US" sz="1140" dirty="0">
              <a:solidFill>
                <a:schemeClr val="tx2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二胎家庭享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利率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儿童安全座椅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亲子社群运营，每月举办亲子车尾集市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安全课堂。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等腰三角形 45"/>
          <p:cNvSpPr/>
          <p:nvPr>
            <p:custDataLst>
              <p:tags r:id="rId12"/>
            </p:custDataLst>
          </p:nvPr>
        </p:nvSpPr>
        <p:spPr>
          <a:xfrm rot="5400000">
            <a:off x="2533015" y="484378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817" tIns="46909" rIns="93817" bIns="46909" rtlCol="0" anchor="ctr"/>
          <a:lstStyle/>
          <a:p>
            <a:pPr algn="ctr"/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等腰三角形 46"/>
          <p:cNvSpPr/>
          <p:nvPr>
            <p:custDataLst>
              <p:tags r:id="rId13"/>
            </p:custDataLst>
          </p:nvPr>
        </p:nvSpPr>
        <p:spPr>
          <a:xfrm rot="5400000">
            <a:off x="2533015" y="536321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等腰三角形 32"/>
          <p:cNvSpPr/>
          <p:nvPr>
            <p:custDataLst>
              <p:tags r:id="rId14"/>
            </p:custDataLst>
          </p:nvPr>
        </p:nvSpPr>
        <p:spPr>
          <a:xfrm rot="5400000">
            <a:off x="2533015" y="5128895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等腰三角形 33"/>
          <p:cNvSpPr/>
          <p:nvPr>
            <p:custDataLst>
              <p:tags r:id="rId15"/>
            </p:custDataLst>
          </p:nvPr>
        </p:nvSpPr>
        <p:spPr>
          <a:xfrm rot="5400000">
            <a:off x="2533015" y="5645785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494655" y="4719955"/>
            <a:ext cx="2352040" cy="1400810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科技体验升级，部署「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IQ.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智慧舱」订阅服务，数字钥匙共享功能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构建数字化服务生态，推出「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分钟闪充」快闪店（核心商圈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10kW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超充体验站）。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等腰三角形 50"/>
          <p:cNvSpPr/>
          <p:nvPr>
            <p:custDataLst>
              <p:tags r:id="rId16"/>
            </p:custDataLst>
          </p:nvPr>
        </p:nvSpPr>
        <p:spPr>
          <a:xfrm rot="5400000">
            <a:off x="5360035" y="484378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等腰三角形 51"/>
          <p:cNvSpPr/>
          <p:nvPr>
            <p:custDataLst>
              <p:tags r:id="rId17"/>
            </p:custDataLst>
          </p:nvPr>
        </p:nvSpPr>
        <p:spPr>
          <a:xfrm rot="5400000">
            <a:off x="5360035" y="536321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21675" y="4719955"/>
            <a:ext cx="2352040" cy="1400810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旗舰产品重塑，深度适配华为智能办公生态，带视频会议系统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尊享服务升级，建立「移动办公室」认证体系（车内噪音控制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≤35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分贝）</a:t>
            </a:r>
            <a:r>
              <a:rPr lang="en-US" altLang="zh-CN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140" b="0" dirty="0">
                <a:solidFill>
                  <a:schemeClr val="tx2">
                    <a:alpha val="8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推出「总裁出行套餐」。</a:t>
            </a:r>
            <a:endParaRPr lang="zh-CN" altLang="en-US" sz="1140" b="0" dirty="0">
              <a:solidFill>
                <a:schemeClr val="tx2">
                  <a:alpha val="8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等腰三角形 34"/>
          <p:cNvSpPr/>
          <p:nvPr>
            <p:custDataLst>
              <p:tags r:id="rId18"/>
            </p:custDataLst>
          </p:nvPr>
        </p:nvSpPr>
        <p:spPr>
          <a:xfrm rot="5400000">
            <a:off x="8187055" y="484378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" name="等腰三角形 35"/>
          <p:cNvSpPr/>
          <p:nvPr>
            <p:custDataLst>
              <p:tags r:id="rId19"/>
            </p:custDataLst>
          </p:nvPr>
        </p:nvSpPr>
        <p:spPr>
          <a:xfrm rot="5400000">
            <a:off x="8187055" y="5363210"/>
            <a:ext cx="114300" cy="98425"/>
          </a:xfrm>
          <a:prstGeom prst="triangle">
            <a:avLst/>
          </a:prstGeom>
          <a:solidFill>
            <a:schemeClr val="accent6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3817" tIns="46909" rIns="93817" bIns="46909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845">
              <a:solidFill>
                <a:srgbClr val="404040">
                  <a:alpha val="80000"/>
                </a:srgbClr>
              </a:solidFill>
              <a:effectLst>
                <a:outerShdw blurRad="130302" dist="39091" dir="2699985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2" name="梯形 191"/>
          <p:cNvSpPr/>
          <p:nvPr/>
        </p:nvSpPr>
        <p:spPr>
          <a:xfrm>
            <a:off x="643255" y="6011545"/>
            <a:ext cx="10849610" cy="524510"/>
          </a:xfrm>
          <a:prstGeom prst="trapezoid">
            <a:avLst>
              <a:gd name="adj" fmla="val 119447"/>
            </a:avLst>
          </a:prstGeom>
          <a:noFill/>
          <a:ln w="12700">
            <a:gradFill>
              <a:gsLst>
                <a:gs pos="0">
                  <a:schemeClr val="accent1">
                    <a:alpha val="0"/>
                  </a:schemeClr>
                </a:gs>
                <a:gs pos="89000">
                  <a:schemeClr val="accent1"/>
                </a:gs>
              </a:gsLst>
              <a:lin ang="5400000" scaled="1"/>
            </a:gradFill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bg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643255" y="6535420"/>
            <a:ext cx="10849610" cy="109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2"/>
          <p:cNvSpPr txBox="1"/>
          <p:nvPr/>
        </p:nvSpPr>
        <p:spPr>
          <a:xfrm>
            <a:off x="4219258" y="1147445"/>
            <a:ext cx="3484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科技与您同行，出行尽在掌握</a:t>
            </a:r>
            <a:endParaRPr kumimoji="0" lang="zh-CN" altLang="en-US" sz="2000" b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2"/>
          <p:cNvSpPr txBox="1"/>
          <p:nvPr/>
        </p:nvSpPr>
        <p:spPr>
          <a:xfrm>
            <a:off x="3594100" y="1525905"/>
            <a:ext cx="48056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1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alpha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智造是一场永不停歇的进化，而信赖是每个家庭的终极追求</a:t>
            </a:r>
            <a:endParaRPr kumimoji="0" lang="zh-CN" altLang="en-US" sz="1400" b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396365" y="2025650"/>
            <a:ext cx="844550" cy="1634490"/>
          </a:xfrm>
          <a:prstGeom prst="rect">
            <a:avLst/>
          </a:prstGeom>
          <a:solidFill>
            <a:schemeClr val="accent5"/>
          </a:solidFill>
          <a:ln w="12065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68" tIns="43434" rIns="86868" bIns="43434" rtlCol="0" anchor="ctr"/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</a:t>
            </a:r>
            <a:endParaRPr lang="zh-CN" altLang="en-US" sz="15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5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lang="zh-CN" altLang="en-US" sz="15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5049520" y="6245225"/>
            <a:ext cx="2037080" cy="154305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0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紫荆的职场Point5"/>
          <p:cNvSpPr/>
          <p:nvPr/>
        </p:nvSpPr>
        <p:spPr>
          <a:xfrm flipH="1">
            <a:off x="848995" y="2898775"/>
            <a:ext cx="915035" cy="1985010"/>
          </a:xfrm>
          <a:prstGeom prst="rect">
            <a:avLst/>
          </a:prstGeom>
          <a:solidFill>
            <a:schemeClr val="accent5">
              <a:alpha val="15000"/>
            </a:schemeClr>
          </a:solidFill>
          <a:ln w="12700" cap="flat" cmpd="sng" algn="ctr">
            <a:solidFill>
              <a:schemeClr val="accent5">
                <a:alpha val="3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45" name="组合 244"/>
          <p:cNvGrpSpPr/>
          <p:nvPr/>
        </p:nvGrpSpPr>
        <p:grpSpPr>
          <a:xfrm rot="5400000">
            <a:off x="1637665" y="2898140"/>
            <a:ext cx="128905" cy="128905"/>
            <a:chOff x="1558" y="2149"/>
            <a:chExt cx="344" cy="344"/>
          </a:xfrm>
        </p:grpSpPr>
        <p:cxnSp>
          <p:nvCxnSpPr>
            <p:cNvPr id="246" name="直接连接符 245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48" name="组合 247"/>
          <p:cNvGrpSpPr/>
          <p:nvPr/>
        </p:nvGrpSpPr>
        <p:grpSpPr>
          <a:xfrm rot="10800000">
            <a:off x="1635125" y="4747260"/>
            <a:ext cx="128905" cy="128905"/>
            <a:chOff x="1558" y="2149"/>
            <a:chExt cx="344" cy="344"/>
          </a:xfrm>
        </p:grpSpPr>
        <p:cxnSp>
          <p:nvCxnSpPr>
            <p:cNvPr id="249" name="直接连接符 248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51" name="组合 250"/>
          <p:cNvGrpSpPr/>
          <p:nvPr/>
        </p:nvGrpSpPr>
        <p:grpSpPr>
          <a:xfrm rot="16200000">
            <a:off x="844415" y="4743284"/>
            <a:ext cx="134151" cy="143894"/>
            <a:chOff x="1545" y="2126"/>
            <a:chExt cx="358" cy="384"/>
          </a:xfrm>
        </p:grpSpPr>
        <p:cxnSp>
          <p:nvCxnSpPr>
            <p:cNvPr id="252" name="直接连接符 251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5400000">
              <a:off x="1353" y="2318"/>
              <a:ext cx="384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54" name="组合 253"/>
          <p:cNvGrpSpPr/>
          <p:nvPr/>
        </p:nvGrpSpPr>
        <p:grpSpPr>
          <a:xfrm>
            <a:off x="841792" y="2898775"/>
            <a:ext cx="141646" cy="129280"/>
            <a:chOff x="1532" y="2149"/>
            <a:chExt cx="378" cy="345"/>
          </a:xfrm>
        </p:grpSpPr>
        <p:cxnSp>
          <p:nvCxnSpPr>
            <p:cNvPr id="255" name="直接连接符 254"/>
            <p:cNvCxnSpPr/>
            <p:nvPr/>
          </p:nvCxnSpPr>
          <p:spPr>
            <a:xfrm>
              <a:off x="1532" y="2151"/>
              <a:ext cx="378" cy="5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2" name="紫荆的职场Point5"/>
          <p:cNvSpPr/>
          <p:nvPr/>
        </p:nvSpPr>
        <p:spPr>
          <a:xfrm flipV="1">
            <a:off x="2551430" y="2896235"/>
            <a:ext cx="7164705" cy="198501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263765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互联网公司数据架构框架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3" name="紫荆的职场Point28"/>
          <p:cNvSpPr/>
          <p:nvPr/>
        </p:nvSpPr>
        <p:spPr>
          <a:xfrm>
            <a:off x="840740" y="1033780"/>
            <a:ext cx="10657205" cy="66167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2">
                  <a:lumMod val="5000"/>
                  <a:lumOff val="95000"/>
                </a:schemeClr>
              </a:gs>
            </a:gsLst>
            <a:lin ang="5400000" scaled="1"/>
            <a:tileRect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2040"/>
          <p:cNvSpPr/>
          <p:nvPr/>
        </p:nvSpPr>
        <p:spPr>
          <a:xfrm>
            <a:off x="3893185" y="1324610"/>
            <a:ext cx="4701540" cy="30734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某互联网公司数据架构规划框架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紫荆的职场Point5"/>
          <p:cNvSpPr/>
          <p:nvPr/>
        </p:nvSpPr>
        <p:spPr>
          <a:xfrm flipV="1">
            <a:off x="848995" y="1775460"/>
            <a:ext cx="10654665" cy="84709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11371580" y="1765300"/>
            <a:ext cx="135890" cy="130810"/>
            <a:chOff x="17908" y="2780"/>
            <a:chExt cx="214" cy="206"/>
          </a:xfrm>
        </p:grpSpPr>
        <p:cxnSp>
          <p:nvCxnSpPr>
            <p:cNvPr id="110" name="直接连接符 109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3" name="紫荆的职场Point5"/>
          <p:cNvSpPr/>
          <p:nvPr/>
        </p:nvSpPr>
        <p:spPr>
          <a:xfrm flipV="1">
            <a:off x="854075" y="4984750"/>
            <a:ext cx="10649585" cy="446405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紫荆的职场Point5"/>
          <p:cNvSpPr/>
          <p:nvPr/>
        </p:nvSpPr>
        <p:spPr>
          <a:xfrm flipV="1">
            <a:off x="854075" y="5516245"/>
            <a:ext cx="10649585" cy="446405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紫荆的职场Point5"/>
          <p:cNvSpPr/>
          <p:nvPr/>
        </p:nvSpPr>
        <p:spPr>
          <a:xfrm flipV="1">
            <a:off x="854075" y="6067425"/>
            <a:ext cx="10649585" cy="446405"/>
          </a:xfrm>
          <a:prstGeom prst="rect">
            <a:avLst/>
          </a:prstGeom>
          <a:solidFill>
            <a:schemeClr val="accent5">
              <a:alpha val="10000"/>
            </a:schemeClr>
          </a:solidFill>
          <a:ln w="12700" cap="flat" cmpd="sng" algn="ctr">
            <a:solidFill>
              <a:schemeClr val="accent5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五边形 125"/>
          <p:cNvSpPr/>
          <p:nvPr/>
        </p:nvSpPr>
        <p:spPr>
          <a:xfrm>
            <a:off x="2810510" y="3329305"/>
            <a:ext cx="6524625" cy="285750"/>
          </a:xfrm>
          <a:prstGeom prst="homePlat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7" name="五边形 126"/>
          <p:cNvSpPr/>
          <p:nvPr/>
        </p:nvSpPr>
        <p:spPr>
          <a:xfrm>
            <a:off x="2810510" y="3694430"/>
            <a:ext cx="6524625" cy="285750"/>
          </a:xfrm>
          <a:prstGeom prst="homePlat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28" name="五边形 127"/>
          <p:cNvSpPr/>
          <p:nvPr/>
        </p:nvSpPr>
        <p:spPr>
          <a:xfrm>
            <a:off x="2810510" y="4059555"/>
            <a:ext cx="6524625" cy="285750"/>
          </a:xfrm>
          <a:prstGeom prst="homePlat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29" name="五边形 128"/>
          <p:cNvSpPr/>
          <p:nvPr/>
        </p:nvSpPr>
        <p:spPr>
          <a:xfrm>
            <a:off x="2810510" y="4424680"/>
            <a:ext cx="6524625" cy="285750"/>
          </a:xfrm>
          <a:prstGeom prst="homePlate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30" name="五边形 129"/>
          <p:cNvSpPr/>
          <p:nvPr/>
        </p:nvSpPr>
        <p:spPr>
          <a:xfrm rot="5400000">
            <a:off x="2685415" y="3871595"/>
            <a:ext cx="1609725" cy="3429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1" name="五边形 130"/>
          <p:cNvSpPr/>
          <p:nvPr/>
        </p:nvSpPr>
        <p:spPr>
          <a:xfrm rot="5400000">
            <a:off x="7914640" y="3902075"/>
            <a:ext cx="1609725" cy="34290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163185" y="1870075"/>
            <a:ext cx="2171700" cy="276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cs typeface="微软雅黑" panose="020B0503020204020204" charset="-122"/>
              </a:rPr>
              <a:t>数据安全与隐私政策</a:t>
            </a:r>
            <a:endParaRPr lang="zh-CN" altLang="en-US" sz="1400">
              <a:cs typeface="微软雅黑" panose="020B050302020402020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733040" y="2248535"/>
            <a:ext cx="2124075" cy="276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数据架构管理规范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5163185" y="2248535"/>
            <a:ext cx="2124075" cy="276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数据质量管理标准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7685405" y="2223135"/>
            <a:ext cx="2124075" cy="2762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数据开放共享原则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1788795" y="5072380"/>
            <a:ext cx="270129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cs typeface="微软雅黑" panose="020B0503020204020204" charset="-122"/>
              </a:rPr>
              <a:t>管理数据架构</a:t>
            </a:r>
            <a:endParaRPr lang="zh-CN" altLang="en-US" sz="1400">
              <a:cs typeface="微软雅黑" panose="020B0503020204020204" charset="-122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788795" y="5601335"/>
            <a:ext cx="2103755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数据治理委员会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矩形 152"/>
          <p:cNvSpPr/>
          <p:nvPr/>
        </p:nvSpPr>
        <p:spPr>
          <a:xfrm>
            <a:off x="5071745" y="5072380"/>
            <a:ext cx="270129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管理数据质量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8369935" y="5072380"/>
            <a:ext cx="270129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管理数据分析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6754420" y="5601335"/>
            <a:ext cx="212344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数据工程师团队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1" name="圆柱体 499"/>
          <p:cNvSpPr/>
          <p:nvPr/>
        </p:nvSpPr>
        <p:spPr>
          <a:xfrm>
            <a:off x="1840230" y="6141085"/>
            <a:ext cx="1833880" cy="293370"/>
          </a:xfrm>
          <a:prstGeom prst="can">
            <a:avLst>
              <a:gd name="adj" fmla="val 26575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数据湖仓一体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圆柱体 499"/>
          <p:cNvSpPr/>
          <p:nvPr/>
        </p:nvSpPr>
        <p:spPr>
          <a:xfrm>
            <a:off x="4362450" y="6141085"/>
            <a:ext cx="1833880" cy="293370"/>
          </a:xfrm>
          <a:prstGeom prst="can">
            <a:avLst>
              <a:gd name="adj" fmla="val 26575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实时计算引擎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圆柱体 499"/>
          <p:cNvSpPr/>
          <p:nvPr/>
        </p:nvSpPr>
        <p:spPr>
          <a:xfrm>
            <a:off x="6720840" y="6141085"/>
            <a:ext cx="1833880" cy="293370"/>
          </a:xfrm>
          <a:prstGeom prst="can">
            <a:avLst>
              <a:gd name="adj" fmla="val 26575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数据安全体系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圆柱体 499"/>
          <p:cNvSpPr/>
          <p:nvPr/>
        </p:nvSpPr>
        <p:spPr>
          <a:xfrm>
            <a:off x="9170035" y="6141085"/>
            <a:ext cx="1833880" cy="293370"/>
          </a:xfrm>
          <a:prstGeom prst="can">
            <a:avLst>
              <a:gd name="adj" fmla="val 26575"/>
            </a:avLst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数据服务中台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8" name="组合 187"/>
          <p:cNvGrpSpPr/>
          <p:nvPr/>
        </p:nvGrpSpPr>
        <p:grpSpPr>
          <a:xfrm rot="10800000">
            <a:off x="840740" y="2499360"/>
            <a:ext cx="135890" cy="130810"/>
            <a:chOff x="17908" y="2780"/>
            <a:chExt cx="214" cy="206"/>
          </a:xfrm>
        </p:grpSpPr>
        <p:cxnSp>
          <p:nvCxnSpPr>
            <p:cNvPr id="189" name="直接连接符 188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91" name="组合 190"/>
          <p:cNvGrpSpPr/>
          <p:nvPr/>
        </p:nvGrpSpPr>
        <p:grpSpPr>
          <a:xfrm rot="16200000">
            <a:off x="838200" y="1778000"/>
            <a:ext cx="135890" cy="130810"/>
            <a:chOff x="17908" y="2780"/>
            <a:chExt cx="214" cy="206"/>
          </a:xfrm>
        </p:grpSpPr>
        <p:cxnSp>
          <p:nvCxnSpPr>
            <p:cNvPr id="192" name="直接连接符 191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5" name="组合 214"/>
          <p:cNvGrpSpPr/>
          <p:nvPr/>
        </p:nvGrpSpPr>
        <p:grpSpPr>
          <a:xfrm>
            <a:off x="2553970" y="2896235"/>
            <a:ext cx="128905" cy="128905"/>
            <a:chOff x="1558" y="2149"/>
            <a:chExt cx="344" cy="344"/>
          </a:xfrm>
        </p:grpSpPr>
        <p:cxnSp>
          <p:nvCxnSpPr>
            <p:cNvPr id="216" name="直接连接符 215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8" name="组合 217"/>
          <p:cNvGrpSpPr/>
          <p:nvPr/>
        </p:nvGrpSpPr>
        <p:grpSpPr>
          <a:xfrm rot="5400000">
            <a:off x="9589770" y="2896235"/>
            <a:ext cx="128905" cy="128905"/>
            <a:chOff x="1558" y="2149"/>
            <a:chExt cx="344" cy="344"/>
          </a:xfrm>
        </p:grpSpPr>
        <p:cxnSp>
          <p:nvCxnSpPr>
            <p:cNvPr id="219" name="直接连接符 218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24" name="组合 223"/>
          <p:cNvGrpSpPr/>
          <p:nvPr/>
        </p:nvGrpSpPr>
        <p:grpSpPr>
          <a:xfrm rot="16200000">
            <a:off x="2556510" y="4751705"/>
            <a:ext cx="128905" cy="128905"/>
            <a:chOff x="1558" y="2149"/>
            <a:chExt cx="344" cy="344"/>
          </a:xfrm>
        </p:grpSpPr>
        <p:cxnSp>
          <p:nvCxnSpPr>
            <p:cNvPr id="225" name="直接连接符 224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27" name="组合 226"/>
          <p:cNvGrpSpPr/>
          <p:nvPr/>
        </p:nvGrpSpPr>
        <p:grpSpPr>
          <a:xfrm rot="10800000">
            <a:off x="9592310" y="4751705"/>
            <a:ext cx="128905" cy="128905"/>
            <a:chOff x="1558" y="2149"/>
            <a:chExt cx="344" cy="344"/>
          </a:xfrm>
        </p:grpSpPr>
        <p:cxnSp>
          <p:nvCxnSpPr>
            <p:cNvPr id="228" name="直接连接符 227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7" name="紫荆的职场Point5"/>
          <p:cNvSpPr/>
          <p:nvPr/>
        </p:nvSpPr>
        <p:spPr>
          <a:xfrm flipV="1">
            <a:off x="10588625" y="2893695"/>
            <a:ext cx="915035" cy="1985010"/>
          </a:xfrm>
          <a:prstGeom prst="rect">
            <a:avLst/>
          </a:prstGeom>
          <a:solidFill>
            <a:schemeClr val="accent5">
              <a:alpha val="15000"/>
            </a:schemeClr>
          </a:solidFill>
          <a:ln w="12700" cap="flat" cmpd="sng" algn="ctr">
            <a:solidFill>
              <a:schemeClr val="accent5">
                <a:alpha val="3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5" name="组合 184"/>
          <p:cNvGrpSpPr/>
          <p:nvPr/>
        </p:nvGrpSpPr>
        <p:grpSpPr>
          <a:xfrm rot="5400000">
            <a:off x="11374120" y="2501265"/>
            <a:ext cx="135890" cy="130810"/>
            <a:chOff x="17908" y="2780"/>
            <a:chExt cx="214" cy="206"/>
          </a:xfrm>
        </p:grpSpPr>
        <p:cxnSp>
          <p:nvCxnSpPr>
            <p:cNvPr id="186" name="直接连接符 185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21" name="组合 220"/>
          <p:cNvGrpSpPr/>
          <p:nvPr/>
        </p:nvGrpSpPr>
        <p:grpSpPr>
          <a:xfrm rot="5400000">
            <a:off x="11369040" y="2893060"/>
            <a:ext cx="128905" cy="128905"/>
            <a:chOff x="1558" y="2149"/>
            <a:chExt cx="344" cy="344"/>
          </a:xfrm>
        </p:grpSpPr>
        <p:cxnSp>
          <p:nvCxnSpPr>
            <p:cNvPr id="222" name="直接连接符 221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0" name="组合 229"/>
          <p:cNvGrpSpPr/>
          <p:nvPr/>
        </p:nvGrpSpPr>
        <p:grpSpPr>
          <a:xfrm rot="10800000">
            <a:off x="11366500" y="4749800"/>
            <a:ext cx="128905" cy="128905"/>
            <a:chOff x="1558" y="2149"/>
            <a:chExt cx="344" cy="344"/>
          </a:xfrm>
        </p:grpSpPr>
        <p:cxnSp>
          <p:nvCxnSpPr>
            <p:cNvPr id="231" name="直接连接符 230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3" name="组合 232"/>
          <p:cNvGrpSpPr/>
          <p:nvPr/>
        </p:nvGrpSpPr>
        <p:grpSpPr>
          <a:xfrm rot="16200000">
            <a:off x="10580370" y="4721860"/>
            <a:ext cx="128905" cy="128905"/>
            <a:chOff x="1558" y="2149"/>
            <a:chExt cx="344" cy="344"/>
          </a:xfrm>
        </p:grpSpPr>
        <p:cxnSp>
          <p:nvCxnSpPr>
            <p:cNvPr id="234" name="直接连接符 233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6" name="组合 235"/>
          <p:cNvGrpSpPr/>
          <p:nvPr/>
        </p:nvGrpSpPr>
        <p:grpSpPr>
          <a:xfrm>
            <a:off x="10582910" y="2893695"/>
            <a:ext cx="128905" cy="128905"/>
            <a:chOff x="1558" y="2149"/>
            <a:chExt cx="344" cy="344"/>
          </a:xfrm>
        </p:grpSpPr>
        <p:cxnSp>
          <p:nvCxnSpPr>
            <p:cNvPr id="237" name="直接连接符 236"/>
            <p:cNvCxnSpPr/>
            <p:nvPr/>
          </p:nvCxnSpPr>
          <p:spPr>
            <a:xfrm>
              <a:off x="1558" y="2156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5400000">
              <a:off x="1392" y="2321"/>
              <a:ext cx="345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57" name="文本框 256"/>
          <p:cNvSpPr txBox="1"/>
          <p:nvPr/>
        </p:nvSpPr>
        <p:spPr>
          <a:xfrm>
            <a:off x="1107440" y="3248660"/>
            <a:ext cx="398145" cy="12852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数据架构管理</a:t>
            </a:r>
            <a:endParaRPr lang="zh-CN" altLang="en-US" sz="1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10838815" y="3176270"/>
            <a:ext cx="398145" cy="1544320"/>
          </a:xfrm>
          <a:prstGeom prst="rect">
            <a:avLst/>
          </a:prstGeom>
          <a:noFill/>
        </p:spPr>
        <p:txBody>
          <a:bodyPr vert="eaVert" wrap="square" rtlCol="0" anchor="ctr" anchorCtr="0">
            <a:spAutoFit/>
          </a:bodyPr>
          <a:lstStyle/>
          <a:p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信息价值链治理</a:t>
            </a:r>
            <a:endParaRPr lang="zh-CN" altLang="en-US" sz="1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1884680" y="3584575"/>
            <a:ext cx="543560" cy="459105"/>
            <a:chOff x="2968" y="5165"/>
            <a:chExt cx="856" cy="1003"/>
          </a:xfrm>
        </p:grpSpPr>
        <p:sp>
          <p:nvSpPr>
            <p:cNvPr id="259" name="右箭头 258"/>
            <p:cNvSpPr/>
            <p:nvPr/>
          </p:nvSpPr>
          <p:spPr>
            <a:xfrm>
              <a:off x="2968" y="5165"/>
              <a:ext cx="857" cy="480"/>
            </a:xfrm>
            <a:prstGeom prst="rightArrow">
              <a:avLst/>
            </a:prstGeom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60" name="右箭头 259"/>
            <p:cNvSpPr/>
            <p:nvPr/>
          </p:nvSpPr>
          <p:spPr>
            <a:xfrm flipH="1">
              <a:off x="2968" y="5688"/>
              <a:ext cx="857" cy="480"/>
            </a:xfrm>
            <a:prstGeom prst="rightArrow">
              <a:avLst/>
            </a:prstGeom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grpSp>
        <p:nvGrpSpPr>
          <p:cNvPr id="262" name="组合 261"/>
          <p:cNvGrpSpPr/>
          <p:nvPr/>
        </p:nvGrpSpPr>
        <p:grpSpPr>
          <a:xfrm>
            <a:off x="9866630" y="3584575"/>
            <a:ext cx="543560" cy="459105"/>
            <a:chOff x="2968" y="5165"/>
            <a:chExt cx="856" cy="1003"/>
          </a:xfrm>
        </p:grpSpPr>
        <p:sp>
          <p:nvSpPr>
            <p:cNvPr id="263" name="右箭头 262"/>
            <p:cNvSpPr/>
            <p:nvPr/>
          </p:nvSpPr>
          <p:spPr>
            <a:xfrm>
              <a:off x="2968" y="5165"/>
              <a:ext cx="857" cy="480"/>
            </a:xfrm>
            <a:prstGeom prst="rightArrow">
              <a:avLst/>
            </a:prstGeom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264" name="右箭头 263"/>
            <p:cNvSpPr/>
            <p:nvPr/>
          </p:nvSpPr>
          <p:spPr>
            <a:xfrm flipH="1">
              <a:off x="2968" y="5688"/>
              <a:ext cx="857" cy="480"/>
            </a:xfrm>
            <a:prstGeom prst="rightArrow">
              <a:avLst/>
            </a:prstGeom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sp>
        <p:nvSpPr>
          <p:cNvPr id="265" name="文本框 264"/>
          <p:cNvSpPr txBox="1"/>
          <p:nvPr/>
        </p:nvSpPr>
        <p:spPr>
          <a:xfrm>
            <a:off x="3319145" y="3399155"/>
            <a:ext cx="343535" cy="130937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数据在横向贯通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8561070" y="3371215"/>
            <a:ext cx="343535" cy="1455420"/>
          </a:xfrm>
          <a:prstGeom prst="rect">
            <a:avLst/>
          </a:prstGeom>
          <a:noFill/>
        </p:spPr>
        <p:txBody>
          <a:bodyPr vert="eaVert" wrap="square" rtlCol="0" anchor="ctr" anchorCtr="0">
            <a:no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管理通过纵向治理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textbox 2040"/>
          <p:cNvSpPr/>
          <p:nvPr/>
        </p:nvSpPr>
        <p:spPr>
          <a:xfrm>
            <a:off x="2862580" y="2961640"/>
            <a:ext cx="6729730" cy="21526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基于核心业务场景的信息价值链治理（数据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en-US" altLang="zh-CN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流程）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右箭头 269"/>
          <p:cNvSpPr/>
          <p:nvPr/>
        </p:nvSpPr>
        <p:spPr>
          <a:xfrm rot="16200000">
            <a:off x="5520690" y="2573020"/>
            <a:ext cx="254635" cy="38671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72" name="右箭头 271"/>
          <p:cNvSpPr/>
          <p:nvPr/>
        </p:nvSpPr>
        <p:spPr>
          <a:xfrm rot="5400000" flipV="1">
            <a:off x="6531610" y="2578100"/>
            <a:ext cx="254635" cy="38671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73" name="textbox 2040"/>
          <p:cNvSpPr/>
          <p:nvPr/>
        </p:nvSpPr>
        <p:spPr>
          <a:xfrm>
            <a:off x="3785235" y="3399790"/>
            <a:ext cx="4698365" cy="18415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用户增长价值链：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流量获取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用户行为分析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转化率优化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留存运营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textbox 2040"/>
          <p:cNvSpPr/>
          <p:nvPr/>
        </p:nvSpPr>
        <p:spPr>
          <a:xfrm>
            <a:off x="3728085" y="3758565"/>
            <a:ext cx="4756150" cy="18415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产品迭代价值链：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需求埋点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效果评估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功能迭代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5" name="textbox 2040"/>
          <p:cNvSpPr/>
          <p:nvPr/>
        </p:nvSpPr>
        <p:spPr>
          <a:xfrm>
            <a:off x="3935730" y="4117340"/>
            <a:ext cx="4548505" cy="18415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商业化价值链：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广告投放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计费对账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策略调优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textbox 2040"/>
          <p:cNvSpPr/>
          <p:nvPr/>
        </p:nvSpPr>
        <p:spPr>
          <a:xfrm>
            <a:off x="3728085" y="4476115"/>
            <a:ext cx="4756150" cy="18415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风控与安全价值链：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异常检测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实时拦截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根因分析</a:t>
            </a:r>
            <a:r>
              <a:rPr lang="en-US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策略更新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77" name="组合 276"/>
          <p:cNvGrpSpPr/>
          <p:nvPr/>
        </p:nvGrpSpPr>
        <p:grpSpPr>
          <a:xfrm rot="16200000">
            <a:off x="850088" y="4987925"/>
            <a:ext cx="135890" cy="130810"/>
            <a:chOff x="17908" y="2776"/>
            <a:chExt cx="214" cy="206"/>
          </a:xfrm>
        </p:grpSpPr>
        <p:cxnSp>
          <p:nvCxnSpPr>
            <p:cNvPr id="278" name="直接连接符 277"/>
            <p:cNvCxnSpPr/>
            <p:nvPr/>
          </p:nvCxnSpPr>
          <p:spPr>
            <a:xfrm>
              <a:off x="18107" y="2776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0" name="组合 279"/>
          <p:cNvGrpSpPr/>
          <p:nvPr/>
        </p:nvGrpSpPr>
        <p:grpSpPr>
          <a:xfrm rot="10800000">
            <a:off x="845643" y="5307965"/>
            <a:ext cx="144145" cy="130810"/>
            <a:chOff x="17895" y="2780"/>
            <a:chExt cx="227" cy="206"/>
          </a:xfrm>
        </p:grpSpPr>
        <p:cxnSp>
          <p:nvCxnSpPr>
            <p:cNvPr id="281" name="直接连接符 280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>
            <a:xfrm flipH="1">
              <a:off x="17895" y="2786"/>
              <a:ext cx="227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3" name="组合 282"/>
          <p:cNvGrpSpPr/>
          <p:nvPr/>
        </p:nvGrpSpPr>
        <p:grpSpPr>
          <a:xfrm rot="16200000">
            <a:off x="850088" y="5515610"/>
            <a:ext cx="135890" cy="130810"/>
            <a:chOff x="17908" y="2780"/>
            <a:chExt cx="214" cy="206"/>
          </a:xfrm>
        </p:grpSpPr>
        <p:cxnSp>
          <p:nvCxnSpPr>
            <p:cNvPr id="284" name="直接连接符 283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6" name="组合 285"/>
          <p:cNvGrpSpPr/>
          <p:nvPr/>
        </p:nvGrpSpPr>
        <p:grpSpPr>
          <a:xfrm rot="10800000">
            <a:off x="847548" y="5838190"/>
            <a:ext cx="135890" cy="130810"/>
            <a:chOff x="17908" y="2780"/>
            <a:chExt cx="214" cy="206"/>
          </a:xfrm>
        </p:grpSpPr>
        <p:cxnSp>
          <p:nvCxnSpPr>
            <p:cNvPr id="287" name="直接连接符 286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89" name="组合 288"/>
          <p:cNvGrpSpPr/>
          <p:nvPr/>
        </p:nvGrpSpPr>
        <p:grpSpPr>
          <a:xfrm rot="16200000">
            <a:off x="850088" y="6059805"/>
            <a:ext cx="135890" cy="130810"/>
            <a:chOff x="17908" y="2780"/>
            <a:chExt cx="214" cy="206"/>
          </a:xfrm>
        </p:grpSpPr>
        <p:cxnSp>
          <p:nvCxnSpPr>
            <p:cNvPr id="290" name="直接连接符 289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2" name="组合 291"/>
          <p:cNvGrpSpPr/>
          <p:nvPr/>
        </p:nvGrpSpPr>
        <p:grpSpPr>
          <a:xfrm rot="10800000">
            <a:off x="847548" y="6394450"/>
            <a:ext cx="135890" cy="130810"/>
            <a:chOff x="17908" y="2780"/>
            <a:chExt cx="214" cy="206"/>
          </a:xfrm>
        </p:grpSpPr>
        <p:cxnSp>
          <p:nvCxnSpPr>
            <p:cNvPr id="293" name="直接连接符 292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5" name="组合 294"/>
          <p:cNvGrpSpPr/>
          <p:nvPr/>
        </p:nvGrpSpPr>
        <p:grpSpPr>
          <a:xfrm>
            <a:off x="11367770" y="4984750"/>
            <a:ext cx="135890" cy="130810"/>
            <a:chOff x="17908" y="2780"/>
            <a:chExt cx="214" cy="206"/>
          </a:xfrm>
        </p:grpSpPr>
        <p:cxnSp>
          <p:nvCxnSpPr>
            <p:cNvPr id="296" name="直接连接符 295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8" name="组合 297"/>
          <p:cNvGrpSpPr/>
          <p:nvPr/>
        </p:nvGrpSpPr>
        <p:grpSpPr>
          <a:xfrm rot="5400000">
            <a:off x="11370945" y="5306695"/>
            <a:ext cx="135890" cy="130810"/>
            <a:chOff x="17908" y="2780"/>
            <a:chExt cx="214" cy="206"/>
          </a:xfrm>
        </p:grpSpPr>
        <p:cxnSp>
          <p:nvCxnSpPr>
            <p:cNvPr id="299" name="直接连接符 298"/>
            <p:cNvCxnSpPr/>
            <p:nvPr/>
          </p:nvCxnSpPr>
          <p:spPr>
            <a:xfrm>
              <a:off x="18107" y="2780"/>
              <a:ext cx="0" cy="206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 flipH="1">
              <a:off x="17908" y="2786"/>
              <a:ext cx="214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11376025" y="5516245"/>
            <a:ext cx="136525" cy="455295"/>
            <a:chOff x="18071" y="8050"/>
            <a:chExt cx="215" cy="717"/>
          </a:xfrm>
        </p:grpSpPr>
        <p:grpSp>
          <p:nvGrpSpPr>
            <p:cNvPr id="301" name="组合 300"/>
            <p:cNvGrpSpPr/>
            <p:nvPr/>
          </p:nvGrpSpPr>
          <p:grpSpPr>
            <a:xfrm>
              <a:off x="18072" y="8050"/>
              <a:ext cx="214" cy="206"/>
              <a:chOff x="17908" y="2780"/>
              <a:chExt cx="214" cy="206"/>
            </a:xfrm>
          </p:grpSpPr>
          <p:cxnSp>
            <p:nvCxnSpPr>
              <p:cNvPr id="302" name="直接连接符 301"/>
              <p:cNvCxnSpPr/>
              <p:nvPr/>
            </p:nvCxnSpPr>
            <p:spPr>
              <a:xfrm>
                <a:off x="18107" y="2780"/>
                <a:ext cx="0" cy="206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 302"/>
              <p:cNvCxnSpPr/>
              <p:nvPr/>
            </p:nvCxnSpPr>
            <p:spPr>
              <a:xfrm flipH="1">
                <a:off x="17908" y="2786"/>
                <a:ext cx="214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04" name="组合 303"/>
            <p:cNvGrpSpPr/>
            <p:nvPr/>
          </p:nvGrpSpPr>
          <p:grpSpPr>
            <a:xfrm rot="5400000">
              <a:off x="18067" y="8557"/>
              <a:ext cx="214" cy="206"/>
              <a:chOff x="17908" y="2780"/>
              <a:chExt cx="214" cy="206"/>
            </a:xfrm>
          </p:grpSpPr>
          <p:cxnSp>
            <p:nvCxnSpPr>
              <p:cNvPr id="305" name="直接连接符 304"/>
              <p:cNvCxnSpPr/>
              <p:nvPr/>
            </p:nvCxnSpPr>
            <p:spPr>
              <a:xfrm>
                <a:off x="18107" y="2780"/>
                <a:ext cx="0" cy="206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 305"/>
              <p:cNvCxnSpPr/>
              <p:nvPr/>
            </p:nvCxnSpPr>
            <p:spPr>
              <a:xfrm flipH="1">
                <a:off x="17908" y="2786"/>
                <a:ext cx="214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8" name="组合 307"/>
          <p:cNvGrpSpPr/>
          <p:nvPr/>
        </p:nvGrpSpPr>
        <p:grpSpPr>
          <a:xfrm>
            <a:off x="11373485" y="6070600"/>
            <a:ext cx="136525" cy="455295"/>
            <a:chOff x="18071" y="8050"/>
            <a:chExt cx="215" cy="717"/>
          </a:xfrm>
        </p:grpSpPr>
        <p:grpSp>
          <p:nvGrpSpPr>
            <p:cNvPr id="309" name="组合 308"/>
            <p:cNvGrpSpPr/>
            <p:nvPr/>
          </p:nvGrpSpPr>
          <p:grpSpPr>
            <a:xfrm>
              <a:off x="18072" y="8050"/>
              <a:ext cx="214" cy="206"/>
              <a:chOff x="17908" y="2780"/>
              <a:chExt cx="214" cy="206"/>
            </a:xfrm>
          </p:grpSpPr>
          <p:cxnSp>
            <p:nvCxnSpPr>
              <p:cNvPr id="310" name="直接连接符 309"/>
              <p:cNvCxnSpPr/>
              <p:nvPr/>
            </p:nvCxnSpPr>
            <p:spPr>
              <a:xfrm>
                <a:off x="18107" y="2780"/>
                <a:ext cx="0" cy="206"/>
              </a:xfrm>
              <a:prstGeom prst="line">
                <a:avLst/>
              </a:prstGeom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 310"/>
              <p:cNvCxnSpPr/>
              <p:nvPr/>
            </p:nvCxnSpPr>
            <p:spPr>
              <a:xfrm flipH="1">
                <a:off x="17908" y="2786"/>
                <a:ext cx="214" cy="0"/>
              </a:xfrm>
              <a:prstGeom prst="line">
                <a:avLst/>
              </a:prstGeom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12" name="组合 311"/>
            <p:cNvGrpSpPr/>
            <p:nvPr/>
          </p:nvGrpSpPr>
          <p:grpSpPr>
            <a:xfrm rot="5400000">
              <a:off x="18067" y="8557"/>
              <a:ext cx="214" cy="206"/>
              <a:chOff x="17908" y="2780"/>
              <a:chExt cx="214" cy="206"/>
            </a:xfrm>
          </p:grpSpPr>
          <p:cxnSp>
            <p:nvCxnSpPr>
              <p:cNvPr id="313" name="直接连接符 312"/>
              <p:cNvCxnSpPr/>
              <p:nvPr/>
            </p:nvCxnSpPr>
            <p:spPr>
              <a:xfrm>
                <a:off x="18107" y="2780"/>
                <a:ext cx="0" cy="206"/>
              </a:xfrm>
              <a:prstGeom prst="line">
                <a:avLst/>
              </a:prstGeom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 313"/>
              <p:cNvCxnSpPr/>
              <p:nvPr/>
            </p:nvCxnSpPr>
            <p:spPr>
              <a:xfrm flipH="1">
                <a:off x="17908" y="2786"/>
                <a:ext cx="214" cy="0"/>
              </a:xfrm>
              <a:prstGeom prst="line">
                <a:avLst/>
              </a:prstGeom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315" name="textbox 2040"/>
          <p:cNvSpPr/>
          <p:nvPr/>
        </p:nvSpPr>
        <p:spPr>
          <a:xfrm>
            <a:off x="1018540" y="5090160"/>
            <a:ext cx="576580" cy="24574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textbox 2040"/>
          <p:cNvSpPr/>
          <p:nvPr/>
        </p:nvSpPr>
        <p:spPr>
          <a:xfrm>
            <a:off x="1018540" y="5626735"/>
            <a:ext cx="576580" cy="24574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textbox 2040"/>
          <p:cNvSpPr/>
          <p:nvPr/>
        </p:nvSpPr>
        <p:spPr>
          <a:xfrm>
            <a:off x="1018540" y="6161405"/>
            <a:ext cx="576580" cy="24574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6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lang="zh-CN" altLang="en-US" sz="16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8" name="textbox 2040"/>
          <p:cNvSpPr/>
          <p:nvPr/>
        </p:nvSpPr>
        <p:spPr>
          <a:xfrm>
            <a:off x="1057910" y="1964690"/>
            <a:ext cx="576580" cy="492125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政策指引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4251250" y="5601335"/>
            <a:ext cx="212344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数据产品经理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9257590" y="5601335"/>
            <a:ext cx="2123440" cy="2762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安全与合规组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524"/>
          <p:cNvSpPr/>
          <p:nvPr/>
        </p:nvSpPr>
        <p:spPr>
          <a:xfrm>
            <a:off x="1111885" y="4984750"/>
            <a:ext cx="1922400" cy="812800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/>
            </a:solidFill>
          </a:ln>
        </p:spPr>
        <p:txBody>
          <a:bodyPr vert="horz" wrap="square" lIns="0" tIns="0" rIns="0" bIns="0" anchor="b" anchorCtr="0"/>
          <a:lstStyle/>
          <a:p>
            <a:pPr algn="ctr" eaLnBrk="0">
              <a:lnSpc>
                <a:spcPct val="100000"/>
              </a:lnSpc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0">
              <a:lnSpc>
                <a:spcPct val="100000"/>
              </a:lnSpc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品牌客户战略分析框架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cxnSp>
        <p:nvCxnSpPr>
          <p:cNvPr id="318" name="直线连接符 128"/>
          <p:cNvCxnSpPr/>
          <p:nvPr/>
        </p:nvCxnSpPr>
        <p:spPr>
          <a:xfrm flipV="1">
            <a:off x="1045845" y="1142365"/>
            <a:ext cx="5356860" cy="725805"/>
          </a:xfrm>
          <a:prstGeom prst="line">
            <a:avLst/>
          </a:prstGeom>
          <a:noFill/>
          <a:ln w="63500" cap="rnd" cmpd="sng" algn="ctr">
            <a:gradFill>
              <a:gsLst>
                <a:gs pos="1000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319" name="直线连接符 133"/>
          <p:cNvCxnSpPr/>
          <p:nvPr/>
        </p:nvCxnSpPr>
        <p:spPr>
          <a:xfrm flipH="1" flipV="1">
            <a:off x="6376670" y="1142365"/>
            <a:ext cx="5291455" cy="722630"/>
          </a:xfrm>
          <a:prstGeom prst="line">
            <a:avLst/>
          </a:prstGeom>
          <a:noFill/>
          <a:ln w="63500" cap="rnd" cmpd="sng" algn="ctr">
            <a:gradFill>
              <a:gsLst>
                <a:gs pos="1000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round/>
          </a:ln>
          <a:effectLst/>
        </p:spPr>
      </p:cxnSp>
      <p:sp>
        <p:nvSpPr>
          <p:cNvPr id="320" name="矩形 319"/>
          <p:cNvSpPr/>
          <p:nvPr/>
        </p:nvSpPr>
        <p:spPr>
          <a:xfrm>
            <a:off x="5049520" y="1430020"/>
            <a:ext cx="2491105" cy="37020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品牌客户战略分析</a:t>
            </a:r>
            <a:endParaRPr kumimoji="1"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1" name="直线箭头连接符 135"/>
          <p:cNvCxnSpPr/>
          <p:nvPr/>
        </p:nvCxnSpPr>
        <p:spPr>
          <a:xfrm flipV="1">
            <a:off x="1087755" y="1934845"/>
            <a:ext cx="10422255" cy="0"/>
          </a:xfrm>
          <a:prstGeom prst="straightConnector1">
            <a:avLst/>
          </a:prstGeom>
          <a:noFill/>
          <a:ln w="15875" cap="flat" cmpd="sng" algn="ctr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357" name="Grey bottom line"/>
          <p:cNvCxnSpPr/>
          <p:nvPr/>
        </p:nvCxnSpPr>
        <p:spPr>
          <a:xfrm>
            <a:off x="1099820" y="2692400"/>
            <a:ext cx="10410190" cy="0"/>
          </a:xfrm>
          <a:prstGeom prst="line">
            <a:avLst/>
          </a:prstGeom>
          <a:noFill/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lgDash"/>
            <a:miter lim="800000"/>
          </a:ln>
          <a:effectLst/>
        </p:spPr>
      </p:cxnSp>
      <p:cxnSp>
        <p:nvCxnSpPr>
          <p:cNvPr id="376" name="Grey bottom line"/>
          <p:cNvCxnSpPr/>
          <p:nvPr/>
        </p:nvCxnSpPr>
        <p:spPr>
          <a:xfrm>
            <a:off x="1099820" y="3763010"/>
            <a:ext cx="10410190" cy="0"/>
          </a:xfrm>
          <a:prstGeom prst="line">
            <a:avLst/>
          </a:prstGeom>
          <a:noFill/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lgDash"/>
            <a:miter lim="800000"/>
          </a:ln>
          <a:effectLst/>
        </p:spPr>
      </p:cxnSp>
      <p:cxnSp>
        <p:nvCxnSpPr>
          <p:cNvPr id="377" name="Grey bottom line"/>
          <p:cNvCxnSpPr/>
          <p:nvPr/>
        </p:nvCxnSpPr>
        <p:spPr>
          <a:xfrm>
            <a:off x="1080135" y="4824095"/>
            <a:ext cx="10410190" cy="0"/>
          </a:xfrm>
          <a:prstGeom prst="line">
            <a:avLst/>
          </a:prstGeom>
          <a:noFill/>
          <a:ln w="6350" cap="flat" cmpd="sng" algn="ctr">
            <a:solidFill>
              <a:schemeClr val="accent6">
                <a:lumMod val="60000"/>
                <a:lumOff val="40000"/>
              </a:schemeClr>
            </a:solidFill>
            <a:prstDash val="lgDash"/>
            <a:miter lim="800000"/>
          </a:ln>
          <a:effectLst/>
        </p:spPr>
      </p:cxnSp>
      <p:sp>
        <p:nvSpPr>
          <p:cNvPr id="16" name="Disclaimer"/>
          <p:cNvSpPr/>
          <p:nvPr/>
        </p:nvSpPr>
        <p:spPr>
          <a:xfrm>
            <a:off x="1622552" y="4900295"/>
            <a:ext cx="901065" cy="226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获客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5" name="Text Box 1030"/>
          <p:cNvSpPr txBox="1">
            <a:spLocks noChangeArrowheads="1"/>
          </p:cNvSpPr>
          <p:nvPr/>
        </p:nvSpPr>
        <p:spPr bwMode="auto">
          <a:xfrm>
            <a:off x="1143635" y="5152390"/>
            <a:ext cx="177355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通过钩子产品，根据客户画像需求点，精准推送客户活动</a:t>
            </a:r>
            <a:endParaRPr 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40" name="组合 339"/>
          <p:cNvGrpSpPr/>
          <p:nvPr/>
        </p:nvGrpSpPr>
        <p:grpSpPr>
          <a:xfrm>
            <a:off x="1779270" y="5799455"/>
            <a:ext cx="514350" cy="209550"/>
            <a:chOff x="2802" y="9133"/>
            <a:chExt cx="810" cy="330"/>
          </a:xfrm>
        </p:grpSpPr>
        <p:cxnSp>
          <p:nvCxnSpPr>
            <p:cNvPr id="332" name="直线箭头连接符 156"/>
            <p:cNvCxnSpPr/>
            <p:nvPr/>
          </p:nvCxnSpPr>
          <p:spPr>
            <a:xfrm>
              <a:off x="280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499" name="直线箭头连接符 156"/>
            <p:cNvCxnSpPr/>
            <p:nvPr/>
          </p:nvCxnSpPr>
          <p:spPr>
            <a:xfrm>
              <a:off x="361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sp>
        <p:nvSpPr>
          <p:cNvPr id="525" name="任意多边形: 形状 25"/>
          <p:cNvSpPr/>
          <p:nvPr/>
        </p:nvSpPr>
        <p:spPr bwMode="auto">
          <a:xfrm>
            <a:off x="1153795" y="2803525"/>
            <a:ext cx="10315575" cy="856615"/>
          </a:xfrm>
          <a:custGeom>
            <a:avLst/>
            <a:gdLst>
              <a:gd name="connsiteX0" fmla="*/ 0 w 14068703"/>
              <a:gd name="connsiteY0" fmla="*/ 961747 h 1089273"/>
              <a:gd name="connsiteX1" fmla="*/ 1301858 w 14068703"/>
              <a:gd name="connsiteY1" fmla="*/ 450303 h 1089273"/>
              <a:gd name="connsiteX2" fmla="*/ 2758698 w 14068703"/>
              <a:gd name="connsiteY2" fmla="*/ 868757 h 1089273"/>
              <a:gd name="connsiteX3" fmla="*/ 5222929 w 14068703"/>
              <a:gd name="connsiteY3" fmla="*/ 852 h 1089273"/>
              <a:gd name="connsiteX4" fmla="*/ 7640664 w 14068703"/>
              <a:gd name="connsiteY4" fmla="*/ 1054737 h 1089273"/>
              <a:gd name="connsiteX5" fmla="*/ 10352868 w 14068703"/>
              <a:gd name="connsiteY5" fmla="*/ 279821 h 1089273"/>
              <a:gd name="connsiteX6" fmla="*/ 13669505 w 14068703"/>
              <a:gd name="connsiteY6" fmla="*/ 1008242 h 1089273"/>
              <a:gd name="connsiteX7" fmla="*/ 13886481 w 14068703"/>
              <a:gd name="connsiteY7" fmla="*/ 1039238 h 1089273"/>
              <a:gd name="connsiteX0-1" fmla="*/ 0 w 14208891"/>
              <a:gd name="connsiteY0-2" fmla="*/ 961747 h 1056656"/>
              <a:gd name="connsiteX1-3" fmla="*/ 1301858 w 14208891"/>
              <a:gd name="connsiteY1-4" fmla="*/ 450303 h 1056656"/>
              <a:gd name="connsiteX2-5" fmla="*/ 2758698 w 14208891"/>
              <a:gd name="connsiteY2-6" fmla="*/ 868757 h 1056656"/>
              <a:gd name="connsiteX3-7" fmla="*/ 5222929 w 14208891"/>
              <a:gd name="connsiteY3-8" fmla="*/ 852 h 1056656"/>
              <a:gd name="connsiteX4-9" fmla="*/ 7640664 w 14208891"/>
              <a:gd name="connsiteY4-10" fmla="*/ 1054737 h 1056656"/>
              <a:gd name="connsiteX5-11" fmla="*/ 10352868 w 14208891"/>
              <a:gd name="connsiteY5-12" fmla="*/ 279821 h 1056656"/>
              <a:gd name="connsiteX6-13" fmla="*/ 13669505 w 14208891"/>
              <a:gd name="connsiteY6-14" fmla="*/ 1008242 h 1056656"/>
              <a:gd name="connsiteX7-15" fmla="*/ 14097888 w 14208891"/>
              <a:gd name="connsiteY7-16" fmla="*/ 728065 h 1056656"/>
              <a:gd name="connsiteX0-17" fmla="*/ 0 w 14097888"/>
              <a:gd name="connsiteY0-18" fmla="*/ 961747 h 1056656"/>
              <a:gd name="connsiteX1-19" fmla="*/ 1301858 w 14097888"/>
              <a:gd name="connsiteY1-20" fmla="*/ 450303 h 1056656"/>
              <a:gd name="connsiteX2-21" fmla="*/ 2758698 w 14097888"/>
              <a:gd name="connsiteY2-22" fmla="*/ 868757 h 1056656"/>
              <a:gd name="connsiteX3-23" fmla="*/ 5222929 w 14097888"/>
              <a:gd name="connsiteY3-24" fmla="*/ 852 h 1056656"/>
              <a:gd name="connsiteX4-25" fmla="*/ 7640664 w 14097888"/>
              <a:gd name="connsiteY4-26" fmla="*/ 1054737 h 1056656"/>
              <a:gd name="connsiteX5-27" fmla="*/ 10352868 w 14097888"/>
              <a:gd name="connsiteY5-28" fmla="*/ 279821 h 1056656"/>
              <a:gd name="connsiteX6-29" fmla="*/ 13669505 w 14097888"/>
              <a:gd name="connsiteY6-30" fmla="*/ 1008242 h 1056656"/>
              <a:gd name="connsiteX7-31" fmla="*/ 14097888 w 14097888"/>
              <a:gd name="connsiteY7-32" fmla="*/ 728065 h 1056656"/>
              <a:gd name="connsiteX0-33" fmla="*/ 0 w 14097888"/>
              <a:gd name="connsiteY0-34" fmla="*/ 961747 h 1056662"/>
              <a:gd name="connsiteX1-35" fmla="*/ 1301858 w 14097888"/>
              <a:gd name="connsiteY1-36" fmla="*/ 450303 h 1056662"/>
              <a:gd name="connsiteX2-37" fmla="*/ 2758698 w 14097888"/>
              <a:gd name="connsiteY2-38" fmla="*/ 868757 h 1056662"/>
              <a:gd name="connsiteX3-39" fmla="*/ 5222929 w 14097888"/>
              <a:gd name="connsiteY3-40" fmla="*/ 852 h 1056662"/>
              <a:gd name="connsiteX4-41" fmla="*/ 7640664 w 14097888"/>
              <a:gd name="connsiteY4-42" fmla="*/ 1054737 h 1056662"/>
              <a:gd name="connsiteX5-43" fmla="*/ 10352868 w 14097888"/>
              <a:gd name="connsiteY5-44" fmla="*/ 279821 h 1056662"/>
              <a:gd name="connsiteX6-45" fmla="*/ 13067806 w 14097888"/>
              <a:gd name="connsiteY6-46" fmla="*/ 991865 h 1056662"/>
              <a:gd name="connsiteX7-47" fmla="*/ 14097888 w 14097888"/>
              <a:gd name="connsiteY7-48" fmla="*/ 728065 h 1056662"/>
              <a:gd name="connsiteX0-49" fmla="*/ 0 w 14097888"/>
              <a:gd name="connsiteY0-50" fmla="*/ 961747 h 1056195"/>
              <a:gd name="connsiteX1-51" fmla="*/ 1301858 w 14097888"/>
              <a:gd name="connsiteY1-52" fmla="*/ 450303 h 1056195"/>
              <a:gd name="connsiteX2-53" fmla="*/ 2758698 w 14097888"/>
              <a:gd name="connsiteY2-54" fmla="*/ 868757 h 1056195"/>
              <a:gd name="connsiteX3-55" fmla="*/ 5222929 w 14097888"/>
              <a:gd name="connsiteY3-56" fmla="*/ 852 h 1056195"/>
              <a:gd name="connsiteX4-57" fmla="*/ 7640664 w 14097888"/>
              <a:gd name="connsiteY4-58" fmla="*/ 1054737 h 1056195"/>
              <a:gd name="connsiteX5-59" fmla="*/ 10515489 w 14097888"/>
              <a:gd name="connsiteY5-60" fmla="*/ 247067 h 1056195"/>
              <a:gd name="connsiteX6-61" fmla="*/ 13067806 w 14097888"/>
              <a:gd name="connsiteY6-62" fmla="*/ 991865 h 1056195"/>
              <a:gd name="connsiteX7-63" fmla="*/ 14097888 w 14097888"/>
              <a:gd name="connsiteY7-64" fmla="*/ 728065 h 1056195"/>
              <a:gd name="connsiteX0-65" fmla="*/ 0 w 14097888"/>
              <a:gd name="connsiteY0-66" fmla="*/ 961747 h 1055945"/>
              <a:gd name="connsiteX1-67" fmla="*/ 1301858 w 14097888"/>
              <a:gd name="connsiteY1-68" fmla="*/ 450303 h 1055945"/>
              <a:gd name="connsiteX2-69" fmla="*/ 2758698 w 14097888"/>
              <a:gd name="connsiteY2-70" fmla="*/ 868757 h 1055945"/>
              <a:gd name="connsiteX3-71" fmla="*/ 5222929 w 14097888"/>
              <a:gd name="connsiteY3-72" fmla="*/ 852 h 1055945"/>
              <a:gd name="connsiteX4-73" fmla="*/ 7640664 w 14097888"/>
              <a:gd name="connsiteY4-74" fmla="*/ 1054737 h 1055945"/>
              <a:gd name="connsiteX5-75" fmla="*/ 10515489 w 14097888"/>
              <a:gd name="connsiteY5-76" fmla="*/ 247067 h 1055945"/>
              <a:gd name="connsiteX6-77" fmla="*/ 13067806 w 14097888"/>
              <a:gd name="connsiteY6-78" fmla="*/ 991865 h 1055945"/>
              <a:gd name="connsiteX7-79" fmla="*/ 14097888 w 14097888"/>
              <a:gd name="connsiteY7-80" fmla="*/ 728065 h 10559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4097888" h="1055945">
                <a:moveTo>
                  <a:pt x="0" y="961747"/>
                </a:moveTo>
                <a:cubicBezTo>
                  <a:pt x="421037" y="713774"/>
                  <a:pt x="842075" y="465801"/>
                  <a:pt x="1301858" y="450303"/>
                </a:cubicBezTo>
                <a:cubicBezTo>
                  <a:pt x="1761641" y="434805"/>
                  <a:pt x="2105186" y="943665"/>
                  <a:pt x="2758698" y="868757"/>
                </a:cubicBezTo>
                <a:cubicBezTo>
                  <a:pt x="3412210" y="793849"/>
                  <a:pt x="4409268" y="-30145"/>
                  <a:pt x="5222929" y="852"/>
                </a:cubicBezTo>
                <a:cubicBezTo>
                  <a:pt x="6036590" y="31849"/>
                  <a:pt x="6758571" y="1013701"/>
                  <a:pt x="7640664" y="1054737"/>
                </a:cubicBezTo>
                <a:cubicBezTo>
                  <a:pt x="8522757" y="1095773"/>
                  <a:pt x="9545917" y="77394"/>
                  <a:pt x="10515489" y="247067"/>
                </a:cubicBezTo>
                <a:cubicBezTo>
                  <a:pt x="11485061" y="416740"/>
                  <a:pt x="12470740" y="911699"/>
                  <a:pt x="13067806" y="991865"/>
                </a:cubicBezTo>
                <a:cubicBezTo>
                  <a:pt x="13664872" y="1072031"/>
                  <a:pt x="13991150" y="874116"/>
                  <a:pt x="14097888" y="728065"/>
                </a:cubicBezTo>
              </a:path>
            </a:pathLst>
          </a:custGeom>
          <a:noFill/>
          <a:ln w="19050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</p:spPr>
        <p:txBody>
          <a:bodyPr vert="horz" wrap="square" lIns="46292" tIns="23146" rIns="46292" bIns="23146" numCol="1" rtlCol="0" anchor="t" anchorCtr="0" compatLnSpc="1"/>
          <a:lstStyle>
            <a:defPPr>
              <a:defRPr lang="zh-CN"/>
            </a:defPPr>
            <a:lvl1pPr marL="0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8615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6595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5210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93190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1805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89785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8400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87015" algn="l" defTabSz="696595" rtl="0" eaLnBrk="1" latinLnBrk="0" hangingPunct="1">
              <a:defRPr sz="13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62915" eaLnBrk="0" hangingPunct="0">
              <a:defRPr/>
            </a:pPr>
            <a:endParaRPr lang="zh-CN" altLang="en-US" sz="71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1" name="文本框 680"/>
          <p:cNvSpPr txBox="1"/>
          <p:nvPr/>
        </p:nvSpPr>
        <p:spPr>
          <a:xfrm>
            <a:off x="2284095" y="3007360"/>
            <a:ext cx="906145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首次入店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4516120" y="2973705"/>
            <a:ext cx="69215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添加企微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3" name="文本框 682"/>
          <p:cNvSpPr txBox="1"/>
          <p:nvPr/>
        </p:nvSpPr>
        <p:spPr>
          <a:xfrm>
            <a:off x="6089650" y="3192145"/>
            <a:ext cx="78994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活动推送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4" name="文本框 683"/>
          <p:cNvSpPr txBox="1"/>
          <p:nvPr/>
        </p:nvSpPr>
        <p:spPr>
          <a:xfrm>
            <a:off x="8156575" y="2782570"/>
            <a:ext cx="80137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线上商城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5" name="文本框 684"/>
          <p:cNvSpPr txBox="1"/>
          <p:nvPr/>
        </p:nvSpPr>
        <p:spPr>
          <a:xfrm>
            <a:off x="6792595" y="3248660"/>
            <a:ext cx="804545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二次购买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9410065" y="3465830"/>
            <a:ext cx="77724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激活卡券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7" name="文本框 686"/>
          <p:cNvSpPr txBox="1"/>
          <p:nvPr/>
        </p:nvSpPr>
        <p:spPr>
          <a:xfrm>
            <a:off x="10750550" y="3348355"/>
            <a:ext cx="810895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VIP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活动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9" name="椭圆 688"/>
          <p:cNvSpPr/>
          <p:nvPr/>
        </p:nvSpPr>
        <p:spPr>
          <a:xfrm>
            <a:off x="10989310" y="357187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0" name="椭圆 689"/>
          <p:cNvSpPr/>
          <p:nvPr/>
        </p:nvSpPr>
        <p:spPr>
          <a:xfrm>
            <a:off x="1521460" y="3309620"/>
            <a:ext cx="80010" cy="8001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2" name="椭圆 691"/>
          <p:cNvSpPr/>
          <p:nvPr/>
        </p:nvSpPr>
        <p:spPr>
          <a:xfrm>
            <a:off x="2519680" y="329882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98" name="椭圆 697"/>
          <p:cNvSpPr/>
          <p:nvPr/>
        </p:nvSpPr>
        <p:spPr>
          <a:xfrm>
            <a:off x="8408670" y="2984500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0" name="椭圆 699"/>
          <p:cNvSpPr/>
          <p:nvPr/>
        </p:nvSpPr>
        <p:spPr>
          <a:xfrm>
            <a:off x="9816465" y="3298190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2" name="文本框 701"/>
          <p:cNvSpPr txBox="1"/>
          <p:nvPr/>
        </p:nvSpPr>
        <p:spPr>
          <a:xfrm>
            <a:off x="3006725" y="3117850"/>
            <a:ext cx="69850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购物订单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3" name="文本框 702"/>
          <p:cNvSpPr txBox="1"/>
          <p:nvPr/>
        </p:nvSpPr>
        <p:spPr>
          <a:xfrm>
            <a:off x="8559800" y="3158490"/>
            <a:ext cx="795655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会员活动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9" name="矩形: 圆角 75"/>
          <p:cNvSpPr/>
          <p:nvPr/>
        </p:nvSpPr>
        <p:spPr>
          <a:xfrm>
            <a:off x="320499" y="1950346"/>
            <a:ext cx="348076" cy="76226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890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: 圆角 76"/>
          <p:cNvSpPr/>
          <p:nvPr/>
        </p:nvSpPr>
        <p:spPr>
          <a:xfrm>
            <a:off x="320499" y="2832100"/>
            <a:ext cx="347980" cy="87884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场景层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等腰三角形 91"/>
          <p:cNvSpPr/>
          <p:nvPr/>
        </p:nvSpPr>
        <p:spPr>
          <a:xfrm rot="5400000">
            <a:off x="768557" y="2286983"/>
            <a:ext cx="103231" cy="88992"/>
          </a:xfrm>
          <a:prstGeom prst="triangle">
            <a:avLst/>
          </a:prstGeom>
          <a:gradFill>
            <a:gsLst>
              <a:gs pos="0">
                <a:srgbClr val="1D3557"/>
              </a:gs>
              <a:gs pos="100000">
                <a:srgbClr val="1D3557">
                  <a:lumMod val="80000"/>
                  <a:lumOff val="20000"/>
                </a:srgbClr>
              </a:gs>
            </a:gsLst>
            <a:lin ang="1890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3" name="等腰三角形 92"/>
          <p:cNvSpPr/>
          <p:nvPr/>
        </p:nvSpPr>
        <p:spPr>
          <a:xfrm rot="5400000">
            <a:off x="768557" y="3238124"/>
            <a:ext cx="103231" cy="88992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矩形: 圆角 408"/>
          <p:cNvSpPr/>
          <p:nvPr/>
        </p:nvSpPr>
        <p:spPr>
          <a:xfrm>
            <a:off x="1049655" y="2052955"/>
            <a:ext cx="2520000" cy="486410"/>
          </a:xfrm>
          <a:prstGeom prst="roundRect">
            <a:avLst>
              <a:gd name="adj" fmla="val 1079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9708" cap="flat">
            <a:solidFill>
              <a:schemeClr val="accent1">
                <a:alpha val="5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kern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建立会员积分体系</a:t>
            </a:r>
            <a:endParaRPr lang="zh-CN" altLang="en-US" sz="1400" b="1" kern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: 圆角 408"/>
          <p:cNvSpPr/>
          <p:nvPr/>
        </p:nvSpPr>
        <p:spPr>
          <a:xfrm>
            <a:off x="3704910" y="2052955"/>
            <a:ext cx="2519680" cy="486410"/>
          </a:xfrm>
          <a:prstGeom prst="roundRect">
            <a:avLst>
              <a:gd name="adj" fmla="val 1079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9708" cap="flat">
            <a:solidFill>
              <a:schemeClr val="accent1">
                <a:alpha val="5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kern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多渠道的客服支持</a:t>
            </a:r>
            <a:endParaRPr lang="zh-CN" altLang="en-US" sz="1400" b="1" kern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矩形: 圆角 408"/>
          <p:cNvSpPr/>
          <p:nvPr/>
        </p:nvSpPr>
        <p:spPr>
          <a:xfrm>
            <a:off x="6359845" y="2052955"/>
            <a:ext cx="2519680" cy="486410"/>
          </a:xfrm>
          <a:prstGeom prst="roundRect">
            <a:avLst>
              <a:gd name="adj" fmla="val 1079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9708" cap="flat">
            <a:solidFill>
              <a:schemeClr val="accent1">
                <a:alpha val="5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kern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精细化的营销策略</a:t>
            </a:r>
            <a:endParaRPr lang="zh-CN" altLang="en-US" sz="1400" b="1" kern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8" name="矩形: 圆角 408"/>
          <p:cNvSpPr/>
          <p:nvPr/>
        </p:nvSpPr>
        <p:spPr>
          <a:xfrm>
            <a:off x="9014780" y="2052955"/>
            <a:ext cx="2519680" cy="486410"/>
          </a:xfrm>
          <a:prstGeom prst="roundRect">
            <a:avLst>
              <a:gd name="adj" fmla="val 10790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9708" cap="flat">
            <a:solidFill>
              <a:schemeClr val="accent1">
                <a:alpha val="5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kern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拓展生态合作圈</a:t>
            </a:r>
            <a:endParaRPr lang="zh-CN" altLang="en-US" sz="1400" b="1" kern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9" name="矩形: 圆角 75"/>
          <p:cNvSpPr/>
          <p:nvPr/>
        </p:nvSpPr>
        <p:spPr>
          <a:xfrm>
            <a:off x="320499" y="3878841"/>
            <a:ext cx="348076" cy="762267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平台层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矩形: 圆角 76"/>
          <p:cNvSpPr/>
          <p:nvPr/>
        </p:nvSpPr>
        <p:spPr>
          <a:xfrm>
            <a:off x="320675" y="5160010"/>
            <a:ext cx="347980" cy="129921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运营层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768557" y="4215478"/>
            <a:ext cx="103231" cy="88992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等腰三角形 101"/>
          <p:cNvSpPr/>
          <p:nvPr/>
        </p:nvSpPr>
        <p:spPr>
          <a:xfrm rot="5400000">
            <a:off x="762842" y="5804794"/>
            <a:ext cx="103231" cy="88992"/>
          </a:xfrm>
          <a:prstGeom prst="triangle">
            <a:avLst/>
          </a:prstGeom>
          <a:solidFill>
            <a:schemeClr val="accent5"/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823970" y="3180080"/>
            <a:ext cx="692150" cy="243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加入会员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1080135" y="3871595"/>
            <a:ext cx="3397885" cy="810260"/>
            <a:chOff x="1701" y="6132"/>
            <a:chExt cx="5000" cy="1276"/>
          </a:xfrm>
        </p:grpSpPr>
        <p:sp>
          <p:nvSpPr>
            <p:cNvPr id="161" name="矩形: 圆角 546"/>
            <p:cNvSpPr/>
            <p:nvPr/>
          </p:nvSpPr>
          <p:spPr>
            <a:xfrm>
              <a:off x="1701" y="6132"/>
              <a:ext cx="5000" cy="1276"/>
            </a:xfrm>
            <a:prstGeom prst="roundRect">
              <a:avLst>
                <a:gd name="adj" fmla="val 4110"/>
              </a:avLst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  <a:alpha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2" name="矩形: 圆角 547"/>
            <p:cNvSpPr/>
            <p:nvPr/>
          </p:nvSpPr>
          <p:spPr>
            <a:xfrm>
              <a:off x="1889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360</a:t>
              </a: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客户画像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3" name="矩形: 圆角 548"/>
            <p:cNvSpPr/>
            <p:nvPr/>
          </p:nvSpPr>
          <p:spPr>
            <a:xfrm>
              <a:off x="4258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私域运营能力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4" name="矩形: 圆角 551"/>
            <p:cNvSpPr/>
            <p:nvPr/>
          </p:nvSpPr>
          <p:spPr>
            <a:xfrm>
              <a:off x="1889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智能推送计划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5" name="矩形: 圆角 552"/>
            <p:cNvSpPr/>
            <p:nvPr/>
          </p:nvSpPr>
          <p:spPr>
            <a:xfrm>
              <a:off x="4258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客户运营场景连接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2733" y="6132"/>
              <a:ext cx="2935" cy="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altLang="zh-CN" sz="900" b="1" ker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CRM</a:t>
              </a:r>
              <a:r>
                <a:rPr lang="zh-CN" altLang="en-US" sz="900" b="1" ker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用户运营平台</a:t>
              </a:r>
              <a:endParaRPr lang="zh-CN" altLang="en-US" sz="900" b="1" ker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0" name="组合 219"/>
          <p:cNvGrpSpPr/>
          <p:nvPr/>
        </p:nvGrpSpPr>
        <p:grpSpPr>
          <a:xfrm>
            <a:off x="4595495" y="3871595"/>
            <a:ext cx="3397885" cy="810260"/>
            <a:chOff x="1701" y="6132"/>
            <a:chExt cx="5000" cy="1276"/>
          </a:xfrm>
        </p:grpSpPr>
        <p:sp>
          <p:nvSpPr>
            <p:cNvPr id="221" name="矩形: 圆角 546"/>
            <p:cNvSpPr/>
            <p:nvPr/>
          </p:nvSpPr>
          <p:spPr>
            <a:xfrm>
              <a:off x="1701" y="6132"/>
              <a:ext cx="5000" cy="1276"/>
            </a:xfrm>
            <a:prstGeom prst="roundRect">
              <a:avLst>
                <a:gd name="adj" fmla="val 4110"/>
              </a:avLst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  <a:alpha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2" name="矩形: 圆角 547"/>
            <p:cNvSpPr/>
            <p:nvPr/>
          </p:nvSpPr>
          <p:spPr>
            <a:xfrm>
              <a:off x="1889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个性化营销策略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3" name="矩形: 圆角 548"/>
            <p:cNvSpPr/>
            <p:nvPr/>
          </p:nvSpPr>
          <p:spPr>
            <a:xfrm>
              <a:off x="4258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营销渠道整合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4" name="矩形: 圆角 551"/>
            <p:cNvSpPr/>
            <p:nvPr/>
          </p:nvSpPr>
          <p:spPr>
            <a:xfrm>
              <a:off x="1889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用户参与互动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5" name="矩形: 圆角 552"/>
            <p:cNvSpPr/>
            <p:nvPr/>
          </p:nvSpPr>
          <p:spPr>
            <a:xfrm>
              <a:off x="4258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营销自动化工具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2733" y="6132"/>
              <a:ext cx="2935" cy="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900" b="1" ker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精细化营销中心</a:t>
              </a:r>
              <a:endParaRPr lang="zh-CN" altLang="en-US" sz="900" b="1" ker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7" name="组合 226"/>
          <p:cNvGrpSpPr/>
          <p:nvPr/>
        </p:nvGrpSpPr>
        <p:grpSpPr>
          <a:xfrm>
            <a:off x="8110855" y="3871595"/>
            <a:ext cx="3397885" cy="810260"/>
            <a:chOff x="1701" y="6132"/>
            <a:chExt cx="5000" cy="1276"/>
          </a:xfrm>
        </p:grpSpPr>
        <p:sp>
          <p:nvSpPr>
            <p:cNvPr id="228" name="矩形: 圆角 546"/>
            <p:cNvSpPr/>
            <p:nvPr/>
          </p:nvSpPr>
          <p:spPr>
            <a:xfrm>
              <a:off x="1701" y="6132"/>
              <a:ext cx="5000" cy="1276"/>
            </a:xfrm>
            <a:prstGeom prst="roundRect">
              <a:avLst>
                <a:gd name="adj" fmla="val 4110"/>
              </a:avLst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  <a:alpha val="50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9" name="矩形: 圆角 547"/>
            <p:cNvSpPr/>
            <p:nvPr/>
          </p:nvSpPr>
          <p:spPr>
            <a:xfrm>
              <a:off x="1889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智慧驾驶舱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0" name="矩形: 圆角 548"/>
            <p:cNvSpPr/>
            <p:nvPr/>
          </p:nvSpPr>
          <p:spPr>
            <a:xfrm>
              <a:off x="4258" y="6575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业务及客户运营报表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1" name="矩形: 圆角 551"/>
            <p:cNvSpPr/>
            <p:nvPr/>
          </p:nvSpPr>
          <p:spPr>
            <a:xfrm>
              <a:off x="1889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SEO</a:t>
              </a: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优化分析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矩形: 圆角 552"/>
            <p:cNvSpPr/>
            <p:nvPr/>
          </p:nvSpPr>
          <p:spPr>
            <a:xfrm>
              <a:off x="4258" y="6987"/>
              <a:ext cx="2255" cy="322"/>
            </a:xfrm>
            <a:prstGeom prst="roundRect">
              <a:avLst>
                <a:gd name="adj" fmla="val 2334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智能客户运营决策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2733" y="6132"/>
              <a:ext cx="2935" cy="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zh-CN" altLang="en-US" sz="900" b="1" kern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数字决策分析平台</a:t>
              </a:r>
              <a:endParaRPr lang="zh-CN" altLang="en-US" sz="900" b="1" kern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06" name="矩形: 圆角 169"/>
          <p:cNvSpPr/>
          <p:nvPr/>
        </p:nvSpPr>
        <p:spPr>
          <a:xfrm>
            <a:off x="1045210" y="6059805"/>
            <a:ext cx="10533380" cy="511810"/>
          </a:xfrm>
          <a:prstGeom prst="roundRect">
            <a:avLst>
              <a:gd name="adj" fmla="val 125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0" name="Text Box 1030"/>
          <p:cNvSpPr txBox="1">
            <a:spLocks noChangeArrowheads="1"/>
          </p:cNvSpPr>
          <p:nvPr/>
        </p:nvSpPr>
        <p:spPr bwMode="auto">
          <a:xfrm>
            <a:off x="1253935" y="6141085"/>
            <a:ext cx="16383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客户画像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客户分级分类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1" name="直接连接符 310"/>
          <p:cNvCxnSpPr/>
          <p:nvPr/>
        </p:nvCxnSpPr>
        <p:spPr>
          <a:xfrm>
            <a:off x="3132455" y="6094095"/>
            <a:ext cx="0" cy="425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2" name="Text Box 1030"/>
          <p:cNvSpPr txBox="1">
            <a:spLocks noChangeArrowheads="1"/>
          </p:cNvSpPr>
          <p:nvPr/>
        </p:nvSpPr>
        <p:spPr bwMode="auto">
          <a:xfrm>
            <a:off x="3423920" y="6141085"/>
            <a:ext cx="156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钩子产品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核心竞争力产品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3" name="直接连接符 312"/>
          <p:cNvCxnSpPr/>
          <p:nvPr/>
        </p:nvCxnSpPr>
        <p:spPr>
          <a:xfrm>
            <a:off x="5248910" y="6094095"/>
            <a:ext cx="0" cy="425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4" name="Text Box 1030"/>
          <p:cNvSpPr txBox="1">
            <a:spLocks noChangeArrowheads="1"/>
          </p:cNvSpPr>
          <p:nvPr/>
        </p:nvSpPr>
        <p:spPr bwMode="auto">
          <a:xfrm>
            <a:off x="5533327" y="6141085"/>
            <a:ext cx="156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情绪价值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" name="textbox 524"/>
          <p:cNvSpPr/>
          <p:nvPr/>
        </p:nvSpPr>
        <p:spPr>
          <a:xfrm>
            <a:off x="3230500" y="4986655"/>
            <a:ext cx="1922145" cy="812800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/>
            </a:solidFill>
          </a:ln>
        </p:spPr>
        <p:txBody>
          <a:bodyPr vert="horz" wrap="square" lIns="0" tIns="0" rIns="0" bIns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4" name="textbox 524"/>
          <p:cNvSpPr/>
          <p:nvPr/>
        </p:nvSpPr>
        <p:spPr>
          <a:xfrm>
            <a:off x="5355210" y="4986655"/>
            <a:ext cx="1922145" cy="812800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/>
            </a:solidFill>
          </a:ln>
        </p:spPr>
        <p:txBody>
          <a:bodyPr vert="horz" wrap="square" lIns="0" tIns="0" rIns="0" bIns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5" name="textbox 524"/>
          <p:cNvSpPr/>
          <p:nvPr/>
        </p:nvSpPr>
        <p:spPr>
          <a:xfrm>
            <a:off x="7467220" y="4986655"/>
            <a:ext cx="1922145" cy="812800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/>
            </a:solidFill>
          </a:ln>
        </p:spPr>
        <p:txBody>
          <a:bodyPr vert="horz" wrap="square" lIns="0" tIns="0" rIns="0" bIns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6" name="textbox 524"/>
          <p:cNvSpPr/>
          <p:nvPr/>
        </p:nvSpPr>
        <p:spPr>
          <a:xfrm>
            <a:off x="9585580" y="4986655"/>
            <a:ext cx="1922145" cy="812800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/>
            </a:solidFill>
          </a:ln>
        </p:spPr>
        <p:txBody>
          <a:bodyPr vert="horz" wrap="square" lIns="0" tIns="0" rIns="0" bIns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0">
              <a:buClrTx/>
              <a:buSzTx/>
              <a:buFontTx/>
            </a:pP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7" name="Disclaimer"/>
          <p:cNvSpPr/>
          <p:nvPr/>
        </p:nvSpPr>
        <p:spPr>
          <a:xfrm>
            <a:off x="3756025" y="4900295"/>
            <a:ext cx="901065" cy="226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绑定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8" name="Disclaimer"/>
          <p:cNvSpPr/>
          <p:nvPr/>
        </p:nvSpPr>
        <p:spPr>
          <a:xfrm>
            <a:off x="5865750" y="4900295"/>
            <a:ext cx="901065" cy="226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保持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1" name="Disclaimer"/>
          <p:cNvSpPr/>
          <p:nvPr/>
        </p:nvSpPr>
        <p:spPr>
          <a:xfrm>
            <a:off x="7977760" y="4900295"/>
            <a:ext cx="901065" cy="226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唤醒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5" name="Disclaimer"/>
          <p:cNvSpPr/>
          <p:nvPr/>
        </p:nvSpPr>
        <p:spPr>
          <a:xfrm>
            <a:off x="10096120" y="4900295"/>
            <a:ext cx="901065" cy="226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wrap="square" lIns="0" tIns="0" rIns="0" bIns="0" rtlCol="0" anchor="b" anchorCtr="0">
            <a:noAutofit/>
          </a:bodyPr>
          <a:lstStyle/>
          <a:p>
            <a:pPr lvl="0" algn="ctr" eaLnBrk="0">
              <a:buClrTx/>
              <a:buSzTx/>
              <a:buFontTx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挖潜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6" name="Text Box 1030"/>
          <p:cNvSpPr txBox="1">
            <a:spLocks noChangeArrowheads="1"/>
          </p:cNvSpPr>
          <p:nvPr/>
        </p:nvSpPr>
        <p:spPr bwMode="auto">
          <a:xfrm>
            <a:off x="7645337" y="6141085"/>
            <a:ext cx="156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特殊政策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eaLnBrk="1" fontAlgn="auto" hangingPunct="1">
              <a:lnSpc>
                <a:spcPct val="100000"/>
              </a:lnSpc>
            </a:pPr>
            <a:r>
              <a:rPr 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流失预警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流失后唤醒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" name="Text Box 1030"/>
          <p:cNvSpPr txBox="1">
            <a:spLocks noChangeArrowheads="1"/>
          </p:cNvSpPr>
          <p:nvPr/>
        </p:nvSpPr>
        <p:spPr bwMode="auto">
          <a:xfrm>
            <a:off x="9763697" y="6141085"/>
            <a:ext cx="156591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 anchor="ctr" anchorCtr="0">
            <a:no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 algn="ctr" eaLnBrk="1" fontAlgn="auto" hangingPunct="1">
              <a:lnSpc>
                <a:spcPct val="10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价值最大化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eaLnBrk="1" fontAlgn="auto" hangingPunct="1">
              <a:lnSpc>
                <a:spcPct val="100000"/>
              </a:lnSpc>
            </a:pPr>
            <a:r>
              <a:rPr 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客户衍生其他产生收益</a:t>
            </a:r>
            <a:endParaRPr lang="zh-CN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8" name="直接连接符 337"/>
          <p:cNvCxnSpPr/>
          <p:nvPr/>
        </p:nvCxnSpPr>
        <p:spPr>
          <a:xfrm>
            <a:off x="7363460" y="6094095"/>
            <a:ext cx="0" cy="425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9" name="直接连接符 338"/>
          <p:cNvCxnSpPr/>
          <p:nvPr/>
        </p:nvCxnSpPr>
        <p:spPr>
          <a:xfrm>
            <a:off x="9513570" y="6094095"/>
            <a:ext cx="0" cy="42545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1" name="组合 340"/>
          <p:cNvGrpSpPr/>
          <p:nvPr/>
        </p:nvGrpSpPr>
        <p:grpSpPr>
          <a:xfrm>
            <a:off x="3928110" y="5799455"/>
            <a:ext cx="514350" cy="209550"/>
            <a:chOff x="2802" y="9133"/>
            <a:chExt cx="810" cy="330"/>
          </a:xfrm>
        </p:grpSpPr>
        <p:cxnSp>
          <p:nvCxnSpPr>
            <p:cNvPr id="342" name="直线箭头连接符 156"/>
            <p:cNvCxnSpPr/>
            <p:nvPr/>
          </p:nvCxnSpPr>
          <p:spPr>
            <a:xfrm>
              <a:off x="280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343" name="直线箭头连接符 156"/>
            <p:cNvCxnSpPr/>
            <p:nvPr/>
          </p:nvCxnSpPr>
          <p:spPr>
            <a:xfrm>
              <a:off x="361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grpSp>
        <p:nvGrpSpPr>
          <p:cNvPr id="344" name="组合 343"/>
          <p:cNvGrpSpPr/>
          <p:nvPr/>
        </p:nvGrpSpPr>
        <p:grpSpPr>
          <a:xfrm>
            <a:off x="6002020" y="5799455"/>
            <a:ext cx="514350" cy="209550"/>
            <a:chOff x="2802" y="9133"/>
            <a:chExt cx="810" cy="330"/>
          </a:xfrm>
        </p:grpSpPr>
        <p:cxnSp>
          <p:nvCxnSpPr>
            <p:cNvPr id="345" name="直线箭头连接符 156"/>
            <p:cNvCxnSpPr/>
            <p:nvPr/>
          </p:nvCxnSpPr>
          <p:spPr>
            <a:xfrm>
              <a:off x="280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346" name="直线箭头连接符 156"/>
            <p:cNvCxnSpPr/>
            <p:nvPr/>
          </p:nvCxnSpPr>
          <p:spPr>
            <a:xfrm>
              <a:off x="361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grpSp>
        <p:nvGrpSpPr>
          <p:cNvPr id="348" name="组合 347"/>
          <p:cNvGrpSpPr/>
          <p:nvPr/>
        </p:nvGrpSpPr>
        <p:grpSpPr>
          <a:xfrm>
            <a:off x="8169275" y="5799455"/>
            <a:ext cx="514350" cy="209550"/>
            <a:chOff x="2802" y="9133"/>
            <a:chExt cx="810" cy="330"/>
          </a:xfrm>
        </p:grpSpPr>
        <p:cxnSp>
          <p:nvCxnSpPr>
            <p:cNvPr id="349" name="直线箭头连接符 156"/>
            <p:cNvCxnSpPr/>
            <p:nvPr/>
          </p:nvCxnSpPr>
          <p:spPr>
            <a:xfrm>
              <a:off x="280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350" name="直线箭头连接符 156"/>
            <p:cNvCxnSpPr/>
            <p:nvPr/>
          </p:nvCxnSpPr>
          <p:spPr>
            <a:xfrm>
              <a:off x="361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grpSp>
        <p:nvGrpSpPr>
          <p:cNvPr id="351" name="组合 350"/>
          <p:cNvGrpSpPr/>
          <p:nvPr/>
        </p:nvGrpSpPr>
        <p:grpSpPr>
          <a:xfrm>
            <a:off x="10365740" y="5799455"/>
            <a:ext cx="514350" cy="209550"/>
            <a:chOff x="2802" y="9133"/>
            <a:chExt cx="810" cy="330"/>
          </a:xfrm>
        </p:grpSpPr>
        <p:cxnSp>
          <p:nvCxnSpPr>
            <p:cNvPr id="352" name="直线箭头连接符 156"/>
            <p:cNvCxnSpPr/>
            <p:nvPr/>
          </p:nvCxnSpPr>
          <p:spPr>
            <a:xfrm>
              <a:off x="280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353" name="直线箭头连接符 156"/>
            <p:cNvCxnSpPr/>
            <p:nvPr/>
          </p:nvCxnSpPr>
          <p:spPr>
            <a:xfrm>
              <a:off x="3612" y="9133"/>
              <a:ext cx="0" cy="330"/>
            </a:xfrm>
            <a:prstGeom prst="straightConnector1">
              <a:avLst/>
            </a:prstGeom>
            <a:noFill/>
            <a:ln w="6350" cap="flat" cmpd="sng" algn="ctr">
              <a:solidFill>
                <a:schemeClr val="accent5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</p:grpSp>
      <p:sp>
        <p:nvSpPr>
          <p:cNvPr id="354" name="Text Box 1030"/>
          <p:cNvSpPr txBox="1">
            <a:spLocks noChangeArrowheads="1"/>
          </p:cNvSpPr>
          <p:nvPr/>
        </p:nvSpPr>
        <p:spPr bwMode="auto">
          <a:xfrm>
            <a:off x="3308350" y="5232400"/>
            <a:ext cx="174117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buClrTx/>
              <a:buSzTx/>
              <a:buFontTx/>
            </a:pPr>
            <a:r>
              <a: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通过粘性产品绑定，延长客户生命周期</a:t>
            </a:r>
            <a:endParaRPr 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5" name="Text Box 1030"/>
          <p:cNvSpPr txBox="1">
            <a:spLocks noChangeArrowheads="1"/>
          </p:cNvSpPr>
          <p:nvPr/>
        </p:nvSpPr>
        <p:spPr bwMode="auto">
          <a:xfrm>
            <a:off x="5440045" y="5126990"/>
            <a:ext cx="16383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buClrTx/>
              <a:buSzTx/>
              <a:buFontTx/>
            </a:pPr>
            <a:r>
              <a: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保持客户长周期不间断接触，提升客户满意度和亲密度</a:t>
            </a:r>
            <a:endParaRPr 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6" name="Text Box 1030"/>
          <p:cNvSpPr txBox="1">
            <a:spLocks noChangeArrowheads="1"/>
          </p:cNvSpPr>
          <p:nvPr/>
        </p:nvSpPr>
        <p:spPr bwMode="auto">
          <a:xfrm>
            <a:off x="9652000" y="5126990"/>
            <a:ext cx="172974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buClrTx/>
              <a:buSzTx/>
              <a:buFontTx/>
            </a:pPr>
            <a:r>
              <a: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通过VIP活动、专项产品邀约等增加营销机会，挖掘潜在价值。</a:t>
            </a:r>
            <a:endParaRPr 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8" name="Text Box 1030"/>
          <p:cNvSpPr txBox="1">
            <a:spLocks noChangeArrowheads="1"/>
          </p:cNvSpPr>
          <p:nvPr/>
        </p:nvSpPr>
        <p:spPr bwMode="auto">
          <a:xfrm>
            <a:off x="7482205" y="5102860"/>
            <a:ext cx="182054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buClrTx/>
              <a:buSzTx/>
              <a:buFontTx/>
            </a:pPr>
            <a:r>
              <a:rPr 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已经流失或即将流失客户采用特殊政策进行邀约或推送唤醒。</a:t>
            </a:r>
            <a:endParaRPr 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256665" y="2805430"/>
            <a:ext cx="570230" cy="521335"/>
            <a:chOff x="1979" y="4418"/>
            <a:chExt cx="898" cy="821"/>
          </a:xfrm>
        </p:grpSpPr>
        <p:sp>
          <p:nvSpPr>
            <p:cNvPr id="65" name="文本框 64"/>
            <p:cNvSpPr txBox="1"/>
            <p:nvPr/>
          </p:nvSpPr>
          <p:spPr>
            <a:xfrm>
              <a:off x="1979" y="4853"/>
              <a:ext cx="89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新客户</a:t>
              </a:r>
              <a:endParaRPr lang="zh-CN" altLang="en-US" sz="10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6" name="椭圆 65"/>
            <p:cNvSpPr/>
            <p:nvPr/>
          </p:nvSpPr>
          <p:spPr>
            <a:xfrm>
              <a:off x="2105" y="4418"/>
              <a:ext cx="450" cy="45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pic>
          <p:nvPicPr>
            <p:cNvPr id="67" name="图片 66" descr="人像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53" y="4476"/>
              <a:ext cx="315" cy="315"/>
            </a:xfrm>
            <a:prstGeom prst="rect">
              <a:avLst/>
            </a:prstGeom>
          </p:spPr>
        </p:pic>
      </p:grpSp>
      <p:sp>
        <p:nvSpPr>
          <p:cNvPr id="69" name="椭圆 68"/>
          <p:cNvSpPr/>
          <p:nvPr/>
        </p:nvSpPr>
        <p:spPr>
          <a:xfrm>
            <a:off x="3308350" y="342328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4064000" y="3049270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4676775" y="280352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5481955" y="296862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5667375" y="2767965"/>
            <a:ext cx="1068070" cy="285750"/>
            <a:chOff x="8925" y="4359"/>
            <a:chExt cx="1682" cy="450"/>
          </a:xfrm>
        </p:grpSpPr>
        <p:grpSp>
          <p:nvGrpSpPr>
            <p:cNvPr id="72" name="组合 71"/>
            <p:cNvGrpSpPr/>
            <p:nvPr/>
          </p:nvGrpSpPr>
          <p:grpSpPr>
            <a:xfrm>
              <a:off x="8925" y="4359"/>
              <a:ext cx="1682" cy="450"/>
              <a:chOff x="2105" y="4418"/>
              <a:chExt cx="1682" cy="450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2632" y="4473"/>
                <a:ext cx="115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沉默客户</a:t>
                </a:r>
                <a:endPara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105" y="4418"/>
                <a:ext cx="450" cy="45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pic>
          <p:nvPicPr>
            <p:cNvPr id="78" name="图片 77" descr="customer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98" y="4405"/>
              <a:ext cx="300" cy="300"/>
            </a:xfrm>
            <a:prstGeom prst="rect">
              <a:avLst/>
            </a:prstGeom>
          </p:spPr>
        </p:pic>
      </p:grpSp>
      <p:sp>
        <p:nvSpPr>
          <p:cNvPr id="80" name="椭圆 79"/>
          <p:cNvSpPr/>
          <p:nvPr/>
        </p:nvSpPr>
        <p:spPr>
          <a:xfrm>
            <a:off x="6255385" y="348043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7277100" y="3465830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2" name="椭圆 81"/>
          <p:cNvSpPr/>
          <p:nvPr/>
        </p:nvSpPr>
        <p:spPr>
          <a:xfrm>
            <a:off x="7913370" y="3150870"/>
            <a:ext cx="80010" cy="8001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7291070" y="2934970"/>
            <a:ext cx="1018540" cy="585470"/>
            <a:chOff x="11482" y="4622"/>
            <a:chExt cx="1604" cy="922"/>
          </a:xfrm>
        </p:grpSpPr>
        <p:grpSp>
          <p:nvGrpSpPr>
            <p:cNvPr id="84" name="组合 83"/>
            <p:cNvGrpSpPr/>
            <p:nvPr/>
          </p:nvGrpSpPr>
          <p:grpSpPr>
            <a:xfrm rot="0">
              <a:off x="11482" y="4622"/>
              <a:ext cx="1605" cy="922"/>
              <a:chOff x="1287" y="3828"/>
              <a:chExt cx="1605" cy="922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1287" y="3828"/>
                <a:ext cx="115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活跃客户</a:t>
                </a:r>
                <a:endParaRPr lang="zh-CN" altLang="en-US" sz="1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2442" y="4300"/>
                <a:ext cx="450" cy="45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pic>
          <p:nvPicPr>
            <p:cNvPr id="88" name="图片 87" descr="汽车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735" y="5202"/>
              <a:ext cx="260" cy="212"/>
            </a:xfrm>
            <a:prstGeom prst="rect">
              <a:avLst/>
            </a:prstGeom>
          </p:spPr>
        </p:pic>
      </p:grpSp>
      <p:sp>
        <p:nvSpPr>
          <p:cNvPr id="94" name="椭圆 93"/>
          <p:cNvSpPr/>
          <p:nvPr/>
        </p:nvSpPr>
        <p:spPr>
          <a:xfrm>
            <a:off x="9172575" y="3053715"/>
            <a:ext cx="80010" cy="800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5400" cap="flat">
            <a:solidFill>
              <a:schemeClr val="accent1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4" name="组合 103"/>
          <p:cNvGrpSpPr/>
          <p:nvPr/>
        </p:nvGrpSpPr>
        <p:grpSpPr>
          <a:xfrm rot="0">
            <a:off x="9309100" y="2787015"/>
            <a:ext cx="976630" cy="285750"/>
            <a:chOff x="2105" y="4418"/>
            <a:chExt cx="1538" cy="450"/>
          </a:xfrm>
        </p:grpSpPr>
        <p:sp>
          <p:nvSpPr>
            <p:cNvPr id="109" name="文本框 108"/>
            <p:cNvSpPr txBox="1"/>
            <p:nvPr/>
          </p:nvSpPr>
          <p:spPr>
            <a:xfrm>
              <a:off x="2488" y="4446"/>
              <a:ext cx="115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流失客户</a:t>
              </a:r>
              <a:endParaRPr lang="zh-CN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2105" y="4418"/>
              <a:ext cx="450" cy="45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pic>
        <p:nvPicPr>
          <p:cNvPr id="112" name="图片 111" descr="陌生人,男人,男士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1805" y="2837815"/>
            <a:ext cx="177165" cy="177165"/>
          </a:xfrm>
          <a:prstGeom prst="rect">
            <a:avLst/>
          </a:prstGeom>
        </p:spPr>
      </p:pic>
      <p:sp>
        <p:nvSpPr>
          <p:cNvPr id="113" name="椭圆 112"/>
          <p:cNvSpPr/>
          <p:nvPr/>
        </p:nvSpPr>
        <p:spPr>
          <a:xfrm>
            <a:off x="10365740" y="3480435"/>
            <a:ext cx="80010" cy="8001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 rot="0">
            <a:off x="10270490" y="3046730"/>
            <a:ext cx="1356360" cy="285750"/>
            <a:chOff x="2105" y="4418"/>
            <a:chExt cx="2136" cy="450"/>
          </a:xfrm>
        </p:grpSpPr>
        <p:sp>
          <p:nvSpPr>
            <p:cNvPr id="115" name="文本框 114"/>
            <p:cNvSpPr txBox="1"/>
            <p:nvPr/>
          </p:nvSpPr>
          <p:spPr>
            <a:xfrm>
              <a:off x="2488" y="4446"/>
              <a:ext cx="175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核心高价值客户</a:t>
              </a:r>
              <a:endParaRPr lang="zh-CN" altLang="en-US" sz="1000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2105" y="4418"/>
              <a:ext cx="450" cy="45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</p:grpSp>
      <p:pic>
        <p:nvPicPr>
          <p:cNvPr id="128" name="图片 127" descr="帽子女人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29545" y="3096895"/>
            <a:ext cx="184150" cy="18415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公司数字化转型框架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pic>
        <p:nvPicPr>
          <p:cNvPr id="6" name="图片 5" descr="区域目标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520" y="1437005"/>
            <a:ext cx="370205" cy="370205"/>
          </a:xfrm>
          <a:prstGeom prst="rect">
            <a:avLst/>
          </a:prstGeom>
        </p:spPr>
      </p:pic>
      <p:sp>
        <p:nvSpPr>
          <p:cNvPr id="15" name="等腰三角形 1164"/>
          <p:cNvSpPr/>
          <p:nvPr/>
        </p:nvSpPr>
        <p:spPr>
          <a:xfrm>
            <a:off x="1875790" y="1224915"/>
            <a:ext cx="4137025" cy="793750"/>
          </a:xfrm>
          <a:prstGeom prst="triangle">
            <a:avLst/>
          </a:prstGeom>
          <a:gradFill flip="none" rotWithShape="1">
            <a:gsLst>
              <a:gs pos="2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127000" dist="38100" dir="5400000" algn="t" rotWithShape="0">
              <a:schemeClr val="accent1">
                <a:lumMod val="60000"/>
                <a:lumOff val="40000"/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500" b="1">
                <a:cs typeface="微软雅黑" panose="020B0503020204020204" charset="-122"/>
                <a:sym typeface="+mn-ea"/>
              </a:rPr>
              <a:t>可持续发展目标</a:t>
            </a:r>
            <a:endParaRPr lang="zh-CN" altLang="en-US" sz="1500" b="1"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500" b="1">
              <a:cs typeface="微软雅黑" panose="020B0503020204020204" charset="-122"/>
              <a:sym typeface="+mn-ea"/>
            </a:endParaRPr>
          </a:p>
        </p:txBody>
      </p:sp>
      <p:sp>
        <p:nvSpPr>
          <p:cNvPr id="35" name="梯形 34"/>
          <p:cNvSpPr/>
          <p:nvPr/>
        </p:nvSpPr>
        <p:spPr>
          <a:xfrm>
            <a:off x="1170305" y="2139950"/>
            <a:ext cx="5549265" cy="4413885"/>
          </a:xfrm>
          <a:prstGeom prst="trapezoid">
            <a:avLst>
              <a:gd name="adj" fmla="val 22275"/>
            </a:avLst>
          </a:prstGeom>
          <a:noFill/>
          <a:ln>
            <a:gradFill>
              <a:gsLst>
                <a:gs pos="0">
                  <a:schemeClr val="accent1"/>
                </a:gs>
                <a:gs pos="6000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292100" dist="38100" dir="5400000" algn="t" rotWithShape="0">
              <a:prstClr val="black">
                <a:alpha val="19000"/>
              </a:prst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69110" y="3481070"/>
            <a:ext cx="4351655" cy="1570355"/>
            <a:chOff x="2528020" y="3528271"/>
            <a:chExt cx="4207589" cy="1396153"/>
          </a:xfrm>
        </p:grpSpPr>
        <p:sp>
          <p:nvSpPr>
            <p:cNvPr id="48" name="矩形: 圆角 48"/>
            <p:cNvSpPr/>
            <p:nvPr/>
          </p:nvSpPr>
          <p:spPr>
            <a:xfrm>
              <a:off x="2528020" y="3528271"/>
              <a:ext cx="4207589" cy="1396153"/>
            </a:xfrm>
            <a:prstGeom prst="trapezoid">
              <a:avLst/>
            </a:prstGeom>
            <a:solidFill>
              <a:srgbClr val="FFFFFF"/>
            </a:solidFill>
            <a:ln w="12700" cap="flat" cmpd="sng" algn="ctr">
              <a:solidFill>
                <a:schemeClr val="accent5">
                  <a:alpha val="50000"/>
                </a:schemeClr>
              </a:solidFill>
              <a:prstDash val="dash"/>
              <a:miter lim="800000"/>
            </a:ln>
            <a:effectLst/>
          </p:spPr>
          <p:txBody>
            <a:bodyPr lIns="82296" tIns="41148" rIns="82296" bIns="41148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2659685" y="3668206"/>
              <a:ext cx="3944259" cy="1116282"/>
              <a:chOff x="2664795" y="3686077"/>
              <a:chExt cx="3944259" cy="1116282"/>
            </a:xfrm>
          </p:grpSpPr>
          <p:sp>
            <p:nvSpPr>
              <p:cNvPr id="73" name="Rectangle: Top Corners Rounded 32"/>
              <p:cNvSpPr/>
              <p:nvPr/>
            </p:nvSpPr>
            <p:spPr>
              <a:xfrm>
                <a:off x="2855411" y="3686077"/>
                <a:ext cx="3593014" cy="432000"/>
              </a:xfrm>
              <a:prstGeom prst="trapezoid">
                <a:avLst/>
              </a:prstGeom>
              <a:solidFill>
                <a:schemeClr val="accent5"/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运营管理</a:t>
                </a:r>
                <a:endParaRPr lang="zh-CN" alt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4" name="Rectangle: Top Corners Rounded 32"/>
              <p:cNvSpPr/>
              <p:nvPr/>
            </p:nvSpPr>
            <p:spPr>
              <a:xfrm>
                <a:off x="3380050" y="4252860"/>
                <a:ext cx="566075" cy="5494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采购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管理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5" name="Rectangle: Top Corners Rounded 32"/>
              <p:cNvSpPr/>
              <p:nvPr/>
            </p:nvSpPr>
            <p:spPr>
              <a:xfrm>
                <a:off x="4029274" y="4252860"/>
                <a:ext cx="566075" cy="5494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制造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管理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6" name="Rectangle: Top Corners Rounded 32"/>
              <p:cNvSpPr/>
              <p:nvPr/>
            </p:nvSpPr>
            <p:spPr>
              <a:xfrm>
                <a:off x="4678498" y="4252860"/>
                <a:ext cx="566075" cy="5494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库存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管理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7" name="Rectangle: Top Corners Rounded 32"/>
              <p:cNvSpPr/>
              <p:nvPr/>
            </p:nvSpPr>
            <p:spPr>
              <a:xfrm>
                <a:off x="5327722" y="4252860"/>
                <a:ext cx="566075" cy="5494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物流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管理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8" name="任意多边形: 形状 1178"/>
              <p:cNvSpPr/>
              <p:nvPr/>
            </p:nvSpPr>
            <p:spPr>
              <a:xfrm>
                <a:off x="5976948" y="4252859"/>
                <a:ext cx="632106" cy="549500"/>
              </a:xfrm>
              <a:custGeom>
                <a:avLst/>
                <a:gdLst>
                  <a:gd name="connsiteX0" fmla="*/ 0 w 632106"/>
                  <a:gd name="connsiteY0" fmla="*/ 0 h 549500"/>
                  <a:gd name="connsiteX1" fmla="*/ 488727 w 632106"/>
                  <a:gd name="connsiteY1" fmla="*/ 0 h 549500"/>
                  <a:gd name="connsiteX2" fmla="*/ 488727 w 632106"/>
                  <a:gd name="connsiteY2" fmla="*/ 1 h 549500"/>
                  <a:gd name="connsiteX3" fmla="*/ 498754 w 632106"/>
                  <a:gd name="connsiteY3" fmla="*/ 1 h 549500"/>
                  <a:gd name="connsiteX4" fmla="*/ 632106 w 632106"/>
                  <a:gd name="connsiteY4" fmla="*/ 549500 h 549500"/>
                  <a:gd name="connsiteX5" fmla="*/ 0 w 632106"/>
                  <a:gd name="connsiteY5" fmla="*/ 549500 h 549500"/>
                  <a:gd name="connsiteX6" fmla="*/ 1 w 632106"/>
                  <a:gd name="connsiteY6" fmla="*/ 549499 h 549500"/>
                  <a:gd name="connsiteX7" fmla="*/ 0 w 632106"/>
                  <a:gd name="connsiteY7" fmla="*/ 549499 h 549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106" h="549500">
                    <a:moveTo>
                      <a:pt x="0" y="0"/>
                    </a:moveTo>
                    <a:lnTo>
                      <a:pt x="488727" y="0"/>
                    </a:lnTo>
                    <a:lnTo>
                      <a:pt x="488727" y="1"/>
                    </a:lnTo>
                    <a:lnTo>
                      <a:pt x="498754" y="1"/>
                    </a:lnTo>
                    <a:lnTo>
                      <a:pt x="632106" y="549500"/>
                    </a:lnTo>
                    <a:lnTo>
                      <a:pt x="0" y="549500"/>
                    </a:lnTo>
                    <a:lnTo>
                      <a:pt x="1" y="549499"/>
                    </a:lnTo>
                    <a:lnTo>
                      <a:pt x="0" y="549499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销售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管理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9" name="任意多边形: 形状 1180"/>
              <p:cNvSpPr/>
              <p:nvPr/>
            </p:nvSpPr>
            <p:spPr>
              <a:xfrm flipH="1">
                <a:off x="2664795" y="4252859"/>
                <a:ext cx="632106" cy="549500"/>
              </a:xfrm>
              <a:custGeom>
                <a:avLst/>
                <a:gdLst>
                  <a:gd name="connsiteX0" fmla="*/ 0 w 632106"/>
                  <a:gd name="connsiteY0" fmla="*/ 0 h 549500"/>
                  <a:gd name="connsiteX1" fmla="*/ 488727 w 632106"/>
                  <a:gd name="connsiteY1" fmla="*/ 0 h 549500"/>
                  <a:gd name="connsiteX2" fmla="*/ 488727 w 632106"/>
                  <a:gd name="connsiteY2" fmla="*/ 1 h 549500"/>
                  <a:gd name="connsiteX3" fmla="*/ 498754 w 632106"/>
                  <a:gd name="connsiteY3" fmla="*/ 1 h 549500"/>
                  <a:gd name="connsiteX4" fmla="*/ 632106 w 632106"/>
                  <a:gd name="connsiteY4" fmla="*/ 549500 h 549500"/>
                  <a:gd name="connsiteX5" fmla="*/ 0 w 632106"/>
                  <a:gd name="connsiteY5" fmla="*/ 549500 h 549500"/>
                  <a:gd name="connsiteX6" fmla="*/ 1 w 632106"/>
                  <a:gd name="connsiteY6" fmla="*/ 549499 h 549500"/>
                  <a:gd name="connsiteX7" fmla="*/ 0 w 632106"/>
                  <a:gd name="connsiteY7" fmla="*/ 549499 h 549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106" h="549500">
                    <a:moveTo>
                      <a:pt x="0" y="0"/>
                    </a:moveTo>
                    <a:lnTo>
                      <a:pt x="488727" y="0"/>
                    </a:lnTo>
                    <a:lnTo>
                      <a:pt x="488727" y="1"/>
                    </a:lnTo>
                    <a:lnTo>
                      <a:pt x="498754" y="1"/>
                    </a:lnTo>
                    <a:lnTo>
                      <a:pt x="632106" y="549500"/>
                    </a:lnTo>
                    <a:lnTo>
                      <a:pt x="0" y="549500"/>
                    </a:lnTo>
                    <a:lnTo>
                      <a:pt x="1" y="549499"/>
                    </a:lnTo>
                    <a:lnTo>
                      <a:pt x="0" y="549499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产品</a:t>
                </a:r>
                <a:endParaRPr lang="en-US" altLang="zh-CN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开发</a:t>
                </a:r>
                <a:endParaRPr 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</p:grpSp>
      <p:sp>
        <p:nvSpPr>
          <p:cNvPr id="90" name="矩形: 圆角 48"/>
          <p:cNvSpPr/>
          <p:nvPr/>
        </p:nvSpPr>
        <p:spPr>
          <a:xfrm>
            <a:off x="2197735" y="2265680"/>
            <a:ext cx="3493135" cy="935355"/>
          </a:xfrm>
          <a:prstGeom prst="trapezoid">
            <a:avLst/>
          </a:prstGeom>
          <a:solidFill>
            <a:srgbClr val="FFFFFF"/>
          </a:solidFill>
          <a:ln w="12700" cap="flat" cmpd="sng" algn="ctr">
            <a:solidFill>
              <a:schemeClr val="accent2">
                <a:alpha val="70000"/>
              </a:schemeClr>
            </a:solidFill>
            <a:prstDash val="dash"/>
            <a:miter lim="800000"/>
          </a:ln>
          <a:effectLst/>
        </p:spPr>
        <p:txBody>
          <a:bodyPr lIns="82296" tIns="41148" rIns="82296" bIns="41148"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5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: Top Corners Rounded 32"/>
          <p:cNvSpPr/>
          <p:nvPr/>
        </p:nvSpPr>
        <p:spPr>
          <a:xfrm>
            <a:off x="3200400" y="2424430"/>
            <a:ext cx="715010" cy="617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机会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识别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2" name="Rectangle: Top Corners Rounded 32"/>
          <p:cNvSpPr/>
          <p:nvPr/>
        </p:nvSpPr>
        <p:spPr>
          <a:xfrm>
            <a:off x="3971925" y="2424430"/>
            <a:ext cx="715010" cy="6178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减排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分析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3" name="任意多边形: 形状 1183"/>
          <p:cNvSpPr/>
          <p:nvPr/>
        </p:nvSpPr>
        <p:spPr>
          <a:xfrm>
            <a:off x="4743450" y="2424430"/>
            <a:ext cx="798830" cy="617855"/>
          </a:xfrm>
          <a:custGeom>
            <a:avLst/>
            <a:gdLst>
              <a:gd name="connsiteX0" fmla="*/ 0 w 632106"/>
              <a:gd name="connsiteY0" fmla="*/ 0 h 549500"/>
              <a:gd name="connsiteX1" fmla="*/ 488727 w 632106"/>
              <a:gd name="connsiteY1" fmla="*/ 0 h 549500"/>
              <a:gd name="connsiteX2" fmla="*/ 488727 w 632106"/>
              <a:gd name="connsiteY2" fmla="*/ 1 h 549500"/>
              <a:gd name="connsiteX3" fmla="*/ 498754 w 632106"/>
              <a:gd name="connsiteY3" fmla="*/ 1 h 549500"/>
              <a:gd name="connsiteX4" fmla="*/ 632106 w 632106"/>
              <a:gd name="connsiteY4" fmla="*/ 549500 h 549500"/>
              <a:gd name="connsiteX5" fmla="*/ 0 w 632106"/>
              <a:gd name="connsiteY5" fmla="*/ 549500 h 549500"/>
              <a:gd name="connsiteX6" fmla="*/ 1 w 632106"/>
              <a:gd name="connsiteY6" fmla="*/ 549499 h 549500"/>
              <a:gd name="connsiteX7" fmla="*/ 0 w 632106"/>
              <a:gd name="connsiteY7" fmla="*/ 549499 h 54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2106" h="549500">
                <a:moveTo>
                  <a:pt x="0" y="0"/>
                </a:moveTo>
                <a:lnTo>
                  <a:pt x="488727" y="0"/>
                </a:lnTo>
                <a:lnTo>
                  <a:pt x="488727" y="1"/>
                </a:lnTo>
                <a:lnTo>
                  <a:pt x="498754" y="1"/>
                </a:lnTo>
                <a:lnTo>
                  <a:pt x="632106" y="549500"/>
                </a:lnTo>
                <a:lnTo>
                  <a:pt x="0" y="549500"/>
                </a:lnTo>
                <a:lnTo>
                  <a:pt x="1" y="549499"/>
                </a:lnTo>
                <a:lnTo>
                  <a:pt x="0" y="54949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实现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路径</a:t>
            </a:r>
            <a:endParaRPr lang="zh-CN" alt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94" name="任意多边形: 形状 1184"/>
          <p:cNvSpPr/>
          <p:nvPr/>
        </p:nvSpPr>
        <p:spPr>
          <a:xfrm flipH="1">
            <a:off x="2345690" y="2424430"/>
            <a:ext cx="798830" cy="617855"/>
          </a:xfrm>
          <a:custGeom>
            <a:avLst/>
            <a:gdLst>
              <a:gd name="connsiteX0" fmla="*/ 0 w 632106"/>
              <a:gd name="connsiteY0" fmla="*/ 0 h 549500"/>
              <a:gd name="connsiteX1" fmla="*/ 488727 w 632106"/>
              <a:gd name="connsiteY1" fmla="*/ 0 h 549500"/>
              <a:gd name="connsiteX2" fmla="*/ 488727 w 632106"/>
              <a:gd name="connsiteY2" fmla="*/ 1 h 549500"/>
              <a:gd name="connsiteX3" fmla="*/ 498754 w 632106"/>
              <a:gd name="connsiteY3" fmla="*/ 1 h 549500"/>
              <a:gd name="connsiteX4" fmla="*/ 632106 w 632106"/>
              <a:gd name="connsiteY4" fmla="*/ 549500 h 549500"/>
              <a:gd name="connsiteX5" fmla="*/ 0 w 632106"/>
              <a:gd name="connsiteY5" fmla="*/ 549500 h 549500"/>
              <a:gd name="connsiteX6" fmla="*/ 1 w 632106"/>
              <a:gd name="connsiteY6" fmla="*/ 549499 h 549500"/>
              <a:gd name="connsiteX7" fmla="*/ 0 w 632106"/>
              <a:gd name="connsiteY7" fmla="*/ 549499 h 54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2106" h="549500">
                <a:moveTo>
                  <a:pt x="0" y="0"/>
                </a:moveTo>
                <a:lnTo>
                  <a:pt x="488727" y="0"/>
                </a:lnTo>
                <a:lnTo>
                  <a:pt x="488727" y="1"/>
                </a:lnTo>
                <a:lnTo>
                  <a:pt x="498754" y="1"/>
                </a:lnTo>
                <a:lnTo>
                  <a:pt x="632106" y="549500"/>
                </a:lnTo>
                <a:lnTo>
                  <a:pt x="0" y="549500"/>
                </a:lnTo>
                <a:lnTo>
                  <a:pt x="1" y="549499"/>
                </a:lnTo>
                <a:lnTo>
                  <a:pt x="0" y="54949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>
            <a:outerShdw blurRad="368300" dist="203200" dir="5400000" sx="98000" sy="98000" algn="t" rotWithShape="0">
              <a:sysClr val="windowText" lastClr="000000">
                <a:lumMod val="95000"/>
                <a:lumOff val="5000"/>
                <a:alpha val="18000"/>
              </a:sysClr>
            </a:outerShdw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减碳</a:t>
            </a:r>
            <a:endParaRPr lang="en-US" altLang="zh-CN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/>
            <a:r>
              <a:rPr lang="zh-CN" altLang="en-US" sz="1200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评估</a:t>
            </a:r>
            <a:endParaRPr lang="en-US" sz="1200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1543685" y="5330825"/>
            <a:ext cx="4801235" cy="935355"/>
            <a:chOff x="2310380" y="5113514"/>
            <a:chExt cx="4642869" cy="831497"/>
          </a:xfrm>
        </p:grpSpPr>
        <p:sp>
          <p:nvSpPr>
            <p:cNvPr id="96" name="矩形: 圆角 48"/>
            <p:cNvSpPr/>
            <p:nvPr/>
          </p:nvSpPr>
          <p:spPr>
            <a:xfrm>
              <a:off x="2310380" y="5113514"/>
              <a:ext cx="4642869" cy="831497"/>
            </a:xfrm>
            <a:prstGeom prst="trapezoid">
              <a:avLst/>
            </a:prstGeom>
            <a:solidFill>
              <a:srgbClr val="FFFFFF"/>
            </a:solidFill>
            <a:ln w="12700" cap="flat" cmpd="sng" algn="ctr">
              <a:solidFill>
                <a:srgbClr val="000000">
                  <a:lumMod val="65000"/>
                  <a:lumOff val="35000"/>
                  <a:alpha val="50000"/>
                </a:srgbClr>
              </a:solidFill>
              <a:prstDash val="dash"/>
              <a:miter lim="800000"/>
            </a:ln>
            <a:effectLst/>
          </p:spPr>
          <p:txBody>
            <a:bodyPr lIns="82296" tIns="41148" rIns="82296" bIns="41148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97" name="组合 96"/>
            <p:cNvGrpSpPr/>
            <p:nvPr/>
          </p:nvGrpSpPr>
          <p:grpSpPr>
            <a:xfrm>
              <a:off x="2454672" y="5254512"/>
              <a:ext cx="4354284" cy="549500"/>
              <a:chOff x="2471278" y="5267761"/>
              <a:chExt cx="4354284" cy="549500"/>
            </a:xfrm>
          </p:grpSpPr>
          <p:sp>
            <p:nvSpPr>
              <p:cNvPr id="98" name="任意多边形: 形状 1186"/>
              <p:cNvSpPr/>
              <p:nvPr/>
            </p:nvSpPr>
            <p:spPr>
              <a:xfrm flipH="1">
                <a:off x="2471278" y="5267761"/>
                <a:ext cx="2144114" cy="549500"/>
              </a:xfrm>
              <a:custGeom>
                <a:avLst/>
                <a:gdLst>
                  <a:gd name="connsiteX0" fmla="*/ 0 w 632106"/>
                  <a:gd name="connsiteY0" fmla="*/ 0 h 549500"/>
                  <a:gd name="connsiteX1" fmla="*/ 488727 w 632106"/>
                  <a:gd name="connsiteY1" fmla="*/ 0 h 549500"/>
                  <a:gd name="connsiteX2" fmla="*/ 488727 w 632106"/>
                  <a:gd name="connsiteY2" fmla="*/ 1 h 549500"/>
                  <a:gd name="connsiteX3" fmla="*/ 498754 w 632106"/>
                  <a:gd name="connsiteY3" fmla="*/ 1 h 549500"/>
                  <a:gd name="connsiteX4" fmla="*/ 632106 w 632106"/>
                  <a:gd name="connsiteY4" fmla="*/ 549500 h 549500"/>
                  <a:gd name="connsiteX5" fmla="*/ 0 w 632106"/>
                  <a:gd name="connsiteY5" fmla="*/ 549500 h 549500"/>
                  <a:gd name="connsiteX6" fmla="*/ 1 w 632106"/>
                  <a:gd name="connsiteY6" fmla="*/ 549499 h 549500"/>
                  <a:gd name="connsiteX7" fmla="*/ 0 w 632106"/>
                  <a:gd name="connsiteY7" fmla="*/ 549499 h 549500"/>
                  <a:gd name="connsiteX0-1" fmla="*/ 0 w 632106"/>
                  <a:gd name="connsiteY0-2" fmla="*/ 0 h 549500"/>
                  <a:gd name="connsiteX1-3" fmla="*/ 488727 w 632106"/>
                  <a:gd name="connsiteY1-4" fmla="*/ 0 h 549500"/>
                  <a:gd name="connsiteX2-5" fmla="*/ 488727 w 632106"/>
                  <a:gd name="connsiteY2-6" fmla="*/ 1 h 549500"/>
                  <a:gd name="connsiteX3-7" fmla="*/ 591420 w 632106"/>
                  <a:gd name="connsiteY3-8" fmla="*/ 1 h 549500"/>
                  <a:gd name="connsiteX4-9" fmla="*/ 632106 w 632106"/>
                  <a:gd name="connsiteY4-10" fmla="*/ 549500 h 549500"/>
                  <a:gd name="connsiteX5-11" fmla="*/ 0 w 632106"/>
                  <a:gd name="connsiteY5-12" fmla="*/ 549500 h 549500"/>
                  <a:gd name="connsiteX6-13" fmla="*/ 1 w 632106"/>
                  <a:gd name="connsiteY6-14" fmla="*/ 549499 h 549500"/>
                  <a:gd name="connsiteX7-15" fmla="*/ 0 w 632106"/>
                  <a:gd name="connsiteY7-16" fmla="*/ 549499 h 549500"/>
                  <a:gd name="connsiteX8" fmla="*/ 0 w 632106"/>
                  <a:gd name="connsiteY8" fmla="*/ 0 h 5495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2106" h="549500">
                    <a:moveTo>
                      <a:pt x="0" y="0"/>
                    </a:moveTo>
                    <a:lnTo>
                      <a:pt x="488727" y="0"/>
                    </a:lnTo>
                    <a:lnTo>
                      <a:pt x="488727" y="1"/>
                    </a:lnTo>
                    <a:lnTo>
                      <a:pt x="591420" y="1"/>
                    </a:lnTo>
                    <a:lnTo>
                      <a:pt x="632106" y="549500"/>
                    </a:lnTo>
                    <a:lnTo>
                      <a:pt x="0" y="549500"/>
                    </a:lnTo>
                    <a:lnTo>
                      <a:pt x="1" y="549499"/>
                    </a:lnTo>
                    <a:lnTo>
                      <a:pt x="0" y="549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数字化技术</a:t>
                </a:r>
                <a:endParaRPr lang="zh-CN" alt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99" name="任意多边形: 形状 1187"/>
              <p:cNvSpPr/>
              <p:nvPr/>
            </p:nvSpPr>
            <p:spPr>
              <a:xfrm>
                <a:off x="4681448" y="5267761"/>
                <a:ext cx="2144114" cy="549500"/>
              </a:xfrm>
              <a:custGeom>
                <a:avLst/>
                <a:gdLst>
                  <a:gd name="connsiteX0" fmla="*/ 0 w 632106"/>
                  <a:gd name="connsiteY0" fmla="*/ 0 h 549500"/>
                  <a:gd name="connsiteX1" fmla="*/ 488727 w 632106"/>
                  <a:gd name="connsiteY1" fmla="*/ 0 h 549500"/>
                  <a:gd name="connsiteX2" fmla="*/ 488727 w 632106"/>
                  <a:gd name="connsiteY2" fmla="*/ 1 h 549500"/>
                  <a:gd name="connsiteX3" fmla="*/ 498754 w 632106"/>
                  <a:gd name="connsiteY3" fmla="*/ 1 h 549500"/>
                  <a:gd name="connsiteX4" fmla="*/ 632106 w 632106"/>
                  <a:gd name="connsiteY4" fmla="*/ 549500 h 549500"/>
                  <a:gd name="connsiteX5" fmla="*/ 0 w 632106"/>
                  <a:gd name="connsiteY5" fmla="*/ 549500 h 549500"/>
                  <a:gd name="connsiteX6" fmla="*/ 1 w 632106"/>
                  <a:gd name="connsiteY6" fmla="*/ 549499 h 549500"/>
                  <a:gd name="connsiteX7" fmla="*/ 0 w 632106"/>
                  <a:gd name="connsiteY7" fmla="*/ 549499 h 549500"/>
                  <a:gd name="connsiteX0-1" fmla="*/ 0 w 632106"/>
                  <a:gd name="connsiteY0-2" fmla="*/ 0 h 549500"/>
                  <a:gd name="connsiteX1-3" fmla="*/ 488727 w 632106"/>
                  <a:gd name="connsiteY1-4" fmla="*/ 0 h 549500"/>
                  <a:gd name="connsiteX2-5" fmla="*/ 488727 w 632106"/>
                  <a:gd name="connsiteY2-6" fmla="*/ 1 h 549500"/>
                  <a:gd name="connsiteX3-7" fmla="*/ 591420 w 632106"/>
                  <a:gd name="connsiteY3-8" fmla="*/ 1 h 549500"/>
                  <a:gd name="connsiteX4-9" fmla="*/ 632106 w 632106"/>
                  <a:gd name="connsiteY4-10" fmla="*/ 549500 h 549500"/>
                  <a:gd name="connsiteX5-11" fmla="*/ 0 w 632106"/>
                  <a:gd name="connsiteY5-12" fmla="*/ 549500 h 549500"/>
                  <a:gd name="connsiteX6-13" fmla="*/ 1 w 632106"/>
                  <a:gd name="connsiteY6-14" fmla="*/ 549499 h 549500"/>
                  <a:gd name="connsiteX7-15" fmla="*/ 0 w 632106"/>
                  <a:gd name="connsiteY7-16" fmla="*/ 549499 h 549500"/>
                  <a:gd name="connsiteX8" fmla="*/ 0 w 632106"/>
                  <a:gd name="connsiteY8" fmla="*/ 0 h 5495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2106" h="549500">
                    <a:moveTo>
                      <a:pt x="0" y="0"/>
                    </a:moveTo>
                    <a:lnTo>
                      <a:pt x="488727" y="0"/>
                    </a:lnTo>
                    <a:lnTo>
                      <a:pt x="488727" y="1"/>
                    </a:lnTo>
                    <a:lnTo>
                      <a:pt x="591420" y="1"/>
                    </a:lnTo>
                    <a:lnTo>
                      <a:pt x="632106" y="549500"/>
                    </a:lnTo>
                    <a:lnTo>
                      <a:pt x="0" y="549500"/>
                    </a:lnTo>
                    <a:lnTo>
                      <a:pt x="1" y="549499"/>
                    </a:lnTo>
                    <a:lnTo>
                      <a:pt x="0" y="5494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 algn="ctr">
                <a:noFill/>
                <a:prstDash val="solid"/>
                <a:miter lim="800000"/>
              </a:ln>
              <a:effectLst>
                <a:outerShdw blurRad="368300" dist="203200" dir="5400000" sx="98000" sy="98000" algn="t" rotWithShape="0">
                  <a:sysClr val="windowText" lastClr="000000">
                    <a:lumMod val="95000"/>
                    <a:lumOff val="5000"/>
                    <a:alpha val="18000"/>
                  </a:sysClr>
                </a:outerShdw>
              </a:effectLst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200" kern="0" dirty="0">
                    <a:solidFill>
                      <a:srgbClr val="FFFFFF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组织与人才</a:t>
                </a:r>
                <a:endParaRPr lang="zh-CN" altLang="en-US" sz="1200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</p:grpSp>
      <p:sp>
        <p:nvSpPr>
          <p:cNvPr id="100" name="箭头: 上下 1188"/>
          <p:cNvSpPr/>
          <p:nvPr/>
        </p:nvSpPr>
        <p:spPr>
          <a:xfrm>
            <a:off x="3490595" y="2050415"/>
            <a:ext cx="186055" cy="323850"/>
          </a:xfrm>
          <a:prstGeom prst="up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箭头: 上下 1195"/>
          <p:cNvSpPr/>
          <p:nvPr/>
        </p:nvSpPr>
        <p:spPr>
          <a:xfrm>
            <a:off x="4211955" y="2050415"/>
            <a:ext cx="186055" cy="323850"/>
          </a:xfrm>
          <a:prstGeom prst="up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2708910" y="3178810"/>
            <a:ext cx="2471420" cy="323850"/>
            <a:chOff x="3358766" y="3172759"/>
            <a:chExt cx="2389902" cy="288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3" name="箭头: 上下 1196"/>
            <p:cNvSpPr/>
            <p:nvPr/>
          </p:nvSpPr>
          <p:spPr>
            <a:xfrm>
              <a:off x="3358766" y="3172759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" name="箭头: 上下 1197"/>
            <p:cNvSpPr/>
            <p:nvPr/>
          </p:nvSpPr>
          <p:spPr>
            <a:xfrm>
              <a:off x="4095400" y="3172759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5" name="箭头: 上下 1198"/>
            <p:cNvSpPr/>
            <p:nvPr/>
          </p:nvSpPr>
          <p:spPr>
            <a:xfrm>
              <a:off x="4832034" y="3172759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6" name="箭头: 上下 1199"/>
            <p:cNvSpPr/>
            <p:nvPr/>
          </p:nvSpPr>
          <p:spPr>
            <a:xfrm>
              <a:off x="5568668" y="3172759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2066925" y="5029200"/>
            <a:ext cx="3755390" cy="323850"/>
            <a:chOff x="2810353" y="4819664"/>
            <a:chExt cx="3631261" cy="288000"/>
          </a:xfrm>
          <a:gradFill>
            <a:gsLst>
              <a:gs pos="21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</p:grpSpPr>
        <p:sp>
          <p:nvSpPr>
            <p:cNvPr id="108" name="箭头: 上下 1212"/>
            <p:cNvSpPr/>
            <p:nvPr/>
          </p:nvSpPr>
          <p:spPr>
            <a:xfrm>
              <a:off x="2810353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9" name="箭头: 上下 1213"/>
            <p:cNvSpPr/>
            <p:nvPr/>
          </p:nvSpPr>
          <p:spPr>
            <a:xfrm>
              <a:off x="3500605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箭头: 上下 1214"/>
            <p:cNvSpPr/>
            <p:nvPr/>
          </p:nvSpPr>
          <p:spPr>
            <a:xfrm>
              <a:off x="4190857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2" name="箭头: 上下 1215"/>
            <p:cNvSpPr/>
            <p:nvPr/>
          </p:nvSpPr>
          <p:spPr>
            <a:xfrm>
              <a:off x="4881109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3" name="箭头: 上下 1216"/>
            <p:cNvSpPr/>
            <p:nvPr/>
          </p:nvSpPr>
          <p:spPr>
            <a:xfrm>
              <a:off x="5571361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箭头: 上下 1217"/>
            <p:cNvSpPr/>
            <p:nvPr/>
          </p:nvSpPr>
          <p:spPr>
            <a:xfrm>
              <a:off x="6261614" y="4819664"/>
              <a:ext cx="180000" cy="288000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24396B">
                <a:shade val="15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5" name="Gray1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832284" y="1633604"/>
            <a:ext cx="311150" cy="311150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808905" y="1711441"/>
            <a:ext cx="1692136" cy="80237"/>
            <a:chOff x="4799255" y="2346441"/>
            <a:chExt cx="1692136" cy="80237"/>
          </a:xfrm>
        </p:grpSpPr>
        <p:sp>
          <p:nvSpPr>
            <p:cNvPr id="117" name="Gray1"/>
            <p:cNvSpPr>
              <a:spLocks noChangeAspect="1"/>
            </p:cNvSpPr>
            <p:nvPr/>
          </p:nvSpPr>
          <p:spPr bwMode="auto">
            <a:xfrm>
              <a:off x="4799255" y="2346441"/>
              <a:ext cx="80237" cy="8023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eaLnBrk="0" hangingPunct="0">
                <a:defRPr/>
              </a:pPr>
              <a:endPara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cxnSp>
          <p:nvCxnSpPr>
            <p:cNvPr id="118" name="直线箭头连接符 124"/>
            <p:cNvCxnSpPr/>
            <p:nvPr/>
          </p:nvCxnSpPr>
          <p:spPr>
            <a:xfrm>
              <a:off x="4878491" y="2386559"/>
              <a:ext cx="1612900" cy="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lgDash"/>
              <a:tailEnd type="triangle"/>
            </a:ln>
          </p:spPr>
          <p:style>
            <a:lnRef idx="1">
              <a:srgbClr val="1C4274"/>
            </a:lnRef>
            <a:fillRef idx="0">
              <a:srgbClr val="1C4274"/>
            </a:fillRef>
            <a:effectRef idx="0">
              <a:srgbClr val="1C4274"/>
            </a:effectRef>
            <a:fontRef idx="minor">
              <a:srgbClr val="000000"/>
            </a:fontRef>
          </p:style>
        </p:cxnSp>
      </p:grpSp>
      <p:cxnSp>
        <p:nvCxnSpPr>
          <p:cNvPr id="119" name="直接连接符 118"/>
          <p:cNvCxnSpPr/>
          <p:nvPr/>
        </p:nvCxnSpPr>
        <p:spPr>
          <a:xfrm>
            <a:off x="7529195" y="2270760"/>
            <a:ext cx="412686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20" name="直接连接符 1186"/>
          <p:cNvCxnSpPr/>
          <p:nvPr/>
        </p:nvCxnSpPr>
        <p:spPr>
          <a:xfrm flipV="1">
            <a:off x="338887" y="6259422"/>
            <a:ext cx="831215" cy="6985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grpSp>
        <p:nvGrpSpPr>
          <p:cNvPr id="121" name="组合 120"/>
          <p:cNvGrpSpPr/>
          <p:nvPr/>
        </p:nvGrpSpPr>
        <p:grpSpPr>
          <a:xfrm>
            <a:off x="6116245" y="2840063"/>
            <a:ext cx="1372096" cy="80010"/>
            <a:chOff x="4799255" y="2346441"/>
            <a:chExt cx="1372096" cy="80237"/>
          </a:xfrm>
        </p:grpSpPr>
        <p:sp>
          <p:nvSpPr>
            <p:cNvPr id="122" name="Gray1"/>
            <p:cNvSpPr>
              <a:spLocks noChangeAspect="1"/>
            </p:cNvSpPr>
            <p:nvPr/>
          </p:nvSpPr>
          <p:spPr bwMode="auto">
            <a:xfrm>
              <a:off x="4799255" y="2346441"/>
              <a:ext cx="80237" cy="8023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eaLnBrk="0" hangingPunct="0">
                <a:defRPr/>
              </a:pPr>
              <a:endPara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cxnSp>
          <p:nvCxnSpPr>
            <p:cNvPr id="123" name="直线箭头连接符 124"/>
            <p:cNvCxnSpPr/>
            <p:nvPr/>
          </p:nvCxnSpPr>
          <p:spPr>
            <a:xfrm>
              <a:off x="4878491" y="2386559"/>
              <a:ext cx="1292860" cy="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lgDash"/>
              <a:tailEnd type="triangle"/>
            </a:ln>
          </p:spPr>
          <p:style>
            <a:lnRef idx="1">
              <a:srgbClr val="1C4274"/>
            </a:lnRef>
            <a:fillRef idx="0">
              <a:srgbClr val="1C4274"/>
            </a:fillRef>
            <a:effectRef idx="0">
              <a:srgbClr val="1C4274"/>
            </a:effectRef>
            <a:fontRef idx="minor">
              <a:srgbClr val="000000"/>
            </a:fontRef>
          </p:style>
        </p:cxnSp>
      </p:grpSp>
      <p:grpSp>
        <p:nvGrpSpPr>
          <p:cNvPr id="130" name="组合 129"/>
          <p:cNvGrpSpPr/>
          <p:nvPr/>
        </p:nvGrpSpPr>
        <p:grpSpPr>
          <a:xfrm>
            <a:off x="6381675" y="4364698"/>
            <a:ext cx="1138416" cy="80010"/>
            <a:chOff x="4799255" y="2346441"/>
            <a:chExt cx="1138416" cy="80237"/>
          </a:xfrm>
        </p:grpSpPr>
        <p:sp>
          <p:nvSpPr>
            <p:cNvPr id="132" name="Gray1"/>
            <p:cNvSpPr>
              <a:spLocks noChangeAspect="1"/>
            </p:cNvSpPr>
            <p:nvPr/>
          </p:nvSpPr>
          <p:spPr bwMode="auto">
            <a:xfrm>
              <a:off x="4799255" y="2346441"/>
              <a:ext cx="80237" cy="80237"/>
            </a:xfrm>
            <a:prstGeom prst="ellipse">
              <a:avLst/>
            </a:prstGeom>
            <a:solidFill>
              <a:schemeClr val="accent5"/>
            </a:solidFill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eaLnBrk="0" hangingPunct="0">
                <a:defRPr/>
              </a:pPr>
              <a:endPara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cxnSp>
          <p:nvCxnSpPr>
            <p:cNvPr id="136" name="直线箭头连接符 124"/>
            <p:cNvCxnSpPr/>
            <p:nvPr/>
          </p:nvCxnSpPr>
          <p:spPr>
            <a:xfrm>
              <a:off x="4878491" y="2386559"/>
              <a:ext cx="1059180" cy="0"/>
            </a:xfrm>
            <a:prstGeom prst="straightConnector1">
              <a:avLst/>
            </a:prstGeom>
            <a:ln>
              <a:solidFill>
                <a:schemeClr val="accent5"/>
              </a:solidFill>
              <a:prstDash val="lgDash"/>
              <a:tailEnd type="triangle"/>
            </a:ln>
          </p:spPr>
          <p:style>
            <a:lnRef idx="1">
              <a:srgbClr val="1C4274"/>
            </a:lnRef>
            <a:fillRef idx="0">
              <a:srgbClr val="1C4274"/>
            </a:fillRef>
            <a:effectRef idx="0">
              <a:srgbClr val="1C4274"/>
            </a:effectRef>
            <a:fontRef idx="minor">
              <a:srgbClr val="000000"/>
            </a:fontRef>
          </p:style>
        </p:cxnSp>
      </p:grpSp>
      <p:grpSp>
        <p:nvGrpSpPr>
          <p:cNvPr id="137" name="组合 136"/>
          <p:cNvGrpSpPr/>
          <p:nvPr/>
        </p:nvGrpSpPr>
        <p:grpSpPr>
          <a:xfrm>
            <a:off x="6644565" y="5793448"/>
            <a:ext cx="891401" cy="80010"/>
            <a:chOff x="4799255" y="2346441"/>
            <a:chExt cx="891401" cy="80237"/>
          </a:xfrm>
        </p:grpSpPr>
        <p:sp>
          <p:nvSpPr>
            <p:cNvPr id="142" name="Gray1"/>
            <p:cNvSpPr>
              <a:spLocks noChangeAspect="1"/>
            </p:cNvSpPr>
            <p:nvPr/>
          </p:nvSpPr>
          <p:spPr bwMode="auto">
            <a:xfrm>
              <a:off x="4799255" y="2346441"/>
              <a:ext cx="80237" cy="8023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/>
            <a:lstStyle/>
            <a:p>
              <a:pPr algn="ctr" eaLnBrk="0" hangingPunct="0">
                <a:defRPr/>
              </a:pPr>
              <a:endPara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cxnSp>
          <p:nvCxnSpPr>
            <p:cNvPr id="144" name="直线箭头连接符 124"/>
            <p:cNvCxnSpPr/>
            <p:nvPr/>
          </p:nvCxnSpPr>
          <p:spPr>
            <a:xfrm>
              <a:off x="4878491" y="2386559"/>
              <a:ext cx="812165" cy="0"/>
            </a:xfrm>
            <a:prstGeom prst="straightConnector1">
              <a:avLst/>
            </a:prstGeom>
            <a:ln>
              <a:solidFill>
                <a:schemeClr val="accent1"/>
              </a:solidFill>
              <a:prstDash val="lgDash"/>
              <a:tailEnd type="triangle"/>
            </a:ln>
          </p:spPr>
          <p:style>
            <a:lnRef idx="1">
              <a:srgbClr val="1C4274"/>
            </a:lnRef>
            <a:fillRef idx="0">
              <a:srgbClr val="1C4274"/>
            </a:fillRef>
            <a:effectRef idx="0">
              <a:srgbClr val="1C4274"/>
            </a:effectRef>
            <a:fontRef idx="minor">
              <a:srgbClr val="000000"/>
            </a:fontRef>
          </p:style>
        </p:cxnSp>
      </p:grpSp>
      <p:cxnSp>
        <p:nvCxnSpPr>
          <p:cNvPr id="145" name="直接连接符 144"/>
          <p:cNvCxnSpPr/>
          <p:nvPr/>
        </p:nvCxnSpPr>
        <p:spPr>
          <a:xfrm>
            <a:off x="7529195" y="3413760"/>
            <a:ext cx="412686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7529195" y="5135880"/>
            <a:ext cx="412686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7589520" y="6438900"/>
            <a:ext cx="412686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pic>
        <p:nvPicPr>
          <p:cNvPr id="148" name="图形 102" descr="条形图 纯色填充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5390" y="3886835"/>
            <a:ext cx="455295" cy="494665"/>
          </a:xfrm>
          <a:prstGeom prst="rect">
            <a:avLst/>
          </a:prstGeom>
        </p:spPr>
      </p:pic>
      <p:sp>
        <p:nvSpPr>
          <p:cNvPr id="149" name="Gray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883719" y="4216784"/>
            <a:ext cx="311150" cy="311150"/>
          </a:xfrm>
          <a:prstGeom prst="ellipse">
            <a:avLst/>
          </a:prstGeom>
          <a:solidFill>
            <a:schemeClr val="accent5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50" name="Gray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883719" y="5833494"/>
            <a:ext cx="311150" cy="311150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4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51" name="文本框 38"/>
          <p:cNvSpPr txBox="1"/>
          <p:nvPr/>
        </p:nvSpPr>
        <p:spPr>
          <a:xfrm>
            <a:off x="8392795" y="1631315"/>
            <a:ext cx="3162300" cy="5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业层级目标实现</a:t>
            </a:r>
            <a:r>
              <a:rPr lang="en-US" altLang="zh-CN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如运营碳中和、循环经济、价值链碳中和等</a:t>
            </a:r>
            <a:r>
              <a:rPr lang="en-US" altLang="zh-CN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文本框 39"/>
          <p:cNvSpPr txBox="1"/>
          <p:nvPr/>
        </p:nvSpPr>
        <p:spPr>
          <a:xfrm>
            <a:off x="8239760" y="1367155"/>
            <a:ext cx="331597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可持续目标设定：</a:t>
            </a:r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设置可持续发展目标以引领企</a:t>
            </a: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5" name="直接连接符 154"/>
          <p:cNvCxnSpPr/>
          <p:nvPr/>
        </p:nvCxnSpPr>
        <p:spPr>
          <a:xfrm flipV="1">
            <a:off x="868680" y="5171440"/>
            <a:ext cx="236855" cy="1047115"/>
          </a:xfrm>
          <a:prstGeom prst="line">
            <a:avLst/>
          </a:prstGeom>
          <a:ln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56" name="直接连接符 1186"/>
          <p:cNvCxnSpPr/>
          <p:nvPr/>
        </p:nvCxnSpPr>
        <p:spPr>
          <a:xfrm>
            <a:off x="526847" y="5164682"/>
            <a:ext cx="914400" cy="6985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57" name="直接连接符 1186"/>
          <p:cNvCxnSpPr/>
          <p:nvPr/>
        </p:nvCxnSpPr>
        <p:spPr>
          <a:xfrm>
            <a:off x="894512" y="3476217"/>
            <a:ext cx="981075" cy="5080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58" name="直接连接符 1186"/>
          <p:cNvCxnSpPr/>
          <p:nvPr/>
        </p:nvCxnSpPr>
        <p:spPr>
          <a:xfrm>
            <a:off x="1216457" y="2135097"/>
            <a:ext cx="981075" cy="5080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59" name="直接连接符 158"/>
          <p:cNvCxnSpPr/>
          <p:nvPr/>
        </p:nvCxnSpPr>
        <p:spPr>
          <a:xfrm flipV="1">
            <a:off x="1125855" y="3512185"/>
            <a:ext cx="349250" cy="1545590"/>
          </a:xfrm>
          <a:prstGeom prst="line">
            <a:avLst/>
          </a:prstGeom>
          <a:ln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cxnSp>
        <p:nvCxnSpPr>
          <p:cNvPr id="160" name="直接连接符 159"/>
          <p:cNvCxnSpPr/>
          <p:nvPr/>
        </p:nvCxnSpPr>
        <p:spPr>
          <a:xfrm flipV="1">
            <a:off x="1475105" y="2218690"/>
            <a:ext cx="273685" cy="1214120"/>
          </a:xfrm>
          <a:prstGeom prst="line">
            <a:avLst/>
          </a:prstGeom>
          <a:ln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161" name="文本框 160"/>
          <p:cNvSpPr txBox="1"/>
          <p:nvPr/>
        </p:nvSpPr>
        <p:spPr>
          <a:xfrm rot="720000">
            <a:off x="549910" y="5235575"/>
            <a:ext cx="408940" cy="87630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体系赋能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2" name="文本框 161"/>
          <p:cNvSpPr txBox="1"/>
          <p:nvPr/>
        </p:nvSpPr>
        <p:spPr>
          <a:xfrm rot="720000">
            <a:off x="878840" y="3832860"/>
            <a:ext cx="408940" cy="87630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运营策略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 rot="720000">
            <a:off x="1191895" y="2346960"/>
            <a:ext cx="408940" cy="87630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路径规划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64" name="直接连接符 1186"/>
          <p:cNvCxnSpPr/>
          <p:nvPr/>
        </p:nvCxnSpPr>
        <p:spPr>
          <a:xfrm>
            <a:off x="1428547" y="1216887"/>
            <a:ext cx="2473325" cy="13335"/>
          </a:xfrm>
          <a:prstGeom prst="line">
            <a:avLst/>
          </a:prstGeom>
          <a:ln>
            <a:solidFill>
              <a:schemeClr val="accent6"/>
            </a:solidFill>
            <a:prstDash val="lgDash"/>
            <a:tailEnd type="none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65" name="直接连接符 164"/>
          <p:cNvCxnSpPr/>
          <p:nvPr/>
        </p:nvCxnSpPr>
        <p:spPr>
          <a:xfrm flipV="1">
            <a:off x="1758315" y="1282700"/>
            <a:ext cx="191135" cy="845820"/>
          </a:xfrm>
          <a:prstGeom prst="line">
            <a:avLst/>
          </a:prstGeom>
          <a:ln>
            <a:solidFill>
              <a:schemeClr val="accent6"/>
            </a:solidFill>
            <a:headEnd type="stealth" w="lg" len="lg"/>
            <a:tailEnd type="stealth" w="lg" len="lg"/>
          </a:ln>
        </p:spPr>
        <p:style>
          <a:lnRef idx="2">
            <a:srgbClr val="24396B"/>
          </a:lnRef>
          <a:fillRef idx="0">
            <a:srgbClr val="FFFFFF"/>
          </a:fillRef>
          <a:effectRef idx="0">
            <a:srgbClr val="FFFFFF"/>
          </a:effectRef>
          <a:fontRef idx="minor">
            <a:srgbClr val="000000"/>
          </a:fontRef>
        </p:style>
      </p:cxnSp>
      <p:sp>
        <p:nvSpPr>
          <p:cNvPr id="166" name="文本框 165"/>
          <p:cNvSpPr txBox="1"/>
          <p:nvPr/>
        </p:nvSpPr>
        <p:spPr>
          <a:xfrm rot="720000">
            <a:off x="1454785" y="1263015"/>
            <a:ext cx="408940" cy="876300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noAutofit/>
          </a:bodyPr>
          <a:lstStyle/>
          <a:p>
            <a:pPr algn="l"/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目标制定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67" name="图形 106" descr="区块链 纯色填充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89520" y="2471420"/>
            <a:ext cx="557530" cy="557530"/>
          </a:xfrm>
          <a:prstGeom prst="rect">
            <a:avLst/>
          </a:prstGeom>
          <a:solidFill>
            <a:srgbClr val="1D3557"/>
          </a:solidFill>
        </p:spPr>
      </p:pic>
      <p:pic>
        <p:nvPicPr>
          <p:cNvPr id="168" name="图形 100" descr="男性宇航员 纯色填充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89520" y="5582832"/>
            <a:ext cx="431012" cy="431012"/>
          </a:xfrm>
          <a:prstGeom prst="rect">
            <a:avLst/>
          </a:prstGeom>
        </p:spPr>
      </p:pic>
      <p:sp>
        <p:nvSpPr>
          <p:cNvPr id="170" name="文本框 39"/>
          <p:cNvSpPr txBox="1"/>
          <p:nvPr/>
        </p:nvSpPr>
        <p:spPr>
          <a:xfrm>
            <a:off x="8239760" y="2456180"/>
            <a:ext cx="341566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可持续转型路径图：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碳足迹全生命周期统计、减</a:t>
            </a:r>
            <a:endParaRPr lang="zh-CN" altLang="en-US" sz="1050" b="1" dirty="0">
              <a:solidFill>
                <a:srgbClr val="000000">
                  <a:lumMod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1" name="Gray1"/>
          <p:cNvSpPr>
            <a:spLocks noChangeAspect="1"/>
          </p:cNvSpPr>
          <p:nvPr>
            <p:custDataLst>
              <p:tags r:id="rId14"/>
            </p:custDataLst>
          </p:nvPr>
        </p:nvSpPr>
        <p:spPr bwMode="auto">
          <a:xfrm>
            <a:off x="7883719" y="2832484"/>
            <a:ext cx="311150" cy="311150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algn="ctr" eaLnBrk="0" hangingPunct="0">
              <a:defRPr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73" name="文本框 39"/>
          <p:cNvSpPr txBox="1"/>
          <p:nvPr/>
        </p:nvSpPr>
        <p:spPr>
          <a:xfrm>
            <a:off x="8239760" y="3543300"/>
            <a:ext cx="3337560" cy="540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运营可持续管理：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提升企业运营管理水平，构建</a:t>
            </a: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微软雅黑" panose="020B0503020204020204" charset="-122"/>
              <a:buChar char="Ø"/>
            </a:pP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文本框 39"/>
          <p:cNvSpPr txBox="1"/>
          <p:nvPr/>
        </p:nvSpPr>
        <p:spPr>
          <a:xfrm>
            <a:off x="8239760" y="4307840"/>
            <a:ext cx="3346450" cy="434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价值链可持续管理</a:t>
            </a: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可持续为目标管理价值链上</a:t>
            </a: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30000"/>
              </a:lnSpc>
              <a:buFont typeface="微软雅黑" panose="020B0503020204020204" charset="-122"/>
              <a:buChar char="Ø"/>
            </a:pP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38"/>
          <p:cNvSpPr txBox="1"/>
          <p:nvPr/>
        </p:nvSpPr>
        <p:spPr>
          <a:xfrm>
            <a:off x="8415655" y="2712720"/>
            <a:ext cx="3162300" cy="5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排机会识别、基于减排价值及成本考量的优先级排序，并落实到短中长期的实现路径及计划等。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8424545" y="3792220"/>
            <a:ext cx="3162300" cy="5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以提效减排为核心的卓越运营体系，推动以“能耗、排放”为主线的跨部门协同体系。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38"/>
          <p:cNvSpPr txBox="1"/>
          <p:nvPr/>
        </p:nvSpPr>
        <p:spPr>
          <a:xfrm>
            <a:off x="8417560" y="4562475"/>
            <a:ext cx="3162300" cy="510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下游，通过降低原材料碳足迹、倡导循环利用、使用可再生能源等提升价值链可持续水平。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38"/>
          <p:cNvSpPr txBox="1"/>
          <p:nvPr/>
        </p:nvSpPr>
        <p:spPr>
          <a:xfrm>
            <a:off x="8431530" y="5460365"/>
            <a:ext cx="3162300" cy="300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升企业可持续管理体系的科学性与有效性。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39"/>
          <p:cNvSpPr txBox="1"/>
          <p:nvPr/>
        </p:nvSpPr>
        <p:spPr>
          <a:xfrm>
            <a:off x="8278495" y="5196205"/>
            <a:ext cx="337693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数字化可持续管理：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借助数字化资产与工具，提</a:t>
            </a:r>
            <a:endParaRPr lang="en-US" altLang="zh-CN" sz="1050" b="1" dirty="0">
              <a:solidFill>
                <a:srgbClr val="000000">
                  <a:lumMod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38"/>
          <p:cNvSpPr txBox="1"/>
          <p:nvPr/>
        </p:nvSpPr>
        <p:spPr>
          <a:xfrm>
            <a:off x="8443595" y="6014085"/>
            <a:ext cx="3162300" cy="300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新型变革；培育可持续新兴业条管理的人才体系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39"/>
          <p:cNvSpPr txBox="1"/>
          <p:nvPr/>
        </p:nvSpPr>
        <p:spPr>
          <a:xfrm>
            <a:off x="8290560" y="5749925"/>
            <a:ext cx="336423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组织可持续转型：</a:t>
            </a:r>
            <a:r>
              <a:rPr lang="zh-CN" altLang="en-US" sz="1050" dirty="0">
                <a:solidFill>
                  <a:srgbClr val="000000">
                    <a:lumMod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推动节能减排组织及流程的创</a:t>
            </a:r>
            <a:endParaRPr lang="zh-CN" altLang="en-US" sz="105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>
            <a:blip r:embed="rId1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基于新零售的运营战略框架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0" name="任意多边形: 形状 39"/>
          <p:cNvSpPr/>
          <p:nvPr/>
        </p:nvSpPr>
        <p:spPr>
          <a:xfrm>
            <a:off x="-902335" y="-601980"/>
            <a:ext cx="21590" cy="43815"/>
          </a:xfrm>
          <a:custGeom>
            <a:avLst/>
            <a:gdLst>
              <a:gd name="connsiteX0" fmla="*/ 0 w 21855"/>
              <a:gd name="connsiteY0" fmla="*/ 0 h 43711"/>
              <a:gd name="connsiteX1" fmla="*/ 0 w 21855"/>
              <a:gd name="connsiteY1" fmla="*/ 43712 h 43711"/>
              <a:gd name="connsiteX2" fmla="*/ 21856 w 21855"/>
              <a:gd name="connsiteY2" fmla="*/ 21856 h 43711"/>
              <a:gd name="connsiteX3" fmla="*/ 0 w 21855"/>
              <a:gd name="connsiteY3" fmla="*/ 0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0"/>
                </a:moveTo>
                <a:lnTo>
                  <a:pt x="0" y="43712"/>
                </a:lnTo>
                <a:cubicBezTo>
                  <a:pt x="12071" y="43712"/>
                  <a:pt x="21856" y="33927"/>
                  <a:pt x="21856" y="21856"/>
                </a:cubicBezTo>
                <a:cubicBezTo>
                  <a:pt x="21856" y="9785"/>
                  <a:pt x="1207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-946150" y="-668020"/>
            <a:ext cx="21590" cy="43815"/>
          </a:xfrm>
          <a:custGeom>
            <a:avLst/>
            <a:gdLst>
              <a:gd name="connsiteX0" fmla="*/ 0 w 21855"/>
              <a:gd name="connsiteY0" fmla="*/ 21856 h 43711"/>
              <a:gd name="connsiteX1" fmla="*/ 21856 w 21855"/>
              <a:gd name="connsiteY1" fmla="*/ 43712 h 43711"/>
              <a:gd name="connsiteX2" fmla="*/ 21856 w 21855"/>
              <a:gd name="connsiteY2" fmla="*/ 0 h 43711"/>
              <a:gd name="connsiteX3" fmla="*/ 0 w 21855"/>
              <a:gd name="connsiteY3" fmla="*/ 21856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21856"/>
                </a:moveTo>
                <a:cubicBezTo>
                  <a:pt x="0" y="33927"/>
                  <a:pt x="9785" y="43712"/>
                  <a:pt x="21856" y="43712"/>
                </a:cubicBezTo>
                <a:lnTo>
                  <a:pt x="21856" y="0"/>
                </a:lnTo>
                <a:cubicBezTo>
                  <a:pt x="9785" y="0"/>
                  <a:pt x="0" y="9785"/>
                  <a:pt x="0" y="21856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52295" y="1936115"/>
            <a:ext cx="3281045" cy="3201035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lumMod val="20000"/>
                  <a:lumOff val="80000"/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266690" y="1936115"/>
            <a:ext cx="5311140" cy="3201035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20000"/>
                  <a:lumOff val="80000"/>
                  <a:alpha val="50000"/>
                </a:schemeClr>
              </a:gs>
              <a:gs pos="100000">
                <a:schemeClr val="accent5">
                  <a:lumMod val="20000"/>
                  <a:lumOff val="80000"/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319530" y="1060450"/>
            <a:ext cx="4885690" cy="804545"/>
          </a:xfrm>
          <a:prstGeom prst="line">
            <a:avLst/>
          </a:prstGeom>
          <a:ln w="6985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 flipV="1">
            <a:off x="6205220" y="1060450"/>
            <a:ext cx="4959350" cy="810895"/>
          </a:xfrm>
          <a:prstGeom prst="line">
            <a:avLst/>
          </a:prstGeom>
          <a:ln w="6985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>
            <a:off x="1852930" y="1149985"/>
            <a:ext cx="8702675" cy="718820"/>
          </a:xfrm>
          <a:prstGeom prst="triangle">
            <a:avLst/>
          </a:prstGeom>
          <a:gradFill>
            <a:gsLst>
              <a:gs pos="19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01870" y="1322070"/>
            <a:ext cx="275018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新零售运营核心立足点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852930" y="1941830"/>
            <a:ext cx="3280410" cy="451485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400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059940" y="2891155"/>
            <a:ext cx="2920365" cy="979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schemeClr val="accent1">
                <a:lumMod val="40000"/>
                <a:lumOff val="6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0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olidFill>
                  <a:schemeClr val="tx2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品类边界重塑下的核心战场</a:t>
            </a:r>
            <a:endParaRPr lang="en-US" altLang="zh-CN" sz="12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（三维视角：人/货/场）</a:t>
            </a: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67325" y="1936750"/>
            <a:ext cx="5309235" cy="451485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497195" y="2009140"/>
            <a:ext cx="4932680" cy="306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1800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20000"/>
                        <a:lumOff val="8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③ 围绕人、货、场架设增长引擎，加速数字化重构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7287895" y="2980690"/>
            <a:ext cx="1127760" cy="1127760"/>
          </a:xfrm>
          <a:prstGeom prst="arc">
            <a:avLst>
              <a:gd name="adj1" fmla="val 8394483"/>
              <a:gd name="adj2" fmla="val 15956304"/>
            </a:avLst>
          </a:prstGeom>
          <a:ln w="63500">
            <a:solidFill>
              <a:schemeClr val="accent5">
                <a:lumMod val="60000"/>
                <a:lumOff val="40000"/>
              </a:schemeClr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弧形 46"/>
          <p:cNvSpPr/>
          <p:nvPr/>
        </p:nvSpPr>
        <p:spPr>
          <a:xfrm>
            <a:off x="7291070" y="2971800"/>
            <a:ext cx="1127760" cy="1127760"/>
          </a:xfrm>
          <a:prstGeom prst="arc">
            <a:avLst>
              <a:gd name="adj1" fmla="val 16567286"/>
              <a:gd name="adj2" fmla="val 2170924"/>
            </a:avLst>
          </a:prstGeom>
          <a:ln w="63500">
            <a:solidFill>
              <a:schemeClr val="accent5">
                <a:lumMod val="40000"/>
                <a:lumOff val="60000"/>
              </a:schemeClr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弧形 47"/>
          <p:cNvSpPr/>
          <p:nvPr/>
        </p:nvSpPr>
        <p:spPr>
          <a:xfrm>
            <a:off x="7287895" y="2987040"/>
            <a:ext cx="1127760" cy="1127760"/>
          </a:xfrm>
          <a:prstGeom prst="arc">
            <a:avLst>
              <a:gd name="adj1" fmla="val 2446106"/>
              <a:gd name="adj2" fmla="val 7923707"/>
            </a:avLst>
          </a:prstGeom>
          <a:ln w="63500">
            <a:solidFill>
              <a:schemeClr val="accent5"/>
            </a:solidFill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7203440" y="3205480"/>
            <a:ext cx="255270" cy="25527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451725" y="3116580"/>
            <a:ext cx="843280" cy="843280"/>
          </a:xfrm>
          <a:prstGeom prst="ellipse">
            <a:avLst/>
          </a:prstGeom>
          <a:gradFill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7724140" y="4010025"/>
            <a:ext cx="255270" cy="255270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8275955" y="3205480"/>
            <a:ext cx="255270" cy="25527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351395" y="3355975"/>
            <a:ext cx="10642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人、货、场</a:t>
            </a:r>
            <a:endParaRPr lang="en-US" altLang="zh-CN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精准匹配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 rot="0" flipH="1">
            <a:off x="8288655" y="3889375"/>
            <a:ext cx="2065655" cy="438785"/>
            <a:chOff x="5144739" y="3330151"/>
            <a:chExt cx="2333600" cy="476047"/>
          </a:xfrm>
        </p:grpSpPr>
        <p:cxnSp>
          <p:nvCxnSpPr>
            <p:cNvPr id="66" name="直接连接符 65"/>
            <p:cNvCxnSpPr/>
            <p:nvPr/>
          </p:nvCxnSpPr>
          <p:spPr>
            <a:xfrm flipH="1">
              <a:off x="6972234" y="3330151"/>
              <a:ext cx="506105" cy="476047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5144739" y="3803922"/>
              <a:ext cx="1827495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 rot="0">
            <a:off x="5440045" y="3889375"/>
            <a:ext cx="2065655" cy="438785"/>
            <a:chOff x="5144739" y="3330151"/>
            <a:chExt cx="2333600" cy="476047"/>
          </a:xfrm>
        </p:grpSpPr>
        <p:cxnSp>
          <p:nvCxnSpPr>
            <p:cNvPr id="77" name="直接连接符 76"/>
            <p:cNvCxnSpPr/>
            <p:nvPr/>
          </p:nvCxnSpPr>
          <p:spPr>
            <a:xfrm flipH="1">
              <a:off x="6972234" y="3330151"/>
              <a:ext cx="506105" cy="476047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5144739" y="3803922"/>
              <a:ext cx="1827495" cy="0"/>
            </a:xfrm>
            <a:prstGeom prst="line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接连接符 81"/>
          <p:cNvCxnSpPr/>
          <p:nvPr/>
        </p:nvCxnSpPr>
        <p:spPr>
          <a:xfrm>
            <a:off x="7856220" y="2797175"/>
            <a:ext cx="0" cy="24828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611245" y="1249045"/>
            <a:ext cx="800735" cy="3238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cs typeface="微软雅黑" panose="020B0503020204020204" charset="-122"/>
              </a:rPr>
              <a:t>“</a:t>
            </a:r>
            <a:r>
              <a:rPr lang="zh-CN" altLang="en-US" sz="1400" b="1">
                <a:cs typeface="微软雅黑" panose="020B0503020204020204" charset="-122"/>
              </a:rPr>
              <a:t>定调</a:t>
            </a:r>
            <a:r>
              <a:rPr lang="en-US" altLang="zh-CN" sz="1400" b="1">
                <a:cs typeface="微软雅黑" panose="020B0503020204020204" charset="-122"/>
              </a:rPr>
              <a:t>”</a:t>
            </a:r>
            <a:endParaRPr lang="en-US" altLang="zh-CN" sz="1400" b="1"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54200" y="2473960"/>
            <a:ext cx="800735" cy="323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cs typeface="微软雅黑" panose="020B0503020204020204" charset="-122"/>
              </a:rPr>
              <a:t>“</a:t>
            </a:r>
            <a:r>
              <a:rPr lang="zh-CN" altLang="en-US" sz="1400" b="1">
                <a:cs typeface="微软雅黑" panose="020B0503020204020204" charset="-122"/>
              </a:rPr>
              <a:t>明道</a:t>
            </a:r>
            <a:r>
              <a:rPr lang="en-US" altLang="zh-CN" sz="1400" b="1">
                <a:cs typeface="微软雅黑" panose="020B0503020204020204" charset="-122"/>
              </a:rPr>
              <a:t>”</a:t>
            </a:r>
            <a:endParaRPr lang="en-US" altLang="zh-CN" sz="1400" b="1"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267325" y="2473960"/>
            <a:ext cx="800735" cy="3238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cs typeface="微软雅黑" panose="020B0503020204020204" charset="-122"/>
              </a:rPr>
              <a:t>“</a:t>
            </a:r>
            <a:r>
              <a:rPr lang="zh-CN" altLang="en-US" sz="1400" b="1">
                <a:cs typeface="微软雅黑" panose="020B0503020204020204" charset="-122"/>
              </a:rPr>
              <a:t>优术</a:t>
            </a:r>
            <a:r>
              <a:rPr lang="en-US" altLang="zh-CN" sz="1400" b="1">
                <a:cs typeface="微软雅黑" panose="020B0503020204020204" charset="-122"/>
              </a:rPr>
              <a:t>”</a:t>
            </a:r>
            <a:endParaRPr lang="en-US" altLang="zh-CN" sz="1400" b="1">
              <a:cs typeface="微软雅黑" panose="020B050302020402020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1417955" y="5226685"/>
            <a:ext cx="9593580" cy="1564640"/>
            <a:chOff x="2653" y="8268"/>
            <a:chExt cx="13984" cy="2464"/>
          </a:xfrm>
        </p:grpSpPr>
        <p:sp>
          <p:nvSpPr>
            <p:cNvPr id="21" name="梯形 20"/>
            <p:cNvSpPr/>
            <p:nvPr/>
          </p:nvSpPr>
          <p:spPr>
            <a:xfrm>
              <a:off x="2653" y="8802"/>
              <a:ext cx="13983" cy="896"/>
            </a:xfrm>
            <a:prstGeom prst="trapezoid">
              <a:avLst>
                <a:gd name="adj" fmla="val 64886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109" y="8461"/>
              <a:ext cx="13071" cy="89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2791" y="8268"/>
              <a:ext cx="13706" cy="0"/>
            </a:xfrm>
            <a:prstGeom prst="line">
              <a:avLst/>
            </a:prstGeom>
            <a:noFill/>
            <a:ln w="635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2653" y="9720"/>
              <a:ext cx="13984" cy="1012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181" y="8596"/>
              <a:ext cx="2844" cy="61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跨部协同，扁平管理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7184" y="8596"/>
              <a:ext cx="2844" cy="61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精益投入，高效运营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10186" y="8596"/>
              <a:ext cx="2844" cy="61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保持专注，复盘迭代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13190" y="8596"/>
              <a:ext cx="2844" cy="619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目标一致，全面协同</a:t>
              </a:r>
              <a:endPara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287" y="8498"/>
              <a:ext cx="829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600" b="1">
                  <a:solidFill>
                    <a:schemeClr val="accent1"/>
                  </a:solidFill>
                </a:defRPr>
              </a:lvl1pPr>
            </a:lstStyle>
            <a:p>
              <a:r>
                <a:rPr 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关键支撑</a:t>
              </a:r>
              <a:endParaRPr 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3914" y="9768"/>
              <a:ext cx="5489" cy="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④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组织与运营模式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中心统筹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职能内嵌的协同作战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9630" y="9880"/>
              <a:ext cx="0" cy="731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/>
            <p:cNvSpPr txBox="1"/>
            <p:nvPr/>
          </p:nvSpPr>
          <p:spPr>
            <a:xfrm>
              <a:off x="9894" y="9745"/>
              <a:ext cx="6729" cy="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⑤ 数据与技术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大数据+小数据合力，技术升级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2653" y="9864"/>
              <a:ext cx="1261" cy="51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cs typeface="微软雅黑" panose="020B0503020204020204" charset="-122"/>
                </a:rPr>
                <a:t>“</a:t>
              </a:r>
              <a:r>
                <a:rPr lang="zh-CN" altLang="en-US" sz="1400" b="1">
                  <a:cs typeface="微软雅黑" panose="020B0503020204020204" charset="-122"/>
                </a:rPr>
                <a:t>立本</a:t>
              </a:r>
              <a:r>
                <a:rPr lang="en-US" altLang="zh-CN" sz="1400" b="1">
                  <a:cs typeface="微软雅黑" panose="020B0503020204020204" charset="-122"/>
                </a:rPr>
                <a:t>”</a:t>
              </a:r>
              <a:endParaRPr lang="en-US" altLang="zh-CN" sz="1400" b="1">
                <a:cs typeface="微软雅黑" panose="020B0503020204020204" charset="-122"/>
              </a:endParaRPr>
            </a:p>
          </p:txBody>
        </p:sp>
      </p:grpSp>
      <p:sp>
        <p:nvSpPr>
          <p:cNvPr id="88" name="文本框 87"/>
          <p:cNvSpPr txBox="1"/>
          <p:nvPr/>
        </p:nvSpPr>
        <p:spPr>
          <a:xfrm>
            <a:off x="3270885" y="1584960"/>
            <a:ext cx="56883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全面深化数字化运营，重构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货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</a:t>
            </a:r>
            <a:r>
              <a:rPr lang="en-US" altLang="zh-CN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协同效率，以数据驱动全渠道价值创造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2059940" y="4004945"/>
            <a:ext cx="2920365" cy="97917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63500" sx="102000" sy="102000" algn="ctr" rotWithShape="0">
              <a:schemeClr val="accent1">
                <a:lumMod val="40000"/>
                <a:lumOff val="6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14400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olidFill>
                  <a:schemeClr val="tx2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全链路消费者渗透</a:t>
            </a:r>
            <a:endParaRPr lang="en-US" altLang="zh-CN" sz="1200" dirty="0">
              <a:solidFill>
                <a:schemeClr val="tx2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（FAST体系）</a:t>
            </a:r>
            <a:endParaRPr lang="en-US" altLang="zh-CN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grpSp>
        <p:nvGrpSpPr>
          <p:cNvPr id="103" name="组合 102"/>
          <p:cNvGrpSpPr/>
          <p:nvPr/>
        </p:nvGrpSpPr>
        <p:grpSpPr>
          <a:xfrm rot="0">
            <a:off x="5433695" y="2980690"/>
            <a:ext cx="1600835" cy="1254125"/>
            <a:chOff x="8440" y="4627"/>
            <a:chExt cx="2380" cy="1864"/>
          </a:xfrm>
        </p:grpSpPr>
        <p:sp>
          <p:nvSpPr>
            <p:cNvPr id="36" name="矩形 35"/>
            <p:cNvSpPr/>
            <p:nvPr/>
          </p:nvSpPr>
          <p:spPr>
            <a:xfrm>
              <a:off x="8667" y="5061"/>
              <a:ext cx="1842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品牌洞察升维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440" y="4627"/>
              <a:ext cx="2380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新交互、新洞察</a:t>
              </a:r>
              <a:endParaRPr lang="zh-CN" sz="12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8667" y="5570"/>
              <a:ext cx="1842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品牌沟通延展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8667" y="6083"/>
              <a:ext cx="1842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品牌资产升级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 rot="0">
            <a:off x="8772525" y="2980690"/>
            <a:ext cx="1600835" cy="1254125"/>
            <a:chOff x="13352" y="4673"/>
            <a:chExt cx="2380" cy="1864"/>
          </a:xfrm>
        </p:grpSpPr>
        <p:sp>
          <p:nvSpPr>
            <p:cNvPr id="94" name="矩形 93"/>
            <p:cNvSpPr/>
            <p:nvPr/>
          </p:nvSpPr>
          <p:spPr>
            <a:xfrm>
              <a:off x="13430" y="5107"/>
              <a:ext cx="2192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商品升级，品消共创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13352" y="4673"/>
              <a:ext cx="2380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新形态、新模式</a:t>
              </a:r>
              <a:endParaRPr lang="zh-CN" sz="12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13431" y="5616"/>
              <a:ext cx="2191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服务关怀，多元体验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3431" y="6129"/>
              <a:ext cx="2191" cy="4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内容先行，丰富感知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7098030" y="4274185"/>
            <a:ext cx="160083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新场景、新联结</a:t>
            </a:r>
            <a:endParaRPr lang="zh-CN" altLang="en-US" sz="12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547360" y="4647565"/>
            <a:ext cx="1718945" cy="27432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时间：消费链路快速击穿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7334250" y="4647565"/>
            <a:ext cx="1212850" cy="27432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空间：多场互融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8615045" y="4647565"/>
            <a:ext cx="1718945" cy="27432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机制：通路运营因地制宜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852930" y="1999615"/>
            <a:ext cx="3280410" cy="35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1800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>
                        <a:lumMod val="20000"/>
                        <a:lumOff val="8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② 核心战场和核心人群</a:t>
            </a:r>
            <a:endParaRPr lang="zh-CN" altLang="en-US" sz="14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显眼包PPT-38"/>
          <p:cNvSpPr/>
          <p:nvPr/>
        </p:nvSpPr>
        <p:spPr>
          <a:xfrm>
            <a:off x="1852930" y="2392680"/>
            <a:ext cx="3281045" cy="2744470"/>
          </a:xfrm>
          <a:prstGeom prst="roundRect">
            <a:avLst>
              <a:gd name="adj" fmla="val 4165"/>
            </a:avLst>
          </a:prstGeom>
          <a:noFill/>
          <a:ln w="635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7" name="显眼包PPT-38"/>
          <p:cNvSpPr/>
          <p:nvPr/>
        </p:nvSpPr>
        <p:spPr>
          <a:xfrm>
            <a:off x="5260975" y="2388235"/>
            <a:ext cx="5317490" cy="2744470"/>
          </a:xfrm>
          <a:prstGeom prst="roundRect">
            <a:avLst>
              <a:gd name="adj" fmla="val 4165"/>
            </a:avLst>
          </a:prstGeom>
          <a:noFill/>
          <a:ln w="6350">
            <a:gradFill flip="none" rotWithShape="1">
              <a:gsLst>
                <a:gs pos="0">
                  <a:schemeClr val="accent5">
                    <a:lumMod val="40000"/>
                    <a:lumOff val="60000"/>
                    <a:alpha val="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59" name="箭头: 上下 54"/>
          <p:cNvSpPr/>
          <p:nvPr/>
        </p:nvSpPr>
        <p:spPr>
          <a:xfrm>
            <a:off x="3763010" y="5018405"/>
            <a:ext cx="210185" cy="323850"/>
          </a:xfrm>
          <a:prstGeom prst="upDownArrow">
            <a:avLst/>
          </a:prstGeom>
          <a:solidFill>
            <a:schemeClr val="bg1"/>
          </a:solidFill>
          <a:ln w="15875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箭头: 上下 55"/>
          <p:cNvSpPr/>
          <p:nvPr/>
        </p:nvSpPr>
        <p:spPr>
          <a:xfrm>
            <a:off x="7621905" y="5051425"/>
            <a:ext cx="210185" cy="324485"/>
          </a:xfrm>
          <a:prstGeom prst="upDownArrow">
            <a:avLst/>
          </a:prstGeom>
          <a:solidFill>
            <a:schemeClr val="bg1"/>
          </a:solidFill>
          <a:ln w="15875">
            <a:solidFill>
              <a:schemeClr val="accent5"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33985" y="3174365"/>
            <a:ext cx="1739900" cy="9588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从指标到场景到解决方案的端到端管理体系。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2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全面提升消费者运行效率。</a:t>
            </a:r>
            <a:endParaRPr lang="zh-CN" altLang="en-US" sz="12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17170" y="4226560"/>
            <a:ext cx="1898015" cy="39751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：渠道效率革命</a:t>
            </a:r>
            <a:endParaRPr lang="zh-CN" alt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217170" y="4205605"/>
            <a:ext cx="201295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10639425" y="2494915"/>
            <a:ext cx="1631315" cy="85280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融合会员场景，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整合平台工具，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充分发挥会员价值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0328275" y="2254885"/>
            <a:ext cx="1742440" cy="397510"/>
            <a:chOff x="15746" y="3705"/>
            <a:chExt cx="2744" cy="626"/>
          </a:xfrm>
        </p:grpSpPr>
        <p:sp>
          <p:nvSpPr>
            <p:cNvPr id="75" name="文本框 74"/>
            <p:cNvSpPr txBox="1"/>
            <p:nvPr/>
          </p:nvSpPr>
          <p:spPr>
            <a:xfrm>
              <a:off x="16197" y="3705"/>
              <a:ext cx="2293" cy="626"/>
            </a:xfrm>
            <a:prstGeom prst="rect">
              <a:avLst/>
            </a:prstGeom>
            <a:noFill/>
          </p:spPr>
          <p:txBody>
            <a:bodyPr wrap="square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主题</a:t>
              </a:r>
              <a:r>
                <a:rPr lang="en-US" altLang="zh-CN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：会员运营</a:t>
              </a:r>
              <a:endPara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79" name="直接连接符 78"/>
            <p:cNvCxnSpPr/>
            <p:nvPr/>
          </p:nvCxnSpPr>
          <p:spPr>
            <a:xfrm flipH="1">
              <a:off x="15746" y="4267"/>
              <a:ext cx="2661" cy="0"/>
            </a:xfrm>
            <a:prstGeom prst="line">
              <a:avLst/>
            </a:prstGeom>
            <a:ln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1" name="文本框 120"/>
          <p:cNvSpPr txBox="1"/>
          <p:nvPr/>
        </p:nvSpPr>
        <p:spPr>
          <a:xfrm>
            <a:off x="10690860" y="3508375"/>
            <a:ext cx="1377950" cy="85280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品类策略规划，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从战略制定到落地，复盘反馈闭环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10379710" y="3268345"/>
            <a:ext cx="1742440" cy="397510"/>
            <a:chOff x="15746" y="3705"/>
            <a:chExt cx="2744" cy="626"/>
          </a:xfrm>
        </p:grpSpPr>
        <p:sp>
          <p:nvSpPr>
            <p:cNvPr id="128" name="文本框 127"/>
            <p:cNvSpPr txBox="1"/>
            <p:nvPr/>
          </p:nvSpPr>
          <p:spPr>
            <a:xfrm>
              <a:off x="16197" y="3705"/>
              <a:ext cx="2293" cy="626"/>
            </a:xfrm>
            <a:prstGeom prst="rect">
              <a:avLst/>
            </a:prstGeom>
            <a:noFill/>
          </p:spPr>
          <p:txBody>
            <a:bodyPr wrap="square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主题</a:t>
              </a:r>
              <a:r>
                <a:rPr lang="en-US" altLang="zh-CN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：品类创新</a:t>
              </a:r>
              <a:endParaRPr lang="en-US" altLang="zh-CN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>
            <a:xfrm flipH="1">
              <a:off x="15746" y="4267"/>
              <a:ext cx="2661" cy="0"/>
            </a:xfrm>
            <a:prstGeom prst="line">
              <a:avLst/>
            </a:prstGeom>
            <a:ln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3" name="文本框 132"/>
          <p:cNvSpPr txBox="1"/>
          <p:nvPr/>
        </p:nvSpPr>
        <p:spPr>
          <a:xfrm>
            <a:off x="10666095" y="4413885"/>
            <a:ext cx="1631315" cy="85280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多点触达，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精细化精准运营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10354945" y="4219575"/>
            <a:ext cx="1742440" cy="397510"/>
            <a:chOff x="15746" y="3705"/>
            <a:chExt cx="2744" cy="626"/>
          </a:xfrm>
        </p:grpSpPr>
        <p:sp>
          <p:nvSpPr>
            <p:cNvPr id="135" name="文本框 134"/>
            <p:cNvSpPr txBox="1"/>
            <p:nvPr/>
          </p:nvSpPr>
          <p:spPr>
            <a:xfrm>
              <a:off x="16197" y="3705"/>
              <a:ext cx="2293" cy="626"/>
            </a:xfrm>
            <a:prstGeom prst="rect">
              <a:avLst/>
            </a:prstGeom>
            <a:noFill/>
          </p:spPr>
          <p:txBody>
            <a:bodyPr wrap="square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主题</a:t>
              </a:r>
              <a:r>
                <a:rPr lang="en-US" altLang="zh-CN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r>
                <a:rPr lang="zh-CN" altLang="en-US" sz="1200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：内容运营</a:t>
              </a:r>
              <a:endPara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>
            <a:xfrm flipH="1">
              <a:off x="15746" y="4267"/>
              <a:ext cx="2661" cy="0"/>
            </a:xfrm>
            <a:prstGeom prst="line">
              <a:avLst/>
            </a:prstGeom>
            <a:ln>
              <a:solidFill>
                <a:schemeClr val="accent5"/>
              </a:solidFill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>
            <p:custDataLst>
              <p:tags r:id="rId1"/>
            </p:custDataLst>
          </p:nvPr>
        </p:nvSpPr>
        <p:spPr>
          <a:xfrm>
            <a:off x="4208145" y="2983865"/>
            <a:ext cx="4464050" cy="2390140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1250950" y="2983865"/>
            <a:ext cx="2903220" cy="2390140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全域可持续的客户运营模型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1250950" y="2459355"/>
            <a:ext cx="2896870" cy="443865"/>
          </a:xfrm>
          <a:prstGeom prst="rect">
            <a:avLst/>
          </a:prstGeom>
          <a:gradFill flip="none" rotWithShape="1">
            <a:gsLst>
              <a:gs pos="18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Capital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可持续运营关系数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4208780" y="2459355"/>
            <a:ext cx="2195830" cy="443865"/>
          </a:xfrm>
          <a:prstGeom prst="rect">
            <a:avLst/>
          </a:prstGeom>
          <a:gradFill flip="none" rotWithShape="1"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Conversion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角色关系加深效率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6478905" y="2459355"/>
            <a:ext cx="2195195" cy="443865"/>
          </a:xfrm>
          <a:prstGeom prst="rect">
            <a:avLst/>
          </a:prstGeom>
          <a:gradFill flip="none" rotWithShape="1">
            <a:gsLst>
              <a:gs pos="18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Connection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场域引力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8722360" y="2459355"/>
            <a:ext cx="3165475" cy="443865"/>
          </a:xfrm>
          <a:prstGeom prst="rect">
            <a:avLst/>
          </a:prstGeom>
          <a:gradFill flip="none" rotWithShape="1">
            <a:gsLst>
              <a:gs pos="18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CLV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角色关系价值</a:t>
            </a:r>
            <a:endParaRPr lang="en-US" altLang="zh-CN" sz="12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82880" y="3910965"/>
            <a:ext cx="845820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‘FAST+’</a:t>
            </a:r>
            <a:endParaRPr lang="en-US" altLang="zh-CN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以私域为核心的全域消费者运营模型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左大括号 14"/>
          <p:cNvSpPr/>
          <p:nvPr>
            <p:custDataLst>
              <p:tags r:id="rId10"/>
            </p:custDataLst>
          </p:nvPr>
        </p:nvSpPr>
        <p:spPr>
          <a:xfrm>
            <a:off x="1044575" y="3104515"/>
            <a:ext cx="136525" cy="2201545"/>
          </a:xfrm>
          <a:prstGeom prst="leftBrace">
            <a:avLst>
              <a:gd name="adj1" fmla="val 420232"/>
              <a:gd name="adj2" fmla="val 51370"/>
            </a:avLst>
          </a:prstGeom>
          <a:ln w="12700">
            <a:solidFill>
              <a:schemeClr val="accent6"/>
            </a:solidFill>
            <a:prstDash val="sys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endParaRPr lang="en-US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紫荆的职场Point28"/>
          <p:cNvSpPr/>
          <p:nvPr/>
        </p:nvSpPr>
        <p:spPr>
          <a:xfrm>
            <a:off x="1383665" y="1746250"/>
            <a:ext cx="10504170" cy="66167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2040"/>
          <p:cNvSpPr/>
          <p:nvPr/>
        </p:nvSpPr>
        <p:spPr>
          <a:xfrm>
            <a:off x="4361180" y="2037080"/>
            <a:ext cx="4142740" cy="30734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可持续运营的高价值用户资产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1995170" y="3055620"/>
            <a:ext cx="160591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私域用户角色关系图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1574800" y="3408680"/>
            <a:ext cx="5613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连接关系</a:t>
            </a:r>
            <a:endParaRPr lang="zh-CN" altLang="en-US" sz="11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3"/>
            </p:custDataLst>
          </p:nvPr>
        </p:nvSpPr>
        <p:spPr>
          <a:xfrm>
            <a:off x="3143250" y="3408680"/>
            <a:ext cx="5613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触达通道</a:t>
            </a:r>
            <a:endParaRPr lang="zh-CN" altLang="en-US" sz="11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箭头: 五边形 32"/>
          <p:cNvSpPr/>
          <p:nvPr>
            <p:custDataLst>
              <p:tags r:id="rId14"/>
            </p:custDataLst>
          </p:nvPr>
        </p:nvSpPr>
        <p:spPr>
          <a:xfrm>
            <a:off x="1567815" y="4977765"/>
            <a:ext cx="1385570" cy="284480"/>
          </a:xfrm>
          <a:prstGeom prst="homePlat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1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15875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基础私域用户</a:t>
            </a:r>
            <a:endParaRPr lang="zh-CN" altLang="en-US" sz="1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箭头: 五边形 33"/>
          <p:cNvSpPr/>
          <p:nvPr>
            <p:custDataLst>
              <p:tags r:id="rId15"/>
            </p:custDataLst>
          </p:nvPr>
        </p:nvSpPr>
        <p:spPr>
          <a:xfrm>
            <a:off x="1567815" y="4642485"/>
            <a:ext cx="1209040" cy="284480"/>
          </a:xfrm>
          <a:prstGeom prst="homePlat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1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15875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未购会员</a:t>
            </a:r>
            <a:endParaRPr lang="zh-CN" altLang="en-US" sz="1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箭头: 五边形 34"/>
          <p:cNvSpPr/>
          <p:nvPr>
            <p:custDataLst>
              <p:tags r:id="rId16"/>
            </p:custDataLst>
          </p:nvPr>
        </p:nvSpPr>
        <p:spPr>
          <a:xfrm>
            <a:off x="1567815" y="4306570"/>
            <a:ext cx="1066800" cy="284480"/>
          </a:xfrm>
          <a:prstGeom prst="homePlat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1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15875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已购会员</a:t>
            </a:r>
            <a:endParaRPr lang="zh-CN" altLang="en-US" sz="1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箭头: 五边形 35"/>
          <p:cNvSpPr/>
          <p:nvPr>
            <p:custDataLst>
              <p:tags r:id="rId17"/>
            </p:custDataLst>
          </p:nvPr>
        </p:nvSpPr>
        <p:spPr>
          <a:xfrm>
            <a:off x="1567815" y="3971290"/>
            <a:ext cx="924560" cy="284480"/>
          </a:xfrm>
          <a:prstGeom prst="homePlat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1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1"/>
          </a:gradFill>
          <a:ln w="15875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复购会员</a:t>
            </a:r>
            <a:endParaRPr lang="zh-CN" altLang="en-US" sz="1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箭头: 五边形 36"/>
          <p:cNvSpPr/>
          <p:nvPr>
            <p:custDataLst>
              <p:tags r:id="rId18"/>
            </p:custDataLst>
          </p:nvPr>
        </p:nvSpPr>
        <p:spPr>
          <a:xfrm>
            <a:off x="1567815" y="3635375"/>
            <a:ext cx="853440" cy="284480"/>
          </a:xfrm>
          <a:prstGeom prst="homePlat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rgbClr val="A23322">
              <a:shade val="15000"/>
            </a:srgbClr>
          </a:lnRef>
          <a:fillRef idx="1">
            <a:srgbClr val="A23322"/>
          </a:fillRef>
          <a:effectRef idx="0">
            <a:srgbClr val="A23322"/>
          </a:effectRef>
          <a:fontRef idx="minor">
            <a:srgbClr val="FEFFFF"/>
          </a:fontRef>
        </p:style>
        <p:txBody>
          <a:bodyPr rtlCol="0" anchor="ctr"/>
          <a:lstStyle/>
          <a:p>
            <a:pPr algn="l"/>
            <a:r>
              <a:rPr lang="zh-CN" altLang="en-US" sz="1100" dirty="0">
                <a:solidFill>
                  <a:srgbClr val="EC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</a:t>
            </a:r>
            <a:r>
              <a:rPr lang="en-US" altLang="zh-CN" sz="1100" dirty="0">
                <a:solidFill>
                  <a:srgbClr val="ECF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KOC</a:t>
            </a:r>
            <a:endParaRPr lang="en-US" altLang="zh-CN" sz="1100" dirty="0">
              <a:solidFill>
                <a:srgbClr val="ECF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9"/>
            </p:custDataLst>
          </p:nvPr>
        </p:nvSpPr>
        <p:spPr>
          <a:xfrm>
            <a:off x="3074670" y="3675380"/>
            <a:ext cx="1079500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会员中心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短信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群聊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专属客服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直播等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20"/>
            </p:custDataLst>
          </p:nvPr>
        </p:nvSpPr>
        <p:spPr>
          <a:xfrm>
            <a:off x="3112770" y="4961890"/>
            <a:ext cx="11518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订阅、群聊、</a:t>
            </a:r>
            <a:endParaRPr lang="en-US" altLang="zh-CN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专属客服、直播等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直接连接符 55"/>
          <p:cNvCxnSpPr/>
          <p:nvPr>
            <p:custDataLst>
              <p:tags r:id="rId21"/>
            </p:custDataLst>
          </p:nvPr>
        </p:nvCxnSpPr>
        <p:spPr>
          <a:xfrm>
            <a:off x="2634615" y="4923155"/>
            <a:ext cx="1513205" cy="0"/>
          </a:xfrm>
          <a:prstGeom prst="line">
            <a:avLst/>
          </a:prstGeom>
          <a:ln>
            <a:solidFill>
              <a:srgbClr val="1D4273"/>
            </a:solidFill>
            <a:prstDash val="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</p:cxnSp>
      <p:cxnSp>
        <p:nvCxnSpPr>
          <p:cNvPr id="57" name="直接连接符 56"/>
          <p:cNvCxnSpPr/>
          <p:nvPr>
            <p:custDataLst>
              <p:tags r:id="rId22"/>
            </p:custDataLst>
          </p:nvPr>
        </p:nvCxnSpPr>
        <p:spPr>
          <a:xfrm>
            <a:off x="2266315" y="3632835"/>
            <a:ext cx="1881505" cy="0"/>
          </a:xfrm>
          <a:prstGeom prst="line">
            <a:avLst/>
          </a:prstGeom>
          <a:ln>
            <a:solidFill>
              <a:srgbClr val="404040"/>
            </a:solidFill>
            <a:prstDash val="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</p:cxnSp>
      <p:sp>
        <p:nvSpPr>
          <p:cNvPr id="58" name="紫荆的职场Point57"/>
          <p:cNvSpPr/>
          <p:nvPr/>
        </p:nvSpPr>
        <p:spPr>
          <a:xfrm>
            <a:off x="1306830" y="3459480"/>
            <a:ext cx="179705" cy="1840865"/>
          </a:xfrm>
          <a:prstGeom prst="up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37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</a:gradFill>
          <a:ln w="8944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1" name="矩形 60"/>
          <p:cNvSpPr/>
          <p:nvPr>
            <p:custDataLst>
              <p:tags r:id="rId23"/>
            </p:custDataLst>
          </p:nvPr>
        </p:nvSpPr>
        <p:spPr>
          <a:xfrm>
            <a:off x="8721725" y="2983865"/>
            <a:ext cx="3166110" cy="2390140"/>
          </a:xfrm>
          <a:prstGeom prst="rect">
            <a:avLst/>
          </a:prstGeom>
          <a:gradFill flip="none" rotWithShape="1">
            <a:gsLst>
              <a:gs pos="1800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62" name="文本框 61"/>
          <p:cNvSpPr txBox="1"/>
          <p:nvPr>
            <p:custDataLst>
              <p:tags r:id="rId24"/>
            </p:custDataLst>
          </p:nvPr>
        </p:nvSpPr>
        <p:spPr>
          <a:xfrm>
            <a:off x="9769475" y="3055620"/>
            <a:ext cx="1070610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四大微型战役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25"/>
            </p:custDataLst>
          </p:nvPr>
        </p:nvSpPr>
        <p:spPr>
          <a:xfrm>
            <a:off x="8891270" y="3835400"/>
            <a:ext cx="12623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全域招募拉新</a:t>
            </a:r>
            <a:endParaRPr lang="en-US" alt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全域融合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26"/>
            </p:custDataLst>
          </p:nvPr>
        </p:nvSpPr>
        <p:spPr>
          <a:xfrm>
            <a:off x="10520680" y="3835400"/>
            <a:ext cx="12623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生命周期管理</a:t>
            </a:r>
            <a:endParaRPr lang="en-US" alt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KOC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培育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7"/>
            </p:custDataLst>
          </p:nvPr>
        </p:nvSpPr>
        <p:spPr>
          <a:xfrm>
            <a:off x="8891270" y="4800600"/>
            <a:ext cx="12623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场域提效</a:t>
            </a:r>
            <a:endParaRPr lang="en-US" alt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体验优化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8"/>
            </p:custDataLst>
          </p:nvPr>
        </p:nvSpPr>
        <p:spPr>
          <a:xfrm>
            <a:off x="10520680" y="4800600"/>
            <a:ext cx="12623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用户传播裂变</a:t>
            </a:r>
            <a:endParaRPr lang="en-US" altLang="zh-CN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>
              <a:buFont typeface="Wingdings" panose="05000000000000000000" charset="0"/>
              <a:buChar char="u"/>
            </a:pP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</a:t>
            </a:r>
            <a:r>
              <a:rPr lang="en-US" altLang="zh-CN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CLV</a:t>
            </a:r>
            <a:r>
              <a:rPr lang="zh-CN" altLang="en-US" sz="11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endParaRPr lang="zh-CN" altLang="en-US" sz="11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803005" y="3426460"/>
            <a:ext cx="1406525" cy="367665"/>
            <a:chOff x="13676" y="5141"/>
            <a:chExt cx="2215" cy="579"/>
          </a:xfrm>
        </p:grpSpPr>
        <p:sp>
          <p:nvSpPr>
            <p:cNvPr id="72" name="矩形: 圆角 5"/>
            <p:cNvSpPr/>
            <p:nvPr/>
          </p:nvSpPr>
          <p:spPr>
            <a:xfrm>
              <a:off x="13815" y="5272"/>
              <a:ext cx="2077" cy="44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3676" y="5141"/>
              <a:ext cx="385" cy="385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1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74" name="文本框 73"/>
            <p:cNvSpPr txBox="1"/>
            <p:nvPr>
              <p:custDataLst>
                <p:tags r:id="rId29"/>
              </p:custDataLst>
            </p:nvPr>
          </p:nvSpPr>
          <p:spPr>
            <a:xfrm>
              <a:off x="14187" y="5345"/>
              <a:ext cx="1440" cy="29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扩大关系数量</a:t>
              </a:r>
              <a:endPara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7" name="文本框 86"/>
          <p:cNvSpPr txBox="1"/>
          <p:nvPr>
            <p:custDataLst>
              <p:tags r:id="rId30"/>
            </p:custDataLst>
          </p:nvPr>
        </p:nvSpPr>
        <p:spPr>
          <a:xfrm>
            <a:off x="279400" y="5554980"/>
            <a:ext cx="894080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商家</a:t>
            </a:r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驱动力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31"/>
            </p:custDataLst>
          </p:nvPr>
        </p:nvSpPr>
        <p:spPr>
          <a:xfrm>
            <a:off x="393700" y="5981700"/>
            <a:ext cx="6121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生态升级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32"/>
            </p:custDataLst>
          </p:nvPr>
        </p:nvSpPr>
        <p:spPr>
          <a:xfrm>
            <a:off x="393700" y="6388100"/>
            <a:ext cx="61214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平台赋能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1250950" y="5871210"/>
            <a:ext cx="10645775" cy="374015"/>
            <a:chOff x="1782" y="8990"/>
            <a:chExt cx="16765" cy="589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2" name="任意多边形: 形状 331"/>
            <p:cNvSpPr/>
            <p:nvPr>
              <p:custDataLst>
                <p:tags r:id="rId33"/>
              </p:custDataLst>
            </p:nvPr>
          </p:nvSpPr>
          <p:spPr>
            <a:xfrm>
              <a:off x="1782" y="8990"/>
              <a:ext cx="16765" cy="589"/>
            </a:xfrm>
            <a:custGeom>
              <a:avLst/>
              <a:gdLst>
                <a:gd name="connsiteX0" fmla="*/ 0 w 2581486"/>
                <a:gd name="connsiteY0" fmla="*/ 0 h 374210"/>
                <a:gd name="connsiteX1" fmla="*/ 2581486 w 2581486"/>
                <a:gd name="connsiteY1" fmla="*/ 0 h 374210"/>
                <a:gd name="connsiteX2" fmla="*/ 2581486 w 2581486"/>
                <a:gd name="connsiteY2" fmla="*/ 374210 h 374210"/>
                <a:gd name="connsiteX3" fmla="*/ 0 w 2581486"/>
                <a:gd name="connsiteY3" fmla="*/ 374210 h 37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1486" h="374210">
                  <a:moveTo>
                    <a:pt x="0" y="0"/>
                  </a:moveTo>
                  <a:lnTo>
                    <a:pt x="2581486" y="0"/>
                  </a:lnTo>
                  <a:lnTo>
                    <a:pt x="2581486" y="374210"/>
                  </a:lnTo>
                  <a:lnTo>
                    <a:pt x="0" y="374210"/>
                  </a:lnTo>
                  <a:close/>
                </a:path>
              </a:pathLst>
            </a:custGeom>
            <a:grpFill/>
            <a:ln w="9525">
              <a:solidFill>
                <a:schemeClr val="accent2"/>
              </a:solidFill>
            </a:ln>
          </p:spPr>
          <p:style>
            <a:lnRef idx="1">
              <a:srgbClr val="A23322"/>
            </a:lnRef>
            <a:fillRef idx="0">
              <a:srgbClr val="A23322"/>
            </a:fillRef>
            <a:effectRef idx="0">
              <a:srgbClr val="A23322"/>
            </a:effectRef>
            <a:fontRef idx="minor">
              <a:srgbClr val="FE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3" name="文本框 92"/>
            <p:cNvSpPr txBox="1"/>
            <p:nvPr>
              <p:custDataLst>
                <p:tags r:id="rId34"/>
              </p:custDataLst>
            </p:nvPr>
          </p:nvSpPr>
          <p:spPr>
            <a:xfrm>
              <a:off x="8415" y="9152"/>
              <a:ext cx="3822" cy="266"/>
            </a:xfrm>
            <a:prstGeom prst="rect">
              <a:avLst/>
            </a:prstGeom>
            <a:grp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rgbClr val="FE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天猫私域生态</a:t>
              </a:r>
              <a:r>
                <a:rPr lang="en-US" altLang="zh-CN" sz="1100" b="1" dirty="0">
                  <a:solidFill>
                    <a:srgbClr val="FE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:</a:t>
              </a:r>
              <a:r>
                <a:rPr lang="zh-CN" altLang="en-US" sz="1100" b="1" dirty="0">
                  <a:solidFill>
                    <a:srgbClr val="FE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新需求、新技术、新组织</a:t>
              </a:r>
              <a:endParaRPr lang="zh-CN" altLang="en-US" sz="1100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4" name="左大括号 93"/>
          <p:cNvSpPr/>
          <p:nvPr>
            <p:custDataLst>
              <p:tags r:id="rId35"/>
            </p:custDataLst>
          </p:nvPr>
        </p:nvSpPr>
        <p:spPr>
          <a:xfrm>
            <a:off x="1044575" y="5474970"/>
            <a:ext cx="136525" cy="351155"/>
          </a:xfrm>
          <a:prstGeom prst="leftBrace">
            <a:avLst>
              <a:gd name="adj1" fmla="val 41395"/>
              <a:gd name="adj2" fmla="val 51717"/>
            </a:avLst>
          </a:prstGeom>
          <a:ln w="12700">
            <a:solidFill>
              <a:schemeClr val="accent6"/>
            </a:solidFill>
            <a:prstDash val="sys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endParaRPr lang="en-US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左大括号 94"/>
          <p:cNvSpPr/>
          <p:nvPr>
            <p:custDataLst>
              <p:tags r:id="rId36"/>
            </p:custDataLst>
          </p:nvPr>
        </p:nvSpPr>
        <p:spPr>
          <a:xfrm>
            <a:off x="1044575" y="5894070"/>
            <a:ext cx="136525" cy="351155"/>
          </a:xfrm>
          <a:prstGeom prst="leftBrace">
            <a:avLst>
              <a:gd name="adj1" fmla="val 41395"/>
              <a:gd name="adj2" fmla="val 51717"/>
            </a:avLst>
          </a:prstGeom>
          <a:ln w="12700">
            <a:solidFill>
              <a:schemeClr val="accent6"/>
            </a:solidFill>
            <a:prstDash val="sys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endParaRPr lang="en-US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左大括号 95"/>
          <p:cNvSpPr/>
          <p:nvPr>
            <p:custDataLst>
              <p:tags r:id="rId37"/>
            </p:custDataLst>
          </p:nvPr>
        </p:nvSpPr>
        <p:spPr>
          <a:xfrm>
            <a:off x="1044575" y="6313170"/>
            <a:ext cx="136525" cy="351155"/>
          </a:xfrm>
          <a:prstGeom prst="leftBrace">
            <a:avLst>
              <a:gd name="adj1" fmla="val 41395"/>
              <a:gd name="adj2" fmla="val 51717"/>
            </a:avLst>
          </a:prstGeom>
          <a:ln w="12700">
            <a:solidFill>
              <a:schemeClr val="accent6"/>
            </a:solidFill>
            <a:prstDash val="sysDash"/>
          </a:ln>
        </p:spPr>
        <p:style>
          <a:lnRef idx="1">
            <a:srgbClr val="A23322"/>
          </a:lnRef>
          <a:fillRef idx="0">
            <a:srgbClr val="A23322"/>
          </a:fillRef>
          <a:effectRef idx="0">
            <a:srgbClr val="A23322"/>
          </a:effectRef>
          <a:fontRef idx="minor">
            <a:srgbClr val="FE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en-US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endParaRPr lang="en-US" altLang="en-US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8" name="紫荆的职场Point99-1"/>
          <p:cNvSpPr/>
          <p:nvPr/>
        </p:nvSpPr>
        <p:spPr>
          <a:xfrm>
            <a:off x="5846445" y="3579495"/>
            <a:ext cx="1119505" cy="1120140"/>
          </a:xfrm>
          <a:custGeom>
            <a:avLst/>
            <a:gdLst>
              <a:gd name="connsiteX0" fmla="*/ 1209284 w 1284238"/>
              <a:gd name="connsiteY0" fmla="*/ 524400 h 1284305"/>
              <a:gd name="connsiteX1" fmla="*/ 1100416 w 1284238"/>
              <a:gd name="connsiteY1" fmla="*/ 452317 h 1284305"/>
              <a:gd name="connsiteX2" fmla="*/ 1100070 w 1284238"/>
              <a:gd name="connsiteY2" fmla="*/ 451487 h 1284305"/>
              <a:gd name="connsiteX3" fmla="*/ 1125866 w 1284238"/>
              <a:gd name="connsiteY3" fmla="*/ 323498 h 1284305"/>
              <a:gd name="connsiteX4" fmla="*/ 1129796 w 1284238"/>
              <a:gd name="connsiteY4" fmla="*/ 224442 h 1284305"/>
              <a:gd name="connsiteX5" fmla="*/ 1058033 w 1284238"/>
              <a:gd name="connsiteY5" fmla="*/ 152989 h 1284305"/>
              <a:gd name="connsiteX6" fmla="*/ 958895 w 1284238"/>
              <a:gd name="connsiteY6" fmla="*/ 157548 h 1284305"/>
              <a:gd name="connsiteX7" fmla="*/ 793770 w 1284238"/>
              <a:gd name="connsiteY7" fmla="*/ 158714 h 1284305"/>
              <a:gd name="connsiteX8" fmla="*/ 758987 w 1284238"/>
              <a:gd name="connsiteY8" fmla="*/ 74787 h 1284305"/>
              <a:gd name="connsiteX9" fmla="*/ 691828 w 1284238"/>
              <a:gd name="connsiteY9" fmla="*/ 1947 h 1284305"/>
              <a:gd name="connsiteX10" fmla="*/ 590611 w 1284238"/>
              <a:gd name="connsiteY10" fmla="*/ 2057 h 1284305"/>
              <a:gd name="connsiteX11" fmla="*/ 523571 w 1284238"/>
              <a:gd name="connsiteY11" fmla="*/ 75097 h 1284305"/>
              <a:gd name="connsiteX12" fmla="*/ 451680 w 1284238"/>
              <a:gd name="connsiteY12" fmla="*/ 184046 h 1284305"/>
              <a:gd name="connsiteX13" fmla="*/ 451507 w 1284238"/>
              <a:gd name="connsiteY13" fmla="*/ 184120 h 1284305"/>
              <a:gd name="connsiteX14" fmla="*/ 323637 w 1284238"/>
              <a:gd name="connsiteY14" fmla="*/ 158195 h 1284305"/>
              <a:gd name="connsiteX15" fmla="*/ 224636 w 1284238"/>
              <a:gd name="connsiteY15" fmla="*/ 154210 h 1284305"/>
              <a:gd name="connsiteX16" fmla="*/ 153173 w 1284238"/>
              <a:gd name="connsiteY16" fmla="*/ 225910 h 1284305"/>
              <a:gd name="connsiteX17" fmla="*/ 157450 w 1284238"/>
              <a:gd name="connsiteY17" fmla="*/ 324893 h 1284305"/>
              <a:gd name="connsiteX18" fmla="*/ 159139 w 1284238"/>
              <a:gd name="connsiteY18" fmla="*/ 489949 h 1284305"/>
              <a:gd name="connsiteX19" fmla="*/ 120428 w 1284238"/>
              <a:gd name="connsiteY19" fmla="*/ 516101 h 1284305"/>
              <a:gd name="connsiteX20" fmla="*/ 75236 w 1284238"/>
              <a:gd name="connsiteY20" fmla="*/ 525019 h 1284305"/>
              <a:gd name="connsiteX21" fmla="*/ 25557 w 1284238"/>
              <a:gd name="connsiteY21" fmla="*/ 544096 h 1284305"/>
              <a:gd name="connsiteX22" fmla="*/ 1977 w 1284238"/>
              <a:gd name="connsiteY22" fmla="*/ 592078 h 1284305"/>
              <a:gd name="connsiteX23" fmla="*/ 2031 w 1284238"/>
              <a:gd name="connsiteY23" fmla="*/ 693340 h 1284305"/>
              <a:gd name="connsiteX24" fmla="*/ 75044 w 1284238"/>
              <a:gd name="connsiteY24" fmla="*/ 760407 h 1284305"/>
              <a:gd name="connsiteX25" fmla="*/ 192899 w 1284238"/>
              <a:gd name="connsiteY25" fmla="*/ 876072 h 1284305"/>
              <a:gd name="connsiteX26" fmla="*/ 158069 w 1284238"/>
              <a:gd name="connsiteY26" fmla="*/ 960361 h 1284305"/>
              <a:gd name="connsiteX27" fmla="*/ 154048 w 1284238"/>
              <a:gd name="connsiteY27" fmla="*/ 1059417 h 1284305"/>
              <a:gd name="connsiteX28" fmla="*/ 225684 w 1284238"/>
              <a:gd name="connsiteY28" fmla="*/ 1130880 h 1284305"/>
              <a:gd name="connsiteX29" fmla="*/ 300949 w 1284238"/>
              <a:gd name="connsiteY29" fmla="*/ 1142651 h 1284305"/>
              <a:gd name="connsiteX30" fmla="*/ 324657 w 1284238"/>
              <a:gd name="connsiteY30" fmla="*/ 1126648 h 1284305"/>
              <a:gd name="connsiteX31" fmla="*/ 489780 w 1284238"/>
              <a:gd name="connsiteY31" fmla="*/ 1125167 h 1284305"/>
              <a:gd name="connsiteX32" fmla="*/ 524720 w 1284238"/>
              <a:gd name="connsiteY32" fmla="*/ 1209355 h 1284305"/>
              <a:gd name="connsiteX33" fmla="*/ 591815 w 1284238"/>
              <a:gd name="connsiteY33" fmla="*/ 1282303 h 1284305"/>
              <a:gd name="connsiteX34" fmla="*/ 693032 w 1284238"/>
              <a:gd name="connsiteY34" fmla="*/ 1282303 h 1284305"/>
              <a:gd name="connsiteX35" fmla="*/ 715053 w 1284238"/>
              <a:gd name="connsiteY35" fmla="*/ 1277015 h 1284305"/>
              <a:gd name="connsiteX36" fmla="*/ 760136 w 1284238"/>
              <a:gd name="connsiteY36" fmla="*/ 1209318 h 1284305"/>
              <a:gd name="connsiteX37" fmla="*/ 832173 w 1284238"/>
              <a:gd name="connsiteY37" fmla="*/ 1100423 h 1284305"/>
              <a:gd name="connsiteX38" fmla="*/ 832228 w 1284238"/>
              <a:gd name="connsiteY38" fmla="*/ 1100423 h 1284305"/>
              <a:gd name="connsiteX39" fmla="*/ 960135 w 1284238"/>
              <a:gd name="connsiteY39" fmla="*/ 1126402 h 1284305"/>
              <a:gd name="connsiteX40" fmla="*/ 1059190 w 1284238"/>
              <a:gd name="connsiteY40" fmla="*/ 1130470 h 1284305"/>
              <a:gd name="connsiteX41" fmla="*/ 1130681 w 1284238"/>
              <a:gd name="connsiteY41" fmla="*/ 1058860 h 1284305"/>
              <a:gd name="connsiteX42" fmla="*/ 1126496 w 1284238"/>
              <a:gd name="connsiteY42" fmla="*/ 959878 h 1284305"/>
              <a:gd name="connsiteX43" fmla="*/ 1100462 w 1284238"/>
              <a:gd name="connsiteY43" fmla="*/ 831853 h 1284305"/>
              <a:gd name="connsiteX44" fmla="*/ 1100672 w 1284238"/>
              <a:gd name="connsiteY44" fmla="*/ 831351 h 1284305"/>
              <a:gd name="connsiteX45" fmla="*/ 1209284 w 1284238"/>
              <a:gd name="connsiteY45" fmla="*/ 759815 h 1284305"/>
              <a:gd name="connsiteX46" fmla="*/ 1282233 w 1284238"/>
              <a:gd name="connsiteY46" fmla="*/ 692756 h 1284305"/>
              <a:gd name="connsiteX47" fmla="*/ 1282233 w 1284238"/>
              <a:gd name="connsiteY47" fmla="*/ 591539 h 1284305"/>
              <a:gd name="connsiteX48" fmla="*/ 1209284 w 1284238"/>
              <a:gd name="connsiteY48" fmla="*/ 524400 h 1284305"/>
              <a:gd name="connsiteX49" fmla="*/ 803870 w 1284238"/>
              <a:gd name="connsiteY49" fmla="*/ 575153 h 1284305"/>
              <a:gd name="connsiteX50" fmla="*/ 709117 w 1284238"/>
              <a:gd name="connsiteY50" fmla="*/ 803903 h 1284305"/>
              <a:gd name="connsiteX51" fmla="*/ 480367 w 1284238"/>
              <a:gd name="connsiteY51" fmla="*/ 709152 h 1284305"/>
              <a:gd name="connsiteX52" fmla="*/ 575120 w 1284238"/>
              <a:gd name="connsiteY52" fmla="*/ 480402 h 1284305"/>
              <a:gd name="connsiteX53" fmla="*/ 803878 w 1284238"/>
              <a:gd name="connsiteY53" fmla="*/ 575153 h 1284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284238" h="1284305">
                <a:moveTo>
                  <a:pt x="1209284" y="524400"/>
                </a:moveTo>
                <a:cubicBezTo>
                  <a:pt x="1161656" y="524939"/>
                  <a:pt x="1118516" y="496375"/>
                  <a:pt x="1100416" y="452317"/>
                </a:cubicBezTo>
                <a:lnTo>
                  <a:pt x="1100070" y="451487"/>
                </a:lnTo>
                <a:cubicBezTo>
                  <a:pt x="1081640" y="407567"/>
                  <a:pt x="1091863" y="356849"/>
                  <a:pt x="1125866" y="323498"/>
                </a:cubicBezTo>
                <a:cubicBezTo>
                  <a:pt x="1152849" y="296881"/>
                  <a:pt x="1154572" y="253366"/>
                  <a:pt x="1129796" y="224442"/>
                </a:cubicBezTo>
                <a:cubicBezTo>
                  <a:pt x="1107799" y="198767"/>
                  <a:pt x="1083803" y="174875"/>
                  <a:pt x="1058033" y="152989"/>
                </a:cubicBezTo>
                <a:cubicBezTo>
                  <a:pt x="1028886" y="128333"/>
                  <a:pt x="985656" y="130320"/>
                  <a:pt x="958895" y="157548"/>
                </a:cubicBezTo>
                <a:cubicBezTo>
                  <a:pt x="913619" y="203469"/>
                  <a:pt x="839691" y="203991"/>
                  <a:pt x="793770" y="158714"/>
                </a:cubicBezTo>
                <a:cubicBezTo>
                  <a:pt x="771322" y="136582"/>
                  <a:pt x="758776" y="106311"/>
                  <a:pt x="758987" y="74787"/>
                </a:cubicBezTo>
                <a:cubicBezTo>
                  <a:pt x="759243" y="36917"/>
                  <a:pt x="729743" y="4920"/>
                  <a:pt x="691828" y="1947"/>
                </a:cubicBezTo>
                <a:cubicBezTo>
                  <a:pt x="658139" y="-685"/>
                  <a:pt x="624295" y="-648"/>
                  <a:pt x="590611" y="2057"/>
                </a:cubicBezTo>
                <a:cubicBezTo>
                  <a:pt x="552651" y="5120"/>
                  <a:pt x="523206" y="37209"/>
                  <a:pt x="523571" y="75097"/>
                </a:cubicBezTo>
                <a:cubicBezTo>
                  <a:pt x="524179" y="122708"/>
                  <a:pt x="495693" y="165877"/>
                  <a:pt x="451680" y="184046"/>
                </a:cubicBezTo>
                <a:lnTo>
                  <a:pt x="451507" y="184120"/>
                </a:lnTo>
                <a:cubicBezTo>
                  <a:pt x="407593" y="202450"/>
                  <a:pt x="356943" y="192181"/>
                  <a:pt x="323637" y="158195"/>
                </a:cubicBezTo>
                <a:cubicBezTo>
                  <a:pt x="297055" y="131213"/>
                  <a:pt x="253569" y="129463"/>
                  <a:pt x="224636" y="154210"/>
                </a:cubicBezTo>
                <a:cubicBezTo>
                  <a:pt x="198958" y="176187"/>
                  <a:pt x="175063" y="200161"/>
                  <a:pt x="153173" y="225910"/>
                </a:cubicBezTo>
                <a:cubicBezTo>
                  <a:pt x="128552" y="254889"/>
                  <a:pt x="130430" y="298366"/>
                  <a:pt x="157450" y="324893"/>
                </a:cubicBezTo>
                <a:cubicBezTo>
                  <a:pt x="203495" y="370006"/>
                  <a:pt x="204252" y="443904"/>
                  <a:pt x="159139" y="489949"/>
                </a:cubicBezTo>
                <a:cubicBezTo>
                  <a:pt x="148130" y="501186"/>
                  <a:pt x="134962" y="510082"/>
                  <a:pt x="120428" y="516101"/>
                </a:cubicBezTo>
                <a:cubicBezTo>
                  <a:pt x="106110" y="522058"/>
                  <a:pt x="90744" y="525090"/>
                  <a:pt x="75236" y="525019"/>
                </a:cubicBezTo>
                <a:cubicBezTo>
                  <a:pt x="56869" y="524920"/>
                  <a:pt x="39137" y="531730"/>
                  <a:pt x="25557" y="544096"/>
                </a:cubicBezTo>
                <a:cubicBezTo>
                  <a:pt x="11861" y="556494"/>
                  <a:pt x="3425" y="573661"/>
                  <a:pt x="1977" y="592078"/>
                </a:cubicBezTo>
                <a:cubicBezTo>
                  <a:pt x="-677" y="625781"/>
                  <a:pt x="-659" y="659641"/>
                  <a:pt x="2031" y="693340"/>
                </a:cubicBezTo>
                <a:cubicBezTo>
                  <a:pt x="5077" y="731310"/>
                  <a:pt x="37156" y="760763"/>
                  <a:pt x="75044" y="760407"/>
                </a:cubicBezTo>
                <a:cubicBezTo>
                  <a:pt x="139529" y="759803"/>
                  <a:pt x="192293" y="811587"/>
                  <a:pt x="192899" y="876072"/>
                </a:cubicBezTo>
                <a:cubicBezTo>
                  <a:pt x="193196" y="907728"/>
                  <a:pt x="180626" y="938148"/>
                  <a:pt x="158069" y="960361"/>
                </a:cubicBezTo>
                <a:cubicBezTo>
                  <a:pt x="131069" y="986961"/>
                  <a:pt x="129301" y="1030465"/>
                  <a:pt x="154048" y="1059417"/>
                </a:cubicBezTo>
                <a:cubicBezTo>
                  <a:pt x="176004" y="1085090"/>
                  <a:pt x="199958" y="1108986"/>
                  <a:pt x="225684" y="1130880"/>
                </a:cubicBezTo>
                <a:cubicBezTo>
                  <a:pt x="246589" y="1148586"/>
                  <a:pt x="275635" y="1153130"/>
                  <a:pt x="300949" y="1142651"/>
                </a:cubicBezTo>
                <a:cubicBezTo>
                  <a:pt x="309848" y="1138966"/>
                  <a:pt x="317911" y="1133523"/>
                  <a:pt x="324657" y="1126648"/>
                </a:cubicBezTo>
                <a:cubicBezTo>
                  <a:pt x="369846" y="1080642"/>
                  <a:pt x="443774" y="1079979"/>
                  <a:pt x="489780" y="1125167"/>
                </a:cubicBezTo>
                <a:cubicBezTo>
                  <a:pt x="512351" y="1147337"/>
                  <a:pt x="524960" y="1177717"/>
                  <a:pt x="524720" y="1209355"/>
                </a:cubicBezTo>
                <a:cubicBezTo>
                  <a:pt x="524429" y="1247233"/>
                  <a:pt x="553900" y="1279249"/>
                  <a:pt x="591815" y="1282303"/>
                </a:cubicBezTo>
                <a:cubicBezTo>
                  <a:pt x="625501" y="1284973"/>
                  <a:pt x="659346" y="1284973"/>
                  <a:pt x="693032" y="1282303"/>
                </a:cubicBezTo>
                <a:cubicBezTo>
                  <a:pt x="700604" y="1281705"/>
                  <a:pt x="708035" y="1279920"/>
                  <a:pt x="715053" y="1277015"/>
                </a:cubicBezTo>
                <a:cubicBezTo>
                  <a:pt x="741799" y="1265936"/>
                  <a:pt x="760409" y="1239473"/>
                  <a:pt x="760136" y="1209318"/>
                </a:cubicBezTo>
                <a:cubicBezTo>
                  <a:pt x="759572" y="1161690"/>
                  <a:pt x="788121" y="1118537"/>
                  <a:pt x="832173" y="1100423"/>
                </a:cubicBezTo>
                <a:lnTo>
                  <a:pt x="832228" y="1100423"/>
                </a:lnTo>
                <a:cubicBezTo>
                  <a:pt x="876162" y="1082074"/>
                  <a:pt x="926841" y="1092368"/>
                  <a:pt x="960135" y="1126402"/>
                </a:cubicBezTo>
                <a:cubicBezTo>
                  <a:pt x="986716" y="1153412"/>
                  <a:pt x="1030230" y="1155208"/>
                  <a:pt x="1059190" y="1130470"/>
                </a:cubicBezTo>
                <a:cubicBezTo>
                  <a:pt x="1084875" y="1108525"/>
                  <a:pt x="1108780" y="1084582"/>
                  <a:pt x="1130681" y="1058860"/>
                </a:cubicBezTo>
                <a:cubicBezTo>
                  <a:pt x="1155301" y="1029909"/>
                  <a:pt x="1153478" y="986431"/>
                  <a:pt x="1126496" y="959878"/>
                </a:cubicBezTo>
                <a:cubicBezTo>
                  <a:pt x="1092391" y="926575"/>
                  <a:pt x="1082072" y="875829"/>
                  <a:pt x="1100462" y="831853"/>
                </a:cubicBezTo>
                <a:cubicBezTo>
                  <a:pt x="1100535" y="831689"/>
                  <a:pt x="1100599" y="831515"/>
                  <a:pt x="1100672" y="831351"/>
                </a:cubicBezTo>
                <a:cubicBezTo>
                  <a:pt x="1118908" y="787594"/>
                  <a:pt x="1161882" y="759290"/>
                  <a:pt x="1209284" y="759815"/>
                </a:cubicBezTo>
                <a:cubicBezTo>
                  <a:pt x="1247153" y="760126"/>
                  <a:pt x="1279187" y="730636"/>
                  <a:pt x="1282233" y="692756"/>
                </a:cubicBezTo>
                <a:cubicBezTo>
                  <a:pt x="1284907" y="659070"/>
                  <a:pt x="1284907" y="625225"/>
                  <a:pt x="1282233" y="591539"/>
                </a:cubicBezTo>
                <a:cubicBezTo>
                  <a:pt x="1279233" y="553561"/>
                  <a:pt x="1247190" y="524071"/>
                  <a:pt x="1209284" y="524400"/>
                </a:cubicBezTo>
                <a:close/>
                <a:moveTo>
                  <a:pt x="803870" y="575153"/>
                </a:moveTo>
                <a:cubicBezTo>
                  <a:pt x="840818" y="664343"/>
                  <a:pt x="798307" y="766955"/>
                  <a:pt x="709117" y="803903"/>
                </a:cubicBezTo>
                <a:cubicBezTo>
                  <a:pt x="619929" y="840853"/>
                  <a:pt x="517317" y="798342"/>
                  <a:pt x="480367" y="709152"/>
                </a:cubicBezTo>
                <a:cubicBezTo>
                  <a:pt x="443419" y="619962"/>
                  <a:pt x="485930" y="517342"/>
                  <a:pt x="575120" y="480402"/>
                </a:cubicBezTo>
                <a:cubicBezTo>
                  <a:pt x="664308" y="443462"/>
                  <a:pt x="766939" y="485965"/>
                  <a:pt x="803878" y="575153"/>
                </a:cubicBezTo>
                <a:close/>
              </a:path>
            </a:pathLst>
          </a:custGeom>
          <a:solidFill>
            <a:schemeClr val="accent5"/>
          </a:solidFill>
          <a:ln w="136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0" name="紫荆的职场Point17"/>
          <p:cNvCxnSpPr/>
          <p:nvPr/>
        </p:nvCxnSpPr>
        <p:spPr>
          <a:xfrm>
            <a:off x="6388735" y="3369945"/>
            <a:ext cx="5715" cy="213995"/>
          </a:xfrm>
          <a:prstGeom prst="line">
            <a:avLst/>
          </a:prstGeom>
          <a:ln>
            <a:solidFill>
              <a:schemeClr val="accent5"/>
            </a:solidFill>
            <a:headEnd type="none"/>
            <a:tailEnd type="none"/>
          </a:ln>
        </p:spPr>
        <p:style>
          <a:lnRef idx="2">
            <a:srgbClr val="24396B"/>
          </a:lnRef>
          <a:fillRef idx="0">
            <a:srgbClr val="24396B"/>
          </a:fillRef>
          <a:effectRef idx="1">
            <a:srgbClr val="24396B"/>
          </a:effectRef>
          <a:fontRef idx="minor">
            <a:srgbClr val="000000"/>
          </a:fontRef>
        </p:style>
      </p:cxnSp>
      <p:cxnSp>
        <p:nvCxnSpPr>
          <p:cNvPr id="101" name="紫荆的职场Point19"/>
          <p:cNvCxnSpPr/>
          <p:nvPr/>
        </p:nvCxnSpPr>
        <p:spPr>
          <a:xfrm>
            <a:off x="6386195" y="4738370"/>
            <a:ext cx="0" cy="26162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rgbClr val="24396B"/>
          </a:lnRef>
          <a:fillRef idx="0">
            <a:srgbClr val="24396B"/>
          </a:fillRef>
          <a:effectRef idx="1">
            <a:srgbClr val="24396B"/>
          </a:effectRef>
          <a:fontRef idx="minor">
            <a:srgbClr val="000000"/>
          </a:fontRef>
        </p:style>
      </p:cxnSp>
      <p:sp>
        <p:nvSpPr>
          <p:cNvPr id="102" name="紫荆的职场Point59"/>
          <p:cNvSpPr txBox="1"/>
          <p:nvPr/>
        </p:nvSpPr>
        <p:spPr>
          <a:xfrm>
            <a:off x="4712335" y="3326765"/>
            <a:ext cx="36512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紫荆的职场Point60"/>
          <p:cNvSpPr txBox="1"/>
          <p:nvPr/>
        </p:nvSpPr>
        <p:spPr>
          <a:xfrm>
            <a:off x="4264660" y="3427095"/>
            <a:ext cx="4013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数字媒体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紫荆的职场Point61"/>
          <p:cNvSpPr txBox="1"/>
          <p:nvPr/>
        </p:nvSpPr>
        <p:spPr>
          <a:xfrm>
            <a:off x="4264660" y="4568190"/>
            <a:ext cx="3930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内容平台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紫荆的职场Point62"/>
          <p:cNvSpPr txBox="1"/>
          <p:nvPr/>
        </p:nvSpPr>
        <p:spPr>
          <a:xfrm>
            <a:off x="4625975" y="4737735"/>
            <a:ext cx="49657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新零售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紫荆的职场Point63"/>
          <p:cNvSpPr txBox="1"/>
          <p:nvPr/>
        </p:nvSpPr>
        <p:spPr>
          <a:xfrm>
            <a:off x="5033010" y="4574540"/>
            <a:ext cx="4292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lang="en-US" altLang="zh-CN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紫荆的职场Point64"/>
          <p:cNvSpPr txBox="1"/>
          <p:nvPr/>
        </p:nvSpPr>
        <p:spPr>
          <a:xfrm>
            <a:off x="5264150" y="3655695"/>
            <a:ext cx="37846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自有渠道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紫荆的职场Point65"/>
          <p:cNvSpPr txBox="1"/>
          <p:nvPr/>
        </p:nvSpPr>
        <p:spPr>
          <a:xfrm>
            <a:off x="4650105" y="3968750"/>
            <a:ext cx="45148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</a:t>
            </a:r>
            <a:endParaRPr lang="zh-CN" altLang="en-US" sz="105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紫荆的职场Point66"/>
          <p:cNvSpPr txBox="1"/>
          <p:nvPr/>
        </p:nvSpPr>
        <p:spPr>
          <a:xfrm>
            <a:off x="4618990" y="4149725"/>
            <a:ext cx="51371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全域连接</a:t>
            </a:r>
            <a:endParaRPr lang="zh-CN" altLang="en-US" sz="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紫荆的职场Point67"/>
          <p:cNvSpPr/>
          <p:nvPr/>
        </p:nvSpPr>
        <p:spPr>
          <a:xfrm>
            <a:off x="4363085" y="3641725"/>
            <a:ext cx="1021715" cy="1022350"/>
          </a:xfrm>
          <a:prstGeom prst="donut">
            <a:avLst>
              <a:gd name="adj" fmla="val 2518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紫荆的职场Point69"/>
          <p:cNvSpPr/>
          <p:nvPr/>
        </p:nvSpPr>
        <p:spPr>
          <a:xfrm>
            <a:off x="5138420" y="3688715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9" name="紫荆的职场Point70"/>
          <p:cNvSpPr/>
          <p:nvPr/>
        </p:nvSpPr>
        <p:spPr>
          <a:xfrm>
            <a:off x="4381500" y="3688715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紫荆的职场Point71"/>
          <p:cNvSpPr/>
          <p:nvPr/>
        </p:nvSpPr>
        <p:spPr>
          <a:xfrm flipV="1">
            <a:off x="4759960" y="4525010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3" name="紫荆的职场Point72"/>
          <p:cNvSpPr/>
          <p:nvPr/>
        </p:nvSpPr>
        <p:spPr>
          <a:xfrm flipV="1">
            <a:off x="5138420" y="4346575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4" name="紫荆的职场Point73"/>
          <p:cNvSpPr/>
          <p:nvPr/>
        </p:nvSpPr>
        <p:spPr>
          <a:xfrm flipV="1">
            <a:off x="4381500" y="4346575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8" name="紫荆的职场Point68"/>
          <p:cNvSpPr/>
          <p:nvPr/>
        </p:nvSpPr>
        <p:spPr>
          <a:xfrm>
            <a:off x="4759960" y="3509645"/>
            <a:ext cx="227965" cy="227965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chemeClr val="accent1">
                <a:alpha val="64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0" name="紫荆的职场Point74"/>
          <p:cNvGrpSpPr/>
          <p:nvPr/>
        </p:nvGrpSpPr>
        <p:grpSpPr>
          <a:xfrm>
            <a:off x="4811395" y="3572510"/>
            <a:ext cx="124460" cy="104140"/>
            <a:chOff x="4290202" y="2776747"/>
            <a:chExt cx="142873" cy="119087"/>
          </a:xfrm>
          <a:solidFill>
            <a:srgbClr val="1D3557"/>
          </a:solidFill>
        </p:grpSpPr>
        <p:sp>
          <p:nvSpPr>
            <p:cNvPr id="133" name="紫荆的职场Point74-1"/>
            <p:cNvSpPr/>
            <p:nvPr/>
          </p:nvSpPr>
          <p:spPr>
            <a:xfrm>
              <a:off x="4290202" y="2776747"/>
              <a:ext cx="103759" cy="95123"/>
            </a:xfrm>
            <a:custGeom>
              <a:avLst/>
              <a:gdLst>
                <a:gd name="connsiteX0" fmla="*/ 81005 w 103759"/>
                <a:gd name="connsiteY0" fmla="*/ 7513 h 95123"/>
                <a:gd name="connsiteX1" fmla="*/ 1199 w 103759"/>
                <a:gd name="connsiteY1" fmla="*/ 53572 h 95123"/>
                <a:gd name="connsiteX2" fmla="*/ 20546 w 103759"/>
                <a:gd name="connsiteY2" fmla="*/ 79954 h 95123"/>
                <a:gd name="connsiteX3" fmla="*/ 15490 w 103759"/>
                <a:gd name="connsiteY3" fmla="*/ 95124 h 95123"/>
                <a:gd name="connsiteX4" fmla="*/ 32858 w 103759"/>
                <a:gd name="connsiteY4" fmla="*/ 85780 h 95123"/>
                <a:gd name="connsiteX5" fmla="*/ 54733 w 103759"/>
                <a:gd name="connsiteY5" fmla="*/ 88858 h 95123"/>
                <a:gd name="connsiteX6" fmla="*/ 103760 w 103759"/>
                <a:gd name="connsiteY6" fmla="*/ 37303 h 95123"/>
                <a:gd name="connsiteX7" fmla="*/ 81005 w 103759"/>
                <a:gd name="connsiteY7" fmla="*/ 7513 h 95123"/>
                <a:gd name="connsiteX8" fmla="*/ 33957 w 103759"/>
                <a:gd name="connsiteY8" fmla="*/ 36423 h 95123"/>
                <a:gd name="connsiteX9" fmla="*/ 26372 w 103759"/>
                <a:gd name="connsiteY9" fmla="*/ 28838 h 95123"/>
                <a:gd name="connsiteX10" fmla="*/ 33957 w 103759"/>
                <a:gd name="connsiteY10" fmla="*/ 21254 h 95123"/>
                <a:gd name="connsiteX11" fmla="*/ 41542 w 103759"/>
                <a:gd name="connsiteY11" fmla="*/ 28838 h 95123"/>
                <a:gd name="connsiteX12" fmla="*/ 33957 w 103759"/>
                <a:gd name="connsiteY12" fmla="*/ 36423 h 95123"/>
                <a:gd name="connsiteX13" fmla="*/ 69793 w 103759"/>
                <a:gd name="connsiteY13" fmla="*/ 36423 h 95123"/>
                <a:gd name="connsiteX14" fmla="*/ 62208 w 103759"/>
                <a:gd name="connsiteY14" fmla="*/ 28838 h 95123"/>
                <a:gd name="connsiteX15" fmla="*/ 69793 w 103759"/>
                <a:gd name="connsiteY15" fmla="*/ 21254 h 95123"/>
                <a:gd name="connsiteX16" fmla="*/ 77378 w 103759"/>
                <a:gd name="connsiteY16" fmla="*/ 28838 h 95123"/>
                <a:gd name="connsiteX17" fmla="*/ 69793 w 103759"/>
                <a:gd name="connsiteY17" fmla="*/ 36423 h 9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3759" h="95123">
                  <a:moveTo>
                    <a:pt x="81005" y="7513"/>
                  </a:moveTo>
                  <a:cubicBezTo>
                    <a:pt x="41212" y="-14912"/>
                    <a:pt x="-8364" y="16527"/>
                    <a:pt x="1199" y="53572"/>
                  </a:cubicBezTo>
                  <a:cubicBezTo>
                    <a:pt x="3727" y="64564"/>
                    <a:pt x="11312" y="73798"/>
                    <a:pt x="20546" y="79954"/>
                  </a:cubicBezTo>
                  <a:cubicBezTo>
                    <a:pt x="18787" y="85010"/>
                    <a:pt x="17138" y="90067"/>
                    <a:pt x="15490" y="95124"/>
                  </a:cubicBezTo>
                  <a:cubicBezTo>
                    <a:pt x="21316" y="92156"/>
                    <a:pt x="27142" y="88858"/>
                    <a:pt x="32858" y="85780"/>
                  </a:cubicBezTo>
                  <a:cubicBezTo>
                    <a:pt x="39893" y="87978"/>
                    <a:pt x="47258" y="89078"/>
                    <a:pt x="54733" y="88858"/>
                  </a:cubicBezTo>
                  <a:cubicBezTo>
                    <a:pt x="45499" y="62696"/>
                    <a:pt x="69023" y="34774"/>
                    <a:pt x="103760" y="37303"/>
                  </a:cubicBezTo>
                  <a:cubicBezTo>
                    <a:pt x="101122" y="24551"/>
                    <a:pt x="92108" y="13779"/>
                    <a:pt x="81005" y="7513"/>
                  </a:cubicBezTo>
                  <a:close/>
                  <a:moveTo>
                    <a:pt x="33957" y="36423"/>
                  </a:moveTo>
                  <a:cubicBezTo>
                    <a:pt x="29780" y="36423"/>
                    <a:pt x="26372" y="33016"/>
                    <a:pt x="26372" y="28838"/>
                  </a:cubicBezTo>
                  <a:cubicBezTo>
                    <a:pt x="26372" y="24661"/>
                    <a:pt x="29780" y="21254"/>
                    <a:pt x="33957" y="21254"/>
                  </a:cubicBezTo>
                  <a:cubicBezTo>
                    <a:pt x="38134" y="21254"/>
                    <a:pt x="41542" y="24661"/>
                    <a:pt x="41542" y="28838"/>
                  </a:cubicBezTo>
                  <a:cubicBezTo>
                    <a:pt x="41542" y="33016"/>
                    <a:pt x="38134" y="36423"/>
                    <a:pt x="33957" y="36423"/>
                  </a:cubicBezTo>
                  <a:close/>
                  <a:moveTo>
                    <a:pt x="69793" y="36423"/>
                  </a:moveTo>
                  <a:cubicBezTo>
                    <a:pt x="65616" y="36423"/>
                    <a:pt x="62208" y="33016"/>
                    <a:pt x="62208" y="28838"/>
                  </a:cubicBezTo>
                  <a:cubicBezTo>
                    <a:pt x="62208" y="24661"/>
                    <a:pt x="65616" y="21254"/>
                    <a:pt x="69793" y="21254"/>
                  </a:cubicBezTo>
                  <a:cubicBezTo>
                    <a:pt x="73970" y="21254"/>
                    <a:pt x="77378" y="24661"/>
                    <a:pt x="77378" y="28838"/>
                  </a:cubicBezTo>
                  <a:cubicBezTo>
                    <a:pt x="77268" y="33016"/>
                    <a:pt x="73970" y="36423"/>
                    <a:pt x="69793" y="36423"/>
                  </a:cubicBezTo>
                  <a:close/>
                </a:path>
              </a:pathLst>
            </a:custGeom>
            <a:solidFill>
              <a:schemeClr val="accent1"/>
            </a:solidFill>
            <a:ln w="10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5" name="紫荆的职场Point74-2"/>
            <p:cNvSpPr/>
            <p:nvPr/>
          </p:nvSpPr>
          <p:spPr>
            <a:xfrm>
              <a:off x="4345552" y="2816465"/>
              <a:ext cx="87524" cy="79370"/>
            </a:xfrm>
            <a:custGeom>
              <a:avLst/>
              <a:gdLst>
                <a:gd name="connsiteX0" fmla="*/ 66438 w 87524"/>
                <a:gd name="connsiteY0" fmla="*/ 5500 h 79370"/>
                <a:gd name="connsiteX1" fmla="*/ 4880 w 87524"/>
                <a:gd name="connsiteY1" fmla="*/ 54197 h 79370"/>
                <a:gd name="connsiteX2" fmla="*/ 60283 w 87524"/>
                <a:gd name="connsiteY2" fmla="*/ 71895 h 79370"/>
                <a:gd name="connsiteX3" fmla="*/ 74573 w 87524"/>
                <a:gd name="connsiteY3" fmla="*/ 79370 h 79370"/>
                <a:gd name="connsiteX4" fmla="*/ 70506 w 87524"/>
                <a:gd name="connsiteY4" fmla="*/ 66839 h 79370"/>
                <a:gd name="connsiteX5" fmla="*/ 66438 w 87524"/>
                <a:gd name="connsiteY5" fmla="*/ 5500 h 79370"/>
                <a:gd name="connsiteX6" fmla="*/ 29503 w 87524"/>
                <a:gd name="connsiteY6" fmla="*/ 31223 h 79370"/>
                <a:gd name="connsiteX7" fmla="*/ 23677 w 87524"/>
                <a:gd name="connsiteY7" fmla="*/ 25397 h 79370"/>
                <a:gd name="connsiteX8" fmla="*/ 29503 w 87524"/>
                <a:gd name="connsiteY8" fmla="*/ 19570 h 79370"/>
                <a:gd name="connsiteX9" fmla="*/ 35329 w 87524"/>
                <a:gd name="connsiteY9" fmla="*/ 25397 h 79370"/>
                <a:gd name="connsiteX10" fmla="*/ 29503 w 87524"/>
                <a:gd name="connsiteY10" fmla="*/ 31223 h 79370"/>
                <a:gd name="connsiteX11" fmla="*/ 58084 w 87524"/>
                <a:gd name="connsiteY11" fmla="*/ 31223 h 79370"/>
                <a:gd name="connsiteX12" fmla="*/ 52258 w 87524"/>
                <a:gd name="connsiteY12" fmla="*/ 25397 h 79370"/>
                <a:gd name="connsiteX13" fmla="*/ 58084 w 87524"/>
                <a:gd name="connsiteY13" fmla="*/ 19570 h 79370"/>
                <a:gd name="connsiteX14" fmla="*/ 63910 w 87524"/>
                <a:gd name="connsiteY14" fmla="*/ 25397 h 79370"/>
                <a:gd name="connsiteX15" fmla="*/ 58084 w 87524"/>
                <a:gd name="connsiteY15" fmla="*/ 31223 h 7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7524" h="79370">
                  <a:moveTo>
                    <a:pt x="66438" y="5500"/>
                  </a:moveTo>
                  <a:cubicBezTo>
                    <a:pt x="28404" y="-13847"/>
                    <a:pt x="-14687" y="21549"/>
                    <a:pt x="4880" y="54197"/>
                  </a:cubicBezTo>
                  <a:cubicBezTo>
                    <a:pt x="14114" y="69477"/>
                    <a:pt x="35220" y="79260"/>
                    <a:pt x="60283" y="71895"/>
                  </a:cubicBezTo>
                  <a:cubicBezTo>
                    <a:pt x="65339" y="73874"/>
                    <a:pt x="69846" y="76952"/>
                    <a:pt x="74573" y="79370"/>
                  </a:cubicBezTo>
                  <a:cubicBezTo>
                    <a:pt x="73364" y="75193"/>
                    <a:pt x="71935" y="71016"/>
                    <a:pt x="70506" y="66839"/>
                  </a:cubicBezTo>
                  <a:cubicBezTo>
                    <a:pt x="96448" y="48371"/>
                    <a:pt x="90842" y="18032"/>
                    <a:pt x="66438" y="5500"/>
                  </a:cubicBezTo>
                  <a:close/>
                  <a:moveTo>
                    <a:pt x="29503" y="31223"/>
                  </a:moveTo>
                  <a:cubicBezTo>
                    <a:pt x="26206" y="31223"/>
                    <a:pt x="23677" y="28584"/>
                    <a:pt x="23677" y="25397"/>
                  </a:cubicBezTo>
                  <a:cubicBezTo>
                    <a:pt x="23677" y="22209"/>
                    <a:pt x="26316" y="19570"/>
                    <a:pt x="29503" y="19570"/>
                  </a:cubicBezTo>
                  <a:cubicBezTo>
                    <a:pt x="32691" y="19570"/>
                    <a:pt x="35329" y="22209"/>
                    <a:pt x="35329" y="25397"/>
                  </a:cubicBezTo>
                  <a:cubicBezTo>
                    <a:pt x="35329" y="28584"/>
                    <a:pt x="32801" y="31223"/>
                    <a:pt x="29503" y="31223"/>
                  </a:cubicBezTo>
                  <a:close/>
                  <a:moveTo>
                    <a:pt x="58084" y="31223"/>
                  </a:moveTo>
                  <a:cubicBezTo>
                    <a:pt x="54786" y="31223"/>
                    <a:pt x="52258" y="28584"/>
                    <a:pt x="52258" y="25397"/>
                  </a:cubicBezTo>
                  <a:cubicBezTo>
                    <a:pt x="52258" y="22209"/>
                    <a:pt x="54896" y="19570"/>
                    <a:pt x="58084" y="19570"/>
                  </a:cubicBezTo>
                  <a:cubicBezTo>
                    <a:pt x="61272" y="19570"/>
                    <a:pt x="63910" y="22209"/>
                    <a:pt x="63910" y="25397"/>
                  </a:cubicBezTo>
                  <a:cubicBezTo>
                    <a:pt x="63910" y="28584"/>
                    <a:pt x="61162" y="31223"/>
                    <a:pt x="58084" y="31223"/>
                  </a:cubicBezTo>
                  <a:close/>
                </a:path>
              </a:pathLst>
            </a:custGeom>
            <a:solidFill>
              <a:schemeClr val="accent1"/>
            </a:solidFill>
            <a:ln w="10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9" name="紫荆的职场Point75"/>
          <p:cNvSpPr/>
          <p:nvPr/>
        </p:nvSpPr>
        <p:spPr>
          <a:xfrm>
            <a:off x="5186045" y="3742690"/>
            <a:ext cx="132080" cy="120015"/>
          </a:xfrm>
          <a:custGeom>
            <a:avLst/>
            <a:gdLst>
              <a:gd name="connsiteX0" fmla="*/ 172210 w 197939"/>
              <a:gd name="connsiteY0" fmla="*/ 42158 h 179438"/>
              <a:gd name="connsiteX1" fmla="*/ 172352 w 197939"/>
              <a:gd name="connsiteY1" fmla="*/ 46059 h 179438"/>
              <a:gd name="connsiteX2" fmla="*/ 117954 w 197939"/>
              <a:gd name="connsiteY2" fmla="*/ 99918 h 179438"/>
              <a:gd name="connsiteX3" fmla="*/ 63557 w 197939"/>
              <a:gd name="connsiteY3" fmla="*/ 46059 h 179438"/>
              <a:gd name="connsiteX4" fmla="*/ 63696 w 197939"/>
              <a:gd name="connsiteY4" fmla="*/ 42158 h 179438"/>
              <a:gd name="connsiteX5" fmla="*/ 51568 w 197939"/>
              <a:gd name="connsiteY5" fmla="*/ 42158 h 179438"/>
              <a:gd name="connsiteX6" fmla="*/ 51568 w 197939"/>
              <a:gd name="connsiteY6" fmla="*/ 35233 h 179438"/>
              <a:gd name="connsiteX7" fmla="*/ 45615 w 197939"/>
              <a:gd name="connsiteY7" fmla="*/ 21002 h 179438"/>
              <a:gd name="connsiteX8" fmla="*/ 31242 w 197939"/>
              <a:gd name="connsiteY8" fmla="*/ 15109 h 179438"/>
              <a:gd name="connsiteX9" fmla="*/ 28192 w 197939"/>
              <a:gd name="connsiteY9" fmla="*/ 15109 h 179438"/>
              <a:gd name="connsiteX10" fmla="*/ 14373 w 197939"/>
              <a:gd name="connsiteY10" fmla="*/ 4798 h 179438"/>
              <a:gd name="connsiteX11" fmla="*/ 0 w 197939"/>
              <a:gd name="connsiteY11" fmla="*/ 19028 h 179438"/>
              <a:gd name="connsiteX12" fmla="*/ 14373 w 197939"/>
              <a:gd name="connsiteY12" fmla="*/ 33259 h 179438"/>
              <a:gd name="connsiteX13" fmla="*/ 28192 w 197939"/>
              <a:gd name="connsiteY13" fmla="*/ 22948 h 179438"/>
              <a:gd name="connsiteX14" fmla="*/ 31242 w 197939"/>
              <a:gd name="connsiteY14" fmla="*/ 22948 h 179438"/>
              <a:gd name="connsiteX15" fmla="*/ 40016 w 197939"/>
              <a:gd name="connsiteY15" fmla="*/ 26545 h 179438"/>
              <a:gd name="connsiteX16" fmla="*/ 43650 w 197939"/>
              <a:gd name="connsiteY16" fmla="*/ 35233 h 179438"/>
              <a:gd name="connsiteX17" fmla="*/ 43650 w 197939"/>
              <a:gd name="connsiteY17" fmla="*/ 42158 h 179438"/>
              <a:gd name="connsiteX18" fmla="*/ 42287 w 197939"/>
              <a:gd name="connsiteY18" fmla="*/ 42158 h 179438"/>
              <a:gd name="connsiteX19" fmla="*/ 31228 w 197939"/>
              <a:gd name="connsiteY19" fmla="*/ 46693 h 179438"/>
              <a:gd name="connsiteX20" fmla="*/ 26647 w 197939"/>
              <a:gd name="connsiteY20" fmla="*/ 57642 h 179438"/>
              <a:gd name="connsiteX21" fmla="*/ 26647 w 197939"/>
              <a:gd name="connsiteY21" fmla="*/ 115753 h 179438"/>
              <a:gd name="connsiteX22" fmla="*/ 31139 w 197939"/>
              <a:gd name="connsiteY22" fmla="*/ 126611 h 179438"/>
              <a:gd name="connsiteX23" fmla="*/ 31139 w 197939"/>
              <a:gd name="connsiteY23" fmla="*/ 146969 h 179438"/>
              <a:gd name="connsiteX24" fmla="*/ 46078 w 197939"/>
              <a:gd name="connsiteY24" fmla="*/ 164266 h 179438"/>
              <a:gd name="connsiteX25" fmla="*/ 64783 w 197939"/>
              <a:gd name="connsiteY25" fmla="*/ 179438 h 179438"/>
              <a:gd name="connsiteX26" fmla="*/ 83442 w 197939"/>
              <a:gd name="connsiteY26" fmla="*/ 164474 h 179438"/>
              <a:gd name="connsiteX27" fmla="*/ 133705 w 197939"/>
              <a:gd name="connsiteY27" fmla="*/ 164474 h 179438"/>
              <a:gd name="connsiteX28" fmla="*/ 152366 w 197939"/>
              <a:gd name="connsiteY28" fmla="*/ 179438 h 179438"/>
              <a:gd name="connsiteX29" fmla="*/ 171439 w 197939"/>
              <a:gd name="connsiteY29" fmla="*/ 160554 h 179438"/>
              <a:gd name="connsiteX30" fmla="*/ 152366 w 197939"/>
              <a:gd name="connsiteY30" fmla="*/ 141672 h 179438"/>
              <a:gd name="connsiteX31" fmla="*/ 133705 w 197939"/>
              <a:gd name="connsiteY31" fmla="*/ 156634 h 179438"/>
              <a:gd name="connsiteX32" fmla="*/ 83442 w 197939"/>
              <a:gd name="connsiteY32" fmla="*/ 156634 h 179438"/>
              <a:gd name="connsiteX33" fmla="*/ 64783 w 197939"/>
              <a:gd name="connsiteY33" fmla="*/ 141672 h 179438"/>
              <a:gd name="connsiteX34" fmla="*/ 46201 w 197939"/>
              <a:gd name="connsiteY34" fmla="*/ 156285 h 179438"/>
              <a:gd name="connsiteX35" fmla="*/ 39057 w 197939"/>
              <a:gd name="connsiteY35" fmla="*/ 146969 h 179438"/>
              <a:gd name="connsiteX36" fmla="*/ 39057 w 197939"/>
              <a:gd name="connsiteY36" fmla="*/ 130903 h 179438"/>
              <a:gd name="connsiteX37" fmla="*/ 42287 w 197939"/>
              <a:gd name="connsiteY37" fmla="*/ 131237 h 179438"/>
              <a:gd name="connsiteX38" fmla="*/ 159189 w 197939"/>
              <a:gd name="connsiteY38" fmla="*/ 131237 h 179438"/>
              <a:gd name="connsiteX39" fmla="*/ 173739 w 197939"/>
              <a:gd name="connsiteY39" fmla="*/ 121426 h 179438"/>
              <a:gd name="connsiteX40" fmla="*/ 196852 w 197939"/>
              <a:gd name="connsiteY40" fmla="*/ 63316 h 179438"/>
              <a:gd name="connsiteX41" fmla="*/ 195228 w 197939"/>
              <a:gd name="connsiteY41" fmla="*/ 48927 h 179438"/>
              <a:gd name="connsiteX42" fmla="*/ 182301 w 197939"/>
              <a:gd name="connsiteY42" fmla="*/ 42158 h 179438"/>
              <a:gd name="connsiteX43" fmla="*/ 152366 w 197939"/>
              <a:gd name="connsiteY43" fmla="*/ 153781 h 179438"/>
              <a:gd name="connsiteX44" fmla="*/ 159207 w 197939"/>
              <a:gd name="connsiteY44" fmla="*/ 160554 h 179438"/>
              <a:gd name="connsiteX45" fmla="*/ 152366 w 197939"/>
              <a:gd name="connsiteY45" fmla="*/ 167329 h 179438"/>
              <a:gd name="connsiteX46" fmla="*/ 145525 w 197939"/>
              <a:gd name="connsiteY46" fmla="*/ 160554 h 179438"/>
              <a:gd name="connsiteX47" fmla="*/ 152366 w 197939"/>
              <a:gd name="connsiteY47" fmla="*/ 153781 h 179438"/>
              <a:gd name="connsiteX48" fmla="*/ 64783 w 197939"/>
              <a:gd name="connsiteY48" fmla="*/ 153781 h 179438"/>
              <a:gd name="connsiteX49" fmla="*/ 71624 w 197939"/>
              <a:gd name="connsiteY49" fmla="*/ 160554 h 179438"/>
              <a:gd name="connsiteX50" fmla="*/ 64783 w 197939"/>
              <a:gd name="connsiteY50" fmla="*/ 167329 h 179438"/>
              <a:gd name="connsiteX51" fmla="*/ 57940 w 197939"/>
              <a:gd name="connsiteY51" fmla="*/ 160554 h 179438"/>
              <a:gd name="connsiteX52" fmla="*/ 64783 w 197939"/>
              <a:gd name="connsiteY52" fmla="*/ 153781 h 179438"/>
              <a:gd name="connsiteX53" fmla="*/ 104761 w 197939"/>
              <a:gd name="connsiteY53" fmla="*/ 62562 h 179438"/>
              <a:gd name="connsiteX54" fmla="*/ 131148 w 197939"/>
              <a:gd name="connsiteY54" fmla="*/ 62562 h 179438"/>
              <a:gd name="connsiteX55" fmla="*/ 122250 w 197939"/>
              <a:gd name="connsiteY55" fmla="*/ 91923 h 179438"/>
              <a:gd name="connsiteX56" fmla="*/ 117954 w 197939"/>
              <a:gd name="connsiteY56" fmla="*/ 92119 h 179438"/>
              <a:gd name="connsiteX57" fmla="*/ 113656 w 197939"/>
              <a:gd name="connsiteY57" fmla="*/ 91923 h 179438"/>
              <a:gd name="connsiteX58" fmla="*/ 104761 w 197939"/>
              <a:gd name="connsiteY58" fmla="*/ 62562 h 179438"/>
              <a:gd name="connsiteX59" fmla="*/ 97027 w 197939"/>
              <a:gd name="connsiteY59" fmla="*/ 63870 h 179438"/>
              <a:gd name="connsiteX60" fmla="*/ 104240 w 197939"/>
              <a:gd name="connsiteY60" fmla="*/ 90081 h 179438"/>
              <a:gd name="connsiteX61" fmla="*/ 78156 w 197939"/>
              <a:gd name="connsiteY61" fmla="*/ 69909 h 179438"/>
              <a:gd name="connsiteX62" fmla="*/ 97027 w 197939"/>
              <a:gd name="connsiteY62" fmla="*/ 63870 h 179438"/>
              <a:gd name="connsiteX63" fmla="*/ 138879 w 197939"/>
              <a:gd name="connsiteY63" fmla="*/ 63870 h 179438"/>
              <a:gd name="connsiteX64" fmla="*/ 157750 w 197939"/>
              <a:gd name="connsiteY64" fmla="*/ 69909 h 179438"/>
              <a:gd name="connsiteX65" fmla="*/ 131669 w 197939"/>
              <a:gd name="connsiteY65" fmla="*/ 90081 h 179438"/>
              <a:gd name="connsiteX66" fmla="*/ 138879 w 197939"/>
              <a:gd name="connsiteY66" fmla="*/ 63870 h 179438"/>
              <a:gd name="connsiteX67" fmla="*/ 74656 w 197939"/>
              <a:gd name="connsiteY67" fmla="*/ 29195 h 179438"/>
              <a:gd name="connsiteX68" fmla="*/ 96118 w 197939"/>
              <a:gd name="connsiteY68" fmla="*/ 35998 h 179438"/>
              <a:gd name="connsiteX69" fmla="*/ 96118 w 197939"/>
              <a:gd name="connsiteY69" fmla="*/ 56120 h 179438"/>
              <a:gd name="connsiteX70" fmla="*/ 74656 w 197939"/>
              <a:gd name="connsiteY70" fmla="*/ 62922 h 179438"/>
              <a:gd name="connsiteX71" fmla="*/ 71434 w 197939"/>
              <a:gd name="connsiteY71" fmla="*/ 46059 h 179438"/>
              <a:gd name="connsiteX72" fmla="*/ 74656 w 197939"/>
              <a:gd name="connsiteY72" fmla="*/ 29195 h 179438"/>
              <a:gd name="connsiteX73" fmla="*/ 161253 w 197939"/>
              <a:gd name="connsiteY73" fmla="*/ 29195 h 179438"/>
              <a:gd name="connsiteX74" fmla="*/ 164474 w 197939"/>
              <a:gd name="connsiteY74" fmla="*/ 46059 h 179438"/>
              <a:gd name="connsiteX75" fmla="*/ 161253 w 197939"/>
              <a:gd name="connsiteY75" fmla="*/ 62922 h 179438"/>
              <a:gd name="connsiteX76" fmla="*/ 139788 w 197939"/>
              <a:gd name="connsiteY76" fmla="*/ 56120 h 179438"/>
              <a:gd name="connsiteX77" fmla="*/ 139788 w 197939"/>
              <a:gd name="connsiteY77" fmla="*/ 35998 h 179438"/>
              <a:gd name="connsiteX78" fmla="*/ 161253 w 197939"/>
              <a:gd name="connsiteY78" fmla="*/ 29195 h 179438"/>
              <a:gd name="connsiteX79" fmla="*/ 103878 w 197939"/>
              <a:gd name="connsiteY79" fmla="*/ 37272 h 179438"/>
              <a:gd name="connsiteX80" fmla="*/ 132028 w 197939"/>
              <a:gd name="connsiteY80" fmla="*/ 37272 h 179438"/>
              <a:gd name="connsiteX81" fmla="*/ 132028 w 197939"/>
              <a:gd name="connsiteY81" fmla="*/ 54847 h 179438"/>
              <a:gd name="connsiteX82" fmla="*/ 103878 w 197939"/>
              <a:gd name="connsiteY82" fmla="*/ 54847 h 179438"/>
              <a:gd name="connsiteX83" fmla="*/ 103878 w 197939"/>
              <a:gd name="connsiteY83" fmla="*/ 37272 h 179438"/>
              <a:gd name="connsiteX84" fmla="*/ 104761 w 197939"/>
              <a:gd name="connsiteY84" fmla="*/ 29557 h 179438"/>
              <a:gd name="connsiteX85" fmla="*/ 113656 w 197939"/>
              <a:gd name="connsiteY85" fmla="*/ 194 h 179438"/>
              <a:gd name="connsiteX86" fmla="*/ 117954 w 197939"/>
              <a:gd name="connsiteY86" fmla="*/ 0 h 179438"/>
              <a:gd name="connsiteX87" fmla="*/ 122248 w 197939"/>
              <a:gd name="connsiteY87" fmla="*/ 194 h 179438"/>
              <a:gd name="connsiteX88" fmla="*/ 131146 w 197939"/>
              <a:gd name="connsiteY88" fmla="*/ 29557 h 179438"/>
              <a:gd name="connsiteX89" fmla="*/ 104761 w 197939"/>
              <a:gd name="connsiteY89" fmla="*/ 29557 h 179438"/>
              <a:gd name="connsiteX90" fmla="*/ 78156 w 197939"/>
              <a:gd name="connsiteY90" fmla="*/ 22208 h 179438"/>
              <a:gd name="connsiteX91" fmla="*/ 104240 w 197939"/>
              <a:gd name="connsiteY91" fmla="*/ 2038 h 179438"/>
              <a:gd name="connsiteX92" fmla="*/ 97027 w 197939"/>
              <a:gd name="connsiteY92" fmla="*/ 28249 h 179438"/>
              <a:gd name="connsiteX93" fmla="*/ 78156 w 197939"/>
              <a:gd name="connsiteY93" fmla="*/ 22208 h 179438"/>
              <a:gd name="connsiteX94" fmla="*/ 138879 w 197939"/>
              <a:gd name="connsiteY94" fmla="*/ 28249 h 179438"/>
              <a:gd name="connsiteX95" fmla="*/ 131669 w 197939"/>
              <a:gd name="connsiteY95" fmla="*/ 2038 h 179438"/>
              <a:gd name="connsiteX96" fmla="*/ 157750 w 197939"/>
              <a:gd name="connsiteY96" fmla="*/ 22208 h 179438"/>
              <a:gd name="connsiteX97" fmla="*/ 138879 w 197939"/>
              <a:gd name="connsiteY97" fmla="*/ 28249 h 179438"/>
              <a:gd name="connsiteX98" fmla="*/ 14373 w 197939"/>
              <a:gd name="connsiteY98" fmla="*/ 14187 h 179438"/>
              <a:gd name="connsiteX99" fmla="*/ 19265 w 197939"/>
              <a:gd name="connsiteY99" fmla="*/ 19028 h 179438"/>
              <a:gd name="connsiteX100" fmla="*/ 14373 w 197939"/>
              <a:gd name="connsiteY100" fmla="*/ 23872 h 179438"/>
              <a:gd name="connsiteX101" fmla="*/ 9481 w 197939"/>
              <a:gd name="connsiteY101" fmla="*/ 19028 h 179438"/>
              <a:gd name="connsiteX102" fmla="*/ 14373 w 197939"/>
              <a:gd name="connsiteY102" fmla="*/ 14187 h 179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197939" h="179438">
                <a:moveTo>
                  <a:pt x="172210" y="42158"/>
                </a:moveTo>
                <a:cubicBezTo>
                  <a:pt x="172303" y="43448"/>
                  <a:pt x="172352" y="44748"/>
                  <a:pt x="172352" y="46059"/>
                </a:cubicBezTo>
                <a:cubicBezTo>
                  <a:pt x="172352" y="75785"/>
                  <a:pt x="147977" y="99918"/>
                  <a:pt x="117954" y="99918"/>
                </a:cubicBezTo>
                <a:cubicBezTo>
                  <a:pt x="87930" y="99918"/>
                  <a:pt x="63557" y="75785"/>
                  <a:pt x="63557" y="46059"/>
                </a:cubicBezTo>
                <a:cubicBezTo>
                  <a:pt x="63557" y="44748"/>
                  <a:pt x="63604" y="43448"/>
                  <a:pt x="63696" y="42158"/>
                </a:cubicBezTo>
                <a:lnTo>
                  <a:pt x="51568" y="42158"/>
                </a:lnTo>
                <a:lnTo>
                  <a:pt x="51568" y="35233"/>
                </a:lnTo>
                <a:cubicBezTo>
                  <a:pt x="51568" y="29895"/>
                  <a:pt x="49427" y="24778"/>
                  <a:pt x="45615" y="21002"/>
                </a:cubicBezTo>
                <a:cubicBezTo>
                  <a:pt x="41802" y="17228"/>
                  <a:pt x="36633" y="15109"/>
                  <a:pt x="31242" y="15109"/>
                </a:cubicBezTo>
                <a:lnTo>
                  <a:pt x="28192" y="15109"/>
                </a:lnTo>
                <a:cubicBezTo>
                  <a:pt x="26471" y="9157"/>
                  <a:pt x="20933" y="4798"/>
                  <a:pt x="14373" y="4798"/>
                </a:cubicBezTo>
                <a:cubicBezTo>
                  <a:pt x="6441" y="4798"/>
                  <a:pt x="0" y="11173"/>
                  <a:pt x="0" y="19028"/>
                </a:cubicBezTo>
                <a:cubicBezTo>
                  <a:pt x="0" y="26881"/>
                  <a:pt x="6441" y="33259"/>
                  <a:pt x="14373" y="33259"/>
                </a:cubicBezTo>
                <a:cubicBezTo>
                  <a:pt x="20933" y="33259"/>
                  <a:pt x="26471" y="28899"/>
                  <a:pt x="28192" y="22948"/>
                </a:cubicBezTo>
                <a:lnTo>
                  <a:pt x="31242" y="22948"/>
                </a:lnTo>
                <a:cubicBezTo>
                  <a:pt x="34533" y="22948"/>
                  <a:pt x="37689" y="24242"/>
                  <a:pt x="40016" y="26545"/>
                </a:cubicBezTo>
                <a:cubicBezTo>
                  <a:pt x="42343" y="28849"/>
                  <a:pt x="43650" y="31975"/>
                  <a:pt x="43650" y="35233"/>
                </a:cubicBezTo>
                <a:lnTo>
                  <a:pt x="43650" y="42158"/>
                </a:lnTo>
                <a:lnTo>
                  <a:pt x="42287" y="42158"/>
                </a:lnTo>
                <a:cubicBezTo>
                  <a:pt x="38138" y="42158"/>
                  <a:pt x="34161" y="43790"/>
                  <a:pt x="31228" y="46693"/>
                </a:cubicBezTo>
                <a:cubicBezTo>
                  <a:pt x="28295" y="49597"/>
                  <a:pt x="26647" y="53535"/>
                  <a:pt x="26647" y="57642"/>
                </a:cubicBezTo>
                <a:lnTo>
                  <a:pt x="26647" y="115753"/>
                </a:lnTo>
                <a:cubicBezTo>
                  <a:pt x="26647" y="119816"/>
                  <a:pt x="28261" y="123716"/>
                  <a:pt x="31139" y="126611"/>
                </a:cubicBezTo>
                <a:lnTo>
                  <a:pt x="31139" y="146969"/>
                </a:lnTo>
                <a:cubicBezTo>
                  <a:pt x="31139" y="155715"/>
                  <a:pt x="37615" y="162962"/>
                  <a:pt x="46078" y="164266"/>
                </a:cubicBezTo>
                <a:cubicBezTo>
                  <a:pt x="47821" y="172913"/>
                  <a:pt x="55538" y="179438"/>
                  <a:pt x="64783" y="179438"/>
                </a:cubicBezTo>
                <a:cubicBezTo>
                  <a:pt x="73951" y="179438"/>
                  <a:pt x="81618" y="173019"/>
                  <a:pt x="83442" y="164474"/>
                </a:cubicBezTo>
                <a:lnTo>
                  <a:pt x="133705" y="164474"/>
                </a:lnTo>
                <a:cubicBezTo>
                  <a:pt x="135529" y="173019"/>
                  <a:pt x="143196" y="179438"/>
                  <a:pt x="152366" y="179438"/>
                </a:cubicBezTo>
                <a:cubicBezTo>
                  <a:pt x="162891" y="179438"/>
                  <a:pt x="171439" y="170977"/>
                  <a:pt x="171439" y="160554"/>
                </a:cubicBezTo>
                <a:cubicBezTo>
                  <a:pt x="171439" y="150133"/>
                  <a:pt x="162891" y="141672"/>
                  <a:pt x="152366" y="141672"/>
                </a:cubicBezTo>
                <a:cubicBezTo>
                  <a:pt x="143196" y="141672"/>
                  <a:pt x="135529" y="148091"/>
                  <a:pt x="133705" y="156634"/>
                </a:cubicBezTo>
                <a:lnTo>
                  <a:pt x="83442" y="156634"/>
                </a:lnTo>
                <a:cubicBezTo>
                  <a:pt x="81618" y="148091"/>
                  <a:pt x="73951" y="141672"/>
                  <a:pt x="64783" y="141672"/>
                </a:cubicBezTo>
                <a:cubicBezTo>
                  <a:pt x="55738" y="141672"/>
                  <a:pt x="48158" y="147917"/>
                  <a:pt x="46201" y="156285"/>
                </a:cubicBezTo>
                <a:cubicBezTo>
                  <a:pt x="42081" y="155151"/>
                  <a:pt x="39057" y="151409"/>
                  <a:pt x="39057" y="146969"/>
                </a:cubicBezTo>
                <a:lnTo>
                  <a:pt x="39057" y="130903"/>
                </a:lnTo>
                <a:cubicBezTo>
                  <a:pt x="40111" y="131123"/>
                  <a:pt x="41192" y="131237"/>
                  <a:pt x="42287" y="131237"/>
                </a:cubicBezTo>
                <a:lnTo>
                  <a:pt x="159189" y="131237"/>
                </a:lnTo>
                <a:cubicBezTo>
                  <a:pt x="165614" y="131235"/>
                  <a:pt x="171384" y="127345"/>
                  <a:pt x="173739" y="121426"/>
                </a:cubicBezTo>
                <a:lnTo>
                  <a:pt x="196852" y="63316"/>
                </a:lnTo>
                <a:cubicBezTo>
                  <a:pt x="198748" y="58548"/>
                  <a:pt x="198140" y="53163"/>
                  <a:pt x="195228" y="48927"/>
                </a:cubicBezTo>
                <a:cubicBezTo>
                  <a:pt x="192315" y="44694"/>
                  <a:pt x="187476" y="42158"/>
                  <a:pt x="182301" y="42158"/>
                </a:cubicBezTo>
                <a:close/>
                <a:moveTo>
                  <a:pt x="152366" y="153781"/>
                </a:moveTo>
                <a:cubicBezTo>
                  <a:pt x="156143" y="153781"/>
                  <a:pt x="159207" y="156816"/>
                  <a:pt x="159207" y="160554"/>
                </a:cubicBezTo>
                <a:cubicBezTo>
                  <a:pt x="159207" y="164296"/>
                  <a:pt x="156143" y="167329"/>
                  <a:pt x="152366" y="167329"/>
                </a:cubicBezTo>
                <a:cubicBezTo>
                  <a:pt x="148591" y="167329"/>
                  <a:pt x="145525" y="164296"/>
                  <a:pt x="145525" y="160554"/>
                </a:cubicBezTo>
                <a:cubicBezTo>
                  <a:pt x="145525" y="156816"/>
                  <a:pt x="148591" y="153781"/>
                  <a:pt x="152366" y="153781"/>
                </a:cubicBezTo>
                <a:close/>
                <a:moveTo>
                  <a:pt x="64783" y="153781"/>
                </a:moveTo>
                <a:cubicBezTo>
                  <a:pt x="68558" y="153781"/>
                  <a:pt x="71624" y="156816"/>
                  <a:pt x="71624" y="160554"/>
                </a:cubicBezTo>
                <a:cubicBezTo>
                  <a:pt x="71624" y="164296"/>
                  <a:pt x="68558" y="167329"/>
                  <a:pt x="64783" y="167329"/>
                </a:cubicBezTo>
                <a:cubicBezTo>
                  <a:pt x="61006" y="167329"/>
                  <a:pt x="57940" y="164296"/>
                  <a:pt x="57940" y="160554"/>
                </a:cubicBezTo>
                <a:cubicBezTo>
                  <a:pt x="57940" y="156816"/>
                  <a:pt x="61006" y="153781"/>
                  <a:pt x="64783" y="153781"/>
                </a:cubicBezTo>
                <a:close/>
                <a:moveTo>
                  <a:pt x="104761" y="62562"/>
                </a:moveTo>
                <a:cubicBezTo>
                  <a:pt x="113495" y="61432"/>
                  <a:pt x="122412" y="61432"/>
                  <a:pt x="131148" y="62562"/>
                </a:cubicBezTo>
                <a:cubicBezTo>
                  <a:pt x="129615" y="72769"/>
                  <a:pt x="126650" y="82718"/>
                  <a:pt x="122250" y="91923"/>
                </a:cubicBezTo>
                <a:cubicBezTo>
                  <a:pt x="120835" y="92053"/>
                  <a:pt x="119403" y="92119"/>
                  <a:pt x="117954" y="92119"/>
                </a:cubicBezTo>
                <a:cubicBezTo>
                  <a:pt x="116506" y="92119"/>
                  <a:pt x="115072" y="92053"/>
                  <a:pt x="113656" y="91923"/>
                </a:cubicBezTo>
                <a:cubicBezTo>
                  <a:pt x="109257" y="82716"/>
                  <a:pt x="106292" y="72767"/>
                  <a:pt x="104761" y="62562"/>
                </a:cubicBezTo>
                <a:close/>
                <a:moveTo>
                  <a:pt x="97027" y="63870"/>
                </a:moveTo>
                <a:cubicBezTo>
                  <a:pt x="98389" y="72893"/>
                  <a:pt x="100792" y="81726"/>
                  <a:pt x="104240" y="90081"/>
                </a:cubicBezTo>
                <a:cubicBezTo>
                  <a:pt x="93256" y="86725"/>
                  <a:pt x="84006" y="79450"/>
                  <a:pt x="78156" y="69909"/>
                </a:cubicBezTo>
                <a:cubicBezTo>
                  <a:pt x="84173" y="67247"/>
                  <a:pt x="90515" y="65236"/>
                  <a:pt x="97027" y="63870"/>
                </a:cubicBezTo>
                <a:close/>
                <a:moveTo>
                  <a:pt x="138879" y="63870"/>
                </a:moveTo>
                <a:cubicBezTo>
                  <a:pt x="145389" y="65234"/>
                  <a:pt x="151731" y="67247"/>
                  <a:pt x="157750" y="69909"/>
                </a:cubicBezTo>
                <a:cubicBezTo>
                  <a:pt x="151901" y="79450"/>
                  <a:pt x="142650" y="86725"/>
                  <a:pt x="131669" y="90081"/>
                </a:cubicBezTo>
                <a:cubicBezTo>
                  <a:pt x="135115" y="81726"/>
                  <a:pt x="137518" y="72893"/>
                  <a:pt x="138879" y="63870"/>
                </a:cubicBezTo>
                <a:close/>
                <a:moveTo>
                  <a:pt x="74656" y="29195"/>
                </a:moveTo>
                <a:cubicBezTo>
                  <a:pt x="81485" y="32237"/>
                  <a:pt x="88706" y="34505"/>
                  <a:pt x="96118" y="35998"/>
                </a:cubicBezTo>
                <a:cubicBezTo>
                  <a:pt x="95557" y="42688"/>
                  <a:pt x="95557" y="49433"/>
                  <a:pt x="96118" y="56120"/>
                </a:cubicBezTo>
                <a:cubicBezTo>
                  <a:pt x="88706" y="57614"/>
                  <a:pt x="81485" y="59882"/>
                  <a:pt x="74656" y="62922"/>
                </a:cubicBezTo>
                <a:cubicBezTo>
                  <a:pt x="72575" y="57700"/>
                  <a:pt x="71434" y="52011"/>
                  <a:pt x="71434" y="46059"/>
                </a:cubicBezTo>
                <a:cubicBezTo>
                  <a:pt x="71434" y="40106"/>
                  <a:pt x="72575" y="34417"/>
                  <a:pt x="74656" y="29195"/>
                </a:cubicBezTo>
                <a:close/>
                <a:moveTo>
                  <a:pt x="161253" y="29195"/>
                </a:moveTo>
                <a:cubicBezTo>
                  <a:pt x="163331" y="34417"/>
                  <a:pt x="164474" y="40106"/>
                  <a:pt x="164474" y="46059"/>
                </a:cubicBezTo>
                <a:cubicBezTo>
                  <a:pt x="164474" y="52011"/>
                  <a:pt x="163331" y="57700"/>
                  <a:pt x="161253" y="62922"/>
                </a:cubicBezTo>
                <a:cubicBezTo>
                  <a:pt x="154422" y="59880"/>
                  <a:pt x="147201" y="57612"/>
                  <a:pt x="139788" y="56120"/>
                </a:cubicBezTo>
                <a:cubicBezTo>
                  <a:pt x="140350" y="49431"/>
                  <a:pt x="140350" y="42686"/>
                  <a:pt x="139788" y="35998"/>
                </a:cubicBezTo>
                <a:cubicBezTo>
                  <a:pt x="147203" y="34505"/>
                  <a:pt x="154422" y="32237"/>
                  <a:pt x="161253" y="29195"/>
                </a:cubicBezTo>
                <a:close/>
                <a:moveTo>
                  <a:pt x="103878" y="37272"/>
                </a:moveTo>
                <a:cubicBezTo>
                  <a:pt x="113200" y="38458"/>
                  <a:pt x="122707" y="38458"/>
                  <a:pt x="132028" y="37272"/>
                </a:cubicBezTo>
                <a:cubicBezTo>
                  <a:pt x="132489" y="43114"/>
                  <a:pt x="132489" y="49001"/>
                  <a:pt x="132028" y="54847"/>
                </a:cubicBezTo>
                <a:cubicBezTo>
                  <a:pt x="122709" y="53659"/>
                  <a:pt x="113200" y="53659"/>
                  <a:pt x="103878" y="54847"/>
                </a:cubicBezTo>
                <a:cubicBezTo>
                  <a:pt x="103418" y="49003"/>
                  <a:pt x="103418" y="43118"/>
                  <a:pt x="103878" y="37272"/>
                </a:cubicBezTo>
                <a:close/>
                <a:moveTo>
                  <a:pt x="104761" y="29557"/>
                </a:moveTo>
                <a:cubicBezTo>
                  <a:pt x="106292" y="19348"/>
                  <a:pt x="109257" y="9401"/>
                  <a:pt x="113656" y="194"/>
                </a:cubicBezTo>
                <a:cubicBezTo>
                  <a:pt x="115072" y="66"/>
                  <a:pt x="116506" y="0"/>
                  <a:pt x="117954" y="0"/>
                </a:cubicBezTo>
                <a:cubicBezTo>
                  <a:pt x="119403" y="0"/>
                  <a:pt x="120835" y="66"/>
                  <a:pt x="122248" y="194"/>
                </a:cubicBezTo>
                <a:cubicBezTo>
                  <a:pt x="126650" y="9401"/>
                  <a:pt x="129615" y="19350"/>
                  <a:pt x="131146" y="29557"/>
                </a:cubicBezTo>
                <a:cubicBezTo>
                  <a:pt x="122412" y="30685"/>
                  <a:pt x="113497" y="30685"/>
                  <a:pt x="104761" y="29557"/>
                </a:cubicBezTo>
                <a:close/>
                <a:moveTo>
                  <a:pt x="78156" y="22208"/>
                </a:moveTo>
                <a:cubicBezTo>
                  <a:pt x="84006" y="12667"/>
                  <a:pt x="93256" y="5391"/>
                  <a:pt x="104240" y="2038"/>
                </a:cubicBezTo>
                <a:cubicBezTo>
                  <a:pt x="100792" y="10393"/>
                  <a:pt x="98389" y="19224"/>
                  <a:pt x="97027" y="28249"/>
                </a:cubicBezTo>
                <a:cubicBezTo>
                  <a:pt x="90517" y="26885"/>
                  <a:pt x="84175" y="24872"/>
                  <a:pt x="78156" y="22208"/>
                </a:cubicBezTo>
                <a:close/>
                <a:moveTo>
                  <a:pt x="138879" y="28249"/>
                </a:moveTo>
                <a:cubicBezTo>
                  <a:pt x="137518" y="19224"/>
                  <a:pt x="135115" y="10393"/>
                  <a:pt x="131669" y="2038"/>
                </a:cubicBezTo>
                <a:cubicBezTo>
                  <a:pt x="142650" y="5391"/>
                  <a:pt x="151901" y="12667"/>
                  <a:pt x="157750" y="22208"/>
                </a:cubicBezTo>
                <a:cubicBezTo>
                  <a:pt x="151733" y="24870"/>
                  <a:pt x="145393" y="26883"/>
                  <a:pt x="138879" y="28249"/>
                </a:cubicBezTo>
                <a:close/>
                <a:moveTo>
                  <a:pt x="14373" y="14187"/>
                </a:moveTo>
                <a:cubicBezTo>
                  <a:pt x="17073" y="14187"/>
                  <a:pt x="19265" y="16356"/>
                  <a:pt x="19265" y="19028"/>
                </a:cubicBezTo>
                <a:cubicBezTo>
                  <a:pt x="19265" y="21702"/>
                  <a:pt x="17073" y="23872"/>
                  <a:pt x="14373" y="23872"/>
                </a:cubicBezTo>
                <a:cubicBezTo>
                  <a:pt x="11674" y="23872"/>
                  <a:pt x="9481" y="21702"/>
                  <a:pt x="9481" y="19028"/>
                </a:cubicBezTo>
                <a:cubicBezTo>
                  <a:pt x="9481" y="16356"/>
                  <a:pt x="11674" y="14187"/>
                  <a:pt x="14373" y="14187"/>
                </a:cubicBezTo>
                <a:close/>
              </a:path>
            </a:pathLst>
          </a:custGeom>
          <a:solidFill>
            <a:schemeClr val="accent1"/>
          </a:solidFill>
          <a:ln w="10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紫荆的职场Point77"/>
          <p:cNvSpPr/>
          <p:nvPr/>
        </p:nvSpPr>
        <p:spPr>
          <a:xfrm>
            <a:off x="4439285" y="4411980"/>
            <a:ext cx="112395" cy="97155"/>
          </a:xfrm>
          <a:custGeom>
            <a:avLst/>
            <a:gdLst>
              <a:gd name="connsiteX0" fmla="*/ 123595 w 129155"/>
              <a:gd name="connsiteY0" fmla="*/ 0 h 110891"/>
              <a:gd name="connsiteX1" fmla="*/ 5277 w 129155"/>
              <a:gd name="connsiteY1" fmla="*/ 0 h 110891"/>
              <a:gd name="connsiteX2" fmla="*/ 0 w 129155"/>
              <a:gd name="connsiteY2" fmla="*/ 5258 h 110891"/>
              <a:gd name="connsiteX3" fmla="*/ 0 w 129155"/>
              <a:gd name="connsiteY3" fmla="*/ 5572 h 110891"/>
              <a:gd name="connsiteX4" fmla="*/ 9 w 129155"/>
              <a:gd name="connsiteY4" fmla="*/ 5969 h 110891"/>
              <a:gd name="connsiteX5" fmla="*/ 609 w 129155"/>
              <a:gd name="connsiteY5" fmla="*/ 8187 h 110891"/>
              <a:gd name="connsiteX6" fmla="*/ 793 w 129155"/>
              <a:gd name="connsiteY6" fmla="*/ 8529 h 110891"/>
              <a:gd name="connsiteX7" fmla="*/ 11310 w 129155"/>
              <a:gd name="connsiteY7" fmla="*/ 26271 h 110891"/>
              <a:gd name="connsiteX8" fmla="*/ 11457 w 129155"/>
              <a:gd name="connsiteY8" fmla="*/ 26271 h 110891"/>
              <a:gd name="connsiteX9" fmla="*/ 49537 w 129155"/>
              <a:gd name="connsiteY9" fmla="*/ 90650 h 110891"/>
              <a:gd name="connsiteX10" fmla="*/ 49482 w 129155"/>
              <a:gd name="connsiteY10" fmla="*/ 90733 h 110891"/>
              <a:gd name="connsiteX11" fmla="*/ 59786 w 129155"/>
              <a:gd name="connsiteY11" fmla="*/ 108115 h 110891"/>
              <a:gd name="connsiteX12" fmla="*/ 59970 w 129155"/>
              <a:gd name="connsiteY12" fmla="*/ 108410 h 110891"/>
              <a:gd name="connsiteX13" fmla="*/ 67074 w 129155"/>
              <a:gd name="connsiteY13" fmla="*/ 110287 h 110891"/>
              <a:gd name="connsiteX14" fmla="*/ 67378 w 129155"/>
              <a:gd name="connsiteY14" fmla="*/ 110111 h 110891"/>
              <a:gd name="connsiteX15" fmla="*/ 67710 w 129155"/>
              <a:gd name="connsiteY15" fmla="*/ 109898 h 110891"/>
              <a:gd name="connsiteX16" fmla="*/ 69103 w 129155"/>
              <a:gd name="connsiteY16" fmla="*/ 108493 h 110891"/>
              <a:gd name="connsiteX17" fmla="*/ 69324 w 129155"/>
              <a:gd name="connsiteY17" fmla="*/ 108161 h 110891"/>
              <a:gd name="connsiteX18" fmla="*/ 104471 w 129155"/>
              <a:gd name="connsiteY18" fmla="*/ 48818 h 110891"/>
              <a:gd name="connsiteX19" fmla="*/ 75321 w 129155"/>
              <a:gd name="connsiteY19" fmla="*/ 48818 h 110891"/>
              <a:gd name="connsiteX20" fmla="*/ 73872 w 129155"/>
              <a:gd name="connsiteY20" fmla="*/ 49530 h 110891"/>
              <a:gd name="connsiteX21" fmla="*/ 73734 w 129155"/>
              <a:gd name="connsiteY21" fmla="*/ 49724 h 110891"/>
              <a:gd name="connsiteX22" fmla="*/ 67784 w 129155"/>
              <a:gd name="connsiteY22" fmla="*/ 59777 h 110891"/>
              <a:gd name="connsiteX23" fmla="*/ 62790 w 129155"/>
              <a:gd name="connsiteY23" fmla="*/ 61104 h 110891"/>
              <a:gd name="connsiteX24" fmla="*/ 61631 w 129155"/>
              <a:gd name="connsiteY24" fmla="*/ 60036 h 110891"/>
              <a:gd name="connsiteX25" fmla="*/ 61465 w 129155"/>
              <a:gd name="connsiteY25" fmla="*/ 59777 h 110891"/>
              <a:gd name="connsiteX26" fmla="*/ 45026 w 129155"/>
              <a:gd name="connsiteY26" fmla="*/ 31972 h 110891"/>
              <a:gd name="connsiteX27" fmla="*/ 44500 w 129155"/>
              <a:gd name="connsiteY27" fmla="*/ 30032 h 110891"/>
              <a:gd name="connsiteX28" fmla="*/ 47914 w 129155"/>
              <a:gd name="connsiteY28" fmla="*/ 26290 h 110891"/>
              <a:gd name="connsiteX29" fmla="*/ 48190 w 129155"/>
              <a:gd name="connsiteY29" fmla="*/ 26280 h 110891"/>
              <a:gd name="connsiteX30" fmla="*/ 116796 w 129155"/>
              <a:gd name="connsiteY30" fmla="*/ 26280 h 110891"/>
              <a:gd name="connsiteX31" fmla="*/ 118235 w 129155"/>
              <a:gd name="connsiteY31" fmla="*/ 25569 h 110891"/>
              <a:gd name="connsiteX32" fmla="*/ 118373 w 129155"/>
              <a:gd name="connsiteY32" fmla="*/ 25365 h 110891"/>
              <a:gd name="connsiteX33" fmla="*/ 128335 w 129155"/>
              <a:gd name="connsiteY33" fmla="*/ 8575 h 110891"/>
              <a:gd name="connsiteX34" fmla="*/ 128502 w 129155"/>
              <a:gd name="connsiteY34" fmla="*/ 8270 h 110891"/>
              <a:gd name="connsiteX35" fmla="*/ 126463 w 129155"/>
              <a:gd name="connsiteY35" fmla="*/ 804 h 110891"/>
              <a:gd name="connsiteX36" fmla="*/ 123972 w 129155"/>
              <a:gd name="connsiteY36" fmla="*/ 9 h 110891"/>
              <a:gd name="connsiteX37" fmla="*/ 123613 w 129155"/>
              <a:gd name="connsiteY37" fmla="*/ 0 h 11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9155" h="110891">
                <a:moveTo>
                  <a:pt x="123595" y="0"/>
                </a:moveTo>
                <a:lnTo>
                  <a:pt x="5277" y="0"/>
                </a:lnTo>
                <a:cubicBezTo>
                  <a:pt x="2438" y="151"/>
                  <a:pt x="165" y="2415"/>
                  <a:pt x="0" y="5258"/>
                </a:cubicBezTo>
                <a:lnTo>
                  <a:pt x="0" y="5572"/>
                </a:lnTo>
                <a:lnTo>
                  <a:pt x="9" y="5969"/>
                </a:lnTo>
                <a:cubicBezTo>
                  <a:pt x="56" y="6742"/>
                  <a:pt x="260" y="7497"/>
                  <a:pt x="609" y="8187"/>
                </a:cubicBezTo>
                <a:lnTo>
                  <a:pt x="793" y="8529"/>
                </a:lnTo>
                <a:lnTo>
                  <a:pt x="11310" y="26271"/>
                </a:lnTo>
                <a:lnTo>
                  <a:pt x="11457" y="26271"/>
                </a:lnTo>
                <a:lnTo>
                  <a:pt x="49537" y="90650"/>
                </a:lnTo>
                <a:lnTo>
                  <a:pt x="49482" y="90733"/>
                </a:lnTo>
                <a:lnTo>
                  <a:pt x="59786" y="108115"/>
                </a:lnTo>
                <a:lnTo>
                  <a:pt x="59970" y="108410"/>
                </a:lnTo>
                <a:cubicBezTo>
                  <a:pt x="61515" y="110758"/>
                  <a:pt x="64575" y="111566"/>
                  <a:pt x="67074" y="110287"/>
                </a:cubicBezTo>
                <a:lnTo>
                  <a:pt x="67378" y="110111"/>
                </a:lnTo>
                <a:lnTo>
                  <a:pt x="67710" y="109898"/>
                </a:lnTo>
                <a:cubicBezTo>
                  <a:pt x="68254" y="109517"/>
                  <a:pt x="68726" y="109041"/>
                  <a:pt x="69103" y="108493"/>
                </a:cubicBezTo>
                <a:lnTo>
                  <a:pt x="69324" y="108161"/>
                </a:lnTo>
                <a:lnTo>
                  <a:pt x="104471" y="48818"/>
                </a:lnTo>
                <a:lnTo>
                  <a:pt x="75321" y="48818"/>
                </a:lnTo>
                <a:cubicBezTo>
                  <a:pt x="74754" y="48819"/>
                  <a:pt x="74220" y="49081"/>
                  <a:pt x="73872" y="49530"/>
                </a:cubicBezTo>
                <a:lnTo>
                  <a:pt x="73734" y="49724"/>
                </a:lnTo>
                <a:lnTo>
                  <a:pt x="67784" y="59777"/>
                </a:lnTo>
                <a:cubicBezTo>
                  <a:pt x="66771" y="61525"/>
                  <a:pt x="64535" y="62119"/>
                  <a:pt x="62790" y="61104"/>
                </a:cubicBezTo>
                <a:cubicBezTo>
                  <a:pt x="62331" y="60837"/>
                  <a:pt x="61935" y="60472"/>
                  <a:pt x="61631" y="60036"/>
                </a:cubicBezTo>
                <a:lnTo>
                  <a:pt x="61465" y="59777"/>
                </a:lnTo>
                <a:lnTo>
                  <a:pt x="45026" y="31972"/>
                </a:lnTo>
                <a:cubicBezTo>
                  <a:pt x="44681" y="31384"/>
                  <a:pt x="44499" y="30714"/>
                  <a:pt x="44500" y="30032"/>
                </a:cubicBezTo>
                <a:cubicBezTo>
                  <a:pt x="44500" y="28054"/>
                  <a:pt x="46004" y="26428"/>
                  <a:pt x="47914" y="26290"/>
                </a:cubicBezTo>
                <a:lnTo>
                  <a:pt x="48190" y="26280"/>
                </a:lnTo>
                <a:lnTo>
                  <a:pt x="116796" y="26280"/>
                </a:lnTo>
                <a:cubicBezTo>
                  <a:pt x="117359" y="26277"/>
                  <a:pt x="117889" y="26014"/>
                  <a:pt x="118235" y="25569"/>
                </a:cubicBezTo>
                <a:lnTo>
                  <a:pt x="118373" y="25365"/>
                </a:lnTo>
                <a:lnTo>
                  <a:pt x="128335" y="8575"/>
                </a:lnTo>
                <a:lnTo>
                  <a:pt x="128502" y="8270"/>
                </a:lnTo>
                <a:cubicBezTo>
                  <a:pt x="129891" y="5632"/>
                  <a:pt x="128999" y="2367"/>
                  <a:pt x="126463" y="804"/>
                </a:cubicBezTo>
                <a:cubicBezTo>
                  <a:pt x="125708" y="342"/>
                  <a:pt x="124854" y="70"/>
                  <a:pt x="123972" y="9"/>
                </a:cubicBezTo>
                <a:lnTo>
                  <a:pt x="123613" y="0"/>
                </a:lnTo>
                <a:close/>
              </a:path>
            </a:pathLst>
          </a:custGeom>
          <a:solidFill>
            <a:schemeClr val="accent1"/>
          </a:solidFill>
          <a:ln w="10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紫荆的职场Point78"/>
          <p:cNvSpPr/>
          <p:nvPr/>
        </p:nvSpPr>
        <p:spPr>
          <a:xfrm>
            <a:off x="4829810" y="4578350"/>
            <a:ext cx="88900" cy="121285"/>
          </a:xfrm>
          <a:custGeom>
            <a:avLst/>
            <a:gdLst>
              <a:gd name="connsiteX0" fmla="*/ 32461 w 101955"/>
              <a:gd name="connsiteY0" fmla="*/ 81549 h 139337"/>
              <a:gd name="connsiteX1" fmla="*/ 5103 w 101955"/>
              <a:gd name="connsiteY1" fmla="*/ 81549 h 139337"/>
              <a:gd name="connsiteX2" fmla="*/ 339 w 101955"/>
              <a:gd name="connsiteY2" fmla="*/ 74638 h 139337"/>
              <a:gd name="connsiteX3" fmla="*/ 27523 w 101955"/>
              <a:gd name="connsiteY3" fmla="*/ 3283 h 139337"/>
              <a:gd name="connsiteX4" fmla="*/ 32286 w 101955"/>
              <a:gd name="connsiteY4" fmla="*/ 0 h 139337"/>
              <a:gd name="connsiteX5" fmla="*/ 78159 w 101955"/>
              <a:gd name="connsiteY5" fmla="*/ 0 h 139337"/>
              <a:gd name="connsiteX6" fmla="*/ 82880 w 101955"/>
              <a:gd name="connsiteY6" fmla="*/ 7020 h 139337"/>
              <a:gd name="connsiteX7" fmla="*/ 67051 w 101955"/>
              <a:gd name="connsiteY7" fmla="*/ 45871 h 139337"/>
              <a:gd name="connsiteX8" fmla="*/ 96849 w 101955"/>
              <a:gd name="connsiteY8" fmla="*/ 45871 h 139337"/>
              <a:gd name="connsiteX9" fmla="*/ 100679 w 101955"/>
              <a:gd name="connsiteY9" fmla="*/ 54330 h 139337"/>
              <a:gd name="connsiteX10" fmla="*/ 27622 w 101955"/>
              <a:gd name="connsiteY10" fmla="*/ 137576 h 139337"/>
              <a:gd name="connsiteX11" fmla="*/ 18864 w 101955"/>
              <a:gd name="connsiteY11" fmla="*/ 132912 h 139337"/>
              <a:gd name="connsiteX12" fmla="*/ 32461 w 101955"/>
              <a:gd name="connsiteY12" fmla="*/ 81549 h 1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1955" h="139337">
                <a:moveTo>
                  <a:pt x="32461" y="81549"/>
                </a:moveTo>
                <a:lnTo>
                  <a:pt x="5103" y="81549"/>
                </a:lnTo>
                <a:cubicBezTo>
                  <a:pt x="1532" y="81549"/>
                  <a:pt x="-932" y="77973"/>
                  <a:pt x="339" y="74638"/>
                </a:cubicBezTo>
                <a:lnTo>
                  <a:pt x="27523" y="3283"/>
                </a:lnTo>
                <a:cubicBezTo>
                  <a:pt x="28276" y="1307"/>
                  <a:pt x="30171" y="0"/>
                  <a:pt x="32286" y="0"/>
                </a:cubicBezTo>
                <a:lnTo>
                  <a:pt x="78159" y="0"/>
                </a:lnTo>
                <a:cubicBezTo>
                  <a:pt x="81779" y="0"/>
                  <a:pt x="84246" y="3667"/>
                  <a:pt x="82880" y="7020"/>
                </a:cubicBezTo>
                <a:lnTo>
                  <a:pt x="67051" y="45871"/>
                </a:lnTo>
                <a:lnTo>
                  <a:pt x="96849" y="45871"/>
                </a:lnTo>
                <a:cubicBezTo>
                  <a:pt x="101232" y="45871"/>
                  <a:pt x="103570" y="51037"/>
                  <a:pt x="100679" y="54330"/>
                </a:cubicBezTo>
                <a:lnTo>
                  <a:pt x="27622" y="137576"/>
                </a:lnTo>
                <a:cubicBezTo>
                  <a:pt x="24070" y="141624"/>
                  <a:pt x="17486" y="138117"/>
                  <a:pt x="18864" y="132912"/>
                </a:cubicBezTo>
                <a:lnTo>
                  <a:pt x="32461" y="81549"/>
                </a:lnTo>
                <a:close/>
              </a:path>
            </a:pathLst>
          </a:custGeom>
          <a:solidFill>
            <a:schemeClr val="accent1"/>
          </a:solidFill>
          <a:ln w="15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紫荆的职场Point79"/>
          <p:cNvSpPr/>
          <p:nvPr/>
        </p:nvSpPr>
        <p:spPr>
          <a:xfrm>
            <a:off x="5201920" y="4413250"/>
            <a:ext cx="101600" cy="94615"/>
          </a:xfrm>
          <a:custGeom>
            <a:avLst/>
            <a:gdLst>
              <a:gd name="connsiteX0" fmla="*/ 25590 w 146590"/>
              <a:gd name="connsiteY0" fmla="*/ 12 h 136147"/>
              <a:gd name="connsiteX1" fmla="*/ 120999 w 146590"/>
              <a:gd name="connsiteY1" fmla="*/ 12 h 136147"/>
              <a:gd name="connsiteX2" fmla="*/ 134536 w 146590"/>
              <a:gd name="connsiteY2" fmla="*/ 12136 h 136147"/>
              <a:gd name="connsiteX3" fmla="*/ 146509 w 146590"/>
              <a:gd name="connsiteY3" fmla="*/ 121047 h 136147"/>
              <a:gd name="connsiteX4" fmla="*/ 134454 w 146590"/>
              <a:gd name="connsiteY4" fmla="*/ 136066 h 136147"/>
              <a:gd name="connsiteX5" fmla="*/ 132972 w 146590"/>
              <a:gd name="connsiteY5" fmla="*/ 136147 h 136147"/>
              <a:gd name="connsiteX6" fmla="*/ 13617 w 146590"/>
              <a:gd name="connsiteY6" fmla="*/ 136147 h 136147"/>
              <a:gd name="connsiteX7" fmla="*/ 0 w 146590"/>
              <a:gd name="connsiteY7" fmla="*/ 122528 h 136147"/>
              <a:gd name="connsiteX8" fmla="*/ 81 w 146590"/>
              <a:gd name="connsiteY8" fmla="*/ 121047 h 136147"/>
              <a:gd name="connsiteX9" fmla="*/ 12065 w 146590"/>
              <a:gd name="connsiteY9" fmla="*/ 12136 h 136147"/>
              <a:gd name="connsiteX10" fmla="*/ 25602 w 146590"/>
              <a:gd name="connsiteY10" fmla="*/ 0 h 136147"/>
              <a:gd name="connsiteX11" fmla="*/ 39255 w 146590"/>
              <a:gd name="connsiteY11" fmla="*/ 40855 h 136147"/>
              <a:gd name="connsiteX12" fmla="*/ 73295 w 146590"/>
              <a:gd name="connsiteY12" fmla="*/ 74894 h 136147"/>
              <a:gd name="connsiteX13" fmla="*/ 107335 w 146590"/>
              <a:gd name="connsiteY13" fmla="*/ 40855 h 136147"/>
              <a:gd name="connsiteX14" fmla="*/ 100526 w 146590"/>
              <a:gd name="connsiteY14" fmla="*/ 34046 h 136147"/>
              <a:gd name="connsiteX15" fmla="*/ 93716 w 146590"/>
              <a:gd name="connsiteY15" fmla="*/ 40855 h 136147"/>
              <a:gd name="connsiteX16" fmla="*/ 73295 w 146590"/>
              <a:gd name="connsiteY16" fmla="*/ 61276 h 136147"/>
              <a:gd name="connsiteX17" fmla="*/ 52873 w 146590"/>
              <a:gd name="connsiteY17" fmla="*/ 40855 h 136147"/>
              <a:gd name="connsiteX18" fmla="*/ 46064 w 146590"/>
              <a:gd name="connsiteY18" fmla="*/ 34046 h 136147"/>
              <a:gd name="connsiteX19" fmla="*/ 39255 w 146590"/>
              <a:gd name="connsiteY19" fmla="*/ 40855 h 136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6590" h="136147">
                <a:moveTo>
                  <a:pt x="25590" y="12"/>
                </a:moveTo>
                <a:lnTo>
                  <a:pt x="120999" y="12"/>
                </a:lnTo>
                <a:cubicBezTo>
                  <a:pt x="127943" y="12"/>
                  <a:pt x="133777" y="5228"/>
                  <a:pt x="134536" y="12136"/>
                </a:cubicBezTo>
                <a:lnTo>
                  <a:pt x="146509" y="121047"/>
                </a:lnTo>
                <a:cubicBezTo>
                  <a:pt x="147327" y="128523"/>
                  <a:pt x="141930" y="135248"/>
                  <a:pt x="134454" y="136066"/>
                </a:cubicBezTo>
                <a:cubicBezTo>
                  <a:pt x="133962" y="136120"/>
                  <a:pt x="133467" y="136147"/>
                  <a:pt x="132972" y="136147"/>
                </a:cubicBezTo>
                <a:lnTo>
                  <a:pt x="13617" y="136147"/>
                </a:lnTo>
                <a:cubicBezTo>
                  <a:pt x="6096" y="136147"/>
                  <a:pt x="0" y="130049"/>
                  <a:pt x="0" y="122528"/>
                </a:cubicBezTo>
                <a:cubicBezTo>
                  <a:pt x="0" y="122033"/>
                  <a:pt x="27" y="121539"/>
                  <a:pt x="81" y="121047"/>
                </a:cubicBezTo>
                <a:lnTo>
                  <a:pt x="12065" y="12136"/>
                </a:lnTo>
                <a:cubicBezTo>
                  <a:pt x="12821" y="5230"/>
                  <a:pt x="18655" y="0"/>
                  <a:pt x="25602" y="0"/>
                </a:cubicBezTo>
                <a:close/>
                <a:moveTo>
                  <a:pt x="39255" y="40855"/>
                </a:moveTo>
                <a:cubicBezTo>
                  <a:pt x="39255" y="59654"/>
                  <a:pt x="54495" y="74894"/>
                  <a:pt x="73295" y="74894"/>
                </a:cubicBezTo>
                <a:cubicBezTo>
                  <a:pt x="92094" y="74894"/>
                  <a:pt x="107335" y="59654"/>
                  <a:pt x="107335" y="40855"/>
                </a:cubicBezTo>
                <a:cubicBezTo>
                  <a:pt x="107335" y="37094"/>
                  <a:pt x="104286" y="34046"/>
                  <a:pt x="100526" y="34046"/>
                </a:cubicBezTo>
                <a:cubicBezTo>
                  <a:pt x="96765" y="34046"/>
                  <a:pt x="93716" y="37094"/>
                  <a:pt x="93716" y="40855"/>
                </a:cubicBezTo>
                <a:cubicBezTo>
                  <a:pt x="93716" y="52133"/>
                  <a:pt x="84573" y="61276"/>
                  <a:pt x="73295" y="61276"/>
                </a:cubicBezTo>
                <a:cubicBezTo>
                  <a:pt x="62016" y="61276"/>
                  <a:pt x="52873" y="52133"/>
                  <a:pt x="52873" y="40855"/>
                </a:cubicBezTo>
                <a:cubicBezTo>
                  <a:pt x="52873" y="37094"/>
                  <a:pt x="49825" y="34046"/>
                  <a:pt x="46064" y="34046"/>
                </a:cubicBezTo>
                <a:cubicBezTo>
                  <a:pt x="42304" y="34046"/>
                  <a:pt x="39255" y="37094"/>
                  <a:pt x="39255" y="40855"/>
                </a:cubicBezTo>
                <a:close/>
              </a:path>
            </a:pathLst>
          </a:custGeom>
          <a:solidFill>
            <a:schemeClr val="accent1"/>
          </a:solidFill>
          <a:ln w="15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紫荆的职场Point80"/>
          <p:cNvSpPr txBox="1"/>
          <p:nvPr/>
        </p:nvSpPr>
        <p:spPr>
          <a:xfrm>
            <a:off x="7823835" y="3358515"/>
            <a:ext cx="34671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紫荆的职场Point81-1"/>
          <p:cNvSpPr txBox="1"/>
          <p:nvPr/>
        </p:nvSpPr>
        <p:spPr>
          <a:xfrm>
            <a:off x="8169275" y="3526790"/>
            <a:ext cx="43751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紫荆的职场Point81-2"/>
          <p:cNvSpPr txBox="1"/>
          <p:nvPr/>
        </p:nvSpPr>
        <p:spPr>
          <a:xfrm>
            <a:off x="7385685" y="3526790"/>
            <a:ext cx="41021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广告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紫荆的职场Point82"/>
          <p:cNvSpPr txBox="1"/>
          <p:nvPr/>
        </p:nvSpPr>
        <p:spPr>
          <a:xfrm>
            <a:off x="7823835" y="4737100"/>
            <a:ext cx="34544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会场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紫荆的职场Point83-1"/>
          <p:cNvSpPr txBox="1"/>
          <p:nvPr/>
        </p:nvSpPr>
        <p:spPr>
          <a:xfrm>
            <a:off x="8191500" y="4568190"/>
            <a:ext cx="39306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频道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紫荆的职场Point83-2"/>
          <p:cNvSpPr txBox="1"/>
          <p:nvPr/>
        </p:nvSpPr>
        <p:spPr>
          <a:xfrm>
            <a:off x="7404100" y="4577715"/>
            <a:ext cx="41275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购物车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紫荆的职场Point84"/>
          <p:cNvSpPr txBox="1"/>
          <p:nvPr/>
        </p:nvSpPr>
        <p:spPr>
          <a:xfrm>
            <a:off x="7736840" y="3979545"/>
            <a:ext cx="50482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</a:t>
            </a:r>
            <a:endParaRPr lang="zh-CN" altLang="en-US" sz="105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紫荆的职场Point85"/>
          <p:cNvSpPr/>
          <p:nvPr/>
        </p:nvSpPr>
        <p:spPr>
          <a:xfrm>
            <a:off x="7482840" y="3641725"/>
            <a:ext cx="1021715" cy="1022350"/>
          </a:xfrm>
          <a:prstGeom prst="donut">
            <a:avLst>
              <a:gd name="adj" fmla="val 2398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1" name="紫荆的职场Point86"/>
          <p:cNvSpPr/>
          <p:nvPr/>
        </p:nvSpPr>
        <p:spPr>
          <a:xfrm>
            <a:off x="7879715" y="3509645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2" name="紫荆的职场Point87"/>
          <p:cNvSpPr/>
          <p:nvPr/>
        </p:nvSpPr>
        <p:spPr>
          <a:xfrm>
            <a:off x="8258810" y="3688715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3" name="紫荆的职场Point88"/>
          <p:cNvSpPr/>
          <p:nvPr/>
        </p:nvSpPr>
        <p:spPr>
          <a:xfrm>
            <a:off x="7501255" y="3688715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紫荆的职场Point89"/>
          <p:cNvSpPr/>
          <p:nvPr/>
        </p:nvSpPr>
        <p:spPr>
          <a:xfrm flipV="1">
            <a:off x="7879715" y="4525010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5" name="紫荆的职场Point90"/>
          <p:cNvSpPr/>
          <p:nvPr/>
        </p:nvSpPr>
        <p:spPr>
          <a:xfrm flipV="1">
            <a:off x="8258810" y="4346575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6" name="紫荆的职场Point91"/>
          <p:cNvSpPr/>
          <p:nvPr/>
        </p:nvSpPr>
        <p:spPr>
          <a:xfrm flipV="1">
            <a:off x="7501255" y="4346575"/>
            <a:ext cx="227965" cy="227965"/>
          </a:xfrm>
          <a:prstGeom prst="ellipse">
            <a:avLst/>
          </a:prstGeom>
          <a:solidFill>
            <a:schemeClr val="bg1">
              <a:alpha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7" name="紫荆的职场Point92"/>
          <p:cNvSpPr txBox="1"/>
          <p:nvPr/>
        </p:nvSpPr>
        <p:spPr>
          <a:xfrm>
            <a:off x="7700010" y="4152265"/>
            <a:ext cx="59245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公私域合营</a:t>
            </a:r>
            <a:endParaRPr lang="zh-CN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紫荆的职场Point99-2"/>
          <p:cNvSpPr/>
          <p:nvPr/>
        </p:nvSpPr>
        <p:spPr>
          <a:xfrm>
            <a:off x="6065520" y="3797300"/>
            <a:ext cx="675640" cy="675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紫荆的职场Point99-3"/>
          <p:cNvSpPr txBox="1"/>
          <p:nvPr/>
        </p:nvSpPr>
        <p:spPr>
          <a:xfrm>
            <a:off x="6085205" y="3818255"/>
            <a:ext cx="62865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品牌私域</a:t>
            </a:r>
            <a:endParaRPr lang="zh-CN" altLang="en-US" sz="8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紫荆的职场Point99-4"/>
          <p:cNvSpPr txBox="1"/>
          <p:nvPr/>
        </p:nvSpPr>
        <p:spPr>
          <a:xfrm>
            <a:off x="6006465" y="3947795"/>
            <a:ext cx="81089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关系、场景、转化</a:t>
            </a:r>
            <a:endParaRPr lang="zh-CN" altLang="en-US" sz="6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紫荆的职场Point99-5"/>
          <p:cNvSpPr/>
          <p:nvPr/>
        </p:nvSpPr>
        <p:spPr>
          <a:xfrm>
            <a:off x="6476365" y="4093210"/>
            <a:ext cx="102870" cy="102870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FFFF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紫荆的职场Point99-6"/>
          <p:cNvSpPr/>
          <p:nvPr/>
        </p:nvSpPr>
        <p:spPr>
          <a:xfrm>
            <a:off x="6308725" y="4129405"/>
            <a:ext cx="205105" cy="205740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FFFF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紫荆的职场Point99-7"/>
          <p:cNvSpPr/>
          <p:nvPr/>
        </p:nvSpPr>
        <p:spPr>
          <a:xfrm>
            <a:off x="6189980" y="4101465"/>
            <a:ext cx="145415" cy="145415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FFFF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紫荆的职场Point99-9"/>
          <p:cNvSpPr/>
          <p:nvPr/>
        </p:nvSpPr>
        <p:spPr>
          <a:xfrm>
            <a:off x="6424295" y="4321810"/>
            <a:ext cx="116840" cy="116840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FFFF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紫荆的职场Point99-10"/>
          <p:cNvSpPr/>
          <p:nvPr/>
        </p:nvSpPr>
        <p:spPr>
          <a:xfrm>
            <a:off x="6536690" y="4183380"/>
            <a:ext cx="151765" cy="1524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accent5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紫荆的职场Point99-11"/>
          <p:cNvSpPr/>
          <p:nvPr/>
        </p:nvSpPr>
        <p:spPr>
          <a:xfrm>
            <a:off x="6129655" y="4192270"/>
            <a:ext cx="108585" cy="10858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accent5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紫荆的职场Point99-12"/>
          <p:cNvSpPr txBox="1"/>
          <p:nvPr/>
        </p:nvSpPr>
        <p:spPr>
          <a:xfrm>
            <a:off x="6223635" y="4114800"/>
            <a:ext cx="38544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</a:t>
            </a:r>
            <a:endParaRPr lang="zh-CN" altLang="en-US" sz="5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5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</a:t>
            </a:r>
            <a:endParaRPr lang="zh-CN" altLang="en-US" sz="5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紫荆的职场Point99-13"/>
          <p:cNvSpPr txBox="1"/>
          <p:nvPr/>
        </p:nvSpPr>
        <p:spPr>
          <a:xfrm>
            <a:off x="6420485" y="4070350"/>
            <a:ext cx="227965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</a:t>
            </a:r>
            <a:endParaRPr lang="zh-CN" altLang="en-US" sz="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紫荆的职场Point99-14"/>
          <p:cNvSpPr txBox="1"/>
          <p:nvPr/>
        </p:nvSpPr>
        <p:spPr>
          <a:xfrm>
            <a:off x="6468745" y="4160520"/>
            <a:ext cx="29527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小程序</a:t>
            </a:r>
            <a:endParaRPr lang="zh-CN" altLang="en-US" sz="4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紫荆的职场Point99-17"/>
          <p:cNvSpPr txBox="1"/>
          <p:nvPr/>
        </p:nvSpPr>
        <p:spPr>
          <a:xfrm>
            <a:off x="6042660" y="4178300"/>
            <a:ext cx="28511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商详</a:t>
            </a:r>
            <a:endParaRPr lang="zh-CN" altLang="en-US" sz="3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紫荆的职场Point99-18"/>
          <p:cNvSpPr txBox="1"/>
          <p:nvPr/>
        </p:nvSpPr>
        <p:spPr>
          <a:xfrm>
            <a:off x="6203315" y="4070985"/>
            <a:ext cx="123190" cy="1238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</a:t>
            </a:r>
            <a:endParaRPr kumimoji="0" lang="zh-CN" altLang="en-US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紫荆的职场Point102"/>
          <p:cNvSpPr/>
          <p:nvPr/>
        </p:nvSpPr>
        <p:spPr>
          <a:xfrm>
            <a:off x="5648325" y="4722495"/>
            <a:ext cx="1551940" cy="167640"/>
          </a:xfrm>
          <a:prstGeom prst="roundRect">
            <a:avLst/>
          </a:prstGeom>
          <a:solidFill>
            <a:srgbClr val="FFFFFF"/>
          </a:solidFill>
          <a:ln w="9525">
            <a:solidFill>
              <a:schemeClr val="accent5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紫荆的职场Point104"/>
          <p:cNvSpPr txBox="1"/>
          <p:nvPr/>
        </p:nvSpPr>
        <p:spPr>
          <a:xfrm>
            <a:off x="5627370" y="4705985"/>
            <a:ext cx="168719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域内外共振</a:t>
            </a:r>
            <a:r>
              <a:rPr lang="zh-CN" altLang="en-US" sz="8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8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80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输出、流量投放）</a:t>
            </a:r>
            <a:endParaRPr lang="zh-CN" altLang="en-US" sz="800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紫荆的职场Point105-1"/>
          <p:cNvSpPr/>
          <p:nvPr/>
        </p:nvSpPr>
        <p:spPr>
          <a:xfrm flipH="1">
            <a:off x="7034530" y="4070350"/>
            <a:ext cx="335280" cy="49530"/>
          </a:xfrm>
          <a:custGeom>
            <a:avLst/>
            <a:gdLst>
              <a:gd name="connsiteX0" fmla="*/ 607079 w 734037"/>
              <a:gd name="connsiteY0" fmla="*/ 0 h 126958"/>
              <a:gd name="connsiteX1" fmla="*/ 734037 w 734037"/>
              <a:gd name="connsiteY1" fmla="*/ 126958 h 126958"/>
              <a:gd name="connsiteX2" fmla="*/ 0 w 734037"/>
              <a:gd name="connsiteY2" fmla="*/ 126958 h 126958"/>
              <a:gd name="connsiteX3" fmla="*/ 0 w 734037"/>
              <a:gd name="connsiteY3" fmla="*/ 63479 h 126958"/>
              <a:gd name="connsiteX4" fmla="*/ 607079 w 734037"/>
              <a:gd name="connsiteY4" fmla="*/ 63479 h 12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037" h="126958">
                <a:moveTo>
                  <a:pt x="607079" y="0"/>
                </a:moveTo>
                <a:lnTo>
                  <a:pt x="734037" y="126958"/>
                </a:lnTo>
                <a:lnTo>
                  <a:pt x="0" y="126958"/>
                </a:lnTo>
                <a:lnTo>
                  <a:pt x="0" y="63479"/>
                </a:lnTo>
                <a:lnTo>
                  <a:pt x="607079" y="6347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8" name="紫荆的职场Point105-2"/>
          <p:cNvSpPr/>
          <p:nvPr/>
        </p:nvSpPr>
        <p:spPr>
          <a:xfrm>
            <a:off x="7034530" y="4135755"/>
            <a:ext cx="335280" cy="49530"/>
          </a:xfrm>
          <a:custGeom>
            <a:avLst/>
            <a:gdLst>
              <a:gd name="connsiteX0" fmla="*/ 607079 w 734037"/>
              <a:gd name="connsiteY0" fmla="*/ 0 h 126958"/>
              <a:gd name="connsiteX1" fmla="*/ 734037 w 734037"/>
              <a:gd name="connsiteY1" fmla="*/ 126958 h 126958"/>
              <a:gd name="connsiteX2" fmla="*/ 0 w 734037"/>
              <a:gd name="connsiteY2" fmla="*/ 126958 h 126958"/>
              <a:gd name="connsiteX3" fmla="*/ 0 w 734037"/>
              <a:gd name="connsiteY3" fmla="*/ 63479 h 126958"/>
              <a:gd name="connsiteX4" fmla="*/ 607079 w 734037"/>
              <a:gd name="connsiteY4" fmla="*/ 63479 h 12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037" h="126958">
                <a:moveTo>
                  <a:pt x="607079" y="0"/>
                </a:moveTo>
                <a:lnTo>
                  <a:pt x="734037" y="126958"/>
                </a:lnTo>
                <a:lnTo>
                  <a:pt x="0" y="126958"/>
                </a:lnTo>
                <a:lnTo>
                  <a:pt x="0" y="63479"/>
                </a:lnTo>
                <a:lnTo>
                  <a:pt x="607079" y="6347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9" name="紫荆的职场Point106-1"/>
          <p:cNvSpPr/>
          <p:nvPr/>
        </p:nvSpPr>
        <p:spPr>
          <a:xfrm flipH="1">
            <a:off x="5462270" y="4070350"/>
            <a:ext cx="335280" cy="49530"/>
          </a:xfrm>
          <a:custGeom>
            <a:avLst/>
            <a:gdLst>
              <a:gd name="connsiteX0" fmla="*/ 607079 w 734037"/>
              <a:gd name="connsiteY0" fmla="*/ 0 h 126958"/>
              <a:gd name="connsiteX1" fmla="*/ 734037 w 734037"/>
              <a:gd name="connsiteY1" fmla="*/ 126958 h 126958"/>
              <a:gd name="connsiteX2" fmla="*/ 0 w 734037"/>
              <a:gd name="connsiteY2" fmla="*/ 126958 h 126958"/>
              <a:gd name="connsiteX3" fmla="*/ 0 w 734037"/>
              <a:gd name="connsiteY3" fmla="*/ 63479 h 126958"/>
              <a:gd name="connsiteX4" fmla="*/ 607079 w 734037"/>
              <a:gd name="connsiteY4" fmla="*/ 63479 h 12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037" h="126958">
                <a:moveTo>
                  <a:pt x="607079" y="0"/>
                </a:moveTo>
                <a:lnTo>
                  <a:pt x="734037" y="126958"/>
                </a:lnTo>
                <a:lnTo>
                  <a:pt x="0" y="126958"/>
                </a:lnTo>
                <a:lnTo>
                  <a:pt x="0" y="63479"/>
                </a:lnTo>
                <a:lnTo>
                  <a:pt x="607079" y="6347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紫荆的职场Point106-2"/>
          <p:cNvSpPr/>
          <p:nvPr/>
        </p:nvSpPr>
        <p:spPr>
          <a:xfrm>
            <a:off x="5462270" y="4135755"/>
            <a:ext cx="335280" cy="49530"/>
          </a:xfrm>
          <a:custGeom>
            <a:avLst/>
            <a:gdLst>
              <a:gd name="connsiteX0" fmla="*/ 607079 w 734037"/>
              <a:gd name="connsiteY0" fmla="*/ 0 h 126958"/>
              <a:gd name="connsiteX1" fmla="*/ 734037 w 734037"/>
              <a:gd name="connsiteY1" fmla="*/ 126958 h 126958"/>
              <a:gd name="connsiteX2" fmla="*/ 0 w 734037"/>
              <a:gd name="connsiteY2" fmla="*/ 126958 h 126958"/>
              <a:gd name="connsiteX3" fmla="*/ 0 w 734037"/>
              <a:gd name="connsiteY3" fmla="*/ 63479 h 126958"/>
              <a:gd name="connsiteX4" fmla="*/ 607079 w 734037"/>
              <a:gd name="connsiteY4" fmla="*/ 63479 h 126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4037" h="126958">
                <a:moveTo>
                  <a:pt x="607079" y="0"/>
                </a:moveTo>
                <a:lnTo>
                  <a:pt x="734037" y="126958"/>
                </a:lnTo>
                <a:lnTo>
                  <a:pt x="0" y="126958"/>
                </a:lnTo>
                <a:lnTo>
                  <a:pt x="0" y="63479"/>
                </a:lnTo>
                <a:lnTo>
                  <a:pt x="607079" y="6347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81" name="紫荆的职场Point111"/>
          <p:cNvCxnSpPr/>
          <p:nvPr/>
        </p:nvCxnSpPr>
        <p:spPr>
          <a:xfrm rot="5400000" flipH="1" flipV="1">
            <a:off x="6389370" y="3406140"/>
            <a:ext cx="92710" cy="3122295"/>
          </a:xfrm>
          <a:prstGeom prst="bentConnector3">
            <a:avLst>
              <a:gd name="adj1" fmla="val -168150"/>
            </a:avLst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rgbClr val="24396B"/>
          </a:lnRef>
          <a:fillRef idx="0">
            <a:srgbClr val="24396B"/>
          </a:fillRef>
          <a:effectRef idx="1">
            <a:srgbClr val="24396B"/>
          </a:effectRef>
          <a:fontRef idx="minor">
            <a:srgbClr val="000000"/>
          </a:fontRef>
        </p:style>
      </p:cxnSp>
      <p:sp>
        <p:nvSpPr>
          <p:cNvPr id="182" name="紫荆的职场Point112"/>
          <p:cNvSpPr/>
          <p:nvPr/>
        </p:nvSpPr>
        <p:spPr>
          <a:xfrm>
            <a:off x="5488305" y="5008245"/>
            <a:ext cx="1974850" cy="284480"/>
          </a:xfrm>
          <a:prstGeom prst="round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3" name="紫荆的职场Point113"/>
          <p:cNvSpPr txBox="1"/>
          <p:nvPr/>
        </p:nvSpPr>
        <p:spPr>
          <a:xfrm>
            <a:off x="5542915" y="5048250"/>
            <a:ext cx="199136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品牌全私域可持续的高价值用户</a:t>
            </a:r>
            <a:endParaRPr lang="zh-CN" alt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文本框 183"/>
          <p:cNvSpPr txBox="1"/>
          <p:nvPr>
            <p:custDataLst>
              <p:tags r:id="rId38"/>
            </p:custDataLst>
          </p:nvPr>
        </p:nvSpPr>
        <p:spPr>
          <a:xfrm>
            <a:off x="5802630" y="3055620"/>
            <a:ext cx="1070610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全渠道联动图</a:t>
            </a:r>
            <a:endParaRPr lang="zh-CN" altLang="en-US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5" name="左中括号 184"/>
          <p:cNvSpPr/>
          <p:nvPr>
            <p:custDataLst>
              <p:tags r:id="rId39"/>
            </p:custDataLst>
          </p:nvPr>
        </p:nvSpPr>
        <p:spPr>
          <a:xfrm rot="5400000">
            <a:off x="6297930" y="2183765"/>
            <a:ext cx="250825" cy="2647315"/>
          </a:xfrm>
          <a:prstGeom prst="leftBracket">
            <a:avLst>
              <a:gd name="adj" fmla="val 0"/>
            </a:avLst>
          </a:prstGeom>
          <a:ln w="9525">
            <a:solidFill>
              <a:schemeClr val="accent5"/>
            </a:solidFill>
            <a:headEnd type="triangle" w="sm" len="sm"/>
            <a:tailEnd type="triangle" w="sm" len="sm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紫荆的职场Point107"/>
          <p:cNvSpPr/>
          <p:nvPr/>
        </p:nvSpPr>
        <p:spPr>
          <a:xfrm>
            <a:off x="5802630" y="3271520"/>
            <a:ext cx="1095375" cy="187960"/>
          </a:xfrm>
          <a:prstGeom prst="round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lt"/>
              <a:sym typeface="+mn-ea"/>
            </a:endParaRPr>
          </a:p>
        </p:txBody>
      </p:sp>
      <p:sp>
        <p:nvSpPr>
          <p:cNvPr id="187" name="紫荆的职场Point113"/>
          <p:cNvSpPr txBox="1"/>
          <p:nvPr/>
        </p:nvSpPr>
        <p:spPr>
          <a:xfrm>
            <a:off x="5846445" y="3281045"/>
            <a:ext cx="1100455" cy="188595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zh-CN" altLang="en-US" sz="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品牌稳定性增长</a:t>
            </a:r>
            <a:endParaRPr lang="zh-CN" alt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4" name="图片 193" descr="媒体合作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411980" y="3719195"/>
            <a:ext cx="167640" cy="167640"/>
          </a:xfrm>
          <a:prstGeom prst="rect">
            <a:avLst/>
          </a:prstGeom>
        </p:spPr>
      </p:pic>
      <p:grpSp>
        <p:nvGrpSpPr>
          <p:cNvPr id="195" name="组合 194"/>
          <p:cNvGrpSpPr/>
          <p:nvPr/>
        </p:nvGrpSpPr>
        <p:grpSpPr>
          <a:xfrm>
            <a:off x="1250950" y="6313170"/>
            <a:ext cx="10645140" cy="374015"/>
            <a:chOff x="1970" y="9686"/>
            <a:chExt cx="16764" cy="589"/>
          </a:xfrm>
        </p:grpSpPr>
        <p:grpSp>
          <p:nvGrpSpPr>
            <p:cNvPr id="196" name="组合 195"/>
            <p:cNvGrpSpPr/>
            <p:nvPr/>
          </p:nvGrpSpPr>
          <p:grpSpPr>
            <a:xfrm>
              <a:off x="1970" y="9686"/>
              <a:ext cx="3336" cy="589"/>
              <a:chOff x="1783" y="9686"/>
              <a:chExt cx="3336" cy="589"/>
            </a:xfrm>
          </p:grpSpPr>
          <p:sp>
            <p:nvSpPr>
              <p:cNvPr id="197" name="任意多边形: 形状 429"/>
              <p:cNvSpPr/>
              <p:nvPr>
                <p:custDataLst>
                  <p:tags r:id="rId42"/>
                </p:custDataLst>
              </p:nvPr>
            </p:nvSpPr>
            <p:spPr>
              <a:xfrm>
                <a:off x="1783" y="9686"/>
                <a:ext cx="3336" cy="589"/>
              </a:xfrm>
              <a:custGeom>
                <a:avLst/>
                <a:gdLst>
                  <a:gd name="connsiteX0" fmla="*/ 0 w 2057103"/>
                  <a:gd name="connsiteY0" fmla="*/ 0 h 374210"/>
                  <a:gd name="connsiteX1" fmla="*/ 2057103 w 2057103"/>
                  <a:gd name="connsiteY1" fmla="*/ 0 h 374210"/>
                  <a:gd name="connsiteX2" fmla="*/ 2057103 w 2057103"/>
                  <a:gd name="connsiteY2" fmla="*/ 374210 h 374210"/>
                  <a:gd name="connsiteX3" fmla="*/ 0 w 2057103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103" h="374210">
                    <a:moveTo>
                      <a:pt x="0" y="0"/>
                    </a:moveTo>
                    <a:lnTo>
                      <a:pt x="2057103" y="0"/>
                    </a:lnTo>
                    <a:lnTo>
                      <a:pt x="2057103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98" name="文本框 197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2851" y="9849"/>
                <a:ext cx="1105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A23322"/>
                    </a:solidFill>
                  </a14:hiddenFill>
                </a:ext>
              </a:extLst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数字化能力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5327" y="9686"/>
              <a:ext cx="3336" cy="589"/>
              <a:chOff x="1783" y="9686"/>
              <a:chExt cx="3336" cy="589"/>
            </a:xfrm>
            <a:solidFill>
              <a:srgbClr val="1D3557"/>
            </a:solidFill>
          </p:grpSpPr>
          <p:sp>
            <p:nvSpPr>
              <p:cNvPr id="200" name="任意多边形: 形状 429"/>
              <p:cNvSpPr/>
              <p:nvPr>
                <p:custDataLst>
                  <p:tags r:id="rId44"/>
                </p:custDataLst>
              </p:nvPr>
            </p:nvSpPr>
            <p:spPr>
              <a:xfrm>
                <a:off x="1783" y="9686"/>
                <a:ext cx="3336" cy="589"/>
              </a:xfrm>
              <a:custGeom>
                <a:avLst/>
                <a:gdLst>
                  <a:gd name="connsiteX0" fmla="*/ 0 w 2057103"/>
                  <a:gd name="connsiteY0" fmla="*/ 0 h 374210"/>
                  <a:gd name="connsiteX1" fmla="*/ 2057103 w 2057103"/>
                  <a:gd name="connsiteY1" fmla="*/ 0 h 374210"/>
                  <a:gd name="connsiteX2" fmla="*/ 2057103 w 2057103"/>
                  <a:gd name="connsiteY2" fmla="*/ 374210 h 374210"/>
                  <a:gd name="connsiteX3" fmla="*/ 0 w 2057103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103" h="374210">
                    <a:moveTo>
                      <a:pt x="0" y="0"/>
                    </a:moveTo>
                    <a:lnTo>
                      <a:pt x="2057103" y="0"/>
                    </a:lnTo>
                    <a:lnTo>
                      <a:pt x="2057103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01" name="文本框 200"/>
              <p:cNvSpPr txBox="1"/>
              <p:nvPr>
                <p:custDataLst>
                  <p:tags r:id="rId45"/>
                </p:custDataLst>
              </p:nvPr>
            </p:nvSpPr>
            <p:spPr>
              <a:xfrm>
                <a:off x="2961" y="9850"/>
                <a:ext cx="884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交付体系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02" name="组合 201"/>
            <p:cNvGrpSpPr/>
            <p:nvPr/>
          </p:nvGrpSpPr>
          <p:grpSpPr>
            <a:xfrm>
              <a:off x="8684" y="9686"/>
              <a:ext cx="3336" cy="589"/>
              <a:chOff x="1783" y="9686"/>
              <a:chExt cx="3336" cy="589"/>
            </a:xfrm>
            <a:solidFill>
              <a:srgbClr val="1D3557"/>
            </a:solidFill>
          </p:grpSpPr>
          <p:sp>
            <p:nvSpPr>
              <p:cNvPr id="203" name="任意多边形: 形状 429"/>
              <p:cNvSpPr/>
              <p:nvPr>
                <p:custDataLst>
                  <p:tags r:id="rId46"/>
                </p:custDataLst>
              </p:nvPr>
            </p:nvSpPr>
            <p:spPr>
              <a:xfrm>
                <a:off x="1783" y="9686"/>
                <a:ext cx="3336" cy="589"/>
              </a:xfrm>
              <a:custGeom>
                <a:avLst/>
                <a:gdLst>
                  <a:gd name="connsiteX0" fmla="*/ 0 w 2057103"/>
                  <a:gd name="connsiteY0" fmla="*/ 0 h 374210"/>
                  <a:gd name="connsiteX1" fmla="*/ 2057103 w 2057103"/>
                  <a:gd name="connsiteY1" fmla="*/ 0 h 374210"/>
                  <a:gd name="connsiteX2" fmla="*/ 2057103 w 2057103"/>
                  <a:gd name="connsiteY2" fmla="*/ 374210 h 374210"/>
                  <a:gd name="connsiteX3" fmla="*/ 0 w 2057103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103" h="374210">
                    <a:moveTo>
                      <a:pt x="0" y="0"/>
                    </a:moveTo>
                    <a:lnTo>
                      <a:pt x="2057103" y="0"/>
                    </a:lnTo>
                    <a:lnTo>
                      <a:pt x="2057103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04" name="文本框 203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2851" y="9849"/>
                <a:ext cx="1105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公私域机制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>
              <a:off x="12041" y="9686"/>
              <a:ext cx="3336" cy="589"/>
              <a:chOff x="1783" y="9686"/>
              <a:chExt cx="3336" cy="589"/>
            </a:xfrm>
            <a:solidFill>
              <a:srgbClr val="1D3557"/>
            </a:solidFill>
          </p:grpSpPr>
          <p:sp>
            <p:nvSpPr>
              <p:cNvPr id="206" name="任意多边形: 形状 42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783" y="9686"/>
                <a:ext cx="3336" cy="589"/>
              </a:xfrm>
              <a:custGeom>
                <a:avLst/>
                <a:gdLst>
                  <a:gd name="connsiteX0" fmla="*/ 0 w 2057103"/>
                  <a:gd name="connsiteY0" fmla="*/ 0 h 374210"/>
                  <a:gd name="connsiteX1" fmla="*/ 2057103 w 2057103"/>
                  <a:gd name="connsiteY1" fmla="*/ 0 h 374210"/>
                  <a:gd name="connsiteX2" fmla="*/ 2057103 w 2057103"/>
                  <a:gd name="connsiteY2" fmla="*/ 374210 h 374210"/>
                  <a:gd name="connsiteX3" fmla="*/ 0 w 2057103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103" h="374210">
                    <a:moveTo>
                      <a:pt x="0" y="0"/>
                    </a:moveTo>
                    <a:lnTo>
                      <a:pt x="2057103" y="0"/>
                    </a:lnTo>
                    <a:lnTo>
                      <a:pt x="2057103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07" name="文本框 206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2961" y="9850"/>
                <a:ext cx="884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策略人群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08" name="组合 207"/>
            <p:cNvGrpSpPr/>
            <p:nvPr/>
          </p:nvGrpSpPr>
          <p:grpSpPr>
            <a:xfrm>
              <a:off x="15398" y="9686"/>
              <a:ext cx="3336" cy="589"/>
              <a:chOff x="1783" y="9686"/>
              <a:chExt cx="3336" cy="589"/>
            </a:xfrm>
            <a:solidFill>
              <a:srgbClr val="1D3557"/>
            </a:solidFill>
          </p:grpSpPr>
          <p:sp>
            <p:nvSpPr>
              <p:cNvPr id="209" name="任意多边形: 形状 429"/>
              <p:cNvSpPr/>
              <p:nvPr>
                <p:custDataLst>
                  <p:tags r:id="rId50"/>
                </p:custDataLst>
              </p:nvPr>
            </p:nvSpPr>
            <p:spPr>
              <a:xfrm>
                <a:off x="1783" y="9686"/>
                <a:ext cx="3336" cy="589"/>
              </a:xfrm>
              <a:custGeom>
                <a:avLst/>
                <a:gdLst>
                  <a:gd name="connsiteX0" fmla="*/ 0 w 2057103"/>
                  <a:gd name="connsiteY0" fmla="*/ 0 h 374210"/>
                  <a:gd name="connsiteX1" fmla="*/ 2057103 w 2057103"/>
                  <a:gd name="connsiteY1" fmla="*/ 0 h 374210"/>
                  <a:gd name="connsiteX2" fmla="*/ 2057103 w 2057103"/>
                  <a:gd name="connsiteY2" fmla="*/ 374210 h 374210"/>
                  <a:gd name="connsiteX3" fmla="*/ 0 w 2057103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7103" h="374210">
                    <a:moveTo>
                      <a:pt x="0" y="0"/>
                    </a:moveTo>
                    <a:lnTo>
                      <a:pt x="2057103" y="0"/>
                    </a:lnTo>
                    <a:lnTo>
                      <a:pt x="2057103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 anchorCtr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0" name="文本框 209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2961" y="9850"/>
                <a:ext cx="884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zh-CN" altLang="en-US" sz="11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产品工具</a:t>
                </a:r>
                <a:endParaRPr lang="zh-CN" altLang="en-US" sz="11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164" name="紫荆的职场Point99-8"/>
          <p:cNvSpPr/>
          <p:nvPr/>
        </p:nvSpPr>
        <p:spPr>
          <a:xfrm>
            <a:off x="6229350" y="4297680"/>
            <a:ext cx="133350" cy="133350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FFFF"/>
            </a:solidFill>
          </a:ln>
        </p:spPr>
        <p:style>
          <a:lnRef idx="2">
            <a:srgbClr val="24396B">
              <a:shade val="15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sz="50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紫荆的职场Point99-15"/>
          <p:cNvSpPr txBox="1"/>
          <p:nvPr/>
        </p:nvSpPr>
        <p:spPr>
          <a:xfrm>
            <a:off x="6155690" y="4274820"/>
            <a:ext cx="273685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</a:t>
            </a:r>
            <a:endParaRPr lang="en-US" altLang="zh-CN" sz="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客服</a:t>
            </a:r>
            <a:endParaRPr lang="zh-CN" altLang="en-US" sz="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紫荆的职场Point99-16"/>
          <p:cNvSpPr txBox="1"/>
          <p:nvPr/>
        </p:nvSpPr>
        <p:spPr>
          <a:xfrm>
            <a:off x="6358255" y="4293870"/>
            <a:ext cx="25209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群聊</a:t>
            </a:r>
            <a:endParaRPr lang="zh-CN" altLang="en-US" sz="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0375900" y="3426460"/>
            <a:ext cx="1407160" cy="367665"/>
            <a:chOff x="13676" y="5141"/>
            <a:chExt cx="2216" cy="579"/>
          </a:xfrm>
        </p:grpSpPr>
        <p:sp>
          <p:nvSpPr>
            <p:cNvPr id="30" name="矩形: 圆角 5"/>
            <p:cNvSpPr/>
            <p:nvPr/>
          </p:nvSpPr>
          <p:spPr>
            <a:xfrm>
              <a:off x="13815" y="5272"/>
              <a:ext cx="2077" cy="44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13676" y="5141"/>
              <a:ext cx="385" cy="385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2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52"/>
              </p:custDataLst>
            </p:nvPr>
          </p:nvSpPr>
          <p:spPr>
            <a:xfrm>
              <a:off x="14187" y="5345"/>
              <a:ext cx="1440" cy="29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推进关系深度</a:t>
              </a:r>
              <a:endPara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8818880" y="4355465"/>
            <a:ext cx="1407160" cy="367665"/>
            <a:chOff x="13676" y="5141"/>
            <a:chExt cx="2216" cy="579"/>
          </a:xfrm>
        </p:grpSpPr>
        <p:sp>
          <p:nvSpPr>
            <p:cNvPr id="43" name="矩形: 圆角 5"/>
            <p:cNvSpPr/>
            <p:nvPr/>
          </p:nvSpPr>
          <p:spPr>
            <a:xfrm>
              <a:off x="13815" y="5272"/>
              <a:ext cx="2077" cy="44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13676" y="5141"/>
              <a:ext cx="385" cy="385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3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53"/>
              </p:custDataLst>
            </p:nvPr>
          </p:nvSpPr>
          <p:spPr>
            <a:xfrm>
              <a:off x="14187" y="5345"/>
              <a:ext cx="1440" cy="29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增强场域引力</a:t>
              </a:r>
              <a:endPara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391775" y="4355465"/>
            <a:ext cx="1407160" cy="367665"/>
            <a:chOff x="13676" y="5141"/>
            <a:chExt cx="2216" cy="579"/>
          </a:xfrm>
        </p:grpSpPr>
        <p:sp>
          <p:nvSpPr>
            <p:cNvPr id="48" name="矩形: 圆角 5"/>
            <p:cNvSpPr/>
            <p:nvPr/>
          </p:nvSpPr>
          <p:spPr>
            <a:xfrm>
              <a:off x="13815" y="5272"/>
              <a:ext cx="2077" cy="44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13676" y="5141"/>
              <a:ext cx="385" cy="385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rgbClr val="02328C">
                <a:shade val="15000"/>
              </a:srgbClr>
            </a:lnRef>
            <a:fillRef idx="1">
              <a:srgbClr val="02328C"/>
            </a:fillRef>
            <a:effectRef idx="0">
              <a:srgbClr val="02328C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</a:rPr>
                <a:t>4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54"/>
              </p:custDataLst>
            </p:nvPr>
          </p:nvSpPr>
          <p:spPr>
            <a:xfrm>
              <a:off x="14187" y="5345"/>
              <a:ext cx="1440" cy="290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提升关系价值</a:t>
              </a:r>
              <a:endParaRPr lang="zh-CN" alt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63" name="图片 62" descr="广告埋点管理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545705" y="3733165"/>
            <a:ext cx="139065" cy="1390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/>
        </p:spPr>
      </p:pic>
      <p:pic>
        <p:nvPicPr>
          <p:cNvPr id="68" name="图片 67" descr="购物车"/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7545705" y="4391025"/>
            <a:ext cx="139700" cy="139700"/>
          </a:xfrm>
          <a:prstGeom prst="rect">
            <a:avLst/>
          </a:prstGeom>
          <a:gradFill>
            <a:gsLst>
              <a:gs pos="0">
                <a:schemeClr val="accent2">
                  <a:lumMod val="10000"/>
                  <a:lumOff val="90000"/>
                </a:schemeClr>
              </a:gs>
              <a:gs pos="100000">
                <a:schemeClr val="accent2">
                  <a:lumMod val="10000"/>
                  <a:lumOff val="90000"/>
                </a:schemeClr>
              </a:gs>
            </a:gsLst>
            <a:lin ang="0" scaled="0"/>
          </a:gradFill>
          <a:effectLst/>
        </p:spPr>
      </p:pic>
      <p:pic>
        <p:nvPicPr>
          <p:cNvPr id="69" name="图片 68" descr="agora_-百万人大频道"/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275955" y="4363720"/>
            <a:ext cx="193675" cy="193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/>
        </p:spPr>
      </p:pic>
      <p:pic>
        <p:nvPicPr>
          <p:cNvPr id="70" name="图片 69" descr="搜索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7908290" y="3538220"/>
            <a:ext cx="170815" cy="170815"/>
          </a:xfrm>
          <a:prstGeom prst="rect">
            <a:avLst/>
          </a:prstGeom>
        </p:spPr>
      </p:pic>
      <p:pic>
        <p:nvPicPr>
          <p:cNvPr id="91" name="图片 90" descr="推荐"/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300720" y="3718560"/>
            <a:ext cx="179070" cy="165735"/>
          </a:xfrm>
          <a:prstGeom prst="rect">
            <a:avLst/>
          </a:prstGeom>
          <a:gradFill>
            <a:gsLst>
              <a:gs pos="0">
                <a:schemeClr val="accent2">
                  <a:lumMod val="10000"/>
                  <a:lumOff val="90000"/>
                </a:schemeClr>
              </a:gs>
              <a:gs pos="100000">
                <a:schemeClr val="accent2">
                  <a:lumMod val="10000"/>
                  <a:lumOff val="90000"/>
                </a:schemeClr>
              </a:gs>
            </a:gsLst>
            <a:lin ang="0" scaled="0"/>
          </a:gradFill>
          <a:effectLst/>
        </p:spPr>
      </p:pic>
      <p:pic>
        <p:nvPicPr>
          <p:cNvPr id="97" name="图片 96" descr="会场"/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7922895" y="4568190"/>
            <a:ext cx="141605" cy="141605"/>
          </a:xfrm>
          <a:prstGeom prst="rect">
            <a:avLst/>
          </a:prstGeom>
        </p:spPr>
      </p:pic>
      <p:grpSp>
        <p:nvGrpSpPr>
          <p:cNvPr id="103" name="组合 102"/>
          <p:cNvGrpSpPr/>
          <p:nvPr/>
        </p:nvGrpSpPr>
        <p:grpSpPr>
          <a:xfrm>
            <a:off x="1250950" y="5435600"/>
            <a:ext cx="10640695" cy="373380"/>
            <a:chOff x="1970" y="8304"/>
            <a:chExt cx="16757" cy="588"/>
          </a:xfrm>
          <a:solidFill>
            <a:schemeClr val="accent1">
              <a:lumMod val="20000"/>
              <a:lumOff val="80000"/>
              <a:alpha val="70000"/>
            </a:schemeClr>
          </a:solidFill>
        </p:grpSpPr>
        <p:grpSp>
          <p:nvGrpSpPr>
            <p:cNvPr id="104" name="组合 103"/>
            <p:cNvGrpSpPr/>
            <p:nvPr/>
          </p:nvGrpSpPr>
          <p:grpSpPr>
            <a:xfrm>
              <a:off x="1970" y="8304"/>
              <a:ext cx="4088" cy="588"/>
              <a:chOff x="1783" y="8274"/>
              <a:chExt cx="4088" cy="588"/>
            </a:xfrm>
            <a:grpFill/>
          </p:grpSpPr>
          <p:sp>
            <p:nvSpPr>
              <p:cNvPr id="105" name="任意多边形: 形状 319"/>
              <p:cNvSpPr/>
              <p:nvPr>
                <p:custDataLst>
                  <p:tags r:id="rId67"/>
                </p:custDataLst>
              </p:nvPr>
            </p:nvSpPr>
            <p:spPr>
              <a:xfrm>
                <a:off x="1783" y="8274"/>
                <a:ext cx="4088" cy="589"/>
              </a:xfrm>
              <a:custGeom>
                <a:avLst/>
                <a:gdLst>
                  <a:gd name="connsiteX0" fmla="*/ 0 w 2581486"/>
                  <a:gd name="connsiteY0" fmla="*/ 0 h 374210"/>
                  <a:gd name="connsiteX1" fmla="*/ 2581486 w 2581486"/>
                  <a:gd name="connsiteY1" fmla="*/ 0 h 374210"/>
                  <a:gd name="connsiteX2" fmla="*/ 2581486 w 2581486"/>
                  <a:gd name="connsiteY2" fmla="*/ 374210 h 374210"/>
                  <a:gd name="connsiteX3" fmla="*/ 0 w 2581486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1486" h="374210">
                    <a:moveTo>
                      <a:pt x="0" y="0"/>
                    </a:moveTo>
                    <a:lnTo>
                      <a:pt x="2581486" y="0"/>
                    </a:lnTo>
                    <a:lnTo>
                      <a:pt x="2581486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chemeClr val="accent1">
                    <a:alpha val="7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06" name="文本框 105"/>
              <p:cNvSpPr txBox="1"/>
              <p:nvPr>
                <p:custDataLst>
                  <p:tags r:id="rId68"/>
                </p:custDataLst>
              </p:nvPr>
            </p:nvSpPr>
            <p:spPr>
              <a:xfrm>
                <a:off x="2081" y="8436"/>
                <a:ext cx="3492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品牌组织保障     </a:t>
                </a:r>
                <a:r>
                  <a:rPr lang="en-US" altLang="zh-CN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Organization</a:t>
                </a:r>
                <a:endParaRPr lang="en-US" altLang="zh-CN" sz="11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6193" y="8304"/>
              <a:ext cx="4088" cy="589"/>
              <a:chOff x="1783" y="8274"/>
              <a:chExt cx="4088" cy="589"/>
            </a:xfrm>
            <a:grpFill/>
          </p:grpSpPr>
          <p:sp>
            <p:nvSpPr>
              <p:cNvPr id="114" name="任意多边形: 形状 319"/>
              <p:cNvSpPr/>
              <p:nvPr>
                <p:custDataLst>
                  <p:tags r:id="rId69"/>
                </p:custDataLst>
              </p:nvPr>
            </p:nvSpPr>
            <p:spPr>
              <a:xfrm>
                <a:off x="1783" y="8274"/>
                <a:ext cx="4088" cy="589"/>
              </a:xfrm>
              <a:custGeom>
                <a:avLst/>
                <a:gdLst>
                  <a:gd name="connsiteX0" fmla="*/ 0 w 2581486"/>
                  <a:gd name="connsiteY0" fmla="*/ 0 h 374210"/>
                  <a:gd name="connsiteX1" fmla="*/ 2581486 w 2581486"/>
                  <a:gd name="connsiteY1" fmla="*/ 0 h 374210"/>
                  <a:gd name="connsiteX2" fmla="*/ 2581486 w 2581486"/>
                  <a:gd name="connsiteY2" fmla="*/ 374210 h 374210"/>
                  <a:gd name="connsiteX3" fmla="*/ 0 w 2581486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1486" h="374210">
                    <a:moveTo>
                      <a:pt x="0" y="0"/>
                    </a:moveTo>
                    <a:lnTo>
                      <a:pt x="2581486" y="0"/>
                    </a:lnTo>
                    <a:lnTo>
                      <a:pt x="2581486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chemeClr val="accent1">
                    <a:alpha val="7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6" name="文本框 115"/>
              <p:cNvSpPr txBox="1"/>
              <p:nvPr>
                <p:custDataLst>
                  <p:tags r:id="rId70"/>
                </p:custDataLst>
              </p:nvPr>
            </p:nvSpPr>
            <p:spPr>
              <a:xfrm>
                <a:off x="2081" y="8436"/>
                <a:ext cx="3492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品牌优质供给     </a:t>
                </a:r>
                <a:r>
                  <a:rPr lang="en-US" altLang="zh-CN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Supply</a:t>
                </a:r>
                <a:endParaRPr lang="en-US" altLang="zh-CN" sz="11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10416" y="8304"/>
              <a:ext cx="4088" cy="589"/>
              <a:chOff x="1783" y="8274"/>
              <a:chExt cx="4088" cy="589"/>
            </a:xfrm>
            <a:grpFill/>
          </p:grpSpPr>
          <p:sp>
            <p:nvSpPr>
              <p:cNvPr id="122" name="任意多边形: 形状 319"/>
              <p:cNvSpPr/>
              <p:nvPr>
                <p:custDataLst>
                  <p:tags r:id="rId71"/>
                </p:custDataLst>
              </p:nvPr>
            </p:nvSpPr>
            <p:spPr>
              <a:xfrm>
                <a:off x="1783" y="8274"/>
                <a:ext cx="4088" cy="589"/>
              </a:xfrm>
              <a:custGeom>
                <a:avLst/>
                <a:gdLst>
                  <a:gd name="connsiteX0" fmla="*/ 0 w 2581486"/>
                  <a:gd name="connsiteY0" fmla="*/ 0 h 374210"/>
                  <a:gd name="connsiteX1" fmla="*/ 2581486 w 2581486"/>
                  <a:gd name="connsiteY1" fmla="*/ 0 h 374210"/>
                  <a:gd name="connsiteX2" fmla="*/ 2581486 w 2581486"/>
                  <a:gd name="connsiteY2" fmla="*/ 374210 h 374210"/>
                  <a:gd name="connsiteX3" fmla="*/ 0 w 2581486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1486" h="374210">
                    <a:moveTo>
                      <a:pt x="0" y="0"/>
                    </a:moveTo>
                    <a:lnTo>
                      <a:pt x="2581486" y="0"/>
                    </a:lnTo>
                    <a:lnTo>
                      <a:pt x="2581486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chemeClr val="accent1">
                    <a:alpha val="7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25" name="文本框 124"/>
              <p:cNvSpPr txBox="1"/>
              <p:nvPr>
                <p:custDataLst>
                  <p:tags r:id="rId72"/>
                </p:custDataLst>
              </p:nvPr>
            </p:nvSpPr>
            <p:spPr>
              <a:xfrm>
                <a:off x="2081" y="8436"/>
                <a:ext cx="3492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会员体系管理     </a:t>
                </a:r>
                <a:r>
                  <a:rPr lang="en-US" altLang="zh-CN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Loyalty</a:t>
                </a:r>
                <a:endParaRPr lang="en-US" altLang="zh-CN" sz="11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14639" y="8304"/>
              <a:ext cx="4088" cy="589"/>
              <a:chOff x="1783" y="8274"/>
              <a:chExt cx="4088" cy="589"/>
            </a:xfrm>
            <a:grpFill/>
          </p:grpSpPr>
          <p:sp>
            <p:nvSpPr>
              <p:cNvPr id="127" name="任意多边形: 形状 319"/>
              <p:cNvSpPr/>
              <p:nvPr>
                <p:custDataLst>
                  <p:tags r:id="rId73"/>
                </p:custDataLst>
              </p:nvPr>
            </p:nvSpPr>
            <p:spPr>
              <a:xfrm>
                <a:off x="1783" y="8274"/>
                <a:ext cx="4088" cy="589"/>
              </a:xfrm>
              <a:custGeom>
                <a:avLst/>
                <a:gdLst>
                  <a:gd name="connsiteX0" fmla="*/ 0 w 2581486"/>
                  <a:gd name="connsiteY0" fmla="*/ 0 h 374210"/>
                  <a:gd name="connsiteX1" fmla="*/ 2581486 w 2581486"/>
                  <a:gd name="connsiteY1" fmla="*/ 0 h 374210"/>
                  <a:gd name="connsiteX2" fmla="*/ 2581486 w 2581486"/>
                  <a:gd name="connsiteY2" fmla="*/ 374210 h 374210"/>
                  <a:gd name="connsiteX3" fmla="*/ 0 w 2581486"/>
                  <a:gd name="connsiteY3" fmla="*/ 374210 h 374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81486" h="374210">
                    <a:moveTo>
                      <a:pt x="0" y="0"/>
                    </a:moveTo>
                    <a:lnTo>
                      <a:pt x="2581486" y="0"/>
                    </a:lnTo>
                    <a:lnTo>
                      <a:pt x="2581486" y="374210"/>
                    </a:lnTo>
                    <a:lnTo>
                      <a:pt x="0" y="374210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chemeClr val="accent1">
                    <a:alpha val="7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29" name="文本框 128"/>
              <p:cNvSpPr txBox="1"/>
              <p:nvPr>
                <p:custDataLst>
                  <p:tags r:id="rId74"/>
                </p:custDataLst>
              </p:nvPr>
            </p:nvSpPr>
            <p:spPr>
              <a:xfrm>
                <a:off x="2081" y="8436"/>
                <a:ext cx="3492" cy="2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用户体验提升     </a:t>
                </a:r>
                <a:r>
                  <a:rPr lang="en-US" altLang="zh-CN" sz="110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Experience</a:t>
                </a:r>
                <a:endParaRPr lang="en-US" altLang="zh-CN" sz="11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437" name="矩形 436"/>
          <p:cNvSpPr/>
          <p:nvPr/>
        </p:nvSpPr>
        <p:spPr>
          <a:xfrm>
            <a:off x="539115" y="979170"/>
            <a:ext cx="11269980" cy="66611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1" name="文本占位符 30"/>
          <p:cNvSpPr>
            <a:spLocks noGrp="1"/>
          </p:cNvSpPr>
          <p:nvPr/>
        </p:nvSpPr>
        <p:spPr>
          <a:xfrm>
            <a:off x="650875" y="1071245"/>
            <a:ext cx="10923270" cy="574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vivo type 简 Regular" panose="02000500000000000000" pitchFamily="2" charset="-122"/>
                <a:ea typeface="vivo type 简 Regular" panose="02000500000000000000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全域运营模型：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整合了线上线下、公域私域等多种资源和渠道，使得企业可以形成更全面、更具竞争力的营销策略。</a:t>
            </a:r>
            <a:r>
              <a:rPr lang="zh-CN" altLang="en-US" sz="1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跨渠道整合和数据驱动的分析</a:t>
            </a:r>
            <a:r>
              <a:rPr lang="zh-CN" altLang="en-US" sz="15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让企业能更准确地洞察市场需求和竞争态势，从而形成差异化竞争优势。</a:t>
            </a:r>
            <a:endParaRPr lang="zh-CN" altLang="en-US" sz="15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7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集团公司报表管理体系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1" name="任意多边形: 形状 40"/>
          <p:cNvSpPr/>
          <p:nvPr/>
        </p:nvSpPr>
        <p:spPr>
          <a:xfrm>
            <a:off x="-946150" y="-668020"/>
            <a:ext cx="21590" cy="43815"/>
          </a:xfrm>
          <a:custGeom>
            <a:avLst/>
            <a:gdLst>
              <a:gd name="connsiteX0" fmla="*/ 0 w 21855"/>
              <a:gd name="connsiteY0" fmla="*/ 21856 h 43711"/>
              <a:gd name="connsiteX1" fmla="*/ 21856 w 21855"/>
              <a:gd name="connsiteY1" fmla="*/ 43712 h 43711"/>
              <a:gd name="connsiteX2" fmla="*/ 21856 w 21855"/>
              <a:gd name="connsiteY2" fmla="*/ 0 h 43711"/>
              <a:gd name="connsiteX3" fmla="*/ 0 w 21855"/>
              <a:gd name="connsiteY3" fmla="*/ 21856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21856"/>
                </a:moveTo>
                <a:cubicBezTo>
                  <a:pt x="0" y="33927"/>
                  <a:pt x="9785" y="43712"/>
                  <a:pt x="21856" y="43712"/>
                </a:cubicBezTo>
                <a:lnTo>
                  <a:pt x="21856" y="0"/>
                </a:lnTo>
                <a:cubicBezTo>
                  <a:pt x="9785" y="0"/>
                  <a:pt x="0" y="9785"/>
                  <a:pt x="0" y="21856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37590" y="2872105"/>
            <a:ext cx="3484245" cy="24536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905510" y="1292225"/>
            <a:ext cx="11059795" cy="762000"/>
            <a:chOff x="2456" y="2057"/>
            <a:chExt cx="14515" cy="1200"/>
          </a:xfrm>
        </p:grpSpPr>
        <p:sp>
          <p:nvSpPr>
            <p:cNvPr id="24" name="紫荆的职场Point28"/>
            <p:cNvSpPr/>
            <p:nvPr/>
          </p:nvSpPr>
          <p:spPr>
            <a:xfrm>
              <a:off x="2456" y="2057"/>
              <a:ext cx="14515" cy="1158"/>
            </a:xfrm>
            <a:prstGeom prst="triangle">
              <a:avLst>
                <a:gd name="adj" fmla="val 50311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5" name="直接连接符 34"/>
            <p:cNvCxnSpPr>
              <a:stCxn id="24" idx="0"/>
            </p:cNvCxnSpPr>
            <p:nvPr/>
          </p:nvCxnSpPr>
          <p:spPr>
            <a:xfrm flipH="1">
              <a:off x="7635" y="2057"/>
              <a:ext cx="2124" cy="1200"/>
            </a:xfrm>
            <a:prstGeom prst="lin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>
            <a:xfrm>
              <a:off x="9759" y="2057"/>
              <a:ext cx="1876" cy="1041"/>
            </a:xfrm>
            <a:prstGeom prst="lin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</p:cxnSp>
        <p:sp>
          <p:nvSpPr>
            <p:cNvPr id="38" name="文本框 37"/>
            <p:cNvSpPr txBox="1"/>
            <p:nvPr/>
          </p:nvSpPr>
          <p:spPr>
            <a:xfrm>
              <a:off x="5600" y="2606"/>
              <a:ext cx="25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高层看什么</a:t>
              </a:r>
              <a:endPara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540" y="2606"/>
              <a:ext cx="25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中层管什么</a:t>
              </a:r>
              <a:endPara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1480" y="2606"/>
              <a:ext cx="255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基层干什么</a:t>
              </a:r>
              <a:endParaRPr lang="zh-CN" altLang="en-US" sz="1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5" name="textbox 524"/>
          <p:cNvSpPr/>
          <p:nvPr>
            <p:custDataLst>
              <p:tags r:id="rId3"/>
            </p:custDataLst>
          </p:nvPr>
        </p:nvSpPr>
        <p:spPr>
          <a:xfrm>
            <a:off x="4688205" y="2872105"/>
            <a:ext cx="7134860" cy="245364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37590" y="2058670"/>
            <a:ext cx="3484880" cy="738505"/>
          </a:xfrm>
          <a:prstGeom prst="rect">
            <a:avLst/>
          </a:prstGeom>
          <a:gradFill>
            <a:gsLst>
              <a:gs pos="18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258378" y="2121535"/>
            <a:ext cx="10160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270000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rPr>
              <a:t>集团驾驶舱</a:t>
            </a:r>
            <a:endParaRPr lang="zh-CN" altLang="en-US" sz="1600" b="1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0000">
                    <a:schemeClr val="accent1"/>
                  </a:gs>
                </a:gsLst>
                <a:lin ang="2700000" scaled="1"/>
                <a:tileRect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65885" y="2404110"/>
            <a:ext cx="2860040" cy="337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集团核心战略指标实时监控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688205" y="2058670"/>
            <a:ext cx="3484880" cy="738505"/>
          </a:xfrm>
          <a:prstGeom prst="rect">
            <a:avLst/>
          </a:prstGeom>
          <a:gradFill>
            <a:gsLst>
              <a:gs pos="18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618163" y="2085975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270000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rPr>
              <a:t>业务单元报表中心</a:t>
            </a:r>
            <a:endParaRPr lang="zh-CN" altLang="en-US" sz="1600" b="1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0000">
                    <a:schemeClr val="accent1"/>
                  </a:gs>
                </a:gsLst>
                <a:lin ang="2700000" scaled="1"/>
                <a:tileRect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016500" y="2404110"/>
            <a:ext cx="2860040" cy="337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事业部/区域经营分析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338820" y="2058670"/>
            <a:ext cx="3484880" cy="738505"/>
          </a:xfrm>
          <a:prstGeom prst="rect">
            <a:avLst/>
          </a:prstGeom>
          <a:gradFill>
            <a:gsLst>
              <a:gs pos="18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305290" y="2085975"/>
            <a:ext cx="1625600" cy="24574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270000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rPr>
              <a:t>数据资产管理体系</a:t>
            </a:r>
            <a:endParaRPr lang="zh-CN" altLang="en-US" sz="1600" b="1" dirty="0"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0000">
                    <a:schemeClr val="accent1"/>
                  </a:gs>
                </a:gsLst>
                <a:lin ang="2700000" scaled="1"/>
                <a:tileRect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667115" y="2404110"/>
            <a:ext cx="2860040" cy="3378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cs typeface="微软雅黑" panose="020B0503020204020204" charset="-122"/>
                <a:sym typeface="+mn-ea"/>
              </a:rPr>
              <a:t>业务数字化+赋能基层人员执行</a:t>
            </a:r>
            <a:endParaRPr lang="zh-CN" altLang="en-US" sz="1400">
              <a:cs typeface="微软雅黑" panose="020B0503020204020204" charset="-122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955165" y="2969260"/>
            <a:ext cx="1444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</a:t>
            </a:r>
            <a:endParaRPr lang="zh-CN" altLang="en-US" sz="16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8" name="组合 167"/>
          <p:cNvGrpSpPr/>
          <p:nvPr/>
        </p:nvGrpSpPr>
        <p:grpSpPr>
          <a:xfrm>
            <a:off x="1207770" y="3394075"/>
            <a:ext cx="966470" cy="1751330"/>
            <a:chOff x="2172" y="5345"/>
            <a:chExt cx="1522" cy="2758"/>
          </a:xfrm>
        </p:grpSpPr>
        <p:sp>
          <p:nvSpPr>
            <p:cNvPr id="71" name="矩形 70"/>
            <p:cNvSpPr/>
            <p:nvPr/>
          </p:nvSpPr>
          <p:spPr>
            <a:xfrm>
              <a:off x="2172" y="5345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集团本体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2172" y="6440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子公司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2172" y="7535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职能部门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4" name="下箭头 73"/>
            <p:cNvSpPr/>
            <p:nvPr/>
          </p:nvSpPr>
          <p:spPr>
            <a:xfrm>
              <a:off x="2717" y="5983"/>
              <a:ext cx="432" cy="386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400" b="1" dirty="0">
                <a:gradFill flip="none" rotWithShape="1"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2" name="下箭头 91"/>
            <p:cNvSpPr/>
            <p:nvPr/>
          </p:nvSpPr>
          <p:spPr>
            <a:xfrm>
              <a:off x="2717" y="7079"/>
              <a:ext cx="432" cy="386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400" b="1" dirty="0">
                <a:gradFill flip="none" rotWithShape="1"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2446655" y="3375025"/>
            <a:ext cx="966470" cy="1751330"/>
            <a:chOff x="4383" y="5345"/>
            <a:chExt cx="1522" cy="2758"/>
          </a:xfrm>
        </p:grpSpPr>
        <p:sp>
          <p:nvSpPr>
            <p:cNvPr id="93" name="矩形 92"/>
            <p:cNvSpPr/>
            <p:nvPr/>
          </p:nvSpPr>
          <p:spPr>
            <a:xfrm>
              <a:off x="4383" y="5345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总部职能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4383" y="6440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事业部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4383" y="7535"/>
              <a:ext cx="1522" cy="56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rPr>
                <a:t>基层员工</a:t>
              </a:r>
              <a:endParaRPr lang="en-US" altLang="zh-CN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7" name="下箭头 116"/>
            <p:cNvSpPr/>
            <p:nvPr/>
          </p:nvSpPr>
          <p:spPr>
            <a:xfrm>
              <a:off x="4928" y="5983"/>
              <a:ext cx="432" cy="386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400" b="1" dirty="0">
                <a:gradFill flip="none" rotWithShape="1"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9" name="下箭头 118"/>
            <p:cNvSpPr/>
            <p:nvPr/>
          </p:nvSpPr>
          <p:spPr>
            <a:xfrm>
              <a:off x="4928" y="7079"/>
              <a:ext cx="432" cy="386"/>
            </a:xfrm>
            <a:prstGeom prst="downArrow">
              <a:avLst/>
            </a:prstGeom>
            <a:solidFill>
              <a:schemeClr val="bg1"/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63500" sx="102000" sy="102000" algn="ctr" rotWithShape="0">
                <a:schemeClr val="accent1">
                  <a:lumMod val="60000"/>
                  <a:lumOff val="40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lIns="14400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1400" b="1" dirty="0">
                <a:gradFill flip="none" rotWithShape="1"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atin typeface="+mj-ea"/>
                <a:ea typeface="+mj-ea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5678170" y="1001395"/>
            <a:ext cx="1724025" cy="48387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微软雅黑" panose="020B0503020204020204" charset="-122"/>
              </a:rPr>
              <a:t>集团管理报表</a:t>
            </a:r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7272020" y="2952750"/>
            <a:ext cx="1967230" cy="337820"/>
          </a:xfrm>
          <a:prstGeom prst="rect">
            <a:avLst/>
          </a:prstGeom>
          <a:gradFill flip="none" rotWithShape="1">
            <a:gsLst>
              <a:gs pos="18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数据仓库架构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892675" y="3393440"/>
            <a:ext cx="1628140" cy="186182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5016500" y="3811905"/>
            <a:ext cx="135890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云数仓</a:t>
            </a:r>
            <a:r>
              <a:rPr lang="en-US" altLang="zh-CN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(Snowflake)</a:t>
            </a:r>
            <a:endParaRPr lang="en-US" altLang="zh-CN" sz="10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984433" y="3462020"/>
            <a:ext cx="1444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数据仓库</a:t>
            </a:r>
            <a:endParaRPr lang="zh-CN" altLang="en-US" sz="16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016500" y="4164330"/>
            <a:ext cx="135953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2"/>
                </a:solidFill>
                <a:cs typeface="微软雅黑" panose="020B0503020204020204" charset="-122"/>
              </a:rPr>
              <a:t>数据清洗标准化</a:t>
            </a:r>
            <a:endParaRPr lang="zh-CN" altLang="en-US" sz="12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5016500" y="4516755"/>
            <a:ext cx="135953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tx2"/>
                </a:solidFill>
                <a:cs typeface="微软雅黑" panose="020B0503020204020204" charset="-122"/>
              </a:rPr>
              <a:t>构建星型模型</a:t>
            </a:r>
            <a:endParaRPr lang="zh-CN" altLang="en-US" sz="11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5016500" y="4869180"/>
            <a:ext cx="135953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2"/>
                </a:solidFill>
                <a:cs typeface="微软雅黑" panose="020B0503020204020204" charset="-122"/>
              </a:rPr>
              <a:t>历史拉链表存储</a:t>
            </a:r>
            <a:endParaRPr lang="zh-CN" altLang="en-US" sz="12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6656070" y="3393440"/>
            <a:ext cx="2472055" cy="186182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7137718" y="3462020"/>
            <a:ext cx="1444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大数据平台</a:t>
            </a:r>
            <a:endParaRPr lang="zh-CN" altLang="en-US" sz="16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932295" y="3811905"/>
            <a:ext cx="188214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Spark 3.0 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批流一体处理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932295" y="4164330"/>
            <a:ext cx="188214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湖仓一体（</a:t>
            </a:r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Delta Lake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6932295" y="4516755"/>
            <a:ext cx="188214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ClickHous</a:t>
            </a:r>
            <a:r>
              <a: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数据聚合分析</a:t>
            </a:r>
            <a:endParaRPr lang="zh-CN" altLang="en-US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932295" y="4869180"/>
            <a:ext cx="9315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DataX </a:t>
            </a:r>
            <a:endParaRPr lang="en-US" altLang="zh-CN" sz="12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935595" y="4869180"/>
            <a:ext cx="88519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SeaTunnel</a:t>
            </a:r>
            <a:endParaRPr lang="en-US" altLang="zh-CN" sz="11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9229725" y="3394075"/>
            <a:ext cx="2472055" cy="186182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9711373" y="3462655"/>
            <a:ext cx="14446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数据管理平台</a:t>
            </a:r>
            <a:endParaRPr lang="zh-CN" altLang="en-US" sz="16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9438005" y="3811905"/>
            <a:ext cx="2021840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数据标准化与统一指标库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9438005" y="4869180"/>
            <a:ext cx="100012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自动化治理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10497185" y="4869180"/>
            <a:ext cx="95059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数据服务化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9438005" y="4516120"/>
            <a:ext cx="100012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数据血缘追踪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10497185" y="4516120"/>
            <a:ext cx="95059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权限精细管控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9438005" y="4159885"/>
            <a:ext cx="100012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数据质量管理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10497185" y="4159885"/>
            <a:ext cx="95059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>
                <a:solidFill>
                  <a:schemeClr val="tx2"/>
                </a:solidFill>
                <a:cs typeface="微软雅黑" panose="020B0503020204020204" charset="-122"/>
              </a:rPr>
              <a:t>元数据管理</a:t>
            </a:r>
            <a:endParaRPr lang="zh-CN" altLang="en-US" sz="100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240" name="右箭头 239"/>
          <p:cNvSpPr/>
          <p:nvPr/>
        </p:nvSpPr>
        <p:spPr>
          <a:xfrm rot="16200000" flipV="1">
            <a:off x="2522220" y="5231130"/>
            <a:ext cx="435610" cy="483870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3419475" y="3422015"/>
            <a:ext cx="1123315" cy="1663700"/>
            <a:chOff x="5315" y="5389"/>
            <a:chExt cx="1769" cy="2620"/>
          </a:xfrm>
        </p:grpSpPr>
        <p:sp>
          <p:nvSpPr>
            <p:cNvPr id="170" name="文本框 169"/>
            <p:cNvSpPr txBox="1"/>
            <p:nvPr/>
          </p:nvSpPr>
          <p:spPr>
            <a:xfrm>
              <a:off x="5315" y="7575"/>
              <a:ext cx="15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操作层数据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5315" y="6510"/>
              <a:ext cx="176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经营板块数据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5315" y="5389"/>
              <a:ext cx="175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合并统筹数据</a:t>
              </a:r>
              <a:endParaRPr lang="zh-CN" altLang="en-US" sz="12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2" name="右箭头 191"/>
          <p:cNvSpPr/>
          <p:nvPr/>
        </p:nvSpPr>
        <p:spPr>
          <a:xfrm rot="16200000" flipV="1">
            <a:off x="6398895" y="5231130"/>
            <a:ext cx="435610" cy="483870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93" name="右箭头 192"/>
          <p:cNvSpPr/>
          <p:nvPr/>
        </p:nvSpPr>
        <p:spPr>
          <a:xfrm rot="16200000" flipV="1">
            <a:off x="10132695" y="5231130"/>
            <a:ext cx="435610" cy="483870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cxnSp>
        <p:nvCxnSpPr>
          <p:cNvPr id="400" name="显眼包PPT13"/>
          <p:cNvCxnSpPr/>
          <p:nvPr/>
        </p:nvCxnSpPr>
        <p:spPr>
          <a:xfrm flipH="1">
            <a:off x="288417" y="5692297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显眼包PPT19"/>
          <p:cNvCxnSpPr/>
          <p:nvPr/>
        </p:nvCxnSpPr>
        <p:spPr>
          <a:xfrm flipV="1">
            <a:off x="589781" y="5805867"/>
            <a:ext cx="0" cy="688535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显眼包PPT20"/>
          <p:cNvSpPr txBox="1"/>
          <p:nvPr/>
        </p:nvSpPr>
        <p:spPr>
          <a:xfrm>
            <a:off x="307653" y="6073861"/>
            <a:ext cx="564257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数据处理</a:t>
            </a:r>
            <a:endParaRPr lang="zh-CN" altLang="en-US" sz="1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14" name="显眼包PPT21"/>
          <p:cNvSpPr/>
          <p:nvPr/>
        </p:nvSpPr>
        <p:spPr>
          <a:xfrm>
            <a:off x="944245" y="5692140"/>
            <a:ext cx="10879455" cy="93218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800000" scaled="0"/>
          </a:gra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显眼包PPT22"/>
          <p:cNvSpPr/>
          <p:nvPr/>
        </p:nvSpPr>
        <p:spPr>
          <a:xfrm>
            <a:off x="943610" y="5476240"/>
            <a:ext cx="10879455" cy="215900"/>
          </a:xfrm>
          <a:prstGeom prst="trapezoid">
            <a:avLst>
              <a:gd name="adj" fmla="val 123909"/>
            </a:avLst>
          </a:prstGeom>
          <a:gradFill flip="none" rotWithShape="1">
            <a:gsLst>
              <a:gs pos="17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71000"/>
                </a:schemeClr>
              </a:gs>
            </a:gsLst>
            <a:lin ang="5400000" scaled="1"/>
            <a:tileRect/>
          </a:gradFill>
          <a:ln w="9525" cap="rnd"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252220" y="5810250"/>
            <a:ext cx="2084313" cy="668655"/>
            <a:chOff x="1719" y="9156"/>
            <a:chExt cx="2373" cy="1053"/>
          </a:xfrm>
        </p:grpSpPr>
        <p:sp>
          <p:nvSpPr>
            <p:cNvPr id="4" name="显眼包PPT-1"/>
            <p:cNvSpPr/>
            <p:nvPr/>
          </p:nvSpPr>
          <p:spPr>
            <a:xfrm>
              <a:off x="1719" y="9156"/>
              <a:ext cx="2372" cy="496"/>
            </a:xfrm>
            <a:prstGeom prst="rect">
              <a:avLst/>
            </a:prstGeom>
            <a:gradFill>
              <a:gsLst>
                <a:gs pos="62000">
                  <a:schemeClr val="bg1">
                    <a:alpha val="70000"/>
                  </a:schemeClr>
                </a:gs>
                <a:gs pos="20000">
                  <a:schemeClr val="bg1"/>
                </a:gs>
                <a:gs pos="89000">
                  <a:schemeClr val="bg1"/>
                </a:gs>
              </a:gsLst>
              <a:lin ang="2700000" scaled="1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r>
                <a:rPr lang="en-US" altLang="zh-CN" sz="1400" b="1" dirty="0">
                  <a:solidFill>
                    <a:schemeClr val="accent1"/>
                  </a:solidFill>
                  <a:latin typeface="+mj-lt"/>
                  <a:ea typeface="+mj-lt"/>
                  <a:cs typeface="微软雅黑" panose="020B0503020204020204" charset="-122"/>
                </a:rPr>
                <a:t>   </a:t>
              </a:r>
              <a:r>
                <a:rPr lang="zh-CN" altLang="en-US" sz="1400" b="1" dirty="0">
                  <a:solidFill>
                    <a:schemeClr val="accent1"/>
                  </a:solidFill>
                  <a:latin typeface="+mj-lt"/>
                  <a:ea typeface="+mj-lt"/>
                  <a:cs typeface="微软雅黑" panose="020B0503020204020204" charset="-122"/>
                </a:rPr>
                <a:t>销售系统</a:t>
              </a:r>
              <a:endParaRPr lang="zh-CN" altLang="en-US" sz="14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333" name="显眼包PPT-30"/>
            <p:cNvSpPr/>
            <p:nvPr/>
          </p:nvSpPr>
          <p:spPr>
            <a:xfrm>
              <a:off x="1719" y="9760"/>
              <a:ext cx="1157" cy="43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Salesforce</a:t>
              </a:r>
              <a:endParaRPr lang="en-US" altLang="zh-CN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27" name="显眼包PPT-30"/>
            <p:cNvSpPr/>
            <p:nvPr/>
          </p:nvSpPr>
          <p:spPr>
            <a:xfrm>
              <a:off x="2935" y="9760"/>
              <a:ext cx="1157" cy="44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Shopify</a:t>
              </a:r>
              <a:endParaRPr lang="en-US" altLang="zh-CN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953753" y="5810250"/>
            <a:ext cx="2084070" cy="668655"/>
            <a:chOff x="1719" y="9156"/>
            <a:chExt cx="2373" cy="1053"/>
          </a:xfrm>
        </p:grpSpPr>
        <p:sp>
          <p:nvSpPr>
            <p:cNvPr id="70" name="显眼包PPT-1"/>
            <p:cNvSpPr/>
            <p:nvPr/>
          </p:nvSpPr>
          <p:spPr>
            <a:xfrm>
              <a:off x="1719" y="9156"/>
              <a:ext cx="2372" cy="496"/>
            </a:xfrm>
            <a:prstGeom prst="rect">
              <a:avLst/>
            </a:prstGeom>
            <a:gradFill>
              <a:gsLst>
                <a:gs pos="62000">
                  <a:schemeClr val="bg1">
                    <a:alpha val="70000"/>
                  </a:schemeClr>
                </a:gs>
                <a:gs pos="20000">
                  <a:schemeClr val="bg1"/>
                </a:gs>
                <a:gs pos="89000">
                  <a:schemeClr val="bg1"/>
                </a:gs>
              </a:gsLst>
              <a:lin ang="2700000" scaled="1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r>
                <a:rPr lang="zh-CN" sz="1400" b="1" dirty="0">
                  <a:solidFill>
                    <a:schemeClr val="accent1"/>
                  </a:solidFill>
                  <a:latin typeface="+mj-lt"/>
                  <a:ea typeface="+mj-lt"/>
                  <a:cs typeface="微软雅黑" panose="020B0503020204020204" charset="-122"/>
                </a:rPr>
                <a:t>人力管理系统</a:t>
              </a:r>
              <a:endParaRPr lang="zh-CN" sz="14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75" name="显眼包PPT-30"/>
            <p:cNvSpPr/>
            <p:nvPr/>
          </p:nvSpPr>
          <p:spPr>
            <a:xfrm>
              <a:off x="1719" y="9760"/>
              <a:ext cx="1157" cy="43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Workday</a:t>
              </a:r>
              <a:endParaRPr lang="en-US" altLang="zh-CN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76" name="显眼包PPT-30"/>
            <p:cNvSpPr/>
            <p:nvPr/>
          </p:nvSpPr>
          <p:spPr>
            <a:xfrm>
              <a:off x="2935" y="9760"/>
              <a:ext cx="1157" cy="44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钉钉系统</a:t>
              </a:r>
              <a:endPara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6655043" y="5810250"/>
            <a:ext cx="2084070" cy="668655"/>
            <a:chOff x="1719" y="9156"/>
            <a:chExt cx="2373" cy="1053"/>
          </a:xfrm>
        </p:grpSpPr>
        <p:sp>
          <p:nvSpPr>
            <p:cNvPr id="82" name="显眼包PPT-1"/>
            <p:cNvSpPr/>
            <p:nvPr/>
          </p:nvSpPr>
          <p:spPr>
            <a:xfrm>
              <a:off x="1719" y="9156"/>
              <a:ext cx="2372" cy="496"/>
            </a:xfrm>
            <a:prstGeom prst="rect">
              <a:avLst/>
            </a:prstGeom>
            <a:gradFill>
              <a:gsLst>
                <a:gs pos="62000">
                  <a:schemeClr val="bg1">
                    <a:alpha val="70000"/>
                  </a:schemeClr>
                </a:gs>
                <a:gs pos="20000">
                  <a:schemeClr val="bg1"/>
                </a:gs>
                <a:gs pos="89000">
                  <a:schemeClr val="bg1"/>
                </a:gs>
              </a:gsLst>
              <a:lin ang="2700000" scaled="1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r>
                <a:rPr lang="zh-CN" sz="1400" b="1" dirty="0">
                  <a:solidFill>
                    <a:schemeClr val="accent1"/>
                  </a:solidFill>
                  <a:latin typeface="+mj-lt"/>
                  <a:ea typeface="+mj-lt"/>
                  <a:cs typeface="微软雅黑" panose="020B0503020204020204" charset="-122"/>
                </a:rPr>
                <a:t>供应链系统</a:t>
              </a:r>
              <a:endParaRPr lang="zh-CN" sz="14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83" name="显眼包PPT-30"/>
            <p:cNvSpPr/>
            <p:nvPr/>
          </p:nvSpPr>
          <p:spPr>
            <a:xfrm>
              <a:off x="1719" y="9760"/>
              <a:ext cx="1157" cy="43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JDA</a:t>
              </a:r>
              <a:r>
                <a:rPr lang="zh-CN" altLang="en-US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系统</a:t>
              </a:r>
              <a:endPara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84" name="显眼包PPT-30"/>
            <p:cNvSpPr/>
            <p:nvPr/>
          </p:nvSpPr>
          <p:spPr>
            <a:xfrm>
              <a:off x="2935" y="9760"/>
              <a:ext cx="1157" cy="44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WMS</a:t>
              </a:r>
              <a:r>
                <a:rPr lang="zh-CN" altLang="en-US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系统</a:t>
              </a:r>
              <a:endPara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356333" y="5810250"/>
            <a:ext cx="2084070" cy="668655"/>
            <a:chOff x="1719" y="9156"/>
            <a:chExt cx="2373" cy="1053"/>
          </a:xfrm>
        </p:grpSpPr>
        <p:sp>
          <p:nvSpPr>
            <p:cNvPr id="86" name="显眼包PPT-1"/>
            <p:cNvSpPr/>
            <p:nvPr/>
          </p:nvSpPr>
          <p:spPr>
            <a:xfrm>
              <a:off x="1719" y="9156"/>
              <a:ext cx="2372" cy="496"/>
            </a:xfrm>
            <a:prstGeom prst="rect">
              <a:avLst/>
            </a:prstGeom>
            <a:gradFill>
              <a:gsLst>
                <a:gs pos="62000">
                  <a:schemeClr val="bg1">
                    <a:alpha val="70000"/>
                  </a:schemeClr>
                </a:gs>
                <a:gs pos="20000">
                  <a:schemeClr val="bg1"/>
                </a:gs>
                <a:gs pos="89000">
                  <a:schemeClr val="bg1"/>
                </a:gs>
              </a:gsLst>
              <a:lin ang="2700000" scaled="1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7841" tIns="48920" rIns="97841" bIns="48920" rtlCol="0" anchor="ctr"/>
            <a:lstStyle/>
            <a:p>
              <a:pPr algn="ctr"/>
              <a:r>
                <a:rPr lang="zh-CN" sz="1400" b="1" dirty="0">
                  <a:solidFill>
                    <a:schemeClr val="accent1"/>
                  </a:solidFill>
                  <a:latin typeface="+mj-lt"/>
                  <a:ea typeface="+mj-lt"/>
                  <a:cs typeface="微软雅黑" panose="020B0503020204020204" charset="-122"/>
                </a:rPr>
                <a:t>财务管理系统</a:t>
              </a:r>
              <a:endParaRPr lang="zh-CN" sz="1400" b="1" dirty="0">
                <a:solidFill>
                  <a:schemeClr val="accent1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87" name="显眼包PPT-30"/>
            <p:cNvSpPr/>
            <p:nvPr/>
          </p:nvSpPr>
          <p:spPr>
            <a:xfrm>
              <a:off x="1719" y="9760"/>
              <a:ext cx="1157" cy="43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NC</a:t>
              </a:r>
              <a:r>
                <a:rPr lang="zh-CN" altLang="en-US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系统</a:t>
              </a:r>
              <a:endPara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  <p:sp>
          <p:nvSpPr>
            <p:cNvPr id="88" name="显眼包PPT-30"/>
            <p:cNvSpPr/>
            <p:nvPr/>
          </p:nvSpPr>
          <p:spPr>
            <a:xfrm>
              <a:off x="2935" y="9760"/>
              <a:ext cx="1157" cy="449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80000"/>
              </a:schemeClr>
            </a:solidFill>
            <a:ln w="63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SAP</a:t>
              </a:r>
              <a:r>
                <a:rPr lang="zh-CN" altLang="en-US" sz="1000" dirty="0">
                  <a:solidFill>
                    <a:schemeClr val="tx2"/>
                  </a:solidFill>
                  <a:latin typeface="+mj-lt"/>
                  <a:ea typeface="+mj-lt"/>
                  <a:cs typeface="微软雅黑" panose="020B0503020204020204" charset="-122"/>
                </a:rPr>
                <a:t>系统</a:t>
              </a:r>
              <a:endParaRPr lang="zh-CN" altLang="en-US" sz="1000" dirty="0">
                <a:solidFill>
                  <a:schemeClr val="tx2"/>
                </a:solidFill>
                <a:latin typeface="+mj-lt"/>
                <a:ea typeface="+mj-lt"/>
                <a:cs typeface="微软雅黑" panose="020B0503020204020204" charset="-122"/>
              </a:endParaRPr>
            </a:p>
          </p:txBody>
        </p:sp>
      </p:grpSp>
      <p:cxnSp>
        <p:nvCxnSpPr>
          <p:cNvPr id="94" name="显眼包PPT13"/>
          <p:cNvCxnSpPr/>
          <p:nvPr/>
        </p:nvCxnSpPr>
        <p:spPr>
          <a:xfrm flipH="1">
            <a:off x="269367" y="6624477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显眼包PPT13"/>
          <p:cNvCxnSpPr/>
          <p:nvPr/>
        </p:nvCxnSpPr>
        <p:spPr>
          <a:xfrm flipH="1">
            <a:off x="269367" y="2797332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显眼包PPT19"/>
          <p:cNvCxnSpPr/>
          <p:nvPr/>
        </p:nvCxnSpPr>
        <p:spPr>
          <a:xfrm flipV="1">
            <a:off x="589781" y="2879347"/>
            <a:ext cx="0" cy="2676525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显眼包PPT20"/>
          <p:cNvSpPr txBox="1"/>
          <p:nvPr/>
        </p:nvSpPr>
        <p:spPr>
          <a:xfrm>
            <a:off x="307653" y="4070436"/>
            <a:ext cx="564257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功能模块</a:t>
            </a:r>
            <a:endParaRPr lang="zh-CN" altLang="en-US" sz="1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cxnSp>
        <p:nvCxnSpPr>
          <p:cNvPr id="100" name="显眼包PPT13"/>
          <p:cNvCxnSpPr/>
          <p:nvPr/>
        </p:nvCxnSpPr>
        <p:spPr>
          <a:xfrm flipH="1">
            <a:off x="303022" y="1485422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显眼包PPT19"/>
          <p:cNvCxnSpPr/>
          <p:nvPr/>
        </p:nvCxnSpPr>
        <p:spPr>
          <a:xfrm flipV="1">
            <a:off x="589781" y="1530607"/>
            <a:ext cx="0" cy="1111250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显眼包PPT20"/>
          <p:cNvSpPr txBox="1"/>
          <p:nvPr/>
        </p:nvSpPr>
        <p:spPr>
          <a:xfrm>
            <a:off x="307653" y="1953346"/>
            <a:ext cx="564257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报表构成</a:t>
            </a:r>
            <a:endParaRPr lang="zh-CN" altLang="en-US" sz="11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4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数智运营体系框架模型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50" name="Google Shape;450;p24"/>
          <p:cNvSpPr/>
          <p:nvPr/>
        </p:nvSpPr>
        <p:spPr>
          <a:xfrm>
            <a:off x="878205" y="1024890"/>
            <a:ext cx="10761345" cy="635635"/>
          </a:xfrm>
          <a:custGeom>
            <a:avLst/>
            <a:gdLst/>
            <a:ahLst/>
            <a:cxnLst/>
            <a:rect l="l" t="t" r="r" b="b"/>
            <a:pathLst>
              <a:path w="21588" h="21575" extrusionOk="0">
                <a:moveTo>
                  <a:pt x="109" y="19963"/>
                </a:moveTo>
                <a:cubicBezTo>
                  <a:pt x="41" y="20039"/>
                  <a:pt x="-6" y="20418"/>
                  <a:pt x="0" y="20836"/>
                </a:cubicBezTo>
                <a:cubicBezTo>
                  <a:pt x="7" y="21266"/>
                  <a:pt x="68" y="21590"/>
                  <a:pt x="139" y="21574"/>
                </a:cubicBezTo>
                <a:lnTo>
                  <a:pt x="21476" y="21515"/>
                </a:lnTo>
                <a:cubicBezTo>
                  <a:pt x="21535" y="21473"/>
                  <a:pt x="21581" y="21191"/>
                  <a:pt x="21587" y="20835"/>
                </a:cubicBezTo>
                <a:cubicBezTo>
                  <a:pt x="21594" y="20443"/>
                  <a:pt x="21552" y="20082"/>
                  <a:pt x="21489" y="19993"/>
                </a:cubicBezTo>
                <a:lnTo>
                  <a:pt x="10898" y="125"/>
                </a:lnTo>
                <a:cubicBezTo>
                  <a:pt x="10866" y="51"/>
                  <a:pt x="10833" y="10"/>
                  <a:pt x="10798" y="2"/>
                </a:cubicBezTo>
                <a:cubicBezTo>
                  <a:pt x="10748" y="-10"/>
                  <a:pt x="10699" y="50"/>
                  <a:pt x="10653" y="176"/>
                </a:cubicBezTo>
                <a:lnTo>
                  <a:pt x="109" y="19963"/>
                </a:lnTo>
                <a:close/>
              </a:path>
            </a:pathLst>
          </a:cu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4502150" y="1282065"/>
            <a:ext cx="3595370" cy="45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algn="ctr">
              <a:buClr>
                <a:sysClr val="windowText" lastClr="000000"/>
              </a:buClr>
              <a:buSzPts val="1100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数智运营体系框架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1066483" y="1708150"/>
            <a:ext cx="10384790" cy="358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spcFirstLastPara="1" wrap="square" lIns="22867" tIns="22867" rIns="22867" bIns="22867" anchor="ctr" anchorCtr="0">
            <a:noAutofit/>
          </a:bodyPr>
          <a:lstStyle/>
          <a:p>
            <a:pPr lvl="0" algn="ctr">
              <a:buClr>
                <a:srgbClr val="525455"/>
              </a:buClr>
              <a:buSzPts val="1100"/>
              <a:buFontTx/>
            </a:pPr>
            <a:r>
              <a:rPr lang="zh-CN" altLang="en-US" sz="1465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数据智能驱动、运营模式重构、商业价值创新</a:t>
            </a:r>
            <a:endParaRPr lang="zh-CN" altLang="en-US" sz="1465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34285" y="2169795"/>
            <a:ext cx="7363460" cy="208343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88255" y="22174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gradFill>
                  <a:gsLst>
                    <a:gs pos="1800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DIOE</a:t>
            </a:r>
            <a:r>
              <a:rPr lang="zh-CN" altLang="en-US" sz="1400" b="1">
                <a:gradFill>
                  <a:gsLst>
                    <a:gs pos="18000">
                      <a:schemeClr val="accent5">
                        <a:lumMod val="60000"/>
                        <a:lumOff val="40000"/>
                      </a:schemeClr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（数据智能运营闭环）</a:t>
            </a:r>
            <a:endParaRPr lang="zh-CN" altLang="en-US" sz="1400" b="1">
              <a:gradFill>
                <a:gsLst>
                  <a:gs pos="18000">
                    <a:schemeClr val="accent5">
                      <a:lumMod val="60000"/>
                      <a:lumOff val="40000"/>
                    </a:schemeClr>
                  </a:gs>
                  <a:gs pos="100000">
                    <a:schemeClr val="accent5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534285" y="4355465"/>
            <a:ext cx="7363460" cy="60007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06040" y="43916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1400" b="1">
                <a:gradFill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sz="1400" b="1">
              <a:gradFill>
                <a:gsLst>
                  <a:gs pos="18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1400" b="1">
                <a:gradFill>
                  <a:gsLst>
                    <a:gs pos="18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sz="1400" b="1">
              <a:gradFill>
                <a:gsLst>
                  <a:gs pos="18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3436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数据集中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6212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数据开发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8988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数据治理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51764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数据资产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4540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数据存储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773160" y="4522470"/>
            <a:ext cx="1007745" cy="2895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chemeClr val="tx2"/>
                </a:solidFill>
                <a:cs typeface="微软雅黑" panose="020B0503020204020204" charset="-122"/>
                <a:sym typeface="+mn-ea"/>
              </a:rPr>
              <a:t>数据服务</a:t>
            </a:r>
            <a:endParaRPr lang="zh-CN" altLang="en-US" sz="1400">
              <a:solidFill>
                <a:schemeClr val="tx2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2" name="圆角右箭头 21"/>
          <p:cNvSpPr/>
          <p:nvPr/>
        </p:nvSpPr>
        <p:spPr>
          <a:xfrm>
            <a:off x="1632585" y="2933700"/>
            <a:ext cx="901700" cy="2343150"/>
          </a:xfrm>
          <a:prstGeom prst="bentArrow">
            <a:avLst>
              <a:gd name="adj1" fmla="val 25633"/>
              <a:gd name="adj2" fmla="val 25000"/>
              <a:gd name="adj3" fmla="val 25000"/>
              <a:gd name="adj4" fmla="val 4375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4" name="圆角右箭头 23"/>
          <p:cNvSpPr/>
          <p:nvPr/>
        </p:nvSpPr>
        <p:spPr>
          <a:xfrm rot="5400000">
            <a:off x="9284970" y="3643630"/>
            <a:ext cx="2247265" cy="1020445"/>
          </a:xfrm>
          <a:prstGeom prst="bentArrow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5" name="圆角右箭头 24"/>
          <p:cNvSpPr/>
          <p:nvPr/>
        </p:nvSpPr>
        <p:spPr>
          <a:xfrm rot="5400000">
            <a:off x="9791065" y="4713605"/>
            <a:ext cx="669290" cy="455930"/>
          </a:xfrm>
          <a:prstGeom prst="bentArrow">
            <a:avLst>
              <a:gd name="adj1" fmla="val 37325"/>
              <a:gd name="adj2" fmla="val 25000"/>
              <a:gd name="adj3" fmla="val 25000"/>
              <a:gd name="adj4" fmla="val 4375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6" name="圆角右箭头 25"/>
          <p:cNvSpPr/>
          <p:nvPr/>
        </p:nvSpPr>
        <p:spPr>
          <a:xfrm rot="16200000" flipH="1">
            <a:off x="1918335" y="4721225"/>
            <a:ext cx="683895" cy="455930"/>
          </a:xfrm>
          <a:prstGeom prst="bentArrow">
            <a:avLst>
              <a:gd name="adj1" fmla="val 34052"/>
              <a:gd name="adj2" fmla="val 28342"/>
              <a:gd name="adj3" fmla="val 25000"/>
              <a:gd name="adj4" fmla="val 4375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293495" y="2064385"/>
            <a:ext cx="0" cy="329819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1182350" y="2064385"/>
            <a:ext cx="0" cy="322707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菱形 39"/>
          <p:cNvSpPr/>
          <p:nvPr/>
        </p:nvSpPr>
        <p:spPr>
          <a:xfrm>
            <a:off x="5772150" y="2907665"/>
            <a:ext cx="864235" cy="839470"/>
          </a:xfrm>
          <a:prstGeom prst="diamond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871845" y="3074035"/>
            <a:ext cx="665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经营中枢</a:t>
            </a:r>
            <a:endParaRPr lang="zh-CN" altLang="en-US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6026785" y="2599690"/>
            <a:ext cx="388620" cy="38862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440680" y="3109595"/>
            <a:ext cx="388620" cy="38862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6570345" y="3109595"/>
            <a:ext cx="388620" cy="38862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 rot="0">
            <a:off x="2722880" y="2576830"/>
            <a:ext cx="2132965" cy="666750"/>
            <a:chOff x="4502" y="4058"/>
            <a:chExt cx="3359" cy="1050"/>
          </a:xfrm>
        </p:grpSpPr>
        <p:sp>
          <p:nvSpPr>
            <p:cNvPr id="7" name="矩形 6"/>
            <p:cNvSpPr/>
            <p:nvPr/>
          </p:nvSpPr>
          <p:spPr>
            <a:xfrm>
              <a:off x="4502" y="4058"/>
              <a:ext cx="3359" cy="1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527" y="4094"/>
              <a:ext cx="1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感知层</a:t>
              </a:r>
              <a:endParaRPr lang="zh-CN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527" y="4480"/>
              <a:ext cx="32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实时采集多源数据</a:t>
              </a:r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用户行为、动态等</a:t>
              </a:r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，构建全域数据感知网络。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 rot="0">
            <a:off x="2722880" y="3350260"/>
            <a:ext cx="2132965" cy="666750"/>
            <a:chOff x="4502" y="4058"/>
            <a:chExt cx="3359" cy="1050"/>
          </a:xfrm>
        </p:grpSpPr>
        <p:sp>
          <p:nvSpPr>
            <p:cNvPr id="51" name="矩形 50"/>
            <p:cNvSpPr/>
            <p:nvPr/>
          </p:nvSpPr>
          <p:spPr>
            <a:xfrm>
              <a:off x="4502" y="4058"/>
              <a:ext cx="3359" cy="1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527" y="4094"/>
              <a:ext cx="1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策略层</a:t>
              </a:r>
              <a:endParaRPr lang="zh-CN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4527" y="4480"/>
              <a:ext cx="32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基于历史数据与</a:t>
              </a:r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模型，生成动态运营策略（如价格弹性模型）。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 rot="0">
            <a:off x="7562215" y="2576830"/>
            <a:ext cx="2132965" cy="666750"/>
            <a:chOff x="4502" y="4058"/>
            <a:chExt cx="3359" cy="1050"/>
          </a:xfrm>
        </p:grpSpPr>
        <p:sp>
          <p:nvSpPr>
            <p:cNvPr id="55" name="矩形 54"/>
            <p:cNvSpPr/>
            <p:nvPr/>
          </p:nvSpPr>
          <p:spPr>
            <a:xfrm>
              <a:off x="4502" y="4058"/>
              <a:ext cx="3359" cy="1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4527" y="4094"/>
              <a:ext cx="1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决策层</a:t>
              </a:r>
              <a:endParaRPr lang="zh-CN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527" y="4480"/>
              <a:ext cx="323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利用机器学习（如</a:t>
              </a:r>
              <a:r>
                <a:rPr lang="en-US" altLang="zh-CN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XGBoost</a:t>
              </a:r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）、仿真推演（压力测试）辅助决策。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 rot="0">
            <a:off x="7562215" y="3350260"/>
            <a:ext cx="2132965" cy="666750"/>
            <a:chOff x="4502" y="4058"/>
            <a:chExt cx="3359" cy="1050"/>
          </a:xfrm>
        </p:grpSpPr>
        <p:sp>
          <p:nvSpPr>
            <p:cNvPr id="59" name="矩形 58"/>
            <p:cNvSpPr/>
            <p:nvPr/>
          </p:nvSpPr>
          <p:spPr>
            <a:xfrm>
              <a:off x="4502" y="4058"/>
              <a:ext cx="3359" cy="1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4527" y="4094"/>
              <a:ext cx="1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1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执行层</a:t>
              </a:r>
              <a:endParaRPr lang="zh-CN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541" y="4466"/>
              <a:ext cx="321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自动化下发指令至业务系统（如精准营销触达），形成闭环反馈。</a:t>
              </a:r>
              <a:endParaRPr lang="zh-CN" altLang="en-US" sz="10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4" name="椭圆 63"/>
          <p:cNvSpPr/>
          <p:nvPr/>
        </p:nvSpPr>
        <p:spPr>
          <a:xfrm>
            <a:off x="6026785" y="3679825"/>
            <a:ext cx="388620" cy="38862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65" name="圆角右箭头 64"/>
          <p:cNvSpPr/>
          <p:nvPr/>
        </p:nvSpPr>
        <p:spPr>
          <a:xfrm>
            <a:off x="5647055" y="2724785"/>
            <a:ext cx="345440" cy="349250"/>
          </a:xfrm>
          <a:prstGeom prst="bentArrow">
            <a:avLst>
              <a:gd name="adj1" fmla="val 4459"/>
              <a:gd name="adj2" fmla="val 7718"/>
              <a:gd name="adj3" fmla="val 12692"/>
              <a:gd name="adj4" fmla="val 43750"/>
            </a:avLst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6" name="圆角右箭头 65"/>
          <p:cNvSpPr/>
          <p:nvPr/>
        </p:nvSpPr>
        <p:spPr>
          <a:xfrm rot="5400000">
            <a:off x="6443345" y="2726690"/>
            <a:ext cx="345440" cy="349250"/>
          </a:xfrm>
          <a:prstGeom prst="bentArrow">
            <a:avLst>
              <a:gd name="adj1" fmla="val 4459"/>
              <a:gd name="adj2" fmla="val 7718"/>
              <a:gd name="adj3" fmla="val 12692"/>
              <a:gd name="adj4" fmla="val 43750"/>
            </a:avLst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67" name="圆角右箭头 66"/>
          <p:cNvSpPr/>
          <p:nvPr/>
        </p:nvSpPr>
        <p:spPr>
          <a:xfrm rot="10800000">
            <a:off x="6445250" y="3545840"/>
            <a:ext cx="345440" cy="349250"/>
          </a:xfrm>
          <a:prstGeom prst="bentArrow">
            <a:avLst>
              <a:gd name="adj1" fmla="val 4459"/>
              <a:gd name="adj2" fmla="val 7718"/>
              <a:gd name="adj3" fmla="val 12692"/>
              <a:gd name="adj4" fmla="val 43750"/>
            </a:avLst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71" name="圆角右箭头 70"/>
          <p:cNvSpPr/>
          <p:nvPr/>
        </p:nvSpPr>
        <p:spPr>
          <a:xfrm rot="16200000">
            <a:off x="5622925" y="3547745"/>
            <a:ext cx="345440" cy="349250"/>
          </a:xfrm>
          <a:prstGeom prst="bentArrow">
            <a:avLst>
              <a:gd name="adj1" fmla="val 4459"/>
              <a:gd name="adj2" fmla="val 7718"/>
              <a:gd name="adj3" fmla="val 12692"/>
              <a:gd name="adj4" fmla="val 43750"/>
            </a:avLst>
          </a:prstGeom>
          <a:noFill/>
          <a:ln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576695" y="3138805"/>
            <a:ext cx="475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024245" y="3705860"/>
            <a:ext cx="475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437505" y="3132455"/>
            <a:ext cx="475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业务考核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024245" y="2618740"/>
            <a:ext cx="4756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80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战略目标</a:t>
            </a:r>
            <a:endParaRPr lang="zh-CN" sz="80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578610" y="3452495"/>
            <a:ext cx="367030" cy="12363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数据智能驱动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481310" y="3475990"/>
            <a:ext cx="367030" cy="12363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运营模式重构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右箭头 84"/>
          <p:cNvSpPr/>
          <p:nvPr/>
        </p:nvSpPr>
        <p:spPr>
          <a:xfrm rot="16200000" flipV="1">
            <a:off x="4993640" y="3844290"/>
            <a:ext cx="401320" cy="746125"/>
          </a:xfrm>
          <a:prstGeom prst="right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2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96815" y="4081145"/>
            <a:ext cx="44386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右箭头 87"/>
          <p:cNvSpPr/>
          <p:nvPr/>
        </p:nvSpPr>
        <p:spPr>
          <a:xfrm rot="16200000" flipV="1">
            <a:off x="7042150" y="3860165"/>
            <a:ext cx="401320" cy="746125"/>
          </a:xfrm>
          <a:prstGeom prst="right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752850" y="4958715"/>
            <a:ext cx="6223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093325" y="4712335"/>
            <a:ext cx="184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020570" y="4726940"/>
            <a:ext cx="184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55485" y="4097020"/>
            <a:ext cx="44386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右箭头 2"/>
          <p:cNvSpPr/>
          <p:nvPr/>
        </p:nvSpPr>
        <p:spPr>
          <a:xfrm rot="16200000" flipV="1">
            <a:off x="3937635" y="4853940"/>
            <a:ext cx="532130" cy="746125"/>
          </a:xfrm>
          <a:prstGeom prst="right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82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06215" y="5076825"/>
            <a:ext cx="44386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76935" y="5277485"/>
            <a:ext cx="10762615" cy="1147445"/>
            <a:chOff x="1341" y="8311"/>
            <a:chExt cx="16894" cy="1807"/>
          </a:xfrm>
        </p:grpSpPr>
        <p:sp>
          <p:nvSpPr>
            <p:cNvPr id="21" name="显眼包PPT21"/>
            <p:cNvSpPr/>
            <p:nvPr/>
          </p:nvSpPr>
          <p:spPr>
            <a:xfrm>
              <a:off x="1341" y="8651"/>
              <a:ext cx="16894" cy="1468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4800000" scaled="0"/>
            </a:gradFill>
            <a:ln>
              <a:noFill/>
            </a:ln>
            <a:effectLst>
              <a:innerShdw blurRad="114300">
                <a:schemeClr val="accent1">
                  <a:lumMod val="60000"/>
                  <a:lumOff val="40000"/>
                </a:schemeClr>
              </a:innerShdw>
              <a:reflection blurRad="50800" stA="32000" endPos="38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显眼包PPT22"/>
            <p:cNvSpPr/>
            <p:nvPr/>
          </p:nvSpPr>
          <p:spPr>
            <a:xfrm>
              <a:off x="1341" y="8311"/>
              <a:ext cx="16894" cy="340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  <a:alpha val="71000"/>
                  </a:schemeClr>
                </a:gs>
              </a:gsLst>
              <a:lin ang="5400000" scaled="1"/>
              <a:tileRect/>
            </a:gradFill>
            <a:ln w="9525" cap="rnd"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显眼包PPT23"/>
            <p:cNvSpPr/>
            <p:nvPr/>
          </p:nvSpPr>
          <p:spPr>
            <a:xfrm>
              <a:off x="1341" y="8651"/>
              <a:ext cx="16894" cy="1468"/>
            </a:xfrm>
            <a:prstGeom prst="rect">
              <a:avLst/>
            </a:prstGeom>
            <a:gradFill>
              <a:gsLst>
                <a:gs pos="18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0" scaled="1"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42" name="显眼包PPT"/>
            <p:cNvGrpSpPr/>
            <p:nvPr/>
          </p:nvGrpSpPr>
          <p:grpSpPr>
            <a:xfrm>
              <a:off x="1569" y="8843"/>
              <a:ext cx="16438" cy="1084"/>
              <a:chOff x="1474664" y="5681844"/>
              <a:chExt cx="10121146" cy="688468"/>
            </a:xfrm>
          </p:grpSpPr>
          <p:sp>
            <p:nvSpPr>
              <p:cNvPr id="46" name="显眼包PPT-1"/>
              <p:cNvSpPr/>
              <p:nvPr/>
            </p:nvSpPr>
            <p:spPr>
              <a:xfrm>
                <a:off x="1474664" y="5681844"/>
                <a:ext cx="1150375" cy="314851"/>
              </a:xfrm>
              <a:prstGeom prst="rect">
                <a:avLst/>
              </a:prstGeom>
              <a:gradFill>
                <a:gsLst>
                  <a:gs pos="62000">
                    <a:schemeClr val="bg1">
                      <a:alpha val="70000"/>
                    </a:schemeClr>
                  </a:gs>
                  <a:gs pos="20000">
                    <a:schemeClr val="bg1"/>
                  </a:gs>
                  <a:gs pos="89000">
                    <a:schemeClr val="bg1"/>
                  </a:gs>
                </a:gsLst>
                <a:lin ang="2700000" scaled="1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7841" tIns="48920" rIns="97841" bIns="48920" rtlCol="0" anchor="ctr"/>
              <a:lstStyle/>
              <a:p>
                <a:pPr algn="r"/>
                <a:r>
                  <a:rPr lang="zh-CN" altLang="en-US" sz="1400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55000">
                          <a:schemeClr val="accent1"/>
                        </a:gs>
                      </a:gsLst>
                      <a:lin ang="2700000" scaled="1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应用场景</a:t>
                </a:r>
                <a:endParaRPr lang="zh-CN" altLang="en-US" sz="1400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5000">
                        <a:schemeClr val="accent1"/>
                      </a:gs>
                    </a:gsLst>
                    <a:lin ang="27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60" name="显眼包PPT-2"/>
              <p:cNvSpPr/>
              <p:nvPr/>
            </p:nvSpPr>
            <p:spPr>
              <a:xfrm>
                <a:off x="2674019" y="5681844"/>
                <a:ext cx="8921791" cy="314851"/>
              </a:xfrm>
              <a:prstGeom prst="rect">
                <a:avLst/>
              </a:prstGeom>
              <a:solidFill>
                <a:schemeClr val="bg1">
                  <a:alpha val="92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7841" tIns="48920" rIns="97841" bIns="48920"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2976029" y="5735875"/>
                <a:ext cx="8400940" cy="396345"/>
                <a:chOff x="2996018" y="5659929"/>
                <a:chExt cx="8400940" cy="396345"/>
              </a:xfrm>
            </p:grpSpPr>
            <p:sp>
              <p:nvSpPr>
                <p:cNvPr id="68" name="显眼包PPT-3"/>
                <p:cNvSpPr txBox="1"/>
                <p:nvPr/>
              </p:nvSpPr>
              <p:spPr>
                <a:xfrm>
                  <a:off x="2996018" y="5659929"/>
                  <a:ext cx="682466" cy="1105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精准营销</a:t>
                  </a:r>
                  <a:endParaRPr lang="zh-CN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69" name="显眼包PPT-4"/>
                <p:cNvSpPr txBox="1"/>
                <p:nvPr/>
              </p:nvSpPr>
              <p:spPr>
                <a:xfrm>
                  <a:off x="4110223" y="5659929"/>
                  <a:ext cx="895292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智能化运营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70" name="显眼包PPT-5"/>
                <p:cNvSpPr txBox="1"/>
                <p:nvPr/>
              </p:nvSpPr>
              <p:spPr>
                <a:xfrm>
                  <a:off x="5529084" y="5659929"/>
                  <a:ext cx="596862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用户运营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1" name="显眼包PPT-6"/>
                <p:cNvSpPr txBox="1"/>
                <p:nvPr/>
              </p:nvSpPr>
              <p:spPr>
                <a:xfrm>
                  <a:off x="6635495" y="5659929"/>
                  <a:ext cx="615554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产品运营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3" name="显眼包PPT-7"/>
                <p:cNvSpPr txBox="1"/>
                <p:nvPr/>
              </p:nvSpPr>
              <p:spPr>
                <a:xfrm>
                  <a:off x="7605117" y="5659929"/>
                  <a:ext cx="792937" cy="3963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智能供应链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86" name="显眼包PPT-8"/>
                <p:cNvSpPr txBox="1"/>
                <p:nvPr/>
              </p:nvSpPr>
              <p:spPr>
                <a:xfrm>
                  <a:off x="8713123" y="5659929"/>
                  <a:ext cx="615554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智能服务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2" name="显眼包PPT-9"/>
                <p:cNvSpPr txBox="1"/>
                <p:nvPr/>
              </p:nvSpPr>
              <p:spPr>
                <a:xfrm>
                  <a:off x="9751937" y="5659929"/>
                  <a:ext cx="615554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en-US" altLang="zh-CN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AI</a:t>
                  </a: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客服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8" name="显眼包PPT-10"/>
                <p:cNvSpPr txBox="1"/>
                <p:nvPr/>
              </p:nvSpPr>
              <p:spPr>
                <a:xfrm>
                  <a:off x="10800096" y="5659929"/>
                  <a:ext cx="596862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智能风控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cxnSp>
              <p:nvCxnSpPr>
                <p:cNvPr id="259" name="显眼包PPT-11"/>
                <p:cNvCxnSpPr/>
                <p:nvPr/>
              </p:nvCxnSpPr>
              <p:spPr>
                <a:xfrm>
                  <a:off x="3884574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显眼包PPT-12"/>
                <p:cNvCxnSpPr/>
                <p:nvPr/>
              </p:nvCxnSpPr>
              <p:spPr>
                <a:xfrm>
                  <a:off x="5231164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显眼包PPT-13"/>
                <p:cNvCxnSpPr/>
                <p:nvPr/>
              </p:nvCxnSpPr>
              <p:spPr>
                <a:xfrm>
                  <a:off x="6423865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显眼包PPT-14"/>
                <p:cNvCxnSpPr/>
                <p:nvPr/>
              </p:nvCxnSpPr>
              <p:spPr>
                <a:xfrm>
                  <a:off x="7462679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显眼包PPT-15"/>
                <p:cNvCxnSpPr/>
                <p:nvPr/>
              </p:nvCxnSpPr>
              <p:spPr>
                <a:xfrm>
                  <a:off x="8501493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显眼包PPT-16"/>
                <p:cNvCxnSpPr/>
                <p:nvPr/>
              </p:nvCxnSpPr>
              <p:spPr>
                <a:xfrm>
                  <a:off x="9540307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显眼包PPT-17"/>
                <p:cNvCxnSpPr/>
                <p:nvPr/>
              </p:nvCxnSpPr>
              <p:spPr>
                <a:xfrm>
                  <a:off x="10579121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" name="显眼包PPT-19"/>
              <p:cNvSpPr/>
              <p:nvPr/>
            </p:nvSpPr>
            <p:spPr>
              <a:xfrm>
                <a:off x="1474664" y="6055461"/>
                <a:ext cx="1150375" cy="314851"/>
              </a:xfrm>
              <a:prstGeom prst="rect">
                <a:avLst/>
              </a:prstGeom>
              <a:gradFill>
                <a:gsLst>
                  <a:gs pos="62000">
                    <a:schemeClr val="bg1">
                      <a:alpha val="70000"/>
                    </a:schemeClr>
                  </a:gs>
                  <a:gs pos="20000">
                    <a:schemeClr val="bg1"/>
                  </a:gs>
                  <a:gs pos="89000">
                    <a:schemeClr val="bg1"/>
                  </a:gs>
                </a:gsLst>
                <a:lin ang="2700000" scaled="1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7841" tIns="48920" rIns="97841" bIns="48920" rtlCol="0" anchor="ctr"/>
              <a:lstStyle/>
              <a:p>
                <a:pPr algn="r"/>
                <a:r>
                  <a:rPr lang="zh-CN" altLang="en-US" sz="1400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55000">
                          <a:schemeClr val="accent1"/>
                        </a:gs>
                      </a:gsLst>
                      <a:lin ang="2700000" scaled="1"/>
                    </a:gra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基础工具</a:t>
                </a:r>
                <a:endParaRPr lang="zh-CN" altLang="en-US" sz="1400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5000">
                        <a:schemeClr val="accent1"/>
                      </a:gs>
                    </a:gsLst>
                    <a:lin ang="2700000" scaled="1"/>
                  </a:gra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4" name="显眼包PPT-20"/>
              <p:cNvSpPr/>
              <p:nvPr/>
            </p:nvSpPr>
            <p:spPr>
              <a:xfrm>
                <a:off x="2674019" y="6055461"/>
                <a:ext cx="8921791" cy="314851"/>
              </a:xfrm>
              <a:prstGeom prst="rect">
                <a:avLst/>
              </a:prstGeom>
              <a:solidFill>
                <a:schemeClr val="bg1">
                  <a:alpha val="92000"/>
                </a:schemeClr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7841" tIns="48920" rIns="97841" bIns="48920" rtlCol="0" anchor="ctr"/>
              <a:lstStyle/>
              <a:p>
                <a:pPr algn="ctr"/>
                <a:endPara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grpSp>
            <p:nvGrpSpPr>
              <p:cNvPr id="225" name="组合 224"/>
              <p:cNvGrpSpPr/>
              <p:nvPr/>
            </p:nvGrpSpPr>
            <p:grpSpPr>
              <a:xfrm>
                <a:off x="2890752" y="6109492"/>
                <a:ext cx="8486218" cy="221039"/>
                <a:chOff x="2910741" y="5659929"/>
                <a:chExt cx="8486218" cy="221039"/>
              </a:xfrm>
            </p:grpSpPr>
            <p:sp>
              <p:nvSpPr>
                <p:cNvPr id="236" name="显眼包PPT-21"/>
                <p:cNvSpPr txBox="1"/>
                <p:nvPr/>
              </p:nvSpPr>
              <p:spPr>
                <a:xfrm>
                  <a:off x="2910741" y="5659929"/>
                  <a:ext cx="833443" cy="2064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APP</a:t>
                  </a: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埋点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37" name="显眼包PPT-22"/>
                <p:cNvSpPr txBox="1"/>
                <p:nvPr/>
              </p:nvSpPr>
              <p:spPr>
                <a:xfrm>
                  <a:off x="4046752" y="5659929"/>
                  <a:ext cx="1080775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小程序行为日志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38" name="显眼包PPT-23"/>
                <p:cNvSpPr txBox="1"/>
                <p:nvPr/>
              </p:nvSpPr>
              <p:spPr>
                <a:xfrm>
                  <a:off x="5529519" y="5659929"/>
                  <a:ext cx="652393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智能硬件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39" name="显眼包PPT-24"/>
                <p:cNvSpPr txBox="1"/>
                <p:nvPr/>
              </p:nvSpPr>
              <p:spPr>
                <a:xfrm>
                  <a:off x="6571016" y="5659929"/>
                  <a:ext cx="751203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第三方工具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41" name="显眼包PPT-25"/>
                <p:cNvSpPr txBox="1"/>
                <p:nvPr/>
              </p:nvSpPr>
              <p:spPr>
                <a:xfrm>
                  <a:off x="7683655" y="5659929"/>
                  <a:ext cx="596862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开发平台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45" name="显眼包PPT-26"/>
                <p:cNvSpPr txBox="1"/>
                <p:nvPr/>
              </p:nvSpPr>
              <p:spPr>
                <a:xfrm>
                  <a:off x="8647862" y="5659929"/>
                  <a:ext cx="746077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en-US" altLang="zh-CN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AI</a:t>
                  </a: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应用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1" name="显眼包PPT-27"/>
                <p:cNvSpPr txBox="1"/>
                <p:nvPr/>
              </p:nvSpPr>
              <p:spPr>
                <a:xfrm>
                  <a:off x="9698575" y="5659929"/>
                  <a:ext cx="702105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核心算法</a:t>
                  </a:r>
                  <a:endParaRPr lang="zh-CN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252" name="显眼包PPT-28"/>
                <p:cNvSpPr txBox="1"/>
                <p:nvPr/>
              </p:nvSpPr>
              <p:spPr>
                <a:xfrm>
                  <a:off x="10800097" y="5659929"/>
                  <a:ext cx="596862" cy="2210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1200"/>
                    </a:spcAft>
                  </a:pPr>
                  <a:r>
                    <a:rPr lang="zh-CN" altLang="en-US" sz="1200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云服务</a:t>
                  </a:r>
                  <a:endParaRPr lang="zh-CN" altLang="en-US" sz="1200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cxnSp>
              <p:nvCxnSpPr>
                <p:cNvPr id="253" name="显眼包PPT-29"/>
                <p:cNvCxnSpPr/>
                <p:nvPr/>
              </p:nvCxnSpPr>
              <p:spPr>
                <a:xfrm>
                  <a:off x="3884574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显眼包PPT-30"/>
                <p:cNvCxnSpPr/>
                <p:nvPr/>
              </p:nvCxnSpPr>
              <p:spPr>
                <a:xfrm>
                  <a:off x="5231164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显眼包PPT-31"/>
                <p:cNvCxnSpPr/>
                <p:nvPr/>
              </p:nvCxnSpPr>
              <p:spPr>
                <a:xfrm>
                  <a:off x="6423865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显眼包PPT-32"/>
                <p:cNvCxnSpPr/>
                <p:nvPr/>
              </p:nvCxnSpPr>
              <p:spPr>
                <a:xfrm>
                  <a:off x="7462679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显眼包PPT-33"/>
                <p:cNvCxnSpPr/>
                <p:nvPr/>
              </p:nvCxnSpPr>
              <p:spPr>
                <a:xfrm>
                  <a:off x="8501493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显眼包PPT-34"/>
                <p:cNvCxnSpPr/>
                <p:nvPr/>
              </p:nvCxnSpPr>
              <p:spPr>
                <a:xfrm>
                  <a:off x="9540307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显眼包PPT-35"/>
                <p:cNvCxnSpPr/>
                <p:nvPr/>
              </p:nvCxnSpPr>
              <p:spPr>
                <a:xfrm>
                  <a:off x="10579121" y="5682414"/>
                  <a:ext cx="0" cy="161819"/>
                </a:xfrm>
                <a:prstGeom prst="line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106" name="图片 105" descr="模型管理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5535" y="5653405"/>
            <a:ext cx="222885" cy="222885"/>
          </a:xfrm>
          <a:prstGeom prst="rect">
            <a:avLst/>
          </a:prstGeom>
        </p:spPr>
      </p:pic>
      <p:pic>
        <p:nvPicPr>
          <p:cNvPr id="107" name="图片 106" descr="应用场景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535" y="6042660"/>
            <a:ext cx="199390" cy="199390"/>
          </a:xfrm>
          <a:prstGeom prst="rect">
            <a:avLst/>
          </a:prstGeom>
          <a:gradFill>
            <a:gsLst>
              <a:gs pos="18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1"/>
          </a:gradFill>
          <a:effectLst/>
        </p:spPr>
      </p:pic>
      <p:sp>
        <p:nvSpPr>
          <p:cNvPr id="108" name="右箭头 107"/>
          <p:cNvSpPr/>
          <p:nvPr/>
        </p:nvSpPr>
        <p:spPr>
          <a:xfrm rot="16200000" flipV="1">
            <a:off x="8488680" y="4853940"/>
            <a:ext cx="532130" cy="746125"/>
          </a:xfrm>
          <a:prstGeom prst="rightArrow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82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8557260" y="5076825"/>
            <a:ext cx="443865" cy="337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</a:t>
            </a:r>
            <a:endParaRPr lang="zh-CN" altLang="en-US" sz="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7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数字化转型框架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7" name="梯形 6"/>
          <p:cNvSpPr/>
          <p:nvPr/>
        </p:nvSpPr>
        <p:spPr>
          <a:xfrm>
            <a:off x="782320" y="1239520"/>
            <a:ext cx="10566400" cy="843915"/>
          </a:xfrm>
          <a:prstGeom prst="trapezoid">
            <a:avLst>
              <a:gd name="adj" fmla="val 40718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w="1143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62430" y="1300480"/>
            <a:ext cx="8980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公司数字化转型框架</a:t>
            </a:r>
            <a:endParaRPr lang="zh-CN" altLang="en-US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12515" y="1681480"/>
            <a:ext cx="1583690" cy="33210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kumimoji="0" sz="2660" b="0" i="1" u="none" strike="noStrike" cap="none" spc="30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85000"/>
                        <a:lumOff val="1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blurRad="180975" dist="36195" dir="2700000" algn="tl">
                    <a:schemeClr val="accent1">
                      <a:lumMod val="60000"/>
                      <a:lumOff val="40000"/>
                      <a:alpha val="43000"/>
                    </a:scheme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sz="160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业务导向</a:t>
            </a:r>
            <a:endParaRPr lang="zh-CN" altLang="en-US" sz="160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60670" y="1681480"/>
            <a:ext cx="1583690" cy="33210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kumimoji="0" sz="2660" b="0" i="1" u="none" strike="noStrike" cap="none" spc="30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85000"/>
                        <a:lumOff val="1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blurRad="180975" dist="36195" dir="2700000" algn="tl">
                    <a:schemeClr val="accent1">
                      <a:lumMod val="60000"/>
                      <a:lumOff val="40000"/>
                      <a:alpha val="43000"/>
                    </a:scheme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sz="160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全力转型</a:t>
            </a:r>
            <a:endParaRPr lang="zh-CN" altLang="en-US" sz="160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233920" y="1681480"/>
            <a:ext cx="1583690" cy="332105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kumimoji="0" sz="2660" b="0" i="1" u="none" strike="noStrike" cap="none" spc="30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85000"/>
                        <a:lumOff val="1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>
                  <a:outerShdw blurRad="180975" dist="36195" dir="2700000" algn="tl">
                    <a:schemeClr val="accent1">
                      <a:lumMod val="60000"/>
                      <a:lumOff val="40000"/>
                      <a:alpha val="43000"/>
                    </a:schemeClr>
                  </a:outerShd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sz="1600" i="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智能辅助</a:t>
            </a:r>
            <a:endParaRPr lang="zh-CN" altLang="en-US" sz="1600" i="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251450" y="1737995"/>
            <a:ext cx="0" cy="20066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127240" y="1737995"/>
            <a:ext cx="0" cy="20066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547370" y="4825365"/>
            <a:ext cx="11087735" cy="266700"/>
            <a:chOff x="1146486" y="4584771"/>
            <a:chExt cx="9845364" cy="633404"/>
          </a:xfrm>
        </p:grpSpPr>
        <p:sp>
          <p:nvSpPr>
            <p:cNvPr id="6" name="梯形 5"/>
            <p:cNvSpPr/>
            <p:nvPr/>
          </p:nvSpPr>
          <p:spPr>
            <a:xfrm>
              <a:off x="1146486" y="4584771"/>
              <a:ext cx="9845364" cy="524422"/>
            </a:xfrm>
            <a:prstGeom prst="trapezoid">
              <a:avLst>
                <a:gd name="adj" fmla="val 119447"/>
              </a:avLst>
            </a:prstGeom>
            <a:noFill/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89000">
                    <a:schemeClr val="accent1"/>
                  </a:gs>
                </a:gsLst>
                <a:lin ang="5400000" scaled="1"/>
              </a:gradFill>
            </a:ln>
            <a:effectLst>
              <a:outerShdw blurRad="411480" dist="123444" dir="5400000" sx="108000" sy="108000" algn="ctr" rotWithShape="0">
                <a:srgbClr val="24396B">
                  <a:alpha val="40000"/>
                </a:srgbClr>
              </a:outerShd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46486" y="5109193"/>
              <a:ext cx="9845364" cy="1089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47370" y="6189345"/>
            <a:ext cx="11087735" cy="266700"/>
            <a:chOff x="1146486" y="4584771"/>
            <a:chExt cx="9845364" cy="633404"/>
          </a:xfrm>
        </p:grpSpPr>
        <p:sp>
          <p:nvSpPr>
            <p:cNvPr id="14" name="梯形 13"/>
            <p:cNvSpPr/>
            <p:nvPr/>
          </p:nvSpPr>
          <p:spPr>
            <a:xfrm>
              <a:off x="1146486" y="4584771"/>
              <a:ext cx="9845364" cy="524422"/>
            </a:xfrm>
            <a:prstGeom prst="trapezoid">
              <a:avLst>
                <a:gd name="adj" fmla="val 119447"/>
              </a:avLst>
            </a:prstGeom>
            <a:noFill/>
            <a:ln w="12700">
              <a:gradFill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9000">
                    <a:schemeClr val="accent5"/>
                  </a:gs>
                </a:gsLst>
                <a:lin ang="5400000" scaled="1"/>
              </a:gradFill>
            </a:ln>
            <a:effectLst>
              <a:outerShdw blurRad="411480" dist="123444" dir="5400000" sx="108000" sy="108000" algn="ctr" rotWithShape="0">
                <a:srgbClr val="24396B">
                  <a:alpha val="40000"/>
                </a:srgbClr>
              </a:outerShd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rgbClr val="FFFFFF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46486" y="5109193"/>
              <a:ext cx="9845364" cy="1089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1683385" y="2159000"/>
            <a:ext cx="3877310" cy="1569085"/>
          </a:xfrm>
          <a:prstGeom prst="rect">
            <a:avLst/>
          </a:prstGeom>
          <a:noFill/>
          <a:ln w="1143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36260" y="2159000"/>
            <a:ext cx="3726180" cy="1569085"/>
          </a:xfrm>
          <a:prstGeom prst="rect">
            <a:avLst/>
          </a:prstGeom>
          <a:noFill/>
          <a:ln w="1143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438005" y="2159000"/>
            <a:ext cx="1910715" cy="1569085"/>
          </a:xfrm>
          <a:prstGeom prst="rect">
            <a:avLst/>
          </a:prstGeom>
          <a:noFill/>
          <a:ln w="1143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2320" y="2174875"/>
            <a:ext cx="750570" cy="155257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11430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82320" y="2972435"/>
            <a:ext cx="74993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your</a:t>
            </a:r>
            <a:endParaRPr kumimoji="0" lang="en-US" altLang="zh-CN" sz="9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83385" y="3808095"/>
            <a:ext cx="9665335" cy="479425"/>
          </a:xfrm>
          <a:prstGeom prst="rect">
            <a:avLst/>
          </a:prstGeom>
          <a:noFill/>
          <a:ln w="11430">
            <a:solidFill>
              <a:schemeClr val="accent1"/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82320" y="3808095"/>
            <a:ext cx="750570" cy="10407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chemeClr val="accent1"/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2320" y="4403725"/>
            <a:ext cx="74993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your</a:t>
            </a:r>
            <a:endParaRPr kumimoji="0" lang="en-US" altLang="zh-CN" sz="90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82320" y="5200015"/>
            <a:ext cx="750570" cy="1089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1430">
            <a:solidFill>
              <a:schemeClr val="accent5"/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</a:t>
            </a:r>
            <a:endParaRPr lang="en-US" altLang="zh-CN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82320" y="5738495"/>
            <a:ext cx="74993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Enter your</a:t>
            </a:r>
            <a:endParaRPr kumimoji="0" lang="en-US" altLang="zh-CN" sz="90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374390" y="2232660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endParaRPr lang="zh-CN" altLang="en-US" sz="1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: 圆角 451"/>
          <p:cNvSpPr/>
          <p:nvPr/>
        </p:nvSpPr>
        <p:spPr>
          <a:xfrm>
            <a:off x="1972310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智慧营销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: 圆角 452"/>
          <p:cNvSpPr/>
          <p:nvPr/>
        </p:nvSpPr>
        <p:spPr>
          <a:xfrm>
            <a:off x="312610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智能电商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矩形: 圆角 453"/>
          <p:cNvSpPr/>
          <p:nvPr/>
        </p:nvSpPr>
        <p:spPr>
          <a:xfrm>
            <a:off x="428053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智慧CRM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: 圆角 454"/>
          <p:cNvSpPr/>
          <p:nvPr/>
        </p:nvSpPr>
        <p:spPr>
          <a:xfrm>
            <a:off x="1972310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统一支付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矩形: 圆角 455"/>
          <p:cNvSpPr/>
          <p:nvPr/>
        </p:nvSpPr>
        <p:spPr>
          <a:xfrm>
            <a:off x="312610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全渠道系统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矩形: 圆角 456"/>
          <p:cNvSpPr/>
          <p:nvPr/>
        </p:nvSpPr>
        <p:spPr>
          <a:xfrm>
            <a:off x="428053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数字货币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矩形: 圆角 458"/>
          <p:cNvSpPr/>
          <p:nvPr/>
        </p:nvSpPr>
        <p:spPr>
          <a:xfrm>
            <a:off x="1972310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智慧码管理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矩形: 圆角 459"/>
          <p:cNvSpPr/>
          <p:nvPr/>
        </p:nvSpPr>
        <p:spPr>
          <a:xfrm>
            <a:off x="3126105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物联网系统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矩形: 圆角 469"/>
          <p:cNvSpPr/>
          <p:nvPr/>
        </p:nvSpPr>
        <p:spPr>
          <a:xfrm>
            <a:off x="4280535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智慧会员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1997710" y="2317115"/>
            <a:ext cx="124587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3945255" y="2317115"/>
            <a:ext cx="124587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71" name="文本框 70"/>
          <p:cNvSpPr txBox="1"/>
          <p:nvPr/>
        </p:nvSpPr>
        <p:spPr>
          <a:xfrm>
            <a:off x="7251700" y="2232660"/>
            <a:ext cx="4743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</a:t>
            </a:r>
            <a:endParaRPr lang="zh-CN" altLang="en-US" sz="1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: 圆角 474"/>
          <p:cNvSpPr/>
          <p:nvPr/>
        </p:nvSpPr>
        <p:spPr>
          <a:xfrm>
            <a:off x="584898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智慧物流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1" name="矩形: 圆角 475"/>
          <p:cNvSpPr/>
          <p:nvPr/>
        </p:nvSpPr>
        <p:spPr>
          <a:xfrm>
            <a:off x="700341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智慧仓储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矩形: 圆角 476"/>
          <p:cNvSpPr/>
          <p:nvPr/>
        </p:nvSpPr>
        <p:spPr>
          <a:xfrm>
            <a:off x="815784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智慧WMS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0" name="矩形: 圆角 477"/>
          <p:cNvSpPr/>
          <p:nvPr/>
        </p:nvSpPr>
        <p:spPr>
          <a:xfrm>
            <a:off x="584898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智慧排产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矩形: 圆角 478"/>
          <p:cNvSpPr/>
          <p:nvPr/>
        </p:nvSpPr>
        <p:spPr>
          <a:xfrm>
            <a:off x="700341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智慧物料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矩形: 圆角 479"/>
          <p:cNvSpPr/>
          <p:nvPr/>
        </p:nvSpPr>
        <p:spPr>
          <a:xfrm>
            <a:off x="815784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智慧供应链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3" name="矩形: 圆角 480"/>
          <p:cNvSpPr/>
          <p:nvPr/>
        </p:nvSpPr>
        <p:spPr>
          <a:xfrm>
            <a:off x="5848985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智慧DMC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矩形: 圆角 481"/>
          <p:cNvSpPr/>
          <p:nvPr/>
        </p:nvSpPr>
        <p:spPr>
          <a:xfrm>
            <a:off x="7003415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智慧货架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97" name="直接连接符 96"/>
          <p:cNvCxnSpPr/>
          <p:nvPr/>
        </p:nvCxnSpPr>
        <p:spPr>
          <a:xfrm>
            <a:off x="5875020" y="2317115"/>
            <a:ext cx="124587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822565" y="2317115"/>
            <a:ext cx="124587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99" name="矩形: 圆角 485"/>
          <p:cNvSpPr/>
          <p:nvPr/>
        </p:nvSpPr>
        <p:spPr>
          <a:xfrm>
            <a:off x="9943465" y="258254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智慧人力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矩形: 圆角 488"/>
          <p:cNvSpPr/>
          <p:nvPr/>
        </p:nvSpPr>
        <p:spPr>
          <a:xfrm>
            <a:off x="9943465" y="294576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智慧OA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矩形: 圆角 491"/>
          <p:cNvSpPr/>
          <p:nvPr/>
        </p:nvSpPr>
        <p:spPr>
          <a:xfrm>
            <a:off x="9943465" y="3308985"/>
            <a:ext cx="970915" cy="25527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智慧门户</a:t>
            </a:r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0142220" y="2232660"/>
            <a:ext cx="5238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endParaRPr lang="zh-CN" altLang="en-US" sz="1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884680" y="3923030"/>
            <a:ext cx="7956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884680" y="4509135"/>
            <a:ext cx="12566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基础设施和平台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柱体 499"/>
          <p:cNvSpPr/>
          <p:nvPr/>
        </p:nvSpPr>
        <p:spPr>
          <a:xfrm>
            <a:off x="3375025" y="4437380"/>
            <a:ext cx="1833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圆柱体 500"/>
          <p:cNvSpPr/>
          <p:nvPr/>
        </p:nvSpPr>
        <p:spPr>
          <a:xfrm>
            <a:off x="5417820" y="4437380"/>
            <a:ext cx="1833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柱体 501"/>
          <p:cNvSpPr/>
          <p:nvPr/>
        </p:nvSpPr>
        <p:spPr>
          <a:xfrm>
            <a:off x="7460615" y="4437380"/>
            <a:ext cx="1833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圆柱体 502"/>
          <p:cNvSpPr/>
          <p:nvPr/>
        </p:nvSpPr>
        <p:spPr>
          <a:xfrm>
            <a:off x="9503410" y="4437380"/>
            <a:ext cx="1833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848735" y="4552950"/>
            <a:ext cx="85661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网络设备</a:t>
            </a:r>
            <a:endParaRPr lang="zh-CN" altLang="en-US" sz="10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5745480" y="4552950"/>
            <a:ext cx="123761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大数据云平台</a:t>
            </a:r>
            <a:endParaRPr lang="zh-CN" altLang="en-US" sz="10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726680" y="4552950"/>
            <a:ext cx="134112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大模型基础平台</a:t>
            </a:r>
            <a:endParaRPr lang="zh-CN" altLang="en-US" sz="10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820910" y="4552950"/>
            <a:ext cx="127127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容器化部署平台</a:t>
            </a:r>
            <a:r>
              <a:rPr lang="en-US" altLang="zh-CN" sz="105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</a:t>
            </a:r>
            <a:endParaRPr lang="en-US" altLang="zh-CN" sz="105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箭头: 上 26"/>
          <p:cNvSpPr/>
          <p:nvPr/>
        </p:nvSpPr>
        <p:spPr>
          <a:xfrm rot="1195465">
            <a:off x="1781810" y="5097780"/>
            <a:ext cx="521970" cy="1294130"/>
          </a:xfrm>
          <a:custGeom>
            <a:avLst/>
            <a:gdLst>
              <a:gd name="connsiteX0" fmla="*/ 0 w 846384"/>
              <a:gd name="connsiteY0" fmla="*/ 423192 h 1696315"/>
              <a:gd name="connsiteX1" fmla="*/ 423192 w 846384"/>
              <a:gd name="connsiteY1" fmla="*/ 0 h 1696315"/>
              <a:gd name="connsiteX2" fmla="*/ 846384 w 846384"/>
              <a:gd name="connsiteY2" fmla="*/ 423192 h 1696315"/>
              <a:gd name="connsiteX3" fmla="*/ 634788 w 846384"/>
              <a:gd name="connsiteY3" fmla="*/ 423192 h 1696315"/>
              <a:gd name="connsiteX4" fmla="*/ 634788 w 846384"/>
              <a:gd name="connsiteY4" fmla="*/ 1696315 h 1696315"/>
              <a:gd name="connsiteX5" fmla="*/ 211596 w 846384"/>
              <a:gd name="connsiteY5" fmla="*/ 1696315 h 1696315"/>
              <a:gd name="connsiteX6" fmla="*/ 211596 w 846384"/>
              <a:gd name="connsiteY6" fmla="*/ 423192 h 1696315"/>
              <a:gd name="connsiteX7" fmla="*/ 0 w 846384"/>
              <a:gd name="connsiteY7" fmla="*/ 423192 h 1696315"/>
              <a:gd name="connsiteX0-1" fmla="*/ 0 w 846384"/>
              <a:gd name="connsiteY0-2" fmla="*/ 435957 h 1709080"/>
              <a:gd name="connsiteX1-3" fmla="*/ 415201 w 846384"/>
              <a:gd name="connsiteY1-4" fmla="*/ 0 h 1709080"/>
              <a:gd name="connsiteX2-5" fmla="*/ 846384 w 846384"/>
              <a:gd name="connsiteY2-6" fmla="*/ 435957 h 1709080"/>
              <a:gd name="connsiteX3-7" fmla="*/ 634788 w 846384"/>
              <a:gd name="connsiteY3-8" fmla="*/ 435957 h 1709080"/>
              <a:gd name="connsiteX4-9" fmla="*/ 634788 w 846384"/>
              <a:gd name="connsiteY4-10" fmla="*/ 1709080 h 1709080"/>
              <a:gd name="connsiteX5-11" fmla="*/ 211596 w 846384"/>
              <a:gd name="connsiteY5-12" fmla="*/ 1709080 h 1709080"/>
              <a:gd name="connsiteX6-13" fmla="*/ 211596 w 846384"/>
              <a:gd name="connsiteY6-14" fmla="*/ 435957 h 1709080"/>
              <a:gd name="connsiteX7-15" fmla="*/ 0 w 846384"/>
              <a:gd name="connsiteY7-16" fmla="*/ 435957 h 1709080"/>
              <a:gd name="connsiteX0-17" fmla="*/ 0 w 765454"/>
              <a:gd name="connsiteY0-18" fmla="*/ 435957 h 1709080"/>
              <a:gd name="connsiteX1-19" fmla="*/ 415201 w 765454"/>
              <a:gd name="connsiteY1-20" fmla="*/ 0 h 1709080"/>
              <a:gd name="connsiteX2-21" fmla="*/ 765454 w 765454"/>
              <a:gd name="connsiteY2-22" fmla="*/ 445754 h 1709080"/>
              <a:gd name="connsiteX3-23" fmla="*/ 634788 w 765454"/>
              <a:gd name="connsiteY3-24" fmla="*/ 435957 h 1709080"/>
              <a:gd name="connsiteX4-25" fmla="*/ 634788 w 765454"/>
              <a:gd name="connsiteY4-26" fmla="*/ 1709080 h 1709080"/>
              <a:gd name="connsiteX5-27" fmla="*/ 211596 w 765454"/>
              <a:gd name="connsiteY5-28" fmla="*/ 1709080 h 1709080"/>
              <a:gd name="connsiteX6-29" fmla="*/ 211596 w 765454"/>
              <a:gd name="connsiteY6-30" fmla="*/ 435957 h 1709080"/>
              <a:gd name="connsiteX7-31" fmla="*/ 0 w 765454"/>
              <a:gd name="connsiteY7-32" fmla="*/ 435957 h 1709080"/>
              <a:gd name="connsiteX0-33" fmla="*/ 0 w 765454"/>
              <a:gd name="connsiteY0-34" fmla="*/ 435957 h 1709080"/>
              <a:gd name="connsiteX1-35" fmla="*/ 415201 w 765454"/>
              <a:gd name="connsiteY1-36" fmla="*/ 0 h 1709080"/>
              <a:gd name="connsiteX2-37" fmla="*/ 765454 w 765454"/>
              <a:gd name="connsiteY2-38" fmla="*/ 445754 h 1709080"/>
              <a:gd name="connsiteX3-39" fmla="*/ 619148 w 765454"/>
              <a:gd name="connsiteY3-40" fmla="*/ 442194 h 1709080"/>
              <a:gd name="connsiteX4-41" fmla="*/ 634788 w 765454"/>
              <a:gd name="connsiteY4-42" fmla="*/ 1709080 h 1709080"/>
              <a:gd name="connsiteX5-43" fmla="*/ 211596 w 765454"/>
              <a:gd name="connsiteY5-44" fmla="*/ 1709080 h 1709080"/>
              <a:gd name="connsiteX6-45" fmla="*/ 211596 w 765454"/>
              <a:gd name="connsiteY6-46" fmla="*/ 435957 h 1709080"/>
              <a:gd name="connsiteX7-47" fmla="*/ 0 w 765454"/>
              <a:gd name="connsiteY7-48" fmla="*/ 435957 h 1709080"/>
              <a:gd name="connsiteX0-49" fmla="*/ 0 w 763067"/>
              <a:gd name="connsiteY0-50" fmla="*/ 435957 h 1709080"/>
              <a:gd name="connsiteX1-51" fmla="*/ 415201 w 763067"/>
              <a:gd name="connsiteY1-52" fmla="*/ 0 h 1709080"/>
              <a:gd name="connsiteX2-53" fmla="*/ 763067 w 763067"/>
              <a:gd name="connsiteY2-54" fmla="*/ 456132 h 1709080"/>
              <a:gd name="connsiteX3-55" fmla="*/ 619148 w 763067"/>
              <a:gd name="connsiteY3-56" fmla="*/ 442194 h 1709080"/>
              <a:gd name="connsiteX4-57" fmla="*/ 634788 w 763067"/>
              <a:gd name="connsiteY4-58" fmla="*/ 1709080 h 1709080"/>
              <a:gd name="connsiteX5-59" fmla="*/ 211596 w 763067"/>
              <a:gd name="connsiteY5-60" fmla="*/ 1709080 h 1709080"/>
              <a:gd name="connsiteX6-61" fmla="*/ 211596 w 763067"/>
              <a:gd name="connsiteY6-62" fmla="*/ 435957 h 1709080"/>
              <a:gd name="connsiteX7-63" fmla="*/ 0 w 763067"/>
              <a:gd name="connsiteY7-64" fmla="*/ 435957 h 1709080"/>
              <a:gd name="connsiteX0-65" fmla="*/ 0 w 761386"/>
              <a:gd name="connsiteY0-66" fmla="*/ 435957 h 1709080"/>
              <a:gd name="connsiteX1-67" fmla="*/ 415201 w 761386"/>
              <a:gd name="connsiteY1-68" fmla="*/ 0 h 1709080"/>
              <a:gd name="connsiteX2-69" fmla="*/ 761386 w 761386"/>
              <a:gd name="connsiteY2-70" fmla="*/ 449188 h 1709080"/>
              <a:gd name="connsiteX3-71" fmla="*/ 619148 w 761386"/>
              <a:gd name="connsiteY3-72" fmla="*/ 442194 h 1709080"/>
              <a:gd name="connsiteX4-73" fmla="*/ 634788 w 761386"/>
              <a:gd name="connsiteY4-74" fmla="*/ 1709080 h 1709080"/>
              <a:gd name="connsiteX5-75" fmla="*/ 211596 w 761386"/>
              <a:gd name="connsiteY5-76" fmla="*/ 1709080 h 1709080"/>
              <a:gd name="connsiteX6-77" fmla="*/ 211596 w 761386"/>
              <a:gd name="connsiteY6-78" fmla="*/ 435957 h 1709080"/>
              <a:gd name="connsiteX7-79" fmla="*/ 0 w 761386"/>
              <a:gd name="connsiteY7-80" fmla="*/ 435957 h 1709080"/>
              <a:gd name="connsiteX0-81" fmla="*/ 0 w 761386"/>
              <a:gd name="connsiteY0-82" fmla="*/ 435957 h 1709080"/>
              <a:gd name="connsiteX1-83" fmla="*/ 415201 w 761386"/>
              <a:gd name="connsiteY1-84" fmla="*/ 0 h 1709080"/>
              <a:gd name="connsiteX2-85" fmla="*/ 761386 w 761386"/>
              <a:gd name="connsiteY2-86" fmla="*/ 449188 h 1709080"/>
              <a:gd name="connsiteX3-87" fmla="*/ 618514 w 761386"/>
              <a:gd name="connsiteY3-88" fmla="*/ 449698 h 1709080"/>
              <a:gd name="connsiteX4-89" fmla="*/ 634788 w 761386"/>
              <a:gd name="connsiteY4-90" fmla="*/ 1709080 h 1709080"/>
              <a:gd name="connsiteX5-91" fmla="*/ 211596 w 761386"/>
              <a:gd name="connsiteY5-92" fmla="*/ 1709080 h 1709080"/>
              <a:gd name="connsiteX6-93" fmla="*/ 211596 w 761386"/>
              <a:gd name="connsiteY6-94" fmla="*/ 435957 h 1709080"/>
              <a:gd name="connsiteX7-95" fmla="*/ 0 w 761386"/>
              <a:gd name="connsiteY7-96" fmla="*/ 435957 h 1709080"/>
              <a:gd name="connsiteX0-97" fmla="*/ 0 w 740557"/>
              <a:gd name="connsiteY0-98" fmla="*/ 430912 h 1709080"/>
              <a:gd name="connsiteX1-99" fmla="*/ 394372 w 740557"/>
              <a:gd name="connsiteY1-100" fmla="*/ 0 h 1709080"/>
              <a:gd name="connsiteX2-101" fmla="*/ 740557 w 740557"/>
              <a:gd name="connsiteY2-102" fmla="*/ 449188 h 1709080"/>
              <a:gd name="connsiteX3-103" fmla="*/ 597685 w 740557"/>
              <a:gd name="connsiteY3-104" fmla="*/ 449698 h 1709080"/>
              <a:gd name="connsiteX4-105" fmla="*/ 613959 w 740557"/>
              <a:gd name="connsiteY4-106" fmla="*/ 1709080 h 1709080"/>
              <a:gd name="connsiteX5-107" fmla="*/ 190767 w 740557"/>
              <a:gd name="connsiteY5-108" fmla="*/ 1709080 h 1709080"/>
              <a:gd name="connsiteX6-109" fmla="*/ 190767 w 740557"/>
              <a:gd name="connsiteY6-110" fmla="*/ 435957 h 1709080"/>
              <a:gd name="connsiteX7-111" fmla="*/ 0 w 740557"/>
              <a:gd name="connsiteY7-112" fmla="*/ 430912 h 1709080"/>
              <a:gd name="connsiteX0-113" fmla="*/ 0 w 698899"/>
              <a:gd name="connsiteY0-114" fmla="*/ 420825 h 1709080"/>
              <a:gd name="connsiteX1-115" fmla="*/ 352714 w 698899"/>
              <a:gd name="connsiteY1-116" fmla="*/ 0 h 1709080"/>
              <a:gd name="connsiteX2-117" fmla="*/ 698899 w 698899"/>
              <a:gd name="connsiteY2-118" fmla="*/ 449188 h 1709080"/>
              <a:gd name="connsiteX3-119" fmla="*/ 556027 w 698899"/>
              <a:gd name="connsiteY3-120" fmla="*/ 449698 h 1709080"/>
              <a:gd name="connsiteX4-121" fmla="*/ 572301 w 698899"/>
              <a:gd name="connsiteY4-122" fmla="*/ 1709080 h 1709080"/>
              <a:gd name="connsiteX5-123" fmla="*/ 149109 w 698899"/>
              <a:gd name="connsiteY5-124" fmla="*/ 1709080 h 1709080"/>
              <a:gd name="connsiteX6-125" fmla="*/ 149109 w 698899"/>
              <a:gd name="connsiteY6-126" fmla="*/ 435957 h 1709080"/>
              <a:gd name="connsiteX7-127" fmla="*/ 0 w 698899"/>
              <a:gd name="connsiteY7-128" fmla="*/ 420825 h 1709080"/>
              <a:gd name="connsiteX0-129" fmla="*/ 0 w 742872"/>
              <a:gd name="connsiteY0-130" fmla="*/ 431473 h 1709080"/>
              <a:gd name="connsiteX1-131" fmla="*/ 396687 w 742872"/>
              <a:gd name="connsiteY1-132" fmla="*/ 0 h 1709080"/>
              <a:gd name="connsiteX2-133" fmla="*/ 742872 w 742872"/>
              <a:gd name="connsiteY2-134" fmla="*/ 449188 h 1709080"/>
              <a:gd name="connsiteX3-135" fmla="*/ 600000 w 742872"/>
              <a:gd name="connsiteY3-136" fmla="*/ 449698 h 1709080"/>
              <a:gd name="connsiteX4-137" fmla="*/ 616274 w 742872"/>
              <a:gd name="connsiteY4-138" fmla="*/ 1709080 h 1709080"/>
              <a:gd name="connsiteX5-139" fmla="*/ 193082 w 742872"/>
              <a:gd name="connsiteY5-140" fmla="*/ 1709080 h 1709080"/>
              <a:gd name="connsiteX6-141" fmla="*/ 193082 w 742872"/>
              <a:gd name="connsiteY6-142" fmla="*/ 435957 h 1709080"/>
              <a:gd name="connsiteX7-143" fmla="*/ 0 w 742872"/>
              <a:gd name="connsiteY7-144" fmla="*/ 431473 h 1709080"/>
              <a:gd name="connsiteX0-145" fmla="*/ 0 w 742872"/>
              <a:gd name="connsiteY0-146" fmla="*/ 431473 h 1709080"/>
              <a:gd name="connsiteX1-147" fmla="*/ 396687 w 742872"/>
              <a:gd name="connsiteY1-148" fmla="*/ 0 h 1709080"/>
              <a:gd name="connsiteX2-149" fmla="*/ 742872 w 742872"/>
              <a:gd name="connsiteY2-150" fmla="*/ 449188 h 1709080"/>
              <a:gd name="connsiteX3-151" fmla="*/ 600000 w 742872"/>
              <a:gd name="connsiteY3-152" fmla="*/ 449698 h 1709080"/>
              <a:gd name="connsiteX4-153" fmla="*/ 616274 w 742872"/>
              <a:gd name="connsiteY4-154" fmla="*/ 1709080 h 1709080"/>
              <a:gd name="connsiteX5-155" fmla="*/ 193082 w 742872"/>
              <a:gd name="connsiteY5-156" fmla="*/ 1709080 h 1709080"/>
              <a:gd name="connsiteX6-157" fmla="*/ 154371 w 742872"/>
              <a:gd name="connsiteY6-158" fmla="*/ 437980 h 1709080"/>
              <a:gd name="connsiteX7-159" fmla="*/ 0 w 742872"/>
              <a:gd name="connsiteY7-160" fmla="*/ 431473 h 1709080"/>
              <a:gd name="connsiteX0-161" fmla="*/ 0 w 1101086"/>
              <a:gd name="connsiteY0-162" fmla="*/ 431473 h 1709080"/>
              <a:gd name="connsiteX1-163" fmla="*/ 396687 w 1101086"/>
              <a:gd name="connsiteY1-164" fmla="*/ 0 h 1709080"/>
              <a:gd name="connsiteX2-165" fmla="*/ 742872 w 1101086"/>
              <a:gd name="connsiteY2-166" fmla="*/ 449188 h 1709080"/>
              <a:gd name="connsiteX3-167" fmla="*/ 600000 w 1101086"/>
              <a:gd name="connsiteY3-168" fmla="*/ 449698 h 1709080"/>
              <a:gd name="connsiteX4-169" fmla="*/ 1101086 w 1101086"/>
              <a:gd name="connsiteY4-170" fmla="*/ 1363824 h 1709080"/>
              <a:gd name="connsiteX5-171" fmla="*/ 193082 w 1101086"/>
              <a:gd name="connsiteY5-172" fmla="*/ 1709080 h 1709080"/>
              <a:gd name="connsiteX6-173" fmla="*/ 154371 w 1101086"/>
              <a:gd name="connsiteY6-174" fmla="*/ 437980 h 1709080"/>
              <a:gd name="connsiteX7-175" fmla="*/ 0 w 1101086"/>
              <a:gd name="connsiteY7-176" fmla="*/ 431473 h 1709080"/>
              <a:gd name="connsiteX0-177" fmla="*/ 0 w 1101086"/>
              <a:gd name="connsiteY0-178" fmla="*/ 431473 h 1630579"/>
              <a:gd name="connsiteX1-179" fmla="*/ 396687 w 1101086"/>
              <a:gd name="connsiteY1-180" fmla="*/ 0 h 1630579"/>
              <a:gd name="connsiteX2-181" fmla="*/ 742872 w 1101086"/>
              <a:gd name="connsiteY2-182" fmla="*/ 449188 h 1630579"/>
              <a:gd name="connsiteX3-183" fmla="*/ 600000 w 1101086"/>
              <a:gd name="connsiteY3-184" fmla="*/ 449698 h 1630579"/>
              <a:gd name="connsiteX4-185" fmla="*/ 1101086 w 1101086"/>
              <a:gd name="connsiteY4-186" fmla="*/ 1363824 h 1630579"/>
              <a:gd name="connsiteX5-187" fmla="*/ 355380 w 1101086"/>
              <a:gd name="connsiteY5-188" fmla="*/ 1630579 h 1630579"/>
              <a:gd name="connsiteX6-189" fmla="*/ 154371 w 1101086"/>
              <a:gd name="connsiteY6-190" fmla="*/ 437980 h 1630579"/>
              <a:gd name="connsiteX7-191" fmla="*/ 0 w 1101086"/>
              <a:gd name="connsiteY7-192" fmla="*/ 431473 h 1630579"/>
              <a:gd name="connsiteX0-193" fmla="*/ 0 w 1101086"/>
              <a:gd name="connsiteY0-194" fmla="*/ 431473 h 1682647"/>
              <a:gd name="connsiteX1-195" fmla="*/ 396687 w 1101086"/>
              <a:gd name="connsiteY1-196" fmla="*/ 0 h 1682647"/>
              <a:gd name="connsiteX2-197" fmla="*/ 742872 w 1101086"/>
              <a:gd name="connsiteY2-198" fmla="*/ 449188 h 1682647"/>
              <a:gd name="connsiteX3-199" fmla="*/ 600000 w 1101086"/>
              <a:gd name="connsiteY3-200" fmla="*/ 449698 h 1682647"/>
              <a:gd name="connsiteX4-201" fmla="*/ 1101086 w 1101086"/>
              <a:gd name="connsiteY4-202" fmla="*/ 1363824 h 1682647"/>
              <a:gd name="connsiteX5-203" fmla="*/ 211183 w 1101086"/>
              <a:gd name="connsiteY5-204" fmla="*/ 1682647 h 1682647"/>
              <a:gd name="connsiteX6-205" fmla="*/ 154371 w 1101086"/>
              <a:gd name="connsiteY6-206" fmla="*/ 437980 h 1682647"/>
              <a:gd name="connsiteX7-207" fmla="*/ 0 w 1101086"/>
              <a:gd name="connsiteY7-208" fmla="*/ 431473 h 1682647"/>
              <a:gd name="connsiteX0-209" fmla="*/ 0 w 1101086"/>
              <a:gd name="connsiteY0-210" fmla="*/ 431473 h 1682647"/>
              <a:gd name="connsiteX1-211" fmla="*/ 396687 w 1101086"/>
              <a:gd name="connsiteY1-212" fmla="*/ 0 h 1682647"/>
              <a:gd name="connsiteX2-213" fmla="*/ 742872 w 1101086"/>
              <a:gd name="connsiteY2-214" fmla="*/ 449188 h 1682647"/>
              <a:gd name="connsiteX3-215" fmla="*/ 600000 w 1101086"/>
              <a:gd name="connsiteY3-216" fmla="*/ 449698 h 1682647"/>
              <a:gd name="connsiteX4-217" fmla="*/ 1101086 w 1101086"/>
              <a:gd name="connsiteY4-218" fmla="*/ 1363824 h 1682647"/>
              <a:gd name="connsiteX5-219" fmla="*/ 211183 w 1101086"/>
              <a:gd name="connsiteY5-220" fmla="*/ 1682647 h 1682647"/>
              <a:gd name="connsiteX6-221" fmla="*/ 154371 w 1101086"/>
              <a:gd name="connsiteY6-222" fmla="*/ 437980 h 1682647"/>
              <a:gd name="connsiteX7-223" fmla="*/ 0 w 1101086"/>
              <a:gd name="connsiteY7-224" fmla="*/ 431473 h 1682647"/>
              <a:gd name="connsiteX0-225" fmla="*/ 0 w 1101086"/>
              <a:gd name="connsiteY0-226" fmla="*/ 431473 h 1682647"/>
              <a:gd name="connsiteX1-227" fmla="*/ 396687 w 1101086"/>
              <a:gd name="connsiteY1-228" fmla="*/ 0 h 1682647"/>
              <a:gd name="connsiteX2-229" fmla="*/ 742872 w 1101086"/>
              <a:gd name="connsiteY2-230" fmla="*/ 449188 h 1682647"/>
              <a:gd name="connsiteX3-231" fmla="*/ 600000 w 1101086"/>
              <a:gd name="connsiteY3-232" fmla="*/ 449698 h 1682647"/>
              <a:gd name="connsiteX4-233" fmla="*/ 1101086 w 1101086"/>
              <a:gd name="connsiteY4-234" fmla="*/ 1363824 h 1682647"/>
              <a:gd name="connsiteX5-235" fmla="*/ 211183 w 1101086"/>
              <a:gd name="connsiteY5-236" fmla="*/ 1682647 h 1682647"/>
              <a:gd name="connsiteX6-237" fmla="*/ 154371 w 1101086"/>
              <a:gd name="connsiteY6-238" fmla="*/ 437980 h 1682647"/>
              <a:gd name="connsiteX7-239" fmla="*/ 0 w 1101086"/>
              <a:gd name="connsiteY7-240" fmla="*/ 431473 h 1682647"/>
              <a:gd name="connsiteX0-241" fmla="*/ 0 w 1101086"/>
              <a:gd name="connsiteY0-242" fmla="*/ 431473 h 1682647"/>
              <a:gd name="connsiteX1-243" fmla="*/ 396687 w 1101086"/>
              <a:gd name="connsiteY1-244" fmla="*/ 0 h 1682647"/>
              <a:gd name="connsiteX2-245" fmla="*/ 742872 w 1101086"/>
              <a:gd name="connsiteY2-246" fmla="*/ 449188 h 1682647"/>
              <a:gd name="connsiteX3-247" fmla="*/ 600000 w 1101086"/>
              <a:gd name="connsiteY3-248" fmla="*/ 449698 h 1682647"/>
              <a:gd name="connsiteX4-249" fmla="*/ 1101086 w 1101086"/>
              <a:gd name="connsiteY4-250" fmla="*/ 1363824 h 1682647"/>
              <a:gd name="connsiteX5-251" fmla="*/ 211183 w 1101086"/>
              <a:gd name="connsiteY5-252" fmla="*/ 1682647 h 1682647"/>
              <a:gd name="connsiteX6-253" fmla="*/ 154371 w 1101086"/>
              <a:gd name="connsiteY6-254" fmla="*/ 437980 h 1682647"/>
              <a:gd name="connsiteX7-255" fmla="*/ 0 w 1101086"/>
              <a:gd name="connsiteY7-256" fmla="*/ 431473 h 1682647"/>
              <a:gd name="connsiteX0-257" fmla="*/ 0 w 1101086"/>
              <a:gd name="connsiteY0-258" fmla="*/ 431473 h 1682647"/>
              <a:gd name="connsiteX1-259" fmla="*/ 396687 w 1101086"/>
              <a:gd name="connsiteY1-260" fmla="*/ 0 h 1682647"/>
              <a:gd name="connsiteX2-261" fmla="*/ 742872 w 1101086"/>
              <a:gd name="connsiteY2-262" fmla="*/ 449188 h 1682647"/>
              <a:gd name="connsiteX3-263" fmla="*/ 600000 w 1101086"/>
              <a:gd name="connsiteY3-264" fmla="*/ 449698 h 1682647"/>
              <a:gd name="connsiteX4-265" fmla="*/ 1101086 w 1101086"/>
              <a:gd name="connsiteY4-266" fmla="*/ 1363824 h 1682647"/>
              <a:gd name="connsiteX5-267" fmla="*/ 211183 w 1101086"/>
              <a:gd name="connsiteY5-268" fmla="*/ 1682647 h 1682647"/>
              <a:gd name="connsiteX6-269" fmla="*/ 154371 w 1101086"/>
              <a:gd name="connsiteY6-270" fmla="*/ 437980 h 1682647"/>
              <a:gd name="connsiteX7-271" fmla="*/ 0 w 1101086"/>
              <a:gd name="connsiteY7-272" fmla="*/ 431473 h 1682647"/>
              <a:gd name="connsiteX0-273" fmla="*/ 0 w 1101086"/>
              <a:gd name="connsiteY0-274" fmla="*/ 431473 h 1682647"/>
              <a:gd name="connsiteX1-275" fmla="*/ 396687 w 1101086"/>
              <a:gd name="connsiteY1-276" fmla="*/ 0 h 1682647"/>
              <a:gd name="connsiteX2-277" fmla="*/ 742872 w 1101086"/>
              <a:gd name="connsiteY2-278" fmla="*/ 449188 h 1682647"/>
              <a:gd name="connsiteX3-279" fmla="*/ 600000 w 1101086"/>
              <a:gd name="connsiteY3-280" fmla="*/ 449698 h 1682647"/>
              <a:gd name="connsiteX4-281" fmla="*/ 1101086 w 1101086"/>
              <a:gd name="connsiteY4-282" fmla="*/ 1363824 h 1682647"/>
              <a:gd name="connsiteX5-283" fmla="*/ 211183 w 1101086"/>
              <a:gd name="connsiteY5-284" fmla="*/ 1682647 h 1682647"/>
              <a:gd name="connsiteX6-285" fmla="*/ 154371 w 1101086"/>
              <a:gd name="connsiteY6-286" fmla="*/ 437980 h 1682647"/>
              <a:gd name="connsiteX7-287" fmla="*/ 0 w 1101086"/>
              <a:gd name="connsiteY7-288" fmla="*/ 431473 h 1682647"/>
              <a:gd name="connsiteX0-289" fmla="*/ 0 w 1101086"/>
              <a:gd name="connsiteY0-290" fmla="*/ 431473 h 1682647"/>
              <a:gd name="connsiteX1-291" fmla="*/ 396687 w 1101086"/>
              <a:gd name="connsiteY1-292" fmla="*/ 0 h 1682647"/>
              <a:gd name="connsiteX2-293" fmla="*/ 742872 w 1101086"/>
              <a:gd name="connsiteY2-294" fmla="*/ 449188 h 1682647"/>
              <a:gd name="connsiteX3-295" fmla="*/ 600000 w 1101086"/>
              <a:gd name="connsiteY3-296" fmla="*/ 449698 h 1682647"/>
              <a:gd name="connsiteX4-297" fmla="*/ 1101086 w 1101086"/>
              <a:gd name="connsiteY4-298" fmla="*/ 1363824 h 1682647"/>
              <a:gd name="connsiteX5-299" fmla="*/ 211183 w 1101086"/>
              <a:gd name="connsiteY5-300" fmla="*/ 1682647 h 1682647"/>
              <a:gd name="connsiteX6-301" fmla="*/ 154371 w 1101086"/>
              <a:gd name="connsiteY6-302" fmla="*/ 437980 h 1682647"/>
              <a:gd name="connsiteX7-303" fmla="*/ 0 w 1101086"/>
              <a:gd name="connsiteY7-304" fmla="*/ 431473 h 1682647"/>
              <a:gd name="connsiteX0-305" fmla="*/ 0 w 877005"/>
              <a:gd name="connsiteY0-306" fmla="*/ 431473 h 1682647"/>
              <a:gd name="connsiteX1-307" fmla="*/ 396687 w 877005"/>
              <a:gd name="connsiteY1-308" fmla="*/ 0 h 1682647"/>
              <a:gd name="connsiteX2-309" fmla="*/ 742872 w 877005"/>
              <a:gd name="connsiteY2-310" fmla="*/ 449188 h 1682647"/>
              <a:gd name="connsiteX3-311" fmla="*/ 600000 w 877005"/>
              <a:gd name="connsiteY3-312" fmla="*/ 449698 h 1682647"/>
              <a:gd name="connsiteX4-313" fmla="*/ 877005 w 877005"/>
              <a:gd name="connsiteY4-314" fmla="*/ 1445049 h 1682647"/>
              <a:gd name="connsiteX5-315" fmla="*/ 211183 w 877005"/>
              <a:gd name="connsiteY5-316" fmla="*/ 1682647 h 1682647"/>
              <a:gd name="connsiteX6-317" fmla="*/ 154371 w 877005"/>
              <a:gd name="connsiteY6-318" fmla="*/ 437980 h 1682647"/>
              <a:gd name="connsiteX7-319" fmla="*/ 0 w 877005"/>
              <a:gd name="connsiteY7-320" fmla="*/ 431473 h 1682647"/>
              <a:gd name="connsiteX0-321" fmla="*/ 0 w 917020"/>
              <a:gd name="connsiteY0-322" fmla="*/ 431473 h 1682647"/>
              <a:gd name="connsiteX1-323" fmla="*/ 396687 w 917020"/>
              <a:gd name="connsiteY1-324" fmla="*/ 0 h 1682647"/>
              <a:gd name="connsiteX2-325" fmla="*/ 742872 w 917020"/>
              <a:gd name="connsiteY2-326" fmla="*/ 449188 h 1682647"/>
              <a:gd name="connsiteX3-327" fmla="*/ 600000 w 917020"/>
              <a:gd name="connsiteY3-328" fmla="*/ 449698 h 1682647"/>
              <a:gd name="connsiteX4-329" fmla="*/ 917020 w 917020"/>
              <a:gd name="connsiteY4-330" fmla="*/ 1430545 h 1682647"/>
              <a:gd name="connsiteX5-331" fmla="*/ 211183 w 917020"/>
              <a:gd name="connsiteY5-332" fmla="*/ 1682647 h 1682647"/>
              <a:gd name="connsiteX6-333" fmla="*/ 154371 w 917020"/>
              <a:gd name="connsiteY6-334" fmla="*/ 437980 h 1682647"/>
              <a:gd name="connsiteX7-335" fmla="*/ 0 w 917020"/>
              <a:gd name="connsiteY7-336" fmla="*/ 431473 h 1682647"/>
              <a:gd name="connsiteX0-337" fmla="*/ 0 w 917020"/>
              <a:gd name="connsiteY0-338" fmla="*/ 431473 h 1682647"/>
              <a:gd name="connsiteX1-339" fmla="*/ 396687 w 917020"/>
              <a:gd name="connsiteY1-340" fmla="*/ 0 h 1682647"/>
              <a:gd name="connsiteX2-341" fmla="*/ 742872 w 917020"/>
              <a:gd name="connsiteY2-342" fmla="*/ 449188 h 1682647"/>
              <a:gd name="connsiteX3-343" fmla="*/ 600000 w 917020"/>
              <a:gd name="connsiteY3-344" fmla="*/ 449698 h 1682647"/>
              <a:gd name="connsiteX4-345" fmla="*/ 917020 w 917020"/>
              <a:gd name="connsiteY4-346" fmla="*/ 1430545 h 1682647"/>
              <a:gd name="connsiteX5-347" fmla="*/ 211183 w 917020"/>
              <a:gd name="connsiteY5-348" fmla="*/ 1682647 h 1682647"/>
              <a:gd name="connsiteX6-349" fmla="*/ 154371 w 917020"/>
              <a:gd name="connsiteY6-350" fmla="*/ 437980 h 1682647"/>
              <a:gd name="connsiteX7-351" fmla="*/ 0 w 917020"/>
              <a:gd name="connsiteY7-352" fmla="*/ 431473 h 1682647"/>
              <a:gd name="connsiteX0-353" fmla="*/ 0 w 1001946"/>
              <a:gd name="connsiteY0-354" fmla="*/ 431473 h 1682647"/>
              <a:gd name="connsiteX1-355" fmla="*/ 396687 w 1001946"/>
              <a:gd name="connsiteY1-356" fmla="*/ 0 h 1682647"/>
              <a:gd name="connsiteX2-357" fmla="*/ 742872 w 1001946"/>
              <a:gd name="connsiteY2-358" fmla="*/ 449188 h 1682647"/>
              <a:gd name="connsiteX3-359" fmla="*/ 600000 w 1001946"/>
              <a:gd name="connsiteY3-360" fmla="*/ 449698 h 1682647"/>
              <a:gd name="connsiteX4-361" fmla="*/ 1001946 w 1001946"/>
              <a:gd name="connsiteY4-362" fmla="*/ 1554234 h 1682647"/>
              <a:gd name="connsiteX5-363" fmla="*/ 211183 w 1001946"/>
              <a:gd name="connsiteY5-364" fmla="*/ 1682647 h 1682647"/>
              <a:gd name="connsiteX6-365" fmla="*/ 154371 w 1001946"/>
              <a:gd name="connsiteY6-366" fmla="*/ 437980 h 1682647"/>
              <a:gd name="connsiteX7-367" fmla="*/ 0 w 1001946"/>
              <a:gd name="connsiteY7-368" fmla="*/ 431473 h 1682647"/>
              <a:gd name="connsiteX0-369" fmla="*/ 0 w 1001946"/>
              <a:gd name="connsiteY0-370" fmla="*/ 431473 h 1854320"/>
              <a:gd name="connsiteX1-371" fmla="*/ 396687 w 1001946"/>
              <a:gd name="connsiteY1-372" fmla="*/ 0 h 1854320"/>
              <a:gd name="connsiteX2-373" fmla="*/ 742872 w 1001946"/>
              <a:gd name="connsiteY2-374" fmla="*/ 449188 h 1854320"/>
              <a:gd name="connsiteX3-375" fmla="*/ 600000 w 1001946"/>
              <a:gd name="connsiteY3-376" fmla="*/ 449698 h 1854320"/>
              <a:gd name="connsiteX4-377" fmla="*/ 1001946 w 1001946"/>
              <a:gd name="connsiteY4-378" fmla="*/ 1554234 h 1854320"/>
              <a:gd name="connsiteX5-379" fmla="*/ 300410 w 1001946"/>
              <a:gd name="connsiteY5-380" fmla="*/ 1854320 h 1854320"/>
              <a:gd name="connsiteX6-381" fmla="*/ 154371 w 1001946"/>
              <a:gd name="connsiteY6-382" fmla="*/ 437980 h 1854320"/>
              <a:gd name="connsiteX7-383" fmla="*/ 0 w 1001946"/>
              <a:gd name="connsiteY7-384" fmla="*/ 431473 h 1854320"/>
              <a:gd name="connsiteX0-385" fmla="*/ 0 w 1001946"/>
              <a:gd name="connsiteY0-386" fmla="*/ 431473 h 1891590"/>
              <a:gd name="connsiteX1-387" fmla="*/ 396687 w 1001946"/>
              <a:gd name="connsiteY1-388" fmla="*/ 0 h 1891590"/>
              <a:gd name="connsiteX2-389" fmla="*/ 742872 w 1001946"/>
              <a:gd name="connsiteY2-390" fmla="*/ 449188 h 1891590"/>
              <a:gd name="connsiteX3-391" fmla="*/ 600000 w 1001946"/>
              <a:gd name="connsiteY3-392" fmla="*/ 449698 h 1891590"/>
              <a:gd name="connsiteX4-393" fmla="*/ 1001946 w 1001946"/>
              <a:gd name="connsiteY4-394" fmla="*/ 1554234 h 1891590"/>
              <a:gd name="connsiteX5-395" fmla="*/ 317815 w 1001946"/>
              <a:gd name="connsiteY5-396" fmla="*/ 1891590 h 1891590"/>
              <a:gd name="connsiteX6-397" fmla="*/ 154371 w 1001946"/>
              <a:gd name="connsiteY6-398" fmla="*/ 437980 h 1891590"/>
              <a:gd name="connsiteX7-399" fmla="*/ 0 w 1001946"/>
              <a:gd name="connsiteY7-400" fmla="*/ 431473 h 1891590"/>
              <a:gd name="connsiteX0-401" fmla="*/ 0 w 1001946"/>
              <a:gd name="connsiteY0-402" fmla="*/ 431473 h 1928860"/>
              <a:gd name="connsiteX1-403" fmla="*/ 396687 w 1001946"/>
              <a:gd name="connsiteY1-404" fmla="*/ 0 h 1928860"/>
              <a:gd name="connsiteX2-405" fmla="*/ 742872 w 1001946"/>
              <a:gd name="connsiteY2-406" fmla="*/ 449188 h 1928860"/>
              <a:gd name="connsiteX3-407" fmla="*/ 600000 w 1001946"/>
              <a:gd name="connsiteY3-408" fmla="*/ 449698 h 1928860"/>
              <a:gd name="connsiteX4-409" fmla="*/ 1001946 w 1001946"/>
              <a:gd name="connsiteY4-410" fmla="*/ 1554234 h 1928860"/>
              <a:gd name="connsiteX5-411" fmla="*/ 335220 w 1001946"/>
              <a:gd name="connsiteY5-412" fmla="*/ 1928860 h 1928860"/>
              <a:gd name="connsiteX6-413" fmla="*/ 154371 w 1001946"/>
              <a:gd name="connsiteY6-414" fmla="*/ 437980 h 1928860"/>
              <a:gd name="connsiteX7-415" fmla="*/ 0 w 1001946"/>
              <a:gd name="connsiteY7-416" fmla="*/ 431473 h 19288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1946" h="1928860">
                <a:moveTo>
                  <a:pt x="0" y="431473"/>
                </a:moveTo>
                <a:lnTo>
                  <a:pt x="396687" y="0"/>
                </a:lnTo>
                <a:lnTo>
                  <a:pt x="742872" y="449188"/>
                </a:lnTo>
                <a:lnTo>
                  <a:pt x="600000" y="449698"/>
                </a:lnTo>
                <a:cubicBezTo>
                  <a:pt x="574978" y="639207"/>
                  <a:pt x="789572" y="1346868"/>
                  <a:pt x="1001946" y="1554234"/>
                </a:cubicBezTo>
                <a:lnTo>
                  <a:pt x="335220" y="1928860"/>
                </a:lnTo>
                <a:cubicBezTo>
                  <a:pt x="265523" y="1739419"/>
                  <a:pt x="-1847" y="1030036"/>
                  <a:pt x="154371" y="437980"/>
                </a:cubicBezTo>
                <a:lnTo>
                  <a:pt x="0" y="431473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2000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4" name="椭圆 113"/>
          <p:cNvSpPr/>
          <p:nvPr/>
        </p:nvSpPr>
        <p:spPr>
          <a:xfrm>
            <a:off x="3062605" y="5518150"/>
            <a:ext cx="570865" cy="570865"/>
          </a:xfrm>
          <a:prstGeom prst="ellipse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5" name="Oval 6+"/>
          <p:cNvSpPr/>
          <p:nvPr/>
        </p:nvSpPr>
        <p:spPr>
          <a:xfrm>
            <a:off x="2977515" y="5433060"/>
            <a:ext cx="741045" cy="741045"/>
          </a:xfrm>
          <a:prstGeom prst="ellipse">
            <a:avLst/>
          </a:prstGeom>
          <a:noFill/>
          <a:ln w="6350">
            <a:solidFill>
              <a:schemeClr val="accent5"/>
            </a:solidFill>
            <a:prstDash val="dash"/>
          </a:ln>
          <a:effectLst>
            <a:outerShdw blurRad="411480" dist="123444" dir="5400000" sx="108000" sy="108000" algn="ctr" rotWithShape="0">
              <a:srgbClr val="24396B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6" name="椭圆 115"/>
          <p:cNvSpPr/>
          <p:nvPr>
            <p:custDataLst>
              <p:tags r:id="rId3"/>
            </p:custDataLst>
          </p:nvPr>
        </p:nvSpPr>
        <p:spPr>
          <a:xfrm flipH="1">
            <a:off x="3561715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7" name="椭圆 116"/>
          <p:cNvSpPr/>
          <p:nvPr/>
        </p:nvSpPr>
        <p:spPr>
          <a:xfrm flipH="1">
            <a:off x="3583940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8" name="椭圆 117"/>
          <p:cNvSpPr/>
          <p:nvPr>
            <p:custDataLst>
              <p:tags r:id="rId4"/>
            </p:custDataLst>
          </p:nvPr>
        </p:nvSpPr>
        <p:spPr>
          <a:xfrm flipH="1">
            <a:off x="3312160" y="538988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9" name="椭圆 118"/>
          <p:cNvSpPr/>
          <p:nvPr/>
        </p:nvSpPr>
        <p:spPr>
          <a:xfrm flipH="1">
            <a:off x="3334385" y="541210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0" name="椭圆 119"/>
          <p:cNvSpPr/>
          <p:nvPr>
            <p:custDataLst>
              <p:tags r:id="rId5"/>
            </p:custDataLst>
          </p:nvPr>
        </p:nvSpPr>
        <p:spPr>
          <a:xfrm flipH="1">
            <a:off x="3074035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1" name="椭圆 120"/>
          <p:cNvSpPr/>
          <p:nvPr/>
        </p:nvSpPr>
        <p:spPr>
          <a:xfrm flipH="1">
            <a:off x="3096260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037205" y="51384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协调机制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502535" y="52781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独立部门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037205" y="5618798"/>
            <a:ext cx="635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组织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架构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3474720" y="5278120"/>
            <a:ext cx="88011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部门责任制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7" name="箭头: 上 26"/>
          <p:cNvSpPr/>
          <p:nvPr/>
        </p:nvSpPr>
        <p:spPr>
          <a:xfrm rot="20404535" flipH="1">
            <a:off x="10695305" y="5097780"/>
            <a:ext cx="521970" cy="1294130"/>
          </a:xfrm>
          <a:custGeom>
            <a:avLst/>
            <a:gdLst>
              <a:gd name="connsiteX0" fmla="*/ 0 w 846384"/>
              <a:gd name="connsiteY0" fmla="*/ 423192 h 1696315"/>
              <a:gd name="connsiteX1" fmla="*/ 423192 w 846384"/>
              <a:gd name="connsiteY1" fmla="*/ 0 h 1696315"/>
              <a:gd name="connsiteX2" fmla="*/ 846384 w 846384"/>
              <a:gd name="connsiteY2" fmla="*/ 423192 h 1696315"/>
              <a:gd name="connsiteX3" fmla="*/ 634788 w 846384"/>
              <a:gd name="connsiteY3" fmla="*/ 423192 h 1696315"/>
              <a:gd name="connsiteX4" fmla="*/ 634788 w 846384"/>
              <a:gd name="connsiteY4" fmla="*/ 1696315 h 1696315"/>
              <a:gd name="connsiteX5" fmla="*/ 211596 w 846384"/>
              <a:gd name="connsiteY5" fmla="*/ 1696315 h 1696315"/>
              <a:gd name="connsiteX6" fmla="*/ 211596 w 846384"/>
              <a:gd name="connsiteY6" fmla="*/ 423192 h 1696315"/>
              <a:gd name="connsiteX7" fmla="*/ 0 w 846384"/>
              <a:gd name="connsiteY7" fmla="*/ 423192 h 1696315"/>
              <a:gd name="connsiteX0-1" fmla="*/ 0 w 846384"/>
              <a:gd name="connsiteY0-2" fmla="*/ 435957 h 1709080"/>
              <a:gd name="connsiteX1-3" fmla="*/ 415201 w 846384"/>
              <a:gd name="connsiteY1-4" fmla="*/ 0 h 1709080"/>
              <a:gd name="connsiteX2-5" fmla="*/ 846384 w 846384"/>
              <a:gd name="connsiteY2-6" fmla="*/ 435957 h 1709080"/>
              <a:gd name="connsiteX3-7" fmla="*/ 634788 w 846384"/>
              <a:gd name="connsiteY3-8" fmla="*/ 435957 h 1709080"/>
              <a:gd name="connsiteX4-9" fmla="*/ 634788 w 846384"/>
              <a:gd name="connsiteY4-10" fmla="*/ 1709080 h 1709080"/>
              <a:gd name="connsiteX5-11" fmla="*/ 211596 w 846384"/>
              <a:gd name="connsiteY5-12" fmla="*/ 1709080 h 1709080"/>
              <a:gd name="connsiteX6-13" fmla="*/ 211596 w 846384"/>
              <a:gd name="connsiteY6-14" fmla="*/ 435957 h 1709080"/>
              <a:gd name="connsiteX7-15" fmla="*/ 0 w 846384"/>
              <a:gd name="connsiteY7-16" fmla="*/ 435957 h 1709080"/>
              <a:gd name="connsiteX0-17" fmla="*/ 0 w 765454"/>
              <a:gd name="connsiteY0-18" fmla="*/ 435957 h 1709080"/>
              <a:gd name="connsiteX1-19" fmla="*/ 415201 w 765454"/>
              <a:gd name="connsiteY1-20" fmla="*/ 0 h 1709080"/>
              <a:gd name="connsiteX2-21" fmla="*/ 765454 w 765454"/>
              <a:gd name="connsiteY2-22" fmla="*/ 445754 h 1709080"/>
              <a:gd name="connsiteX3-23" fmla="*/ 634788 w 765454"/>
              <a:gd name="connsiteY3-24" fmla="*/ 435957 h 1709080"/>
              <a:gd name="connsiteX4-25" fmla="*/ 634788 w 765454"/>
              <a:gd name="connsiteY4-26" fmla="*/ 1709080 h 1709080"/>
              <a:gd name="connsiteX5-27" fmla="*/ 211596 w 765454"/>
              <a:gd name="connsiteY5-28" fmla="*/ 1709080 h 1709080"/>
              <a:gd name="connsiteX6-29" fmla="*/ 211596 w 765454"/>
              <a:gd name="connsiteY6-30" fmla="*/ 435957 h 1709080"/>
              <a:gd name="connsiteX7-31" fmla="*/ 0 w 765454"/>
              <a:gd name="connsiteY7-32" fmla="*/ 435957 h 1709080"/>
              <a:gd name="connsiteX0-33" fmla="*/ 0 w 765454"/>
              <a:gd name="connsiteY0-34" fmla="*/ 435957 h 1709080"/>
              <a:gd name="connsiteX1-35" fmla="*/ 415201 w 765454"/>
              <a:gd name="connsiteY1-36" fmla="*/ 0 h 1709080"/>
              <a:gd name="connsiteX2-37" fmla="*/ 765454 w 765454"/>
              <a:gd name="connsiteY2-38" fmla="*/ 445754 h 1709080"/>
              <a:gd name="connsiteX3-39" fmla="*/ 619148 w 765454"/>
              <a:gd name="connsiteY3-40" fmla="*/ 442194 h 1709080"/>
              <a:gd name="connsiteX4-41" fmla="*/ 634788 w 765454"/>
              <a:gd name="connsiteY4-42" fmla="*/ 1709080 h 1709080"/>
              <a:gd name="connsiteX5-43" fmla="*/ 211596 w 765454"/>
              <a:gd name="connsiteY5-44" fmla="*/ 1709080 h 1709080"/>
              <a:gd name="connsiteX6-45" fmla="*/ 211596 w 765454"/>
              <a:gd name="connsiteY6-46" fmla="*/ 435957 h 1709080"/>
              <a:gd name="connsiteX7-47" fmla="*/ 0 w 765454"/>
              <a:gd name="connsiteY7-48" fmla="*/ 435957 h 1709080"/>
              <a:gd name="connsiteX0-49" fmla="*/ 0 w 763067"/>
              <a:gd name="connsiteY0-50" fmla="*/ 435957 h 1709080"/>
              <a:gd name="connsiteX1-51" fmla="*/ 415201 w 763067"/>
              <a:gd name="connsiteY1-52" fmla="*/ 0 h 1709080"/>
              <a:gd name="connsiteX2-53" fmla="*/ 763067 w 763067"/>
              <a:gd name="connsiteY2-54" fmla="*/ 456132 h 1709080"/>
              <a:gd name="connsiteX3-55" fmla="*/ 619148 w 763067"/>
              <a:gd name="connsiteY3-56" fmla="*/ 442194 h 1709080"/>
              <a:gd name="connsiteX4-57" fmla="*/ 634788 w 763067"/>
              <a:gd name="connsiteY4-58" fmla="*/ 1709080 h 1709080"/>
              <a:gd name="connsiteX5-59" fmla="*/ 211596 w 763067"/>
              <a:gd name="connsiteY5-60" fmla="*/ 1709080 h 1709080"/>
              <a:gd name="connsiteX6-61" fmla="*/ 211596 w 763067"/>
              <a:gd name="connsiteY6-62" fmla="*/ 435957 h 1709080"/>
              <a:gd name="connsiteX7-63" fmla="*/ 0 w 763067"/>
              <a:gd name="connsiteY7-64" fmla="*/ 435957 h 1709080"/>
              <a:gd name="connsiteX0-65" fmla="*/ 0 w 761386"/>
              <a:gd name="connsiteY0-66" fmla="*/ 435957 h 1709080"/>
              <a:gd name="connsiteX1-67" fmla="*/ 415201 w 761386"/>
              <a:gd name="connsiteY1-68" fmla="*/ 0 h 1709080"/>
              <a:gd name="connsiteX2-69" fmla="*/ 761386 w 761386"/>
              <a:gd name="connsiteY2-70" fmla="*/ 449188 h 1709080"/>
              <a:gd name="connsiteX3-71" fmla="*/ 619148 w 761386"/>
              <a:gd name="connsiteY3-72" fmla="*/ 442194 h 1709080"/>
              <a:gd name="connsiteX4-73" fmla="*/ 634788 w 761386"/>
              <a:gd name="connsiteY4-74" fmla="*/ 1709080 h 1709080"/>
              <a:gd name="connsiteX5-75" fmla="*/ 211596 w 761386"/>
              <a:gd name="connsiteY5-76" fmla="*/ 1709080 h 1709080"/>
              <a:gd name="connsiteX6-77" fmla="*/ 211596 w 761386"/>
              <a:gd name="connsiteY6-78" fmla="*/ 435957 h 1709080"/>
              <a:gd name="connsiteX7-79" fmla="*/ 0 w 761386"/>
              <a:gd name="connsiteY7-80" fmla="*/ 435957 h 1709080"/>
              <a:gd name="connsiteX0-81" fmla="*/ 0 w 761386"/>
              <a:gd name="connsiteY0-82" fmla="*/ 435957 h 1709080"/>
              <a:gd name="connsiteX1-83" fmla="*/ 415201 w 761386"/>
              <a:gd name="connsiteY1-84" fmla="*/ 0 h 1709080"/>
              <a:gd name="connsiteX2-85" fmla="*/ 761386 w 761386"/>
              <a:gd name="connsiteY2-86" fmla="*/ 449188 h 1709080"/>
              <a:gd name="connsiteX3-87" fmla="*/ 618514 w 761386"/>
              <a:gd name="connsiteY3-88" fmla="*/ 449698 h 1709080"/>
              <a:gd name="connsiteX4-89" fmla="*/ 634788 w 761386"/>
              <a:gd name="connsiteY4-90" fmla="*/ 1709080 h 1709080"/>
              <a:gd name="connsiteX5-91" fmla="*/ 211596 w 761386"/>
              <a:gd name="connsiteY5-92" fmla="*/ 1709080 h 1709080"/>
              <a:gd name="connsiteX6-93" fmla="*/ 211596 w 761386"/>
              <a:gd name="connsiteY6-94" fmla="*/ 435957 h 1709080"/>
              <a:gd name="connsiteX7-95" fmla="*/ 0 w 761386"/>
              <a:gd name="connsiteY7-96" fmla="*/ 435957 h 1709080"/>
              <a:gd name="connsiteX0-97" fmla="*/ 0 w 740557"/>
              <a:gd name="connsiteY0-98" fmla="*/ 430912 h 1709080"/>
              <a:gd name="connsiteX1-99" fmla="*/ 394372 w 740557"/>
              <a:gd name="connsiteY1-100" fmla="*/ 0 h 1709080"/>
              <a:gd name="connsiteX2-101" fmla="*/ 740557 w 740557"/>
              <a:gd name="connsiteY2-102" fmla="*/ 449188 h 1709080"/>
              <a:gd name="connsiteX3-103" fmla="*/ 597685 w 740557"/>
              <a:gd name="connsiteY3-104" fmla="*/ 449698 h 1709080"/>
              <a:gd name="connsiteX4-105" fmla="*/ 613959 w 740557"/>
              <a:gd name="connsiteY4-106" fmla="*/ 1709080 h 1709080"/>
              <a:gd name="connsiteX5-107" fmla="*/ 190767 w 740557"/>
              <a:gd name="connsiteY5-108" fmla="*/ 1709080 h 1709080"/>
              <a:gd name="connsiteX6-109" fmla="*/ 190767 w 740557"/>
              <a:gd name="connsiteY6-110" fmla="*/ 435957 h 1709080"/>
              <a:gd name="connsiteX7-111" fmla="*/ 0 w 740557"/>
              <a:gd name="connsiteY7-112" fmla="*/ 430912 h 1709080"/>
              <a:gd name="connsiteX0-113" fmla="*/ 0 w 698899"/>
              <a:gd name="connsiteY0-114" fmla="*/ 420825 h 1709080"/>
              <a:gd name="connsiteX1-115" fmla="*/ 352714 w 698899"/>
              <a:gd name="connsiteY1-116" fmla="*/ 0 h 1709080"/>
              <a:gd name="connsiteX2-117" fmla="*/ 698899 w 698899"/>
              <a:gd name="connsiteY2-118" fmla="*/ 449188 h 1709080"/>
              <a:gd name="connsiteX3-119" fmla="*/ 556027 w 698899"/>
              <a:gd name="connsiteY3-120" fmla="*/ 449698 h 1709080"/>
              <a:gd name="connsiteX4-121" fmla="*/ 572301 w 698899"/>
              <a:gd name="connsiteY4-122" fmla="*/ 1709080 h 1709080"/>
              <a:gd name="connsiteX5-123" fmla="*/ 149109 w 698899"/>
              <a:gd name="connsiteY5-124" fmla="*/ 1709080 h 1709080"/>
              <a:gd name="connsiteX6-125" fmla="*/ 149109 w 698899"/>
              <a:gd name="connsiteY6-126" fmla="*/ 435957 h 1709080"/>
              <a:gd name="connsiteX7-127" fmla="*/ 0 w 698899"/>
              <a:gd name="connsiteY7-128" fmla="*/ 420825 h 1709080"/>
              <a:gd name="connsiteX0-129" fmla="*/ 0 w 742872"/>
              <a:gd name="connsiteY0-130" fmla="*/ 431473 h 1709080"/>
              <a:gd name="connsiteX1-131" fmla="*/ 396687 w 742872"/>
              <a:gd name="connsiteY1-132" fmla="*/ 0 h 1709080"/>
              <a:gd name="connsiteX2-133" fmla="*/ 742872 w 742872"/>
              <a:gd name="connsiteY2-134" fmla="*/ 449188 h 1709080"/>
              <a:gd name="connsiteX3-135" fmla="*/ 600000 w 742872"/>
              <a:gd name="connsiteY3-136" fmla="*/ 449698 h 1709080"/>
              <a:gd name="connsiteX4-137" fmla="*/ 616274 w 742872"/>
              <a:gd name="connsiteY4-138" fmla="*/ 1709080 h 1709080"/>
              <a:gd name="connsiteX5-139" fmla="*/ 193082 w 742872"/>
              <a:gd name="connsiteY5-140" fmla="*/ 1709080 h 1709080"/>
              <a:gd name="connsiteX6-141" fmla="*/ 193082 w 742872"/>
              <a:gd name="connsiteY6-142" fmla="*/ 435957 h 1709080"/>
              <a:gd name="connsiteX7-143" fmla="*/ 0 w 742872"/>
              <a:gd name="connsiteY7-144" fmla="*/ 431473 h 1709080"/>
              <a:gd name="connsiteX0-145" fmla="*/ 0 w 742872"/>
              <a:gd name="connsiteY0-146" fmla="*/ 431473 h 1709080"/>
              <a:gd name="connsiteX1-147" fmla="*/ 396687 w 742872"/>
              <a:gd name="connsiteY1-148" fmla="*/ 0 h 1709080"/>
              <a:gd name="connsiteX2-149" fmla="*/ 742872 w 742872"/>
              <a:gd name="connsiteY2-150" fmla="*/ 449188 h 1709080"/>
              <a:gd name="connsiteX3-151" fmla="*/ 600000 w 742872"/>
              <a:gd name="connsiteY3-152" fmla="*/ 449698 h 1709080"/>
              <a:gd name="connsiteX4-153" fmla="*/ 616274 w 742872"/>
              <a:gd name="connsiteY4-154" fmla="*/ 1709080 h 1709080"/>
              <a:gd name="connsiteX5-155" fmla="*/ 193082 w 742872"/>
              <a:gd name="connsiteY5-156" fmla="*/ 1709080 h 1709080"/>
              <a:gd name="connsiteX6-157" fmla="*/ 154371 w 742872"/>
              <a:gd name="connsiteY6-158" fmla="*/ 437980 h 1709080"/>
              <a:gd name="connsiteX7-159" fmla="*/ 0 w 742872"/>
              <a:gd name="connsiteY7-160" fmla="*/ 431473 h 1709080"/>
              <a:gd name="connsiteX0-161" fmla="*/ 0 w 1101086"/>
              <a:gd name="connsiteY0-162" fmla="*/ 431473 h 1709080"/>
              <a:gd name="connsiteX1-163" fmla="*/ 396687 w 1101086"/>
              <a:gd name="connsiteY1-164" fmla="*/ 0 h 1709080"/>
              <a:gd name="connsiteX2-165" fmla="*/ 742872 w 1101086"/>
              <a:gd name="connsiteY2-166" fmla="*/ 449188 h 1709080"/>
              <a:gd name="connsiteX3-167" fmla="*/ 600000 w 1101086"/>
              <a:gd name="connsiteY3-168" fmla="*/ 449698 h 1709080"/>
              <a:gd name="connsiteX4-169" fmla="*/ 1101086 w 1101086"/>
              <a:gd name="connsiteY4-170" fmla="*/ 1363824 h 1709080"/>
              <a:gd name="connsiteX5-171" fmla="*/ 193082 w 1101086"/>
              <a:gd name="connsiteY5-172" fmla="*/ 1709080 h 1709080"/>
              <a:gd name="connsiteX6-173" fmla="*/ 154371 w 1101086"/>
              <a:gd name="connsiteY6-174" fmla="*/ 437980 h 1709080"/>
              <a:gd name="connsiteX7-175" fmla="*/ 0 w 1101086"/>
              <a:gd name="connsiteY7-176" fmla="*/ 431473 h 1709080"/>
              <a:gd name="connsiteX0-177" fmla="*/ 0 w 1101086"/>
              <a:gd name="connsiteY0-178" fmla="*/ 431473 h 1630579"/>
              <a:gd name="connsiteX1-179" fmla="*/ 396687 w 1101086"/>
              <a:gd name="connsiteY1-180" fmla="*/ 0 h 1630579"/>
              <a:gd name="connsiteX2-181" fmla="*/ 742872 w 1101086"/>
              <a:gd name="connsiteY2-182" fmla="*/ 449188 h 1630579"/>
              <a:gd name="connsiteX3-183" fmla="*/ 600000 w 1101086"/>
              <a:gd name="connsiteY3-184" fmla="*/ 449698 h 1630579"/>
              <a:gd name="connsiteX4-185" fmla="*/ 1101086 w 1101086"/>
              <a:gd name="connsiteY4-186" fmla="*/ 1363824 h 1630579"/>
              <a:gd name="connsiteX5-187" fmla="*/ 355380 w 1101086"/>
              <a:gd name="connsiteY5-188" fmla="*/ 1630579 h 1630579"/>
              <a:gd name="connsiteX6-189" fmla="*/ 154371 w 1101086"/>
              <a:gd name="connsiteY6-190" fmla="*/ 437980 h 1630579"/>
              <a:gd name="connsiteX7-191" fmla="*/ 0 w 1101086"/>
              <a:gd name="connsiteY7-192" fmla="*/ 431473 h 1630579"/>
              <a:gd name="connsiteX0-193" fmla="*/ 0 w 1101086"/>
              <a:gd name="connsiteY0-194" fmla="*/ 431473 h 1682647"/>
              <a:gd name="connsiteX1-195" fmla="*/ 396687 w 1101086"/>
              <a:gd name="connsiteY1-196" fmla="*/ 0 h 1682647"/>
              <a:gd name="connsiteX2-197" fmla="*/ 742872 w 1101086"/>
              <a:gd name="connsiteY2-198" fmla="*/ 449188 h 1682647"/>
              <a:gd name="connsiteX3-199" fmla="*/ 600000 w 1101086"/>
              <a:gd name="connsiteY3-200" fmla="*/ 449698 h 1682647"/>
              <a:gd name="connsiteX4-201" fmla="*/ 1101086 w 1101086"/>
              <a:gd name="connsiteY4-202" fmla="*/ 1363824 h 1682647"/>
              <a:gd name="connsiteX5-203" fmla="*/ 211183 w 1101086"/>
              <a:gd name="connsiteY5-204" fmla="*/ 1682647 h 1682647"/>
              <a:gd name="connsiteX6-205" fmla="*/ 154371 w 1101086"/>
              <a:gd name="connsiteY6-206" fmla="*/ 437980 h 1682647"/>
              <a:gd name="connsiteX7-207" fmla="*/ 0 w 1101086"/>
              <a:gd name="connsiteY7-208" fmla="*/ 431473 h 1682647"/>
              <a:gd name="connsiteX0-209" fmla="*/ 0 w 1101086"/>
              <a:gd name="connsiteY0-210" fmla="*/ 431473 h 1682647"/>
              <a:gd name="connsiteX1-211" fmla="*/ 396687 w 1101086"/>
              <a:gd name="connsiteY1-212" fmla="*/ 0 h 1682647"/>
              <a:gd name="connsiteX2-213" fmla="*/ 742872 w 1101086"/>
              <a:gd name="connsiteY2-214" fmla="*/ 449188 h 1682647"/>
              <a:gd name="connsiteX3-215" fmla="*/ 600000 w 1101086"/>
              <a:gd name="connsiteY3-216" fmla="*/ 449698 h 1682647"/>
              <a:gd name="connsiteX4-217" fmla="*/ 1101086 w 1101086"/>
              <a:gd name="connsiteY4-218" fmla="*/ 1363824 h 1682647"/>
              <a:gd name="connsiteX5-219" fmla="*/ 211183 w 1101086"/>
              <a:gd name="connsiteY5-220" fmla="*/ 1682647 h 1682647"/>
              <a:gd name="connsiteX6-221" fmla="*/ 154371 w 1101086"/>
              <a:gd name="connsiteY6-222" fmla="*/ 437980 h 1682647"/>
              <a:gd name="connsiteX7-223" fmla="*/ 0 w 1101086"/>
              <a:gd name="connsiteY7-224" fmla="*/ 431473 h 1682647"/>
              <a:gd name="connsiteX0-225" fmla="*/ 0 w 1101086"/>
              <a:gd name="connsiteY0-226" fmla="*/ 431473 h 1682647"/>
              <a:gd name="connsiteX1-227" fmla="*/ 396687 w 1101086"/>
              <a:gd name="connsiteY1-228" fmla="*/ 0 h 1682647"/>
              <a:gd name="connsiteX2-229" fmla="*/ 742872 w 1101086"/>
              <a:gd name="connsiteY2-230" fmla="*/ 449188 h 1682647"/>
              <a:gd name="connsiteX3-231" fmla="*/ 600000 w 1101086"/>
              <a:gd name="connsiteY3-232" fmla="*/ 449698 h 1682647"/>
              <a:gd name="connsiteX4-233" fmla="*/ 1101086 w 1101086"/>
              <a:gd name="connsiteY4-234" fmla="*/ 1363824 h 1682647"/>
              <a:gd name="connsiteX5-235" fmla="*/ 211183 w 1101086"/>
              <a:gd name="connsiteY5-236" fmla="*/ 1682647 h 1682647"/>
              <a:gd name="connsiteX6-237" fmla="*/ 154371 w 1101086"/>
              <a:gd name="connsiteY6-238" fmla="*/ 437980 h 1682647"/>
              <a:gd name="connsiteX7-239" fmla="*/ 0 w 1101086"/>
              <a:gd name="connsiteY7-240" fmla="*/ 431473 h 1682647"/>
              <a:gd name="connsiteX0-241" fmla="*/ 0 w 1101086"/>
              <a:gd name="connsiteY0-242" fmla="*/ 431473 h 1682647"/>
              <a:gd name="connsiteX1-243" fmla="*/ 396687 w 1101086"/>
              <a:gd name="connsiteY1-244" fmla="*/ 0 h 1682647"/>
              <a:gd name="connsiteX2-245" fmla="*/ 742872 w 1101086"/>
              <a:gd name="connsiteY2-246" fmla="*/ 449188 h 1682647"/>
              <a:gd name="connsiteX3-247" fmla="*/ 600000 w 1101086"/>
              <a:gd name="connsiteY3-248" fmla="*/ 449698 h 1682647"/>
              <a:gd name="connsiteX4-249" fmla="*/ 1101086 w 1101086"/>
              <a:gd name="connsiteY4-250" fmla="*/ 1363824 h 1682647"/>
              <a:gd name="connsiteX5-251" fmla="*/ 211183 w 1101086"/>
              <a:gd name="connsiteY5-252" fmla="*/ 1682647 h 1682647"/>
              <a:gd name="connsiteX6-253" fmla="*/ 154371 w 1101086"/>
              <a:gd name="connsiteY6-254" fmla="*/ 437980 h 1682647"/>
              <a:gd name="connsiteX7-255" fmla="*/ 0 w 1101086"/>
              <a:gd name="connsiteY7-256" fmla="*/ 431473 h 1682647"/>
              <a:gd name="connsiteX0-257" fmla="*/ 0 w 1101086"/>
              <a:gd name="connsiteY0-258" fmla="*/ 431473 h 1682647"/>
              <a:gd name="connsiteX1-259" fmla="*/ 396687 w 1101086"/>
              <a:gd name="connsiteY1-260" fmla="*/ 0 h 1682647"/>
              <a:gd name="connsiteX2-261" fmla="*/ 742872 w 1101086"/>
              <a:gd name="connsiteY2-262" fmla="*/ 449188 h 1682647"/>
              <a:gd name="connsiteX3-263" fmla="*/ 600000 w 1101086"/>
              <a:gd name="connsiteY3-264" fmla="*/ 449698 h 1682647"/>
              <a:gd name="connsiteX4-265" fmla="*/ 1101086 w 1101086"/>
              <a:gd name="connsiteY4-266" fmla="*/ 1363824 h 1682647"/>
              <a:gd name="connsiteX5-267" fmla="*/ 211183 w 1101086"/>
              <a:gd name="connsiteY5-268" fmla="*/ 1682647 h 1682647"/>
              <a:gd name="connsiteX6-269" fmla="*/ 154371 w 1101086"/>
              <a:gd name="connsiteY6-270" fmla="*/ 437980 h 1682647"/>
              <a:gd name="connsiteX7-271" fmla="*/ 0 w 1101086"/>
              <a:gd name="connsiteY7-272" fmla="*/ 431473 h 1682647"/>
              <a:gd name="connsiteX0-273" fmla="*/ 0 w 1101086"/>
              <a:gd name="connsiteY0-274" fmla="*/ 431473 h 1682647"/>
              <a:gd name="connsiteX1-275" fmla="*/ 396687 w 1101086"/>
              <a:gd name="connsiteY1-276" fmla="*/ 0 h 1682647"/>
              <a:gd name="connsiteX2-277" fmla="*/ 742872 w 1101086"/>
              <a:gd name="connsiteY2-278" fmla="*/ 449188 h 1682647"/>
              <a:gd name="connsiteX3-279" fmla="*/ 600000 w 1101086"/>
              <a:gd name="connsiteY3-280" fmla="*/ 449698 h 1682647"/>
              <a:gd name="connsiteX4-281" fmla="*/ 1101086 w 1101086"/>
              <a:gd name="connsiteY4-282" fmla="*/ 1363824 h 1682647"/>
              <a:gd name="connsiteX5-283" fmla="*/ 211183 w 1101086"/>
              <a:gd name="connsiteY5-284" fmla="*/ 1682647 h 1682647"/>
              <a:gd name="connsiteX6-285" fmla="*/ 154371 w 1101086"/>
              <a:gd name="connsiteY6-286" fmla="*/ 437980 h 1682647"/>
              <a:gd name="connsiteX7-287" fmla="*/ 0 w 1101086"/>
              <a:gd name="connsiteY7-288" fmla="*/ 431473 h 1682647"/>
              <a:gd name="connsiteX0-289" fmla="*/ 0 w 1101086"/>
              <a:gd name="connsiteY0-290" fmla="*/ 431473 h 1682647"/>
              <a:gd name="connsiteX1-291" fmla="*/ 396687 w 1101086"/>
              <a:gd name="connsiteY1-292" fmla="*/ 0 h 1682647"/>
              <a:gd name="connsiteX2-293" fmla="*/ 742872 w 1101086"/>
              <a:gd name="connsiteY2-294" fmla="*/ 449188 h 1682647"/>
              <a:gd name="connsiteX3-295" fmla="*/ 600000 w 1101086"/>
              <a:gd name="connsiteY3-296" fmla="*/ 449698 h 1682647"/>
              <a:gd name="connsiteX4-297" fmla="*/ 1101086 w 1101086"/>
              <a:gd name="connsiteY4-298" fmla="*/ 1363824 h 1682647"/>
              <a:gd name="connsiteX5-299" fmla="*/ 211183 w 1101086"/>
              <a:gd name="connsiteY5-300" fmla="*/ 1682647 h 1682647"/>
              <a:gd name="connsiteX6-301" fmla="*/ 154371 w 1101086"/>
              <a:gd name="connsiteY6-302" fmla="*/ 437980 h 1682647"/>
              <a:gd name="connsiteX7-303" fmla="*/ 0 w 1101086"/>
              <a:gd name="connsiteY7-304" fmla="*/ 431473 h 1682647"/>
              <a:gd name="connsiteX0-305" fmla="*/ 0 w 877005"/>
              <a:gd name="connsiteY0-306" fmla="*/ 431473 h 1682647"/>
              <a:gd name="connsiteX1-307" fmla="*/ 396687 w 877005"/>
              <a:gd name="connsiteY1-308" fmla="*/ 0 h 1682647"/>
              <a:gd name="connsiteX2-309" fmla="*/ 742872 w 877005"/>
              <a:gd name="connsiteY2-310" fmla="*/ 449188 h 1682647"/>
              <a:gd name="connsiteX3-311" fmla="*/ 600000 w 877005"/>
              <a:gd name="connsiteY3-312" fmla="*/ 449698 h 1682647"/>
              <a:gd name="connsiteX4-313" fmla="*/ 877005 w 877005"/>
              <a:gd name="connsiteY4-314" fmla="*/ 1445049 h 1682647"/>
              <a:gd name="connsiteX5-315" fmla="*/ 211183 w 877005"/>
              <a:gd name="connsiteY5-316" fmla="*/ 1682647 h 1682647"/>
              <a:gd name="connsiteX6-317" fmla="*/ 154371 w 877005"/>
              <a:gd name="connsiteY6-318" fmla="*/ 437980 h 1682647"/>
              <a:gd name="connsiteX7-319" fmla="*/ 0 w 877005"/>
              <a:gd name="connsiteY7-320" fmla="*/ 431473 h 1682647"/>
              <a:gd name="connsiteX0-321" fmla="*/ 0 w 917020"/>
              <a:gd name="connsiteY0-322" fmla="*/ 431473 h 1682647"/>
              <a:gd name="connsiteX1-323" fmla="*/ 396687 w 917020"/>
              <a:gd name="connsiteY1-324" fmla="*/ 0 h 1682647"/>
              <a:gd name="connsiteX2-325" fmla="*/ 742872 w 917020"/>
              <a:gd name="connsiteY2-326" fmla="*/ 449188 h 1682647"/>
              <a:gd name="connsiteX3-327" fmla="*/ 600000 w 917020"/>
              <a:gd name="connsiteY3-328" fmla="*/ 449698 h 1682647"/>
              <a:gd name="connsiteX4-329" fmla="*/ 917020 w 917020"/>
              <a:gd name="connsiteY4-330" fmla="*/ 1430545 h 1682647"/>
              <a:gd name="connsiteX5-331" fmla="*/ 211183 w 917020"/>
              <a:gd name="connsiteY5-332" fmla="*/ 1682647 h 1682647"/>
              <a:gd name="connsiteX6-333" fmla="*/ 154371 w 917020"/>
              <a:gd name="connsiteY6-334" fmla="*/ 437980 h 1682647"/>
              <a:gd name="connsiteX7-335" fmla="*/ 0 w 917020"/>
              <a:gd name="connsiteY7-336" fmla="*/ 431473 h 1682647"/>
              <a:gd name="connsiteX0-337" fmla="*/ 0 w 917020"/>
              <a:gd name="connsiteY0-338" fmla="*/ 431473 h 1682647"/>
              <a:gd name="connsiteX1-339" fmla="*/ 396687 w 917020"/>
              <a:gd name="connsiteY1-340" fmla="*/ 0 h 1682647"/>
              <a:gd name="connsiteX2-341" fmla="*/ 742872 w 917020"/>
              <a:gd name="connsiteY2-342" fmla="*/ 449188 h 1682647"/>
              <a:gd name="connsiteX3-343" fmla="*/ 600000 w 917020"/>
              <a:gd name="connsiteY3-344" fmla="*/ 449698 h 1682647"/>
              <a:gd name="connsiteX4-345" fmla="*/ 917020 w 917020"/>
              <a:gd name="connsiteY4-346" fmla="*/ 1430545 h 1682647"/>
              <a:gd name="connsiteX5-347" fmla="*/ 211183 w 917020"/>
              <a:gd name="connsiteY5-348" fmla="*/ 1682647 h 1682647"/>
              <a:gd name="connsiteX6-349" fmla="*/ 154371 w 917020"/>
              <a:gd name="connsiteY6-350" fmla="*/ 437980 h 1682647"/>
              <a:gd name="connsiteX7-351" fmla="*/ 0 w 917020"/>
              <a:gd name="connsiteY7-352" fmla="*/ 431473 h 1682647"/>
              <a:gd name="connsiteX0-353" fmla="*/ 0 w 1001946"/>
              <a:gd name="connsiteY0-354" fmla="*/ 431473 h 1682647"/>
              <a:gd name="connsiteX1-355" fmla="*/ 396687 w 1001946"/>
              <a:gd name="connsiteY1-356" fmla="*/ 0 h 1682647"/>
              <a:gd name="connsiteX2-357" fmla="*/ 742872 w 1001946"/>
              <a:gd name="connsiteY2-358" fmla="*/ 449188 h 1682647"/>
              <a:gd name="connsiteX3-359" fmla="*/ 600000 w 1001946"/>
              <a:gd name="connsiteY3-360" fmla="*/ 449698 h 1682647"/>
              <a:gd name="connsiteX4-361" fmla="*/ 1001946 w 1001946"/>
              <a:gd name="connsiteY4-362" fmla="*/ 1554234 h 1682647"/>
              <a:gd name="connsiteX5-363" fmla="*/ 211183 w 1001946"/>
              <a:gd name="connsiteY5-364" fmla="*/ 1682647 h 1682647"/>
              <a:gd name="connsiteX6-365" fmla="*/ 154371 w 1001946"/>
              <a:gd name="connsiteY6-366" fmla="*/ 437980 h 1682647"/>
              <a:gd name="connsiteX7-367" fmla="*/ 0 w 1001946"/>
              <a:gd name="connsiteY7-368" fmla="*/ 431473 h 1682647"/>
              <a:gd name="connsiteX0-369" fmla="*/ 0 w 1001946"/>
              <a:gd name="connsiteY0-370" fmla="*/ 431473 h 1854320"/>
              <a:gd name="connsiteX1-371" fmla="*/ 396687 w 1001946"/>
              <a:gd name="connsiteY1-372" fmla="*/ 0 h 1854320"/>
              <a:gd name="connsiteX2-373" fmla="*/ 742872 w 1001946"/>
              <a:gd name="connsiteY2-374" fmla="*/ 449188 h 1854320"/>
              <a:gd name="connsiteX3-375" fmla="*/ 600000 w 1001946"/>
              <a:gd name="connsiteY3-376" fmla="*/ 449698 h 1854320"/>
              <a:gd name="connsiteX4-377" fmla="*/ 1001946 w 1001946"/>
              <a:gd name="connsiteY4-378" fmla="*/ 1554234 h 1854320"/>
              <a:gd name="connsiteX5-379" fmla="*/ 300410 w 1001946"/>
              <a:gd name="connsiteY5-380" fmla="*/ 1854320 h 1854320"/>
              <a:gd name="connsiteX6-381" fmla="*/ 154371 w 1001946"/>
              <a:gd name="connsiteY6-382" fmla="*/ 437980 h 1854320"/>
              <a:gd name="connsiteX7-383" fmla="*/ 0 w 1001946"/>
              <a:gd name="connsiteY7-384" fmla="*/ 431473 h 1854320"/>
              <a:gd name="connsiteX0-385" fmla="*/ 0 w 1001946"/>
              <a:gd name="connsiteY0-386" fmla="*/ 431473 h 1891590"/>
              <a:gd name="connsiteX1-387" fmla="*/ 396687 w 1001946"/>
              <a:gd name="connsiteY1-388" fmla="*/ 0 h 1891590"/>
              <a:gd name="connsiteX2-389" fmla="*/ 742872 w 1001946"/>
              <a:gd name="connsiteY2-390" fmla="*/ 449188 h 1891590"/>
              <a:gd name="connsiteX3-391" fmla="*/ 600000 w 1001946"/>
              <a:gd name="connsiteY3-392" fmla="*/ 449698 h 1891590"/>
              <a:gd name="connsiteX4-393" fmla="*/ 1001946 w 1001946"/>
              <a:gd name="connsiteY4-394" fmla="*/ 1554234 h 1891590"/>
              <a:gd name="connsiteX5-395" fmla="*/ 317815 w 1001946"/>
              <a:gd name="connsiteY5-396" fmla="*/ 1891590 h 1891590"/>
              <a:gd name="connsiteX6-397" fmla="*/ 154371 w 1001946"/>
              <a:gd name="connsiteY6-398" fmla="*/ 437980 h 1891590"/>
              <a:gd name="connsiteX7-399" fmla="*/ 0 w 1001946"/>
              <a:gd name="connsiteY7-400" fmla="*/ 431473 h 1891590"/>
              <a:gd name="connsiteX0-401" fmla="*/ 0 w 1001946"/>
              <a:gd name="connsiteY0-402" fmla="*/ 431473 h 1928860"/>
              <a:gd name="connsiteX1-403" fmla="*/ 396687 w 1001946"/>
              <a:gd name="connsiteY1-404" fmla="*/ 0 h 1928860"/>
              <a:gd name="connsiteX2-405" fmla="*/ 742872 w 1001946"/>
              <a:gd name="connsiteY2-406" fmla="*/ 449188 h 1928860"/>
              <a:gd name="connsiteX3-407" fmla="*/ 600000 w 1001946"/>
              <a:gd name="connsiteY3-408" fmla="*/ 449698 h 1928860"/>
              <a:gd name="connsiteX4-409" fmla="*/ 1001946 w 1001946"/>
              <a:gd name="connsiteY4-410" fmla="*/ 1554234 h 1928860"/>
              <a:gd name="connsiteX5-411" fmla="*/ 335220 w 1001946"/>
              <a:gd name="connsiteY5-412" fmla="*/ 1928860 h 1928860"/>
              <a:gd name="connsiteX6-413" fmla="*/ 154371 w 1001946"/>
              <a:gd name="connsiteY6-414" fmla="*/ 437980 h 1928860"/>
              <a:gd name="connsiteX7-415" fmla="*/ 0 w 1001946"/>
              <a:gd name="connsiteY7-416" fmla="*/ 431473 h 19288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001946" h="1928860">
                <a:moveTo>
                  <a:pt x="0" y="431473"/>
                </a:moveTo>
                <a:lnTo>
                  <a:pt x="396687" y="0"/>
                </a:lnTo>
                <a:lnTo>
                  <a:pt x="742872" y="449188"/>
                </a:lnTo>
                <a:lnTo>
                  <a:pt x="600000" y="449698"/>
                </a:lnTo>
                <a:cubicBezTo>
                  <a:pt x="574978" y="639207"/>
                  <a:pt x="789572" y="1346868"/>
                  <a:pt x="1001946" y="1554234"/>
                </a:cubicBezTo>
                <a:lnTo>
                  <a:pt x="335220" y="1928860"/>
                </a:lnTo>
                <a:cubicBezTo>
                  <a:pt x="265523" y="1739419"/>
                  <a:pt x="-1847" y="1030036"/>
                  <a:pt x="154371" y="437980"/>
                </a:cubicBezTo>
                <a:lnTo>
                  <a:pt x="0" y="431473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alpha val="0"/>
                </a:schemeClr>
              </a:gs>
              <a:gs pos="100000">
                <a:schemeClr val="accent5"/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 dirty="0"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8" name="椭圆 127"/>
          <p:cNvSpPr/>
          <p:nvPr/>
        </p:nvSpPr>
        <p:spPr>
          <a:xfrm>
            <a:off x="5005705" y="5518150"/>
            <a:ext cx="570865" cy="570865"/>
          </a:xfrm>
          <a:prstGeom prst="ellipse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9" name="Oval 6+"/>
          <p:cNvSpPr/>
          <p:nvPr/>
        </p:nvSpPr>
        <p:spPr>
          <a:xfrm>
            <a:off x="4920615" y="5433060"/>
            <a:ext cx="741045" cy="741045"/>
          </a:xfrm>
          <a:prstGeom prst="ellipse">
            <a:avLst/>
          </a:prstGeom>
          <a:noFill/>
          <a:ln w="6350">
            <a:solidFill>
              <a:schemeClr val="accent5"/>
            </a:solidFill>
            <a:prstDash val="dash"/>
          </a:ln>
          <a:effectLst>
            <a:outerShdw blurRad="411480" dist="123444" dir="5400000" sx="108000" sy="108000" algn="ctr" rotWithShape="0">
              <a:srgbClr val="24396B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0" name="椭圆 129"/>
          <p:cNvSpPr/>
          <p:nvPr>
            <p:custDataLst>
              <p:tags r:id="rId6"/>
            </p:custDataLst>
          </p:nvPr>
        </p:nvSpPr>
        <p:spPr>
          <a:xfrm flipH="1">
            <a:off x="5504815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1" name="椭圆 130"/>
          <p:cNvSpPr/>
          <p:nvPr/>
        </p:nvSpPr>
        <p:spPr>
          <a:xfrm flipH="1">
            <a:off x="5527040" y="5497195"/>
            <a:ext cx="36830" cy="3683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2" name="椭圆 131"/>
          <p:cNvSpPr/>
          <p:nvPr>
            <p:custDataLst>
              <p:tags r:id="rId7"/>
            </p:custDataLst>
          </p:nvPr>
        </p:nvSpPr>
        <p:spPr>
          <a:xfrm flipH="1">
            <a:off x="5255260" y="538988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3" name="椭圆 132"/>
          <p:cNvSpPr/>
          <p:nvPr/>
        </p:nvSpPr>
        <p:spPr>
          <a:xfrm flipH="1">
            <a:off x="5277485" y="5412105"/>
            <a:ext cx="36830" cy="3683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4" name="椭圆 133"/>
          <p:cNvSpPr/>
          <p:nvPr>
            <p:custDataLst>
              <p:tags r:id="rId8"/>
            </p:custDataLst>
          </p:nvPr>
        </p:nvSpPr>
        <p:spPr>
          <a:xfrm flipH="1">
            <a:off x="5017770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5" name="椭圆 134"/>
          <p:cNvSpPr/>
          <p:nvPr/>
        </p:nvSpPr>
        <p:spPr>
          <a:xfrm flipH="1">
            <a:off x="5039995" y="5497195"/>
            <a:ext cx="36830" cy="3683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989830" y="517779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激励奖金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4455160" y="531749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专享资金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975860" y="5618798"/>
            <a:ext cx="635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预算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支出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5549900" y="531749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专用通道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6948805" y="5518150"/>
            <a:ext cx="570865" cy="570865"/>
          </a:xfrm>
          <a:prstGeom prst="ellipse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2" name="Oval 6+"/>
          <p:cNvSpPr/>
          <p:nvPr/>
        </p:nvSpPr>
        <p:spPr>
          <a:xfrm>
            <a:off x="6863715" y="5433060"/>
            <a:ext cx="741045" cy="741045"/>
          </a:xfrm>
          <a:prstGeom prst="ellipse">
            <a:avLst/>
          </a:prstGeom>
          <a:noFill/>
          <a:ln w="6350">
            <a:solidFill>
              <a:schemeClr val="accent5"/>
            </a:solidFill>
            <a:prstDash val="dash"/>
          </a:ln>
          <a:effectLst>
            <a:outerShdw blurRad="411480" dist="123444" dir="5400000" sx="108000" sy="108000" algn="ctr" rotWithShape="0">
              <a:srgbClr val="24396B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3" name="椭圆 142"/>
          <p:cNvSpPr/>
          <p:nvPr>
            <p:custDataLst>
              <p:tags r:id="rId9"/>
            </p:custDataLst>
          </p:nvPr>
        </p:nvSpPr>
        <p:spPr>
          <a:xfrm flipH="1">
            <a:off x="7448550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4" name="椭圆 143"/>
          <p:cNvSpPr/>
          <p:nvPr/>
        </p:nvSpPr>
        <p:spPr>
          <a:xfrm flipH="1">
            <a:off x="7470775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5" name="椭圆 144"/>
          <p:cNvSpPr/>
          <p:nvPr>
            <p:custDataLst>
              <p:tags r:id="rId10"/>
            </p:custDataLst>
          </p:nvPr>
        </p:nvSpPr>
        <p:spPr>
          <a:xfrm flipH="1">
            <a:off x="7198995" y="538988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6" name="椭圆 145"/>
          <p:cNvSpPr/>
          <p:nvPr/>
        </p:nvSpPr>
        <p:spPr>
          <a:xfrm flipH="1">
            <a:off x="7221220" y="541210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7" name="椭圆 146"/>
          <p:cNvSpPr/>
          <p:nvPr>
            <p:custDataLst>
              <p:tags r:id="rId11"/>
            </p:custDataLst>
          </p:nvPr>
        </p:nvSpPr>
        <p:spPr>
          <a:xfrm flipH="1">
            <a:off x="6960870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8" name="椭圆 147"/>
          <p:cNvSpPr/>
          <p:nvPr/>
        </p:nvSpPr>
        <p:spPr>
          <a:xfrm flipH="1">
            <a:off x="6983095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923405" y="51384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培训计划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6389370" y="52781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人才储备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6918960" y="5618798"/>
            <a:ext cx="635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人才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培养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7484110" y="52781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轮岗机制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4" name="椭圆 153"/>
          <p:cNvSpPr/>
          <p:nvPr/>
        </p:nvSpPr>
        <p:spPr>
          <a:xfrm>
            <a:off x="8892540" y="5518150"/>
            <a:ext cx="570865" cy="570865"/>
          </a:xfrm>
          <a:prstGeom prst="ellipse">
            <a:avLst/>
          </a:prstGeom>
          <a:solidFill>
            <a:schemeClr val="accent5"/>
          </a:solidFill>
          <a:ln w="38100"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b="1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5" name="Oval 6+"/>
          <p:cNvSpPr/>
          <p:nvPr/>
        </p:nvSpPr>
        <p:spPr>
          <a:xfrm>
            <a:off x="8807450" y="5433060"/>
            <a:ext cx="741045" cy="741045"/>
          </a:xfrm>
          <a:prstGeom prst="ellipse">
            <a:avLst/>
          </a:prstGeom>
          <a:noFill/>
          <a:ln w="6350">
            <a:solidFill>
              <a:schemeClr val="accent5"/>
            </a:solidFill>
            <a:prstDash val="dash"/>
          </a:ln>
          <a:effectLst>
            <a:outerShdw blurRad="411480" dist="123444" dir="5400000" sx="108000" sy="108000" algn="ctr" rotWithShape="0">
              <a:srgbClr val="24396B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6" name="椭圆 155"/>
          <p:cNvSpPr/>
          <p:nvPr>
            <p:custDataLst>
              <p:tags r:id="rId12"/>
            </p:custDataLst>
          </p:nvPr>
        </p:nvSpPr>
        <p:spPr>
          <a:xfrm flipH="1">
            <a:off x="9391650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7" name="椭圆 156"/>
          <p:cNvSpPr/>
          <p:nvPr/>
        </p:nvSpPr>
        <p:spPr>
          <a:xfrm flipH="1">
            <a:off x="9413875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8" name="椭圆 157"/>
          <p:cNvSpPr/>
          <p:nvPr>
            <p:custDataLst>
              <p:tags r:id="rId13"/>
            </p:custDataLst>
          </p:nvPr>
        </p:nvSpPr>
        <p:spPr>
          <a:xfrm flipH="1">
            <a:off x="9142095" y="538988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9" name="椭圆 158"/>
          <p:cNvSpPr/>
          <p:nvPr/>
        </p:nvSpPr>
        <p:spPr>
          <a:xfrm flipH="1">
            <a:off x="9164320" y="541210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0" name="椭圆 159"/>
          <p:cNvSpPr/>
          <p:nvPr>
            <p:custDataLst>
              <p:tags r:id="rId14"/>
            </p:custDataLst>
          </p:nvPr>
        </p:nvSpPr>
        <p:spPr>
          <a:xfrm flipH="1">
            <a:off x="8903970" y="547497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37160" algn="ctr" rotWithShape="0">
              <a:srgbClr val="A84031">
                <a:lumMod val="50000"/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1" name="椭圆 160"/>
          <p:cNvSpPr/>
          <p:nvPr/>
        </p:nvSpPr>
        <p:spPr>
          <a:xfrm flipH="1">
            <a:off x="8926195" y="5497195"/>
            <a:ext cx="36830" cy="3683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2000" b="1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8694420" y="5138420"/>
            <a:ext cx="979805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先进企业体验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8321675" y="528447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培训演讲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868410" y="5618798"/>
            <a:ext cx="635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转型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/>
            <a:r>
              <a:rPr lang="zh-CN" altLang="en-US" sz="9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</a:t>
            </a:r>
            <a:endParaRPr lang="zh-CN" altLang="en-US" sz="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9427210" y="5278120"/>
            <a:ext cx="635000" cy="238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0" u="none" strike="noStrike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书籍阅读</a:t>
            </a:r>
            <a:endParaRPr lang="zh-CN" altLang="en-US" sz="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7" name="菱形 166"/>
          <p:cNvSpPr/>
          <p:nvPr/>
        </p:nvSpPr>
        <p:spPr>
          <a:xfrm>
            <a:off x="3471545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任意多边形: 形状 729"/>
          <p:cNvSpPr/>
          <p:nvPr/>
        </p:nvSpPr>
        <p:spPr>
          <a:xfrm>
            <a:off x="347154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任意多边形: 形状 730"/>
          <p:cNvSpPr/>
          <p:nvPr/>
        </p:nvSpPr>
        <p:spPr>
          <a:xfrm flipH="1">
            <a:off x="362839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3451860" y="3839210"/>
            <a:ext cx="3352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</a:t>
            </a:r>
            <a:endParaRPr lang="en-US" altLang="zh-CN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菱形 170"/>
          <p:cNvSpPr/>
          <p:nvPr/>
        </p:nvSpPr>
        <p:spPr>
          <a:xfrm>
            <a:off x="4608195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2" name="任意多边形: 形状 14"/>
          <p:cNvSpPr/>
          <p:nvPr/>
        </p:nvSpPr>
        <p:spPr>
          <a:xfrm>
            <a:off x="460819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任意多边形: 形状 15"/>
          <p:cNvSpPr/>
          <p:nvPr/>
        </p:nvSpPr>
        <p:spPr>
          <a:xfrm flipH="1">
            <a:off x="476504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4366260" y="3839210"/>
            <a:ext cx="78105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菱形 174"/>
          <p:cNvSpPr/>
          <p:nvPr/>
        </p:nvSpPr>
        <p:spPr>
          <a:xfrm>
            <a:off x="5745480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6" name="任意多边形: 形状 20"/>
          <p:cNvSpPr/>
          <p:nvPr/>
        </p:nvSpPr>
        <p:spPr>
          <a:xfrm>
            <a:off x="574548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任意多边形: 形状 26"/>
          <p:cNvSpPr/>
          <p:nvPr/>
        </p:nvSpPr>
        <p:spPr>
          <a:xfrm flipH="1">
            <a:off x="590232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5620385" y="3839210"/>
            <a:ext cx="5486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物联网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菱形 178"/>
          <p:cNvSpPr/>
          <p:nvPr/>
        </p:nvSpPr>
        <p:spPr>
          <a:xfrm>
            <a:off x="6882765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0" name="任意多边形: 形状 37"/>
          <p:cNvSpPr/>
          <p:nvPr/>
        </p:nvSpPr>
        <p:spPr>
          <a:xfrm>
            <a:off x="688276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任意多边形: 形状 38"/>
          <p:cNvSpPr/>
          <p:nvPr/>
        </p:nvSpPr>
        <p:spPr>
          <a:xfrm flipH="1">
            <a:off x="703961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757035" y="3839210"/>
            <a:ext cx="5486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菱形 182"/>
          <p:cNvSpPr/>
          <p:nvPr/>
        </p:nvSpPr>
        <p:spPr>
          <a:xfrm>
            <a:off x="8020050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4" name="任意多边形: 形状 50"/>
          <p:cNvSpPr/>
          <p:nvPr/>
        </p:nvSpPr>
        <p:spPr>
          <a:xfrm>
            <a:off x="802005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任意多边形: 形状 51"/>
          <p:cNvSpPr/>
          <p:nvPr/>
        </p:nvSpPr>
        <p:spPr>
          <a:xfrm flipH="1">
            <a:off x="817689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7894955" y="3839210"/>
            <a:ext cx="5467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AR/VR</a:t>
            </a:r>
            <a:endParaRPr lang="en-US" altLang="zh-CN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菱形 186"/>
          <p:cNvSpPr/>
          <p:nvPr/>
        </p:nvSpPr>
        <p:spPr>
          <a:xfrm>
            <a:off x="9157335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8" name="任意多边形: 形状 56"/>
          <p:cNvSpPr/>
          <p:nvPr/>
        </p:nvSpPr>
        <p:spPr>
          <a:xfrm>
            <a:off x="915733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" name="任意多边形: 形状 57"/>
          <p:cNvSpPr/>
          <p:nvPr/>
        </p:nvSpPr>
        <p:spPr>
          <a:xfrm flipH="1">
            <a:off x="931418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8999855" y="3839210"/>
            <a:ext cx="5486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" name="菱形 190"/>
          <p:cNvSpPr/>
          <p:nvPr/>
        </p:nvSpPr>
        <p:spPr>
          <a:xfrm>
            <a:off x="10294620" y="4049395"/>
            <a:ext cx="317500" cy="132715"/>
          </a:xfrm>
          <a:prstGeom prst="diamond">
            <a:avLst/>
          </a:prstGeom>
          <a:solidFill>
            <a:schemeClr val="accent1"/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2" name="任意多边形: 形状 62"/>
          <p:cNvSpPr/>
          <p:nvPr/>
        </p:nvSpPr>
        <p:spPr>
          <a:xfrm>
            <a:off x="10294620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任意多边形: 形状 448"/>
          <p:cNvSpPr/>
          <p:nvPr/>
        </p:nvSpPr>
        <p:spPr>
          <a:xfrm flipH="1">
            <a:off x="10451465" y="4116070"/>
            <a:ext cx="157480" cy="114935"/>
          </a:xfrm>
          <a:custGeom>
            <a:avLst/>
            <a:gdLst>
              <a:gd name="connsiteX0" fmla="*/ 0 w 274320"/>
              <a:gd name="connsiteY0" fmla="*/ 0 h 304800"/>
              <a:gd name="connsiteX1" fmla="*/ 0 w 274320"/>
              <a:gd name="connsiteY1" fmla="*/ 135255 h 304800"/>
              <a:gd name="connsiteX2" fmla="*/ 274320 w 274320"/>
              <a:gd name="connsiteY2" fmla="*/ 304800 h 304800"/>
              <a:gd name="connsiteX3" fmla="*/ 274320 w 274320"/>
              <a:gd name="connsiteY3" fmla="*/ 175260 h 304800"/>
              <a:gd name="connsiteX4" fmla="*/ 0 w 274320"/>
              <a:gd name="connsiteY4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" h="304800">
                <a:moveTo>
                  <a:pt x="0" y="0"/>
                </a:moveTo>
                <a:lnTo>
                  <a:pt x="0" y="135255"/>
                </a:lnTo>
                <a:lnTo>
                  <a:pt x="274320" y="304800"/>
                </a:lnTo>
                <a:lnTo>
                  <a:pt x="274320" y="175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175" cmpd="sng">
            <a:solidFill>
              <a:srgbClr val="FFFFFF">
                <a:lumMod val="75000"/>
              </a:srgbClr>
            </a:solidFill>
            <a:prstDash val="solid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0107295" y="3839210"/>
            <a:ext cx="6718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量子计算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1683385" y="4370070"/>
            <a:ext cx="1558925" cy="479425"/>
          </a:xfrm>
          <a:prstGeom prst="rect">
            <a:avLst/>
          </a:prstGeom>
          <a:noFill/>
          <a:ln w="11430">
            <a:solidFill>
              <a:schemeClr val="accent1"/>
            </a:solidFill>
            <a:prstDash val="dash"/>
          </a:ln>
          <a:effectLst/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6" name="直接连接符 195"/>
          <p:cNvCxnSpPr/>
          <p:nvPr/>
        </p:nvCxnSpPr>
        <p:spPr>
          <a:xfrm flipH="1">
            <a:off x="10643235" y="2355215"/>
            <a:ext cx="65659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cxnSp>
        <p:nvCxnSpPr>
          <p:cNvPr id="197" name="直接连接符 196"/>
          <p:cNvCxnSpPr/>
          <p:nvPr/>
        </p:nvCxnSpPr>
        <p:spPr>
          <a:xfrm>
            <a:off x="9503410" y="2355215"/>
            <a:ext cx="65659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rgbClr val="24396B"/>
          </a:lnRef>
          <a:fillRef idx="0">
            <a:srgbClr val="24396B"/>
          </a:fillRef>
          <a:effectRef idx="0">
            <a:srgbClr val="24396B"/>
          </a:effectRef>
          <a:fontRef idx="minor">
            <a:srgbClr val="000000"/>
          </a:fontRef>
        </p:style>
      </p:cxnSp>
      <p:sp>
        <p:nvSpPr>
          <p:cNvPr id="15" name="椭圆 14"/>
          <p:cNvSpPr/>
          <p:nvPr/>
        </p:nvSpPr>
        <p:spPr>
          <a:xfrm>
            <a:off x="2886710" y="6196330"/>
            <a:ext cx="936625" cy="154305"/>
          </a:xfrm>
          <a:prstGeom prst="ellipse">
            <a:avLst/>
          </a:prstGeom>
          <a:solidFill>
            <a:schemeClr val="accent5">
              <a:alpha val="21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832350" y="6196330"/>
            <a:ext cx="936625" cy="154305"/>
          </a:xfrm>
          <a:prstGeom prst="ellipse">
            <a:avLst/>
          </a:prstGeom>
          <a:solidFill>
            <a:schemeClr val="accent5">
              <a:alpha val="21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777990" y="6196330"/>
            <a:ext cx="936625" cy="154305"/>
          </a:xfrm>
          <a:prstGeom prst="ellipse">
            <a:avLst/>
          </a:prstGeom>
          <a:solidFill>
            <a:schemeClr val="accent5">
              <a:alpha val="21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8723630" y="6196330"/>
            <a:ext cx="936625" cy="154305"/>
          </a:xfrm>
          <a:prstGeom prst="ellipse">
            <a:avLst/>
          </a:prstGeom>
          <a:solidFill>
            <a:schemeClr val="accent5">
              <a:alpha val="21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7" name="图片 26"/>
            <p:cNvPicPr>
              <a:picLocks noChangeAspect="1"/>
            </p:cNvPicPr>
            <p:nvPr userDrawn="1"/>
          </p:nvPicPr>
          <p:blipFill>
            <a:blip r:embed="rId1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数字化价值效益模型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cxnSp>
        <p:nvCxnSpPr>
          <p:cNvPr id="129" name="直线连接符 128"/>
          <p:cNvCxnSpPr/>
          <p:nvPr>
            <p:custDataLst>
              <p:tags r:id="rId3"/>
            </p:custDataLst>
          </p:nvPr>
        </p:nvCxnSpPr>
        <p:spPr>
          <a:xfrm flipV="1">
            <a:off x="304165" y="1097915"/>
            <a:ext cx="5782945" cy="789940"/>
          </a:xfrm>
          <a:prstGeom prst="line">
            <a:avLst/>
          </a:prstGeom>
          <a:noFill/>
          <a:ln w="63500" cap="rnd" cmpd="sng" algn="ctr">
            <a:gradFill>
              <a:gsLst>
                <a:gs pos="1000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74" name="直线连接符 133"/>
          <p:cNvCxnSpPr/>
          <p:nvPr>
            <p:custDataLst>
              <p:tags r:id="rId4"/>
            </p:custDataLst>
          </p:nvPr>
        </p:nvCxnSpPr>
        <p:spPr>
          <a:xfrm flipH="1" flipV="1">
            <a:off x="6096635" y="1095375"/>
            <a:ext cx="5715000" cy="788670"/>
          </a:xfrm>
          <a:prstGeom prst="line">
            <a:avLst/>
          </a:prstGeom>
          <a:noFill/>
          <a:ln w="63500" cap="rnd" cmpd="sng" algn="ctr">
            <a:gradFill>
              <a:gsLst>
                <a:gs pos="100000">
                  <a:schemeClr val="accent1"/>
                </a:gs>
                <a:gs pos="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round/>
          </a:ln>
          <a:effectLst/>
        </p:spPr>
      </p:cxnSp>
      <p:sp>
        <p:nvSpPr>
          <p:cNvPr id="75" name="矩形 74"/>
          <p:cNvSpPr/>
          <p:nvPr>
            <p:custDataLst>
              <p:tags r:id="rId5"/>
            </p:custDataLst>
          </p:nvPr>
        </p:nvSpPr>
        <p:spPr>
          <a:xfrm>
            <a:off x="4869180" y="1448435"/>
            <a:ext cx="2348230" cy="439420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数字化价值效益模型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78" name="直线箭头连接符 135"/>
          <p:cNvCxnSpPr/>
          <p:nvPr>
            <p:custDataLst>
              <p:tags r:id="rId6"/>
            </p:custDataLst>
          </p:nvPr>
        </p:nvCxnSpPr>
        <p:spPr>
          <a:xfrm>
            <a:off x="304165" y="1979930"/>
            <a:ext cx="11452225" cy="0"/>
          </a:xfrm>
          <a:prstGeom prst="straightConnector1">
            <a:avLst/>
          </a:prstGeom>
          <a:ln w="158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rgbClr val="1C4274"/>
          </a:lnRef>
          <a:fillRef idx="0">
            <a:srgbClr val="1C4274"/>
          </a:fillRef>
          <a:effectRef idx="0">
            <a:srgbClr val="1C4274"/>
          </a:effectRef>
          <a:fontRef idx="minor">
            <a:srgbClr val="000000"/>
          </a:fontRef>
        </p:style>
      </p:cxnSp>
      <p:sp>
        <p:nvSpPr>
          <p:cNvPr id="85" name="textbox 524"/>
          <p:cNvSpPr/>
          <p:nvPr>
            <p:custDataLst>
              <p:tags r:id="rId7"/>
            </p:custDataLst>
          </p:nvPr>
        </p:nvSpPr>
        <p:spPr>
          <a:xfrm>
            <a:off x="304165" y="2103120"/>
            <a:ext cx="11506835" cy="614680"/>
          </a:xfrm>
          <a:prstGeom prst="rect">
            <a:avLst/>
          </a:prstGeom>
          <a:solidFill>
            <a:schemeClr val="accent1">
              <a:lumMod val="20000"/>
              <a:lumOff val="80000"/>
              <a:alpha val="7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482600" y="2239010"/>
            <a:ext cx="112522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圆角矩形 89"/>
          <p:cNvSpPr/>
          <p:nvPr>
            <p:custDataLst>
              <p:tags r:id="rId8"/>
            </p:custDataLst>
          </p:nvPr>
        </p:nvSpPr>
        <p:spPr>
          <a:xfrm>
            <a:off x="1894205" y="2239010"/>
            <a:ext cx="113538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存储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1" name="圆角矩形 90"/>
          <p:cNvSpPr/>
          <p:nvPr>
            <p:custDataLst>
              <p:tags r:id="rId9"/>
            </p:custDataLst>
          </p:nvPr>
        </p:nvSpPr>
        <p:spPr>
          <a:xfrm>
            <a:off x="3315970" y="2239010"/>
            <a:ext cx="1136015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圆角矩形 94"/>
          <p:cNvSpPr/>
          <p:nvPr>
            <p:custDataLst>
              <p:tags r:id="rId10"/>
            </p:custDataLst>
          </p:nvPr>
        </p:nvSpPr>
        <p:spPr>
          <a:xfrm>
            <a:off x="4738370" y="2239010"/>
            <a:ext cx="1136015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加工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11"/>
            </p:custDataLst>
          </p:nvPr>
        </p:nvSpPr>
        <p:spPr>
          <a:xfrm>
            <a:off x="6160770" y="2239010"/>
            <a:ext cx="1136015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传输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12"/>
            </p:custDataLst>
          </p:nvPr>
        </p:nvSpPr>
        <p:spPr>
          <a:xfrm>
            <a:off x="7583170" y="2239010"/>
            <a:ext cx="114046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13"/>
            </p:custDataLst>
          </p:nvPr>
        </p:nvSpPr>
        <p:spPr>
          <a:xfrm>
            <a:off x="9010015" y="2239010"/>
            <a:ext cx="113411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公开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圆角矩形 102"/>
          <p:cNvSpPr/>
          <p:nvPr>
            <p:custDataLst>
              <p:tags r:id="rId14"/>
            </p:custDataLst>
          </p:nvPr>
        </p:nvSpPr>
        <p:spPr>
          <a:xfrm>
            <a:off x="10430510" y="2239010"/>
            <a:ext cx="1134110" cy="3429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删除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textbox 524"/>
          <p:cNvSpPr/>
          <p:nvPr>
            <p:custDataLst>
              <p:tags r:id="rId15"/>
            </p:custDataLst>
          </p:nvPr>
        </p:nvSpPr>
        <p:spPr>
          <a:xfrm>
            <a:off x="297815" y="5078730"/>
            <a:ext cx="11513185" cy="155702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mpd="sng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vert="horz" wrap="square" lIns="0" tIns="0" rIns="0" bIns="0" anchor="ctr" anchorCtr="0"/>
          <a:lstStyle/>
          <a:p>
            <a:pPr algn="ctr" rtl="0" eaLnBrk="0"/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524"/>
          <p:cNvSpPr/>
          <p:nvPr>
            <p:custDataLst>
              <p:tags r:id="rId16"/>
            </p:custDataLst>
          </p:nvPr>
        </p:nvSpPr>
        <p:spPr>
          <a:xfrm>
            <a:off x="482600" y="5450840"/>
            <a:ext cx="2546350" cy="100393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0" tIns="0" rIns="0" bIns="0" anchor="ctr" anchorCtr="0"/>
          <a:lstStyle/>
          <a:p>
            <a:pPr algn="ctr" eaLnBrk="0"/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Text Box 1030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17880" y="5644515"/>
            <a:ext cx="1875790" cy="81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多维度地圈定人群，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进行精准营销；        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送代测试优化放效果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圆角矩形 209"/>
          <p:cNvSpPr/>
          <p:nvPr>
            <p:custDataLst>
              <p:tags r:id="rId18"/>
            </p:custDataLst>
          </p:nvPr>
        </p:nvSpPr>
        <p:spPr>
          <a:xfrm>
            <a:off x="1098868" y="5247640"/>
            <a:ext cx="1313815" cy="342900"/>
          </a:xfrm>
          <a:prstGeom prst="roundRect">
            <a:avLst/>
          </a:prstGeom>
          <a:gradFill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生产运营优化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524"/>
          <p:cNvSpPr/>
          <p:nvPr>
            <p:custDataLst>
              <p:tags r:id="rId19"/>
            </p:custDataLst>
          </p:nvPr>
        </p:nvSpPr>
        <p:spPr>
          <a:xfrm>
            <a:off x="3328035" y="5450840"/>
            <a:ext cx="2546350" cy="100393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0" tIns="0" rIns="0" bIns="0" anchor="ctr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Text Box 1030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663315" y="5644515"/>
            <a:ext cx="1875790" cy="81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lnSpc>
                <a:spcPct val="13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结合先锋程度，</a:t>
            </a:r>
            <a:endParaRPr lang="zh-CN" altLang="en-US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1" hangingPunct="1">
              <a:lnSpc>
                <a:spcPct val="130000"/>
              </a:lnSpc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进行针对性新品趋势洞察和推广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9" name="圆角矩形 38"/>
          <p:cNvSpPr/>
          <p:nvPr>
            <p:custDataLst>
              <p:tags r:id="rId21"/>
            </p:custDataLst>
          </p:nvPr>
        </p:nvSpPr>
        <p:spPr>
          <a:xfrm>
            <a:off x="3944303" y="5247640"/>
            <a:ext cx="1313815" cy="342900"/>
          </a:xfrm>
          <a:prstGeom prst="roundRect">
            <a:avLst/>
          </a:prstGeom>
          <a:gradFill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产品服务创新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textbox 524"/>
          <p:cNvSpPr/>
          <p:nvPr>
            <p:custDataLst>
              <p:tags r:id="rId22"/>
            </p:custDataLst>
          </p:nvPr>
        </p:nvSpPr>
        <p:spPr>
          <a:xfrm>
            <a:off x="6173470" y="5450840"/>
            <a:ext cx="2546350" cy="100393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0" tIns="0" rIns="0" bIns="0" anchor="ctr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Text Box 1030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508750" y="5644515"/>
            <a:ext cx="1875790" cy="81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结合货物价值偏好，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优化已有产品的人货匹配策略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24"/>
            </p:custDataLst>
          </p:nvPr>
        </p:nvSpPr>
        <p:spPr>
          <a:xfrm>
            <a:off x="6789738" y="5247640"/>
            <a:ext cx="1313815" cy="342900"/>
          </a:xfrm>
          <a:prstGeom prst="roundRect">
            <a:avLst/>
          </a:prstGeom>
          <a:gradFill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品牌提升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textbox 524"/>
          <p:cNvSpPr/>
          <p:nvPr>
            <p:custDataLst>
              <p:tags r:id="rId25"/>
            </p:custDataLst>
          </p:nvPr>
        </p:nvSpPr>
        <p:spPr>
          <a:xfrm>
            <a:off x="9018905" y="5450840"/>
            <a:ext cx="2546350" cy="100393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0" tIns="0" rIns="0" bIns="0" anchor="ctr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Text Box 1030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354185" y="5644515"/>
            <a:ext cx="1875790" cy="810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优化洞察用户的能力，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进行精准运营，提升用户终身价值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6" name="圆角矩形 45"/>
          <p:cNvSpPr/>
          <p:nvPr>
            <p:custDataLst>
              <p:tags r:id="rId27"/>
            </p:custDataLst>
          </p:nvPr>
        </p:nvSpPr>
        <p:spPr>
          <a:xfrm>
            <a:off x="9635173" y="5247640"/>
            <a:ext cx="1313815" cy="342900"/>
          </a:xfrm>
          <a:prstGeom prst="roundRect">
            <a:avLst/>
          </a:prstGeom>
          <a:gradFill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业态转变</a:t>
            </a:r>
            <a:endParaRPr lang="zh-CN" altLang="en-US" sz="14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5" name="textbox 524"/>
          <p:cNvSpPr/>
          <p:nvPr>
            <p:custDataLst>
              <p:tags r:id="rId28"/>
            </p:custDataLst>
          </p:nvPr>
        </p:nvSpPr>
        <p:spPr>
          <a:xfrm>
            <a:off x="297815" y="2823210"/>
            <a:ext cx="11513185" cy="212852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0"/>
                </a:schemeClr>
              </a:gs>
              <a:gs pos="97000">
                <a:schemeClr val="accent5">
                  <a:lumMod val="20000"/>
                  <a:lumOff val="80000"/>
                  <a:alpha val="10000"/>
                </a:schemeClr>
              </a:gs>
              <a:gs pos="50000">
                <a:schemeClr val="accent5">
                  <a:lumMod val="20000"/>
                  <a:lumOff val="80000"/>
                  <a:alpha val="50000"/>
                </a:schemeClr>
              </a:gs>
            </a:gsLst>
            <a:lin ang="0" scaled="0"/>
          </a:gra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0" name="Disclaimer"/>
          <p:cNvSpPr/>
          <p:nvPr>
            <p:custDataLst>
              <p:tags r:id="rId29"/>
            </p:custDataLst>
          </p:nvPr>
        </p:nvSpPr>
        <p:spPr>
          <a:xfrm>
            <a:off x="10825480" y="3410585"/>
            <a:ext cx="877570" cy="879475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95000"/>
                  </a:srgbClr>
                </a:solidFill>
              </a14:hiddenFill>
            </a:ext>
          </a:extLst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组织意义</a:t>
            </a:r>
            <a:endParaRPr kumimoji="0" lang="en-US" altLang="zh-CN" sz="1100" b="1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u="none" strike="noStrike" kern="120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从电商运营向全链路人群运营延展</a:t>
            </a:r>
            <a:endParaRPr kumimoji="0" lang="zh-CN" altLang="en-US" sz="1100" u="none" strike="noStrike" kern="120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Text Box 1030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105785" y="3000375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私域生态优势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Text Box 1030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074035" y="3411855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配送模式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Text Box 1030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2909570" y="3863975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所见非实物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Text Box 1030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3254375" y="4362450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时间成本低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206240" y="3168015"/>
            <a:ext cx="2195195" cy="1438910"/>
            <a:chOff x="6354" y="4949"/>
            <a:chExt cx="3457" cy="2266"/>
          </a:xfrm>
        </p:grpSpPr>
        <p:sp>
          <p:nvSpPr>
            <p:cNvPr id="19" name="不完整圆 100"/>
            <p:cNvSpPr/>
            <p:nvPr>
              <p:custDataLst>
                <p:tags r:id="rId34"/>
              </p:custDataLst>
            </p:nvPr>
          </p:nvSpPr>
          <p:spPr>
            <a:xfrm>
              <a:off x="6354" y="5024"/>
              <a:ext cx="2118" cy="2116"/>
            </a:xfrm>
            <a:prstGeom prst="pie">
              <a:avLst>
                <a:gd name="adj1" fmla="val 5449339"/>
                <a:gd name="adj2" fmla="val 16200000"/>
              </a:avLst>
            </a:prstGeom>
            <a:noFill/>
            <a:ln w="13716" cap="flat" cmpd="sng" algn="ctr">
              <a:gradFill flip="none" rotWithShape="1">
                <a:gsLst>
                  <a:gs pos="3000">
                    <a:schemeClr val="accent5">
                      <a:lumMod val="60000"/>
                      <a:lumOff val="40000"/>
                      <a:alpha val="0"/>
                    </a:schemeClr>
                  </a:gs>
                  <a:gs pos="11000">
                    <a:schemeClr val="accent5">
                      <a:lumMod val="60000"/>
                      <a:lumOff val="40000"/>
                    </a:schemeClr>
                  </a:gs>
                </a:gsLst>
                <a:lin ang="10800000" scaled="1"/>
                <a:tileRect/>
              </a:gradFill>
              <a:prstDash val="dash"/>
              <a:miter lim="800000"/>
            </a:ln>
            <a:effectLst/>
          </p:spPr>
          <p:txBody>
            <a:bodyPr lIns="98755" tIns="49378" rIns="98755" bIns="49378" rtlCol="0" anchor="ctr"/>
            <a:lstStyle/>
            <a:p>
              <a:pPr algn="ctr"/>
              <a:endParaRPr lang="zh-CN" altLang="en-US" sz="1945" dirty="0">
                <a:solidFill>
                  <a:schemeClr val="accent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6875" y="4949"/>
              <a:ext cx="2936" cy="2266"/>
              <a:chOff x="6875" y="4949"/>
              <a:chExt cx="2936" cy="2266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7248" y="4949"/>
                <a:ext cx="150" cy="2266"/>
                <a:chOff x="7248" y="4949"/>
                <a:chExt cx="150" cy="2266"/>
              </a:xfrm>
            </p:grpSpPr>
            <p:sp>
              <p:nvSpPr>
                <p:cNvPr id="121" name="椭圆 120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7248" y="4949"/>
                  <a:ext cx="135" cy="135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26" name="椭圆 125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7263" y="7080"/>
                  <a:ext cx="135" cy="135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1905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141" name="Text Box 1030"/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6875" y="5333"/>
                <a:ext cx="2936" cy="13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1C4274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6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线上</a:t>
                </a:r>
                <a:endParaRPr lang="zh-CN" altLang="en-US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chemeClr val="accent5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触点</a:t>
                </a:r>
                <a:endParaRPr lang="zh-CN" altLang="en-US" b="1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4" name="不完整圆 100"/>
          <p:cNvSpPr/>
          <p:nvPr>
            <p:custDataLst>
              <p:tags r:id="rId38"/>
            </p:custDataLst>
          </p:nvPr>
        </p:nvSpPr>
        <p:spPr>
          <a:xfrm rot="10800000">
            <a:off x="6525895" y="3215640"/>
            <a:ext cx="1344930" cy="1343660"/>
          </a:xfrm>
          <a:prstGeom prst="pie">
            <a:avLst>
              <a:gd name="adj1" fmla="val 5449339"/>
              <a:gd name="adj2" fmla="val 16200000"/>
            </a:avLst>
          </a:prstGeom>
          <a:noFill/>
          <a:ln w="13716" cap="flat" cmpd="sng" algn="ctr">
            <a:gradFill flip="none" rotWithShape="1">
              <a:gsLst>
                <a:gs pos="3000">
                  <a:schemeClr val="accent5">
                    <a:lumMod val="60000"/>
                    <a:lumOff val="40000"/>
                    <a:alpha val="0"/>
                  </a:schemeClr>
                </a:gs>
                <a:gs pos="11000">
                  <a:schemeClr val="accent5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prstDash val="dash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chemeClr val="accent1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9" name="Text Box 1030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909435" y="3459480"/>
            <a:ext cx="77470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</a:t>
            </a:r>
            <a:endParaRPr lang="zh-CN" altLang="en-US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</a:t>
            </a:r>
            <a:endParaRPr lang="zh-CN" altLang="en-US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Text Box 1030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353050" y="4258945"/>
            <a:ext cx="1508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合规数据资产</a:t>
            </a:r>
            <a:endParaRPr lang="zh-CN" altLang="en-US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2" name="上箭头 24"/>
          <p:cNvSpPr/>
          <p:nvPr>
            <p:custDataLst>
              <p:tags r:id="rId41"/>
            </p:custDataLst>
          </p:nvPr>
        </p:nvSpPr>
        <p:spPr>
          <a:xfrm rot="16200000">
            <a:off x="5910580" y="3406140"/>
            <a:ext cx="219710" cy="845820"/>
          </a:xfrm>
          <a:prstGeom prst="upArrow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上箭头 24"/>
          <p:cNvSpPr/>
          <p:nvPr>
            <p:custDataLst>
              <p:tags r:id="rId42"/>
            </p:custDataLst>
          </p:nvPr>
        </p:nvSpPr>
        <p:spPr>
          <a:xfrm rot="16200000" flipV="1">
            <a:off x="5909945" y="3185795"/>
            <a:ext cx="219710" cy="845820"/>
          </a:xfrm>
          <a:prstGeom prst="upArrow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Text Box 1030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49265" y="3067685"/>
            <a:ext cx="99822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引流线下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Box 1030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51170" y="3898900"/>
            <a:ext cx="186436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沉淀到私域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Box 1030"/>
          <p:cNvSpPr txBox="1"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7942580" y="2990850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实物购物体验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Box 1030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8107680" y="3416935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自提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到店模式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Box 1030"/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8154670" y="3872230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所见即实物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Box 1030"/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8019415" y="4371975"/>
            <a:ext cx="18643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42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时间成本高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上箭头 24"/>
          <p:cNvSpPr/>
          <p:nvPr>
            <p:custDataLst>
              <p:tags r:id="rId49"/>
            </p:custDataLst>
          </p:nvPr>
        </p:nvSpPr>
        <p:spPr>
          <a:xfrm flipV="1">
            <a:off x="5883910" y="4719320"/>
            <a:ext cx="323215" cy="359410"/>
          </a:xfrm>
          <a:prstGeom prst="upArrow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252" name="直线连接符 50"/>
          <p:cNvCxnSpPr/>
          <p:nvPr>
            <p:custDataLst>
              <p:tags r:id="rId50"/>
            </p:custDataLst>
          </p:nvPr>
        </p:nvCxnSpPr>
        <p:spPr>
          <a:xfrm flipH="1">
            <a:off x="7252335" y="3194050"/>
            <a:ext cx="690245" cy="3810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sp>
        <p:nvSpPr>
          <p:cNvPr id="280" name="三角形 19"/>
          <p:cNvSpPr/>
          <p:nvPr>
            <p:custDataLst>
              <p:tags r:id="rId51"/>
            </p:custDataLst>
          </p:nvPr>
        </p:nvSpPr>
        <p:spPr>
          <a:xfrm rot="10800000">
            <a:off x="10144125" y="3797300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三角形 20"/>
          <p:cNvSpPr/>
          <p:nvPr>
            <p:custDataLst>
              <p:tags r:id="rId52"/>
            </p:custDataLst>
          </p:nvPr>
        </p:nvSpPr>
        <p:spPr>
          <a:xfrm rot="13074567">
            <a:off x="9924415" y="4472940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弧 61"/>
          <p:cNvSpPr/>
          <p:nvPr>
            <p:custDataLst>
              <p:tags r:id="rId53"/>
            </p:custDataLst>
          </p:nvPr>
        </p:nvSpPr>
        <p:spPr>
          <a:xfrm flipH="1">
            <a:off x="1896745" y="2962275"/>
            <a:ext cx="1788795" cy="1989455"/>
          </a:xfrm>
          <a:prstGeom prst="arc">
            <a:avLst>
              <a:gd name="adj1" fmla="val 16870261"/>
              <a:gd name="adj2" fmla="val 4621400"/>
            </a:avLst>
          </a:prstGeom>
          <a:noFill/>
          <a:ln w="13716" cap="flat" cmpd="sng" algn="ctr">
            <a:gradFill flip="none" rotWithShape="1">
              <a:gsLst>
                <a:gs pos="8000">
                  <a:schemeClr val="accent5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prstDash val="dash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8" name="三角形 68"/>
          <p:cNvSpPr/>
          <p:nvPr>
            <p:custDataLst>
              <p:tags r:id="rId54"/>
            </p:custDataLst>
          </p:nvPr>
        </p:nvSpPr>
        <p:spPr>
          <a:xfrm rot="8379606" flipH="1">
            <a:off x="2148205" y="4631055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0" name="直线连接符 97"/>
          <p:cNvCxnSpPr/>
          <p:nvPr>
            <p:custDataLst>
              <p:tags r:id="rId55"/>
            </p:custDataLst>
          </p:nvPr>
        </p:nvCxnSpPr>
        <p:spPr>
          <a:xfrm flipV="1">
            <a:off x="4133850" y="3211195"/>
            <a:ext cx="640080" cy="4445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51" name="直线连接符 97"/>
          <p:cNvCxnSpPr/>
          <p:nvPr>
            <p:custDataLst>
              <p:tags r:id="rId56"/>
            </p:custDataLst>
          </p:nvPr>
        </p:nvCxnSpPr>
        <p:spPr>
          <a:xfrm flipV="1">
            <a:off x="3828415" y="3637915"/>
            <a:ext cx="448945" cy="2540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52" name="直线连接符 97"/>
          <p:cNvCxnSpPr/>
          <p:nvPr>
            <p:custDataLst>
              <p:tags r:id="rId57"/>
            </p:custDataLst>
          </p:nvPr>
        </p:nvCxnSpPr>
        <p:spPr>
          <a:xfrm flipV="1">
            <a:off x="3809365" y="4088130"/>
            <a:ext cx="448945" cy="2540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53" name="直线连接符 97"/>
          <p:cNvCxnSpPr/>
          <p:nvPr>
            <p:custDataLst>
              <p:tags r:id="rId58"/>
            </p:custDataLst>
          </p:nvPr>
        </p:nvCxnSpPr>
        <p:spPr>
          <a:xfrm flipV="1">
            <a:off x="4191635" y="4559300"/>
            <a:ext cx="640080" cy="4445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sp>
        <p:nvSpPr>
          <p:cNvPr id="354" name="三角形 65"/>
          <p:cNvSpPr/>
          <p:nvPr>
            <p:custDataLst>
              <p:tags r:id="rId59"/>
            </p:custDataLst>
          </p:nvPr>
        </p:nvSpPr>
        <p:spPr>
          <a:xfrm rot="13978339" flipH="1">
            <a:off x="2271395" y="3021965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5" name="三角形 66"/>
          <p:cNvSpPr/>
          <p:nvPr>
            <p:custDataLst>
              <p:tags r:id="rId60"/>
            </p:custDataLst>
          </p:nvPr>
        </p:nvSpPr>
        <p:spPr>
          <a:xfrm rot="11459271" flipH="1">
            <a:off x="1847850" y="3729990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6" name="矩形: 圆角 114"/>
          <p:cNvSpPr/>
          <p:nvPr>
            <p:custDataLst>
              <p:tags r:id="rId61"/>
            </p:custDataLst>
          </p:nvPr>
        </p:nvSpPr>
        <p:spPr>
          <a:xfrm flipH="1">
            <a:off x="1394460" y="3307080"/>
            <a:ext cx="1021715" cy="289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algn="l" hangingPunct="0">
              <a:buClrTx/>
              <a:buSzTx/>
              <a:buFontTx/>
            </a:pPr>
            <a:endParaRPr lang="zh-CN" altLang="en-US" dirty="0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7" name="Object60"/>
          <p:cNvSpPr/>
          <p:nvPr>
            <p:custDataLst>
              <p:tags r:id="rId62"/>
            </p:custDataLst>
          </p:nvPr>
        </p:nvSpPr>
        <p:spPr>
          <a:xfrm flipH="1">
            <a:off x="1500505" y="3369310"/>
            <a:ext cx="785495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/>
            <a:r>
              <a:rPr lang="zh-CN" altLang="en-US" sz="1050" dirty="0" err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消费转化</a:t>
            </a:r>
            <a:endParaRPr lang="zh-CN" altLang="en-US" sz="1050" dirty="0" err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" name="矩形: 圆角 114"/>
          <p:cNvSpPr/>
          <p:nvPr>
            <p:custDataLst>
              <p:tags r:id="rId63"/>
            </p:custDataLst>
          </p:nvPr>
        </p:nvSpPr>
        <p:spPr>
          <a:xfrm flipH="1">
            <a:off x="1409065" y="4077970"/>
            <a:ext cx="1021715" cy="289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hangingPunct="0"/>
            <a:endParaRPr lang="zh-CN" altLang="en-US" dirty="0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9" name="Object60"/>
          <p:cNvSpPr/>
          <p:nvPr>
            <p:custDataLst>
              <p:tags r:id="rId64"/>
            </p:custDataLst>
          </p:nvPr>
        </p:nvSpPr>
        <p:spPr>
          <a:xfrm flipH="1">
            <a:off x="1517015" y="4158615"/>
            <a:ext cx="785495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精细运营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0" name="弧 61"/>
          <p:cNvSpPr/>
          <p:nvPr>
            <p:custDataLst>
              <p:tags r:id="rId65"/>
            </p:custDataLst>
          </p:nvPr>
        </p:nvSpPr>
        <p:spPr>
          <a:xfrm>
            <a:off x="8159115" y="2919730"/>
            <a:ext cx="2061210" cy="1989455"/>
          </a:xfrm>
          <a:prstGeom prst="arc">
            <a:avLst>
              <a:gd name="adj1" fmla="val 16870261"/>
              <a:gd name="adj2" fmla="val 4621400"/>
            </a:avLst>
          </a:prstGeom>
          <a:noFill/>
          <a:ln w="13716" cap="flat" cmpd="sng" algn="ctr"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4000">
                  <a:schemeClr val="accent5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prstDash val="dash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61" name="三角形 18"/>
          <p:cNvSpPr/>
          <p:nvPr>
            <p:custDataLst>
              <p:tags r:id="rId66"/>
            </p:custDataLst>
          </p:nvPr>
        </p:nvSpPr>
        <p:spPr>
          <a:xfrm rot="8701660">
            <a:off x="9857740" y="3139440"/>
            <a:ext cx="127635" cy="144145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3" name="直线连接符 97"/>
          <p:cNvCxnSpPr/>
          <p:nvPr>
            <p:custDataLst>
              <p:tags r:id="rId67"/>
            </p:custDataLst>
          </p:nvPr>
        </p:nvCxnSpPr>
        <p:spPr>
          <a:xfrm flipH="1">
            <a:off x="7818120" y="3638550"/>
            <a:ext cx="344170" cy="1905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64" name="直线连接符 97"/>
          <p:cNvCxnSpPr/>
          <p:nvPr>
            <p:custDataLst>
              <p:tags r:id="rId68"/>
            </p:custDataLst>
          </p:nvPr>
        </p:nvCxnSpPr>
        <p:spPr>
          <a:xfrm flipH="1">
            <a:off x="7833995" y="4109085"/>
            <a:ext cx="344170" cy="1905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65" name="直线连接符 50"/>
          <p:cNvCxnSpPr>
            <a:stCxn id="31" idx="1"/>
            <a:endCxn id="143" idx="6"/>
          </p:cNvCxnSpPr>
          <p:nvPr>
            <p:custDataLst>
              <p:tags r:id="rId69"/>
            </p:custDataLst>
          </p:nvPr>
        </p:nvCxnSpPr>
        <p:spPr>
          <a:xfrm flipH="1">
            <a:off x="7303135" y="4556125"/>
            <a:ext cx="716280" cy="8255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headEnd type="triangle"/>
          </a:ln>
          <a:effectLst/>
        </p:spPr>
      </p:cxnSp>
      <p:cxnSp>
        <p:nvCxnSpPr>
          <p:cNvPr id="366" name="直线箭头连接符 156"/>
          <p:cNvCxnSpPr/>
          <p:nvPr>
            <p:custDataLst>
              <p:tags r:id="rId70"/>
            </p:custDataLst>
          </p:nvPr>
        </p:nvCxnSpPr>
        <p:spPr>
          <a:xfrm>
            <a:off x="793750" y="2929890"/>
            <a:ext cx="0" cy="475615"/>
          </a:xfrm>
          <a:prstGeom prst="straightConnector1">
            <a:avLst/>
          </a:prstGeom>
          <a:noFill/>
          <a:ln w="63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367" name="Disclaimer"/>
          <p:cNvSpPr/>
          <p:nvPr>
            <p:custDataLst>
              <p:tags r:id="rId71"/>
            </p:custDataLst>
          </p:nvPr>
        </p:nvSpPr>
        <p:spPr>
          <a:xfrm>
            <a:off x="398145" y="3391535"/>
            <a:ext cx="877570" cy="879475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spAutoFit/>
          </a:bodyPr>
          <a:lstStyle/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 b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组织意义</a:t>
            </a:r>
            <a:endParaRPr lang="zh-CN" altLang="en-US" sz="110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10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从电商运营向全链路人群运营延展</a:t>
            </a:r>
            <a:endParaRPr lang="zh-CN" altLang="en-US" sz="110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8" name="矩形: 圆角 114"/>
          <p:cNvSpPr/>
          <p:nvPr>
            <p:custDataLst>
              <p:tags r:id="rId72"/>
            </p:custDataLst>
          </p:nvPr>
        </p:nvSpPr>
        <p:spPr>
          <a:xfrm flipH="1">
            <a:off x="9650730" y="4046855"/>
            <a:ext cx="1021715" cy="289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hangingPunct="0"/>
            <a:endParaRPr lang="zh-CN" altLang="en-US" dirty="0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9" name="Object60"/>
          <p:cNvSpPr/>
          <p:nvPr>
            <p:custDataLst>
              <p:tags r:id="rId73"/>
            </p:custDataLst>
          </p:nvPr>
        </p:nvSpPr>
        <p:spPr>
          <a:xfrm flipH="1">
            <a:off x="9736455" y="4097655"/>
            <a:ext cx="890905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私域触达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0" name="矩形: 圆角 114"/>
          <p:cNvSpPr/>
          <p:nvPr>
            <p:custDataLst>
              <p:tags r:id="rId74"/>
            </p:custDataLst>
          </p:nvPr>
        </p:nvSpPr>
        <p:spPr>
          <a:xfrm flipH="1">
            <a:off x="9676130" y="3416935"/>
            <a:ext cx="1021715" cy="289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solidFill>
              <a:schemeClr val="accent5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  <a:sp3d/>
        </p:spPr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hangingPunct="0"/>
            <a:endParaRPr lang="zh-CN" altLang="en-US" dirty="0">
              <a:solidFill>
                <a:schemeClr val="accent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1" name="Object60"/>
          <p:cNvSpPr/>
          <p:nvPr>
            <p:custDataLst>
              <p:tags r:id="rId75"/>
            </p:custDataLst>
          </p:nvPr>
        </p:nvSpPr>
        <p:spPr>
          <a:xfrm flipH="1">
            <a:off x="9761855" y="3467735"/>
            <a:ext cx="890905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731520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公域引流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2040"/>
          <p:cNvSpPr/>
          <p:nvPr>
            <p:custDataLst>
              <p:tags r:id="rId76"/>
            </p:custDataLst>
          </p:nvPr>
        </p:nvSpPr>
        <p:spPr>
          <a:xfrm>
            <a:off x="1989455" y="1741170"/>
            <a:ext cx="1005840" cy="174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网络安全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2040"/>
          <p:cNvSpPr/>
          <p:nvPr>
            <p:custDataLst>
              <p:tags r:id="rId77"/>
            </p:custDataLst>
          </p:nvPr>
        </p:nvSpPr>
        <p:spPr>
          <a:xfrm>
            <a:off x="3253740" y="1741170"/>
            <a:ext cx="1198880" cy="174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数据资产安全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textbox 2040"/>
          <p:cNvSpPr/>
          <p:nvPr>
            <p:custDataLst>
              <p:tags r:id="rId78"/>
            </p:custDataLst>
          </p:nvPr>
        </p:nvSpPr>
        <p:spPr>
          <a:xfrm>
            <a:off x="7461250" y="1741170"/>
            <a:ext cx="1202055" cy="174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个人信息安全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2040"/>
          <p:cNvSpPr/>
          <p:nvPr>
            <p:custDataLst>
              <p:tags r:id="rId79"/>
            </p:custDataLst>
          </p:nvPr>
        </p:nvSpPr>
        <p:spPr>
          <a:xfrm>
            <a:off x="8822055" y="1741170"/>
            <a:ext cx="1005840" cy="1746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5000"/>
              </a:lnSpc>
            </a:pPr>
            <a:r>
              <a:rPr lang="zh-CN" altLang="en-US" sz="1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安全监管</a:t>
            </a:r>
            <a:endParaRPr lang="zh-CN" altLang="en-US" sz="1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8" name="直线箭头连接符 156"/>
          <p:cNvCxnSpPr/>
          <p:nvPr>
            <p:custDataLst>
              <p:tags r:id="rId80"/>
            </p:custDataLst>
          </p:nvPr>
        </p:nvCxnSpPr>
        <p:spPr>
          <a:xfrm flipV="1">
            <a:off x="793750" y="4255135"/>
            <a:ext cx="0" cy="475615"/>
          </a:xfrm>
          <a:prstGeom prst="straightConnector1">
            <a:avLst/>
          </a:prstGeom>
          <a:noFill/>
          <a:ln w="63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9" name="直线箭头连接符 156"/>
          <p:cNvCxnSpPr/>
          <p:nvPr>
            <p:custDataLst>
              <p:tags r:id="rId81"/>
            </p:custDataLst>
          </p:nvPr>
        </p:nvCxnSpPr>
        <p:spPr>
          <a:xfrm>
            <a:off x="11221085" y="2961640"/>
            <a:ext cx="0" cy="475615"/>
          </a:xfrm>
          <a:prstGeom prst="straightConnector1">
            <a:avLst/>
          </a:prstGeom>
          <a:noFill/>
          <a:ln w="63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  <a:headEnd type="triangle"/>
            <a:tailEnd type="none"/>
          </a:ln>
          <a:effectLst/>
        </p:spPr>
      </p:cxnSp>
      <p:cxnSp>
        <p:nvCxnSpPr>
          <p:cNvPr id="11" name="直线箭头连接符 156"/>
          <p:cNvCxnSpPr/>
          <p:nvPr>
            <p:custDataLst>
              <p:tags r:id="rId82"/>
            </p:custDataLst>
          </p:nvPr>
        </p:nvCxnSpPr>
        <p:spPr>
          <a:xfrm flipV="1">
            <a:off x="11221085" y="4286885"/>
            <a:ext cx="0" cy="475615"/>
          </a:xfrm>
          <a:prstGeom prst="straightConnector1">
            <a:avLst/>
          </a:prstGeom>
          <a:noFill/>
          <a:ln w="63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  <a:headEnd type="triangle"/>
            <a:tailEnd type="none"/>
          </a:ln>
          <a:effectLst/>
        </p:spPr>
      </p:cxnSp>
      <p:sp>
        <p:nvSpPr>
          <p:cNvPr id="4" name="椭圆 3"/>
          <p:cNvSpPr/>
          <p:nvPr>
            <p:custDataLst>
              <p:tags r:id="rId83"/>
            </p:custDataLst>
          </p:nvPr>
        </p:nvSpPr>
        <p:spPr>
          <a:xfrm>
            <a:off x="4203700" y="3596640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84"/>
            </p:custDataLst>
          </p:nvPr>
        </p:nvSpPr>
        <p:spPr>
          <a:xfrm>
            <a:off x="4191635" y="4046855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85"/>
            </p:custDataLst>
          </p:nvPr>
        </p:nvSpPr>
        <p:spPr>
          <a:xfrm>
            <a:off x="7217410" y="3168015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/>
          <p:nvPr>
            <p:custDataLst>
              <p:tags r:id="rId86"/>
            </p:custDataLst>
          </p:nvPr>
        </p:nvSpPr>
        <p:spPr>
          <a:xfrm>
            <a:off x="7217410" y="4521200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/>
          <p:nvPr>
            <p:custDataLst>
              <p:tags r:id="rId87"/>
            </p:custDataLst>
          </p:nvPr>
        </p:nvSpPr>
        <p:spPr>
          <a:xfrm>
            <a:off x="7785100" y="3596640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/>
          <p:nvPr>
            <p:custDataLst>
              <p:tags r:id="rId88"/>
            </p:custDataLst>
          </p:nvPr>
        </p:nvSpPr>
        <p:spPr>
          <a:xfrm>
            <a:off x="7785100" y="4077970"/>
            <a:ext cx="85725" cy="857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8755" tIns="49378" rIns="98755" bIns="49378" rtlCol="0" anchor="ctr"/>
          <a:lstStyle/>
          <a:p>
            <a:pPr algn="ctr"/>
            <a:endParaRPr lang="zh-CN" altLang="en-US" sz="1945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上箭头 24"/>
          <p:cNvSpPr/>
          <p:nvPr>
            <p:custDataLst>
              <p:tags r:id="rId89"/>
            </p:custDataLst>
          </p:nvPr>
        </p:nvSpPr>
        <p:spPr>
          <a:xfrm flipV="1">
            <a:off x="5837555" y="2717800"/>
            <a:ext cx="323215" cy="359410"/>
          </a:xfrm>
          <a:prstGeom prst="up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90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公司年度业绩汇报</a:t>
            </a:r>
            <a:endParaRPr lang="en-US" altLang="zh-CN"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37" name="object 14"/>
          <p:cNvSpPr/>
          <p:nvPr/>
        </p:nvSpPr>
        <p:spPr>
          <a:xfrm>
            <a:off x="450430" y="6092088"/>
            <a:ext cx="11233363" cy="561985"/>
          </a:xfrm>
          <a:custGeom>
            <a:avLst/>
            <a:gdLst/>
            <a:ahLst/>
            <a:cxnLst/>
            <a:rect l="l" t="t" r="r" b="b"/>
            <a:pathLst>
              <a:path w="3560445" h="579120">
                <a:moveTo>
                  <a:pt x="3560127" y="578840"/>
                </a:moveTo>
                <a:lnTo>
                  <a:pt x="0" y="578840"/>
                </a:lnTo>
                <a:lnTo>
                  <a:pt x="0" y="0"/>
                </a:lnTo>
                <a:lnTo>
                  <a:pt x="3560127" y="0"/>
                </a:lnTo>
                <a:lnTo>
                  <a:pt x="3560127" y="57884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97273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reflection blurRad="50800" stA="41000" endPos="38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5" name="object 8"/>
          <p:cNvSpPr/>
          <p:nvPr/>
        </p:nvSpPr>
        <p:spPr>
          <a:xfrm>
            <a:off x="450431" y="2238543"/>
            <a:ext cx="2715386" cy="497208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6" name="object 8"/>
          <p:cNvSpPr/>
          <p:nvPr/>
        </p:nvSpPr>
        <p:spPr>
          <a:xfrm>
            <a:off x="3292551" y="2238543"/>
            <a:ext cx="2715386" cy="497208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5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7" name="object 8"/>
          <p:cNvSpPr/>
          <p:nvPr/>
        </p:nvSpPr>
        <p:spPr>
          <a:xfrm>
            <a:off x="450431" y="2825840"/>
            <a:ext cx="2715386" cy="316159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190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rgbClr val="EFEDEF"/>
          </a:lnRef>
          <a:fillRef idx="1">
            <a:srgbClr val="FEFFFF"/>
          </a:fillRef>
          <a:effectRef idx="0">
            <a:srgbClr val="EFEDEF"/>
          </a:effectRef>
          <a:fontRef idx="minor">
            <a:srgbClr val="383535"/>
          </a:fontRef>
        </p:style>
        <p:txBody>
          <a:bodyPr wrap="square" lIns="0" tIns="0" rIns="0" bIns="0" rtlCol="0"/>
          <a:lstStyle/>
          <a:p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object 8"/>
          <p:cNvSpPr/>
          <p:nvPr/>
        </p:nvSpPr>
        <p:spPr>
          <a:xfrm>
            <a:off x="3292551" y="2825840"/>
            <a:ext cx="2715386" cy="316159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10000"/>
            </a:schemeClr>
          </a:solidFill>
          <a:ln w="19050" cap="flat" cmpd="sng" algn="ctr">
            <a:solidFill>
              <a:schemeClr val="accent5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rgbClr val="EFEDEF"/>
          </a:lnRef>
          <a:fillRef idx="1">
            <a:srgbClr val="FEFFFF"/>
          </a:fillRef>
          <a:effectRef idx="0">
            <a:srgbClr val="EFEDEF"/>
          </a:effectRef>
          <a:fontRef idx="minor">
            <a:srgbClr val="383535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9" name="object 8"/>
          <p:cNvSpPr/>
          <p:nvPr/>
        </p:nvSpPr>
        <p:spPr>
          <a:xfrm>
            <a:off x="6126287" y="2238543"/>
            <a:ext cx="2715386" cy="497208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0" name="object 8"/>
          <p:cNvSpPr/>
          <p:nvPr/>
        </p:nvSpPr>
        <p:spPr>
          <a:xfrm>
            <a:off x="8968407" y="2238543"/>
            <a:ext cx="2715386" cy="497208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55000">
                <a:schemeClr val="accent5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1" name="object 8"/>
          <p:cNvSpPr/>
          <p:nvPr/>
        </p:nvSpPr>
        <p:spPr>
          <a:xfrm>
            <a:off x="6126287" y="2825840"/>
            <a:ext cx="2715386" cy="316159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10000"/>
            </a:schemeClr>
          </a:solidFill>
          <a:ln w="190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rgbClr val="EFEDEF"/>
          </a:lnRef>
          <a:fillRef idx="1">
            <a:srgbClr val="FEFFFF"/>
          </a:fillRef>
          <a:effectRef idx="0">
            <a:srgbClr val="EFEDEF"/>
          </a:effectRef>
          <a:fontRef idx="minor">
            <a:srgbClr val="383535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4" name="object 8"/>
          <p:cNvSpPr/>
          <p:nvPr/>
        </p:nvSpPr>
        <p:spPr>
          <a:xfrm>
            <a:off x="8968407" y="2825840"/>
            <a:ext cx="2715386" cy="3161599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10000"/>
            </a:schemeClr>
          </a:solidFill>
          <a:ln w="19050" cap="flat" cmpd="sng" algn="ctr">
            <a:solidFill>
              <a:schemeClr val="accent5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style>
          <a:lnRef idx="2">
            <a:srgbClr val="EFEDEF"/>
          </a:lnRef>
          <a:fillRef idx="1">
            <a:srgbClr val="FEFFFF"/>
          </a:fillRef>
          <a:effectRef idx="0">
            <a:srgbClr val="EFEDEF"/>
          </a:effectRef>
          <a:fontRef idx="minor">
            <a:srgbClr val="383535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5" name="矩形 154"/>
          <p:cNvSpPr/>
          <p:nvPr/>
        </p:nvSpPr>
        <p:spPr>
          <a:xfrm flipH="1">
            <a:off x="2592070" y="6092190"/>
            <a:ext cx="7746365" cy="53340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FE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全年业绩总达成预算的</a:t>
            </a:r>
            <a:r>
              <a:rPr lang="en-US" altLang="zh-CN" sz="1600" b="1" dirty="0">
                <a:solidFill>
                  <a:srgbClr val="FE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110%</a:t>
            </a:r>
            <a:r>
              <a:rPr lang="zh-CN" altLang="en-US" sz="1600" b="1" dirty="0">
                <a:solidFill>
                  <a:srgbClr val="FE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，降本增效取得阶段性突破，利润结构稳定提升！</a:t>
            </a:r>
            <a:endParaRPr lang="zh-CN" altLang="en-US" sz="1600" b="1" dirty="0">
              <a:solidFill>
                <a:srgbClr val="FEFFF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649339" y="2289247"/>
            <a:ext cx="169209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zh-CN" altLang="en-US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第一季度</a:t>
            </a:r>
            <a:endParaRPr lang="zh-CN" altLang="en-US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519048" y="2252607"/>
            <a:ext cx="65515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en-US" altLang="zh-CN" sz="2400" dirty="0">
                <a:ln>
                  <a:solidFill>
                    <a:srgbClr val="FEFFFF"/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endParaRPr lang="en-US" altLang="zh-CN" sz="2400" dirty="0">
              <a:ln>
                <a:solidFill>
                  <a:srgbClr val="FEFFFF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3474315" y="2289247"/>
            <a:ext cx="169209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zh-CN" altLang="en-US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第二季度</a:t>
            </a:r>
            <a:endParaRPr lang="zh-CN" altLang="en-US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5344024" y="2252607"/>
            <a:ext cx="65515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en-US" altLang="zh-CN" sz="2400" dirty="0">
                <a:ln>
                  <a:solidFill>
                    <a:srgbClr val="FEFFFF"/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</a:t>
            </a:r>
            <a:endParaRPr lang="en-US" altLang="zh-CN" sz="2400" dirty="0">
              <a:ln>
                <a:solidFill>
                  <a:srgbClr val="FEFFFF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6306725" y="2289247"/>
            <a:ext cx="169209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zh-CN" altLang="en-US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第三季度</a:t>
            </a:r>
            <a:endParaRPr lang="zh-CN" altLang="en-US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8176434" y="2252607"/>
            <a:ext cx="65515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en-US" altLang="zh-CN" sz="2400" dirty="0">
                <a:ln>
                  <a:solidFill>
                    <a:srgbClr val="FEFFFF"/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</a:t>
            </a:r>
            <a:endParaRPr lang="en-US" altLang="zh-CN" sz="2400" dirty="0">
              <a:ln>
                <a:solidFill>
                  <a:srgbClr val="FEFFFF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206708" y="2296232"/>
            <a:ext cx="1692093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zh-CN" altLang="en-US" b="1" dirty="0">
                <a:solidFill>
                  <a:srgbClr val="FE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第四季度</a:t>
            </a:r>
            <a:endParaRPr lang="zh-CN" altLang="en-US" b="1" dirty="0">
              <a:solidFill>
                <a:srgbClr val="FE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1023712" y="2252607"/>
            <a:ext cx="65515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pPr>
            <a:r>
              <a:rPr lang="en-US" altLang="zh-CN" sz="2400" dirty="0">
                <a:ln>
                  <a:solidFill>
                    <a:srgbClr val="FEFFFF"/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</a:t>
            </a:r>
            <a:endParaRPr lang="en-US" altLang="zh-CN" sz="2400" dirty="0">
              <a:ln>
                <a:solidFill>
                  <a:srgbClr val="FEFFFF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716247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目标业绩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584287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950316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实际达成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8" name="直线连接符 65"/>
          <p:cNvCxnSpPr/>
          <p:nvPr/>
        </p:nvCxnSpPr>
        <p:spPr>
          <a:xfrm>
            <a:off x="599155" y="3724492"/>
            <a:ext cx="2413349" cy="0"/>
          </a:xfrm>
          <a:prstGeom prst="line">
            <a:avLst/>
          </a:prstGeom>
          <a:noFill/>
          <a:ln w="19050" cap="flat" cmpd="sng" algn="ctr">
            <a:solidFill>
              <a:srgbClr val="EFEFEF">
                <a:lumMod val="90000"/>
              </a:srgbClr>
            </a:solidFill>
            <a:prstDash val="sysDash"/>
            <a:miter lim="800000"/>
          </a:ln>
          <a:effectLst/>
        </p:spPr>
        <p:style>
          <a:lnRef idx="1">
            <a:srgbClr val="003491"/>
          </a:lnRef>
          <a:fillRef idx="0">
            <a:srgbClr val="003491"/>
          </a:fillRef>
          <a:effectRef idx="0">
            <a:srgbClr val="003491"/>
          </a:effectRef>
          <a:fontRef idx="minor">
            <a:srgbClr val="383535"/>
          </a:fontRef>
        </p:style>
      </p:cxnSp>
      <p:sp>
        <p:nvSpPr>
          <p:cNvPr id="169" name="文本框 168"/>
          <p:cNvSpPr txBox="1"/>
          <p:nvPr/>
        </p:nvSpPr>
        <p:spPr>
          <a:xfrm>
            <a:off x="3556091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目标业绩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4790160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实际完成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3" name="直线连接符 70"/>
          <p:cNvCxnSpPr/>
          <p:nvPr/>
        </p:nvCxnSpPr>
        <p:spPr>
          <a:xfrm>
            <a:off x="3438999" y="3724492"/>
            <a:ext cx="2413349" cy="0"/>
          </a:xfrm>
          <a:prstGeom prst="line">
            <a:avLst/>
          </a:prstGeom>
          <a:noFill/>
          <a:ln w="19050" cap="flat" cmpd="sng" algn="ctr">
            <a:solidFill>
              <a:srgbClr val="EFEFEF">
                <a:lumMod val="90000"/>
              </a:srgbClr>
            </a:solidFill>
            <a:prstDash val="sysDash"/>
            <a:miter lim="800000"/>
          </a:ln>
          <a:effectLst/>
        </p:spPr>
        <p:style>
          <a:lnRef idx="1">
            <a:srgbClr val="003491"/>
          </a:lnRef>
          <a:fillRef idx="0">
            <a:srgbClr val="003491"/>
          </a:fillRef>
          <a:effectRef idx="0">
            <a:srgbClr val="003491"/>
          </a:effectRef>
          <a:fontRef idx="minor">
            <a:srgbClr val="383535"/>
          </a:fontRef>
        </p:style>
      </p:cxnSp>
      <p:sp>
        <p:nvSpPr>
          <p:cNvPr id="174" name="文本框 173"/>
          <p:cNvSpPr txBox="1"/>
          <p:nvPr/>
        </p:nvSpPr>
        <p:spPr>
          <a:xfrm>
            <a:off x="6373632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目标业绩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607701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实际完成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8" name="直线连接符 75"/>
          <p:cNvCxnSpPr/>
          <p:nvPr/>
        </p:nvCxnSpPr>
        <p:spPr>
          <a:xfrm>
            <a:off x="6256540" y="3724492"/>
            <a:ext cx="2413349" cy="0"/>
          </a:xfrm>
          <a:prstGeom prst="line">
            <a:avLst/>
          </a:prstGeom>
          <a:noFill/>
          <a:ln w="19050" cap="flat" cmpd="sng" algn="ctr">
            <a:solidFill>
              <a:srgbClr val="EFEFEF">
                <a:lumMod val="90000"/>
              </a:srgbClr>
            </a:solidFill>
            <a:prstDash val="sysDash"/>
            <a:miter lim="800000"/>
          </a:ln>
          <a:effectLst/>
        </p:spPr>
        <p:style>
          <a:lnRef idx="1">
            <a:srgbClr val="003491"/>
          </a:lnRef>
          <a:fillRef idx="0">
            <a:srgbClr val="003491"/>
          </a:fillRef>
          <a:effectRef idx="0">
            <a:srgbClr val="003491"/>
          </a:effectRef>
          <a:fontRef idx="minor">
            <a:srgbClr val="383535"/>
          </a:fontRef>
        </p:style>
      </p:cxnSp>
      <p:sp>
        <p:nvSpPr>
          <p:cNvPr id="179" name="文本框 178"/>
          <p:cNvSpPr txBox="1"/>
          <p:nvPr/>
        </p:nvSpPr>
        <p:spPr>
          <a:xfrm>
            <a:off x="9250646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目标业绩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10484715" y="2973728"/>
            <a:ext cx="9004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实际完成</a:t>
            </a:r>
            <a:endParaRPr kumimoji="1"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3" name="直线连接符 80"/>
          <p:cNvCxnSpPr/>
          <p:nvPr/>
        </p:nvCxnSpPr>
        <p:spPr>
          <a:xfrm>
            <a:off x="9133554" y="3724492"/>
            <a:ext cx="2413349" cy="0"/>
          </a:xfrm>
          <a:prstGeom prst="line">
            <a:avLst/>
          </a:prstGeom>
          <a:noFill/>
          <a:ln w="19050" cap="flat" cmpd="sng" algn="ctr">
            <a:solidFill>
              <a:srgbClr val="EFEFEF">
                <a:lumMod val="90000"/>
              </a:srgbClr>
            </a:solidFill>
            <a:prstDash val="sysDash"/>
            <a:miter lim="800000"/>
          </a:ln>
          <a:effectLst/>
        </p:spPr>
        <p:style>
          <a:lnRef idx="1">
            <a:srgbClr val="003491"/>
          </a:lnRef>
          <a:fillRef idx="0">
            <a:srgbClr val="003491"/>
          </a:fillRef>
          <a:effectRef idx="0">
            <a:srgbClr val="003491"/>
          </a:effectRef>
          <a:fontRef idx="minor">
            <a:srgbClr val="383535"/>
          </a:fontRef>
        </p:style>
      </p:cxnSp>
      <p:sp>
        <p:nvSpPr>
          <p:cNvPr id="184" name="矩形 183"/>
          <p:cNvSpPr/>
          <p:nvPr/>
        </p:nvSpPr>
        <p:spPr>
          <a:xfrm flipH="1">
            <a:off x="544386" y="3839197"/>
            <a:ext cx="2482986" cy="55308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一季度总达成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，其中按销售结构来分析，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模块占比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模块占比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矩形 184"/>
          <p:cNvSpPr/>
          <p:nvPr/>
        </p:nvSpPr>
        <p:spPr>
          <a:xfrm flipH="1">
            <a:off x="3406533" y="3839197"/>
            <a:ext cx="2482986" cy="55308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二季度同比去年同期增长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，另外从分月数据来看，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月份增幅最大达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矩形 185"/>
          <p:cNvSpPr/>
          <p:nvPr/>
        </p:nvSpPr>
        <p:spPr>
          <a:xfrm flipH="1">
            <a:off x="6238943" y="3839197"/>
            <a:ext cx="2482986" cy="783590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三季度重点在降本增效取得显著成果，其中人力成本降低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-20%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，运输成本降低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-15%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，制作费用基本持平。</a:t>
            </a:r>
            <a:endParaRPr lang="zh-CN" altLang="en-US" sz="10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矩形 186"/>
          <p:cNvSpPr/>
          <p:nvPr/>
        </p:nvSpPr>
        <p:spPr>
          <a:xfrm flipH="1">
            <a:off x="9130826" y="3839197"/>
            <a:ext cx="2482986" cy="55308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四季度对利润构成进行拆解，其中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000" dirty="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占比最大，为核心利润来源。</a:t>
            </a:r>
            <a:endParaRPr lang="zh-CN" altLang="en-US" sz="1000" dirty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848572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3460837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4725122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278332" y="318725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7542617" y="318725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9159327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10423612" y="3231701"/>
            <a:ext cx="1179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4100</a:t>
            </a:r>
            <a:r>
              <a:rPr kumimoji="1" lang="zh-CN" altLang="en-US" sz="15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kumimoji="1" lang="zh-CN" altLang="en-US" sz="15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4" name="图表 253"/>
          <p:cNvGraphicFramePr/>
          <p:nvPr/>
        </p:nvGraphicFramePr>
        <p:xfrm>
          <a:off x="3292551" y="4580869"/>
          <a:ext cx="2715386" cy="1373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55" name="图表 254"/>
          <p:cNvGraphicFramePr/>
          <p:nvPr/>
        </p:nvGraphicFramePr>
        <p:xfrm>
          <a:off x="6116755" y="4486291"/>
          <a:ext cx="2714832" cy="1501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6" name="图表 255"/>
          <p:cNvGraphicFramePr/>
          <p:nvPr/>
        </p:nvGraphicFramePr>
        <p:xfrm>
          <a:off x="450430" y="4293073"/>
          <a:ext cx="2718208" cy="1738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7" name="文本框 256"/>
          <p:cNvSpPr txBox="1"/>
          <p:nvPr/>
        </p:nvSpPr>
        <p:spPr>
          <a:xfrm>
            <a:off x="1221282" y="4882671"/>
            <a:ext cx="1179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</a:t>
            </a:r>
            <a:endParaRPr kumimoji="1"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占比</a:t>
            </a:r>
            <a:endParaRPr kumimoji="1"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58" name="图表 257"/>
          <p:cNvGraphicFramePr/>
          <p:nvPr/>
        </p:nvGraphicFramePr>
        <p:xfrm>
          <a:off x="8962527" y="4293073"/>
          <a:ext cx="2718208" cy="1738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81330" y="1099820"/>
            <a:ext cx="11202670" cy="903605"/>
            <a:chOff x="961" y="1586"/>
            <a:chExt cx="17732" cy="1846"/>
          </a:xfrm>
        </p:grpSpPr>
        <p:sp>
          <p:nvSpPr>
            <p:cNvPr id="142" name="object 17"/>
            <p:cNvSpPr/>
            <p:nvPr/>
          </p:nvSpPr>
          <p:spPr>
            <a:xfrm>
              <a:off x="961" y="1586"/>
              <a:ext cx="17732" cy="1768"/>
            </a:xfrm>
            <a:custGeom>
              <a:avLst/>
              <a:gdLst/>
              <a:ahLst/>
              <a:cxnLst/>
              <a:rect l="l" t="t" r="r" b="b"/>
              <a:pathLst>
                <a:path w="11259820" h="793114">
                  <a:moveTo>
                    <a:pt x="5629719" y="0"/>
                  </a:moveTo>
                  <a:lnTo>
                    <a:pt x="0" y="792759"/>
                  </a:lnTo>
                  <a:lnTo>
                    <a:pt x="11259451" y="792759"/>
                  </a:lnTo>
                  <a:lnTo>
                    <a:pt x="5629719" y="0"/>
                  </a:lnTo>
                  <a:close/>
                </a:path>
              </a:pathLst>
            </a:custGeom>
            <a:gradFill flip="none" rotWithShape="1">
              <a:gsLst>
                <a:gs pos="917">
                  <a:schemeClr val="accent1">
                    <a:lumMod val="60000"/>
                    <a:lumOff val="40000"/>
                  </a:schemeClr>
                </a:gs>
                <a:gs pos="60000">
                  <a:schemeClr val="accent1">
                    <a:lumMod val="20000"/>
                    <a:lumOff val="80000"/>
                    <a:alpha val="60000"/>
                  </a:schemeClr>
                </a:gs>
                <a:gs pos="98165">
                  <a:schemeClr val="accent1">
                    <a:lumMod val="40000"/>
                    <a:lumOff val="60000"/>
                  </a:schemeClr>
                </a:gs>
                <a:gs pos="90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5400000" scaled="0"/>
              <a:tileRect/>
            </a:gradFill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" name="object 17"/>
            <p:cNvSpPr/>
            <p:nvPr/>
          </p:nvSpPr>
          <p:spPr>
            <a:xfrm>
              <a:off x="3346" y="1587"/>
              <a:ext cx="12962" cy="1845"/>
            </a:xfrm>
            <a:custGeom>
              <a:avLst/>
              <a:gdLst/>
              <a:ahLst/>
              <a:cxnLst/>
              <a:rect l="l" t="t" r="r" b="b"/>
              <a:pathLst>
                <a:path w="11259820" h="793114">
                  <a:moveTo>
                    <a:pt x="5629719" y="0"/>
                  </a:moveTo>
                  <a:lnTo>
                    <a:pt x="0" y="792759"/>
                  </a:lnTo>
                  <a:lnTo>
                    <a:pt x="11259451" y="792759"/>
                  </a:lnTo>
                  <a:lnTo>
                    <a:pt x="5629719" y="0"/>
                  </a:lnTo>
                  <a:close/>
                </a:path>
              </a:pathLst>
            </a:custGeom>
            <a:gradFill>
              <a:gsLst>
                <a:gs pos="1000">
                  <a:schemeClr val="bg1">
                    <a:alpha val="50000"/>
                  </a:schemeClr>
                </a:gs>
                <a:gs pos="99000">
                  <a:schemeClr val="bg1">
                    <a:alpha val="0"/>
                  </a:schemeClr>
                </a:gs>
              </a:gsLst>
              <a:lin ang="5400000" scaled="1"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35610" y="1958340"/>
            <a:ext cx="11305540" cy="199390"/>
          </a:xfrm>
          <a:prstGeom prst="rect">
            <a:avLst/>
          </a:prstGeom>
          <a:gradFill flip="none" rotWithShape="1">
            <a:gsLst>
              <a:gs pos="99083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54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>
              <a:solidFill>
                <a:srgbClr val="FFFFFF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34040" y="1344637"/>
            <a:ext cx="3280584" cy="429895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C4C6C6"/>
          </a:lnRef>
          <a:fillRef idx="1">
            <a:srgbClr val="FEFFFF"/>
          </a:fillRef>
          <a:effectRef idx="0">
            <a:srgbClr val="C4C6C6"/>
          </a:effectRef>
          <a:fontRef idx="minor">
            <a:srgbClr val="383535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年度业绩达成情况</a:t>
            </a:r>
            <a:endParaRPr kumimoji="1" lang="zh-CN" altLang="en-US"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矩形: 圆角 412"/>
          <p:cNvSpPr/>
          <p:nvPr/>
        </p:nvSpPr>
        <p:spPr>
          <a:xfrm>
            <a:off x="1045431" y="3741514"/>
            <a:ext cx="3497769" cy="991023"/>
          </a:xfrm>
          <a:prstGeom prst="roundRect">
            <a:avLst>
              <a:gd name="adj" fmla="val 4396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私域流量运营方法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8" name="等腰三角形 7"/>
          <p:cNvSpPr/>
          <p:nvPr/>
        </p:nvSpPr>
        <p:spPr>
          <a:xfrm>
            <a:off x="1045431" y="1041985"/>
            <a:ext cx="10671130" cy="573855"/>
          </a:xfrm>
          <a:prstGeom prst="triangl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04028" y="1205624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私域流量运营方法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: 圆角 169"/>
          <p:cNvSpPr/>
          <p:nvPr/>
        </p:nvSpPr>
        <p:spPr>
          <a:xfrm>
            <a:off x="1045431" y="6131387"/>
            <a:ext cx="10671130" cy="346289"/>
          </a:xfrm>
          <a:prstGeom prst="roundRect">
            <a:avLst>
              <a:gd name="adj" fmla="val 12581"/>
            </a:avLst>
          </a:prstGeom>
          <a:gradFill>
            <a:gsLst>
              <a:gs pos="2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私域流量是通过精准的用户关系管理和优质内容运营，吸引、留住并转化目标用户，实现可持续增长的流量来源。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: 圆角 56"/>
          <p:cNvSpPr/>
          <p:nvPr/>
        </p:nvSpPr>
        <p:spPr>
          <a:xfrm>
            <a:off x="1045431" y="2110985"/>
            <a:ext cx="3497769" cy="707830"/>
          </a:xfrm>
          <a:prstGeom prst="roundRect">
            <a:avLst>
              <a:gd name="adj" fmla="val 6155"/>
            </a:avLst>
          </a:prstGeom>
          <a:solidFill>
            <a:schemeClr val="bg1"/>
          </a:solidFill>
          <a:ln w="12700" cap="flat" cmpd="sng" algn="ctr">
            <a:solidFill>
              <a:schemeClr val="accent5">
                <a:alpha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475439" y="2904751"/>
            <a:ext cx="348076" cy="762267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11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475439" y="3738243"/>
            <a:ext cx="348076" cy="99756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</a:t>
            </a:r>
            <a:endParaRPr lang="zh-CN" altLang="en-US" sz="11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475439" y="4828647"/>
            <a:ext cx="348076" cy="122449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lang="zh-CN" altLang="en-US" sz="1100" b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矩形: 圆角 111"/>
          <p:cNvSpPr/>
          <p:nvPr/>
        </p:nvSpPr>
        <p:spPr>
          <a:xfrm>
            <a:off x="4632111" y="2904751"/>
            <a:ext cx="3497769" cy="762267"/>
          </a:xfrm>
          <a:prstGeom prst="roundRect">
            <a:avLst>
              <a:gd name="adj" fmla="val 5716"/>
            </a:avLst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5251720" y="30354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流量转化</a:t>
            </a:r>
            <a:endParaRPr lang="zh-CN" altLang="en-US" sz="14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251722" y="3268797"/>
            <a:ext cx="2934630" cy="272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050" kern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如何将其转化为实际的商业价值是关键问题。</a:t>
            </a:r>
            <a:endParaRPr lang="zh-CN" altLang="en-US" sz="1050" kern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4834692" y="3091991"/>
            <a:ext cx="384590" cy="395698"/>
          </a:xfrm>
          <a:prstGeom prst="roundRect">
            <a:avLst>
              <a:gd name="adj" fmla="val 1212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: 圆角 69"/>
          <p:cNvSpPr/>
          <p:nvPr/>
        </p:nvSpPr>
        <p:spPr>
          <a:xfrm>
            <a:off x="4632111" y="3738243"/>
            <a:ext cx="3497769" cy="991023"/>
          </a:xfrm>
          <a:prstGeom prst="roundRect">
            <a:avLst>
              <a:gd name="adj" fmla="val 4396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: 圆角 122"/>
          <p:cNvSpPr/>
          <p:nvPr/>
        </p:nvSpPr>
        <p:spPr>
          <a:xfrm>
            <a:off x="5837767" y="3848103"/>
            <a:ext cx="208953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用户画像+个性化营销=提高转化率。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: 圆角 128"/>
          <p:cNvSpPr/>
          <p:nvPr/>
        </p:nvSpPr>
        <p:spPr>
          <a:xfrm>
            <a:off x="5837767" y="4126080"/>
            <a:ext cx="208953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优化用户体验，促进流量转化。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32" name="组合 431"/>
          <p:cNvGrpSpPr/>
          <p:nvPr/>
        </p:nvGrpSpPr>
        <p:grpSpPr>
          <a:xfrm>
            <a:off x="4834692" y="3848103"/>
            <a:ext cx="948041" cy="771304"/>
            <a:chOff x="4834692" y="3848103"/>
            <a:chExt cx="814173" cy="77130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" name="矩形: 圆角 119"/>
            <p:cNvSpPr/>
            <p:nvPr/>
          </p:nvSpPr>
          <p:spPr>
            <a:xfrm>
              <a:off x="4834692" y="3848103"/>
              <a:ext cx="814173" cy="215349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个性化营销策略</a:t>
              </a:r>
              <a:endParaRPr lang="zh-CN" altLang="en-US" sz="8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: 圆角 127"/>
            <p:cNvSpPr/>
            <p:nvPr/>
          </p:nvSpPr>
          <p:spPr>
            <a:xfrm>
              <a:off x="4834692" y="4126080"/>
              <a:ext cx="814173" cy="215349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强化用户体验</a:t>
              </a:r>
              <a:endPara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矩形: 圆角 130"/>
            <p:cNvSpPr/>
            <p:nvPr/>
          </p:nvSpPr>
          <p:spPr>
            <a:xfrm>
              <a:off x="4834692" y="4404058"/>
              <a:ext cx="814173" cy="215349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营销渠道整合</a:t>
              </a:r>
              <a:endPara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5" name="矩形: 圆角 131"/>
          <p:cNvSpPr/>
          <p:nvPr/>
        </p:nvSpPr>
        <p:spPr>
          <a:xfrm>
            <a:off x="5837767" y="4404058"/>
            <a:ext cx="208953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多渠道整合，提高转化率。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1248012" y="3848103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SEO</a:t>
            </a:r>
            <a:r>
              <a:rPr lang="zh-CN" altLang="en-US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: 圆角 239"/>
          <p:cNvSpPr/>
          <p:nvPr/>
        </p:nvSpPr>
        <p:spPr>
          <a:xfrm>
            <a:off x="1248012" y="4126081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用户注册激励</a:t>
            </a:r>
            <a:endParaRPr lang="zh-CN" altLang="en-US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1" name="矩形: 圆角 240"/>
          <p:cNvSpPr/>
          <p:nvPr/>
        </p:nvSpPr>
        <p:spPr>
          <a:xfrm>
            <a:off x="1248012" y="4404059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搜索引擎营销</a:t>
            </a:r>
            <a:endParaRPr lang="zh-CN" altLang="en-US" sz="8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2296265" y="3848103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社交媒体推广</a:t>
            </a:r>
            <a:endParaRPr lang="zh-CN" altLang="en-US" sz="8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2296265" y="4126081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个性化推荐</a:t>
            </a:r>
            <a:endParaRPr lang="zh-CN" altLang="en-US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矩形: 圆角 237"/>
          <p:cNvSpPr/>
          <p:nvPr/>
        </p:nvSpPr>
        <p:spPr>
          <a:xfrm>
            <a:off x="2296265" y="4404059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社群运营</a:t>
            </a:r>
            <a:endParaRPr lang="zh-CN" altLang="en-US" sz="8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矩形: 圆角 232"/>
          <p:cNvSpPr/>
          <p:nvPr/>
        </p:nvSpPr>
        <p:spPr>
          <a:xfrm>
            <a:off x="3344517" y="3848103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内容营销</a:t>
            </a:r>
            <a:endParaRPr lang="zh-CN" altLang="en-US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3344517" y="4126081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精准广告投放</a:t>
            </a:r>
            <a:endParaRPr lang="zh-CN" altLang="en-US" sz="8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矩形: 圆角 234"/>
          <p:cNvSpPr/>
          <p:nvPr/>
        </p:nvSpPr>
        <p:spPr>
          <a:xfrm>
            <a:off x="3344517" y="4404059"/>
            <a:ext cx="991171" cy="21534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电子邮件营销</a:t>
            </a:r>
            <a:endParaRPr lang="zh-CN" altLang="en-US" sz="8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8218792" y="3738243"/>
            <a:ext cx="3497769" cy="991023"/>
          </a:xfrm>
          <a:prstGeom prst="roundRect">
            <a:avLst>
              <a:gd name="adj" fmla="val 4396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63" name="组合 262"/>
          <p:cNvGrpSpPr/>
          <p:nvPr/>
        </p:nvGrpSpPr>
        <p:grpSpPr>
          <a:xfrm>
            <a:off x="8423838" y="3848103"/>
            <a:ext cx="3087676" cy="771305"/>
            <a:chOff x="8399555" y="5182729"/>
            <a:chExt cx="2039424" cy="825601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264" name="组合 263"/>
            <p:cNvGrpSpPr/>
            <p:nvPr/>
          </p:nvGrpSpPr>
          <p:grpSpPr>
            <a:xfrm>
              <a:off x="8399555" y="5182729"/>
              <a:ext cx="991171" cy="825601"/>
              <a:chOff x="1221264" y="4129440"/>
              <a:chExt cx="3092606" cy="825601"/>
            </a:xfrm>
            <a:grpFill/>
          </p:grpSpPr>
          <p:sp>
            <p:nvSpPr>
              <p:cNvPr id="275" name="矩形: 圆角 274"/>
              <p:cNvSpPr/>
              <p:nvPr/>
            </p:nvSpPr>
            <p:spPr>
              <a:xfrm>
                <a:off x="1221264" y="4129440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内容营销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76" name="矩形: 圆角 275"/>
              <p:cNvSpPr/>
              <p:nvPr/>
            </p:nvSpPr>
            <p:spPr>
              <a:xfrm>
                <a:off x="1221264" y="4426986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会员福利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81" name="矩形: 圆角 280"/>
              <p:cNvSpPr/>
              <p:nvPr/>
            </p:nvSpPr>
            <p:spPr>
              <a:xfrm>
                <a:off x="1221264" y="4724532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数据分析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65" name="组合 264"/>
            <p:cNvGrpSpPr/>
            <p:nvPr/>
          </p:nvGrpSpPr>
          <p:grpSpPr>
            <a:xfrm>
              <a:off x="9447808" y="5182729"/>
              <a:ext cx="991171" cy="825601"/>
              <a:chOff x="1221264" y="4129440"/>
              <a:chExt cx="3092606" cy="825601"/>
            </a:xfrm>
            <a:grpFill/>
          </p:grpSpPr>
          <p:sp>
            <p:nvSpPr>
              <p:cNvPr id="266" name="矩形: 圆角 265"/>
              <p:cNvSpPr/>
              <p:nvPr/>
            </p:nvSpPr>
            <p:spPr>
              <a:xfrm>
                <a:off x="1221264" y="4129440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社交互动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67" name="矩形: 圆角 266"/>
              <p:cNvSpPr/>
              <p:nvPr/>
            </p:nvSpPr>
            <p:spPr>
              <a:xfrm>
                <a:off x="1221264" y="4426986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用户反馈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74" name="矩形: 圆角 273"/>
              <p:cNvSpPr/>
              <p:nvPr/>
            </p:nvSpPr>
            <p:spPr>
              <a:xfrm>
                <a:off x="1221264" y="4724532"/>
                <a:ext cx="3092606" cy="23050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9708" cap="flat">
                <a:solidFill>
                  <a:schemeClr val="accent1">
                    <a:lumMod val="60000"/>
                    <a:lumOff val="40000"/>
                  </a:schemeClr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kern="0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持续更新</a:t>
                </a:r>
                <a:endPara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293" name="矩形: 圆角 292"/>
          <p:cNvSpPr/>
          <p:nvPr/>
        </p:nvSpPr>
        <p:spPr>
          <a:xfrm>
            <a:off x="1045431" y="2904751"/>
            <a:ext cx="3497769" cy="762267"/>
          </a:xfrm>
          <a:prstGeom prst="roundRect">
            <a:avLst>
              <a:gd name="adj" fmla="val 5716"/>
            </a:avLst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1665040" y="30354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流量获取</a:t>
            </a:r>
            <a:endParaRPr lang="zh-CN" altLang="en-US" sz="14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1665042" y="3268797"/>
            <a:ext cx="2967068" cy="28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05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私域流量运营需要解决如何获取流量的问题</a:t>
            </a:r>
            <a:endParaRPr lang="zh-CN" altLang="en-US" sz="105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9" name="矩形: 圆角 298"/>
          <p:cNvSpPr/>
          <p:nvPr/>
        </p:nvSpPr>
        <p:spPr>
          <a:xfrm>
            <a:off x="1248012" y="3091991"/>
            <a:ext cx="384590" cy="395698"/>
          </a:xfrm>
          <a:prstGeom prst="roundRect">
            <a:avLst>
              <a:gd name="adj" fmla="val 1212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5" name="矩形: 圆角 304"/>
          <p:cNvSpPr/>
          <p:nvPr/>
        </p:nvSpPr>
        <p:spPr>
          <a:xfrm>
            <a:off x="8218792" y="2904751"/>
            <a:ext cx="3497769" cy="762267"/>
          </a:xfrm>
          <a:prstGeom prst="roundRect">
            <a:avLst>
              <a:gd name="adj" fmla="val 5716"/>
            </a:avLst>
          </a:prstGeom>
          <a:solidFill>
            <a:schemeClr val="accent5">
              <a:lumMod val="60000"/>
              <a:lumOff val="40000"/>
              <a:alpha val="1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8838401" y="30354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流量运营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8838403" y="3268797"/>
            <a:ext cx="3053368" cy="272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050" kern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保持用户活跃度和忠诚度，是的长期挑战</a:t>
            </a:r>
            <a:endParaRPr lang="zh-CN" altLang="en-US" sz="1050" kern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9" name="矩形: 圆角 308"/>
          <p:cNvSpPr/>
          <p:nvPr/>
        </p:nvSpPr>
        <p:spPr>
          <a:xfrm>
            <a:off x="8421373" y="3091991"/>
            <a:ext cx="384590" cy="395698"/>
          </a:xfrm>
          <a:prstGeom prst="roundRect">
            <a:avLst>
              <a:gd name="adj" fmla="val 1212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: 圆角 71"/>
          <p:cNvSpPr/>
          <p:nvPr/>
        </p:nvSpPr>
        <p:spPr>
          <a:xfrm>
            <a:off x="1045431" y="4828647"/>
            <a:ext cx="3497769" cy="1224490"/>
          </a:xfrm>
          <a:prstGeom prst="roundRect">
            <a:avLst>
              <a:gd name="adj" fmla="val 355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: 圆角 72"/>
          <p:cNvSpPr/>
          <p:nvPr/>
        </p:nvSpPr>
        <p:spPr>
          <a:xfrm>
            <a:off x="4632111" y="4828648"/>
            <a:ext cx="3497769" cy="1224490"/>
          </a:xfrm>
          <a:prstGeom prst="roundRect">
            <a:avLst>
              <a:gd name="adj" fmla="val 355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: 圆角 73"/>
          <p:cNvSpPr/>
          <p:nvPr/>
        </p:nvSpPr>
        <p:spPr>
          <a:xfrm>
            <a:off x="8218792" y="4828648"/>
            <a:ext cx="3497769" cy="1224490"/>
          </a:xfrm>
          <a:prstGeom prst="roundRect">
            <a:avLst>
              <a:gd name="adj" fmla="val 355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2" name="矩形: 圆角 331"/>
          <p:cNvSpPr/>
          <p:nvPr/>
        </p:nvSpPr>
        <p:spPr>
          <a:xfrm>
            <a:off x="4834692" y="4952139"/>
            <a:ext cx="1503022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CRO工具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29" name="矩形: 圆角 328"/>
          <p:cNvSpPr/>
          <p:nvPr/>
        </p:nvSpPr>
        <p:spPr>
          <a:xfrm>
            <a:off x="6395653" y="4952139"/>
            <a:ext cx="1503022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营销自动化工具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3" name="矩形: 圆角 332"/>
          <p:cNvSpPr/>
          <p:nvPr/>
        </p:nvSpPr>
        <p:spPr>
          <a:xfrm>
            <a:off x="4834692" y="5304433"/>
            <a:ext cx="1503022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售后服务工具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0" name="矩形: 圆角 329"/>
          <p:cNvSpPr/>
          <p:nvPr/>
        </p:nvSpPr>
        <p:spPr>
          <a:xfrm>
            <a:off x="6395653" y="5304433"/>
            <a:ext cx="1503022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数据分析工具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4" name="矩形: 圆角 363"/>
          <p:cNvSpPr/>
          <p:nvPr/>
        </p:nvSpPr>
        <p:spPr>
          <a:xfrm flipH="1">
            <a:off x="9536333" y="4952139"/>
            <a:ext cx="1949024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数据分析优化，提高转化和满意度。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5" name="矩形: 圆角 364"/>
          <p:cNvSpPr/>
          <p:nvPr/>
        </p:nvSpPr>
        <p:spPr>
          <a:xfrm flipH="1">
            <a:off x="8421374" y="4952139"/>
            <a:ext cx="1026047" cy="27292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数据分析与优化</a:t>
            </a:r>
            <a:endParaRPr lang="zh-CN" altLang="en-US" sz="8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2" name="矩形: 圆角 361"/>
          <p:cNvSpPr/>
          <p:nvPr/>
        </p:nvSpPr>
        <p:spPr>
          <a:xfrm flipH="1">
            <a:off x="9536333" y="5304433"/>
            <a:ext cx="1949024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多渠道覆盖，提升品牌曝光。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3" name="矩形: 圆角 362"/>
          <p:cNvSpPr/>
          <p:nvPr/>
        </p:nvSpPr>
        <p:spPr>
          <a:xfrm flipH="1">
            <a:off x="8421374" y="5304433"/>
            <a:ext cx="1026047" cy="27292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多渠道推广策略</a:t>
            </a:r>
            <a:endParaRPr lang="zh-CN" altLang="en-US" sz="8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69" name="矩形: 圆角 368"/>
          <p:cNvSpPr/>
          <p:nvPr/>
        </p:nvSpPr>
        <p:spPr>
          <a:xfrm flipH="1">
            <a:off x="9536333" y="5656725"/>
            <a:ext cx="1949024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积极互动，增强用户参与感和忠诚度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0" name="矩形: 圆角 369"/>
          <p:cNvSpPr/>
          <p:nvPr/>
        </p:nvSpPr>
        <p:spPr>
          <a:xfrm flipH="1">
            <a:off x="8421374" y="5656725"/>
            <a:ext cx="1026047" cy="27292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用户参与与互动</a:t>
            </a:r>
            <a:endParaRPr lang="zh-CN" altLang="en-US" sz="800" b="1" ker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8" name="矩形: 圆角 377"/>
          <p:cNvSpPr/>
          <p:nvPr/>
        </p:nvSpPr>
        <p:spPr>
          <a:xfrm flipH="1">
            <a:off x="1262322" y="4952139"/>
            <a:ext cx="1492089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 Analytics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6" name="矩形: 圆角 385"/>
          <p:cNvSpPr/>
          <p:nvPr/>
        </p:nvSpPr>
        <p:spPr>
          <a:xfrm flipH="1">
            <a:off x="2843598" y="4952139"/>
            <a:ext cx="1492089" cy="2729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微信公众号</a:t>
            </a:r>
            <a:endParaRPr lang="en-US" altLang="zh-CN" sz="800" kern="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88" name="组合 387"/>
          <p:cNvGrpSpPr/>
          <p:nvPr/>
        </p:nvGrpSpPr>
        <p:grpSpPr>
          <a:xfrm>
            <a:off x="1262322" y="5304433"/>
            <a:ext cx="3073365" cy="272922"/>
            <a:chOff x="1235575" y="5311196"/>
            <a:chExt cx="2519400" cy="292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89" name="矩形: 圆角 388"/>
            <p:cNvSpPr/>
            <p:nvPr/>
          </p:nvSpPr>
          <p:spPr>
            <a:xfrm flipH="1">
              <a:off x="1235575" y="5311196"/>
              <a:ext cx="1223144" cy="292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708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社交媒体管理工具</a:t>
              </a:r>
              <a:endPara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90" name="矩形: 圆角 389"/>
            <p:cNvSpPr/>
            <p:nvPr/>
          </p:nvSpPr>
          <p:spPr>
            <a:xfrm flipH="1">
              <a:off x="2531831" y="5311196"/>
              <a:ext cx="1223144" cy="292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708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SEO优化工具</a:t>
              </a:r>
              <a:endPara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91" name="组合 390"/>
          <p:cNvGrpSpPr/>
          <p:nvPr/>
        </p:nvGrpSpPr>
        <p:grpSpPr>
          <a:xfrm>
            <a:off x="1262322" y="5656725"/>
            <a:ext cx="3073365" cy="272922"/>
            <a:chOff x="1235575" y="5311196"/>
            <a:chExt cx="2519400" cy="29213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92" name="矩形: 圆角 391"/>
            <p:cNvSpPr/>
            <p:nvPr/>
          </p:nvSpPr>
          <p:spPr>
            <a:xfrm flipH="1">
              <a:off x="1235575" y="5311196"/>
              <a:ext cx="1223144" cy="292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708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广告投放平台</a:t>
              </a:r>
              <a:endPara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93" name="矩形: 圆角 392"/>
            <p:cNvSpPr/>
            <p:nvPr/>
          </p:nvSpPr>
          <p:spPr>
            <a:xfrm flipH="1">
              <a:off x="2531831" y="5311196"/>
              <a:ext cx="1223144" cy="2921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708" cap="flat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kern="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电子邮件营销工具</a:t>
              </a:r>
              <a:endParaRPr lang="en-US" altLang="zh-CN" sz="800" kern="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02" name="矩形: 圆角 401"/>
          <p:cNvSpPr/>
          <p:nvPr/>
        </p:nvSpPr>
        <p:spPr>
          <a:xfrm>
            <a:off x="4632111" y="2110985"/>
            <a:ext cx="3497769" cy="707830"/>
          </a:xfrm>
          <a:prstGeom prst="roundRect">
            <a:avLst>
              <a:gd name="adj" fmla="val 6155"/>
            </a:avLst>
          </a:prstGeom>
          <a:noFill/>
          <a:ln w="12700" cap="flat" cmpd="sng" algn="ctr">
            <a:solidFill>
              <a:schemeClr val="accent5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5" name="矩形: 圆角 404"/>
          <p:cNvSpPr/>
          <p:nvPr/>
        </p:nvSpPr>
        <p:spPr>
          <a:xfrm>
            <a:off x="8218792" y="2110985"/>
            <a:ext cx="3497769" cy="707830"/>
          </a:xfrm>
          <a:prstGeom prst="roundRect">
            <a:avLst>
              <a:gd name="adj" fmla="val 6155"/>
            </a:avLst>
          </a:prstGeom>
          <a:noFill/>
          <a:ln w="12700" cap="flat" cmpd="sng" algn="ctr">
            <a:solidFill>
              <a:schemeClr val="accent5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9" name="矩形: 圆角 408"/>
          <p:cNvSpPr/>
          <p:nvPr/>
        </p:nvSpPr>
        <p:spPr>
          <a:xfrm>
            <a:off x="1045431" y="1695130"/>
            <a:ext cx="3497769" cy="329917"/>
          </a:xfrm>
          <a:prstGeom prst="roundRect">
            <a:avLst>
              <a:gd name="adj" fmla="val 10790"/>
            </a:avLst>
          </a:prstGeom>
          <a:gradFill>
            <a:gsLst>
              <a:gs pos="2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数据分析洞察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" name="矩形: 圆角 409"/>
          <p:cNvSpPr/>
          <p:nvPr/>
        </p:nvSpPr>
        <p:spPr>
          <a:xfrm>
            <a:off x="4632111" y="1695130"/>
            <a:ext cx="3497769" cy="329917"/>
          </a:xfrm>
          <a:prstGeom prst="roundRect">
            <a:avLst>
              <a:gd name="adj" fmla="val 10790"/>
            </a:avLst>
          </a:prstGeom>
          <a:gradFill>
            <a:gsLst>
              <a:gs pos="2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用户画像构建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1" name="矩形: 圆角 410"/>
          <p:cNvSpPr/>
          <p:nvPr/>
        </p:nvSpPr>
        <p:spPr>
          <a:xfrm>
            <a:off x="8218792" y="1695130"/>
            <a:ext cx="3497769" cy="329917"/>
          </a:xfrm>
          <a:prstGeom prst="roundRect">
            <a:avLst>
              <a:gd name="adj" fmla="val 10790"/>
            </a:avLst>
          </a:prstGeom>
          <a:gradFill>
            <a:gsLst>
              <a:gs pos="2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" scaled="0"/>
          </a:gra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精细化营销策略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8" name="等腰三角形 417"/>
          <p:cNvSpPr/>
          <p:nvPr/>
        </p:nvSpPr>
        <p:spPr>
          <a:xfrm rot="5400000">
            <a:off x="882857" y="3241388"/>
            <a:ext cx="103231" cy="88992"/>
          </a:xfrm>
          <a:prstGeom prst="triangle">
            <a:avLst/>
          </a:prstGeom>
          <a:solidFill>
            <a:schemeClr val="accent5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等腰三角形 418"/>
          <p:cNvSpPr/>
          <p:nvPr/>
        </p:nvSpPr>
        <p:spPr>
          <a:xfrm rot="5400000">
            <a:off x="882857" y="4192529"/>
            <a:ext cx="103231" cy="88992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等腰三角形 419"/>
          <p:cNvSpPr/>
          <p:nvPr/>
        </p:nvSpPr>
        <p:spPr>
          <a:xfrm rot="5400000">
            <a:off x="882857" y="5396396"/>
            <a:ext cx="103231" cy="88992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3" name="文本框 422"/>
          <p:cNvSpPr txBox="1"/>
          <p:nvPr/>
        </p:nvSpPr>
        <p:spPr>
          <a:xfrm>
            <a:off x="1818640" y="2232025"/>
            <a:ext cx="2660015" cy="44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50" kern="0">
                <a:solidFill>
                  <a:schemeClr val="tx2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深入领会企业的商业模式、产品特点、市场需求等，确保对业务运作的全面理解。</a:t>
            </a:r>
            <a:endParaRPr lang="zh-CN" altLang="en-US" sz="950" kern="0">
              <a:solidFill>
                <a:schemeClr val="tx2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7" name="文本框 426"/>
          <p:cNvSpPr txBox="1"/>
          <p:nvPr/>
        </p:nvSpPr>
        <p:spPr>
          <a:xfrm>
            <a:off x="5434330" y="2187575"/>
            <a:ext cx="2695575" cy="6000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50" kern="0">
                <a:solidFill>
                  <a:schemeClr val="tx2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通过对行业市场、竞争态势、趋势变化等方面的观察和研究，获得对行业发展的深入了解和敏锐洞察。</a:t>
            </a:r>
            <a:endParaRPr lang="zh-CN" altLang="en-US" sz="950" kern="0">
              <a:solidFill>
                <a:schemeClr val="tx2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0" name="文本框 429"/>
          <p:cNvSpPr txBox="1"/>
          <p:nvPr/>
        </p:nvSpPr>
        <p:spPr>
          <a:xfrm>
            <a:off x="9050020" y="2160905"/>
            <a:ext cx="2648585" cy="5575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950" kern="0">
                <a:solidFill>
                  <a:schemeClr val="tx2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通过分析数据、听取用户反馈、进行市场调研等手段，准确发现企业在增长、运营、用户体验等方面存在的问题和难题。</a:t>
            </a:r>
            <a:endParaRPr lang="zh-CN" altLang="en-US" sz="950" kern="0">
              <a:solidFill>
                <a:schemeClr val="tx2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44" name="组合 443"/>
          <p:cNvGrpSpPr/>
          <p:nvPr/>
        </p:nvGrpSpPr>
        <p:grpSpPr>
          <a:xfrm>
            <a:off x="4834693" y="5656725"/>
            <a:ext cx="3063982" cy="272922"/>
            <a:chOff x="4834693" y="5656725"/>
            <a:chExt cx="2540888" cy="27292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34" name="矩形: 圆角 333"/>
            <p:cNvSpPr/>
            <p:nvPr/>
          </p:nvSpPr>
          <p:spPr>
            <a:xfrm>
              <a:off x="4834693" y="5656725"/>
              <a:ext cx="812574" cy="272922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用户体验</a:t>
              </a:r>
              <a:endPara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2" name="矩形: 圆角 441"/>
            <p:cNvSpPr/>
            <p:nvPr/>
          </p:nvSpPr>
          <p:spPr>
            <a:xfrm>
              <a:off x="5698850" y="5656725"/>
              <a:ext cx="812574" cy="272922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个性化推荐</a:t>
              </a:r>
              <a:endPara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3" name="矩形: 圆角 442"/>
            <p:cNvSpPr/>
            <p:nvPr/>
          </p:nvSpPr>
          <p:spPr>
            <a:xfrm>
              <a:off x="6563007" y="5656725"/>
              <a:ext cx="812574" cy="272922"/>
            </a:xfrm>
            <a:prstGeom prst="roundRect">
              <a:avLst/>
            </a:prstGeom>
            <a:grpFill/>
            <a:ln w="9708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83876" tIns="41938" rIns="83876" bIns="4193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800" b="1"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社交化分享</a:t>
              </a:r>
              <a:endParaRPr lang="zh-CN" altLang="en-US" sz="800" b="1" ker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2" name="组合 451"/>
          <p:cNvGrpSpPr/>
          <p:nvPr/>
        </p:nvGrpSpPr>
        <p:grpSpPr>
          <a:xfrm>
            <a:off x="1354582" y="3201734"/>
            <a:ext cx="171450" cy="176213"/>
            <a:chOff x="249238" y="1801812"/>
            <a:chExt cx="171450" cy="176213"/>
          </a:xfrm>
        </p:grpSpPr>
        <p:sp>
          <p:nvSpPr>
            <p:cNvPr id="449" name="任意多边形: 形状 448"/>
            <p:cNvSpPr/>
            <p:nvPr/>
          </p:nvSpPr>
          <p:spPr>
            <a:xfrm>
              <a:off x="249238" y="1835150"/>
              <a:ext cx="171450" cy="142875"/>
            </a:xfrm>
            <a:custGeom>
              <a:avLst/>
              <a:gdLst>
                <a:gd name="connsiteX0" fmla="*/ 161925 w 171450"/>
                <a:gd name="connsiteY0" fmla="*/ 0 h 142875"/>
                <a:gd name="connsiteX1" fmla="*/ 171450 w 171450"/>
                <a:gd name="connsiteY1" fmla="*/ 0 h 142875"/>
                <a:gd name="connsiteX2" fmla="*/ 171450 w 171450"/>
                <a:gd name="connsiteY2" fmla="*/ 142875 h 142875"/>
                <a:gd name="connsiteX3" fmla="*/ 161925 w 171450"/>
                <a:gd name="connsiteY3" fmla="*/ 142875 h 142875"/>
                <a:gd name="connsiteX4" fmla="*/ 9525 w 171450"/>
                <a:gd name="connsiteY4" fmla="*/ 142875 h 142875"/>
                <a:gd name="connsiteX5" fmla="*/ 0 w 171450"/>
                <a:gd name="connsiteY5" fmla="*/ 142875 h 142875"/>
                <a:gd name="connsiteX6" fmla="*/ 0 w 171450"/>
                <a:gd name="connsiteY6" fmla="*/ 0 h 142875"/>
                <a:gd name="connsiteX7" fmla="*/ 9525 w 171450"/>
                <a:gd name="connsiteY7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1450" h="142875">
                  <a:moveTo>
                    <a:pt x="161925" y="0"/>
                  </a:moveTo>
                  <a:cubicBezTo>
                    <a:pt x="167186" y="0"/>
                    <a:pt x="171450" y="0"/>
                    <a:pt x="171450" y="0"/>
                  </a:cubicBezTo>
                  <a:lnTo>
                    <a:pt x="171450" y="142875"/>
                  </a:lnTo>
                  <a:cubicBezTo>
                    <a:pt x="171450" y="142875"/>
                    <a:pt x="167186" y="142875"/>
                    <a:pt x="161925" y="142875"/>
                  </a:cubicBezTo>
                  <a:lnTo>
                    <a:pt x="9525" y="142875"/>
                  </a:lnTo>
                  <a:cubicBezTo>
                    <a:pt x="4264" y="142875"/>
                    <a:pt x="0" y="142875"/>
                    <a:pt x="0" y="142875"/>
                  </a:cubicBezTo>
                  <a:lnTo>
                    <a:pt x="0" y="0"/>
                  </a:lnTo>
                  <a:cubicBezTo>
                    <a:pt x="0" y="0"/>
                    <a:pt x="4264" y="0"/>
                    <a:pt x="9525" y="0"/>
                  </a:cubicBezTo>
                  <a:close/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0" name="任意多边形: 形状 449"/>
            <p:cNvSpPr/>
            <p:nvPr/>
          </p:nvSpPr>
          <p:spPr>
            <a:xfrm>
              <a:off x="306148" y="1892339"/>
              <a:ext cx="57150" cy="4762"/>
            </a:xfrm>
            <a:custGeom>
              <a:avLst/>
              <a:gdLst>
                <a:gd name="connsiteX0" fmla="*/ 0 w 57150"/>
                <a:gd name="connsiteY0" fmla="*/ 0 h 4762"/>
                <a:gd name="connsiteX1" fmla="*/ 57150 w 57150"/>
                <a:gd name="connsiteY1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150" h="4762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1" name="任意多边形: 形状 450"/>
            <p:cNvSpPr/>
            <p:nvPr/>
          </p:nvSpPr>
          <p:spPr>
            <a:xfrm>
              <a:off x="249238" y="1801812"/>
              <a:ext cx="171450" cy="38100"/>
            </a:xfrm>
            <a:custGeom>
              <a:avLst/>
              <a:gdLst>
                <a:gd name="connsiteX0" fmla="*/ 0 w 171450"/>
                <a:gd name="connsiteY0" fmla="*/ 38100 h 38100"/>
                <a:gd name="connsiteX1" fmla="*/ 33338 w 171450"/>
                <a:gd name="connsiteY1" fmla="*/ 0 h 38100"/>
                <a:gd name="connsiteX2" fmla="*/ 138113 w 171450"/>
                <a:gd name="connsiteY2" fmla="*/ 0 h 38100"/>
                <a:gd name="connsiteX3" fmla="*/ 171450 w 1714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50" h="38100">
                  <a:moveTo>
                    <a:pt x="0" y="38100"/>
                  </a:moveTo>
                  <a:lnTo>
                    <a:pt x="33338" y="0"/>
                  </a:lnTo>
                  <a:lnTo>
                    <a:pt x="138113" y="0"/>
                  </a:lnTo>
                  <a:lnTo>
                    <a:pt x="171450" y="38100"/>
                  </a:lnTo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0" name="组合 459"/>
          <p:cNvGrpSpPr/>
          <p:nvPr/>
        </p:nvGrpSpPr>
        <p:grpSpPr>
          <a:xfrm>
            <a:off x="4931737" y="3194590"/>
            <a:ext cx="190500" cy="190500"/>
            <a:chOff x="19054" y="19050"/>
            <a:chExt cx="190500" cy="190500"/>
          </a:xfrm>
        </p:grpSpPr>
        <p:sp>
          <p:nvSpPr>
            <p:cNvPr id="456" name="任意多边形: 形状 455"/>
            <p:cNvSpPr/>
            <p:nvPr/>
          </p:nvSpPr>
          <p:spPr>
            <a:xfrm>
              <a:off x="32658" y="32656"/>
              <a:ext cx="65314" cy="65314"/>
            </a:xfrm>
            <a:custGeom>
              <a:avLst/>
              <a:gdLst>
                <a:gd name="connsiteX0" fmla="*/ 65314 w 65314"/>
                <a:gd name="connsiteY0" fmla="*/ 32657 h 65314"/>
                <a:gd name="connsiteX1" fmla="*/ 32657 w 65314"/>
                <a:gd name="connsiteY1" fmla="*/ 65314 h 65314"/>
                <a:gd name="connsiteX2" fmla="*/ 0 w 65314"/>
                <a:gd name="connsiteY2" fmla="*/ 32657 h 65314"/>
                <a:gd name="connsiteX3" fmla="*/ 32657 w 65314"/>
                <a:gd name="connsiteY3" fmla="*/ 0 h 65314"/>
                <a:gd name="connsiteX4" fmla="*/ 65314 w 65314"/>
                <a:gd name="connsiteY4" fmla="*/ 32657 h 6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14" h="65314">
                  <a:moveTo>
                    <a:pt x="65314" y="32657"/>
                  </a:moveTo>
                  <a:cubicBezTo>
                    <a:pt x="65314" y="50693"/>
                    <a:pt x="50693" y="65314"/>
                    <a:pt x="32657" y="65314"/>
                  </a:cubicBezTo>
                  <a:cubicBezTo>
                    <a:pt x="14621" y="65314"/>
                    <a:pt x="0" y="50693"/>
                    <a:pt x="0" y="32657"/>
                  </a:cubicBezTo>
                  <a:cubicBezTo>
                    <a:pt x="0" y="14621"/>
                    <a:pt x="14621" y="0"/>
                    <a:pt x="32657" y="0"/>
                  </a:cubicBezTo>
                  <a:cubicBezTo>
                    <a:pt x="50693" y="0"/>
                    <a:pt x="65314" y="14621"/>
                    <a:pt x="65314" y="32657"/>
                  </a:cubicBezTo>
                  <a:close/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7" name="任意多边形: 形状 456"/>
            <p:cNvSpPr/>
            <p:nvPr/>
          </p:nvSpPr>
          <p:spPr>
            <a:xfrm>
              <a:off x="130629" y="130627"/>
              <a:ext cx="65314" cy="65314"/>
            </a:xfrm>
            <a:custGeom>
              <a:avLst/>
              <a:gdLst>
                <a:gd name="connsiteX0" fmla="*/ 65314 w 65314"/>
                <a:gd name="connsiteY0" fmla="*/ 32657 h 65314"/>
                <a:gd name="connsiteX1" fmla="*/ 32657 w 65314"/>
                <a:gd name="connsiteY1" fmla="*/ 65314 h 65314"/>
                <a:gd name="connsiteX2" fmla="*/ 0 w 65314"/>
                <a:gd name="connsiteY2" fmla="*/ 32657 h 65314"/>
                <a:gd name="connsiteX3" fmla="*/ 32657 w 65314"/>
                <a:gd name="connsiteY3" fmla="*/ 0 h 65314"/>
                <a:gd name="connsiteX4" fmla="*/ 65314 w 65314"/>
                <a:gd name="connsiteY4" fmla="*/ 32657 h 6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14" h="65314">
                  <a:moveTo>
                    <a:pt x="65314" y="32657"/>
                  </a:moveTo>
                  <a:cubicBezTo>
                    <a:pt x="65314" y="50693"/>
                    <a:pt x="50693" y="65314"/>
                    <a:pt x="32657" y="65314"/>
                  </a:cubicBezTo>
                  <a:cubicBezTo>
                    <a:pt x="14621" y="65314"/>
                    <a:pt x="0" y="50693"/>
                    <a:pt x="0" y="32657"/>
                  </a:cubicBezTo>
                  <a:cubicBezTo>
                    <a:pt x="0" y="14621"/>
                    <a:pt x="14621" y="0"/>
                    <a:pt x="32657" y="0"/>
                  </a:cubicBezTo>
                  <a:cubicBezTo>
                    <a:pt x="50693" y="0"/>
                    <a:pt x="65314" y="14621"/>
                    <a:pt x="65314" y="32657"/>
                  </a:cubicBezTo>
                  <a:close/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8" name="任意多边形: 形状 457"/>
            <p:cNvSpPr/>
            <p:nvPr/>
          </p:nvSpPr>
          <p:spPr>
            <a:xfrm>
              <a:off x="19054" y="114300"/>
              <a:ext cx="95250" cy="95250"/>
            </a:xfrm>
            <a:custGeom>
              <a:avLst/>
              <a:gdLst>
                <a:gd name="connsiteX0" fmla="*/ 95250 w 95250"/>
                <a:gd name="connsiteY0" fmla="*/ 95250 h 95250"/>
                <a:gd name="connsiteX1" fmla="*/ 0 w 95250"/>
                <a:gd name="connsiteY1" fmla="*/ 0 h 95250"/>
                <a:gd name="connsiteX2" fmla="*/ 31750 w 95250"/>
                <a:gd name="connsiteY2" fmla="*/ 1587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" h="95250">
                  <a:moveTo>
                    <a:pt x="95250" y="95250"/>
                  </a:moveTo>
                  <a:cubicBezTo>
                    <a:pt x="42645" y="95250"/>
                    <a:pt x="0" y="52605"/>
                    <a:pt x="0" y="0"/>
                  </a:cubicBezTo>
                  <a:lnTo>
                    <a:pt x="31750" y="15875"/>
                  </a:lnTo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9" name="任意多边形: 形状 458"/>
            <p:cNvSpPr/>
            <p:nvPr/>
          </p:nvSpPr>
          <p:spPr>
            <a:xfrm>
              <a:off x="114304" y="19050"/>
              <a:ext cx="95250" cy="95250"/>
            </a:xfrm>
            <a:custGeom>
              <a:avLst/>
              <a:gdLst>
                <a:gd name="connsiteX0" fmla="*/ 0 w 95250"/>
                <a:gd name="connsiteY0" fmla="*/ 0 h 95250"/>
                <a:gd name="connsiteX1" fmla="*/ 95250 w 95250"/>
                <a:gd name="connsiteY1" fmla="*/ 95250 h 95250"/>
                <a:gd name="connsiteX2" fmla="*/ 63500 w 95250"/>
                <a:gd name="connsiteY2" fmla="*/ 7937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" h="95250">
                  <a:moveTo>
                    <a:pt x="0" y="0"/>
                  </a:moveTo>
                  <a:cubicBezTo>
                    <a:pt x="52605" y="0"/>
                    <a:pt x="95250" y="42645"/>
                    <a:pt x="95250" y="95250"/>
                  </a:cubicBezTo>
                  <a:lnTo>
                    <a:pt x="63500" y="79375"/>
                  </a:lnTo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66" name="组合 465"/>
          <p:cNvGrpSpPr/>
          <p:nvPr/>
        </p:nvGrpSpPr>
        <p:grpSpPr>
          <a:xfrm>
            <a:off x="8512254" y="3202913"/>
            <a:ext cx="202829" cy="173854"/>
            <a:chOff x="4933420" y="3045295"/>
            <a:chExt cx="166687" cy="142875"/>
          </a:xfrm>
        </p:grpSpPr>
        <p:sp>
          <p:nvSpPr>
            <p:cNvPr id="464" name="任意多边形: 形状 463"/>
            <p:cNvSpPr/>
            <p:nvPr/>
          </p:nvSpPr>
          <p:spPr>
            <a:xfrm>
              <a:off x="4933420" y="3045295"/>
              <a:ext cx="166687" cy="142875"/>
            </a:xfrm>
            <a:custGeom>
              <a:avLst/>
              <a:gdLst>
                <a:gd name="connsiteX0" fmla="*/ 123031 w 166687"/>
                <a:gd name="connsiteY0" fmla="*/ 0 h 142875"/>
                <a:gd name="connsiteX1" fmla="*/ 43656 w 166687"/>
                <a:gd name="connsiteY1" fmla="*/ 0 h 142875"/>
                <a:gd name="connsiteX2" fmla="*/ 0 w 166687"/>
                <a:gd name="connsiteY2" fmla="*/ 71438 h 142875"/>
                <a:gd name="connsiteX3" fmla="*/ 43656 w 166687"/>
                <a:gd name="connsiteY3" fmla="*/ 142875 h 142875"/>
                <a:gd name="connsiteX4" fmla="*/ 123031 w 166687"/>
                <a:gd name="connsiteY4" fmla="*/ 142875 h 142875"/>
                <a:gd name="connsiteX5" fmla="*/ 166688 w 166687"/>
                <a:gd name="connsiteY5" fmla="*/ 71438 h 142875"/>
                <a:gd name="connsiteX6" fmla="*/ 123031 w 166687"/>
                <a:gd name="connsiteY6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687" h="142875">
                  <a:moveTo>
                    <a:pt x="123031" y="0"/>
                  </a:moveTo>
                  <a:lnTo>
                    <a:pt x="43656" y="0"/>
                  </a:lnTo>
                  <a:lnTo>
                    <a:pt x="0" y="71438"/>
                  </a:lnTo>
                  <a:lnTo>
                    <a:pt x="43656" y="142875"/>
                  </a:lnTo>
                  <a:lnTo>
                    <a:pt x="123031" y="142875"/>
                  </a:lnTo>
                  <a:lnTo>
                    <a:pt x="166688" y="71438"/>
                  </a:lnTo>
                  <a:lnTo>
                    <a:pt x="123031" y="0"/>
                  </a:lnTo>
                  <a:close/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5" name="任意多边形: 形状 464"/>
            <p:cNvSpPr/>
            <p:nvPr/>
          </p:nvSpPr>
          <p:spPr>
            <a:xfrm>
              <a:off x="4981045" y="3081014"/>
              <a:ext cx="71437" cy="55562"/>
            </a:xfrm>
            <a:custGeom>
              <a:avLst/>
              <a:gdLst>
                <a:gd name="connsiteX0" fmla="*/ 0 w 71437"/>
                <a:gd name="connsiteY0" fmla="*/ 55563 h 55562"/>
                <a:gd name="connsiteX1" fmla="*/ 35719 w 71437"/>
                <a:gd name="connsiteY1" fmla="*/ 0 h 55562"/>
                <a:gd name="connsiteX2" fmla="*/ 71438 w 71437"/>
                <a:gd name="connsiteY2" fmla="*/ 55563 h 55562"/>
                <a:gd name="connsiteX3" fmla="*/ 0 w 71437"/>
                <a:gd name="connsiteY3" fmla="*/ 55563 h 5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37" h="55562">
                  <a:moveTo>
                    <a:pt x="0" y="55563"/>
                  </a:moveTo>
                  <a:lnTo>
                    <a:pt x="35719" y="0"/>
                  </a:lnTo>
                  <a:lnTo>
                    <a:pt x="71438" y="55563"/>
                  </a:lnTo>
                  <a:lnTo>
                    <a:pt x="0" y="55563"/>
                  </a:lnTo>
                  <a:close/>
                </a:path>
              </a:pathLst>
            </a:custGeom>
            <a:noFill/>
            <a:ln w="15875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9" name="矩形: 圆角 62"/>
          <p:cNvSpPr/>
          <p:nvPr/>
        </p:nvSpPr>
        <p:spPr>
          <a:xfrm>
            <a:off x="1123315" y="2201545"/>
            <a:ext cx="564515" cy="543560"/>
          </a:xfrm>
          <a:prstGeom prst="roundRect">
            <a:avLst>
              <a:gd name="adj" fmla="val 7343"/>
            </a:avLst>
          </a:prstGeom>
          <a:solidFill>
            <a:schemeClr val="accent5"/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业务把握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矩形: 圆角 62"/>
          <p:cNvSpPr/>
          <p:nvPr/>
        </p:nvSpPr>
        <p:spPr>
          <a:xfrm>
            <a:off x="4744720" y="2201545"/>
            <a:ext cx="564515" cy="543560"/>
          </a:xfrm>
          <a:prstGeom prst="roundRect">
            <a:avLst>
              <a:gd name="adj" fmla="val 7343"/>
            </a:avLst>
          </a:prstGeom>
          <a:solidFill>
            <a:schemeClr val="accent5"/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行业分析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矩形: 圆角 62"/>
          <p:cNvSpPr/>
          <p:nvPr/>
        </p:nvSpPr>
        <p:spPr>
          <a:xfrm>
            <a:off x="8346440" y="2187575"/>
            <a:ext cx="564515" cy="543560"/>
          </a:xfrm>
          <a:prstGeom prst="roundRect">
            <a:avLst>
              <a:gd name="adj" fmla="val 7343"/>
            </a:avLst>
          </a:prstGeom>
          <a:solidFill>
            <a:schemeClr val="accent5"/>
          </a:solidFill>
          <a:ln w="970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问题辨识</a:t>
            </a: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运动品牌年度品牌战略规划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05" name="矩形 104"/>
          <p:cNvSpPr/>
          <p:nvPr/>
        </p:nvSpPr>
        <p:spPr>
          <a:xfrm>
            <a:off x="1139825" y="4335780"/>
            <a:ext cx="10609580" cy="2381885"/>
          </a:xfrm>
          <a:prstGeom prst="rect">
            <a:avLst/>
          </a:prstGeom>
          <a:solidFill>
            <a:schemeClr val="accent5">
              <a:alpha val="5000"/>
            </a:schemeClr>
          </a:solidFill>
          <a:ln>
            <a:solidFill>
              <a:schemeClr val="accent5">
                <a:alpha val="50000"/>
              </a:schemeClr>
            </a:solidFill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ctr" eaLnBrk="0">
              <a:buClrTx/>
              <a:buSzTx/>
              <a:buFontTx/>
            </a:pP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31" name="直接连接符 130"/>
          <p:cNvCxnSpPr/>
          <p:nvPr/>
        </p:nvCxnSpPr>
        <p:spPr>
          <a:xfrm>
            <a:off x="1141095" y="6186805"/>
            <a:ext cx="10604500" cy="0"/>
          </a:xfrm>
          <a:prstGeom prst="line">
            <a:avLst/>
          </a:prstGeom>
          <a:noFill/>
          <a:ln w="12700" cap="flat" cmpd="sng" algn="ctr">
            <a:solidFill>
              <a:schemeClr val="accent5"/>
            </a:solidFill>
            <a:prstDash val="sysDot"/>
            <a:miter lim="800000"/>
          </a:ln>
          <a:effectLst/>
        </p:spPr>
        <p:style>
          <a:lnRef idx="2">
            <a:srgbClr val="64171D"/>
          </a:lnRef>
          <a:fillRef idx="0">
            <a:srgbClr val="64171D"/>
          </a:fillRef>
          <a:effectRef idx="1">
            <a:srgbClr val="64171D"/>
          </a:effectRef>
          <a:fontRef idx="minor">
            <a:sysClr val="windowText" lastClr="000000"/>
          </a:fontRef>
        </p:style>
      </p:cxnSp>
      <p:cxnSp>
        <p:nvCxnSpPr>
          <p:cNvPr id="193" name="直接连接符 192"/>
          <p:cNvCxnSpPr/>
          <p:nvPr/>
        </p:nvCxnSpPr>
        <p:spPr>
          <a:xfrm>
            <a:off x="1148080" y="5177155"/>
            <a:ext cx="10601325" cy="0"/>
          </a:xfrm>
          <a:prstGeom prst="line">
            <a:avLst/>
          </a:prstGeom>
          <a:noFill/>
          <a:ln w="12700" cap="flat" cmpd="sng" algn="ctr">
            <a:solidFill>
              <a:schemeClr val="accent5">
                <a:lumMod val="60000"/>
                <a:lumOff val="40000"/>
              </a:schemeClr>
            </a:solidFill>
            <a:prstDash val="sysDot"/>
            <a:miter lim="800000"/>
          </a:ln>
          <a:effectLst/>
        </p:spPr>
        <p:style>
          <a:lnRef idx="2">
            <a:srgbClr val="64171D"/>
          </a:lnRef>
          <a:fillRef idx="0">
            <a:srgbClr val="64171D"/>
          </a:fillRef>
          <a:effectRef idx="1">
            <a:srgbClr val="64171D"/>
          </a:effectRef>
          <a:fontRef idx="minor">
            <a:sysClr val="windowText" lastClr="000000"/>
          </a:fontRef>
        </p:style>
      </p:cxnSp>
      <p:sp>
        <p:nvSpPr>
          <p:cNvPr id="128" name="矩形 127"/>
          <p:cNvSpPr/>
          <p:nvPr/>
        </p:nvSpPr>
        <p:spPr>
          <a:xfrm>
            <a:off x="443230" y="4336415"/>
            <a:ext cx="654050" cy="2381885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5">
                  <a:lumMod val="60000"/>
                  <a:lumOff val="40000"/>
                </a:schemeClr>
              </a:gs>
            </a:gsLst>
            <a:lin ang="54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SG" altLang="en-US" sz="1000">
              <a:solidFill>
                <a:sysClr val="window" lastClr="FFFFFF">
                  <a:alpha val="80000"/>
                </a:sys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30" name="直接连接符 129"/>
          <p:cNvCxnSpPr>
            <a:stCxn id="128" idx="0"/>
          </p:cNvCxnSpPr>
          <p:nvPr/>
        </p:nvCxnSpPr>
        <p:spPr>
          <a:xfrm>
            <a:off x="770255" y="4336415"/>
            <a:ext cx="0" cy="243205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/>
          </a:lnRef>
          <a:fillRef idx="0">
            <a:srgbClr val="64171D"/>
          </a:fillRef>
          <a:effectRef idx="1">
            <a:srgbClr val="64171D"/>
          </a:effectRef>
          <a:fontRef idx="minor">
            <a:sysClr val="windowText" lastClr="000000"/>
          </a:fontRef>
        </p:style>
      </p:cxnSp>
      <p:cxnSp>
        <p:nvCxnSpPr>
          <p:cNvPr id="134" name="直接连接符 133"/>
          <p:cNvCxnSpPr/>
          <p:nvPr/>
        </p:nvCxnSpPr>
        <p:spPr>
          <a:xfrm>
            <a:off x="772160" y="5177155"/>
            <a:ext cx="333375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/>
          </a:lnRef>
          <a:fillRef idx="0">
            <a:srgbClr val="64171D"/>
          </a:fillRef>
          <a:effectRef idx="1">
            <a:srgbClr val="64171D"/>
          </a:effectRef>
          <a:fontRef idx="minor">
            <a:sysClr val="windowText" lastClr="000000"/>
          </a:fontRef>
        </p:style>
      </p:cxnSp>
      <p:sp>
        <p:nvSpPr>
          <p:cNvPr id="139" name="文本框 138"/>
          <p:cNvSpPr txBox="1"/>
          <p:nvPr/>
        </p:nvSpPr>
        <p:spPr>
          <a:xfrm>
            <a:off x="441960" y="5121275"/>
            <a:ext cx="346075" cy="63119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lang="zh-SG" altLang="en-US" sz="105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传播行动</a:t>
            </a:r>
            <a:endParaRPr lang="zh-SG" altLang="en-US" sz="105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72160" y="4544695"/>
            <a:ext cx="346075" cy="3619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lang="zh-SG" altLang="en-US" sz="105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线上</a:t>
            </a:r>
            <a:endParaRPr lang="zh-SG" altLang="en-US" sz="105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772160" y="5489575"/>
            <a:ext cx="346075" cy="3619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lang="zh-SG" altLang="en-US" sz="105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线下</a:t>
            </a:r>
            <a:endParaRPr lang="zh-SG" altLang="en-US" sz="105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772160" y="6273800"/>
            <a:ext cx="346075" cy="361950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r>
              <a:rPr lang="zh-SG" altLang="en-US" sz="105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</a:t>
            </a:r>
            <a:endParaRPr lang="zh-SG" altLang="en-US" sz="1050" dirty="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772160" y="6186805"/>
            <a:ext cx="333375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/>
          </a:lnRef>
          <a:fillRef idx="0">
            <a:srgbClr val="64171D"/>
          </a:fillRef>
          <a:effectRef idx="1">
            <a:srgbClr val="64171D"/>
          </a:effectRef>
          <a:fontRef idx="minor">
            <a:sysClr val="windowText" lastClr="000000"/>
          </a:fontRef>
        </p:style>
      </p:cxnSp>
      <p:sp>
        <p:nvSpPr>
          <p:cNvPr id="83" name="矩形 82"/>
          <p:cNvSpPr/>
          <p:nvPr/>
        </p:nvSpPr>
        <p:spPr>
          <a:xfrm>
            <a:off x="443230" y="1849755"/>
            <a:ext cx="11306175" cy="367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6570" y="1910715"/>
            <a:ext cx="554990" cy="246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SG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</a:t>
            </a:r>
            <a:endParaRPr lang="zh-SG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: 圆角 85"/>
          <p:cNvSpPr/>
          <p:nvPr/>
        </p:nvSpPr>
        <p:spPr>
          <a:xfrm>
            <a:off x="133794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221234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Feb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308610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Mar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396049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Apr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483489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May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570928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Jun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658304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Jul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745744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Aug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833183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Sep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5" name="矩形: 圆角 94"/>
          <p:cNvSpPr/>
          <p:nvPr/>
        </p:nvSpPr>
        <p:spPr>
          <a:xfrm>
            <a:off x="920623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Oct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6" name="矩形: 圆角 95"/>
          <p:cNvSpPr/>
          <p:nvPr/>
        </p:nvSpPr>
        <p:spPr>
          <a:xfrm>
            <a:off x="10079990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Nov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10954385" y="1929765"/>
            <a:ext cx="600075" cy="20828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9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Dec</a:t>
            </a:r>
            <a:endParaRPr lang="en-US" sz="90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143000" y="2264410"/>
            <a:ext cx="10606405" cy="3676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智能缓震跑鞋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8600"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系列市场认知，建立专业运动装备技术标杆，巩固运动之星科技运动品牌定位，强化用户社群口碑体系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443230" y="2264410"/>
            <a:ext cx="661670" cy="36766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wrap="none" rtlCol="0" anchor="ctr"/>
          <a:lstStyle/>
          <a:p>
            <a:pPr algn="ctr"/>
            <a:r>
              <a:rPr lang="zh-SG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传播目标</a:t>
            </a:r>
            <a:endParaRPr lang="zh-SG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443230" y="2671445"/>
            <a:ext cx="661670" cy="367665"/>
          </a:xfrm>
          <a:prstGeom prst="rect">
            <a:avLst/>
          </a:prstGeom>
          <a:solidFill>
            <a:schemeClr val="accent1">
              <a:lumMod val="20000"/>
              <a:lumOff val="80000"/>
              <a:alpha val="28000"/>
            </a:schemeClr>
          </a:solidFill>
          <a:ln w="12700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SG" altLang="en-US" sz="1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传播节奏</a:t>
            </a:r>
            <a:endParaRPr lang="zh-SG" altLang="en-US" sz="10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1143000" y="3086735"/>
            <a:ext cx="3499485" cy="54800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443230" y="3086735"/>
            <a:ext cx="661670" cy="548005"/>
          </a:xfrm>
          <a:prstGeom prst="rect">
            <a:avLst/>
          </a:prstGeom>
          <a:solidFill>
            <a:schemeClr val="accent1">
              <a:lumMod val="20000"/>
              <a:lumOff val="80000"/>
              <a:alpha val="28000"/>
            </a:schemeClr>
          </a:solidFill>
          <a:ln w="12700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SG" altLang="en-US" sz="1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阶段任务</a:t>
            </a:r>
            <a:endParaRPr lang="zh-SG" altLang="en-US" sz="10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1143000" y="3674110"/>
            <a:ext cx="3499485" cy="60325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443230" y="3674110"/>
            <a:ext cx="661670" cy="603250"/>
          </a:xfrm>
          <a:prstGeom prst="rect">
            <a:avLst/>
          </a:prstGeom>
          <a:solidFill>
            <a:schemeClr val="accent1">
              <a:lumMod val="20000"/>
              <a:lumOff val="80000"/>
              <a:alpha val="28000"/>
            </a:schemeClr>
          </a:solidFill>
          <a:ln w="12700" cap="flat" cmpd="sng" algn="ctr">
            <a:solidFill>
              <a:schemeClr val="accent1">
                <a:lumMod val="40000"/>
                <a:lumOff val="60000"/>
                <a:alpha val="50000"/>
              </a:schemeClr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SG" altLang="en-US" sz="10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传播信息</a:t>
            </a:r>
            <a:endParaRPr lang="zh-SG" altLang="en-US" sz="10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1143000" y="2671445"/>
            <a:ext cx="3499485" cy="36766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社交媒体话题酝酿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运动员代言预热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4696460" y="2671445"/>
            <a:ext cx="3499485" cy="36766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春夏新品发布会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明星运动员矩阵传播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8249285" y="2671445"/>
            <a:ext cx="3499485" cy="36766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马拉松赛事嵌入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全民健身场景渗透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658303" y="3161348"/>
            <a:ext cx="2468880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借势奥运会通过签约运动员强化专业形象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"21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天运动挑战赛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打造社群互动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912620" y="3699193"/>
            <a:ext cx="1960880" cy="5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核心运动科技解密</a:t>
            </a:r>
            <a:endParaRPr lang="zh-CN" altLang="en-US" sz="10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超临界发泡中底材料实验室首曝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能量反馈系统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3.0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代际技术对比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4693285" y="3086735"/>
            <a:ext cx="3499485" cy="54800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693285" y="3674110"/>
            <a:ext cx="3499485" cy="60325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383848" y="3161348"/>
            <a:ext cx="2118360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"#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我的运动星球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用户故事征集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联动健身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KOL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建立场景化种草体系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5334635" y="3699193"/>
            <a:ext cx="2216150" cy="5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产品力深度拆解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动态缓震系数对比传统跑鞋提升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87%</a:t>
            </a:r>
            <a:endParaRPr lang="en-US" altLang="zh-CN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种运动场景自适应系统实测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8246110" y="3086735"/>
            <a:ext cx="3499485" cy="54800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8246110" y="3674110"/>
            <a:ext cx="3499485" cy="60325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127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8951595" y="3161348"/>
            <a:ext cx="2087880" cy="39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输出运动科学实验数据佐证产品力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构建会员积分与赛事荣誉双体系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9001760" y="3699193"/>
            <a:ext cx="1988185" cy="55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  <a:alpha val="70000"/>
                  </a:schemeClr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用户证言体系化输出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百位全马破</a:t>
            </a:r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跑者装备使用报告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健身教练年度课程装备迭代记录</a:t>
            </a:r>
            <a:endParaRPr lang="zh-CN" altLang="en-US" sz="10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3478530" y="4397375"/>
            <a:ext cx="1930400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虚拟试鞋</a:t>
            </a:r>
            <a:r>
              <a:rPr lang="en-US" altLang="zh-CN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系统上线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5617845" y="4397375"/>
            <a:ext cx="1930400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8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跑步姿态分析个性化推荐</a:t>
            </a:r>
            <a:endParaRPr lang="zh-CN" altLang="en-US" sz="8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矩形 164"/>
          <p:cNvSpPr/>
          <p:nvPr/>
        </p:nvSpPr>
        <p:spPr>
          <a:xfrm>
            <a:off x="9285605" y="4397375"/>
            <a:ext cx="1930400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跑者纪录片计划</a:t>
            </a:r>
            <a:endParaRPr lang="zh-CN" altLang="en-US" sz="8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3013075" y="4523740"/>
            <a:ext cx="7450455" cy="567055"/>
            <a:chOff x="3012957" y="4490464"/>
            <a:chExt cx="7450192" cy="56693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61" name="矩形 160"/>
            <p:cNvSpPr/>
            <p:nvPr/>
          </p:nvSpPr>
          <p:spPr>
            <a:xfrm>
              <a:off x="7772672" y="4490464"/>
              <a:ext cx="1346369" cy="1872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运动科学直播课</a:t>
              </a:r>
              <a:endPara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6" name="矩形 165"/>
            <p:cNvSpPr/>
            <p:nvPr/>
          </p:nvSpPr>
          <p:spPr>
            <a:xfrm>
              <a:off x="3012957" y="4870194"/>
              <a:ext cx="1346369" cy="1872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线上发起</a:t>
              </a:r>
              <a:r>
                <a:rPr lang="en-US" altLang="zh-CN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UGC</a:t>
              </a:r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设计大赛</a:t>
              </a:r>
              <a:endPara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>
              <a:off x="4563166" y="4870194"/>
              <a:ext cx="1346369" cy="1872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每月直播装备拆解评测</a:t>
              </a:r>
              <a:endPara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6271432" y="4870194"/>
              <a:ext cx="1346369" cy="1872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奥运选手定制专属课程</a:t>
              </a:r>
              <a:endPara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>
              <a:off x="8532757" y="4870194"/>
              <a:ext cx="1930392" cy="187200"/>
            </a:xfrm>
            <a:prstGeom prst="rect">
              <a:avLst/>
            </a:prstGeom>
            <a:grpFill/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64171D">
                <a:shade val="15000"/>
              </a:srgbClr>
            </a:lnRef>
            <a:fillRef idx="1">
              <a:srgbClr val="64171D"/>
            </a:fillRef>
            <a:effectRef idx="0">
              <a:srgbClr val="64171D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chemeClr val="tx2">
                      <a:alpha val="9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赛事报名平台搭建</a:t>
              </a:r>
              <a:endPara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70" name="矩形 169"/>
          <p:cNvSpPr/>
          <p:nvPr/>
        </p:nvSpPr>
        <p:spPr>
          <a:xfrm>
            <a:off x="2640965" y="4650740"/>
            <a:ext cx="946150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r>
              <a:rPr lang="en-US" altLang="zh-CN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PK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挑战赛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3832225" y="4650740"/>
            <a:ext cx="1602105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运动数据银行云端存储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5855335" y="4650740"/>
            <a:ext cx="1602105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80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跑步积分荣誉体系</a:t>
            </a:r>
            <a:endParaRPr lang="zh-CN" altLang="en-US" sz="80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9613900" y="4650740"/>
            <a:ext cx="1602105" cy="186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鞋履生命周期管理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344930" y="6256655"/>
            <a:ext cx="2706370" cy="37465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产品线运营体系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建立「专业跑鞋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训练装备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运动生活」三条产品线独立运营机制，每月输出专项竞品分析报告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5" name="矩形 174"/>
          <p:cNvSpPr/>
          <p:nvPr/>
        </p:nvSpPr>
        <p:spPr>
          <a:xfrm>
            <a:off x="4230370" y="6256655"/>
            <a:ext cx="4441190" cy="37465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场景化用户运营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按「健身场馆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城市街道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户外山野」三大场景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构建装备组合包，每周推送场景化穿搭指南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8796655" y="6256655"/>
            <a:ext cx="2706370" cy="374650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数据中台建设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搭建运动数据银行，实时追踪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用户足压分布、步态特征等生物力学数据反哺研发</a:t>
            </a:r>
            <a:endParaRPr lang="zh-CN" altLang="en-US" sz="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0" name="矩形 219"/>
          <p:cNvSpPr/>
          <p:nvPr>
            <p:custDataLst>
              <p:tags r:id="rId3"/>
            </p:custDataLst>
          </p:nvPr>
        </p:nvSpPr>
        <p:spPr>
          <a:xfrm>
            <a:off x="8350885" y="523875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运动恢复体验中心</a:t>
            </a: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endParaRPr lang="zh-CN" altLang="en-US" sz="800" b="1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在重点城市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CBD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建设智能装备体验中心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1" name="矩形 220"/>
          <p:cNvSpPr/>
          <p:nvPr>
            <p:custDataLst>
              <p:tags r:id="rId4"/>
            </p:custDataLst>
          </p:nvPr>
        </p:nvSpPr>
        <p:spPr>
          <a:xfrm>
            <a:off x="2851150" y="523875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头部赛事战略合作</a:t>
            </a:r>
            <a:endParaRPr lang="zh-CN" altLang="en-US" sz="800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签约十大城市马拉松赛事官方装备合作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2" name="矩形 221"/>
          <p:cNvSpPr/>
          <p:nvPr>
            <p:custDataLst>
              <p:tags r:id="rId5"/>
            </p:custDataLst>
          </p:nvPr>
        </p:nvSpPr>
        <p:spPr>
          <a:xfrm>
            <a:off x="5601335" y="523875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专业训练营体系</a:t>
            </a: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endParaRPr lang="zh-CN" altLang="en-US" sz="800" b="1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联合奥运冠军建立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星动训练营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会员制课程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3" name="矩形 222"/>
          <p:cNvSpPr/>
          <p:nvPr>
            <p:custDataLst>
              <p:tags r:id="rId6"/>
            </p:custDataLst>
          </p:nvPr>
        </p:nvSpPr>
        <p:spPr>
          <a:xfrm>
            <a:off x="8350885" y="570611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会员专属探秘日</a:t>
            </a: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endParaRPr lang="zh-CN" altLang="en-US" sz="800" b="1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每月开放研发中心参观，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跑鞋拆解工坊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深度体验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4" name="矩形 223"/>
          <p:cNvSpPr/>
          <p:nvPr>
            <p:custDataLst>
              <p:tags r:id="rId7"/>
            </p:custDataLst>
          </p:nvPr>
        </p:nvSpPr>
        <p:spPr>
          <a:xfrm>
            <a:off x="2851150" y="570611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主题快闪店集群</a:t>
            </a: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endParaRPr lang="zh-CN" altLang="en-US" sz="800" b="1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个核心商圈打造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运动科技实验室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主题快闪店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5" name="矩形 224"/>
          <p:cNvSpPr/>
          <p:nvPr>
            <p:custDataLst>
              <p:tags r:id="rId8"/>
            </p:custDataLst>
          </p:nvPr>
        </p:nvSpPr>
        <p:spPr>
          <a:xfrm>
            <a:off x="5601335" y="5706110"/>
            <a:ext cx="2557780" cy="3962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城市运动挑战赛</a:t>
            </a:r>
            <a:r>
              <a:rPr lang="zh-CN" altLang="en-US" sz="800" b="1" dirty="0">
                <a:solidFill>
                  <a:schemeClr val="accent5">
                    <a:lumMod val="60000"/>
                    <a:lumOff val="40000"/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​</a:t>
            </a:r>
            <a:endParaRPr lang="zh-CN" altLang="en-US" sz="800" b="1" dirty="0">
              <a:solidFill>
                <a:schemeClr val="accent5">
                  <a:lumMod val="60000"/>
                  <a:lumOff val="40000"/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发起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"24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小时城市接力赛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</a:t>
            </a:r>
            <a:r>
              <a:rPr lang="zh-CN" altLang="en-US" sz="800" dirty="0">
                <a:solidFill>
                  <a:schemeClr val="tx2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，植入装备压力测试追踪</a:t>
            </a:r>
            <a:endParaRPr lang="zh-CN" altLang="en-US" sz="800" dirty="0">
              <a:solidFill>
                <a:schemeClr val="tx2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4350" y="960755"/>
            <a:ext cx="11197590" cy="821055"/>
            <a:chOff x="1021" y="1681"/>
            <a:chExt cx="16932" cy="1293"/>
          </a:xfrm>
        </p:grpSpPr>
        <p:sp>
          <p:nvSpPr>
            <p:cNvPr id="6" name="梯形 5"/>
            <p:cNvSpPr/>
            <p:nvPr/>
          </p:nvSpPr>
          <p:spPr>
            <a:xfrm>
              <a:off x="1021" y="2178"/>
              <a:ext cx="16933" cy="796"/>
            </a:xfrm>
            <a:prstGeom prst="trapezoid">
              <a:avLst>
                <a:gd name="adj" fmla="val 355209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41000"/>
                  </a:schemeClr>
                </a:gs>
                <a:gs pos="100000">
                  <a:schemeClr val="accent1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  <a:gs pos="41000">
                    <a:schemeClr val="accent1">
                      <a:lumMod val="60000"/>
                      <a:lumOff val="40000"/>
                      <a:alpha val="0"/>
                    </a:schemeClr>
                  </a:gs>
                  <a:gs pos="7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紫荆的职场Point28"/>
            <p:cNvSpPr/>
            <p:nvPr/>
          </p:nvSpPr>
          <p:spPr>
            <a:xfrm>
              <a:off x="3689" y="1681"/>
              <a:ext cx="11316" cy="498"/>
            </a:xfrm>
            <a:prstGeom prst="triangle">
              <a:avLst>
                <a:gd name="adj" fmla="val 50434"/>
              </a:avLst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41000"/>
                  </a:schemeClr>
                </a:gs>
                <a:gs pos="100000">
                  <a:schemeClr val="accent1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1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紫荆的职场Point28"/>
            <p:cNvSpPr/>
            <p:nvPr/>
          </p:nvSpPr>
          <p:spPr>
            <a:xfrm>
              <a:off x="2881" y="1681"/>
              <a:ext cx="12916" cy="1125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41000"/>
                  </a:schemeClr>
                </a:gs>
                <a:gs pos="100000">
                  <a:schemeClr val="accent1">
                    <a:lumMod val="60000"/>
                    <a:lumOff val="40000"/>
                    <a:alpha val="15000"/>
                  </a:schemeClr>
                </a:gs>
              </a:gsLst>
              <a:lin ang="5400000" scaled="1"/>
              <a:tileRect/>
            </a:gradFill>
            <a:ln w="6350">
              <a:gradFill>
                <a:gsLst>
                  <a:gs pos="0">
                    <a:schemeClr val="accent1">
                      <a:lumMod val="60000"/>
                      <a:lumOff val="40000"/>
                      <a:alpha val="81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>
              <a:innerShdw blurRad="114300">
                <a:schemeClr val="bg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4" name="矩形 233"/>
            <p:cNvSpPr/>
            <p:nvPr/>
          </p:nvSpPr>
          <p:spPr>
            <a:xfrm>
              <a:off x="5259" y="2227"/>
              <a:ext cx="8277" cy="580"/>
            </a:xfrm>
            <a:prstGeom prst="rect">
              <a:avLst/>
            </a:prstGeom>
            <a:noFill/>
            <a:ln w="6350"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flip="none" rotWithShape="1">
                    <a:gsLst>
                      <a:gs pos="0">
                        <a:schemeClr val="accent5">
                          <a:lumMod val="60000"/>
                          <a:lumOff val="40000"/>
                          <a:alpha val="41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  <a:alpha val="15000"/>
                        </a:schemeClr>
                      </a:gs>
                    </a:gsLst>
                    <a:lin ang="5400000" scaled="1"/>
                    <a:tileRect/>
                  </a:gra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b="1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运动之星</a:t>
              </a:r>
              <a:r>
                <a:rPr lang="en-US" altLang="zh-CN" b="1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2025</a:t>
              </a:r>
              <a:r>
                <a:rPr lang="zh-CN" altLang="en-US" b="1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年度品牌战略规划</a:t>
              </a:r>
              <a:endParaRPr lang="zh-CN" altLang="en-US" b="1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525" name="显眼包PPT7"/>
          <p:cNvSpPr/>
          <p:nvPr/>
        </p:nvSpPr>
        <p:spPr>
          <a:xfrm>
            <a:off x="3873536" y="-570097"/>
            <a:ext cx="2529207" cy="756122"/>
          </a:xfrm>
          <a:prstGeom prst="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spc="3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53" name="显眼包PPT9"/>
          <p:cNvSpPr/>
          <p:nvPr/>
        </p:nvSpPr>
        <p:spPr>
          <a:xfrm>
            <a:off x="1224280" y="4451350"/>
            <a:ext cx="1355725" cy="608965"/>
          </a:xfrm>
          <a:prstGeom prst="rect">
            <a:avLst/>
          </a:prstGeom>
          <a:noFill/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chemeClr val="accent5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</a:t>
            </a:r>
            <a:r>
              <a:rPr lang="zh-CN" altLang="en-US" sz="1400" b="1" dirty="0">
                <a:solidFill>
                  <a:schemeClr val="accent5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数字化运</a:t>
            </a:r>
            <a:endParaRPr lang="zh-CN" altLang="en-US" sz="1400" b="1" dirty="0">
              <a:solidFill>
                <a:schemeClr val="accent5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zh-CN" altLang="en-US" sz="1400" b="1" dirty="0">
                <a:solidFill>
                  <a:schemeClr val="accent5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动生态构建</a:t>
            </a:r>
            <a:endParaRPr lang="zh-CN" altLang="en-US" sz="1400" b="1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76000">
                    <a:schemeClr val="accent5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显眼包PPT9"/>
          <p:cNvSpPr/>
          <p:nvPr/>
        </p:nvSpPr>
        <p:spPr>
          <a:xfrm>
            <a:off x="1224280" y="5365750"/>
            <a:ext cx="1355725" cy="608965"/>
          </a:xfrm>
          <a:prstGeom prst="rect">
            <a:avLst/>
          </a:prstGeom>
          <a:noFill/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chemeClr val="accent5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</a:t>
            </a:r>
            <a:r>
              <a:rPr lang="zh-CN" altLang="en-US" sz="1400" b="1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chemeClr val="accent5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场景化体</a:t>
            </a:r>
            <a:endParaRPr lang="zh-CN" altLang="en-US" sz="1400" b="1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76000">
                    <a:schemeClr val="accent5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chemeClr val="accent5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验矩阵建设</a:t>
            </a:r>
            <a:r>
              <a:rPr lang="en-US" altLang="zh-CN" sz="1400" b="1"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chemeClr val="accent5"/>
                    </a:gs>
                  </a:gsLst>
                  <a:lin ang="54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​</a:t>
            </a:r>
            <a:endParaRPr lang="en-US" altLang="zh-CN" sz="1400" b="1"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76000">
                    <a:schemeClr val="accent5"/>
                  </a:gs>
                </a:gsLst>
                <a:lin ang="5400000" scaled="1"/>
                <a:tileRect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9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37"/>
          <p:cNvSpPr/>
          <p:nvPr>
            <p:custDataLst>
              <p:tags r:id="rId1"/>
            </p:custDataLst>
          </p:nvPr>
        </p:nvSpPr>
        <p:spPr>
          <a:xfrm flipH="1">
            <a:off x="518795" y="2205990"/>
            <a:ext cx="751205" cy="3600450"/>
          </a:xfrm>
          <a:custGeom>
            <a:avLst/>
            <a:gdLst>
              <a:gd name="connsiteX0" fmla="*/ 1183 w 1183"/>
              <a:gd name="connsiteY0" fmla="*/ 5670 h 5670"/>
              <a:gd name="connsiteX1" fmla="*/ 0 w 1183"/>
              <a:gd name="connsiteY1" fmla="*/ 4111 h 5670"/>
              <a:gd name="connsiteX2" fmla="*/ 3 w 1183"/>
              <a:gd name="connsiteY2" fmla="*/ 0 h 5670"/>
              <a:gd name="connsiteX3" fmla="*/ 1183 w 1183"/>
              <a:gd name="connsiteY3" fmla="*/ 953 h 5670"/>
              <a:gd name="connsiteX4" fmla="*/ 1180 w 1183"/>
              <a:gd name="connsiteY4" fmla="*/ 2415 h 5670"/>
              <a:gd name="connsiteX5" fmla="*/ 1183 w 1183"/>
              <a:gd name="connsiteY5" fmla="*/ 2417 h 5670"/>
              <a:gd name="connsiteX6" fmla="*/ 1180 w 1183"/>
              <a:gd name="connsiteY6" fmla="*/ 3513 h 5670"/>
              <a:gd name="connsiteX7" fmla="*/ 1183 w 1183"/>
              <a:gd name="connsiteY7" fmla="*/ 4206 h 5670"/>
              <a:gd name="connsiteX8" fmla="*/ 1180 w 1183"/>
              <a:gd name="connsiteY8" fmla="*/ 4202 h 5670"/>
              <a:gd name="connsiteX9" fmla="*/ 1180 w 1183"/>
              <a:gd name="connsiteY9" fmla="*/ 4221 h 5670"/>
              <a:gd name="connsiteX10" fmla="*/ 1180 w 1183"/>
              <a:gd name="connsiteY10" fmla="*/ 4273 h 5670"/>
              <a:gd name="connsiteX11" fmla="*/ 1183 w 1183"/>
              <a:gd name="connsiteY11" fmla="*/ 5670 h 5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83" h="5670">
                <a:moveTo>
                  <a:pt x="1183" y="5670"/>
                </a:moveTo>
                <a:lnTo>
                  <a:pt x="0" y="4111"/>
                </a:lnTo>
                <a:lnTo>
                  <a:pt x="3" y="0"/>
                </a:lnTo>
                <a:lnTo>
                  <a:pt x="1183" y="953"/>
                </a:lnTo>
                <a:cubicBezTo>
                  <a:pt x="1182" y="1417"/>
                  <a:pt x="1180" y="2090"/>
                  <a:pt x="1180" y="2415"/>
                </a:cubicBezTo>
                <a:lnTo>
                  <a:pt x="1183" y="2417"/>
                </a:lnTo>
                <a:cubicBezTo>
                  <a:pt x="1182" y="2760"/>
                  <a:pt x="1181" y="3317"/>
                  <a:pt x="1180" y="3513"/>
                </a:cubicBezTo>
                <a:cubicBezTo>
                  <a:pt x="1181" y="3671"/>
                  <a:pt x="1182" y="4078"/>
                  <a:pt x="1183" y="4206"/>
                </a:cubicBezTo>
                <a:lnTo>
                  <a:pt x="1180" y="4202"/>
                </a:lnTo>
                <a:lnTo>
                  <a:pt x="1180" y="4221"/>
                </a:lnTo>
                <a:lnTo>
                  <a:pt x="1180" y="4273"/>
                </a:lnTo>
                <a:cubicBezTo>
                  <a:pt x="1180" y="4723"/>
                  <a:pt x="1181" y="5303"/>
                  <a:pt x="1183" y="567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7000"/>
                  <a:lumOff val="43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</a:t>
            </a:r>
            <a:r>
              <a:rPr lang="en-US" altLang="zh-CN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营销实战场景解析</a:t>
            </a:r>
            <a:endParaRPr lang="en-US" altLang="zh-CN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6" name="梯形 5"/>
          <p:cNvSpPr/>
          <p:nvPr>
            <p:custDataLst>
              <p:tags r:id="rId4"/>
            </p:custDataLst>
          </p:nvPr>
        </p:nvSpPr>
        <p:spPr>
          <a:xfrm>
            <a:off x="518795" y="4811395"/>
            <a:ext cx="11160760" cy="983615"/>
          </a:xfrm>
          <a:prstGeom prst="trapezoid">
            <a:avLst>
              <a:gd name="adj" fmla="val 75306"/>
            </a:avLst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0"/>
                </a:schemeClr>
              </a:gs>
              <a:gs pos="80000">
                <a:schemeClr val="accent5">
                  <a:lumMod val="60000"/>
                  <a:lumOff val="40000"/>
                </a:schemeClr>
              </a:gs>
            </a:gsLst>
            <a:lin ang="528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512445" y="1051560"/>
            <a:ext cx="11167110" cy="1345565"/>
            <a:chOff x="807" y="1656"/>
            <a:chExt cx="17586" cy="3174"/>
          </a:xfrm>
        </p:grpSpPr>
        <p:sp>
          <p:nvSpPr>
            <p:cNvPr id="2" name="等腰三角形 1"/>
            <p:cNvSpPr/>
            <p:nvPr/>
          </p:nvSpPr>
          <p:spPr>
            <a:xfrm>
              <a:off x="817" y="1662"/>
              <a:ext cx="17576" cy="3113"/>
            </a:xfrm>
            <a:prstGeom prst="triangle">
              <a:avLst/>
            </a:prstGeom>
            <a:gradFill>
              <a:gsLst>
                <a:gs pos="1000">
                  <a:schemeClr val="accent1">
                    <a:lumMod val="60000"/>
                    <a:lumOff val="40000"/>
                    <a:alpha val="78000"/>
                  </a:schemeClr>
                </a:gs>
                <a:gs pos="84000">
                  <a:schemeClr val="bg1">
                    <a:alpha val="0"/>
                  </a:schemeClr>
                </a:gs>
              </a:gsLst>
              <a:lin ang="5400000" scaled="1"/>
            </a:gradFill>
            <a:ln>
              <a:gradFill>
                <a:gsLst>
                  <a:gs pos="23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807" y="3403"/>
              <a:ext cx="17576" cy="1287"/>
            </a:xfrm>
            <a:prstGeom prst="trapezoid">
              <a:avLst>
                <a:gd name="adj" fmla="val 146311"/>
              </a:avLst>
            </a:prstGeom>
            <a:gradFill flip="none" rotWithShape="1">
              <a:gsLst>
                <a:gs pos="48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9525" cap="rnd">
              <a:gradFill>
                <a:gsLst>
                  <a:gs pos="0">
                    <a:schemeClr val="accent1">
                      <a:lumMod val="20000"/>
                      <a:lumOff val="80000"/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9595" y="1658"/>
              <a:ext cx="6952" cy="1771"/>
            </a:xfrm>
            <a:prstGeom prst="line">
              <a:avLst/>
            </a:prstGeom>
            <a:ln w="127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>
              <a:off x="2663" y="1658"/>
              <a:ext cx="6932" cy="1743"/>
            </a:xfrm>
            <a:prstGeom prst="line">
              <a:avLst/>
            </a:prstGeom>
            <a:ln w="127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任意多边形: 形状 54"/>
            <p:cNvSpPr/>
            <p:nvPr/>
          </p:nvSpPr>
          <p:spPr>
            <a:xfrm>
              <a:off x="9605" y="1656"/>
              <a:ext cx="8785" cy="3126"/>
            </a:xfrm>
            <a:custGeom>
              <a:avLst/>
              <a:gdLst>
                <a:gd name="connsiteX0" fmla="*/ 4100513 w 5219700"/>
                <a:gd name="connsiteY0" fmla="*/ 1033463 h 1857375"/>
                <a:gd name="connsiteX1" fmla="*/ 0 w 5219700"/>
                <a:gd name="connsiteY1" fmla="*/ 0 h 1857375"/>
                <a:gd name="connsiteX2" fmla="*/ 5219700 w 5219700"/>
                <a:gd name="connsiteY2" fmla="*/ 1857375 h 1857375"/>
                <a:gd name="connsiteX3" fmla="*/ 4100513 w 5219700"/>
                <a:gd name="connsiteY3" fmla="*/ 1033463 h 1857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9700" h="1857375">
                  <a:moveTo>
                    <a:pt x="4100513" y="1033463"/>
                  </a:moveTo>
                  <a:lnTo>
                    <a:pt x="0" y="0"/>
                  </a:lnTo>
                  <a:lnTo>
                    <a:pt x="5219700" y="1857375"/>
                  </a:lnTo>
                  <a:lnTo>
                    <a:pt x="4100513" y="103346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67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836" y="1656"/>
              <a:ext cx="8801" cy="3174"/>
            </a:xfrm>
            <a:custGeom>
              <a:avLst/>
              <a:gdLst>
                <a:gd name="connsiteX0" fmla="*/ 5229225 w 5229225"/>
                <a:gd name="connsiteY0" fmla="*/ 0 h 1885950"/>
                <a:gd name="connsiteX1" fmla="*/ 0 w 5229225"/>
                <a:gd name="connsiteY1" fmla="*/ 1885950 h 1885950"/>
                <a:gd name="connsiteX2" fmla="*/ 1081088 w 5229225"/>
                <a:gd name="connsiteY2" fmla="*/ 1033463 h 1885950"/>
                <a:gd name="connsiteX3" fmla="*/ 5229225 w 5229225"/>
                <a:gd name="connsiteY3" fmla="*/ 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29225" h="1885950">
                  <a:moveTo>
                    <a:pt x="5229225" y="0"/>
                  </a:moveTo>
                  <a:lnTo>
                    <a:pt x="0" y="1885950"/>
                  </a:lnTo>
                  <a:lnTo>
                    <a:pt x="1081088" y="1033463"/>
                  </a:lnTo>
                  <a:lnTo>
                    <a:pt x="5229225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67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4210050" y="1686801"/>
            <a:ext cx="3606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1">
                    <a:lumMod val="50000"/>
                  </a:schemeClr>
                </a:solidFill>
                <a:effectLst>
                  <a:reflection blurRad="101600" stA="19000" endPos="45500" dist="38100" dir="5400000" sy="-100000" algn="bl" rotWithShape="0"/>
                </a:effectLst>
              </a:defRPr>
            </a:lvl1pPr>
          </a:lstStyle>
          <a:p>
            <a:r>
              <a:rPr lang="en-US" altLang="zh-CN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营销实战场景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278255" y="5043805"/>
            <a:ext cx="1499870" cy="339090"/>
            <a:chOff x="1829" y="4755"/>
            <a:chExt cx="2362" cy="534"/>
          </a:xfrm>
        </p:grpSpPr>
        <p:sp>
          <p:nvSpPr>
            <p:cNvPr id="41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42" name="熊大的PPT宝库11"/>
            <p:cNvSpPr txBox="1"/>
            <p:nvPr/>
          </p:nvSpPr>
          <p:spPr>
            <a:xfrm>
              <a:off x="2170" y="4853"/>
              <a:ext cx="168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社交媒体数据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83" name="熊大的PPT宝库18"/>
          <p:cNvSpPr/>
          <p:nvPr/>
        </p:nvSpPr>
        <p:spPr>
          <a:xfrm>
            <a:off x="3920490" y="2985770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84" name="熊大的PPT宝库19"/>
          <p:cNvSpPr txBox="1"/>
          <p:nvPr/>
        </p:nvSpPr>
        <p:spPr>
          <a:xfrm>
            <a:off x="4079875" y="3011170"/>
            <a:ext cx="133096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人群画像数据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5" name="熊大的PPT宝库20"/>
          <p:cNvSpPr/>
          <p:nvPr/>
        </p:nvSpPr>
        <p:spPr>
          <a:xfrm>
            <a:off x="5761355" y="2985770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86" name="熊大的PPT宝库21"/>
          <p:cNvSpPr txBox="1"/>
          <p:nvPr/>
        </p:nvSpPr>
        <p:spPr>
          <a:xfrm>
            <a:off x="6142355" y="3011170"/>
            <a:ext cx="88773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跳转分析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6" name="熊大的PPT宝库22"/>
          <p:cNvSpPr/>
          <p:nvPr/>
        </p:nvSpPr>
        <p:spPr>
          <a:xfrm>
            <a:off x="3920490" y="3448050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97" name="熊大的PPT宝库23"/>
          <p:cNvSpPr txBox="1"/>
          <p:nvPr/>
        </p:nvSpPr>
        <p:spPr>
          <a:xfrm>
            <a:off x="4079875" y="3473450"/>
            <a:ext cx="133096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营销理论模型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8" name="熊大的PPT宝库24"/>
          <p:cNvSpPr/>
          <p:nvPr/>
        </p:nvSpPr>
        <p:spPr>
          <a:xfrm>
            <a:off x="5761355" y="3448050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99" name="熊大的PPT宝库25"/>
          <p:cNvSpPr txBox="1"/>
          <p:nvPr/>
        </p:nvSpPr>
        <p:spPr>
          <a:xfrm>
            <a:off x="5920740" y="3473450"/>
            <a:ext cx="133096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标签体系构建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1" name="熊大的PPT宝库26"/>
          <p:cNvSpPr/>
          <p:nvPr/>
        </p:nvSpPr>
        <p:spPr>
          <a:xfrm>
            <a:off x="3920490" y="3910965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102" name="熊大的PPT宝库27"/>
          <p:cNvSpPr txBox="1"/>
          <p:nvPr/>
        </p:nvSpPr>
        <p:spPr>
          <a:xfrm>
            <a:off x="4079875" y="3936365"/>
            <a:ext cx="133096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消费决策链路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3" name="熊大的PPT宝库28"/>
          <p:cNvSpPr/>
          <p:nvPr/>
        </p:nvSpPr>
        <p:spPr>
          <a:xfrm>
            <a:off x="5761355" y="3910965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104" name="熊大的PPT宝库29"/>
          <p:cNvSpPr txBox="1"/>
          <p:nvPr/>
        </p:nvSpPr>
        <p:spPr>
          <a:xfrm>
            <a:off x="6142355" y="3936365"/>
            <a:ext cx="88773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语义归类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6" name="熊大的PPT宝库30"/>
          <p:cNvSpPr/>
          <p:nvPr/>
        </p:nvSpPr>
        <p:spPr>
          <a:xfrm>
            <a:off x="3920490" y="4373245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107" name="熊大的PPT宝库31"/>
          <p:cNvSpPr txBox="1"/>
          <p:nvPr/>
        </p:nvSpPr>
        <p:spPr>
          <a:xfrm>
            <a:off x="4079875" y="4398645"/>
            <a:ext cx="133096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决策漏洞模型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8" name="熊大的PPT宝库32"/>
          <p:cNvSpPr/>
          <p:nvPr/>
        </p:nvSpPr>
        <p:spPr>
          <a:xfrm>
            <a:off x="5761355" y="4373245"/>
            <a:ext cx="1649730" cy="296545"/>
          </a:xfrm>
          <a:prstGeom prst="roundRect">
            <a:avLst>
              <a:gd name="adj" fmla="val 22552"/>
            </a:avLst>
          </a:prstGeom>
          <a:solidFill>
            <a:schemeClr val="accent5">
              <a:lumMod val="20000"/>
              <a:lumOff val="8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457200">
              <a:buClrTx/>
              <a:buSzTx/>
              <a:buFontTx/>
            </a:pPr>
            <a:endParaRPr lang="zh-CN" altLang="en-US" dirty="0"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109" name="熊大的PPT宝库33"/>
          <p:cNvSpPr txBox="1"/>
          <p:nvPr/>
        </p:nvSpPr>
        <p:spPr>
          <a:xfrm>
            <a:off x="6145213" y="4398645"/>
            <a:ext cx="882015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zh-CN" altLang="en-US" sz="16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rPr>
              <a:t>知识挖掘</a:t>
            </a:r>
            <a:endParaRPr lang="zh-CN" altLang="en-US" sz="1600" dirty="0">
              <a:solidFill>
                <a:schemeClr val="tx2"/>
              </a:solidFill>
              <a:latin typeface="+mn-ea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8437880" y="2972435"/>
            <a:ext cx="2758690" cy="571330"/>
            <a:chOff x="12342" y="4804"/>
            <a:chExt cx="5640" cy="1168"/>
          </a:xfrm>
        </p:grpSpPr>
        <p:sp>
          <p:nvSpPr>
            <p:cNvPr id="113" name="熊大的PPT宝库36"/>
            <p:cNvSpPr/>
            <p:nvPr/>
          </p:nvSpPr>
          <p:spPr>
            <a:xfrm>
              <a:off x="13129" y="4826"/>
              <a:ext cx="4854" cy="1126"/>
            </a:xfrm>
            <a:prstGeom prst="roundRect">
              <a:avLst>
                <a:gd name="adj" fmla="val 875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32" name="熊大的PPT宝库37"/>
            <p:cNvSpPr/>
            <p:nvPr/>
          </p:nvSpPr>
          <p:spPr>
            <a:xfrm>
              <a:off x="12342" y="4804"/>
              <a:ext cx="1322" cy="11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3" name="熊大的PPT宝库38"/>
            <p:cNvSpPr txBox="1"/>
            <p:nvPr/>
          </p:nvSpPr>
          <p:spPr>
            <a:xfrm>
              <a:off x="12537" y="5011"/>
              <a:ext cx="932" cy="7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行业</a:t>
              </a:r>
              <a:endParaRPr kumimoji="1"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洞察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1" name="熊大的PPT宝库58"/>
            <p:cNvSpPr/>
            <p:nvPr/>
          </p:nvSpPr>
          <p:spPr>
            <a:xfrm>
              <a:off x="13873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行业趋势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43" name="熊大的PPT宝库59"/>
            <p:cNvSpPr/>
            <p:nvPr/>
          </p:nvSpPr>
          <p:spPr>
            <a:xfrm>
              <a:off x="15936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行业机会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44" name="熊大的PPT宝库60"/>
            <p:cNvSpPr/>
            <p:nvPr/>
          </p:nvSpPr>
          <p:spPr>
            <a:xfrm>
              <a:off x="13873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行业热点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45" name="熊大的PPT宝库61"/>
            <p:cNvSpPr/>
            <p:nvPr/>
          </p:nvSpPr>
          <p:spPr>
            <a:xfrm>
              <a:off x="15928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行业竞争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458" name="显眼包PPT38"/>
          <p:cNvSpPr txBox="1"/>
          <p:nvPr/>
        </p:nvSpPr>
        <p:spPr>
          <a:xfrm>
            <a:off x="3743325" y="5140325"/>
            <a:ext cx="3767455" cy="525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 defTabSz="457200"/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+mn-ea"/>
              <a:cs typeface="微软雅黑" panose="020B0503020204020204" charset="-122"/>
            </a:endParaRPr>
          </a:p>
        </p:txBody>
      </p:sp>
      <p:sp>
        <p:nvSpPr>
          <p:cNvPr id="328" name="显眼包PPT35"/>
          <p:cNvSpPr txBox="1"/>
          <p:nvPr/>
        </p:nvSpPr>
        <p:spPr>
          <a:xfrm>
            <a:off x="4026617" y="4985381"/>
            <a:ext cx="3200400" cy="2578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ea"/>
                <a:ea typeface="+mj-ea"/>
                <a:cs typeface="微软雅黑" panose="020B0503020204020204" charset="-122"/>
              </a:rPr>
              <a:t>高效收集和整理大量市场信息与用户反馈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j-ea"/>
              <a:ea typeface="+mj-ea"/>
              <a:cs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4343400" y="5241925"/>
            <a:ext cx="2570480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 defTabSz="457200"/>
            <a:r>
              <a:rPr lang="zh-CN" altLang="en-US" sz="1000" dirty="0">
                <a:solidFill>
                  <a:schemeClr val="bg1"/>
                </a:solidFill>
                <a:latin typeface="+mn-ea"/>
                <a:cs typeface="微软雅黑" panose="020B0503020204020204" charset="-122"/>
                <a:sym typeface="+mn-ea"/>
              </a:rPr>
              <a:t>帮助营销人员理解消费者的需求以及市场流行趋势，从而指导广告策略的制定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502285" y="4810125"/>
            <a:ext cx="3089910" cy="984250"/>
            <a:chOff x="1688" y="11047"/>
            <a:chExt cx="4866" cy="1550"/>
          </a:xfrm>
        </p:grpSpPr>
        <p:sp>
          <p:nvSpPr>
            <p:cNvPr id="162" name="任意多边形 161"/>
            <p:cNvSpPr/>
            <p:nvPr>
              <p:custDataLst>
                <p:tags r:id="rId6"/>
              </p:custDataLst>
            </p:nvPr>
          </p:nvSpPr>
          <p:spPr>
            <a:xfrm>
              <a:off x="1688" y="11047"/>
              <a:ext cx="4866" cy="1551"/>
            </a:xfrm>
            <a:custGeom>
              <a:avLst/>
              <a:gdLst>
                <a:gd name="connsiteX0" fmla="*/ 0 w 4866"/>
                <a:gd name="connsiteY0" fmla="*/ 1551 h 1551"/>
                <a:gd name="connsiteX1" fmla="*/ 1166 w 4866"/>
                <a:gd name="connsiteY1" fmla="*/ 2 h 1551"/>
                <a:gd name="connsiteX2" fmla="*/ 4866 w 4866"/>
                <a:gd name="connsiteY2" fmla="*/ 0 h 1551"/>
                <a:gd name="connsiteX3" fmla="*/ 4482 w 4866"/>
                <a:gd name="connsiteY3" fmla="*/ 1536 h 1551"/>
                <a:gd name="connsiteX4" fmla="*/ 0 w 4866"/>
                <a:gd name="connsiteY4" fmla="*/ 1551 h 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" h="1551">
                  <a:moveTo>
                    <a:pt x="0" y="1551"/>
                  </a:moveTo>
                  <a:lnTo>
                    <a:pt x="1166" y="2"/>
                  </a:lnTo>
                  <a:lnTo>
                    <a:pt x="4866" y="0"/>
                  </a:lnTo>
                  <a:lnTo>
                    <a:pt x="4482" y="1536"/>
                  </a:lnTo>
                  <a:lnTo>
                    <a:pt x="0" y="155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3" name="任意多边形 162"/>
            <p:cNvSpPr/>
            <p:nvPr>
              <p:custDataLst>
                <p:tags r:id="rId7"/>
              </p:custDataLst>
            </p:nvPr>
          </p:nvSpPr>
          <p:spPr>
            <a:xfrm>
              <a:off x="1688" y="11047"/>
              <a:ext cx="4866" cy="1551"/>
            </a:xfrm>
            <a:custGeom>
              <a:avLst/>
              <a:gdLst>
                <a:gd name="connsiteX0" fmla="*/ 0 w 4866"/>
                <a:gd name="connsiteY0" fmla="*/ 1551 h 1551"/>
                <a:gd name="connsiteX1" fmla="*/ 1166 w 4866"/>
                <a:gd name="connsiteY1" fmla="*/ 2 h 1551"/>
                <a:gd name="connsiteX2" fmla="*/ 4866 w 4866"/>
                <a:gd name="connsiteY2" fmla="*/ 0 h 1551"/>
                <a:gd name="connsiteX3" fmla="*/ 4482 w 4866"/>
                <a:gd name="connsiteY3" fmla="*/ 1536 h 1551"/>
                <a:gd name="connsiteX4" fmla="*/ 0 w 4866"/>
                <a:gd name="connsiteY4" fmla="*/ 1551 h 1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" h="1551">
                  <a:moveTo>
                    <a:pt x="0" y="1551"/>
                  </a:moveTo>
                  <a:lnTo>
                    <a:pt x="1166" y="2"/>
                  </a:lnTo>
                  <a:lnTo>
                    <a:pt x="4866" y="0"/>
                  </a:lnTo>
                  <a:lnTo>
                    <a:pt x="4482" y="1536"/>
                  </a:lnTo>
                  <a:lnTo>
                    <a:pt x="0" y="155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28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1278255" y="3019425"/>
            <a:ext cx="1499870" cy="339090"/>
            <a:chOff x="1829" y="4755"/>
            <a:chExt cx="2362" cy="534"/>
          </a:xfrm>
        </p:grpSpPr>
        <p:sp>
          <p:nvSpPr>
            <p:cNvPr id="168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69" name="熊大的PPT宝库11"/>
            <p:cNvSpPr txBox="1"/>
            <p:nvPr/>
          </p:nvSpPr>
          <p:spPr>
            <a:xfrm>
              <a:off x="2170" y="4853"/>
              <a:ext cx="168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用户画像数据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1278255" y="3525520"/>
            <a:ext cx="1499870" cy="339090"/>
            <a:chOff x="1829" y="4755"/>
            <a:chExt cx="2362" cy="534"/>
          </a:xfrm>
        </p:grpSpPr>
        <p:sp>
          <p:nvSpPr>
            <p:cNvPr id="171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72" name="熊大的PPT宝库11"/>
            <p:cNvSpPr txBox="1"/>
            <p:nvPr/>
          </p:nvSpPr>
          <p:spPr>
            <a:xfrm>
              <a:off x="2450" y="4853"/>
              <a:ext cx="112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浏览数据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73" name="组合 172"/>
          <p:cNvGrpSpPr/>
          <p:nvPr/>
        </p:nvGrpSpPr>
        <p:grpSpPr>
          <a:xfrm>
            <a:off x="1278255" y="4031615"/>
            <a:ext cx="1499870" cy="339090"/>
            <a:chOff x="1829" y="4755"/>
            <a:chExt cx="2362" cy="534"/>
          </a:xfrm>
        </p:grpSpPr>
        <p:sp>
          <p:nvSpPr>
            <p:cNvPr id="174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75" name="熊大的PPT宝库11"/>
            <p:cNvSpPr txBox="1"/>
            <p:nvPr/>
          </p:nvSpPr>
          <p:spPr>
            <a:xfrm>
              <a:off x="2450" y="4853"/>
              <a:ext cx="112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查询数据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278255" y="4537710"/>
            <a:ext cx="1499870" cy="339090"/>
            <a:chOff x="1829" y="4755"/>
            <a:chExt cx="2362" cy="534"/>
          </a:xfrm>
        </p:grpSpPr>
        <p:sp>
          <p:nvSpPr>
            <p:cNvPr id="177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178" name="熊大的PPT宝库11"/>
            <p:cNvSpPr txBox="1"/>
            <p:nvPr/>
          </p:nvSpPr>
          <p:spPr>
            <a:xfrm>
              <a:off x="2450" y="4853"/>
              <a:ext cx="112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交易数据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79" name="熊大的PPT宝库62"/>
          <p:cNvSpPr/>
          <p:nvPr/>
        </p:nvSpPr>
        <p:spPr>
          <a:xfrm>
            <a:off x="3025912" y="3901678"/>
            <a:ext cx="203795" cy="284110"/>
          </a:xfrm>
          <a:prstGeom prst="chevron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0" name="任意多边形: 形状 39"/>
          <p:cNvSpPr/>
          <p:nvPr>
            <p:custDataLst>
              <p:tags r:id="rId8"/>
            </p:custDataLst>
          </p:nvPr>
        </p:nvSpPr>
        <p:spPr>
          <a:xfrm flipH="1">
            <a:off x="3339465" y="2194560"/>
            <a:ext cx="252730" cy="3600450"/>
          </a:xfrm>
          <a:custGeom>
            <a:avLst/>
            <a:gdLst>
              <a:gd name="connsiteX0" fmla="*/ 701040 w 701040"/>
              <a:gd name="connsiteY0" fmla="*/ 2778760 h 2778760"/>
              <a:gd name="connsiteX1" fmla="*/ 0 w 701040"/>
              <a:gd name="connsiteY1" fmla="*/ 1844040 h 2778760"/>
              <a:gd name="connsiteX2" fmla="*/ 0 w 701040"/>
              <a:gd name="connsiteY2" fmla="*/ 0 h 2778760"/>
              <a:gd name="connsiteX3" fmla="*/ 701040 w 701040"/>
              <a:gd name="connsiteY3" fmla="*/ 629920 h 2778760"/>
              <a:gd name="connsiteX4" fmla="*/ 701040 w 701040"/>
              <a:gd name="connsiteY4" fmla="*/ 2778760 h 2778760"/>
              <a:gd name="connsiteX0-1" fmla="*/ 701040 w 701040"/>
              <a:gd name="connsiteY0-2" fmla="*/ 2778760 h 2778760"/>
              <a:gd name="connsiteX1-3" fmla="*/ 469900 w 701040"/>
              <a:gd name="connsiteY1-4" fmla="*/ 1833880 h 2778760"/>
              <a:gd name="connsiteX2-5" fmla="*/ 0 w 701040"/>
              <a:gd name="connsiteY2-6" fmla="*/ 0 h 2778760"/>
              <a:gd name="connsiteX3-7" fmla="*/ 701040 w 701040"/>
              <a:gd name="connsiteY3-8" fmla="*/ 629920 h 2778760"/>
              <a:gd name="connsiteX4-9" fmla="*/ 701040 w 701040"/>
              <a:gd name="connsiteY4-10" fmla="*/ 2778760 h 2778760"/>
              <a:gd name="connsiteX0-11" fmla="*/ 236220 w 236220"/>
              <a:gd name="connsiteY0-12" fmla="*/ 2805430 h 2805430"/>
              <a:gd name="connsiteX1-13" fmla="*/ 5080 w 236220"/>
              <a:gd name="connsiteY1-14" fmla="*/ 1860550 h 2805430"/>
              <a:gd name="connsiteX2-15" fmla="*/ 0 w 236220"/>
              <a:gd name="connsiteY2-16" fmla="*/ 0 h 2805430"/>
              <a:gd name="connsiteX3-17" fmla="*/ 236220 w 236220"/>
              <a:gd name="connsiteY3-18" fmla="*/ 656590 h 2805430"/>
              <a:gd name="connsiteX4-19" fmla="*/ 236220 w 236220"/>
              <a:gd name="connsiteY4-20" fmla="*/ 2805430 h 2805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98" h="5670">
                <a:moveTo>
                  <a:pt x="2" y="1282"/>
                </a:moveTo>
                <a:cubicBezTo>
                  <a:pt x="1" y="1199"/>
                  <a:pt x="1" y="1117"/>
                  <a:pt x="1" y="1063"/>
                </a:cubicBezTo>
                <a:cubicBezTo>
                  <a:pt x="0" y="922"/>
                  <a:pt x="0" y="765"/>
                  <a:pt x="0" y="712"/>
                </a:cubicBezTo>
                <a:lnTo>
                  <a:pt x="2" y="717"/>
                </a:lnTo>
                <a:cubicBezTo>
                  <a:pt x="2" y="650"/>
                  <a:pt x="1" y="470"/>
                  <a:pt x="1" y="351"/>
                </a:cubicBezTo>
                <a:cubicBezTo>
                  <a:pt x="0" y="210"/>
                  <a:pt x="0" y="53"/>
                  <a:pt x="0" y="0"/>
                </a:cubicBezTo>
                <a:lnTo>
                  <a:pt x="398" y="994"/>
                </a:lnTo>
                <a:cubicBezTo>
                  <a:pt x="397" y="1218"/>
                  <a:pt x="396" y="1601"/>
                  <a:pt x="396" y="1701"/>
                </a:cubicBezTo>
                <a:lnTo>
                  <a:pt x="398" y="1706"/>
                </a:lnTo>
                <a:cubicBezTo>
                  <a:pt x="398" y="1842"/>
                  <a:pt x="397" y="2063"/>
                  <a:pt x="397" y="2182"/>
                </a:cubicBezTo>
                <a:cubicBezTo>
                  <a:pt x="397" y="2257"/>
                  <a:pt x="396" y="2395"/>
                  <a:pt x="396" y="2414"/>
                </a:cubicBezTo>
                <a:lnTo>
                  <a:pt x="398" y="2418"/>
                </a:lnTo>
                <a:cubicBezTo>
                  <a:pt x="398" y="2554"/>
                  <a:pt x="397" y="2775"/>
                  <a:pt x="397" y="2894"/>
                </a:cubicBezTo>
                <a:cubicBezTo>
                  <a:pt x="396" y="3108"/>
                  <a:pt x="396" y="3397"/>
                  <a:pt x="395" y="3538"/>
                </a:cubicBezTo>
                <a:cubicBezTo>
                  <a:pt x="396" y="3761"/>
                  <a:pt x="397" y="4042"/>
                  <a:pt x="398" y="4183"/>
                </a:cubicBezTo>
                <a:lnTo>
                  <a:pt x="398" y="4196"/>
                </a:lnTo>
                <a:lnTo>
                  <a:pt x="398" y="4209"/>
                </a:lnTo>
                <a:lnTo>
                  <a:pt x="398" y="4222"/>
                </a:lnTo>
                <a:lnTo>
                  <a:pt x="398" y="4234"/>
                </a:lnTo>
                <a:lnTo>
                  <a:pt x="398" y="4246"/>
                </a:lnTo>
                <a:lnTo>
                  <a:pt x="395" y="4237"/>
                </a:lnTo>
                <a:cubicBezTo>
                  <a:pt x="396" y="4454"/>
                  <a:pt x="397" y="4753"/>
                  <a:pt x="398" y="4895"/>
                </a:cubicBezTo>
                <a:lnTo>
                  <a:pt x="398" y="4908"/>
                </a:lnTo>
                <a:lnTo>
                  <a:pt x="398" y="4921"/>
                </a:lnTo>
                <a:lnTo>
                  <a:pt x="398" y="4934"/>
                </a:lnTo>
                <a:lnTo>
                  <a:pt x="398" y="4946"/>
                </a:lnTo>
                <a:lnTo>
                  <a:pt x="398" y="4958"/>
                </a:lnTo>
                <a:lnTo>
                  <a:pt x="395" y="4948"/>
                </a:lnTo>
                <a:cubicBezTo>
                  <a:pt x="395" y="5033"/>
                  <a:pt x="396" y="5171"/>
                  <a:pt x="396" y="5254"/>
                </a:cubicBezTo>
                <a:cubicBezTo>
                  <a:pt x="397" y="5418"/>
                  <a:pt x="397" y="5599"/>
                  <a:pt x="398" y="5670"/>
                </a:cubicBezTo>
                <a:lnTo>
                  <a:pt x="9" y="4240"/>
                </a:lnTo>
                <a:cubicBezTo>
                  <a:pt x="7" y="3771"/>
                  <a:pt x="5" y="3143"/>
                  <a:pt x="4" y="2789"/>
                </a:cubicBezTo>
                <a:cubicBezTo>
                  <a:pt x="3" y="2523"/>
                  <a:pt x="2" y="2158"/>
                  <a:pt x="1" y="1917"/>
                </a:cubicBezTo>
                <a:cubicBezTo>
                  <a:pt x="1" y="1740"/>
                  <a:pt x="0" y="1531"/>
                  <a:pt x="0" y="1424"/>
                </a:cubicBezTo>
                <a:lnTo>
                  <a:pt x="2" y="1429"/>
                </a:lnTo>
                <a:cubicBezTo>
                  <a:pt x="2" y="1401"/>
                  <a:pt x="2" y="1305"/>
                  <a:pt x="2" y="128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518795" y="2338388"/>
            <a:ext cx="2952750" cy="488950"/>
          </a:xfrm>
          <a:prstGeom prst="rect">
            <a:avLst/>
          </a:prstGeom>
          <a:gradFill>
            <a:gsLst>
              <a:gs pos="0">
                <a:schemeClr val="accent1">
                  <a:lumMod val="68000"/>
                  <a:lumOff val="32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4800000" scaled="0"/>
          </a:gra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793750" y="2383473"/>
            <a:ext cx="2402840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数据抓取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4733290" y="2428875"/>
            <a:ext cx="2402840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9" name="组合 188"/>
          <p:cNvGrpSpPr/>
          <p:nvPr/>
        </p:nvGrpSpPr>
        <p:grpSpPr>
          <a:xfrm>
            <a:off x="7888605" y="4810125"/>
            <a:ext cx="3788410" cy="996950"/>
            <a:chOff x="12688" y="9795"/>
            <a:chExt cx="5970" cy="1548"/>
          </a:xfrm>
        </p:grpSpPr>
        <p:sp>
          <p:nvSpPr>
            <p:cNvPr id="187" name="任意多边形 186"/>
            <p:cNvSpPr/>
            <p:nvPr>
              <p:custDataLst>
                <p:tags r:id="rId9"/>
              </p:custDataLst>
            </p:nvPr>
          </p:nvSpPr>
          <p:spPr>
            <a:xfrm>
              <a:off x="12688" y="9795"/>
              <a:ext cx="5970" cy="1549"/>
            </a:xfrm>
            <a:custGeom>
              <a:avLst/>
              <a:gdLst>
                <a:gd name="connsiteX0" fmla="*/ 352 w 5970"/>
                <a:gd name="connsiteY0" fmla="*/ 1517 h 1549"/>
                <a:gd name="connsiteX1" fmla="*/ 0 w 5970"/>
                <a:gd name="connsiteY1" fmla="*/ 13 h 1549"/>
                <a:gd name="connsiteX2" fmla="*/ 4804 w 5970"/>
                <a:gd name="connsiteY2" fmla="*/ 0 h 1549"/>
                <a:gd name="connsiteX3" fmla="*/ 5970 w 5970"/>
                <a:gd name="connsiteY3" fmla="*/ 1549 h 1549"/>
                <a:gd name="connsiteX4" fmla="*/ 352 w 5970"/>
                <a:gd name="connsiteY4" fmla="*/ 1517 h 1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70" h="1549">
                  <a:moveTo>
                    <a:pt x="352" y="1517"/>
                  </a:moveTo>
                  <a:lnTo>
                    <a:pt x="0" y="13"/>
                  </a:lnTo>
                  <a:lnTo>
                    <a:pt x="4804" y="0"/>
                  </a:lnTo>
                  <a:lnTo>
                    <a:pt x="5970" y="1549"/>
                  </a:lnTo>
                  <a:lnTo>
                    <a:pt x="352" y="15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8" name="任意多边形 187"/>
            <p:cNvSpPr/>
            <p:nvPr>
              <p:custDataLst>
                <p:tags r:id="rId10"/>
              </p:custDataLst>
            </p:nvPr>
          </p:nvSpPr>
          <p:spPr>
            <a:xfrm>
              <a:off x="12688" y="9795"/>
              <a:ext cx="5970" cy="1549"/>
            </a:xfrm>
            <a:custGeom>
              <a:avLst/>
              <a:gdLst>
                <a:gd name="connsiteX0" fmla="*/ 352 w 5970"/>
                <a:gd name="connsiteY0" fmla="*/ 1517 h 1549"/>
                <a:gd name="connsiteX1" fmla="*/ 0 w 5970"/>
                <a:gd name="connsiteY1" fmla="*/ 13 h 1549"/>
                <a:gd name="connsiteX2" fmla="*/ 4804 w 5970"/>
                <a:gd name="connsiteY2" fmla="*/ 0 h 1549"/>
                <a:gd name="connsiteX3" fmla="*/ 5970 w 5970"/>
                <a:gd name="connsiteY3" fmla="*/ 1549 h 1549"/>
                <a:gd name="connsiteX4" fmla="*/ 352 w 5970"/>
                <a:gd name="connsiteY4" fmla="*/ 1517 h 1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70" h="1549">
                  <a:moveTo>
                    <a:pt x="352" y="1517"/>
                  </a:moveTo>
                  <a:lnTo>
                    <a:pt x="0" y="13"/>
                  </a:lnTo>
                  <a:lnTo>
                    <a:pt x="4804" y="0"/>
                  </a:lnTo>
                  <a:lnTo>
                    <a:pt x="5970" y="1549"/>
                  </a:lnTo>
                  <a:lnTo>
                    <a:pt x="352" y="151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28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0" name="任意多边形: 形状 40"/>
          <p:cNvSpPr/>
          <p:nvPr>
            <p:custDataLst>
              <p:tags r:id="rId11"/>
            </p:custDataLst>
          </p:nvPr>
        </p:nvSpPr>
        <p:spPr>
          <a:xfrm>
            <a:off x="7867015" y="2092960"/>
            <a:ext cx="259080" cy="3712210"/>
          </a:xfrm>
          <a:custGeom>
            <a:avLst/>
            <a:gdLst>
              <a:gd name="connsiteX0" fmla="*/ 701040 w 701040"/>
              <a:gd name="connsiteY0" fmla="*/ 2778760 h 2778760"/>
              <a:gd name="connsiteX1" fmla="*/ 0 w 701040"/>
              <a:gd name="connsiteY1" fmla="*/ 1844040 h 2778760"/>
              <a:gd name="connsiteX2" fmla="*/ 0 w 701040"/>
              <a:gd name="connsiteY2" fmla="*/ 0 h 2778760"/>
              <a:gd name="connsiteX3" fmla="*/ 701040 w 701040"/>
              <a:gd name="connsiteY3" fmla="*/ 629920 h 2778760"/>
              <a:gd name="connsiteX4" fmla="*/ 701040 w 701040"/>
              <a:gd name="connsiteY4" fmla="*/ 2778760 h 2778760"/>
              <a:gd name="connsiteX0-1" fmla="*/ 701040 w 701040"/>
              <a:gd name="connsiteY0-2" fmla="*/ 2778760 h 2778760"/>
              <a:gd name="connsiteX1-3" fmla="*/ 469900 w 701040"/>
              <a:gd name="connsiteY1-4" fmla="*/ 1833880 h 2778760"/>
              <a:gd name="connsiteX2-5" fmla="*/ 0 w 701040"/>
              <a:gd name="connsiteY2-6" fmla="*/ 0 h 2778760"/>
              <a:gd name="connsiteX3-7" fmla="*/ 701040 w 701040"/>
              <a:gd name="connsiteY3-8" fmla="*/ 629920 h 2778760"/>
              <a:gd name="connsiteX4-9" fmla="*/ 701040 w 701040"/>
              <a:gd name="connsiteY4-10" fmla="*/ 2778760 h 2778760"/>
              <a:gd name="connsiteX0-11" fmla="*/ 236220 w 236220"/>
              <a:gd name="connsiteY0-12" fmla="*/ 2805430 h 2805430"/>
              <a:gd name="connsiteX1-13" fmla="*/ 5080 w 236220"/>
              <a:gd name="connsiteY1-14" fmla="*/ 1860550 h 2805430"/>
              <a:gd name="connsiteX2-15" fmla="*/ 0 w 236220"/>
              <a:gd name="connsiteY2-16" fmla="*/ 0 h 2805430"/>
              <a:gd name="connsiteX3-17" fmla="*/ 236220 w 236220"/>
              <a:gd name="connsiteY3-18" fmla="*/ 656590 h 2805430"/>
              <a:gd name="connsiteX4-19" fmla="*/ 236220 w 236220"/>
              <a:gd name="connsiteY4-20" fmla="*/ 2805430 h 28054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08" h="5956">
                <a:moveTo>
                  <a:pt x="13" y="2834"/>
                </a:moveTo>
                <a:lnTo>
                  <a:pt x="9" y="2816"/>
                </a:lnTo>
                <a:lnTo>
                  <a:pt x="8" y="2771"/>
                </a:lnTo>
                <a:cubicBezTo>
                  <a:pt x="7" y="2322"/>
                  <a:pt x="5" y="1761"/>
                  <a:pt x="4" y="1386"/>
                </a:cubicBezTo>
                <a:cubicBezTo>
                  <a:pt x="3" y="937"/>
                  <a:pt x="1" y="375"/>
                  <a:pt x="0" y="0"/>
                </a:cubicBezTo>
                <a:lnTo>
                  <a:pt x="398" y="994"/>
                </a:lnTo>
                <a:cubicBezTo>
                  <a:pt x="396" y="1530"/>
                  <a:pt x="395" y="2257"/>
                  <a:pt x="395" y="2671"/>
                </a:cubicBezTo>
                <a:lnTo>
                  <a:pt x="408" y="2704"/>
                </a:lnTo>
                <a:cubicBezTo>
                  <a:pt x="406" y="3306"/>
                  <a:pt x="405" y="4040"/>
                  <a:pt x="405" y="4559"/>
                </a:cubicBezTo>
                <a:cubicBezTo>
                  <a:pt x="405" y="5009"/>
                  <a:pt x="406" y="5589"/>
                  <a:pt x="408" y="5956"/>
                </a:cubicBezTo>
                <a:lnTo>
                  <a:pt x="19" y="4526"/>
                </a:lnTo>
                <a:cubicBezTo>
                  <a:pt x="17" y="4062"/>
                  <a:pt x="15" y="3486"/>
                  <a:pt x="14" y="3096"/>
                </a:cubicBezTo>
                <a:cubicBezTo>
                  <a:pt x="14" y="3006"/>
                  <a:pt x="13" y="2847"/>
                  <a:pt x="13" y="2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20000"/>
                  <a:lumOff val="80000"/>
                  <a:alpha val="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1" name="任意多边形: 形状 38"/>
          <p:cNvSpPr/>
          <p:nvPr>
            <p:custDataLst>
              <p:tags r:id="rId12"/>
            </p:custDataLst>
          </p:nvPr>
        </p:nvSpPr>
        <p:spPr>
          <a:xfrm>
            <a:off x="10908665" y="2093595"/>
            <a:ext cx="762000" cy="3714750"/>
          </a:xfrm>
          <a:custGeom>
            <a:avLst/>
            <a:gdLst>
              <a:gd name="connsiteX0" fmla="*/ 1200 w 1200"/>
              <a:gd name="connsiteY0" fmla="*/ 4206 h 5829"/>
              <a:gd name="connsiteX1" fmla="*/ 1192 w 1200"/>
              <a:gd name="connsiteY1" fmla="*/ 4196 h 5829"/>
              <a:gd name="connsiteX2" fmla="*/ 1192 w 1200"/>
              <a:gd name="connsiteY2" fmla="*/ 4226 h 5829"/>
              <a:gd name="connsiteX3" fmla="*/ 1192 w 1200"/>
              <a:gd name="connsiteY3" fmla="*/ 4277 h 5829"/>
              <a:gd name="connsiteX4" fmla="*/ 1192 w 1200"/>
              <a:gd name="connsiteY4" fmla="*/ 4329 h 5829"/>
              <a:gd name="connsiteX5" fmla="*/ 1192 w 1200"/>
              <a:gd name="connsiteY5" fmla="*/ 4380 h 5829"/>
              <a:gd name="connsiteX6" fmla="*/ 1192 w 1200"/>
              <a:gd name="connsiteY6" fmla="*/ 4432 h 5829"/>
              <a:gd name="connsiteX7" fmla="*/ 1195 w 1200"/>
              <a:gd name="connsiteY7" fmla="*/ 5829 h 5829"/>
              <a:gd name="connsiteX8" fmla="*/ 59 w 1200"/>
              <a:gd name="connsiteY8" fmla="*/ 4311 h 5829"/>
              <a:gd name="connsiteX9" fmla="*/ 0 w 1200"/>
              <a:gd name="connsiteY9" fmla="*/ 1623 h 5829"/>
              <a:gd name="connsiteX10" fmla="*/ 5 w 1200"/>
              <a:gd name="connsiteY10" fmla="*/ 1627 h 5829"/>
              <a:gd name="connsiteX11" fmla="*/ 5 w 1200"/>
              <a:gd name="connsiteY11" fmla="*/ 0 h 5829"/>
              <a:gd name="connsiteX12" fmla="*/ 1200 w 1200"/>
              <a:gd name="connsiteY12" fmla="*/ 953 h 5829"/>
              <a:gd name="connsiteX13" fmla="*/ 1197 w 1200"/>
              <a:gd name="connsiteY13" fmla="*/ 2809 h 5829"/>
              <a:gd name="connsiteX14" fmla="*/ 1200 w 1200"/>
              <a:gd name="connsiteY14" fmla="*/ 4206 h 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00" h="5829">
                <a:moveTo>
                  <a:pt x="1200" y="4206"/>
                </a:moveTo>
                <a:lnTo>
                  <a:pt x="1192" y="4196"/>
                </a:lnTo>
                <a:lnTo>
                  <a:pt x="1192" y="4226"/>
                </a:lnTo>
                <a:lnTo>
                  <a:pt x="1192" y="4277"/>
                </a:lnTo>
                <a:lnTo>
                  <a:pt x="1192" y="4329"/>
                </a:lnTo>
                <a:lnTo>
                  <a:pt x="1192" y="4380"/>
                </a:lnTo>
                <a:lnTo>
                  <a:pt x="1192" y="4432"/>
                </a:lnTo>
                <a:cubicBezTo>
                  <a:pt x="1191" y="4882"/>
                  <a:pt x="1193" y="5462"/>
                  <a:pt x="1195" y="5829"/>
                </a:cubicBezTo>
                <a:lnTo>
                  <a:pt x="59" y="4311"/>
                </a:lnTo>
                <a:lnTo>
                  <a:pt x="0" y="1623"/>
                </a:lnTo>
                <a:lnTo>
                  <a:pt x="5" y="1627"/>
                </a:lnTo>
                <a:lnTo>
                  <a:pt x="5" y="0"/>
                </a:lnTo>
                <a:lnTo>
                  <a:pt x="1200" y="953"/>
                </a:lnTo>
                <a:cubicBezTo>
                  <a:pt x="1198" y="1556"/>
                  <a:pt x="1197" y="2290"/>
                  <a:pt x="1197" y="2809"/>
                </a:cubicBezTo>
                <a:cubicBezTo>
                  <a:pt x="1196" y="3259"/>
                  <a:pt x="1198" y="3839"/>
                  <a:pt x="1200" y="420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57000"/>
                  <a:lumOff val="43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512445" y="5795645"/>
            <a:ext cx="11155680" cy="796925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4800000" scaled="0"/>
          </a:gradFill>
          <a:ln w="25400">
            <a:solidFill>
              <a:schemeClr val="bg1"/>
            </a:solidFill>
          </a:ln>
          <a:effectLst>
            <a:reflection blurRad="50800" stA="41000" endPos="38000" dist="127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AutoShape 71"/>
          <p:cNvSpPr/>
          <p:nvPr>
            <p:custDataLst>
              <p:tags r:id="rId13"/>
            </p:custDataLst>
          </p:nvPr>
        </p:nvSpPr>
        <p:spPr>
          <a:xfrm>
            <a:off x="1127125" y="5979160"/>
            <a:ext cx="9926320" cy="429895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5pPr>
            <a:lvl6pPr marL="2286000" algn="l" defTabSz="914400" rtl="0" eaLnBrk="1" latinLnBrk="0" hangingPunct="1"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6pPr>
            <a:lvl7pPr marL="2743200" algn="l" defTabSz="914400" rtl="0" eaLnBrk="1" latinLnBrk="0" hangingPunct="1"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7pPr>
            <a:lvl8pPr marL="3200400" algn="l" defTabSz="914400" rtl="0" eaLnBrk="1" latinLnBrk="0" hangingPunct="1"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8pPr>
            <a:lvl9pPr marL="3657600" algn="l" defTabSz="914400" rtl="0" eaLnBrk="1" latinLnBrk="0" hangingPunct="1">
              <a:defRPr kern="1200">
                <a:solidFill>
                  <a:sysClr val="window" lastClr="FFFFFF"/>
                </a:solidFill>
                <a:latin typeface="Arial" panose="020B0604020202020204" pitchFamily="34" charset="0"/>
                <a:ea typeface="黑体" panose="02010609060101010101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266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驱动营销全流程，整合多维度数据实现精准洞察与决策！</a:t>
            </a:r>
            <a:endParaRPr lang="zh-CN" altLang="en-US" sz="266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3471545" y="2338388"/>
            <a:ext cx="4558030" cy="48895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4800000" scaled="0"/>
          </a:gra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8030210" y="2338388"/>
            <a:ext cx="3646805" cy="488950"/>
          </a:xfrm>
          <a:prstGeom prst="rect">
            <a:avLst/>
          </a:prstGeom>
          <a:gradFill>
            <a:gsLst>
              <a:gs pos="0">
                <a:schemeClr val="accent1">
                  <a:lumMod val="68000"/>
                  <a:lumOff val="32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4800000" scaled="0"/>
          </a:gra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4549140" y="2396808"/>
            <a:ext cx="2402840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模型训练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8652193" y="2383473"/>
            <a:ext cx="2402840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调研应用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8437880" y="3605360"/>
            <a:ext cx="2759179" cy="570865"/>
            <a:chOff x="12342" y="4804"/>
            <a:chExt cx="5641" cy="1168"/>
          </a:xfrm>
        </p:grpSpPr>
        <p:sp>
          <p:nvSpPr>
            <p:cNvPr id="199" name="熊大的PPT宝库36"/>
            <p:cNvSpPr/>
            <p:nvPr/>
          </p:nvSpPr>
          <p:spPr>
            <a:xfrm>
              <a:off x="13129" y="4826"/>
              <a:ext cx="4854" cy="1126"/>
            </a:xfrm>
            <a:prstGeom prst="roundRect">
              <a:avLst>
                <a:gd name="adj" fmla="val 875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0" name="熊大的PPT宝库37"/>
            <p:cNvSpPr/>
            <p:nvPr/>
          </p:nvSpPr>
          <p:spPr>
            <a:xfrm>
              <a:off x="12342" y="4804"/>
              <a:ext cx="1322" cy="11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01" name="熊大的PPT宝库38"/>
            <p:cNvSpPr txBox="1"/>
            <p:nvPr/>
          </p:nvSpPr>
          <p:spPr>
            <a:xfrm>
              <a:off x="12537" y="5011"/>
              <a:ext cx="932" cy="7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/>
              <a:r>
                <a:rPr kumimoji="1" lang="zh-CN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品牌洞察</a:t>
              </a:r>
              <a:endParaRPr kumimoji="1" 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02" name="熊大的PPT宝库58"/>
            <p:cNvSpPr/>
            <p:nvPr/>
          </p:nvSpPr>
          <p:spPr>
            <a:xfrm>
              <a:off x="13873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品牌定位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3" name="熊大的PPT宝库59"/>
            <p:cNvSpPr/>
            <p:nvPr/>
          </p:nvSpPr>
          <p:spPr>
            <a:xfrm>
              <a:off x="15936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品牌优势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4" name="熊大的PPT宝库60"/>
            <p:cNvSpPr/>
            <p:nvPr/>
          </p:nvSpPr>
          <p:spPr>
            <a:xfrm>
              <a:off x="13873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品牌现状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5" name="熊大的PPT宝库61"/>
            <p:cNvSpPr/>
            <p:nvPr/>
          </p:nvSpPr>
          <p:spPr>
            <a:xfrm>
              <a:off x="15928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品牌发展阶段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206" name="组合 205"/>
          <p:cNvGrpSpPr/>
          <p:nvPr/>
        </p:nvGrpSpPr>
        <p:grpSpPr>
          <a:xfrm>
            <a:off x="8437880" y="4237820"/>
            <a:ext cx="2759179" cy="570865"/>
            <a:chOff x="12342" y="4804"/>
            <a:chExt cx="5641" cy="1168"/>
          </a:xfrm>
        </p:grpSpPr>
        <p:sp>
          <p:nvSpPr>
            <p:cNvPr id="207" name="熊大的PPT宝库36"/>
            <p:cNvSpPr/>
            <p:nvPr/>
          </p:nvSpPr>
          <p:spPr>
            <a:xfrm>
              <a:off x="13129" y="4826"/>
              <a:ext cx="4854" cy="1126"/>
            </a:xfrm>
            <a:prstGeom prst="roundRect">
              <a:avLst>
                <a:gd name="adj" fmla="val 875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08" name="熊大的PPT宝库37"/>
            <p:cNvSpPr/>
            <p:nvPr/>
          </p:nvSpPr>
          <p:spPr>
            <a:xfrm>
              <a:off x="12342" y="4804"/>
              <a:ext cx="1322" cy="11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09" name="熊大的PPT宝库38"/>
            <p:cNvSpPr txBox="1"/>
            <p:nvPr/>
          </p:nvSpPr>
          <p:spPr>
            <a:xfrm>
              <a:off x="12537" y="5011"/>
              <a:ext cx="932" cy="7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人群</a:t>
              </a:r>
              <a:endParaRPr kumimoji="1"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洞察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10" name="熊大的PPT宝库58"/>
            <p:cNvSpPr/>
            <p:nvPr/>
          </p:nvSpPr>
          <p:spPr>
            <a:xfrm>
              <a:off x="13873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基础属性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1" name="熊大的PPT宝库59"/>
            <p:cNvSpPr/>
            <p:nvPr/>
          </p:nvSpPr>
          <p:spPr>
            <a:xfrm>
              <a:off x="15936" y="4921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媒体偏好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2" name="熊大的PPT宝库60"/>
            <p:cNvSpPr/>
            <p:nvPr/>
          </p:nvSpPr>
          <p:spPr>
            <a:xfrm>
              <a:off x="13873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消费偏好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3" name="熊大的PPT宝库61"/>
            <p:cNvSpPr/>
            <p:nvPr/>
          </p:nvSpPr>
          <p:spPr>
            <a:xfrm>
              <a:off x="15928" y="5413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决策行为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8437880" y="4870280"/>
            <a:ext cx="2759179" cy="570865"/>
            <a:chOff x="12342" y="4804"/>
            <a:chExt cx="5641" cy="1168"/>
          </a:xfrm>
        </p:grpSpPr>
        <p:sp>
          <p:nvSpPr>
            <p:cNvPr id="215" name="熊大的PPT宝库36"/>
            <p:cNvSpPr/>
            <p:nvPr/>
          </p:nvSpPr>
          <p:spPr>
            <a:xfrm>
              <a:off x="13129" y="4826"/>
              <a:ext cx="4854" cy="1126"/>
            </a:xfrm>
            <a:prstGeom prst="roundRect">
              <a:avLst>
                <a:gd name="adj" fmla="val 8759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  <a:prstDash val="sys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6" name="熊大的PPT宝库37"/>
            <p:cNvSpPr/>
            <p:nvPr/>
          </p:nvSpPr>
          <p:spPr>
            <a:xfrm>
              <a:off x="12342" y="4804"/>
              <a:ext cx="1322" cy="1168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17" name="熊大的PPT宝库38"/>
            <p:cNvSpPr txBox="1"/>
            <p:nvPr/>
          </p:nvSpPr>
          <p:spPr>
            <a:xfrm>
              <a:off x="12537" y="5011"/>
              <a:ext cx="932" cy="7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产品</a:t>
              </a:r>
              <a:endParaRPr kumimoji="1"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 defTabSz="457200"/>
              <a:r>
                <a:rPr kumimoji="1"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洞察</a:t>
              </a:r>
              <a:endParaRPr kumimoji="1"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218" name="熊大的PPT宝库58"/>
            <p:cNvSpPr/>
            <p:nvPr/>
          </p:nvSpPr>
          <p:spPr>
            <a:xfrm>
              <a:off x="13873" y="5145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产品卖点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19" name="熊大的PPT宝库59"/>
            <p:cNvSpPr/>
            <p:nvPr/>
          </p:nvSpPr>
          <p:spPr>
            <a:xfrm>
              <a:off x="15936" y="5145"/>
              <a:ext cx="1871" cy="41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40000"/>
                  <a:lumOff val="60000"/>
                  <a:alpha val="8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457200"/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沟通要点</a:t>
              </a:r>
              <a:endParaRPr lang="zh-CN" altLang="en-US" sz="10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1245235" y="5043805"/>
            <a:ext cx="1499870" cy="339090"/>
            <a:chOff x="1829" y="4755"/>
            <a:chExt cx="2362" cy="534"/>
          </a:xfrm>
        </p:grpSpPr>
        <p:sp>
          <p:nvSpPr>
            <p:cNvPr id="223" name="熊大的PPT宝库6"/>
            <p:cNvSpPr/>
            <p:nvPr/>
          </p:nvSpPr>
          <p:spPr>
            <a:xfrm>
              <a:off x="1829" y="4755"/>
              <a:ext cx="2362" cy="534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zh-CN" altLang="en-US" sz="1600" dirty="0">
                <a:latin typeface="+mn-ea"/>
                <a:cs typeface="+mn-ea"/>
                <a:sym typeface="微软雅黑" panose="020B0503020204020204" charset="-122"/>
              </a:endParaRPr>
            </a:p>
          </p:txBody>
        </p:sp>
        <p:sp>
          <p:nvSpPr>
            <p:cNvPr id="224" name="熊大的PPT宝库11"/>
            <p:cNvSpPr txBox="1"/>
            <p:nvPr/>
          </p:nvSpPr>
          <p:spPr>
            <a:xfrm>
              <a:off x="2170" y="4853"/>
              <a:ext cx="1680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txBody>
            <a:bodyPr wrap="none" lIns="0" tIns="0" rIns="0" bIns="0" rtlCol="0">
              <a:spAutoFit/>
            </a:bodyPr>
            <a:lstStyle/>
            <a:p>
              <a:pPr algn="ctr" defTabSz="457200"/>
              <a:r>
                <a:rPr lang="zh-CN" altLang="en-US" sz="1400" dirty="0">
                  <a:solidFill>
                    <a:schemeClr val="tx2"/>
                  </a:solidFill>
                  <a:latin typeface="+mn-ea"/>
                  <a:cs typeface="微软雅黑" panose="020B0503020204020204" charset="-122"/>
                  <a:sym typeface="微软雅黑" panose="020B0503020204020204" charset="-122"/>
                </a:rPr>
                <a:t>社交媒体数据</a:t>
              </a:r>
              <a:endParaRPr lang="zh-CN" altLang="en-US" sz="1400" dirty="0">
                <a:solidFill>
                  <a:schemeClr val="tx2"/>
                </a:solidFill>
                <a:latin typeface="+mn-ea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25" name="熊大的PPT宝库62"/>
          <p:cNvSpPr/>
          <p:nvPr/>
        </p:nvSpPr>
        <p:spPr>
          <a:xfrm>
            <a:off x="7560447" y="3901678"/>
            <a:ext cx="203795" cy="284110"/>
          </a:xfrm>
          <a:prstGeom prst="chevron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dirty="0">
              <a:solidFill>
                <a:schemeClr val="tx1"/>
              </a:solidFill>
              <a:latin typeface="+mj-ea"/>
              <a:ea typeface="+mj-ea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27" name="组合 22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228" name="图片 227"/>
            <p:cNvPicPr>
              <a:picLocks noChangeAspect="1"/>
            </p:cNvPicPr>
            <p:nvPr userDrawn="1"/>
          </p:nvPicPr>
          <p:blipFill>
            <a:blip r:embed="rId14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229" name="文本框 228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行政高效协同务实战略屋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3803015" y="892175"/>
            <a:ext cx="4752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数字化平台获客，实现端到端提升代理人效率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3" name="等腰三角形 2"/>
          <p:cNvSpPr/>
          <p:nvPr/>
        </p:nvSpPr>
        <p:spPr>
          <a:xfrm>
            <a:off x="1892935" y="989965"/>
            <a:ext cx="8669655" cy="1113155"/>
          </a:xfrm>
          <a:prstGeom prst="triangle">
            <a:avLst>
              <a:gd name="adj" fmla="val 50102"/>
            </a:avLst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09440" y="1258570"/>
            <a:ext cx="36366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行政拥抱创新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加速数字化新基建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打造高效、协同、务实的敏捷组织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弦形 7"/>
          <p:cNvSpPr/>
          <p:nvPr/>
        </p:nvSpPr>
        <p:spPr>
          <a:xfrm rot="5400000">
            <a:off x="2187575" y="2012315"/>
            <a:ext cx="1368425" cy="1771015"/>
          </a:xfrm>
          <a:prstGeom prst="chord">
            <a:avLst>
              <a:gd name="adj1" fmla="val 5460645"/>
              <a:gd name="adj2" fmla="val 16200000"/>
            </a:avLst>
          </a:prstGeom>
          <a:gradFill>
            <a:gsLst>
              <a:gs pos="18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9" name="弦形 8"/>
          <p:cNvSpPr/>
          <p:nvPr/>
        </p:nvSpPr>
        <p:spPr>
          <a:xfrm rot="5400000">
            <a:off x="4455795" y="2012315"/>
            <a:ext cx="1368425" cy="1771015"/>
          </a:xfrm>
          <a:prstGeom prst="chord">
            <a:avLst>
              <a:gd name="adj1" fmla="val 5460645"/>
              <a:gd name="adj2" fmla="val 16200000"/>
            </a:avLst>
          </a:prstGeom>
          <a:gradFill>
            <a:gsLst>
              <a:gs pos="18000">
                <a:schemeClr val="accent5">
                  <a:lumMod val="20000"/>
                  <a:lumOff val="80000"/>
                  <a:alpha val="58000"/>
                </a:schemeClr>
              </a:gs>
              <a:gs pos="100000">
                <a:schemeClr val="accent5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35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0" name="弦形 9"/>
          <p:cNvSpPr/>
          <p:nvPr/>
        </p:nvSpPr>
        <p:spPr>
          <a:xfrm rot="5400000">
            <a:off x="6724015" y="2012315"/>
            <a:ext cx="1368425" cy="1771015"/>
          </a:xfrm>
          <a:prstGeom prst="chord">
            <a:avLst>
              <a:gd name="adj1" fmla="val 5460645"/>
              <a:gd name="adj2" fmla="val 16200000"/>
            </a:avLst>
          </a:prstGeom>
          <a:gradFill>
            <a:gsLst>
              <a:gs pos="18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1" name="弦形 10"/>
          <p:cNvSpPr/>
          <p:nvPr/>
        </p:nvSpPr>
        <p:spPr>
          <a:xfrm rot="5400000">
            <a:off x="8992235" y="2012315"/>
            <a:ext cx="1368425" cy="1771015"/>
          </a:xfrm>
          <a:prstGeom prst="chord">
            <a:avLst>
              <a:gd name="adj1" fmla="val 5460645"/>
              <a:gd name="adj2" fmla="val 16200000"/>
            </a:avLst>
          </a:prstGeom>
          <a:gradFill>
            <a:gsLst>
              <a:gs pos="18000">
                <a:schemeClr val="accent5">
                  <a:lumMod val="20000"/>
                  <a:lumOff val="80000"/>
                  <a:alpha val="58000"/>
                </a:schemeClr>
              </a:gs>
              <a:gs pos="100000">
                <a:schemeClr val="accent5">
                  <a:lumMod val="20000"/>
                  <a:lumOff val="80000"/>
                  <a:alpha val="22000"/>
                </a:schemeClr>
              </a:gs>
            </a:gsLst>
            <a:lin ang="10800000" scaled="1"/>
          </a:gradFill>
          <a:ln>
            <a:gradFill>
              <a:gsLst>
                <a:gs pos="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35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40610" y="2335848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行政创新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推动力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79620" y="2313305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行政流程</a:t>
            </a:r>
            <a:endParaRPr lang="en-US" altLang="zh-CN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再造力</a:t>
            </a:r>
            <a:endParaRPr lang="zh-CN" altLang="en-US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847840" y="2313305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行政业务</a:t>
            </a:r>
            <a:endParaRPr lang="en-US" altLang="zh-CN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协同力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16695" y="2313305"/>
            <a:ext cx="1120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行政职能</a:t>
            </a:r>
            <a:endParaRPr lang="en-US" altLang="zh-CN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专业力</a:t>
            </a:r>
            <a:endParaRPr lang="zh-CN" altLang="en-US" sz="1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231515" y="2992120"/>
            <a:ext cx="2044065" cy="3238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组织</a:t>
            </a: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384165" y="2992120"/>
            <a:ext cx="2265045" cy="32385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</a:t>
            </a:r>
            <a:r>
              <a:rPr lang="en-US" altLang="zh-CN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  |   </a:t>
            </a:r>
            <a:r>
              <a:rPr lang="zh-CN" altLang="en-US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协调</a:t>
            </a:r>
            <a:endParaRPr lang="zh-CN" altLang="en-US" sz="1600" spc="300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777480" y="2992120"/>
            <a:ext cx="2785745" cy="3238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  <a:prstDash val="solid"/>
          </a:ln>
          <a:effectLst>
            <a:innerShdw blurRad="2794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控制</a:t>
            </a:r>
            <a:r>
              <a:rPr lang="en-US" altLang="zh-CN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     |    </a:t>
            </a:r>
            <a:r>
              <a:rPr lang="zh-CN" altLang="en-US" sz="1600" spc="30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服务</a:t>
            </a:r>
            <a:endParaRPr lang="zh-CN" altLang="en-US" sz="1600" spc="30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235960" y="3427730"/>
            <a:ext cx="46799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制度文书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759835" y="3427730"/>
            <a:ext cx="46799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文化落地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283710" y="3427730"/>
            <a:ext cx="46799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创新管理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808220" y="3427730"/>
            <a:ext cx="46799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环境安全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31515" y="4287520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制度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231515" y="4572000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231515" y="4856480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公文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31515" y="5141595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印章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31515" y="5426075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档案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231515" y="5710555"/>
            <a:ext cx="467995" cy="218440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758565" y="4287520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行政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58565" y="4867275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团建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活动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758565" y="5446395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文化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培训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289425" y="4287520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体系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氛围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289425" y="4867275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289425" y="5446395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打造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824730" y="4285615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办公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824730" y="4865370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安保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824730" y="5444490"/>
            <a:ext cx="467995" cy="481965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消防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405120" y="3427730"/>
            <a:ext cx="925195" cy="8115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96865" y="4287520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专项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96865" y="4572000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追踪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396865" y="4856480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会议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396865" y="5141595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赋能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396865" y="5426075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沟通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396865" y="5710555"/>
            <a:ext cx="925195" cy="21844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评比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43980" y="3427730"/>
            <a:ext cx="568325" cy="8115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080250" y="3427730"/>
            <a:ext cx="568325" cy="8115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统筹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450330" y="4287520"/>
            <a:ext cx="568325" cy="481965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运营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450330" y="4867275"/>
            <a:ext cx="568325" cy="481965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接待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450330" y="5446395"/>
            <a:ext cx="568325" cy="481965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101205" y="4285615"/>
            <a:ext cx="568325" cy="37592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预算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101205" y="4707890"/>
            <a:ext cx="568325" cy="37592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01205" y="5130800"/>
            <a:ext cx="568325" cy="375920"/>
          </a:xfrm>
          <a:prstGeom prst="rect">
            <a:avLst/>
          </a:pr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运维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101205" y="5553075"/>
            <a:ext cx="568325" cy="375920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办公</a:t>
            </a:r>
            <a:endParaRPr lang="zh-CN" altLang="en-US" sz="105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785100" y="3432810"/>
            <a:ext cx="56832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8425180" y="3427730"/>
            <a:ext cx="582930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9140190" y="3427730"/>
            <a:ext cx="42735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空间管理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9639300" y="3428365"/>
            <a:ext cx="42735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综合服务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135235" y="3427730"/>
            <a:ext cx="427355" cy="811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资产管理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791450" y="4285615"/>
            <a:ext cx="2766695" cy="1647190"/>
            <a:chOff x="13228" y="6741"/>
            <a:chExt cx="4357" cy="2594"/>
          </a:xfrm>
        </p:grpSpPr>
        <p:sp>
          <p:nvSpPr>
            <p:cNvPr id="70" name="矩形 69"/>
            <p:cNvSpPr/>
            <p:nvPr/>
          </p:nvSpPr>
          <p:spPr>
            <a:xfrm>
              <a:off x="13228" y="6753"/>
              <a:ext cx="895" cy="75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费用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13228" y="7665"/>
              <a:ext cx="895" cy="75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采购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13228" y="8577"/>
              <a:ext cx="895" cy="759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采招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4249" y="6741"/>
              <a:ext cx="895" cy="5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保密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4249" y="7406"/>
              <a:ext cx="895" cy="5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风险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4249" y="8072"/>
              <a:ext cx="895" cy="5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审计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14249" y="8737"/>
              <a:ext cx="895" cy="59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分配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5359" y="6744"/>
              <a:ext cx="673" cy="58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VI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5359" y="7406"/>
              <a:ext cx="673" cy="58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装修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15359" y="8067"/>
              <a:ext cx="673" cy="58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装饰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6132" y="6746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物业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6132" y="7194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运维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6132" y="7642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绿化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16132" y="8090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食宿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16132" y="8538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能源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6132" y="8986"/>
              <a:ext cx="673" cy="344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行为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21" name="组合 120"/>
            <p:cNvGrpSpPr/>
            <p:nvPr/>
          </p:nvGrpSpPr>
          <p:grpSpPr>
            <a:xfrm rot="0">
              <a:off x="16913" y="6744"/>
              <a:ext cx="673" cy="2570"/>
              <a:chOff x="9860422" y="4400551"/>
              <a:chExt cx="383251" cy="787332"/>
            </a:xfrm>
            <a:solidFill>
              <a:schemeClr val="accent2">
                <a:lumMod val="20000"/>
                <a:lumOff val="80000"/>
                <a:alpha val="70000"/>
              </a:schemeClr>
            </a:solidFill>
          </p:grpSpPr>
          <p:sp>
            <p:nvSpPr>
              <p:cNvPr id="109" name="矩形 108"/>
              <p:cNvSpPr/>
              <p:nvPr/>
            </p:nvSpPr>
            <p:spPr>
              <a:xfrm>
                <a:off x="9860422" y="4400551"/>
                <a:ext cx="383251" cy="2183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2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105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盘点</a:t>
                </a:r>
                <a:endPara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9860422" y="4685058"/>
                <a:ext cx="383251" cy="2183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2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105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车辆</a:t>
                </a:r>
                <a:endPara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9860422" y="4969564"/>
                <a:ext cx="383251" cy="2183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2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rIns="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1050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….</a:t>
                </a:r>
                <a:endPara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20" name="矩形 119"/>
            <p:cNvSpPr/>
            <p:nvPr/>
          </p:nvSpPr>
          <p:spPr>
            <a:xfrm>
              <a:off x="15352" y="8729"/>
              <a:ext cx="673" cy="58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分配</a:t>
              </a:r>
              <a:endParaRPr lang="zh-CN" altLang="en-US" sz="10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22" name="矩形 121"/>
          <p:cNvSpPr/>
          <p:nvPr/>
        </p:nvSpPr>
        <p:spPr>
          <a:xfrm>
            <a:off x="1892935" y="6022975"/>
            <a:ext cx="8665845" cy="63309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 rot="0">
            <a:off x="2914015" y="6085840"/>
            <a:ext cx="6623050" cy="499110"/>
            <a:chOff x="3161854" y="6017641"/>
            <a:chExt cx="5941344" cy="499147"/>
          </a:xfrm>
        </p:grpSpPr>
        <p:sp>
          <p:nvSpPr>
            <p:cNvPr id="123" name="文本框 122"/>
            <p:cNvSpPr txBox="1"/>
            <p:nvPr/>
          </p:nvSpPr>
          <p:spPr>
            <a:xfrm>
              <a:off x="3161854" y="6017641"/>
              <a:ext cx="1415772" cy="49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统一服务中心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智能客服：钉钉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5426643" y="6021459"/>
              <a:ext cx="1415772" cy="495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统一运营中心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线上</a:t>
              </a:r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OA</a:t>
              </a:r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7695440" y="6021459"/>
              <a:ext cx="1407758" cy="495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统一数据支持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05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全局仪表盘</a:t>
              </a:r>
              <a:endParaRPr lang="zh-CN" alt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cxnSp>
        <p:nvCxnSpPr>
          <p:cNvPr id="128" name="直接连接符 127"/>
          <p:cNvCxnSpPr/>
          <p:nvPr/>
        </p:nvCxnSpPr>
        <p:spPr>
          <a:xfrm>
            <a:off x="4942205" y="6158865"/>
            <a:ext cx="0" cy="361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7527290" y="6158865"/>
            <a:ext cx="0" cy="3619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5" name="显眼包PPT"/>
          <p:cNvGrpSpPr/>
          <p:nvPr/>
        </p:nvGrpSpPr>
        <p:grpSpPr>
          <a:xfrm>
            <a:off x="1892300" y="3410585"/>
            <a:ext cx="1231900" cy="2491740"/>
            <a:chOff x="659218" y="891110"/>
            <a:chExt cx="2555877" cy="1038105"/>
          </a:xfrm>
        </p:grpSpPr>
        <p:sp>
          <p:nvSpPr>
            <p:cNvPr id="1039" name="显眼包PPT-1"/>
            <p:cNvSpPr/>
            <p:nvPr/>
          </p:nvSpPr>
          <p:spPr>
            <a:xfrm flipH="1" flipV="1">
              <a:off x="659218" y="891110"/>
              <a:ext cx="2554560" cy="10381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innerShdw blurRad="114300">
                <a:schemeClr val="accent1">
                  <a:lumMod val="20000"/>
                  <a:lumOff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grpSp>
          <p:nvGrpSpPr>
            <p:cNvPr id="1051" name="组合 1050"/>
            <p:cNvGrpSpPr/>
            <p:nvPr/>
          </p:nvGrpSpPr>
          <p:grpSpPr>
            <a:xfrm>
              <a:off x="659218" y="891110"/>
              <a:ext cx="135590" cy="1038105"/>
              <a:chOff x="659218" y="891110"/>
              <a:chExt cx="135590" cy="1038105"/>
            </a:xfrm>
          </p:grpSpPr>
          <p:grpSp>
            <p:nvGrpSpPr>
              <p:cNvPr id="1043" name="组合 1042"/>
              <p:cNvGrpSpPr/>
              <p:nvPr/>
            </p:nvGrpSpPr>
            <p:grpSpPr>
              <a:xfrm>
                <a:off x="659218" y="891110"/>
                <a:ext cx="135590" cy="26997"/>
                <a:chOff x="4469092" y="1413803"/>
                <a:chExt cx="168812" cy="33612"/>
              </a:xfrm>
            </p:grpSpPr>
            <p:cxnSp>
              <p:nvCxnSpPr>
                <p:cNvPr id="1041" name="显眼包PPT-2"/>
                <p:cNvCxnSpPr/>
                <p:nvPr/>
              </p:nvCxnSpPr>
              <p:spPr>
                <a:xfrm>
                  <a:off x="4469092" y="1413803"/>
                  <a:ext cx="0" cy="336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显眼包PPT-3"/>
                <p:cNvCxnSpPr/>
                <p:nvPr/>
              </p:nvCxnSpPr>
              <p:spPr>
                <a:xfrm rot="5400000">
                  <a:off x="4553498" y="1329397"/>
                  <a:ext cx="0" cy="1688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48" name="组合 1047"/>
              <p:cNvGrpSpPr/>
              <p:nvPr/>
            </p:nvGrpSpPr>
            <p:grpSpPr>
              <a:xfrm flipV="1">
                <a:off x="659218" y="1898799"/>
                <a:ext cx="135590" cy="30416"/>
                <a:chOff x="4469092" y="1413803"/>
                <a:chExt cx="168812" cy="37868"/>
              </a:xfrm>
            </p:grpSpPr>
            <p:cxnSp>
              <p:nvCxnSpPr>
                <p:cNvPr id="1049" name="显眼包PPT-4"/>
                <p:cNvCxnSpPr/>
                <p:nvPr/>
              </p:nvCxnSpPr>
              <p:spPr>
                <a:xfrm>
                  <a:off x="4470732" y="1418059"/>
                  <a:ext cx="0" cy="336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0" name="显眼包PPT-5"/>
                <p:cNvCxnSpPr/>
                <p:nvPr/>
              </p:nvCxnSpPr>
              <p:spPr>
                <a:xfrm rot="5400000">
                  <a:off x="4553498" y="1329397"/>
                  <a:ext cx="0" cy="1688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52" name="组合 1051"/>
            <p:cNvGrpSpPr/>
            <p:nvPr/>
          </p:nvGrpSpPr>
          <p:grpSpPr>
            <a:xfrm flipH="1">
              <a:off x="3078188" y="891110"/>
              <a:ext cx="136907" cy="1038105"/>
              <a:chOff x="657901" y="891110"/>
              <a:chExt cx="136907" cy="1038105"/>
            </a:xfrm>
          </p:grpSpPr>
          <p:grpSp>
            <p:nvGrpSpPr>
              <p:cNvPr id="1053" name="组合 1052"/>
              <p:cNvGrpSpPr/>
              <p:nvPr/>
            </p:nvGrpSpPr>
            <p:grpSpPr>
              <a:xfrm>
                <a:off x="659218" y="891110"/>
                <a:ext cx="135590" cy="26997"/>
                <a:chOff x="4469092" y="1413803"/>
                <a:chExt cx="168812" cy="33612"/>
              </a:xfrm>
            </p:grpSpPr>
            <p:cxnSp>
              <p:nvCxnSpPr>
                <p:cNvPr id="1057" name="显眼包PPT-6"/>
                <p:cNvCxnSpPr/>
                <p:nvPr/>
              </p:nvCxnSpPr>
              <p:spPr>
                <a:xfrm>
                  <a:off x="4469092" y="1413803"/>
                  <a:ext cx="0" cy="336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8" name="显眼包PPT-7"/>
                <p:cNvCxnSpPr/>
                <p:nvPr/>
              </p:nvCxnSpPr>
              <p:spPr>
                <a:xfrm rot="5400000">
                  <a:off x="4553498" y="1329397"/>
                  <a:ext cx="0" cy="1688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4" name="组合 1053"/>
              <p:cNvGrpSpPr/>
              <p:nvPr/>
            </p:nvGrpSpPr>
            <p:grpSpPr>
              <a:xfrm flipV="1">
                <a:off x="657901" y="1898766"/>
                <a:ext cx="136907" cy="30449"/>
                <a:chOff x="4467452" y="1413803"/>
                <a:chExt cx="170452" cy="37910"/>
              </a:xfrm>
            </p:grpSpPr>
            <p:cxnSp>
              <p:nvCxnSpPr>
                <p:cNvPr id="1055" name="显眼包PPT-8"/>
                <p:cNvCxnSpPr/>
                <p:nvPr/>
              </p:nvCxnSpPr>
              <p:spPr>
                <a:xfrm>
                  <a:off x="4467452" y="1418101"/>
                  <a:ext cx="0" cy="336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6" name="显眼包PPT-9"/>
                <p:cNvCxnSpPr/>
                <p:nvPr/>
              </p:nvCxnSpPr>
              <p:spPr>
                <a:xfrm rot="5400000">
                  <a:off x="4553498" y="1329397"/>
                  <a:ext cx="0" cy="168812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57" name="文本框 56"/>
          <p:cNvSpPr txBox="1"/>
          <p:nvPr/>
        </p:nvSpPr>
        <p:spPr>
          <a:xfrm>
            <a:off x="2024380" y="3946525"/>
            <a:ext cx="102806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大模版</a:t>
            </a:r>
            <a:endParaRPr lang="en-US" altLang="zh-CN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项内容</a:t>
            </a:r>
            <a:endParaRPr lang="zh-CN" altLang="en-US" sz="14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024380" y="4877435"/>
            <a:ext cx="100647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战略协同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1892300" y="2992120"/>
            <a:ext cx="1231265" cy="323850"/>
            <a:chOff x="1514" y="5782"/>
            <a:chExt cx="1939" cy="510"/>
          </a:xfrm>
        </p:grpSpPr>
        <p:sp>
          <p:nvSpPr>
            <p:cNvPr id="76" name="显眼包PPT-1"/>
            <p:cNvSpPr/>
            <p:nvPr/>
          </p:nvSpPr>
          <p:spPr>
            <a:xfrm flipH="1" flipV="1">
              <a:off x="1514" y="5782"/>
              <a:ext cx="1939" cy="51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  <a:effectLst>
              <a:innerShdw blurRad="114300">
                <a:schemeClr val="accent1">
                  <a:lumMod val="20000"/>
                  <a:lumOff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微软雅黑" panose="020B0503020204020204" charset="-122"/>
              </a:endParaRPr>
            </a:p>
          </p:txBody>
        </p:sp>
        <p:grpSp>
          <p:nvGrpSpPr>
            <p:cNvPr id="113" name="组合 112"/>
            <p:cNvGrpSpPr/>
            <p:nvPr/>
          </p:nvGrpSpPr>
          <p:grpSpPr>
            <a:xfrm>
              <a:off x="1514" y="5782"/>
              <a:ext cx="104" cy="510"/>
              <a:chOff x="1514" y="5782"/>
              <a:chExt cx="104" cy="510"/>
            </a:xfrm>
          </p:grpSpPr>
          <p:grpSp>
            <p:nvGrpSpPr>
              <p:cNvPr id="77" name="组合 76"/>
              <p:cNvGrpSpPr/>
              <p:nvPr/>
            </p:nvGrpSpPr>
            <p:grpSpPr>
              <a:xfrm rot="0">
                <a:off x="1514" y="5782"/>
                <a:ext cx="104" cy="510"/>
                <a:chOff x="659218" y="891110"/>
                <a:chExt cx="136906" cy="1038321"/>
              </a:xfrm>
            </p:grpSpPr>
            <p:grpSp>
              <p:nvGrpSpPr>
                <p:cNvPr id="78" name="组合 77"/>
                <p:cNvGrpSpPr/>
                <p:nvPr/>
              </p:nvGrpSpPr>
              <p:grpSpPr>
                <a:xfrm>
                  <a:off x="659218" y="891110"/>
                  <a:ext cx="136906" cy="207718"/>
                  <a:chOff x="4469092" y="1413803"/>
                  <a:chExt cx="170451" cy="258614"/>
                </a:xfrm>
              </p:grpSpPr>
              <p:cxnSp>
                <p:nvCxnSpPr>
                  <p:cNvPr id="79" name="显眼包PPT-2"/>
                  <p:cNvCxnSpPr/>
                  <p:nvPr/>
                </p:nvCxnSpPr>
                <p:spPr>
                  <a:xfrm>
                    <a:off x="4469092" y="1413803"/>
                    <a:ext cx="0" cy="258614"/>
                  </a:xfrm>
                  <a:prstGeom prst="line">
                    <a:avLst/>
                  </a:prstGeom>
                  <a:ln w="158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显眼包PPT-3"/>
                  <p:cNvCxnSpPr/>
                  <p:nvPr/>
                </p:nvCxnSpPr>
                <p:spPr>
                  <a:xfrm rot="5400000">
                    <a:off x="4555137" y="1331930"/>
                    <a:ext cx="0" cy="168812"/>
                  </a:xfrm>
                  <a:prstGeom prst="line">
                    <a:avLst/>
                  </a:prstGeom>
                  <a:ln w="158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3" name="显眼包PPT-4"/>
                <p:cNvCxnSpPr/>
                <p:nvPr/>
              </p:nvCxnSpPr>
              <p:spPr>
                <a:xfrm flipV="1">
                  <a:off x="660535" y="1721714"/>
                  <a:ext cx="0" cy="207717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2" name="显眼包PPT-5"/>
              <p:cNvCxnSpPr/>
              <p:nvPr/>
            </p:nvCxnSpPr>
            <p:spPr>
              <a:xfrm rot="-5400000" flipV="1">
                <a:off x="1566" y="6241"/>
                <a:ext cx="0" cy="103"/>
              </a:xfrm>
              <a:prstGeom prst="line">
                <a:avLst/>
              </a:prstGeom>
              <a:ln w="158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合 113"/>
            <p:cNvGrpSpPr/>
            <p:nvPr/>
          </p:nvGrpSpPr>
          <p:grpSpPr>
            <a:xfrm flipH="1">
              <a:off x="3349" y="5782"/>
              <a:ext cx="104" cy="510"/>
              <a:chOff x="1514" y="5782"/>
              <a:chExt cx="104" cy="510"/>
            </a:xfrm>
          </p:grpSpPr>
          <p:grpSp>
            <p:nvGrpSpPr>
              <p:cNvPr id="115" name="组合 114"/>
              <p:cNvGrpSpPr/>
              <p:nvPr/>
            </p:nvGrpSpPr>
            <p:grpSpPr>
              <a:xfrm rot="0">
                <a:off x="1514" y="5782"/>
                <a:ext cx="104" cy="510"/>
                <a:chOff x="659218" y="891110"/>
                <a:chExt cx="136906" cy="1038321"/>
              </a:xfrm>
            </p:grpSpPr>
            <p:grpSp>
              <p:nvGrpSpPr>
                <p:cNvPr id="116" name="组合 115"/>
                <p:cNvGrpSpPr/>
                <p:nvPr/>
              </p:nvGrpSpPr>
              <p:grpSpPr>
                <a:xfrm>
                  <a:off x="659218" y="891110"/>
                  <a:ext cx="136906" cy="207718"/>
                  <a:chOff x="4469092" y="1413803"/>
                  <a:chExt cx="170451" cy="258614"/>
                </a:xfrm>
              </p:grpSpPr>
              <p:cxnSp>
                <p:nvCxnSpPr>
                  <p:cNvPr id="117" name="显眼包PPT-2"/>
                  <p:cNvCxnSpPr/>
                  <p:nvPr/>
                </p:nvCxnSpPr>
                <p:spPr>
                  <a:xfrm>
                    <a:off x="4469092" y="1413803"/>
                    <a:ext cx="0" cy="258614"/>
                  </a:xfrm>
                  <a:prstGeom prst="line">
                    <a:avLst/>
                  </a:prstGeom>
                  <a:ln w="158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显眼包PPT-3"/>
                  <p:cNvCxnSpPr/>
                  <p:nvPr/>
                </p:nvCxnSpPr>
                <p:spPr>
                  <a:xfrm rot="5400000">
                    <a:off x="4555137" y="1331930"/>
                    <a:ext cx="0" cy="168812"/>
                  </a:xfrm>
                  <a:prstGeom prst="line">
                    <a:avLst/>
                  </a:prstGeom>
                  <a:ln w="15875" cap="rnd">
                    <a:solidFill>
                      <a:schemeClr val="accent1">
                        <a:lumMod val="60000"/>
                        <a:lumOff val="4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19" name="显眼包PPT-4"/>
                <p:cNvCxnSpPr/>
                <p:nvPr/>
              </p:nvCxnSpPr>
              <p:spPr>
                <a:xfrm flipV="1">
                  <a:off x="660535" y="1721714"/>
                  <a:ext cx="0" cy="207717"/>
                </a:xfrm>
                <a:prstGeom prst="line">
                  <a:avLst/>
                </a:prstGeom>
                <a:ln w="15875" cap="rnd">
                  <a:solidFill>
                    <a:schemeClr val="accent1">
                      <a:lumMod val="60000"/>
                      <a:lumOff val="4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7" name="显眼包PPT-5"/>
              <p:cNvCxnSpPr/>
              <p:nvPr/>
            </p:nvCxnSpPr>
            <p:spPr>
              <a:xfrm rot="-5400000" flipV="1">
                <a:off x="1566" y="6241"/>
                <a:ext cx="0" cy="103"/>
              </a:xfrm>
              <a:prstGeom prst="line">
                <a:avLst/>
              </a:prstGeom>
              <a:ln w="15875"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1" name="文本框 130"/>
          <p:cNvSpPr txBox="1"/>
          <p:nvPr/>
        </p:nvSpPr>
        <p:spPr>
          <a:xfrm>
            <a:off x="1986280" y="2956560"/>
            <a:ext cx="1006475" cy="3492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2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7" name="显眼包PPT11"/>
          <p:cNvCxnSpPr/>
          <p:nvPr/>
        </p:nvCxnSpPr>
        <p:spPr>
          <a:xfrm flipH="1">
            <a:off x="938339" y="3075231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显眼包PPT12"/>
          <p:cNvCxnSpPr/>
          <p:nvPr/>
        </p:nvCxnSpPr>
        <p:spPr>
          <a:xfrm flipH="1">
            <a:off x="938339" y="2179055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显眼包PPT13"/>
          <p:cNvCxnSpPr/>
          <p:nvPr/>
        </p:nvCxnSpPr>
        <p:spPr>
          <a:xfrm flipH="1">
            <a:off x="938339" y="5798977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显眼包PPT14"/>
          <p:cNvCxnSpPr/>
          <p:nvPr/>
        </p:nvCxnSpPr>
        <p:spPr>
          <a:xfrm flipH="1">
            <a:off x="938339" y="6714653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显眼包PPT15"/>
          <p:cNvCxnSpPr/>
          <p:nvPr/>
        </p:nvCxnSpPr>
        <p:spPr>
          <a:xfrm flipV="1">
            <a:off x="1236211" y="3169737"/>
            <a:ext cx="6985" cy="2454275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显眼包PPT16"/>
          <p:cNvCxnSpPr/>
          <p:nvPr/>
        </p:nvCxnSpPr>
        <p:spPr>
          <a:xfrm flipV="1">
            <a:off x="1239704" y="2273762"/>
            <a:ext cx="0" cy="668663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显眼包PPT17"/>
          <p:cNvSpPr txBox="1"/>
          <p:nvPr/>
        </p:nvSpPr>
        <p:spPr>
          <a:xfrm>
            <a:off x="960303" y="2523455"/>
            <a:ext cx="558800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j-ea"/>
              </a:rPr>
              <a:t>四项提升</a:t>
            </a:r>
            <a:endParaRPr lang="zh-CN" altLang="en-US" sz="1100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sp>
        <p:nvSpPr>
          <p:cNvPr id="133" name="显眼包PPT18"/>
          <p:cNvSpPr txBox="1"/>
          <p:nvPr/>
        </p:nvSpPr>
        <p:spPr>
          <a:xfrm>
            <a:off x="960303" y="4369623"/>
            <a:ext cx="558800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j-ea"/>
              </a:rPr>
              <a:t>六大职能</a:t>
            </a:r>
            <a:endParaRPr lang="zh-CN" altLang="en-US" sz="1100" dirty="0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cxnSp>
        <p:nvCxnSpPr>
          <p:cNvPr id="408" name="显眼包PPT19"/>
          <p:cNvCxnSpPr/>
          <p:nvPr/>
        </p:nvCxnSpPr>
        <p:spPr>
          <a:xfrm flipV="1">
            <a:off x="1239704" y="5912547"/>
            <a:ext cx="0" cy="688535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显眼包PPT20"/>
          <p:cNvSpPr txBox="1"/>
          <p:nvPr/>
        </p:nvSpPr>
        <p:spPr>
          <a:xfrm>
            <a:off x="957575" y="6180541"/>
            <a:ext cx="564257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j-ea"/>
              </a:rPr>
              <a:t>三维一体</a:t>
            </a:r>
            <a:endParaRPr lang="zh-CN" altLang="en-US" sz="1100" dirty="0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cxnSp>
        <p:nvCxnSpPr>
          <p:cNvPr id="136" name="显眼包PPT12"/>
          <p:cNvCxnSpPr/>
          <p:nvPr/>
        </p:nvCxnSpPr>
        <p:spPr>
          <a:xfrm flipH="1">
            <a:off x="938339" y="1140830"/>
            <a:ext cx="602728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显眼包PPT16"/>
          <p:cNvCxnSpPr/>
          <p:nvPr/>
        </p:nvCxnSpPr>
        <p:spPr>
          <a:xfrm flipV="1">
            <a:off x="1239704" y="1179665"/>
            <a:ext cx="0" cy="866775"/>
          </a:xfrm>
          <a:prstGeom prst="line">
            <a:avLst/>
          </a:prstGeom>
          <a:ln w="15875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显眼包PPT17"/>
          <p:cNvSpPr txBox="1"/>
          <p:nvPr/>
        </p:nvSpPr>
        <p:spPr>
          <a:xfrm>
            <a:off x="960303" y="1627470"/>
            <a:ext cx="558800" cy="1689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100">
                <a:solidFill>
                  <a:schemeClr val="accent1"/>
                </a:solidFill>
                <a:latin typeface="+mj-ea"/>
                <a:ea typeface="+mj-ea"/>
                <a:cs typeface="微软雅黑" panose="020B0503020204020204" charset="-122"/>
                <a:sym typeface="+mj-ea"/>
              </a:rPr>
              <a:t>一个目标</a:t>
            </a:r>
            <a:endParaRPr lang="zh-CN" altLang="en-US" sz="1100">
              <a:solidFill>
                <a:schemeClr val="accent1"/>
              </a:solidFill>
              <a:latin typeface="+mj-ea"/>
              <a:ea typeface="+mj-ea"/>
              <a:cs typeface="微软雅黑" panose="020B0503020204020204" charset="-122"/>
              <a:sym typeface="+mj-ea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40" name="图片 139"/>
            <p:cNvPicPr>
              <a:picLocks noChangeAspect="1"/>
            </p:cNvPicPr>
            <p:nvPr userDrawn="1"/>
          </p:nvPicPr>
          <p:blipFill>
            <a:blip r:embed="rId3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41" name="文本框 140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企业经营管理战略屋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0" name="任意多边形: 形状 39"/>
          <p:cNvSpPr/>
          <p:nvPr/>
        </p:nvSpPr>
        <p:spPr>
          <a:xfrm>
            <a:off x="-902335" y="-601980"/>
            <a:ext cx="21590" cy="43815"/>
          </a:xfrm>
          <a:custGeom>
            <a:avLst/>
            <a:gdLst>
              <a:gd name="connsiteX0" fmla="*/ 0 w 21855"/>
              <a:gd name="connsiteY0" fmla="*/ 0 h 43711"/>
              <a:gd name="connsiteX1" fmla="*/ 0 w 21855"/>
              <a:gd name="connsiteY1" fmla="*/ 43712 h 43711"/>
              <a:gd name="connsiteX2" fmla="*/ 21856 w 21855"/>
              <a:gd name="connsiteY2" fmla="*/ 21856 h 43711"/>
              <a:gd name="connsiteX3" fmla="*/ 0 w 21855"/>
              <a:gd name="connsiteY3" fmla="*/ 0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0"/>
                </a:moveTo>
                <a:lnTo>
                  <a:pt x="0" y="43712"/>
                </a:lnTo>
                <a:cubicBezTo>
                  <a:pt x="12071" y="43712"/>
                  <a:pt x="21856" y="33927"/>
                  <a:pt x="21856" y="21856"/>
                </a:cubicBezTo>
                <a:cubicBezTo>
                  <a:pt x="21856" y="9785"/>
                  <a:pt x="1207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-946150" y="-668020"/>
            <a:ext cx="21590" cy="43815"/>
          </a:xfrm>
          <a:custGeom>
            <a:avLst/>
            <a:gdLst>
              <a:gd name="connsiteX0" fmla="*/ 0 w 21855"/>
              <a:gd name="connsiteY0" fmla="*/ 21856 h 43711"/>
              <a:gd name="connsiteX1" fmla="*/ 21856 w 21855"/>
              <a:gd name="connsiteY1" fmla="*/ 43712 h 43711"/>
              <a:gd name="connsiteX2" fmla="*/ 21856 w 21855"/>
              <a:gd name="connsiteY2" fmla="*/ 0 h 43711"/>
              <a:gd name="connsiteX3" fmla="*/ 0 w 21855"/>
              <a:gd name="connsiteY3" fmla="*/ 21856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21856"/>
                </a:moveTo>
                <a:cubicBezTo>
                  <a:pt x="0" y="33927"/>
                  <a:pt x="9785" y="43712"/>
                  <a:pt x="21856" y="43712"/>
                </a:cubicBezTo>
                <a:lnTo>
                  <a:pt x="21856" y="0"/>
                </a:lnTo>
                <a:cubicBezTo>
                  <a:pt x="9785" y="0"/>
                  <a:pt x="0" y="9785"/>
                  <a:pt x="0" y="21856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4" name="等腰三角形 193"/>
          <p:cNvSpPr/>
          <p:nvPr/>
        </p:nvSpPr>
        <p:spPr>
          <a:xfrm>
            <a:off x="446405" y="984885"/>
            <a:ext cx="11403965" cy="601345"/>
          </a:xfrm>
          <a:prstGeom prst="triangl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2000">
                <a:schemeClr val="accent1"/>
              </a:gs>
            </a:gsLst>
            <a:lin ang="1620000" scaled="0"/>
          </a:gra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 b="1" kern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4609220" y="1167484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企业直达项目，项目直达客户</a:t>
            </a:r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矩形: 圆角 49"/>
          <p:cNvSpPr/>
          <p:nvPr/>
        </p:nvSpPr>
        <p:spPr>
          <a:xfrm>
            <a:off x="444783" y="1685757"/>
            <a:ext cx="825935" cy="1180119"/>
          </a:xfrm>
          <a:prstGeom prst="roundRect">
            <a:avLst>
              <a:gd name="adj" fmla="val 5778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9708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企业层</a:t>
            </a:r>
            <a:endParaRPr lang="en-US" altLang="zh-CN" sz="14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平台化经营</a:t>
            </a:r>
            <a:endParaRPr lang="zh-CN" altLang="en-US" sz="900" b="1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2" name="矩形: 圆角 491"/>
          <p:cNvSpPr/>
          <p:nvPr/>
        </p:nvSpPr>
        <p:spPr>
          <a:xfrm>
            <a:off x="1353167" y="1685758"/>
            <a:ext cx="3175200" cy="308565"/>
          </a:xfrm>
          <a:prstGeom prst="roundRect">
            <a:avLst>
              <a:gd name="adj" fmla="val 10792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4" name="矩形: 圆角 493"/>
          <p:cNvSpPr/>
          <p:nvPr/>
        </p:nvSpPr>
        <p:spPr>
          <a:xfrm>
            <a:off x="3899300" y="1735410"/>
            <a:ext cx="533327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供应链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5" name="矩形: 圆角 494"/>
          <p:cNvSpPr/>
          <p:nvPr/>
        </p:nvSpPr>
        <p:spPr>
          <a:xfrm>
            <a:off x="3410898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组织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6" name="矩形: 圆角 495"/>
          <p:cNvSpPr/>
          <p:nvPr/>
        </p:nvSpPr>
        <p:spPr>
          <a:xfrm>
            <a:off x="2922497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7" name="矩形: 圆角 496"/>
          <p:cNvSpPr/>
          <p:nvPr/>
        </p:nvSpPr>
        <p:spPr>
          <a:xfrm>
            <a:off x="2434097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财务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8" name="矩形: 圆角 497"/>
          <p:cNvSpPr/>
          <p:nvPr/>
        </p:nvSpPr>
        <p:spPr>
          <a:xfrm>
            <a:off x="1945696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战略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1307447" y="1716801"/>
            <a:ext cx="706537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创新视角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0" name="矩形: 圆角 519"/>
          <p:cNvSpPr/>
          <p:nvPr/>
        </p:nvSpPr>
        <p:spPr>
          <a:xfrm>
            <a:off x="4609250" y="1685758"/>
            <a:ext cx="3175200" cy="308565"/>
          </a:xfrm>
          <a:prstGeom prst="roundRect">
            <a:avLst>
              <a:gd name="adj" fmla="val 10793"/>
            </a:avLst>
          </a:prstGeom>
          <a:solidFill>
            <a:schemeClr val="accent2">
              <a:alpha val="1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4" name="矩形: 圆角 523"/>
          <p:cNvSpPr/>
          <p:nvPr/>
        </p:nvSpPr>
        <p:spPr>
          <a:xfrm>
            <a:off x="7155382" y="1735410"/>
            <a:ext cx="533327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8" name="矩形: 圆角 527"/>
          <p:cNvSpPr/>
          <p:nvPr/>
        </p:nvSpPr>
        <p:spPr>
          <a:xfrm>
            <a:off x="6666980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5" name="矩形: 圆角 534"/>
          <p:cNvSpPr/>
          <p:nvPr/>
        </p:nvSpPr>
        <p:spPr>
          <a:xfrm>
            <a:off x="6178580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人才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6" name="矩形: 圆角 535"/>
          <p:cNvSpPr/>
          <p:nvPr/>
        </p:nvSpPr>
        <p:spPr>
          <a:xfrm>
            <a:off x="5690179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资金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7" name="矩形: 圆角 536"/>
          <p:cNvSpPr/>
          <p:nvPr/>
        </p:nvSpPr>
        <p:spPr>
          <a:xfrm>
            <a:off x="5201779" y="1735410"/>
            <a:ext cx="429506" cy="209260"/>
          </a:xfrm>
          <a:prstGeom prst="roundRect">
            <a:avLst>
              <a:gd name="adj" fmla="val 22804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土地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4563530" y="1716801"/>
            <a:ext cx="706537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创新视角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9" name="矩形: 圆角 538"/>
          <p:cNvSpPr/>
          <p:nvPr/>
        </p:nvSpPr>
        <p:spPr>
          <a:xfrm>
            <a:off x="7865333" y="1685758"/>
            <a:ext cx="3175200" cy="308565"/>
          </a:xfrm>
          <a:prstGeom prst="roundRect">
            <a:avLst>
              <a:gd name="adj" fmla="val 10792"/>
            </a:avLst>
          </a:prstGeom>
          <a:solidFill>
            <a:schemeClr val="accent2">
              <a:alpha val="1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1" name="文本框 540"/>
          <p:cNvSpPr txBox="1"/>
          <p:nvPr/>
        </p:nvSpPr>
        <p:spPr>
          <a:xfrm>
            <a:off x="7819613" y="1716801"/>
            <a:ext cx="706537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生产要素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7" name="矩形: 圆角 546"/>
          <p:cNvSpPr/>
          <p:nvPr/>
        </p:nvSpPr>
        <p:spPr>
          <a:xfrm>
            <a:off x="1353167" y="2055591"/>
            <a:ext cx="3175200" cy="810285"/>
          </a:xfrm>
          <a:prstGeom prst="roundRect">
            <a:avLst>
              <a:gd name="adj" fmla="val 411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矩形: 圆角 547"/>
          <p:cNvSpPr/>
          <p:nvPr/>
        </p:nvSpPr>
        <p:spPr>
          <a:xfrm>
            <a:off x="1472281" y="2336709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智能企业经营决策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9" name="矩形: 圆角 548"/>
          <p:cNvSpPr/>
          <p:nvPr/>
        </p:nvSpPr>
        <p:spPr>
          <a:xfrm>
            <a:off x="2977165" y="2336709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智能资源交易决策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2" name="矩形: 圆角 551"/>
          <p:cNvSpPr/>
          <p:nvPr/>
        </p:nvSpPr>
        <p:spPr>
          <a:xfrm>
            <a:off x="1472281" y="2598655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智能生产智慧决策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3" name="矩形: 圆角 552"/>
          <p:cNvSpPr/>
          <p:nvPr/>
        </p:nvSpPr>
        <p:spPr>
          <a:xfrm>
            <a:off x="2977165" y="2598655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智能客户运营决策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55" name="文本框 554"/>
          <p:cNvSpPr txBox="1"/>
          <p:nvPr/>
        </p:nvSpPr>
        <p:spPr>
          <a:xfrm>
            <a:off x="2008760" y="2055591"/>
            <a:ext cx="1864014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数字决策中心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0" name="矩形: 圆角 559"/>
          <p:cNvSpPr/>
          <p:nvPr/>
        </p:nvSpPr>
        <p:spPr>
          <a:xfrm>
            <a:off x="4609250" y="2055591"/>
            <a:ext cx="3175200" cy="810285"/>
          </a:xfrm>
          <a:prstGeom prst="roundRect">
            <a:avLst>
              <a:gd name="adj" fmla="val 411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9" name="矩形: 圆角 568"/>
          <p:cNvSpPr/>
          <p:nvPr/>
        </p:nvSpPr>
        <p:spPr>
          <a:xfrm>
            <a:off x="4728364" y="2336709"/>
            <a:ext cx="1432087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智能资源整合与统筹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0" name="矩形: 圆角 569"/>
          <p:cNvSpPr/>
          <p:nvPr/>
        </p:nvSpPr>
        <p:spPr>
          <a:xfrm>
            <a:off x="6233248" y="2336709"/>
            <a:ext cx="1432087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智能专家支持与指引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5" name="矩形: 圆角 564"/>
          <p:cNvSpPr/>
          <p:nvPr/>
        </p:nvSpPr>
        <p:spPr>
          <a:xfrm>
            <a:off x="4728364" y="2598655"/>
            <a:ext cx="2936972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数字知识沉淀与传递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62" name="文本框 561"/>
          <p:cNvSpPr txBox="1"/>
          <p:nvPr/>
        </p:nvSpPr>
        <p:spPr>
          <a:xfrm>
            <a:off x="5264844" y="2055591"/>
            <a:ext cx="1864014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数字赋能中心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2" name="矩形: 圆角 571"/>
          <p:cNvSpPr/>
          <p:nvPr/>
        </p:nvSpPr>
        <p:spPr>
          <a:xfrm>
            <a:off x="7865333" y="2055591"/>
            <a:ext cx="3175200" cy="810285"/>
          </a:xfrm>
          <a:prstGeom prst="roundRect">
            <a:avLst>
              <a:gd name="adj" fmla="val 4110"/>
            </a:avLst>
          </a:prstGeom>
          <a:solidFill>
            <a:schemeClr val="accent2">
              <a:alpha val="10000"/>
            </a:schemeClr>
          </a:solidFill>
          <a:ln w="12700" cap="flat" cmpd="sng" algn="ctr">
            <a:solidFill>
              <a:schemeClr val="accent2">
                <a:alpha val="25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8" name="矩形: 圆角 130"/>
          <p:cNvSpPr/>
          <p:nvPr/>
        </p:nvSpPr>
        <p:spPr>
          <a:xfrm>
            <a:off x="7984446" y="2336709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智能经营监管与审计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9" name="矩形: 圆角 131"/>
          <p:cNvSpPr/>
          <p:nvPr/>
        </p:nvSpPr>
        <p:spPr>
          <a:xfrm>
            <a:off x="9489330" y="2336709"/>
            <a:ext cx="1432088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智能财务监控与审计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矩形: 圆角 128"/>
          <p:cNvSpPr/>
          <p:nvPr/>
        </p:nvSpPr>
        <p:spPr>
          <a:xfrm>
            <a:off x="7984446" y="2598655"/>
            <a:ext cx="2936972" cy="204449"/>
          </a:xfrm>
          <a:prstGeom prst="roundRect">
            <a:avLst>
              <a:gd name="adj" fmla="val 233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智能舆情监管与审计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4" name="文本框 573"/>
          <p:cNvSpPr txBox="1"/>
          <p:nvPr/>
        </p:nvSpPr>
        <p:spPr>
          <a:xfrm>
            <a:off x="8520926" y="2055591"/>
            <a:ext cx="1864014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900" b="1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数字风控中心</a:t>
            </a:r>
            <a:endParaRPr lang="zh-CN" altLang="en-US" sz="900" b="1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5" name="矩形: 圆角 674"/>
          <p:cNvSpPr/>
          <p:nvPr/>
        </p:nvSpPr>
        <p:spPr>
          <a:xfrm>
            <a:off x="11424312" y="1685757"/>
            <a:ext cx="425815" cy="1180119"/>
          </a:xfrm>
          <a:prstGeom prst="roundRect">
            <a:avLst>
              <a:gd name="adj" fmla="val 11207"/>
            </a:avLst>
          </a:prstGeom>
          <a:solidFill>
            <a:schemeClr val="bg1"/>
          </a:solidFill>
          <a:ln w="9708" cap="flat">
            <a:solidFill>
              <a:schemeClr val="tx2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</a:t>
            </a:r>
            <a:endParaRPr lang="en-US" altLang="zh-CN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矩形: 圆角 57"/>
          <p:cNvSpPr/>
          <p:nvPr/>
        </p:nvSpPr>
        <p:spPr>
          <a:xfrm>
            <a:off x="444783" y="3188956"/>
            <a:ext cx="825935" cy="1731289"/>
          </a:xfrm>
          <a:prstGeom prst="roundRect">
            <a:avLst>
              <a:gd name="adj" fmla="val 5778"/>
            </a:avLst>
          </a:prstGeom>
          <a:solidFill>
            <a:schemeClr val="accent1">
              <a:lumMod val="20000"/>
              <a:lumOff val="80000"/>
              <a:alpha val="7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项目层</a:t>
            </a:r>
            <a:endParaRPr lang="zh-CN" altLang="en-US" sz="1400" b="1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9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精细化管理</a:t>
            </a:r>
            <a:endParaRPr lang="zh-CN" altLang="en-US" sz="900" b="1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" name="矩形: 圆角 675"/>
          <p:cNvSpPr/>
          <p:nvPr/>
        </p:nvSpPr>
        <p:spPr>
          <a:xfrm>
            <a:off x="11424312" y="3188956"/>
            <a:ext cx="425815" cy="1731288"/>
          </a:xfrm>
          <a:prstGeom prst="roundRect">
            <a:avLst>
              <a:gd name="adj" fmla="val 11207"/>
            </a:avLst>
          </a:prstGeom>
          <a:solidFill>
            <a:schemeClr val="bg1"/>
          </a:solidFill>
          <a:ln w="9708" cap="flat">
            <a:solidFill>
              <a:schemeClr val="tx2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产品数据</a:t>
            </a: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矩形: 圆角 451"/>
          <p:cNvSpPr/>
          <p:nvPr/>
        </p:nvSpPr>
        <p:spPr>
          <a:xfrm>
            <a:off x="444783" y="5243326"/>
            <a:ext cx="825935" cy="1385289"/>
          </a:xfrm>
          <a:prstGeom prst="roundRect">
            <a:avLst>
              <a:gd name="adj" fmla="val 5778"/>
            </a:avLst>
          </a:prstGeom>
          <a:solidFill>
            <a:schemeClr val="accent5">
              <a:alpha val="20000"/>
            </a:schemeClr>
          </a:solidFill>
          <a:ln w="9708" cap="flat">
            <a:solidFill>
              <a:schemeClr val="accent5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客户层</a:t>
            </a:r>
            <a:endParaRPr lang="en-US" altLang="zh-CN" sz="1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9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精细化运营</a:t>
            </a:r>
            <a:endParaRPr lang="zh-CN" altLang="en-US" sz="9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3" name="矩形: 圆角 452"/>
          <p:cNvSpPr/>
          <p:nvPr/>
        </p:nvSpPr>
        <p:spPr>
          <a:xfrm>
            <a:off x="1353166" y="5243326"/>
            <a:ext cx="9687364" cy="1385289"/>
          </a:xfrm>
          <a:prstGeom prst="roundRect">
            <a:avLst>
              <a:gd name="adj" fmla="val 3445"/>
            </a:avLst>
          </a:prstGeom>
          <a:solidFill>
            <a:schemeClr val="accent5">
              <a:alpha val="10000"/>
            </a:schemeClr>
          </a:solidFill>
          <a:ln w="12700" cap="flat" cmpd="sng" algn="ctr">
            <a:solidFill>
              <a:schemeClr val="accent5">
                <a:alpha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46" name="组合 645"/>
          <p:cNvGrpSpPr/>
          <p:nvPr/>
        </p:nvGrpSpPr>
        <p:grpSpPr>
          <a:xfrm>
            <a:off x="2506662" y="5604873"/>
            <a:ext cx="7248869" cy="174785"/>
            <a:chOff x="2328974" y="5117729"/>
            <a:chExt cx="7940310" cy="191109"/>
          </a:xfrm>
          <a:noFill/>
        </p:grpSpPr>
        <p:sp>
          <p:nvSpPr>
            <p:cNvPr id="637" name="任意多边形: 形状 636"/>
            <p:cNvSpPr/>
            <p:nvPr>
              <p:custDataLst>
                <p:tags r:id="rId3"/>
              </p:custDataLst>
            </p:nvPr>
          </p:nvSpPr>
          <p:spPr>
            <a:xfrm>
              <a:off x="2328974" y="5117729"/>
              <a:ext cx="4042178" cy="191109"/>
            </a:xfrm>
            <a:custGeom>
              <a:avLst/>
              <a:gdLst>
                <a:gd name="connsiteX0" fmla="*/ 4042178 w 4042178"/>
                <a:gd name="connsiteY0" fmla="*/ 0 h 191109"/>
                <a:gd name="connsiteX1" fmla="*/ 4042178 w 4042178"/>
                <a:gd name="connsiteY1" fmla="*/ 95555 h 191109"/>
                <a:gd name="connsiteX2" fmla="*/ 0 w 4042178"/>
                <a:gd name="connsiteY2" fmla="*/ 95555 h 191109"/>
                <a:gd name="connsiteX3" fmla="*/ 0 w 4042178"/>
                <a:gd name="connsiteY3" fmla="*/ 191109 h 191109"/>
                <a:gd name="connsiteX0-1" fmla="*/ 4042178 w 4042178"/>
                <a:gd name="connsiteY0-2" fmla="*/ 0 h 191109"/>
                <a:gd name="connsiteX1-3" fmla="*/ 4042178 w 4042178"/>
                <a:gd name="connsiteY1-4" fmla="*/ 95556 h 191109"/>
                <a:gd name="connsiteX2-5" fmla="*/ 0 w 4042178"/>
                <a:gd name="connsiteY2-6" fmla="*/ 95555 h 191109"/>
                <a:gd name="connsiteX3-7" fmla="*/ 0 w 4042178"/>
                <a:gd name="connsiteY3-8" fmla="*/ 191109 h 191109"/>
                <a:gd name="connsiteX0-9" fmla="*/ 4042178 w 4042178"/>
                <a:gd name="connsiteY0-10" fmla="*/ 0 h 191109"/>
                <a:gd name="connsiteX1-11" fmla="*/ 4042178 w 4042178"/>
                <a:gd name="connsiteY1-12" fmla="*/ 95556 h 191109"/>
                <a:gd name="connsiteX2-13" fmla="*/ 0 w 4042178"/>
                <a:gd name="connsiteY2-14" fmla="*/ 95556 h 191109"/>
                <a:gd name="connsiteX3-15" fmla="*/ 0 w 4042178"/>
                <a:gd name="connsiteY3-16" fmla="*/ 191109 h 191109"/>
                <a:gd name="connsiteX0-17" fmla="*/ 4042178 w 4042178"/>
                <a:gd name="connsiteY0-18" fmla="*/ 0 h 191110"/>
                <a:gd name="connsiteX1-19" fmla="*/ 4042178 w 4042178"/>
                <a:gd name="connsiteY1-20" fmla="*/ 95556 h 191110"/>
                <a:gd name="connsiteX2-21" fmla="*/ 0 w 4042178"/>
                <a:gd name="connsiteY2-22" fmla="*/ 95556 h 191110"/>
                <a:gd name="connsiteX3-23" fmla="*/ 0 w 4042178"/>
                <a:gd name="connsiteY3-24" fmla="*/ 191110 h 191110"/>
                <a:gd name="connsiteX0-25" fmla="*/ 4042178 w 4042178"/>
                <a:gd name="connsiteY0-26" fmla="*/ 0 h 191110"/>
                <a:gd name="connsiteX1-27" fmla="*/ 4042178 w 4042178"/>
                <a:gd name="connsiteY1-28" fmla="*/ 95556 h 191110"/>
                <a:gd name="connsiteX2-29" fmla="*/ 0 w 4042178"/>
                <a:gd name="connsiteY2-30" fmla="*/ 95556 h 191110"/>
                <a:gd name="connsiteX3-31" fmla="*/ 0 w 4042178"/>
                <a:gd name="connsiteY3-32" fmla="*/ 191110 h 191110"/>
                <a:gd name="connsiteX0-33" fmla="*/ 4042178 w 4042178"/>
                <a:gd name="connsiteY0-34" fmla="*/ 0 h 191110"/>
                <a:gd name="connsiteX1-35" fmla="*/ 4042178 w 4042178"/>
                <a:gd name="connsiteY1-36" fmla="*/ 95555 h 191110"/>
                <a:gd name="connsiteX2-37" fmla="*/ 0 w 4042178"/>
                <a:gd name="connsiteY2-38" fmla="*/ 95556 h 191110"/>
                <a:gd name="connsiteX3-39" fmla="*/ 0 w 4042178"/>
                <a:gd name="connsiteY3-40" fmla="*/ 191110 h 191110"/>
                <a:gd name="connsiteX0-41" fmla="*/ 4042178 w 4042178"/>
                <a:gd name="connsiteY0-42" fmla="*/ 0 h 191110"/>
                <a:gd name="connsiteX1-43" fmla="*/ 4042178 w 4042178"/>
                <a:gd name="connsiteY1-44" fmla="*/ 95555 h 191110"/>
                <a:gd name="connsiteX2-45" fmla="*/ 0 w 4042178"/>
                <a:gd name="connsiteY2-46" fmla="*/ 95555 h 191110"/>
                <a:gd name="connsiteX3-47" fmla="*/ 0 w 4042178"/>
                <a:gd name="connsiteY3-48" fmla="*/ 191110 h 191110"/>
                <a:gd name="connsiteX0-49" fmla="*/ 4042178 w 4042178"/>
                <a:gd name="connsiteY0-50" fmla="*/ 0 h 191109"/>
                <a:gd name="connsiteX1-51" fmla="*/ 4042178 w 4042178"/>
                <a:gd name="connsiteY1-52" fmla="*/ 95555 h 191109"/>
                <a:gd name="connsiteX2-53" fmla="*/ 0 w 4042178"/>
                <a:gd name="connsiteY2-54" fmla="*/ 95555 h 191109"/>
                <a:gd name="connsiteX3-55" fmla="*/ 0 w 4042178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4042178" h="191109">
                  <a:moveTo>
                    <a:pt x="4042178" y="0"/>
                  </a:moveTo>
                  <a:lnTo>
                    <a:pt x="4042178" y="95555"/>
                  </a:lnTo>
                  <a:lnTo>
                    <a:pt x="0" y="95555"/>
                  </a:lnTo>
                  <a:lnTo>
                    <a:pt x="0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8" name="任意多边形: 形状 637"/>
            <p:cNvSpPr/>
            <p:nvPr>
              <p:custDataLst>
                <p:tags r:id="rId4"/>
              </p:custDataLst>
            </p:nvPr>
          </p:nvSpPr>
          <p:spPr>
            <a:xfrm>
              <a:off x="3917038" y="5117729"/>
              <a:ext cx="2454114" cy="191109"/>
            </a:xfrm>
            <a:custGeom>
              <a:avLst/>
              <a:gdLst>
                <a:gd name="connsiteX0" fmla="*/ 2454115 w 2454115"/>
                <a:gd name="connsiteY0" fmla="*/ 0 h 191109"/>
                <a:gd name="connsiteX1" fmla="*/ 2454115 w 2454115"/>
                <a:gd name="connsiteY1" fmla="*/ 95555 h 191109"/>
                <a:gd name="connsiteX2" fmla="*/ 0 w 2454115"/>
                <a:gd name="connsiteY2" fmla="*/ 95555 h 191109"/>
                <a:gd name="connsiteX3" fmla="*/ 0 w 2454115"/>
                <a:gd name="connsiteY3" fmla="*/ 191109 h 191109"/>
                <a:gd name="connsiteX0-1" fmla="*/ 2454115 w 2454116"/>
                <a:gd name="connsiteY0-2" fmla="*/ 0 h 191109"/>
                <a:gd name="connsiteX1-3" fmla="*/ 2454116 w 2454116"/>
                <a:gd name="connsiteY1-4" fmla="*/ 95556 h 191109"/>
                <a:gd name="connsiteX2-5" fmla="*/ 0 w 2454116"/>
                <a:gd name="connsiteY2-6" fmla="*/ 95555 h 191109"/>
                <a:gd name="connsiteX3-7" fmla="*/ 0 w 2454116"/>
                <a:gd name="connsiteY3-8" fmla="*/ 191109 h 191109"/>
                <a:gd name="connsiteX0-9" fmla="*/ 2454115 w 2454116"/>
                <a:gd name="connsiteY0-10" fmla="*/ 0 h 191109"/>
                <a:gd name="connsiteX1-11" fmla="*/ 2454116 w 2454116"/>
                <a:gd name="connsiteY1-12" fmla="*/ 95556 h 191109"/>
                <a:gd name="connsiteX2-13" fmla="*/ 0 w 2454116"/>
                <a:gd name="connsiteY2-14" fmla="*/ 95556 h 191109"/>
                <a:gd name="connsiteX3-15" fmla="*/ 0 w 2454116"/>
                <a:gd name="connsiteY3-16" fmla="*/ 191109 h 191109"/>
                <a:gd name="connsiteX0-17" fmla="*/ 2454115 w 2454116"/>
                <a:gd name="connsiteY0-18" fmla="*/ 0 h 191110"/>
                <a:gd name="connsiteX1-19" fmla="*/ 2454116 w 2454116"/>
                <a:gd name="connsiteY1-20" fmla="*/ 95556 h 191110"/>
                <a:gd name="connsiteX2-21" fmla="*/ 0 w 2454116"/>
                <a:gd name="connsiteY2-22" fmla="*/ 95556 h 191110"/>
                <a:gd name="connsiteX3-23" fmla="*/ 0 w 2454116"/>
                <a:gd name="connsiteY3-24" fmla="*/ 191110 h 191110"/>
                <a:gd name="connsiteX0-25" fmla="*/ 2454115 w 2454116"/>
                <a:gd name="connsiteY0-26" fmla="*/ 0 h 191110"/>
                <a:gd name="connsiteX1-27" fmla="*/ 2454116 w 2454116"/>
                <a:gd name="connsiteY1-28" fmla="*/ 95556 h 191110"/>
                <a:gd name="connsiteX2-29" fmla="*/ 0 w 2454116"/>
                <a:gd name="connsiteY2-30" fmla="*/ 95556 h 191110"/>
                <a:gd name="connsiteX3-31" fmla="*/ 0 w 2454116"/>
                <a:gd name="connsiteY3-32" fmla="*/ 191110 h 191110"/>
                <a:gd name="connsiteX0-33" fmla="*/ 2454115 w 2454115"/>
                <a:gd name="connsiteY0-34" fmla="*/ 0 h 191110"/>
                <a:gd name="connsiteX1-35" fmla="*/ 2454115 w 2454115"/>
                <a:gd name="connsiteY1-36" fmla="*/ 95555 h 191110"/>
                <a:gd name="connsiteX2-37" fmla="*/ 0 w 2454115"/>
                <a:gd name="connsiteY2-38" fmla="*/ 95556 h 191110"/>
                <a:gd name="connsiteX3-39" fmla="*/ 0 w 2454115"/>
                <a:gd name="connsiteY3-40" fmla="*/ 191110 h 191110"/>
                <a:gd name="connsiteX0-41" fmla="*/ 2454115 w 2454115"/>
                <a:gd name="connsiteY0-42" fmla="*/ 0 h 191110"/>
                <a:gd name="connsiteX1-43" fmla="*/ 2454115 w 2454115"/>
                <a:gd name="connsiteY1-44" fmla="*/ 95555 h 191110"/>
                <a:gd name="connsiteX2-45" fmla="*/ 1 w 2454115"/>
                <a:gd name="connsiteY2-46" fmla="*/ 95555 h 191110"/>
                <a:gd name="connsiteX3-47" fmla="*/ 0 w 2454115"/>
                <a:gd name="connsiteY3-48" fmla="*/ 191110 h 191110"/>
                <a:gd name="connsiteX0-49" fmla="*/ 2454114 w 2454114"/>
                <a:gd name="connsiteY0-50" fmla="*/ 0 h 191109"/>
                <a:gd name="connsiteX1-51" fmla="*/ 2454114 w 2454114"/>
                <a:gd name="connsiteY1-52" fmla="*/ 95555 h 191109"/>
                <a:gd name="connsiteX2-53" fmla="*/ 0 w 2454114"/>
                <a:gd name="connsiteY2-54" fmla="*/ 95555 h 191109"/>
                <a:gd name="connsiteX3-55" fmla="*/ 0 w 2454114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454114" h="191109">
                  <a:moveTo>
                    <a:pt x="2454114" y="0"/>
                  </a:moveTo>
                  <a:lnTo>
                    <a:pt x="2454114" y="95555"/>
                  </a:lnTo>
                  <a:lnTo>
                    <a:pt x="0" y="95555"/>
                  </a:lnTo>
                  <a:lnTo>
                    <a:pt x="0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9" name="任意多边形: 形状 638"/>
            <p:cNvSpPr/>
            <p:nvPr>
              <p:custDataLst>
                <p:tags r:id="rId5"/>
              </p:custDataLst>
            </p:nvPr>
          </p:nvSpPr>
          <p:spPr>
            <a:xfrm>
              <a:off x="5505100" y="5117729"/>
              <a:ext cx="866052" cy="191109"/>
            </a:xfrm>
            <a:custGeom>
              <a:avLst/>
              <a:gdLst>
                <a:gd name="connsiteX0" fmla="*/ 866052 w 866052"/>
                <a:gd name="connsiteY0" fmla="*/ 0 h 191109"/>
                <a:gd name="connsiteX1" fmla="*/ 866052 w 866052"/>
                <a:gd name="connsiteY1" fmla="*/ 95555 h 191109"/>
                <a:gd name="connsiteX2" fmla="*/ 0 w 866052"/>
                <a:gd name="connsiteY2" fmla="*/ 95555 h 191109"/>
                <a:gd name="connsiteX3" fmla="*/ 0 w 866052"/>
                <a:gd name="connsiteY3" fmla="*/ 191109 h 191109"/>
                <a:gd name="connsiteX0-1" fmla="*/ 866052 w 866052"/>
                <a:gd name="connsiteY0-2" fmla="*/ 0 h 191109"/>
                <a:gd name="connsiteX1-3" fmla="*/ 866052 w 866052"/>
                <a:gd name="connsiteY1-4" fmla="*/ 95556 h 191109"/>
                <a:gd name="connsiteX2-5" fmla="*/ 0 w 866052"/>
                <a:gd name="connsiteY2-6" fmla="*/ 95555 h 191109"/>
                <a:gd name="connsiteX3-7" fmla="*/ 0 w 866052"/>
                <a:gd name="connsiteY3-8" fmla="*/ 191109 h 191109"/>
                <a:gd name="connsiteX0-9" fmla="*/ 866052 w 866052"/>
                <a:gd name="connsiteY0-10" fmla="*/ 0 h 191109"/>
                <a:gd name="connsiteX1-11" fmla="*/ 866052 w 866052"/>
                <a:gd name="connsiteY1-12" fmla="*/ 95556 h 191109"/>
                <a:gd name="connsiteX2-13" fmla="*/ 0 w 866052"/>
                <a:gd name="connsiteY2-14" fmla="*/ 95556 h 191109"/>
                <a:gd name="connsiteX3-15" fmla="*/ 0 w 866052"/>
                <a:gd name="connsiteY3-16" fmla="*/ 191109 h 191109"/>
                <a:gd name="connsiteX0-17" fmla="*/ 866052 w 866052"/>
                <a:gd name="connsiteY0-18" fmla="*/ 0 h 191110"/>
                <a:gd name="connsiteX1-19" fmla="*/ 866052 w 866052"/>
                <a:gd name="connsiteY1-20" fmla="*/ 95556 h 191110"/>
                <a:gd name="connsiteX2-21" fmla="*/ 0 w 866052"/>
                <a:gd name="connsiteY2-22" fmla="*/ 95556 h 191110"/>
                <a:gd name="connsiteX3-23" fmla="*/ 0 w 866052"/>
                <a:gd name="connsiteY3-24" fmla="*/ 191110 h 191110"/>
                <a:gd name="connsiteX0-25" fmla="*/ 866052 w 866052"/>
                <a:gd name="connsiteY0-26" fmla="*/ 0 h 191110"/>
                <a:gd name="connsiteX1-27" fmla="*/ 866052 w 866052"/>
                <a:gd name="connsiteY1-28" fmla="*/ 95556 h 191110"/>
                <a:gd name="connsiteX2-29" fmla="*/ 0 w 866052"/>
                <a:gd name="connsiteY2-30" fmla="*/ 95556 h 191110"/>
                <a:gd name="connsiteX3-31" fmla="*/ 0 w 866052"/>
                <a:gd name="connsiteY3-32" fmla="*/ 191110 h 191110"/>
                <a:gd name="connsiteX0-33" fmla="*/ 866052 w 866052"/>
                <a:gd name="connsiteY0-34" fmla="*/ 0 h 191110"/>
                <a:gd name="connsiteX1-35" fmla="*/ 866052 w 866052"/>
                <a:gd name="connsiteY1-36" fmla="*/ 95555 h 191110"/>
                <a:gd name="connsiteX2-37" fmla="*/ 0 w 866052"/>
                <a:gd name="connsiteY2-38" fmla="*/ 95556 h 191110"/>
                <a:gd name="connsiteX3-39" fmla="*/ 0 w 866052"/>
                <a:gd name="connsiteY3-40" fmla="*/ 191110 h 191110"/>
                <a:gd name="connsiteX0-41" fmla="*/ 866052 w 866052"/>
                <a:gd name="connsiteY0-42" fmla="*/ 0 h 191110"/>
                <a:gd name="connsiteX1-43" fmla="*/ 866052 w 866052"/>
                <a:gd name="connsiteY1-44" fmla="*/ 95555 h 191110"/>
                <a:gd name="connsiteX2-45" fmla="*/ 0 w 866052"/>
                <a:gd name="connsiteY2-46" fmla="*/ 95555 h 191110"/>
                <a:gd name="connsiteX3-47" fmla="*/ 0 w 866052"/>
                <a:gd name="connsiteY3-48" fmla="*/ 191110 h 191110"/>
                <a:gd name="connsiteX0-49" fmla="*/ 866052 w 866052"/>
                <a:gd name="connsiteY0-50" fmla="*/ 0 h 191109"/>
                <a:gd name="connsiteX1-51" fmla="*/ 866052 w 866052"/>
                <a:gd name="connsiteY1-52" fmla="*/ 95555 h 191109"/>
                <a:gd name="connsiteX2-53" fmla="*/ 0 w 866052"/>
                <a:gd name="connsiteY2-54" fmla="*/ 95555 h 191109"/>
                <a:gd name="connsiteX3-55" fmla="*/ 0 w 866052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866052" h="191109">
                  <a:moveTo>
                    <a:pt x="866052" y="0"/>
                  </a:moveTo>
                  <a:lnTo>
                    <a:pt x="866052" y="95555"/>
                  </a:lnTo>
                  <a:lnTo>
                    <a:pt x="0" y="95555"/>
                  </a:lnTo>
                  <a:lnTo>
                    <a:pt x="0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0" name="任意多边形: 形状 639"/>
            <p:cNvSpPr/>
            <p:nvPr>
              <p:custDataLst>
                <p:tags r:id="rId6"/>
              </p:custDataLst>
            </p:nvPr>
          </p:nvSpPr>
          <p:spPr>
            <a:xfrm>
              <a:off x="6371152" y="5117729"/>
              <a:ext cx="722014" cy="191109"/>
            </a:xfrm>
            <a:custGeom>
              <a:avLst/>
              <a:gdLst>
                <a:gd name="connsiteX0" fmla="*/ 0 w 722013"/>
                <a:gd name="connsiteY0" fmla="*/ 0 h 191109"/>
                <a:gd name="connsiteX1" fmla="*/ 0 w 722013"/>
                <a:gd name="connsiteY1" fmla="*/ 95555 h 191109"/>
                <a:gd name="connsiteX2" fmla="*/ 722013 w 722013"/>
                <a:gd name="connsiteY2" fmla="*/ 95555 h 191109"/>
                <a:gd name="connsiteX3" fmla="*/ 722013 w 722013"/>
                <a:gd name="connsiteY3" fmla="*/ 191109 h 191109"/>
                <a:gd name="connsiteX0-1" fmla="*/ 0 w 722013"/>
                <a:gd name="connsiteY0-2" fmla="*/ 0 h 191109"/>
                <a:gd name="connsiteX1-3" fmla="*/ 1 w 722013"/>
                <a:gd name="connsiteY1-4" fmla="*/ 95556 h 191109"/>
                <a:gd name="connsiteX2-5" fmla="*/ 722013 w 722013"/>
                <a:gd name="connsiteY2-6" fmla="*/ 95555 h 191109"/>
                <a:gd name="connsiteX3-7" fmla="*/ 722013 w 722013"/>
                <a:gd name="connsiteY3-8" fmla="*/ 191109 h 191109"/>
                <a:gd name="connsiteX0-9" fmla="*/ 0 w 722014"/>
                <a:gd name="connsiteY0-10" fmla="*/ 0 h 191109"/>
                <a:gd name="connsiteX1-11" fmla="*/ 1 w 722014"/>
                <a:gd name="connsiteY1-12" fmla="*/ 95556 h 191109"/>
                <a:gd name="connsiteX2-13" fmla="*/ 722014 w 722014"/>
                <a:gd name="connsiteY2-14" fmla="*/ 95556 h 191109"/>
                <a:gd name="connsiteX3-15" fmla="*/ 722013 w 722014"/>
                <a:gd name="connsiteY3-16" fmla="*/ 191109 h 191109"/>
                <a:gd name="connsiteX0-17" fmla="*/ 0 w 722014"/>
                <a:gd name="connsiteY0-18" fmla="*/ 0 h 191110"/>
                <a:gd name="connsiteX1-19" fmla="*/ 1 w 722014"/>
                <a:gd name="connsiteY1-20" fmla="*/ 95556 h 191110"/>
                <a:gd name="connsiteX2-21" fmla="*/ 722014 w 722014"/>
                <a:gd name="connsiteY2-22" fmla="*/ 95556 h 191110"/>
                <a:gd name="connsiteX3-23" fmla="*/ 722013 w 722014"/>
                <a:gd name="connsiteY3-24" fmla="*/ 191110 h 191110"/>
                <a:gd name="connsiteX0-25" fmla="*/ 0 w 722014"/>
                <a:gd name="connsiteY0-26" fmla="*/ 0 h 191110"/>
                <a:gd name="connsiteX1-27" fmla="*/ 1 w 722014"/>
                <a:gd name="connsiteY1-28" fmla="*/ 95556 h 191110"/>
                <a:gd name="connsiteX2-29" fmla="*/ 722014 w 722014"/>
                <a:gd name="connsiteY2-30" fmla="*/ 95556 h 191110"/>
                <a:gd name="connsiteX3-31" fmla="*/ 722013 w 722014"/>
                <a:gd name="connsiteY3-32" fmla="*/ 191110 h 191110"/>
                <a:gd name="connsiteX0-33" fmla="*/ 0 w 722014"/>
                <a:gd name="connsiteY0-34" fmla="*/ 0 h 191110"/>
                <a:gd name="connsiteX1-35" fmla="*/ 0 w 722014"/>
                <a:gd name="connsiteY1-36" fmla="*/ 95555 h 191110"/>
                <a:gd name="connsiteX2-37" fmla="*/ 722014 w 722014"/>
                <a:gd name="connsiteY2-38" fmla="*/ 95556 h 191110"/>
                <a:gd name="connsiteX3-39" fmla="*/ 722013 w 722014"/>
                <a:gd name="connsiteY3-40" fmla="*/ 191110 h 191110"/>
                <a:gd name="connsiteX0-41" fmla="*/ 0 w 722013"/>
                <a:gd name="connsiteY0-42" fmla="*/ 0 h 191110"/>
                <a:gd name="connsiteX1-43" fmla="*/ 0 w 722013"/>
                <a:gd name="connsiteY1-44" fmla="*/ 95555 h 191110"/>
                <a:gd name="connsiteX2-45" fmla="*/ 722013 w 722013"/>
                <a:gd name="connsiteY2-46" fmla="*/ 95555 h 191110"/>
                <a:gd name="connsiteX3-47" fmla="*/ 722013 w 722013"/>
                <a:gd name="connsiteY3-48" fmla="*/ 191110 h 191110"/>
                <a:gd name="connsiteX0-49" fmla="*/ 0 w 722014"/>
                <a:gd name="connsiteY0-50" fmla="*/ 0 h 191109"/>
                <a:gd name="connsiteX1-51" fmla="*/ 0 w 722014"/>
                <a:gd name="connsiteY1-52" fmla="*/ 95555 h 191109"/>
                <a:gd name="connsiteX2-53" fmla="*/ 722013 w 722014"/>
                <a:gd name="connsiteY2-54" fmla="*/ 95555 h 191109"/>
                <a:gd name="connsiteX3-55" fmla="*/ 722014 w 722014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22014" h="191109">
                  <a:moveTo>
                    <a:pt x="0" y="0"/>
                  </a:moveTo>
                  <a:lnTo>
                    <a:pt x="0" y="95555"/>
                  </a:lnTo>
                  <a:lnTo>
                    <a:pt x="722013" y="95555"/>
                  </a:lnTo>
                  <a:lnTo>
                    <a:pt x="722014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2" name="任意多边形: 形状 641"/>
            <p:cNvSpPr/>
            <p:nvPr>
              <p:custDataLst>
                <p:tags r:id="rId7"/>
              </p:custDataLst>
            </p:nvPr>
          </p:nvSpPr>
          <p:spPr>
            <a:xfrm>
              <a:off x="6371152" y="5117729"/>
              <a:ext cx="2310076" cy="191109"/>
            </a:xfrm>
            <a:custGeom>
              <a:avLst/>
              <a:gdLst>
                <a:gd name="connsiteX0" fmla="*/ 0 w 2310075"/>
                <a:gd name="connsiteY0" fmla="*/ 0 h 191109"/>
                <a:gd name="connsiteX1" fmla="*/ 0 w 2310075"/>
                <a:gd name="connsiteY1" fmla="*/ 95555 h 191109"/>
                <a:gd name="connsiteX2" fmla="*/ 2310075 w 2310075"/>
                <a:gd name="connsiteY2" fmla="*/ 95555 h 191109"/>
                <a:gd name="connsiteX3" fmla="*/ 2310075 w 2310075"/>
                <a:gd name="connsiteY3" fmla="*/ 191109 h 191109"/>
                <a:gd name="connsiteX0-1" fmla="*/ 0 w 2310075"/>
                <a:gd name="connsiteY0-2" fmla="*/ 0 h 191109"/>
                <a:gd name="connsiteX1-3" fmla="*/ 1 w 2310075"/>
                <a:gd name="connsiteY1-4" fmla="*/ 95556 h 191109"/>
                <a:gd name="connsiteX2-5" fmla="*/ 2310075 w 2310075"/>
                <a:gd name="connsiteY2-6" fmla="*/ 95555 h 191109"/>
                <a:gd name="connsiteX3-7" fmla="*/ 2310075 w 2310075"/>
                <a:gd name="connsiteY3-8" fmla="*/ 191109 h 191109"/>
                <a:gd name="connsiteX0-9" fmla="*/ 0 w 2310076"/>
                <a:gd name="connsiteY0-10" fmla="*/ 0 h 191109"/>
                <a:gd name="connsiteX1-11" fmla="*/ 1 w 2310076"/>
                <a:gd name="connsiteY1-12" fmla="*/ 95556 h 191109"/>
                <a:gd name="connsiteX2-13" fmla="*/ 2310076 w 2310076"/>
                <a:gd name="connsiteY2-14" fmla="*/ 95556 h 191109"/>
                <a:gd name="connsiteX3-15" fmla="*/ 2310075 w 2310076"/>
                <a:gd name="connsiteY3-16" fmla="*/ 191109 h 191109"/>
                <a:gd name="connsiteX0-17" fmla="*/ 0 w 2310076"/>
                <a:gd name="connsiteY0-18" fmla="*/ 0 h 191110"/>
                <a:gd name="connsiteX1-19" fmla="*/ 1 w 2310076"/>
                <a:gd name="connsiteY1-20" fmla="*/ 95556 h 191110"/>
                <a:gd name="connsiteX2-21" fmla="*/ 2310076 w 2310076"/>
                <a:gd name="connsiteY2-22" fmla="*/ 95556 h 191110"/>
                <a:gd name="connsiteX3-23" fmla="*/ 2310075 w 2310076"/>
                <a:gd name="connsiteY3-24" fmla="*/ 191110 h 191110"/>
                <a:gd name="connsiteX0-25" fmla="*/ 0 w 2310076"/>
                <a:gd name="connsiteY0-26" fmla="*/ 0 h 191110"/>
                <a:gd name="connsiteX1-27" fmla="*/ 1 w 2310076"/>
                <a:gd name="connsiteY1-28" fmla="*/ 95556 h 191110"/>
                <a:gd name="connsiteX2-29" fmla="*/ 2310076 w 2310076"/>
                <a:gd name="connsiteY2-30" fmla="*/ 95556 h 191110"/>
                <a:gd name="connsiteX3-31" fmla="*/ 2310075 w 2310076"/>
                <a:gd name="connsiteY3-32" fmla="*/ 191110 h 191110"/>
                <a:gd name="connsiteX0-33" fmla="*/ 0 w 2310076"/>
                <a:gd name="connsiteY0-34" fmla="*/ 0 h 191110"/>
                <a:gd name="connsiteX1-35" fmla="*/ 0 w 2310076"/>
                <a:gd name="connsiteY1-36" fmla="*/ 95555 h 191110"/>
                <a:gd name="connsiteX2-37" fmla="*/ 2310076 w 2310076"/>
                <a:gd name="connsiteY2-38" fmla="*/ 95556 h 191110"/>
                <a:gd name="connsiteX3-39" fmla="*/ 2310075 w 2310076"/>
                <a:gd name="connsiteY3-40" fmla="*/ 191110 h 191110"/>
                <a:gd name="connsiteX0-41" fmla="*/ 0 w 2310075"/>
                <a:gd name="connsiteY0-42" fmla="*/ 0 h 191110"/>
                <a:gd name="connsiteX1-43" fmla="*/ 0 w 2310075"/>
                <a:gd name="connsiteY1-44" fmla="*/ 95555 h 191110"/>
                <a:gd name="connsiteX2-45" fmla="*/ 2310075 w 2310075"/>
                <a:gd name="connsiteY2-46" fmla="*/ 95555 h 191110"/>
                <a:gd name="connsiteX3-47" fmla="*/ 2310075 w 2310075"/>
                <a:gd name="connsiteY3-48" fmla="*/ 191110 h 191110"/>
                <a:gd name="connsiteX0-49" fmla="*/ 0 w 2310076"/>
                <a:gd name="connsiteY0-50" fmla="*/ 0 h 191109"/>
                <a:gd name="connsiteX1-51" fmla="*/ 0 w 2310076"/>
                <a:gd name="connsiteY1-52" fmla="*/ 95555 h 191109"/>
                <a:gd name="connsiteX2-53" fmla="*/ 2310075 w 2310076"/>
                <a:gd name="connsiteY2-54" fmla="*/ 95555 h 191109"/>
                <a:gd name="connsiteX3-55" fmla="*/ 2310076 w 2310076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310076" h="191109">
                  <a:moveTo>
                    <a:pt x="0" y="0"/>
                  </a:moveTo>
                  <a:lnTo>
                    <a:pt x="0" y="95555"/>
                  </a:lnTo>
                  <a:lnTo>
                    <a:pt x="2310075" y="95555"/>
                  </a:lnTo>
                  <a:lnTo>
                    <a:pt x="2310076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3" name="任意多边形: 形状 642"/>
            <p:cNvSpPr/>
            <p:nvPr>
              <p:custDataLst>
                <p:tags r:id="rId8"/>
              </p:custDataLst>
            </p:nvPr>
          </p:nvSpPr>
          <p:spPr>
            <a:xfrm>
              <a:off x="6371152" y="5117729"/>
              <a:ext cx="3898132" cy="191109"/>
            </a:xfrm>
            <a:custGeom>
              <a:avLst/>
              <a:gdLst>
                <a:gd name="connsiteX0" fmla="*/ 0 w 3898132"/>
                <a:gd name="connsiteY0" fmla="*/ 0 h 191109"/>
                <a:gd name="connsiteX1" fmla="*/ 0 w 3898132"/>
                <a:gd name="connsiteY1" fmla="*/ 95555 h 191109"/>
                <a:gd name="connsiteX2" fmla="*/ 3898132 w 3898132"/>
                <a:gd name="connsiteY2" fmla="*/ 95555 h 191109"/>
                <a:gd name="connsiteX3" fmla="*/ 3898132 w 3898132"/>
                <a:gd name="connsiteY3" fmla="*/ 191109 h 191109"/>
                <a:gd name="connsiteX0-1" fmla="*/ 0 w 3898132"/>
                <a:gd name="connsiteY0-2" fmla="*/ 0 h 191109"/>
                <a:gd name="connsiteX1-3" fmla="*/ 0 w 3898132"/>
                <a:gd name="connsiteY1-4" fmla="*/ 95556 h 191109"/>
                <a:gd name="connsiteX2-5" fmla="*/ 3898132 w 3898132"/>
                <a:gd name="connsiteY2-6" fmla="*/ 95555 h 191109"/>
                <a:gd name="connsiteX3-7" fmla="*/ 3898132 w 3898132"/>
                <a:gd name="connsiteY3-8" fmla="*/ 191109 h 191109"/>
                <a:gd name="connsiteX0-9" fmla="*/ 0 w 3898132"/>
                <a:gd name="connsiteY0-10" fmla="*/ 0 h 191109"/>
                <a:gd name="connsiteX1-11" fmla="*/ 0 w 3898132"/>
                <a:gd name="connsiteY1-12" fmla="*/ 95556 h 191109"/>
                <a:gd name="connsiteX2-13" fmla="*/ 3898132 w 3898132"/>
                <a:gd name="connsiteY2-14" fmla="*/ 95556 h 191109"/>
                <a:gd name="connsiteX3-15" fmla="*/ 3898132 w 3898132"/>
                <a:gd name="connsiteY3-16" fmla="*/ 191109 h 191109"/>
                <a:gd name="connsiteX0-17" fmla="*/ 0 w 3898132"/>
                <a:gd name="connsiteY0-18" fmla="*/ 0 h 191110"/>
                <a:gd name="connsiteX1-19" fmla="*/ 0 w 3898132"/>
                <a:gd name="connsiteY1-20" fmla="*/ 95556 h 191110"/>
                <a:gd name="connsiteX2-21" fmla="*/ 3898132 w 3898132"/>
                <a:gd name="connsiteY2-22" fmla="*/ 95556 h 191110"/>
                <a:gd name="connsiteX3-23" fmla="*/ 3898132 w 3898132"/>
                <a:gd name="connsiteY3-24" fmla="*/ 191110 h 191110"/>
                <a:gd name="connsiteX0-25" fmla="*/ 0 w 3898132"/>
                <a:gd name="connsiteY0-26" fmla="*/ 0 h 191110"/>
                <a:gd name="connsiteX1-27" fmla="*/ 0 w 3898132"/>
                <a:gd name="connsiteY1-28" fmla="*/ 95556 h 191110"/>
                <a:gd name="connsiteX2-29" fmla="*/ 3898132 w 3898132"/>
                <a:gd name="connsiteY2-30" fmla="*/ 95556 h 191110"/>
                <a:gd name="connsiteX3-31" fmla="*/ 3898132 w 3898132"/>
                <a:gd name="connsiteY3-32" fmla="*/ 191110 h 191110"/>
                <a:gd name="connsiteX0-33" fmla="*/ 0 w 3898132"/>
                <a:gd name="connsiteY0-34" fmla="*/ 0 h 191110"/>
                <a:gd name="connsiteX1-35" fmla="*/ 0 w 3898132"/>
                <a:gd name="connsiteY1-36" fmla="*/ 95555 h 191110"/>
                <a:gd name="connsiteX2-37" fmla="*/ 3898132 w 3898132"/>
                <a:gd name="connsiteY2-38" fmla="*/ 95556 h 191110"/>
                <a:gd name="connsiteX3-39" fmla="*/ 3898132 w 3898132"/>
                <a:gd name="connsiteY3-40" fmla="*/ 191110 h 191110"/>
                <a:gd name="connsiteX0-41" fmla="*/ 0 w 3898132"/>
                <a:gd name="connsiteY0-42" fmla="*/ 0 h 191110"/>
                <a:gd name="connsiteX1-43" fmla="*/ 0 w 3898132"/>
                <a:gd name="connsiteY1-44" fmla="*/ 95555 h 191110"/>
                <a:gd name="connsiteX2-45" fmla="*/ 3898132 w 3898132"/>
                <a:gd name="connsiteY2-46" fmla="*/ 95555 h 191110"/>
                <a:gd name="connsiteX3-47" fmla="*/ 3898132 w 3898132"/>
                <a:gd name="connsiteY3-48" fmla="*/ 191110 h 191110"/>
                <a:gd name="connsiteX0-49" fmla="*/ 0 w 3898132"/>
                <a:gd name="connsiteY0-50" fmla="*/ 0 h 191109"/>
                <a:gd name="connsiteX1-51" fmla="*/ 0 w 3898132"/>
                <a:gd name="connsiteY1-52" fmla="*/ 95555 h 191109"/>
                <a:gd name="connsiteX2-53" fmla="*/ 3898132 w 3898132"/>
                <a:gd name="connsiteY2-54" fmla="*/ 95555 h 191109"/>
                <a:gd name="connsiteX3-55" fmla="*/ 3898132 w 3898132"/>
                <a:gd name="connsiteY3-56" fmla="*/ 191109 h 19110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898132" h="191109">
                  <a:moveTo>
                    <a:pt x="0" y="0"/>
                  </a:moveTo>
                  <a:lnTo>
                    <a:pt x="0" y="95555"/>
                  </a:lnTo>
                  <a:lnTo>
                    <a:pt x="3898132" y="95555"/>
                  </a:lnTo>
                  <a:lnTo>
                    <a:pt x="3898132" y="191109"/>
                  </a:lnTo>
                </a:path>
              </a:pathLst>
            </a:cu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900" b="1" ker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52" name="矩形: 圆角 651"/>
          <p:cNvSpPr/>
          <p:nvPr>
            <p:custDataLst>
              <p:tags r:id="rId9"/>
            </p:custDataLst>
          </p:nvPr>
        </p:nvSpPr>
        <p:spPr>
          <a:xfrm>
            <a:off x="5697714" y="5367769"/>
            <a:ext cx="1140908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成功客户体验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3" name="矩形: 圆角 652"/>
          <p:cNvSpPr/>
          <p:nvPr>
            <p:custDataLst>
              <p:tags r:id="rId10"/>
            </p:custDataLst>
          </p:nvPr>
        </p:nvSpPr>
        <p:spPr>
          <a:xfrm>
            <a:off x="1540373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数字洞见管理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4" name="矩形: 圆角 653"/>
          <p:cNvSpPr/>
          <p:nvPr>
            <p:custDataLst>
              <p:tags r:id="rId11"/>
            </p:custDataLst>
          </p:nvPr>
        </p:nvSpPr>
        <p:spPr>
          <a:xfrm>
            <a:off x="3112939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柔性定制管理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5" name="矩形: 圆角 654"/>
          <p:cNvSpPr/>
          <p:nvPr>
            <p:custDataLst>
              <p:tags r:id="rId12"/>
            </p:custDataLst>
          </p:nvPr>
        </p:nvSpPr>
        <p:spPr>
          <a:xfrm>
            <a:off x="4685505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透明建造管理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6" name="矩形: 圆角 655"/>
          <p:cNvSpPr/>
          <p:nvPr>
            <p:custDataLst>
              <p:tags r:id="rId13"/>
            </p:custDataLst>
          </p:nvPr>
        </p:nvSpPr>
        <p:spPr>
          <a:xfrm>
            <a:off x="6258073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个性营销管理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7" name="矩形: 圆角 656"/>
          <p:cNvSpPr/>
          <p:nvPr>
            <p:custDataLst>
              <p:tags r:id="rId14"/>
            </p:custDataLst>
          </p:nvPr>
        </p:nvSpPr>
        <p:spPr>
          <a:xfrm>
            <a:off x="7830638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智能营运管理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8" name="矩形: 圆角 657"/>
          <p:cNvSpPr/>
          <p:nvPr>
            <p:custDataLst>
              <p:tags r:id="rId15"/>
            </p:custDataLst>
          </p:nvPr>
        </p:nvSpPr>
        <p:spPr>
          <a:xfrm>
            <a:off x="9403198" y="5779660"/>
            <a:ext cx="1450125" cy="237105"/>
          </a:xfrm>
          <a:prstGeom prst="roundRect">
            <a:avLst>
              <a:gd name="adj" fmla="val 20126"/>
            </a:avLst>
          </a:prstGeom>
          <a:gradFill>
            <a:gsLst>
              <a:gs pos="0">
                <a:schemeClr val="accent5"/>
              </a:gs>
              <a:gs pos="87000">
                <a:schemeClr val="accent5">
                  <a:lumMod val="80000"/>
                  <a:lumOff val="2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智慧人居管理</a:t>
            </a:r>
            <a:endParaRPr lang="zh-CN" altLang="en-US" sz="1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9" name="矩形: 圆角 658"/>
          <p:cNvSpPr/>
          <p:nvPr/>
        </p:nvSpPr>
        <p:spPr>
          <a:xfrm>
            <a:off x="1540373" y="6105528"/>
            <a:ext cx="9312950" cy="398644"/>
          </a:xfrm>
          <a:prstGeom prst="roundRect">
            <a:avLst>
              <a:gd name="adj" fmla="val 11971"/>
            </a:avLst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b="1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2467732" y="6175226"/>
            <a:ext cx="8241142" cy="259249"/>
            <a:chOff x="2467732" y="6007586"/>
            <a:chExt cx="7437235" cy="259249"/>
          </a:xfrm>
          <a:solidFill>
            <a:schemeClr val="accent5">
              <a:lumMod val="20000"/>
              <a:lumOff val="80000"/>
              <a:alpha val="40000"/>
            </a:schemeClr>
          </a:solidFill>
        </p:grpSpPr>
        <p:sp>
          <p:nvSpPr>
            <p:cNvPr id="628" name="箭头: 五边形 627"/>
            <p:cNvSpPr/>
            <p:nvPr/>
          </p:nvSpPr>
          <p:spPr>
            <a:xfrm>
              <a:off x="2467732" y="6007586"/>
              <a:ext cx="1283234" cy="259249"/>
            </a:xfrm>
            <a:prstGeom prst="homePlate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</a:t>
              </a:r>
              <a:endParaRPr lang="zh-CN" altLang="en-US" sz="10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2" name="箭头: V 形 631"/>
            <p:cNvSpPr/>
            <p:nvPr/>
          </p:nvSpPr>
          <p:spPr>
            <a:xfrm>
              <a:off x="3698532" y="6007586"/>
              <a:ext cx="1283234" cy="259249"/>
            </a:xfrm>
            <a:prstGeom prst="chevron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推荐</a:t>
              </a:r>
              <a:endParaRPr lang="zh-CN" altLang="en-US" sz="10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3" name="箭头: V 形 632"/>
            <p:cNvSpPr/>
            <p:nvPr/>
          </p:nvSpPr>
          <p:spPr>
            <a:xfrm>
              <a:off x="4929332" y="6007586"/>
              <a:ext cx="1283234" cy="259249"/>
            </a:xfrm>
            <a:prstGeom prst="chevron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配置</a:t>
              </a:r>
              <a:endParaRPr lang="zh-CN" altLang="en-US" sz="10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4" name="箭头: V 形 633"/>
            <p:cNvSpPr/>
            <p:nvPr/>
          </p:nvSpPr>
          <p:spPr>
            <a:xfrm>
              <a:off x="6160132" y="6007586"/>
              <a:ext cx="1283234" cy="259249"/>
            </a:xfrm>
            <a:prstGeom prst="chevron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体验</a:t>
              </a:r>
              <a:endParaRPr lang="zh-CN" altLang="en-US" sz="10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5" name="箭头: V 形 634"/>
            <p:cNvSpPr/>
            <p:nvPr/>
          </p:nvSpPr>
          <p:spPr>
            <a:xfrm>
              <a:off x="7390932" y="6007586"/>
              <a:ext cx="1283234" cy="259249"/>
            </a:xfrm>
            <a:prstGeom prst="chevron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 dirty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购买</a:t>
              </a:r>
              <a:endParaRPr lang="zh-CN" altLang="en-US" sz="1000" b="1" kern="0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6" name="箭头: V 形 635"/>
            <p:cNvSpPr/>
            <p:nvPr/>
          </p:nvSpPr>
          <p:spPr>
            <a:xfrm>
              <a:off x="8621733" y="6007586"/>
              <a:ext cx="1283234" cy="259249"/>
            </a:xfrm>
            <a:prstGeom prst="chevron">
              <a:avLst/>
            </a:prstGeom>
            <a:grpFill/>
            <a:ln w="9708" cap="flat">
              <a:solidFill>
                <a:schemeClr val="accent5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000" b="1" kern="0">
                  <a:solidFill>
                    <a:schemeClr val="accent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</a:t>
              </a:r>
              <a:endParaRPr lang="zh-CN" altLang="en-US" sz="10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62" name="文本框 661"/>
          <p:cNvSpPr txBox="1"/>
          <p:nvPr/>
        </p:nvSpPr>
        <p:spPr>
          <a:xfrm>
            <a:off x="1540373" y="6181611"/>
            <a:ext cx="927359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900" b="1" kern="0">
                <a:solidFill>
                  <a:schemeClr val="accent5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全链路触点</a:t>
            </a:r>
            <a:endParaRPr lang="zh-CN" altLang="en-US" sz="900" b="1" kern="0">
              <a:solidFill>
                <a:schemeClr val="accent5">
                  <a:alpha val="7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7" name="矩形: 圆角 676"/>
          <p:cNvSpPr/>
          <p:nvPr/>
        </p:nvSpPr>
        <p:spPr>
          <a:xfrm>
            <a:off x="11424312" y="5243325"/>
            <a:ext cx="425815" cy="1385289"/>
          </a:xfrm>
          <a:prstGeom prst="roundRect">
            <a:avLst>
              <a:gd name="adj" fmla="val 11207"/>
            </a:avLst>
          </a:prstGeom>
          <a:solidFill>
            <a:schemeClr val="bg1"/>
          </a:solidFill>
          <a:ln w="9708" cap="flat">
            <a:solidFill>
              <a:schemeClr val="tx2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客户数据</a:t>
            </a: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矩形: 圆角 58"/>
          <p:cNvSpPr/>
          <p:nvPr/>
        </p:nvSpPr>
        <p:spPr>
          <a:xfrm>
            <a:off x="1353167" y="3188956"/>
            <a:ext cx="9687365" cy="1731288"/>
          </a:xfrm>
          <a:prstGeom prst="roundRect">
            <a:avLst>
              <a:gd name="adj" fmla="val 2756"/>
            </a:avLst>
          </a:prstGeom>
          <a:solidFill>
            <a:schemeClr val="accent1">
              <a:alpha val="10000"/>
            </a:schemeClr>
          </a:solidFill>
          <a:ln w="952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900" b="1" kern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箭头: 五边形 147"/>
          <p:cNvSpPr/>
          <p:nvPr/>
        </p:nvSpPr>
        <p:spPr>
          <a:xfrm>
            <a:off x="1838216" y="4086569"/>
            <a:ext cx="1109821" cy="259249"/>
          </a:xfrm>
          <a:prstGeom prst="homePlat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数字投拓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5" name="箭头: V 形 157"/>
          <p:cNvSpPr/>
          <p:nvPr/>
        </p:nvSpPr>
        <p:spPr>
          <a:xfrm>
            <a:off x="2866733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规划设计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6" name="箭头: V 形 158"/>
          <p:cNvSpPr/>
          <p:nvPr/>
        </p:nvSpPr>
        <p:spPr>
          <a:xfrm>
            <a:off x="3953511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招标采购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7" name="箭头: V 形 159"/>
          <p:cNvSpPr/>
          <p:nvPr/>
        </p:nvSpPr>
        <p:spPr>
          <a:xfrm>
            <a:off x="5040289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施工建造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8" name="箭头: V 形 160"/>
          <p:cNvSpPr/>
          <p:nvPr/>
        </p:nvSpPr>
        <p:spPr>
          <a:xfrm>
            <a:off x="6127067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竣工交付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0" name="箭头: V 形 161"/>
          <p:cNvSpPr/>
          <p:nvPr/>
        </p:nvSpPr>
        <p:spPr>
          <a:xfrm>
            <a:off x="7213845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市场销售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1" name="箭头: V 形 162"/>
          <p:cNvSpPr/>
          <p:nvPr/>
        </p:nvSpPr>
        <p:spPr>
          <a:xfrm>
            <a:off x="8300623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商业管理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2" name="箭头: V 形 163"/>
          <p:cNvSpPr/>
          <p:nvPr/>
        </p:nvSpPr>
        <p:spPr>
          <a:xfrm>
            <a:off x="9387403" y="4086569"/>
            <a:ext cx="1168082" cy="259249"/>
          </a:xfrm>
          <a:prstGeom prst="chevron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物业运营</a:t>
            </a:r>
            <a:endParaRPr lang="zh-CN" altLang="en-US" sz="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2127669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3200453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4284709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5368965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监理方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6453221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7537477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9" name="文本框 218"/>
          <p:cNvSpPr txBox="1"/>
          <p:nvPr/>
        </p:nvSpPr>
        <p:spPr>
          <a:xfrm>
            <a:off x="8621733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销代方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9705987" y="4372148"/>
            <a:ext cx="530915" cy="246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运营方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1" name="直接连接符 220"/>
          <p:cNvCxnSpPr/>
          <p:nvPr/>
        </p:nvCxnSpPr>
        <p:spPr>
          <a:xfrm>
            <a:off x="3445747" y="3923881"/>
            <a:ext cx="0" cy="10532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>
            <a:off x="1838215" y="3923881"/>
            <a:ext cx="0" cy="10532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>
            <a:off x="7916285" y="3923881"/>
            <a:ext cx="0" cy="10532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矩形: 圆角 1044"/>
          <p:cNvSpPr/>
          <p:nvPr/>
        </p:nvSpPr>
        <p:spPr>
          <a:xfrm>
            <a:off x="1838214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6" name="矩形: 圆角 1045"/>
          <p:cNvSpPr/>
          <p:nvPr/>
        </p:nvSpPr>
        <p:spPr>
          <a:xfrm>
            <a:off x="2721245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4" name="矩形: 圆角 1063"/>
          <p:cNvSpPr/>
          <p:nvPr/>
        </p:nvSpPr>
        <p:spPr>
          <a:xfrm>
            <a:off x="3604277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5" name="矩形: 圆角 1064"/>
          <p:cNvSpPr/>
          <p:nvPr/>
        </p:nvSpPr>
        <p:spPr>
          <a:xfrm>
            <a:off x="4487307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7" name="矩形: 圆角 1066"/>
          <p:cNvSpPr/>
          <p:nvPr/>
        </p:nvSpPr>
        <p:spPr>
          <a:xfrm>
            <a:off x="5370340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68" name="矩形: 圆角 1067"/>
          <p:cNvSpPr/>
          <p:nvPr/>
        </p:nvSpPr>
        <p:spPr>
          <a:xfrm>
            <a:off x="6253371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0" name="矩形: 圆角 1069"/>
          <p:cNvSpPr/>
          <p:nvPr/>
        </p:nvSpPr>
        <p:spPr>
          <a:xfrm>
            <a:off x="7136402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1" name="矩形: 圆角 1070"/>
          <p:cNvSpPr/>
          <p:nvPr/>
        </p:nvSpPr>
        <p:spPr>
          <a:xfrm>
            <a:off x="8019433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3" name="矩形: 圆角 1072"/>
          <p:cNvSpPr/>
          <p:nvPr/>
        </p:nvSpPr>
        <p:spPr>
          <a:xfrm>
            <a:off x="8902464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74" name="矩形: 圆角 1073"/>
          <p:cNvSpPr/>
          <p:nvPr/>
        </p:nvSpPr>
        <p:spPr>
          <a:xfrm>
            <a:off x="9785497" y="3564417"/>
            <a:ext cx="769988" cy="259249"/>
          </a:xfrm>
          <a:prstGeom prst="roundRect">
            <a:avLst>
              <a:gd name="adj" fmla="val 18407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87000">
                <a:schemeClr val="accent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数字投拓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77" name="直接连接符 1076"/>
          <p:cNvCxnSpPr/>
          <p:nvPr/>
        </p:nvCxnSpPr>
        <p:spPr>
          <a:xfrm>
            <a:off x="6705353" y="3380919"/>
            <a:ext cx="4115800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" name="矩形: 圆角 1084"/>
          <p:cNvSpPr/>
          <p:nvPr/>
        </p:nvSpPr>
        <p:spPr>
          <a:xfrm>
            <a:off x="1460267" y="3616095"/>
            <a:ext cx="224559" cy="877010"/>
          </a:xfrm>
          <a:prstGeom prst="roundRect">
            <a:avLst>
              <a:gd name="adj" fmla="val 21251"/>
            </a:avLst>
          </a:prstGeom>
          <a:solidFill>
            <a:schemeClr val="bg1"/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企项联动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6" name="矩形: 圆角 575"/>
          <p:cNvSpPr/>
          <p:nvPr/>
        </p:nvSpPr>
        <p:spPr>
          <a:xfrm>
            <a:off x="10708874" y="3616095"/>
            <a:ext cx="224559" cy="877010"/>
          </a:xfrm>
          <a:prstGeom prst="roundRect">
            <a:avLst>
              <a:gd name="adj" fmla="val 21251"/>
            </a:avLst>
          </a:prstGeom>
          <a:solidFill>
            <a:schemeClr val="bg1"/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9" name="矩形: 圆角 578"/>
          <p:cNvSpPr/>
          <p:nvPr/>
        </p:nvSpPr>
        <p:spPr>
          <a:xfrm>
            <a:off x="5786481" y="3292697"/>
            <a:ext cx="820736" cy="179902"/>
          </a:xfrm>
          <a:prstGeom prst="roundRect">
            <a:avLst>
              <a:gd name="adj" fmla="val 26526"/>
            </a:avLst>
          </a:prstGeom>
          <a:solidFill>
            <a:schemeClr val="bg1"/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业务前置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78" name="直接连接符 1077"/>
          <p:cNvCxnSpPr/>
          <p:nvPr/>
        </p:nvCxnSpPr>
        <p:spPr>
          <a:xfrm flipH="1">
            <a:off x="1572546" y="4740916"/>
            <a:ext cx="4213936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矩形: 圆角 579"/>
          <p:cNvSpPr/>
          <p:nvPr/>
        </p:nvSpPr>
        <p:spPr>
          <a:xfrm>
            <a:off x="5786481" y="4650543"/>
            <a:ext cx="820736" cy="179902"/>
          </a:xfrm>
          <a:prstGeom prst="roundRect">
            <a:avLst>
              <a:gd name="adj" fmla="val 26526"/>
            </a:avLst>
          </a:prstGeom>
          <a:solidFill>
            <a:schemeClr val="bg1"/>
          </a:solidFill>
          <a:ln w="9708" cap="flat">
            <a:solidFill>
              <a:schemeClr val="accent1"/>
            </a:solidFill>
            <a:prstDash val="solid"/>
            <a:miter/>
          </a:ln>
          <a:effectLst/>
        </p:spPr>
        <p:txBody>
          <a:bodyPr rot="0" spcFirstLastPara="0" vertOverflow="overflow" horzOverflow="overflow" vert="horz" wrap="square" lIns="93196" tIns="46598" rIns="93196" bIns="46598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9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甲乙联动</a:t>
            </a:r>
            <a:endParaRPr lang="zh-CN" altLang="en-US" sz="9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5469410" y="2904177"/>
            <a:ext cx="1332230" cy="257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900" kern="0">
                <a:solidFill>
                  <a:schemeClr val="tx1">
                    <a:lumMod val="85000"/>
                    <a:lumOff val="15000"/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企项联动（企项一体）</a:t>
            </a:r>
            <a:endParaRPr lang="zh-CN" altLang="en-US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8" name="文本框 687"/>
          <p:cNvSpPr txBox="1"/>
          <p:nvPr/>
        </p:nvSpPr>
        <p:spPr>
          <a:xfrm>
            <a:off x="5438299" y="4958546"/>
            <a:ext cx="1394460" cy="257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客企互</a:t>
            </a:r>
            <a:r>
              <a:rPr lang="en-US" altLang="zh-CN" sz="9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900" b="1" kern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动（甲乙联动）</a:t>
            </a:r>
            <a:endParaRPr lang="zh-CN" altLang="en-US" sz="900" b="1" kern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2" name="文本框 691"/>
          <p:cNvSpPr txBox="1"/>
          <p:nvPr/>
        </p:nvSpPr>
        <p:spPr>
          <a:xfrm>
            <a:off x="11006709" y="2069478"/>
            <a:ext cx="451427" cy="41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数据赋能</a:t>
            </a:r>
            <a:endParaRPr lang="zh-CN" altLang="en-US" sz="9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3" name="文本框 692"/>
          <p:cNvSpPr txBox="1"/>
          <p:nvPr/>
        </p:nvSpPr>
        <p:spPr>
          <a:xfrm>
            <a:off x="11006709" y="3848262"/>
            <a:ext cx="451427" cy="41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数据赋能</a:t>
            </a:r>
            <a:endParaRPr lang="zh-CN" altLang="en-US" sz="9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11006709" y="5729632"/>
            <a:ext cx="451427" cy="41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数据赋能</a:t>
            </a:r>
            <a:endParaRPr lang="zh-CN" altLang="en-US" sz="900" kern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4" name="直接连接符 223"/>
          <p:cNvCxnSpPr/>
          <p:nvPr/>
        </p:nvCxnSpPr>
        <p:spPr>
          <a:xfrm>
            <a:off x="1841422" y="3972138"/>
            <a:ext cx="160111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>
            <a:off x="3445747" y="3972138"/>
            <a:ext cx="44705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7921477" y="3972138"/>
            <a:ext cx="263400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>
            <a:off x="10555486" y="3923881"/>
            <a:ext cx="0" cy="10532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组合 227"/>
          <p:cNvGrpSpPr/>
          <p:nvPr/>
        </p:nvGrpSpPr>
        <p:grpSpPr>
          <a:xfrm>
            <a:off x="8457862" y="1735410"/>
            <a:ext cx="2486930" cy="209260"/>
            <a:chOff x="8457862" y="1567770"/>
            <a:chExt cx="1406307" cy="2092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29" name="矩形: 圆角 30"/>
            <p:cNvSpPr/>
            <p:nvPr/>
          </p:nvSpPr>
          <p:spPr>
            <a:xfrm>
              <a:off x="9434663" y="1567770"/>
              <a:ext cx="429506" cy="209260"/>
            </a:xfrm>
            <a:prstGeom prst="roundRect">
              <a:avLst>
                <a:gd name="adj" fmla="val 228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合作方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0" name="矩形: 圆角 31"/>
            <p:cNvSpPr/>
            <p:nvPr/>
          </p:nvSpPr>
          <p:spPr>
            <a:xfrm>
              <a:off x="8946262" y="1567770"/>
              <a:ext cx="429506" cy="209260"/>
            </a:xfrm>
            <a:prstGeom prst="roundRect">
              <a:avLst>
                <a:gd name="adj" fmla="val 228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设备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1" name="矩形: 圆角 32"/>
            <p:cNvSpPr/>
            <p:nvPr/>
          </p:nvSpPr>
          <p:spPr>
            <a:xfrm>
              <a:off x="8457862" y="1567770"/>
              <a:ext cx="429506" cy="209260"/>
            </a:xfrm>
            <a:prstGeom prst="roundRect">
              <a:avLst>
                <a:gd name="adj" fmla="val 228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物料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232" name="直接连接符 231"/>
          <p:cNvCxnSpPr/>
          <p:nvPr/>
        </p:nvCxnSpPr>
        <p:spPr>
          <a:xfrm>
            <a:off x="1572546" y="3380919"/>
            <a:ext cx="4176971" cy="0"/>
          </a:xfrm>
          <a:prstGeom prst="line">
            <a:avLst/>
          </a:prstGeom>
          <a:ln w="12700">
            <a:solidFill>
              <a:schemeClr val="accent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flipV="1">
            <a:off x="1572546" y="3380919"/>
            <a:ext cx="0" cy="240739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flipV="1">
            <a:off x="1572546" y="4500177"/>
            <a:ext cx="0" cy="240739"/>
          </a:xfrm>
          <a:prstGeom prst="line">
            <a:avLst/>
          </a:prstGeom>
          <a:ln w="12700">
            <a:solidFill>
              <a:schemeClr val="accent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flipH="1">
            <a:off x="6642477" y="4740916"/>
            <a:ext cx="4195892" cy="0"/>
          </a:xfrm>
          <a:prstGeom prst="line">
            <a:avLst/>
          </a:prstGeom>
          <a:ln w="12700">
            <a:solidFill>
              <a:schemeClr val="accent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>
            <a:off x="10821153" y="4500177"/>
            <a:ext cx="0" cy="240739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10821153" y="3380919"/>
            <a:ext cx="0" cy="240739"/>
          </a:xfrm>
          <a:prstGeom prst="line">
            <a:avLst/>
          </a:prstGeom>
          <a:ln w="12700">
            <a:solidFill>
              <a:schemeClr val="accent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文本框 237"/>
          <p:cNvSpPr txBox="1"/>
          <p:nvPr/>
        </p:nvSpPr>
        <p:spPr>
          <a:xfrm>
            <a:off x="2319020" y="3876040"/>
            <a:ext cx="646430" cy="153035"/>
          </a:xfrm>
          <a:prstGeom prst="rect">
            <a:avLst/>
          </a:prstGeom>
          <a:solidFill>
            <a:srgbClr val="FDFBFB"/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数字前策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22825" y="3887470"/>
            <a:ext cx="646430" cy="153035"/>
          </a:xfrm>
          <a:prstGeom prst="rect">
            <a:avLst/>
          </a:prstGeom>
          <a:solidFill>
            <a:srgbClr val="FDFBFB"/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数字前策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68485" y="3887470"/>
            <a:ext cx="646430" cy="153035"/>
          </a:xfrm>
          <a:prstGeom prst="rect">
            <a:avLst/>
          </a:prstGeom>
          <a:solidFill>
            <a:srgbClr val="FDFBFB"/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900" ker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数字前策</a:t>
            </a:r>
            <a:endParaRPr lang="zh-CN" altLang="en-US" sz="900" kern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16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显眼包PPT15"/>
          <p:cNvSpPr/>
          <p:nvPr/>
        </p:nvSpPr>
        <p:spPr>
          <a:xfrm>
            <a:off x="2985135" y="1966595"/>
            <a:ext cx="6299835" cy="570865"/>
          </a:xfrm>
          <a:prstGeom prst="rect">
            <a:avLst/>
          </a:prstGeom>
          <a:gradFill>
            <a:gsLst>
              <a:gs pos="100000">
                <a:schemeClr val="accent5">
                  <a:lumMod val="60000"/>
                  <a:lumOff val="40000"/>
                </a:schemeClr>
              </a:gs>
              <a:gs pos="0">
                <a:schemeClr val="accent5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微软雅黑" panose="020B0503020204020204" charset="-122"/>
            </a:endParaRPr>
          </a:p>
        </p:txBody>
      </p:sp>
      <p:sp>
        <p:nvSpPr>
          <p:cNvPr id="2" name="显眼包PPT15"/>
          <p:cNvSpPr/>
          <p:nvPr/>
        </p:nvSpPr>
        <p:spPr>
          <a:xfrm>
            <a:off x="9484995" y="1966595"/>
            <a:ext cx="2407920" cy="570865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微软雅黑" panose="020B0503020204020204" charset="-122"/>
            </a:endParaRPr>
          </a:p>
        </p:txBody>
      </p:sp>
      <p:sp>
        <p:nvSpPr>
          <p:cNvPr id="12" name="显眼包PPT15"/>
          <p:cNvSpPr/>
          <p:nvPr/>
        </p:nvSpPr>
        <p:spPr>
          <a:xfrm>
            <a:off x="387985" y="1966595"/>
            <a:ext cx="2486660" cy="570865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</a:schemeClr>
              </a:gs>
              <a:gs pos="0">
                <a:schemeClr val="accent1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微软雅黑" panose="020B0503020204020204" charset="-122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数智化运营平台架构屋</a:t>
            </a:r>
            <a:endParaRPr lang="zh-CN" altLang="en-US" sz="250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40" name="任意多边形: 形状 39"/>
          <p:cNvSpPr/>
          <p:nvPr/>
        </p:nvSpPr>
        <p:spPr>
          <a:xfrm>
            <a:off x="-902335" y="-601980"/>
            <a:ext cx="21590" cy="43815"/>
          </a:xfrm>
          <a:custGeom>
            <a:avLst/>
            <a:gdLst>
              <a:gd name="connsiteX0" fmla="*/ 0 w 21855"/>
              <a:gd name="connsiteY0" fmla="*/ 0 h 43711"/>
              <a:gd name="connsiteX1" fmla="*/ 0 w 21855"/>
              <a:gd name="connsiteY1" fmla="*/ 43712 h 43711"/>
              <a:gd name="connsiteX2" fmla="*/ 21856 w 21855"/>
              <a:gd name="connsiteY2" fmla="*/ 21856 h 43711"/>
              <a:gd name="connsiteX3" fmla="*/ 0 w 21855"/>
              <a:gd name="connsiteY3" fmla="*/ 0 h 43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55" h="43711">
                <a:moveTo>
                  <a:pt x="0" y="0"/>
                </a:moveTo>
                <a:lnTo>
                  <a:pt x="0" y="43712"/>
                </a:lnTo>
                <a:cubicBezTo>
                  <a:pt x="12071" y="43712"/>
                  <a:pt x="21856" y="33927"/>
                  <a:pt x="21856" y="21856"/>
                </a:cubicBezTo>
                <a:cubicBezTo>
                  <a:pt x="21856" y="9785"/>
                  <a:pt x="1207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1000"/>
                </a:schemeClr>
              </a:gs>
              <a:gs pos="0">
                <a:schemeClr val="bg1"/>
              </a:gs>
            </a:gsLst>
            <a:lin ang="5400000" scaled="1"/>
          </a:gradFill>
          <a:ln w="217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矩形: 圆角 78"/>
          <p:cNvSpPr/>
          <p:nvPr/>
        </p:nvSpPr>
        <p:spPr>
          <a:xfrm>
            <a:off x="9485189" y="2584272"/>
            <a:ext cx="2407445" cy="410532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1" name="矩形: 圆角 78"/>
          <p:cNvSpPr/>
          <p:nvPr/>
        </p:nvSpPr>
        <p:spPr>
          <a:xfrm>
            <a:off x="2994626" y="2578167"/>
            <a:ext cx="6260506" cy="4105327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10000"/>
            </a:schemeClr>
          </a:solidFill>
          <a:ln w="15875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5149613" y="3857045"/>
            <a:ext cx="1949533" cy="1949533"/>
          </a:xfrm>
          <a:prstGeom prst="ellipse">
            <a:avLst/>
          </a:prstGeom>
          <a:noFill/>
          <a:ln w="15875">
            <a:solidFill>
              <a:schemeClr val="accent5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矩形: 圆角 78"/>
          <p:cNvSpPr/>
          <p:nvPr/>
        </p:nvSpPr>
        <p:spPr>
          <a:xfrm>
            <a:off x="387960" y="2584272"/>
            <a:ext cx="2407445" cy="410532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0000"/>
            </a:schemeClr>
          </a:solidFill>
          <a:ln w="12700">
            <a:solidFill>
              <a:schemeClr val="accent1">
                <a:alpha val="7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三角形 2"/>
          <p:cNvSpPr/>
          <p:nvPr/>
        </p:nvSpPr>
        <p:spPr>
          <a:xfrm>
            <a:off x="387959" y="1010409"/>
            <a:ext cx="11491105" cy="909007"/>
          </a:xfrm>
          <a:prstGeom prst="triangle">
            <a:avLst/>
          </a:prstGeom>
          <a:gradFill flip="none" rotWithShape="1">
            <a:gsLst>
              <a:gs pos="2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innerShdw blurRad="114300">
              <a:schemeClr val="accent1">
                <a:lumMod val="60000"/>
                <a:lumOff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5" name="textbox 2040"/>
          <p:cNvSpPr/>
          <p:nvPr/>
        </p:nvSpPr>
        <p:spPr>
          <a:xfrm>
            <a:off x="3948822" y="1527808"/>
            <a:ext cx="4142837" cy="30734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algn="ctr" rtl="0" eaLnBrk="0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数智化运营平台架构屋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6" name="图形 12" descr="盒子 纯色填充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4401" y="1113954"/>
            <a:ext cx="351678" cy="351678"/>
          </a:xfrm>
          <a:prstGeom prst="rect">
            <a:avLst/>
          </a:prstGeom>
        </p:spPr>
      </p:pic>
      <p:cxnSp>
        <p:nvCxnSpPr>
          <p:cNvPr id="117" name="直接连接符 116"/>
          <p:cNvCxnSpPr/>
          <p:nvPr/>
        </p:nvCxnSpPr>
        <p:spPr>
          <a:xfrm>
            <a:off x="703743" y="2260590"/>
            <a:ext cx="1900518" cy="0"/>
          </a:xfrm>
          <a:prstGeom prst="line">
            <a:avLst/>
          </a:prstGeom>
          <a:ln w="12700">
            <a:solidFill>
              <a:schemeClr val="bg1"/>
            </a:solidFill>
            <a:headEnd type="triangle" w="lg" len="lg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3074894" y="2260590"/>
            <a:ext cx="1900518" cy="0"/>
          </a:xfrm>
          <a:prstGeom prst="line">
            <a:avLst/>
          </a:prstGeom>
          <a:ln w="12700">
            <a:solidFill>
              <a:schemeClr val="bg1"/>
            </a:solidFill>
            <a:headEnd type="triangle" w="lg" len="lg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5145741" y="2260590"/>
            <a:ext cx="1900518" cy="0"/>
          </a:xfrm>
          <a:prstGeom prst="line">
            <a:avLst/>
          </a:prstGeom>
          <a:ln w="12700">
            <a:solidFill>
              <a:schemeClr val="bg1"/>
            </a:solidFill>
            <a:headEnd type="triangle" w="lg" len="lg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7306235" y="2260590"/>
            <a:ext cx="1900518" cy="0"/>
          </a:xfrm>
          <a:prstGeom prst="line">
            <a:avLst/>
          </a:prstGeom>
          <a:ln w="12700">
            <a:solidFill>
              <a:schemeClr val="bg1"/>
            </a:solidFill>
            <a:headEnd type="triangle" w="lg" len="lg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>
            <a:off x="9724555" y="2260590"/>
            <a:ext cx="1900518" cy="0"/>
          </a:xfrm>
          <a:prstGeom prst="line">
            <a:avLst/>
          </a:prstGeom>
          <a:ln w="12700">
            <a:solidFill>
              <a:schemeClr val="bg1"/>
            </a:solidFill>
            <a:headEnd type="triangle" w="lg" len="lg"/>
            <a:tailEnd type="diamond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箭头: 上 19"/>
          <p:cNvSpPr/>
          <p:nvPr/>
        </p:nvSpPr>
        <p:spPr>
          <a:xfrm>
            <a:off x="1573319" y="2708825"/>
            <a:ext cx="188259" cy="627528"/>
          </a:xfrm>
          <a:prstGeom prst="upArrow">
            <a:avLst/>
          </a:prstGeom>
          <a:gradFill flip="none" rotWithShape="1">
            <a:gsLst>
              <a:gs pos="0">
                <a:schemeClr val="accent1"/>
              </a:gs>
              <a:gs pos="85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箭头: 上 20"/>
          <p:cNvSpPr/>
          <p:nvPr/>
        </p:nvSpPr>
        <p:spPr>
          <a:xfrm>
            <a:off x="5916213" y="2708825"/>
            <a:ext cx="188259" cy="627528"/>
          </a:xfrm>
          <a:prstGeom prst="upArrow">
            <a:avLst/>
          </a:prstGeom>
          <a:gradFill flip="none" rotWithShape="1">
            <a:gsLst>
              <a:gs pos="0">
                <a:schemeClr val="accent5"/>
              </a:gs>
              <a:gs pos="85000">
                <a:schemeClr val="accent5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箭头: 上 21"/>
          <p:cNvSpPr/>
          <p:nvPr/>
        </p:nvSpPr>
        <p:spPr>
          <a:xfrm>
            <a:off x="10580684" y="2708825"/>
            <a:ext cx="188259" cy="627528"/>
          </a:xfrm>
          <a:prstGeom prst="upArrow">
            <a:avLst/>
          </a:prstGeom>
          <a:gradFill flip="none" rotWithShape="1">
            <a:gsLst>
              <a:gs pos="0">
                <a:schemeClr val="accent1"/>
              </a:gs>
              <a:gs pos="85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箭头: 上 22"/>
          <p:cNvSpPr/>
          <p:nvPr/>
        </p:nvSpPr>
        <p:spPr>
          <a:xfrm rot="10800000">
            <a:off x="6131859" y="2708825"/>
            <a:ext cx="188259" cy="627528"/>
          </a:xfrm>
          <a:prstGeom prst="upArrow">
            <a:avLst/>
          </a:prstGeom>
          <a:gradFill flip="none" rotWithShape="1">
            <a:gsLst>
              <a:gs pos="0">
                <a:schemeClr val="accent5"/>
              </a:gs>
              <a:gs pos="85000">
                <a:schemeClr val="accent5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7" name="矩形: 圆角 23"/>
          <p:cNvSpPr/>
          <p:nvPr/>
        </p:nvSpPr>
        <p:spPr>
          <a:xfrm>
            <a:off x="3355311" y="2742836"/>
            <a:ext cx="1299883" cy="506729"/>
          </a:xfrm>
          <a:prstGeom prst="roundRect">
            <a:avLst>
              <a:gd name="adj" fmla="val 6893"/>
            </a:avLst>
          </a:prstGeom>
          <a:noFill/>
          <a:ln w="9525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r>
              <a:rPr lang="en-US" altLang="zh-CN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lang="en-US" altLang="zh-CN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为中心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矩形: 圆角 24"/>
          <p:cNvSpPr/>
          <p:nvPr/>
        </p:nvSpPr>
        <p:spPr>
          <a:xfrm>
            <a:off x="7606552" y="2748941"/>
            <a:ext cx="1299883" cy="506729"/>
          </a:xfrm>
          <a:prstGeom prst="roundRect">
            <a:avLst>
              <a:gd name="adj" fmla="val 6893"/>
            </a:avLst>
          </a:prstGeom>
          <a:noFill/>
          <a:ln w="9525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贯穿品牌</a:t>
            </a:r>
            <a:endParaRPr lang="en-US" altLang="zh-CN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全生命周期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1377614" y="1972161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孵化期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1300670" y="2260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用户获取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3679914" y="1972161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初创期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602971" y="2260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用户激活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5795081" y="1972161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5718138" y="2260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用户留存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7959785" y="1972161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7882842" y="2260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收益获取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0313175" y="1972161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衰退期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0236234" y="22605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推荐传播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10735208" y="29024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形象打造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9802879" y="29024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品牌认知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0132585" y="342728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品牌力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9846274" y="3596359"/>
            <a:ext cx="1717137" cy="691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品牌定位：定义品牌价值占位</a:t>
            </a:r>
            <a:endParaRPr lang="en-US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人群洞察：挖掘目标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的属性</a:t>
            </a:r>
            <a:endParaRPr lang="en-US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营销策略：制定品牌推广策略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10132584" y="4521429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内容力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9846274" y="4704333"/>
            <a:ext cx="1734770" cy="691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内容孵化：原创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孵化</a:t>
            </a:r>
            <a:endParaRPr lang="en-US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内容共创：图文种草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视频带货</a:t>
            </a:r>
            <a:endParaRPr lang="en-US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媒介采买：媒介策略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/KOL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采买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0132584" y="5528850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运营力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9846274" y="5738331"/>
            <a:ext cx="1734770" cy="4833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运营：自媒体代运营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直播运营</a:t>
            </a:r>
            <a:endParaRPr lang="en-US" altLang="zh-CN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数据：数据分析</a:t>
            </a:r>
            <a:r>
              <a:rPr lang="en-US" altLang="zh-CN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数据运维</a:t>
            </a:r>
            <a:endParaRPr lang="zh-CN" altLang="en-US" sz="9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9981025" y="6261361"/>
            <a:ext cx="1415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内容运营解决方案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1731545" y="29024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转化成交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99216" y="29024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引流获客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1483798" y="368285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腾讯广告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490142" y="4209732"/>
            <a:ext cx="492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微博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490142" y="475213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490142" y="529494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巨量引擎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490142" y="5798326"/>
            <a:ext cx="452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</a:t>
            </a:r>
            <a:r>
              <a:rPr lang="en-US" altLang="zh-CN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lang="en-US" altLang="zh-CN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883796" y="6261361"/>
            <a:ext cx="1415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精准营销解决方案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5091713" y="2746883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触达互动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精细运营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体验改善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价值提升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6422029" y="2746883"/>
            <a:ext cx="7232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投放数据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用户行为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用户属性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箭头: 右 25"/>
          <p:cNvSpPr/>
          <p:nvPr/>
        </p:nvSpPr>
        <p:spPr>
          <a:xfrm>
            <a:off x="7573304" y="3998402"/>
            <a:ext cx="1286505" cy="670557"/>
          </a:xfrm>
          <a:prstGeom prst="rightArrow">
            <a:avLst>
              <a:gd name="adj1" fmla="val 54159"/>
              <a:gd name="adj2" fmla="val 48440"/>
            </a:avLst>
          </a:prstGeom>
          <a:gradFill>
            <a:gsLst>
              <a:gs pos="0">
                <a:schemeClr val="accent5">
                  <a:alpha val="5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0" name="箭头: 右 26"/>
          <p:cNvSpPr/>
          <p:nvPr/>
        </p:nvSpPr>
        <p:spPr>
          <a:xfrm rot="10800000">
            <a:off x="7573304" y="4861447"/>
            <a:ext cx="1286505" cy="670557"/>
          </a:xfrm>
          <a:prstGeom prst="rightArrow">
            <a:avLst>
              <a:gd name="adj1" fmla="val 54159"/>
              <a:gd name="adj2" fmla="val 48440"/>
            </a:avLst>
          </a:prstGeom>
          <a:gradFill>
            <a:gsLst>
              <a:gs pos="0">
                <a:schemeClr val="accent5">
                  <a:alpha val="5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1" name="箭头: 右 27"/>
          <p:cNvSpPr/>
          <p:nvPr/>
        </p:nvSpPr>
        <p:spPr>
          <a:xfrm rot="10800000">
            <a:off x="3329257" y="3998402"/>
            <a:ext cx="1286505" cy="670557"/>
          </a:xfrm>
          <a:prstGeom prst="rightArrow">
            <a:avLst>
              <a:gd name="adj1" fmla="val 54159"/>
              <a:gd name="adj2" fmla="val 48440"/>
            </a:avLst>
          </a:prstGeom>
          <a:gradFill>
            <a:gsLst>
              <a:gs pos="0">
                <a:schemeClr val="accent5">
                  <a:alpha val="5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箭头: 右 28"/>
          <p:cNvSpPr/>
          <p:nvPr/>
        </p:nvSpPr>
        <p:spPr>
          <a:xfrm>
            <a:off x="3329257" y="4861448"/>
            <a:ext cx="1286505" cy="670557"/>
          </a:xfrm>
          <a:prstGeom prst="rightArrow">
            <a:avLst>
              <a:gd name="adj1" fmla="val 54159"/>
              <a:gd name="adj2" fmla="val 48440"/>
            </a:avLst>
          </a:prstGeom>
          <a:gradFill>
            <a:gsLst>
              <a:gs pos="0">
                <a:schemeClr val="accent5">
                  <a:alpha val="50000"/>
                </a:schemeClr>
              </a:gs>
              <a:gs pos="100000">
                <a:schemeClr val="accent5"/>
              </a:gs>
            </a:gsLst>
            <a:lin ang="0" scaled="0"/>
          </a:gra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3" name="椭圆 162"/>
          <p:cNvSpPr/>
          <p:nvPr/>
        </p:nvSpPr>
        <p:spPr>
          <a:xfrm>
            <a:off x="5707434" y="4418359"/>
            <a:ext cx="826906" cy="82690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5799034" y="3560851"/>
            <a:ext cx="643705" cy="64370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4827272" y="4211529"/>
            <a:ext cx="643705" cy="64370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6" name="椭圆 165"/>
          <p:cNvSpPr/>
          <p:nvPr/>
        </p:nvSpPr>
        <p:spPr>
          <a:xfrm>
            <a:off x="6731969" y="4252250"/>
            <a:ext cx="643705" cy="64370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" name="椭圆 166"/>
          <p:cNvSpPr/>
          <p:nvPr/>
        </p:nvSpPr>
        <p:spPr>
          <a:xfrm>
            <a:off x="6344972" y="5323650"/>
            <a:ext cx="643705" cy="64370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" name="椭圆 167"/>
          <p:cNvSpPr/>
          <p:nvPr/>
        </p:nvSpPr>
        <p:spPr>
          <a:xfrm>
            <a:off x="5149124" y="5323650"/>
            <a:ext cx="643705" cy="643705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92100" dist="38100" dir="5400000" algn="t" rotWithShape="0">
              <a:srgbClr val="7D2378">
                <a:alpha val="1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3630727" y="4137219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目标人群</a:t>
            </a:r>
            <a:endParaRPr lang="en-US" alt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投放模型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3610471" y="5016369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数据沉淀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效果评估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826384" y="4148014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素材表现</a:t>
            </a:r>
            <a:endParaRPr lang="en-US" alt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优化策略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7868172" y="4997954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数据沉淀</a:t>
            </a:r>
            <a:endParaRPr lang="en-US" altLang="zh-CN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效果评估</a:t>
            </a:r>
            <a:endParaRPr lang="zh-CN" alt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5895508" y="367147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4900387" y="431201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818383" y="436967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6443294" y="544511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endParaRPr lang="en-US" altLang="zh-CN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5224756" y="544511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智效</a:t>
            </a:r>
            <a:endParaRPr lang="en-US" altLang="zh-CN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投放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5224247" y="6267704"/>
            <a:ext cx="17235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数智化消费者运营平台</a:t>
            </a:r>
            <a:endParaRPr lang="zh-CN" altLang="en-US" sz="12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5859036" y="5411516"/>
            <a:ext cx="4539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5264383" y="4990619"/>
            <a:ext cx="4908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PaaS</a:t>
            </a:r>
            <a:endParaRPr lang="en-US" altLang="zh-CN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6380586" y="4990619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全域接入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235207" y="4272206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05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5412877" y="4272206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</a:t>
            </a:r>
            <a:endParaRPr lang="zh-CN" altLang="en-US" sz="10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5724270" y="4840011"/>
            <a:ext cx="8002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用户洞察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5" name="阿符PPT出品"/>
          <p:cNvGrpSpPr/>
          <p:nvPr/>
        </p:nvGrpSpPr>
        <p:grpSpPr>
          <a:xfrm>
            <a:off x="959196" y="3666437"/>
            <a:ext cx="246520" cy="246520"/>
            <a:chOff x="5710237" y="2314346"/>
            <a:chExt cx="771525" cy="771525"/>
          </a:xfrm>
        </p:grpSpPr>
        <p:sp>
          <p:nvSpPr>
            <p:cNvPr id="186" name="任意多边形: 形状 82"/>
            <p:cNvSpPr/>
            <p:nvPr/>
          </p:nvSpPr>
          <p:spPr>
            <a:xfrm>
              <a:off x="5710237" y="2314346"/>
              <a:ext cx="771525" cy="771525"/>
            </a:xfrm>
            <a:custGeom>
              <a:avLst/>
              <a:gdLst>
                <a:gd name="connsiteX0" fmla="*/ 771525 w 771525"/>
                <a:gd name="connsiteY0" fmla="*/ 385762 h 771525"/>
                <a:gd name="connsiteX1" fmla="*/ 385763 w 771525"/>
                <a:gd name="connsiteY1" fmla="*/ 771525 h 771525"/>
                <a:gd name="connsiteX2" fmla="*/ 0 w 771525"/>
                <a:gd name="connsiteY2" fmla="*/ 385762 h 771525"/>
                <a:gd name="connsiteX3" fmla="*/ 385763 w 771525"/>
                <a:gd name="connsiteY3" fmla="*/ 0 h 771525"/>
                <a:gd name="connsiteX4" fmla="*/ 771525 w 771525"/>
                <a:gd name="connsiteY4" fmla="*/ 385762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771525">
                  <a:moveTo>
                    <a:pt x="771525" y="385762"/>
                  </a:moveTo>
                  <a:cubicBezTo>
                    <a:pt x="771525" y="598813"/>
                    <a:pt x="598813" y="771525"/>
                    <a:pt x="385763" y="771525"/>
                  </a:cubicBezTo>
                  <a:cubicBezTo>
                    <a:pt x="172712" y="771525"/>
                    <a:pt x="0" y="598813"/>
                    <a:pt x="0" y="385762"/>
                  </a:cubicBezTo>
                  <a:cubicBezTo>
                    <a:pt x="0" y="172711"/>
                    <a:pt x="172712" y="0"/>
                    <a:pt x="385763" y="0"/>
                  </a:cubicBezTo>
                  <a:cubicBezTo>
                    <a:pt x="598813" y="0"/>
                    <a:pt x="771525" y="172711"/>
                    <a:pt x="771525" y="385762"/>
                  </a:cubicBezTo>
                  <a:close/>
                </a:path>
              </a:pathLst>
            </a:custGeom>
            <a:solidFill>
              <a:srgbClr val="02318A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7" name="任意多边形: 形状 83"/>
            <p:cNvSpPr/>
            <p:nvPr/>
          </p:nvSpPr>
          <p:spPr>
            <a:xfrm>
              <a:off x="5838825" y="2520086"/>
              <a:ext cx="514350" cy="360045"/>
            </a:xfrm>
            <a:custGeom>
              <a:avLst/>
              <a:gdLst>
                <a:gd name="connsiteX0" fmla="*/ 503606 w 514350"/>
                <a:gd name="connsiteY0" fmla="*/ 56236 h 360045"/>
                <a:gd name="connsiteX1" fmla="*/ 458114 w 514350"/>
                <a:gd name="connsiteY1" fmla="*/ 10744 h 360045"/>
                <a:gd name="connsiteX2" fmla="*/ 257175 w 514350"/>
                <a:gd name="connsiteY2" fmla="*/ 0 h 360045"/>
                <a:gd name="connsiteX3" fmla="*/ 56236 w 514350"/>
                <a:gd name="connsiteY3" fmla="*/ 10744 h 360045"/>
                <a:gd name="connsiteX4" fmla="*/ 10744 w 514350"/>
                <a:gd name="connsiteY4" fmla="*/ 56236 h 360045"/>
                <a:gd name="connsiteX5" fmla="*/ 0 w 514350"/>
                <a:gd name="connsiteY5" fmla="*/ 180023 h 360045"/>
                <a:gd name="connsiteX6" fmla="*/ 10744 w 514350"/>
                <a:gd name="connsiteY6" fmla="*/ 303809 h 360045"/>
                <a:gd name="connsiteX7" fmla="*/ 56236 w 514350"/>
                <a:gd name="connsiteY7" fmla="*/ 349301 h 360045"/>
                <a:gd name="connsiteX8" fmla="*/ 257175 w 514350"/>
                <a:gd name="connsiteY8" fmla="*/ 360045 h 360045"/>
                <a:gd name="connsiteX9" fmla="*/ 458114 w 514350"/>
                <a:gd name="connsiteY9" fmla="*/ 349301 h 360045"/>
                <a:gd name="connsiteX10" fmla="*/ 503606 w 514350"/>
                <a:gd name="connsiteY10" fmla="*/ 303809 h 360045"/>
                <a:gd name="connsiteX11" fmla="*/ 514350 w 514350"/>
                <a:gd name="connsiteY11" fmla="*/ 180023 h 360045"/>
                <a:gd name="connsiteX12" fmla="*/ 503606 w 514350"/>
                <a:gd name="connsiteY12" fmla="*/ 56236 h 360045"/>
                <a:gd name="connsiteX13" fmla="*/ 205740 w 514350"/>
                <a:gd name="connsiteY13" fmla="*/ 257175 h 360045"/>
                <a:gd name="connsiteX14" fmla="*/ 205740 w 514350"/>
                <a:gd name="connsiteY14" fmla="*/ 102870 h 360045"/>
                <a:gd name="connsiteX15" fmla="*/ 339357 w 514350"/>
                <a:gd name="connsiteY15" fmla="*/ 180023 h 360045"/>
                <a:gd name="connsiteX16" fmla="*/ 205740 w 514350"/>
                <a:gd name="connsiteY16" fmla="*/ 257175 h 360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14350" h="360045">
                  <a:moveTo>
                    <a:pt x="503606" y="56236"/>
                  </a:moveTo>
                  <a:cubicBezTo>
                    <a:pt x="497720" y="34119"/>
                    <a:pt x="480288" y="16688"/>
                    <a:pt x="458114" y="10744"/>
                  </a:cubicBezTo>
                  <a:cubicBezTo>
                    <a:pt x="417995" y="0"/>
                    <a:pt x="257175" y="0"/>
                    <a:pt x="257175" y="0"/>
                  </a:cubicBezTo>
                  <a:cubicBezTo>
                    <a:pt x="257175" y="0"/>
                    <a:pt x="96355" y="0"/>
                    <a:pt x="56236" y="10744"/>
                  </a:cubicBezTo>
                  <a:cubicBezTo>
                    <a:pt x="34118" y="16688"/>
                    <a:pt x="16688" y="34062"/>
                    <a:pt x="10744" y="56236"/>
                  </a:cubicBezTo>
                  <a:cubicBezTo>
                    <a:pt x="0" y="96355"/>
                    <a:pt x="0" y="180023"/>
                    <a:pt x="0" y="180023"/>
                  </a:cubicBezTo>
                  <a:cubicBezTo>
                    <a:pt x="0" y="180023"/>
                    <a:pt x="0" y="263690"/>
                    <a:pt x="10744" y="303809"/>
                  </a:cubicBezTo>
                  <a:cubicBezTo>
                    <a:pt x="16630" y="325926"/>
                    <a:pt x="34062" y="343357"/>
                    <a:pt x="56236" y="349301"/>
                  </a:cubicBezTo>
                  <a:cubicBezTo>
                    <a:pt x="96355" y="360045"/>
                    <a:pt x="257175" y="360045"/>
                    <a:pt x="257175" y="360045"/>
                  </a:cubicBezTo>
                  <a:cubicBezTo>
                    <a:pt x="257175" y="360045"/>
                    <a:pt x="417995" y="360045"/>
                    <a:pt x="458114" y="349301"/>
                  </a:cubicBezTo>
                  <a:cubicBezTo>
                    <a:pt x="480232" y="343357"/>
                    <a:pt x="497662" y="325984"/>
                    <a:pt x="503606" y="303809"/>
                  </a:cubicBezTo>
                  <a:cubicBezTo>
                    <a:pt x="514350" y="263690"/>
                    <a:pt x="514350" y="180023"/>
                    <a:pt x="514350" y="180023"/>
                  </a:cubicBezTo>
                  <a:cubicBezTo>
                    <a:pt x="514350" y="180023"/>
                    <a:pt x="514350" y="96355"/>
                    <a:pt x="503606" y="56236"/>
                  </a:cubicBezTo>
                  <a:close/>
                  <a:moveTo>
                    <a:pt x="205740" y="257175"/>
                  </a:moveTo>
                  <a:lnTo>
                    <a:pt x="205740" y="102870"/>
                  </a:lnTo>
                  <a:lnTo>
                    <a:pt x="339357" y="180023"/>
                  </a:lnTo>
                  <a:lnTo>
                    <a:pt x="205740" y="257175"/>
                  </a:lnTo>
                  <a:close/>
                </a:path>
              </a:pathLst>
            </a:custGeom>
            <a:solidFill>
              <a:srgbClr val="FFFFFF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8" name="阿符PPT出品"/>
          <p:cNvGrpSpPr/>
          <p:nvPr/>
        </p:nvGrpSpPr>
        <p:grpSpPr>
          <a:xfrm>
            <a:off x="960705" y="5818040"/>
            <a:ext cx="243502" cy="243502"/>
            <a:chOff x="4429163" y="5681624"/>
            <a:chExt cx="771525" cy="771525"/>
          </a:xfrm>
        </p:grpSpPr>
        <p:sp>
          <p:nvSpPr>
            <p:cNvPr id="189" name="任意多边形: 形状 85"/>
            <p:cNvSpPr/>
            <p:nvPr/>
          </p:nvSpPr>
          <p:spPr>
            <a:xfrm>
              <a:off x="4429163" y="5681624"/>
              <a:ext cx="771525" cy="771525"/>
            </a:xfrm>
            <a:custGeom>
              <a:avLst/>
              <a:gdLst>
                <a:gd name="connsiteX0" fmla="*/ 771525 w 771525"/>
                <a:gd name="connsiteY0" fmla="*/ 385763 h 771525"/>
                <a:gd name="connsiteX1" fmla="*/ 385762 w 771525"/>
                <a:gd name="connsiteY1" fmla="*/ 771525 h 771525"/>
                <a:gd name="connsiteX2" fmla="*/ 0 w 771525"/>
                <a:gd name="connsiteY2" fmla="*/ 385763 h 771525"/>
                <a:gd name="connsiteX3" fmla="*/ 385762 w 771525"/>
                <a:gd name="connsiteY3" fmla="*/ 0 h 771525"/>
                <a:gd name="connsiteX4" fmla="*/ 771525 w 771525"/>
                <a:gd name="connsiteY4" fmla="*/ 385763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771525">
                  <a:moveTo>
                    <a:pt x="771525" y="385763"/>
                  </a:moveTo>
                  <a:cubicBezTo>
                    <a:pt x="771525" y="598813"/>
                    <a:pt x="598813" y="771525"/>
                    <a:pt x="385762" y="771525"/>
                  </a:cubicBezTo>
                  <a:cubicBezTo>
                    <a:pt x="172712" y="771525"/>
                    <a:pt x="0" y="598813"/>
                    <a:pt x="0" y="385763"/>
                  </a:cubicBezTo>
                  <a:cubicBezTo>
                    <a:pt x="0" y="172712"/>
                    <a:pt x="172712" y="0"/>
                    <a:pt x="385762" y="0"/>
                  </a:cubicBezTo>
                  <a:cubicBezTo>
                    <a:pt x="598813" y="0"/>
                    <a:pt x="771525" y="172712"/>
                    <a:pt x="771525" y="385763"/>
                  </a:cubicBezTo>
                  <a:close/>
                </a:path>
              </a:pathLst>
            </a:custGeom>
            <a:gradFill>
              <a:gsLst>
                <a:gs pos="0">
                  <a:srgbClr val="1D93D2"/>
                </a:gs>
                <a:gs pos="50000">
                  <a:srgbClr val="2AA1DA"/>
                </a:gs>
                <a:gs pos="100000">
                  <a:srgbClr val="38B0E3"/>
                </a:gs>
              </a:gsLst>
              <a:lin ang="16200000" scaled="1"/>
            </a:gra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" name="任意多边形: 形状 86"/>
            <p:cNvSpPr/>
            <p:nvPr/>
          </p:nvSpPr>
          <p:spPr>
            <a:xfrm>
              <a:off x="4690224" y="5943542"/>
              <a:ext cx="256260" cy="290550"/>
            </a:xfrm>
            <a:custGeom>
              <a:avLst/>
              <a:gdLst>
                <a:gd name="connsiteX0" fmla="*/ 57 w 256260"/>
                <a:gd name="connsiteY0" fmla="*/ 152019 h 290550"/>
                <a:gd name="connsiteX1" fmla="*/ 45834 w 256260"/>
                <a:gd name="connsiteY1" fmla="*/ 278721 h 290550"/>
                <a:gd name="connsiteX2" fmla="*/ 57664 w 256260"/>
                <a:gd name="connsiteY2" fmla="*/ 290550 h 290550"/>
                <a:gd name="connsiteX3" fmla="*/ 154934 w 256260"/>
                <a:gd name="connsiteY3" fmla="*/ 195739 h 290550"/>
                <a:gd name="connsiteX4" fmla="*/ 256261 w 256260"/>
                <a:gd name="connsiteY4" fmla="*/ 0 h 290550"/>
                <a:gd name="connsiteX5" fmla="*/ 1657 w 256260"/>
                <a:gd name="connsiteY5" fmla="*/ 119329 h 290550"/>
                <a:gd name="connsiteX6" fmla="*/ 0 w 256260"/>
                <a:gd name="connsiteY6" fmla="*/ 152019 h 2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60" h="290550">
                  <a:moveTo>
                    <a:pt x="57" y="152019"/>
                  </a:moveTo>
                  <a:lnTo>
                    <a:pt x="45834" y="278721"/>
                  </a:lnTo>
                  <a:cubicBezTo>
                    <a:pt x="45834" y="278721"/>
                    <a:pt x="51549" y="290550"/>
                    <a:pt x="57664" y="290550"/>
                  </a:cubicBezTo>
                  <a:cubicBezTo>
                    <a:pt x="63779" y="290550"/>
                    <a:pt x="154934" y="195739"/>
                    <a:pt x="154934" y="195739"/>
                  </a:cubicBezTo>
                  <a:lnTo>
                    <a:pt x="256261" y="0"/>
                  </a:lnTo>
                  <a:lnTo>
                    <a:pt x="1657" y="119329"/>
                  </a:lnTo>
                  <a:lnTo>
                    <a:pt x="0" y="152019"/>
                  </a:lnTo>
                  <a:close/>
                </a:path>
              </a:pathLst>
            </a:custGeom>
            <a:solidFill>
              <a:srgbClr val="C8DAEA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1" name="任意多边形: 形状 87"/>
            <p:cNvSpPr/>
            <p:nvPr/>
          </p:nvSpPr>
          <p:spPr>
            <a:xfrm>
              <a:off x="4741964" y="6128023"/>
              <a:ext cx="81076" cy="106108"/>
            </a:xfrm>
            <a:custGeom>
              <a:avLst/>
              <a:gdLst>
                <a:gd name="connsiteX0" fmla="*/ 8953 w 81076"/>
                <a:gd name="connsiteY0" fmla="*/ 0 h 106108"/>
                <a:gd name="connsiteX1" fmla="*/ 152 w 81076"/>
                <a:gd name="connsiteY1" fmla="*/ 93383 h 106108"/>
                <a:gd name="connsiteX2" fmla="*/ 25069 w 81076"/>
                <a:gd name="connsiteY2" fmla="*/ 93383 h 106108"/>
                <a:gd name="connsiteX3" fmla="*/ 81076 w 81076"/>
                <a:gd name="connsiteY3" fmla="*/ 42691 h 106108"/>
                <a:gd name="connsiteX4" fmla="*/ 8953 w 81076"/>
                <a:gd name="connsiteY4" fmla="*/ 0 h 106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6" h="106108">
                  <a:moveTo>
                    <a:pt x="8953" y="0"/>
                  </a:moveTo>
                  <a:lnTo>
                    <a:pt x="152" y="93383"/>
                  </a:lnTo>
                  <a:cubicBezTo>
                    <a:pt x="152" y="93383"/>
                    <a:pt x="-3506" y="122015"/>
                    <a:pt x="25069" y="93383"/>
                  </a:cubicBezTo>
                  <a:cubicBezTo>
                    <a:pt x="53701" y="64751"/>
                    <a:pt x="81076" y="42691"/>
                    <a:pt x="81076" y="42691"/>
                  </a:cubicBezTo>
                  <a:lnTo>
                    <a:pt x="8953" y="0"/>
                  </a:lnTo>
                  <a:close/>
                </a:path>
              </a:pathLst>
            </a:custGeom>
            <a:solidFill>
              <a:srgbClr val="A9C6D8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2" name="任意多边形: 形状 88"/>
            <p:cNvSpPr/>
            <p:nvPr/>
          </p:nvSpPr>
          <p:spPr>
            <a:xfrm>
              <a:off x="4588623" y="5899584"/>
              <a:ext cx="416847" cy="343898"/>
            </a:xfrm>
            <a:custGeom>
              <a:avLst/>
              <a:gdLst>
                <a:gd name="connsiteX0" fmla="*/ 102458 w 416847"/>
                <a:gd name="connsiteY0" fmla="*/ 200492 h 343898"/>
                <a:gd name="connsiteX1" fmla="*/ 8332 w 416847"/>
                <a:gd name="connsiteY1" fmla="*/ 169803 h 343898"/>
                <a:gd name="connsiteX2" fmla="*/ 731 w 416847"/>
                <a:gd name="connsiteY2" fmla="*/ 154887 h 343898"/>
                <a:gd name="connsiteX3" fmla="*/ 7475 w 416847"/>
                <a:gd name="connsiteY3" fmla="*/ 147800 h 343898"/>
                <a:gd name="connsiteX4" fmla="*/ 393580 w 416847"/>
                <a:gd name="connsiteY4" fmla="*/ 1953 h 343898"/>
                <a:gd name="connsiteX5" fmla="*/ 409982 w 416847"/>
                <a:gd name="connsiteY5" fmla="*/ 810 h 343898"/>
                <a:gd name="connsiteX6" fmla="*/ 416040 w 416847"/>
                <a:gd name="connsiteY6" fmla="*/ 7439 h 343898"/>
                <a:gd name="connsiteX7" fmla="*/ 416840 w 416847"/>
                <a:gd name="connsiteY7" fmla="*/ 15726 h 343898"/>
                <a:gd name="connsiteX8" fmla="*/ 416269 w 416847"/>
                <a:gd name="connsiteY8" fmla="*/ 23898 h 343898"/>
                <a:gd name="connsiteX9" fmla="*/ 347460 w 416847"/>
                <a:gd name="connsiteY9" fmla="*/ 327651 h 343898"/>
                <a:gd name="connsiteX10" fmla="*/ 329229 w 416847"/>
                <a:gd name="connsiteY10" fmla="*/ 343881 h 343898"/>
                <a:gd name="connsiteX11" fmla="*/ 310141 w 416847"/>
                <a:gd name="connsiteY11" fmla="*/ 336509 h 343898"/>
                <a:gd name="connsiteX12" fmla="*/ 163951 w 416847"/>
                <a:gd name="connsiteY12" fmla="*/ 233067 h 343898"/>
                <a:gd name="connsiteX13" fmla="*/ 162180 w 416847"/>
                <a:gd name="connsiteY13" fmla="*/ 230210 h 343898"/>
                <a:gd name="connsiteX14" fmla="*/ 163494 w 416847"/>
                <a:gd name="connsiteY14" fmla="*/ 226838 h 343898"/>
                <a:gd name="connsiteX15" fmla="*/ 336487 w 416847"/>
                <a:gd name="connsiteY15" fmla="*/ 61332 h 343898"/>
                <a:gd name="connsiteX16" fmla="*/ 333744 w 416847"/>
                <a:gd name="connsiteY16" fmla="*/ 60018 h 343898"/>
                <a:gd name="connsiteX17" fmla="*/ 107087 w 416847"/>
                <a:gd name="connsiteY17" fmla="*/ 200206 h 343898"/>
                <a:gd name="connsiteX18" fmla="*/ 102344 w 416847"/>
                <a:gd name="connsiteY18" fmla="*/ 200492 h 34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16847" h="343898">
                  <a:moveTo>
                    <a:pt x="102458" y="200492"/>
                  </a:moveTo>
                  <a:lnTo>
                    <a:pt x="8332" y="169803"/>
                  </a:lnTo>
                  <a:cubicBezTo>
                    <a:pt x="8332" y="169803"/>
                    <a:pt x="-2927" y="165230"/>
                    <a:pt x="731" y="154887"/>
                  </a:cubicBezTo>
                  <a:cubicBezTo>
                    <a:pt x="1474" y="152772"/>
                    <a:pt x="2960" y="150943"/>
                    <a:pt x="7475" y="147800"/>
                  </a:cubicBezTo>
                  <a:cubicBezTo>
                    <a:pt x="28334" y="133284"/>
                    <a:pt x="393580" y="1953"/>
                    <a:pt x="393580" y="1953"/>
                  </a:cubicBezTo>
                  <a:cubicBezTo>
                    <a:pt x="393580" y="1953"/>
                    <a:pt x="403867" y="-1533"/>
                    <a:pt x="409982" y="810"/>
                  </a:cubicBezTo>
                  <a:cubicBezTo>
                    <a:pt x="412782" y="1839"/>
                    <a:pt x="414554" y="3039"/>
                    <a:pt x="416040" y="7439"/>
                  </a:cubicBezTo>
                  <a:cubicBezTo>
                    <a:pt x="416612" y="9040"/>
                    <a:pt x="416897" y="12411"/>
                    <a:pt x="416840" y="15726"/>
                  </a:cubicBezTo>
                  <a:cubicBezTo>
                    <a:pt x="416840" y="18126"/>
                    <a:pt x="416497" y="20412"/>
                    <a:pt x="416269" y="23898"/>
                  </a:cubicBezTo>
                  <a:cubicBezTo>
                    <a:pt x="414040" y="59789"/>
                    <a:pt x="347460" y="327651"/>
                    <a:pt x="347460" y="327651"/>
                  </a:cubicBezTo>
                  <a:cubicBezTo>
                    <a:pt x="347460" y="327651"/>
                    <a:pt x="343459" y="343310"/>
                    <a:pt x="329229" y="343881"/>
                  </a:cubicBezTo>
                  <a:cubicBezTo>
                    <a:pt x="324029" y="344053"/>
                    <a:pt x="317685" y="343024"/>
                    <a:pt x="310141" y="336509"/>
                  </a:cubicBezTo>
                  <a:cubicBezTo>
                    <a:pt x="282137" y="312392"/>
                    <a:pt x="185326" y="247355"/>
                    <a:pt x="163951" y="233067"/>
                  </a:cubicBezTo>
                  <a:cubicBezTo>
                    <a:pt x="162751" y="232267"/>
                    <a:pt x="162408" y="231239"/>
                    <a:pt x="162180" y="230210"/>
                  </a:cubicBezTo>
                  <a:cubicBezTo>
                    <a:pt x="161894" y="228724"/>
                    <a:pt x="163494" y="226838"/>
                    <a:pt x="163494" y="226838"/>
                  </a:cubicBezTo>
                  <a:cubicBezTo>
                    <a:pt x="163494" y="226838"/>
                    <a:pt x="332029" y="77048"/>
                    <a:pt x="336487" y="61332"/>
                  </a:cubicBezTo>
                  <a:cubicBezTo>
                    <a:pt x="336830" y="60131"/>
                    <a:pt x="335516" y="59503"/>
                    <a:pt x="333744" y="60018"/>
                  </a:cubicBezTo>
                  <a:cubicBezTo>
                    <a:pt x="322543" y="64132"/>
                    <a:pt x="128518" y="186662"/>
                    <a:pt x="107087" y="200206"/>
                  </a:cubicBezTo>
                  <a:cubicBezTo>
                    <a:pt x="105830" y="201006"/>
                    <a:pt x="102344" y="200492"/>
                    <a:pt x="102344" y="200492"/>
                  </a:cubicBezTo>
                  <a:close/>
                </a:path>
              </a:pathLst>
            </a:custGeom>
            <a:solidFill>
              <a:srgbClr val="FFFFFF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3" name="阿符PPT出品"/>
          <p:cNvGrpSpPr/>
          <p:nvPr/>
        </p:nvGrpSpPr>
        <p:grpSpPr>
          <a:xfrm>
            <a:off x="963722" y="5278782"/>
            <a:ext cx="237469" cy="237469"/>
            <a:chOff x="5710237" y="4555655"/>
            <a:chExt cx="771525" cy="771525"/>
          </a:xfrm>
        </p:grpSpPr>
        <p:sp>
          <p:nvSpPr>
            <p:cNvPr id="194" name="任意多边形: 形状 90"/>
            <p:cNvSpPr/>
            <p:nvPr/>
          </p:nvSpPr>
          <p:spPr>
            <a:xfrm>
              <a:off x="5710237" y="4555655"/>
              <a:ext cx="771525" cy="771525"/>
            </a:xfrm>
            <a:custGeom>
              <a:avLst/>
              <a:gdLst>
                <a:gd name="connsiteX0" fmla="*/ 771525 w 771525"/>
                <a:gd name="connsiteY0" fmla="*/ 385763 h 771525"/>
                <a:gd name="connsiteX1" fmla="*/ 385763 w 771525"/>
                <a:gd name="connsiteY1" fmla="*/ 771525 h 771525"/>
                <a:gd name="connsiteX2" fmla="*/ 0 w 771525"/>
                <a:gd name="connsiteY2" fmla="*/ 385763 h 771525"/>
                <a:gd name="connsiteX3" fmla="*/ 385763 w 771525"/>
                <a:gd name="connsiteY3" fmla="*/ 0 h 771525"/>
                <a:gd name="connsiteX4" fmla="*/ 771525 w 771525"/>
                <a:gd name="connsiteY4" fmla="*/ 385763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1525" h="771525">
                  <a:moveTo>
                    <a:pt x="771525" y="385763"/>
                  </a:moveTo>
                  <a:cubicBezTo>
                    <a:pt x="771525" y="598813"/>
                    <a:pt x="598813" y="771525"/>
                    <a:pt x="385763" y="771525"/>
                  </a:cubicBezTo>
                  <a:cubicBezTo>
                    <a:pt x="172712" y="771525"/>
                    <a:pt x="0" y="598813"/>
                    <a:pt x="0" y="385763"/>
                  </a:cubicBezTo>
                  <a:cubicBezTo>
                    <a:pt x="0" y="172712"/>
                    <a:pt x="172712" y="0"/>
                    <a:pt x="385763" y="0"/>
                  </a:cubicBezTo>
                  <a:cubicBezTo>
                    <a:pt x="598813" y="0"/>
                    <a:pt x="771525" y="172712"/>
                    <a:pt x="771525" y="385763"/>
                  </a:cubicBezTo>
                  <a:close/>
                </a:path>
              </a:pathLst>
            </a:custGeom>
            <a:solidFill>
              <a:srgbClr val="FFFFFF"/>
            </a:solidFill>
            <a:ln w="57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5" name="图形 2"/>
            <p:cNvGrpSpPr/>
            <p:nvPr/>
          </p:nvGrpSpPr>
          <p:grpSpPr>
            <a:xfrm>
              <a:off x="5836024" y="4678927"/>
              <a:ext cx="520007" cy="524922"/>
              <a:chOff x="5836024" y="4678927"/>
              <a:chExt cx="520007" cy="524922"/>
            </a:xfrm>
          </p:grpSpPr>
          <p:sp>
            <p:nvSpPr>
              <p:cNvPr id="196" name="任意多边形: 形状 92"/>
              <p:cNvSpPr/>
              <p:nvPr/>
            </p:nvSpPr>
            <p:spPr>
              <a:xfrm>
                <a:off x="5836024" y="4678927"/>
                <a:ext cx="306438" cy="305523"/>
              </a:xfrm>
              <a:custGeom>
                <a:avLst/>
                <a:gdLst>
                  <a:gd name="connsiteX0" fmla="*/ 306438 w 306438"/>
                  <a:gd name="connsiteY0" fmla="*/ 152762 h 305523"/>
                  <a:gd name="connsiteX1" fmla="*/ 153219 w 306438"/>
                  <a:gd name="connsiteY1" fmla="*/ 305524 h 305523"/>
                  <a:gd name="connsiteX2" fmla="*/ 153219 w 306438"/>
                  <a:gd name="connsiteY2" fmla="*/ 305524 h 305523"/>
                  <a:gd name="connsiteX3" fmla="*/ 0 w 306438"/>
                  <a:gd name="connsiteY3" fmla="*/ 152762 h 305523"/>
                  <a:gd name="connsiteX4" fmla="*/ 0 w 306438"/>
                  <a:gd name="connsiteY4" fmla="*/ 152762 h 305523"/>
                  <a:gd name="connsiteX5" fmla="*/ 153219 w 306438"/>
                  <a:gd name="connsiteY5" fmla="*/ 0 h 305523"/>
                  <a:gd name="connsiteX6" fmla="*/ 153219 w 306438"/>
                  <a:gd name="connsiteY6" fmla="*/ 0 h 305523"/>
                  <a:gd name="connsiteX7" fmla="*/ 306438 w 306438"/>
                  <a:gd name="connsiteY7" fmla="*/ 152762 h 305523"/>
                  <a:gd name="connsiteX8" fmla="*/ 306438 w 306438"/>
                  <a:gd name="connsiteY8" fmla="*/ 152762 h 30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438" h="305523">
                    <a:moveTo>
                      <a:pt x="306438" y="152762"/>
                    </a:moveTo>
                    <a:cubicBezTo>
                      <a:pt x="306438" y="237115"/>
                      <a:pt x="237801" y="305524"/>
                      <a:pt x="153219" y="305524"/>
                    </a:cubicBezTo>
                    <a:lnTo>
                      <a:pt x="153219" y="305524"/>
                    </a:lnTo>
                    <a:cubicBezTo>
                      <a:pt x="68580" y="305524"/>
                      <a:pt x="0" y="237115"/>
                      <a:pt x="0" y="152762"/>
                    </a:cubicBezTo>
                    <a:lnTo>
                      <a:pt x="0" y="152762"/>
                    </a:lnTo>
                    <a:cubicBezTo>
                      <a:pt x="0" y="68408"/>
                      <a:pt x="68637" y="0"/>
                      <a:pt x="153219" y="0"/>
                    </a:cubicBezTo>
                    <a:lnTo>
                      <a:pt x="153219" y="0"/>
                    </a:lnTo>
                    <a:cubicBezTo>
                      <a:pt x="237858" y="0"/>
                      <a:pt x="306438" y="68408"/>
                      <a:pt x="306438" y="152762"/>
                    </a:cubicBezTo>
                    <a:lnTo>
                      <a:pt x="306438" y="152762"/>
                    </a:lnTo>
                  </a:path>
                </a:pathLst>
              </a:custGeom>
              <a:gradFill>
                <a:gsLst>
                  <a:gs pos="1000">
                    <a:srgbClr val="00B7F0"/>
                  </a:gs>
                  <a:gs pos="34000">
                    <a:srgbClr val="009DE5"/>
                  </a:gs>
                  <a:gs pos="76000">
                    <a:srgbClr val="0082D9"/>
                  </a:gs>
                  <a:gs pos="100000">
                    <a:srgbClr val="0078D4"/>
                  </a:gs>
                </a:gsLst>
                <a:lin ang="4863863" scaled="1"/>
              </a:gra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7" name="任意多边形: 形状 93"/>
              <p:cNvSpPr/>
              <p:nvPr/>
            </p:nvSpPr>
            <p:spPr>
              <a:xfrm>
                <a:off x="6049479" y="4898212"/>
                <a:ext cx="306552" cy="305638"/>
              </a:xfrm>
              <a:custGeom>
                <a:avLst/>
                <a:gdLst>
                  <a:gd name="connsiteX0" fmla="*/ 306553 w 306552"/>
                  <a:gd name="connsiteY0" fmla="*/ 152819 h 305638"/>
                  <a:gd name="connsiteX1" fmla="*/ 153276 w 306552"/>
                  <a:gd name="connsiteY1" fmla="*/ 305638 h 305638"/>
                  <a:gd name="connsiteX2" fmla="*/ 0 w 306552"/>
                  <a:gd name="connsiteY2" fmla="*/ 152819 h 305638"/>
                  <a:gd name="connsiteX3" fmla="*/ 153276 w 306552"/>
                  <a:gd name="connsiteY3" fmla="*/ 0 h 305638"/>
                  <a:gd name="connsiteX4" fmla="*/ 306553 w 306552"/>
                  <a:gd name="connsiteY4" fmla="*/ 152819 h 305638"/>
                  <a:gd name="connsiteX5" fmla="*/ 306553 w 306552"/>
                  <a:gd name="connsiteY5" fmla="*/ 152819 h 305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552" h="305638">
                    <a:moveTo>
                      <a:pt x="306553" y="152819"/>
                    </a:moveTo>
                    <a:cubicBezTo>
                      <a:pt x="306553" y="237230"/>
                      <a:pt x="237915" y="305638"/>
                      <a:pt x="153276" y="305638"/>
                    </a:cubicBezTo>
                    <a:cubicBezTo>
                      <a:pt x="68637" y="305638"/>
                      <a:pt x="0" y="237230"/>
                      <a:pt x="0" y="152819"/>
                    </a:cubicBezTo>
                    <a:cubicBezTo>
                      <a:pt x="0" y="68408"/>
                      <a:pt x="68637" y="0"/>
                      <a:pt x="153276" y="0"/>
                    </a:cubicBezTo>
                    <a:cubicBezTo>
                      <a:pt x="237915" y="0"/>
                      <a:pt x="306553" y="68408"/>
                      <a:pt x="306553" y="152819"/>
                    </a:cubicBezTo>
                    <a:lnTo>
                      <a:pt x="306553" y="152819"/>
                    </a:lnTo>
                  </a:path>
                </a:pathLst>
              </a:custGeom>
              <a:gradFill>
                <a:gsLst>
                  <a:gs pos="0">
                    <a:srgbClr val="0078D4"/>
                  </a:gs>
                  <a:gs pos="37000">
                    <a:srgbClr val="007AD5"/>
                  </a:gs>
                  <a:gs pos="57000">
                    <a:srgbClr val="0082D9"/>
                  </a:gs>
                  <a:gs pos="73000">
                    <a:srgbClr val="0090DF"/>
                  </a:gs>
                  <a:gs pos="88000">
                    <a:srgbClr val="00A3E7"/>
                  </a:gs>
                  <a:gs pos="100000">
                    <a:srgbClr val="00BCF2"/>
                  </a:gs>
                </a:gsLst>
                <a:lin ang="19786152" scaled="1"/>
              </a:gra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8" name="任意多边形: 形状 94"/>
              <p:cNvSpPr/>
              <p:nvPr/>
            </p:nvSpPr>
            <p:spPr>
              <a:xfrm>
                <a:off x="5836538" y="4680184"/>
                <a:ext cx="305930" cy="305245"/>
              </a:xfrm>
              <a:custGeom>
                <a:avLst/>
                <a:gdLst>
                  <a:gd name="connsiteX0" fmla="*/ 0 w 305930"/>
                  <a:gd name="connsiteY0" fmla="*/ 164592 h 305245"/>
                  <a:gd name="connsiteX1" fmla="*/ 165278 w 305930"/>
                  <a:gd name="connsiteY1" fmla="*/ 304724 h 305245"/>
                  <a:gd name="connsiteX2" fmla="*/ 305410 w 305930"/>
                  <a:gd name="connsiteY2" fmla="*/ 139446 h 305245"/>
                  <a:gd name="connsiteX3" fmla="*/ 171736 w 305930"/>
                  <a:gd name="connsiteY3" fmla="*/ 0 h 305245"/>
                  <a:gd name="connsiteX4" fmla="*/ 0 w 305930"/>
                  <a:gd name="connsiteY4" fmla="*/ 164649 h 305245"/>
                  <a:gd name="connsiteX5" fmla="*/ 0 w 305930"/>
                  <a:gd name="connsiteY5" fmla="*/ 164649 h 305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5930" h="305245">
                    <a:moveTo>
                      <a:pt x="0" y="164592"/>
                    </a:moveTo>
                    <a:cubicBezTo>
                      <a:pt x="6972" y="248945"/>
                      <a:pt x="80982" y="311639"/>
                      <a:pt x="165278" y="304724"/>
                    </a:cubicBezTo>
                    <a:cubicBezTo>
                      <a:pt x="249632" y="297752"/>
                      <a:pt x="312325" y="223742"/>
                      <a:pt x="305410" y="139446"/>
                    </a:cubicBezTo>
                    <a:cubicBezTo>
                      <a:pt x="299466" y="67208"/>
                      <a:pt x="243688" y="9030"/>
                      <a:pt x="171736" y="0"/>
                    </a:cubicBezTo>
                    <a:cubicBezTo>
                      <a:pt x="92755" y="26403"/>
                      <a:pt x="29718" y="86811"/>
                      <a:pt x="0" y="164649"/>
                    </a:cubicBezTo>
                    <a:lnTo>
                      <a:pt x="0" y="164649"/>
                    </a:lnTo>
                    <a:close/>
                  </a:path>
                </a:pathLst>
              </a:custGeom>
              <a:solidFill>
                <a:srgbClr val="000000">
                  <a:alpha val="5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99" name="任意多边形: 形状 95"/>
              <p:cNvSpPr/>
              <p:nvPr/>
            </p:nvSpPr>
            <p:spPr>
              <a:xfrm>
                <a:off x="6049452" y="4897270"/>
                <a:ext cx="306179" cy="305951"/>
              </a:xfrm>
              <a:custGeom>
                <a:avLst/>
                <a:gdLst>
                  <a:gd name="connsiteX0" fmla="*/ 306179 w 306179"/>
                  <a:gd name="connsiteY0" fmla="*/ 142788 h 305951"/>
                  <a:gd name="connsiteX1" fmla="*/ 142788 w 306179"/>
                  <a:gd name="connsiteY1" fmla="*/ 370 h 305951"/>
                  <a:gd name="connsiteX2" fmla="*/ 370 w 306179"/>
                  <a:gd name="connsiteY2" fmla="*/ 163762 h 305951"/>
                  <a:gd name="connsiteX3" fmla="*/ 139416 w 306179"/>
                  <a:gd name="connsiteY3" fmla="*/ 305951 h 305951"/>
                  <a:gd name="connsiteX4" fmla="*/ 306179 w 306179"/>
                  <a:gd name="connsiteY4" fmla="*/ 142788 h 305951"/>
                  <a:gd name="connsiteX5" fmla="*/ 306179 w 306179"/>
                  <a:gd name="connsiteY5" fmla="*/ 142788 h 30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6179" h="305951">
                    <a:moveTo>
                      <a:pt x="306179" y="142788"/>
                    </a:moveTo>
                    <a:cubicBezTo>
                      <a:pt x="300407" y="58320"/>
                      <a:pt x="227255" y="-5459"/>
                      <a:pt x="142788" y="370"/>
                    </a:cubicBezTo>
                    <a:cubicBezTo>
                      <a:pt x="58320" y="6142"/>
                      <a:pt x="-5459" y="79294"/>
                      <a:pt x="370" y="163762"/>
                    </a:cubicBezTo>
                    <a:cubicBezTo>
                      <a:pt x="5513" y="238857"/>
                      <a:pt x="64435" y="299150"/>
                      <a:pt x="139416" y="305951"/>
                    </a:cubicBezTo>
                    <a:cubicBezTo>
                      <a:pt x="216225" y="278633"/>
                      <a:pt x="277147" y="218969"/>
                      <a:pt x="306179" y="142788"/>
                    </a:cubicBezTo>
                    <a:lnTo>
                      <a:pt x="306179" y="142788"/>
                    </a:lnTo>
                    <a:close/>
                  </a:path>
                </a:pathLst>
              </a:custGeom>
              <a:solidFill>
                <a:srgbClr val="000000">
                  <a:alpha val="5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0" name="任意多边形: 形状 96"/>
              <p:cNvSpPr/>
              <p:nvPr/>
            </p:nvSpPr>
            <p:spPr>
              <a:xfrm>
                <a:off x="5843682" y="4688700"/>
                <a:ext cx="298802" cy="296630"/>
              </a:xfrm>
              <a:custGeom>
                <a:avLst/>
                <a:gdLst>
                  <a:gd name="connsiteX0" fmla="*/ 0 w 298802"/>
                  <a:gd name="connsiteY0" fmla="*/ 190996 h 296630"/>
                  <a:gd name="connsiteX1" fmla="*/ 193167 w 298802"/>
                  <a:gd name="connsiteY1" fmla="*/ 289008 h 296630"/>
                  <a:gd name="connsiteX2" fmla="*/ 291179 w 298802"/>
                  <a:gd name="connsiteY2" fmla="*/ 95841 h 296630"/>
                  <a:gd name="connsiteX3" fmla="*/ 199396 w 298802"/>
                  <a:gd name="connsiteY3" fmla="*/ 0 h 296630"/>
                  <a:gd name="connsiteX4" fmla="*/ 0 w 298802"/>
                  <a:gd name="connsiteY4" fmla="*/ 190996 h 296630"/>
                  <a:gd name="connsiteX5" fmla="*/ 0 w 298802"/>
                  <a:gd name="connsiteY5" fmla="*/ 190996 h 2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802" h="296630">
                    <a:moveTo>
                      <a:pt x="0" y="190996"/>
                    </a:moveTo>
                    <a:cubicBezTo>
                      <a:pt x="26289" y="271405"/>
                      <a:pt x="112757" y="315297"/>
                      <a:pt x="193167" y="289008"/>
                    </a:cubicBezTo>
                    <a:cubicBezTo>
                      <a:pt x="273577" y="262719"/>
                      <a:pt x="317469" y="176251"/>
                      <a:pt x="291179" y="95841"/>
                    </a:cubicBezTo>
                    <a:cubicBezTo>
                      <a:pt x="276721" y="51607"/>
                      <a:pt x="242945" y="16345"/>
                      <a:pt x="199396" y="0"/>
                    </a:cubicBezTo>
                    <a:cubicBezTo>
                      <a:pt x="101899" y="20288"/>
                      <a:pt x="24460" y="94469"/>
                      <a:pt x="0" y="190996"/>
                    </a:cubicBezTo>
                    <a:lnTo>
                      <a:pt x="0" y="190996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1" name="任意多边形: 形状 97"/>
              <p:cNvSpPr/>
              <p:nvPr/>
            </p:nvSpPr>
            <p:spPr>
              <a:xfrm>
                <a:off x="6049368" y="4897358"/>
                <a:ext cx="299291" cy="298147"/>
              </a:xfrm>
              <a:custGeom>
                <a:avLst/>
                <a:gdLst>
                  <a:gd name="connsiteX0" fmla="*/ 299291 w 299291"/>
                  <a:gd name="connsiteY0" fmla="*/ 106810 h 298147"/>
                  <a:gd name="connsiteX1" fmla="*/ 106810 w 299291"/>
                  <a:gd name="connsiteY1" fmla="*/ 7255 h 298147"/>
                  <a:gd name="connsiteX2" fmla="*/ 7255 w 299291"/>
                  <a:gd name="connsiteY2" fmla="*/ 199736 h 298147"/>
                  <a:gd name="connsiteX3" fmla="*/ 103438 w 299291"/>
                  <a:gd name="connsiteY3" fmla="*/ 298148 h 298147"/>
                  <a:gd name="connsiteX4" fmla="*/ 299234 w 299291"/>
                  <a:gd name="connsiteY4" fmla="*/ 106753 h 298147"/>
                  <a:gd name="connsiteX5" fmla="*/ 299234 w 299291"/>
                  <a:gd name="connsiteY5" fmla="*/ 106753 h 29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91" h="298147">
                    <a:moveTo>
                      <a:pt x="299291" y="106810"/>
                    </a:moveTo>
                    <a:cubicBezTo>
                      <a:pt x="273631" y="26171"/>
                      <a:pt x="187449" y="-18406"/>
                      <a:pt x="106810" y="7255"/>
                    </a:cubicBezTo>
                    <a:cubicBezTo>
                      <a:pt x="26171" y="32915"/>
                      <a:pt x="-18406" y="119097"/>
                      <a:pt x="7255" y="199736"/>
                    </a:cubicBezTo>
                    <a:cubicBezTo>
                      <a:pt x="21942" y="245913"/>
                      <a:pt x="57604" y="282432"/>
                      <a:pt x="103438" y="298148"/>
                    </a:cubicBezTo>
                    <a:cubicBezTo>
                      <a:pt x="199679" y="276545"/>
                      <a:pt x="275459" y="202479"/>
                      <a:pt x="299234" y="106753"/>
                    </a:cubicBezTo>
                    <a:lnTo>
                      <a:pt x="299234" y="106753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2" name="任意多边形: 形状 98"/>
              <p:cNvSpPr/>
              <p:nvPr/>
            </p:nvSpPr>
            <p:spPr>
              <a:xfrm>
                <a:off x="5849340" y="4694872"/>
                <a:ext cx="293137" cy="290346"/>
              </a:xfrm>
              <a:custGeom>
                <a:avLst/>
                <a:gdLst>
                  <a:gd name="connsiteX0" fmla="*/ 0 w 293137"/>
                  <a:gd name="connsiteY0" fmla="*/ 199282 h 290346"/>
                  <a:gd name="connsiteX1" fmla="*/ 202082 w 293137"/>
                  <a:gd name="connsiteY1" fmla="*/ 277120 h 290346"/>
                  <a:gd name="connsiteX2" fmla="*/ 279921 w 293137"/>
                  <a:gd name="connsiteY2" fmla="*/ 75038 h 290346"/>
                  <a:gd name="connsiteX3" fmla="*/ 208083 w 293137"/>
                  <a:gd name="connsiteY3" fmla="*/ 0 h 290346"/>
                  <a:gd name="connsiteX4" fmla="*/ 0 w 293137"/>
                  <a:gd name="connsiteY4" fmla="*/ 199282 h 290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137" h="290346">
                    <a:moveTo>
                      <a:pt x="0" y="199282"/>
                    </a:moveTo>
                    <a:cubicBezTo>
                      <a:pt x="34290" y="276606"/>
                      <a:pt x="124815" y="311468"/>
                      <a:pt x="202082" y="277120"/>
                    </a:cubicBezTo>
                    <a:cubicBezTo>
                      <a:pt x="279349" y="242773"/>
                      <a:pt x="314268" y="152305"/>
                      <a:pt x="279921" y="75038"/>
                    </a:cubicBezTo>
                    <a:cubicBezTo>
                      <a:pt x="265461" y="42405"/>
                      <a:pt x="240030" y="15888"/>
                      <a:pt x="208083" y="0"/>
                    </a:cubicBezTo>
                    <a:cubicBezTo>
                      <a:pt x="103784" y="16231"/>
                      <a:pt x="20745" y="95783"/>
                      <a:pt x="0" y="199282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3" name="任意多边形: 形状 99"/>
              <p:cNvSpPr/>
              <p:nvPr/>
            </p:nvSpPr>
            <p:spPr>
              <a:xfrm>
                <a:off x="6049369" y="4897416"/>
                <a:ext cx="293689" cy="292204"/>
              </a:xfrm>
              <a:custGeom>
                <a:avLst/>
                <a:gdLst>
                  <a:gd name="connsiteX0" fmla="*/ 293633 w 293689"/>
                  <a:gd name="connsiteY0" fmla="*/ 91951 h 292204"/>
                  <a:gd name="connsiteX1" fmla="*/ 91950 w 293689"/>
                  <a:gd name="connsiteY1" fmla="*/ 12855 h 292204"/>
                  <a:gd name="connsiteX2" fmla="*/ 12855 w 293689"/>
                  <a:gd name="connsiteY2" fmla="*/ 214537 h 292204"/>
                  <a:gd name="connsiteX3" fmla="*/ 88750 w 293689"/>
                  <a:gd name="connsiteY3" fmla="*/ 292204 h 292204"/>
                  <a:gd name="connsiteX4" fmla="*/ 293690 w 293689"/>
                  <a:gd name="connsiteY4" fmla="*/ 92007 h 292204"/>
                  <a:gd name="connsiteX5" fmla="*/ 293690 w 293689"/>
                  <a:gd name="connsiteY5" fmla="*/ 92007 h 2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3689" h="292204">
                    <a:moveTo>
                      <a:pt x="293633" y="91951"/>
                    </a:moveTo>
                    <a:cubicBezTo>
                      <a:pt x="259800" y="14398"/>
                      <a:pt x="169503" y="-21035"/>
                      <a:pt x="91950" y="12855"/>
                    </a:cubicBezTo>
                    <a:cubicBezTo>
                      <a:pt x="14398" y="46687"/>
                      <a:pt x="-21035" y="136984"/>
                      <a:pt x="12855" y="214537"/>
                    </a:cubicBezTo>
                    <a:cubicBezTo>
                      <a:pt x="27828" y="248827"/>
                      <a:pt x="54803" y="276431"/>
                      <a:pt x="88750" y="292204"/>
                    </a:cubicBezTo>
                    <a:cubicBezTo>
                      <a:pt x="192077" y="274659"/>
                      <a:pt x="273745" y="194877"/>
                      <a:pt x="293690" y="92007"/>
                    </a:cubicBezTo>
                    <a:lnTo>
                      <a:pt x="293690" y="92007"/>
                    </a:ln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4" name="任意多边形: 形状 100"/>
              <p:cNvSpPr/>
              <p:nvPr/>
            </p:nvSpPr>
            <p:spPr>
              <a:xfrm>
                <a:off x="5853340" y="4700644"/>
                <a:ext cx="485432" cy="483831"/>
              </a:xfrm>
              <a:custGeom>
                <a:avLst/>
                <a:gdLst>
                  <a:gd name="connsiteX0" fmla="*/ 485432 w 485432"/>
                  <a:gd name="connsiteY0" fmla="*/ 241916 h 483831"/>
                  <a:gd name="connsiteX1" fmla="*/ 242716 w 485432"/>
                  <a:gd name="connsiteY1" fmla="*/ 483832 h 483831"/>
                  <a:gd name="connsiteX2" fmla="*/ 242716 w 485432"/>
                  <a:gd name="connsiteY2" fmla="*/ 483832 h 483831"/>
                  <a:gd name="connsiteX3" fmla="*/ 0 w 485432"/>
                  <a:gd name="connsiteY3" fmla="*/ 241916 h 483831"/>
                  <a:gd name="connsiteX4" fmla="*/ 0 w 485432"/>
                  <a:gd name="connsiteY4" fmla="*/ 241916 h 483831"/>
                  <a:gd name="connsiteX5" fmla="*/ 242716 w 485432"/>
                  <a:gd name="connsiteY5" fmla="*/ 0 h 483831"/>
                  <a:gd name="connsiteX6" fmla="*/ 242716 w 485432"/>
                  <a:gd name="connsiteY6" fmla="*/ 0 h 483831"/>
                  <a:gd name="connsiteX7" fmla="*/ 485432 w 485432"/>
                  <a:gd name="connsiteY7" fmla="*/ 241916 h 483831"/>
                  <a:gd name="connsiteX8" fmla="*/ 485432 w 485432"/>
                  <a:gd name="connsiteY8" fmla="*/ 241916 h 483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5432" h="483831">
                    <a:moveTo>
                      <a:pt x="485432" y="241916"/>
                    </a:moveTo>
                    <a:cubicBezTo>
                      <a:pt x="485432" y="375532"/>
                      <a:pt x="376790" y="483832"/>
                      <a:pt x="242716" y="483832"/>
                    </a:cubicBezTo>
                    <a:lnTo>
                      <a:pt x="242716" y="483832"/>
                    </a:lnTo>
                    <a:cubicBezTo>
                      <a:pt x="108642" y="483832"/>
                      <a:pt x="0" y="375532"/>
                      <a:pt x="0" y="241916"/>
                    </a:cubicBezTo>
                    <a:lnTo>
                      <a:pt x="0" y="241916"/>
                    </a:lnTo>
                    <a:cubicBezTo>
                      <a:pt x="0" y="108299"/>
                      <a:pt x="108642" y="0"/>
                      <a:pt x="242716" y="0"/>
                    </a:cubicBezTo>
                    <a:lnTo>
                      <a:pt x="242716" y="0"/>
                    </a:lnTo>
                    <a:cubicBezTo>
                      <a:pt x="376790" y="0"/>
                      <a:pt x="485432" y="108299"/>
                      <a:pt x="485432" y="241916"/>
                    </a:cubicBezTo>
                    <a:lnTo>
                      <a:pt x="485432" y="241916"/>
                    </a:lnTo>
                  </a:path>
                </a:pathLst>
              </a:custGeom>
              <a:gradFill>
                <a:gsLst>
                  <a:gs pos="0">
                    <a:srgbClr val="00B7F0"/>
                  </a:gs>
                  <a:gs pos="50000">
                    <a:srgbClr val="0099D8"/>
                  </a:gs>
                  <a:gs pos="100000">
                    <a:srgbClr val="007CC1"/>
                  </a:gs>
                </a:gsLst>
                <a:lin ang="3600200" scaled="1"/>
              </a:gra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5" name="任意多边形: 形状 101"/>
              <p:cNvSpPr/>
              <p:nvPr/>
            </p:nvSpPr>
            <p:spPr>
              <a:xfrm>
                <a:off x="5995673" y="4797732"/>
                <a:ext cx="194435" cy="282716"/>
              </a:xfrm>
              <a:custGeom>
                <a:avLst/>
                <a:gdLst>
                  <a:gd name="connsiteX0" fmla="*/ 32089 w 194435"/>
                  <a:gd name="connsiteY0" fmla="*/ 136427 h 282716"/>
                  <a:gd name="connsiteX1" fmla="*/ 8200 w 194435"/>
                  <a:gd name="connsiteY1" fmla="*/ 111224 h 282716"/>
                  <a:gd name="connsiteX2" fmla="*/ 28 w 194435"/>
                  <a:gd name="connsiteY2" fmla="*/ 76362 h 282716"/>
                  <a:gd name="connsiteX3" fmla="*/ 14773 w 194435"/>
                  <a:gd name="connsiteY3" fmla="*/ 34186 h 282716"/>
                  <a:gd name="connsiteX4" fmla="*/ 53292 w 194435"/>
                  <a:gd name="connsiteY4" fmla="*/ 8468 h 282716"/>
                  <a:gd name="connsiteX5" fmla="*/ 103698 w 194435"/>
                  <a:gd name="connsiteY5" fmla="*/ 10 h 282716"/>
                  <a:gd name="connsiteX6" fmla="*/ 137245 w 194435"/>
                  <a:gd name="connsiteY6" fmla="*/ 2582 h 282716"/>
                  <a:gd name="connsiteX7" fmla="*/ 160505 w 194435"/>
                  <a:gd name="connsiteY7" fmla="*/ 8583 h 282716"/>
                  <a:gd name="connsiteX8" fmla="*/ 178679 w 194435"/>
                  <a:gd name="connsiteY8" fmla="*/ 20184 h 282716"/>
                  <a:gd name="connsiteX9" fmla="*/ 184280 w 194435"/>
                  <a:gd name="connsiteY9" fmla="*/ 35786 h 282716"/>
                  <a:gd name="connsiteX10" fmla="*/ 178393 w 194435"/>
                  <a:gd name="connsiteY10" fmla="*/ 52074 h 282716"/>
                  <a:gd name="connsiteX11" fmla="*/ 163534 w 194435"/>
                  <a:gd name="connsiteY11" fmla="*/ 58246 h 282716"/>
                  <a:gd name="connsiteX12" fmla="*/ 152504 w 194435"/>
                  <a:gd name="connsiteY12" fmla="*/ 55789 h 282716"/>
                  <a:gd name="connsiteX13" fmla="*/ 126215 w 194435"/>
                  <a:gd name="connsiteY13" fmla="*/ 46187 h 282716"/>
                  <a:gd name="connsiteX14" fmla="*/ 100898 w 194435"/>
                  <a:gd name="connsiteY14" fmla="*/ 43044 h 282716"/>
                  <a:gd name="connsiteX15" fmla="*/ 69179 w 194435"/>
                  <a:gd name="connsiteY15" fmla="*/ 51159 h 282716"/>
                  <a:gd name="connsiteX16" fmla="*/ 56492 w 194435"/>
                  <a:gd name="connsiteY16" fmla="*/ 74876 h 282716"/>
                  <a:gd name="connsiteX17" fmla="*/ 63064 w 194435"/>
                  <a:gd name="connsiteY17" fmla="*/ 91565 h 282716"/>
                  <a:gd name="connsiteX18" fmla="*/ 80781 w 194435"/>
                  <a:gd name="connsiteY18" fmla="*/ 104252 h 282716"/>
                  <a:gd name="connsiteX19" fmla="*/ 114042 w 194435"/>
                  <a:gd name="connsiteY19" fmla="*/ 118939 h 282716"/>
                  <a:gd name="connsiteX20" fmla="*/ 118786 w 194435"/>
                  <a:gd name="connsiteY20" fmla="*/ 120825 h 282716"/>
                  <a:gd name="connsiteX21" fmla="*/ 159934 w 194435"/>
                  <a:gd name="connsiteY21" fmla="*/ 141971 h 282716"/>
                  <a:gd name="connsiteX22" fmla="*/ 185251 w 194435"/>
                  <a:gd name="connsiteY22" fmla="*/ 167974 h 282716"/>
                  <a:gd name="connsiteX23" fmla="*/ 194395 w 194435"/>
                  <a:gd name="connsiteY23" fmla="*/ 204093 h 282716"/>
                  <a:gd name="connsiteX24" fmla="*/ 181708 w 194435"/>
                  <a:gd name="connsiteY24" fmla="*/ 247641 h 282716"/>
                  <a:gd name="connsiteX25" fmla="*/ 146275 w 194435"/>
                  <a:gd name="connsiteY25" fmla="*/ 273930 h 282716"/>
                  <a:gd name="connsiteX26" fmla="*/ 93011 w 194435"/>
                  <a:gd name="connsiteY26" fmla="*/ 282617 h 282716"/>
                  <a:gd name="connsiteX27" fmla="*/ 20431 w 194435"/>
                  <a:gd name="connsiteY27" fmla="*/ 268901 h 282716"/>
                  <a:gd name="connsiteX28" fmla="*/ 5514 w 194435"/>
                  <a:gd name="connsiteY28" fmla="*/ 257300 h 282716"/>
                  <a:gd name="connsiteX29" fmla="*/ 657 w 194435"/>
                  <a:gd name="connsiteY29" fmla="*/ 241469 h 282716"/>
                  <a:gd name="connsiteX30" fmla="*/ 7057 w 194435"/>
                  <a:gd name="connsiteY30" fmla="*/ 225353 h 282716"/>
                  <a:gd name="connsiteX31" fmla="*/ 23517 w 194435"/>
                  <a:gd name="connsiteY31" fmla="*/ 219523 h 282716"/>
                  <a:gd name="connsiteX32" fmla="*/ 42776 w 194435"/>
                  <a:gd name="connsiteY32" fmla="*/ 224495 h 282716"/>
                  <a:gd name="connsiteX33" fmla="*/ 60207 w 194435"/>
                  <a:gd name="connsiteY33" fmla="*/ 232782 h 282716"/>
                  <a:gd name="connsiteX34" fmla="*/ 75237 w 194435"/>
                  <a:gd name="connsiteY34" fmla="*/ 237525 h 282716"/>
                  <a:gd name="connsiteX35" fmla="*/ 94554 w 194435"/>
                  <a:gd name="connsiteY35" fmla="*/ 239526 h 282716"/>
                  <a:gd name="connsiteX36" fmla="*/ 127072 w 194435"/>
                  <a:gd name="connsiteY36" fmla="*/ 230839 h 282716"/>
                  <a:gd name="connsiteX37" fmla="*/ 138045 w 194435"/>
                  <a:gd name="connsiteY37" fmla="*/ 207122 h 282716"/>
                  <a:gd name="connsiteX38" fmla="*/ 131187 w 194435"/>
                  <a:gd name="connsiteY38" fmla="*/ 189805 h 282716"/>
                  <a:gd name="connsiteX39" fmla="*/ 111013 w 194435"/>
                  <a:gd name="connsiteY39" fmla="*/ 175118 h 282716"/>
                  <a:gd name="connsiteX40" fmla="*/ 73466 w 194435"/>
                  <a:gd name="connsiteY40" fmla="*/ 157973 h 282716"/>
                  <a:gd name="connsiteX41" fmla="*/ 32204 w 194435"/>
                  <a:gd name="connsiteY41" fmla="*/ 136542 h 282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94435" h="282716">
                    <a:moveTo>
                      <a:pt x="32089" y="136427"/>
                    </a:moveTo>
                    <a:cubicBezTo>
                      <a:pt x="22260" y="129969"/>
                      <a:pt x="14087" y="121339"/>
                      <a:pt x="8200" y="111224"/>
                    </a:cubicBezTo>
                    <a:cubicBezTo>
                      <a:pt x="2485" y="100537"/>
                      <a:pt x="-315" y="88478"/>
                      <a:pt x="28" y="76362"/>
                    </a:cubicBezTo>
                    <a:cubicBezTo>
                      <a:pt x="-429" y="60932"/>
                      <a:pt x="4828" y="45959"/>
                      <a:pt x="14773" y="34186"/>
                    </a:cubicBezTo>
                    <a:cubicBezTo>
                      <a:pt x="25117" y="22356"/>
                      <a:pt x="38376" y="13497"/>
                      <a:pt x="53292" y="8468"/>
                    </a:cubicBezTo>
                    <a:cubicBezTo>
                      <a:pt x="69465" y="2753"/>
                      <a:pt x="86496" y="-104"/>
                      <a:pt x="103698" y="10"/>
                    </a:cubicBezTo>
                    <a:cubicBezTo>
                      <a:pt x="114899" y="-104"/>
                      <a:pt x="126158" y="753"/>
                      <a:pt x="137245" y="2582"/>
                    </a:cubicBezTo>
                    <a:cubicBezTo>
                      <a:pt x="145189" y="3782"/>
                      <a:pt x="152962" y="5840"/>
                      <a:pt x="160505" y="8583"/>
                    </a:cubicBezTo>
                    <a:cubicBezTo>
                      <a:pt x="167420" y="10926"/>
                      <a:pt x="173650" y="14926"/>
                      <a:pt x="178679" y="20184"/>
                    </a:cubicBezTo>
                    <a:cubicBezTo>
                      <a:pt x="182394" y="24527"/>
                      <a:pt x="184394" y="30071"/>
                      <a:pt x="184280" y="35786"/>
                    </a:cubicBezTo>
                    <a:cubicBezTo>
                      <a:pt x="184565" y="41787"/>
                      <a:pt x="182394" y="47616"/>
                      <a:pt x="178393" y="52074"/>
                    </a:cubicBezTo>
                    <a:cubicBezTo>
                      <a:pt x="174564" y="56189"/>
                      <a:pt x="169135" y="58417"/>
                      <a:pt x="163534" y="58246"/>
                    </a:cubicBezTo>
                    <a:cubicBezTo>
                      <a:pt x="159705" y="58246"/>
                      <a:pt x="155933" y="57389"/>
                      <a:pt x="152504" y="55789"/>
                    </a:cubicBezTo>
                    <a:cubicBezTo>
                      <a:pt x="143989" y="51960"/>
                      <a:pt x="135188" y="48759"/>
                      <a:pt x="126215" y="46187"/>
                    </a:cubicBezTo>
                    <a:cubicBezTo>
                      <a:pt x="117929" y="44016"/>
                      <a:pt x="109413" y="42930"/>
                      <a:pt x="100898" y="43044"/>
                    </a:cubicBezTo>
                    <a:cubicBezTo>
                      <a:pt x="89754" y="42644"/>
                      <a:pt x="78723" y="45444"/>
                      <a:pt x="69179" y="51159"/>
                    </a:cubicBezTo>
                    <a:cubicBezTo>
                      <a:pt x="60950" y="56189"/>
                      <a:pt x="56092" y="65218"/>
                      <a:pt x="56492" y="74876"/>
                    </a:cubicBezTo>
                    <a:cubicBezTo>
                      <a:pt x="56435" y="81106"/>
                      <a:pt x="58778" y="87049"/>
                      <a:pt x="63064" y="91565"/>
                    </a:cubicBezTo>
                    <a:cubicBezTo>
                      <a:pt x="68151" y="96822"/>
                      <a:pt x="74151" y="101166"/>
                      <a:pt x="80781" y="104252"/>
                    </a:cubicBezTo>
                    <a:cubicBezTo>
                      <a:pt x="88211" y="107967"/>
                      <a:pt x="99298" y="112824"/>
                      <a:pt x="114042" y="118939"/>
                    </a:cubicBezTo>
                    <a:cubicBezTo>
                      <a:pt x="115700" y="119454"/>
                      <a:pt x="117243" y="120082"/>
                      <a:pt x="118786" y="120825"/>
                    </a:cubicBezTo>
                    <a:cubicBezTo>
                      <a:pt x="133188" y="126540"/>
                      <a:pt x="146961" y="133570"/>
                      <a:pt x="159934" y="141971"/>
                    </a:cubicBezTo>
                    <a:cubicBezTo>
                      <a:pt x="170221" y="148657"/>
                      <a:pt x="178850" y="157515"/>
                      <a:pt x="185251" y="167974"/>
                    </a:cubicBezTo>
                    <a:cubicBezTo>
                      <a:pt x="191595" y="178947"/>
                      <a:pt x="194738" y="191463"/>
                      <a:pt x="194395" y="204093"/>
                    </a:cubicBezTo>
                    <a:cubicBezTo>
                      <a:pt x="194909" y="219580"/>
                      <a:pt x="190509" y="234840"/>
                      <a:pt x="181708" y="247641"/>
                    </a:cubicBezTo>
                    <a:cubicBezTo>
                      <a:pt x="172792" y="259757"/>
                      <a:pt x="160448" y="268901"/>
                      <a:pt x="146275" y="273930"/>
                    </a:cubicBezTo>
                    <a:cubicBezTo>
                      <a:pt x="129187" y="280045"/>
                      <a:pt x="111128" y="282960"/>
                      <a:pt x="93011" y="282617"/>
                    </a:cubicBezTo>
                    <a:cubicBezTo>
                      <a:pt x="68094" y="283474"/>
                      <a:pt x="43291" y="278788"/>
                      <a:pt x="20431" y="268901"/>
                    </a:cubicBezTo>
                    <a:cubicBezTo>
                      <a:pt x="14601" y="266272"/>
                      <a:pt x="9458" y="262329"/>
                      <a:pt x="5514" y="257300"/>
                    </a:cubicBezTo>
                    <a:cubicBezTo>
                      <a:pt x="2200" y="252670"/>
                      <a:pt x="542" y="247127"/>
                      <a:pt x="657" y="241469"/>
                    </a:cubicBezTo>
                    <a:cubicBezTo>
                      <a:pt x="314" y="235411"/>
                      <a:pt x="2657" y="229524"/>
                      <a:pt x="7057" y="225353"/>
                    </a:cubicBezTo>
                    <a:cubicBezTo>
                      <a:pt x="11572" y="221352"/>
                      <a:pt x="17516" y="219295"/>
                      <a:pt x="23517" y="219523"/>
                    </a:cubicBezTo>
                    <a:cubicBezTo>
                      <a:pt x="30260" y="219638"/>
                      <a:pt x="36833" y="221295"/>
                      <a:pt x="42776" y="224495"/>
                    </a:cubicBezTo>
                    <a:cubicBezTo>
                      <a:pt x="50148" y="228153"/>
                      <a:pt x="55978" y="230953"/>
                      <a:pt x="60207" y="232782"/>
                    </a:cubicBezTo>
                    <a:cubicBezTo>
                      <a:pt x="65065" y="234840"/>
                      <a:pt x="70094" y="236382"/>
                      <a:pt x="75237" y="237525"/>
                    </a:cubicBezTo>
                    <a:cubicBezTo>
                      <a:pt x="81581" y="238897"/>
                      <a:pt x="88096" y="239583"/>
                      <a:pt x="94554" y="239526"/>
                    </a:cubicBezTo>
                    <a:cubicBezTo>
                      <a:pt x="106041" y="240326"/>
                      <a:pt x="117471" y="237297"/>
                      <a:pt x="127072" y="230839"/>
                    </a:cubicBezTo>
                    <a:cubicBezTo>
                      <a:pt x="134331" y="225181"/>
                      <a:pt x="138388" y="216323"/>
                      <a:pt x="138045" y="207122"/>
                    </a:cubicBezTo>
                    <a:cubicBezTo>
                      <a:pt x="138045" y="200664"/>
                      <a:pt x="135588" y="194492"/>
                      <a:pt x="131187" y="189805"/>
                    </a:cubicBezTo>
                    <a:cubicBezTo>
                      <a:pt x="125358" y="183804"/>
                      <a:pt x="118500" y="178832"/>
                      <a:pt x="111013" y="175118"/>
                    </a:cubicBezTo>
                    <a:cubicBezTo>
                      <a:pt x="102098" y="170431"/>
                      <a:pt x="89582" y="164716"/>
                      <a:pt x="73466" y="157973"/>
                    </a:cubicBezTo>
                    <a:cubicBezTo>
                      <a:pt x="59064" y="152201"/>
                      <a:pt x="45234" y="145057"/>
                      <a:pt x="32204" y="136542"/>
                    </a:cubicBezTo>
                  </a:path>
                </a:pathLst>
              </a:custGeom>
              <a:solidFill>
                <a:srgbClr val="FFFFFF"/>
              </a:solidFill>
              <a:ln w="57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06" name="Freeform 41"/>
          <p:cNvSpPr>
            <a:spLocks noEditPoints="1"/>
          </p:cNvSpPr>
          <p:nvPr/>
        </p:nvSpPr>
        <p:spPr bwMode="auto">
          <a:xfrm>
            <a:off x="9946619" y="3457657"/>
            <a:ext cx="146706" cy="180000"/>
          </a:xfrm>
          <a:custGeom>
            <a:avLst/>
            <a:gdLst>
              <a:gd name="T0" fmla="*/ 48 w 96"/>
              <a:gd name="T1" fmla="*/ 0 h 160"/>
              <a:gd name="T2" fmla="*/ 0 w 96"/>
              <a:gd name="T3" fmla="*/ 49 h 160"/>
              <a:gd name="T4" fmla="*/ 13 w 96"/>
              <a:gd name="T5" fmla="*/ 88 h 160"/>
              <a:gd name="T6" fmla="*/ 25 w 96"/>
              <a:gd name="T7" fmla="*/ 118 h 160"/>
              <a:gd name="T8" fmla="*/ 29 w 96"/>
              <a:gd name="T9" fmla="*/ 124 h 160"/>
              <a:gd name="T10" fmla="*/ 25 w 96"/>
              <a:gd name="T11" fmla="*/ 129 h 160"/>
              <a:gd name="T12" fmla="*/ 29 w 96"/>
              <a:gd name="T13" fmla="*/ 135 h 160"/>
              <a:gd name="T14" fmla="*/ 25 w 96"/>
              <a:gd name="T15" fmla="*/ 141 h 160"/>
              <a:gd name="T16" fmla="*/ 32 w 96"/>
              <a:gd name="T17" fmla="*/ 148 h 160"/>
              <a:gd name="T18" fmla="*/ 35 w 96"/>
              <a:gd name="T19" fmla="*/ 148 h 160"/>
              <a:gd name="T20" fmla="*/ 48 w 96"/>
              <a:gd name="T21" fmla="*/ 160 h 160"/>
              <a:gd name="T22" fmla="*/ 61 w 96"/>
              <a:gd name="T23" fmla="*/ 148 h 160"/>
              <a:gd name="T24" fmla="*/ 64 w 96"/>
              <a:gd name="T25" fmla="*/ 148 h 160"/>
              <a:gd name="T26" fmla="*/ 71 w 96"/>
              <a:gd name="T27" fmla="*/ 141 h 160"/>
              <a:gd name="T28" fmla="*/ 67 w 96"/>
              <a:gd name="T29" fmla="*/ 135 h 160"/>
              <a:gd name="T30" fmla="*/ 71 w 96"/>
              <a:gd name="T31" fmla="*/ 129 h 160"/>
              <a:gd name="T32" fmla="*/ 67 w 96"/>
              <a:gd name="T33" fmla="*/ 124 h 160"/>
              <a:gd name="T34" fmla="*/ 71 w 96"/>
              <a:gd name="T35" fmla="*/ 118 h 160"/>
              <a:gd name="T36" fmla="*/ 83 w 96"/>
              <a:gd name="T37" fmla="*/ 88 h 160"/>
              <a:gd name="T38" fmla="*/ 96 w 96"/>
              <a:gd name="T39" fmla="*/ 49 h 160"/>
              <a:gd name="T40" fmla="*/ 48 w 96"/>
              <a:gd name="T41" fmla="*/ 0 h 160"/>
              <a:gd name="T42" fmla="*/ 72 w 96"/>
              <a:gd name="T43" fmla="*/ 80 h 160"/>
              <a:gd name="T44" fmla="*/ 60 w 96"/>
              <a:gd name="T45" fmla="*/ 111 h 160"/>
              <a:gd name="T46" fmla="*/ 53 w 96"/>
              <a:gd name="T47" fmla="*/ 111 h 160"/>
              <a:gd name="T48" fmla="*/ 63 w 96"/>
              <a:gd name="T49" fmla="*/ 57 h 160"/>
              <a:gd name="T50" fmla="*/ 63 w 96"/>
              <a:gd name="T51" fmla="*/ 57 h 160"/>
              <a:gd name="T52" fmla="*/ 60 w 96"/>
              <a:gd name="T53" fmla="*/ 49 h 160"/>
              <a:gd name="T54" fmla="*/ 52 w 96"/>
              <a:gd name="T55" fmla="*/ 44 h 160"/>
              <a:gd name="T56" fmla="*/ 48 w 96"/>
              <a:gd name="T57" fmla="*/ 46 h 160"/>
              <a:gd name="T58" fmla="*/ 44 w 96"/>
              <a:gd name="T59" fmla="*/ 44 h 160"/>
              <a:gd name="T60" fmla="*/ 36 w 96"/>
              <a:gd name="T61" fmla="*/ 49 h 160"/>
              <a:gd name="T62" fmla="*/ 33 w 96"/>
              <a:gd name="T63" fmla="*/ 57 h 160"/>
              <a:gd name="T64" fmla="*/ 33 w 96"/>
              <a:gd name="T65" fmla="*/ 57 h 160"/>
              <a:gd name="T66" fmla="*/ 43 w 96"/>
              <a:gd name="T67" fmla="*/ 111 h 160"/>
              <a:gd name="T68" fmla="*/ 36 w 96"/>
              <a:gd name="T69" fmla="*/ 111 h 160"/>
              <a:gd name="T70" fmla="*/ 24 w 96"/>
              <a:gd name="T71" fmla="*/ 80 h 160"/>
              <a:gd name="T72" fmla="*/ 12 w 96"/>
              <a:gd name="T73" fmla="*/ 49 h 160"/>
              <a:gd name="T74" fmla="*/ 48 w 96"/>
              <a:gd name="T75" fmla="*/ 13 h 160"/>
              <a:gd name="T76" fmla="*/ 84 w 96"/>
              <a:gd name="T77" fmla="*/ 49 h 160"/>
              <a:gd name="T78" fmla="*/ 72 w 96"/>
              <a:gd name="T79" fmla="*/ 80 h 160"/>
              <a:gd name="T80" fmla="*/ 48 w 96"/>
              <a:gd name="T81" fmla="*/ 102 h 160"/>
              <a:gd name="T82" fmla="*/ 41 w 96"/>
              <a:gd name="T83" fmla="*/ 57 h 160"/>
              <a:gd name="T84" fmla="*/ 41 w 96"/>
              <a:gd name="T85" fmla="*/ 54 h 160"/>
              <a:gd name="T86" fmla="*/ 44 w 96"/>
              <a:gd name="T87" fmla="*/ 53 h 160"/>
              <a:gd name="T88" fmla="*/ 45 w 96"/>
              <a:gd name="T89" fmla="*/ 53 h 160"/>
              <a:gd name="T90" fmla="*/ 48 w 96"/>
              <a:gd name="T91" fmla="*/ 54 h 160"/>
              <a:gd name="T92" fmla="*/ 51 w 96"/>
              <a:gd name="T93" fmla="*/ 53 h 160"/>
              <a:gd name="T94" fmla="*/ 52 w 96"/>
              <a:gd name="T95" fmla="*/ 53 h 160"/>
              <a:gd name="T96" fmla="*/ 55 w 96"/>
              <a:gd name="T97" fmla="*/ 54 h 160"/>
              <a:gd name="T98" fmla="*/ 55 w 96"/>
              <a:gd name="T99" fmla="*/ 57 h 160"/>
              <a:gd name="T100" fmla="*/ 48 w 96"/>
              <a:gd name="T101" fmla="*/ 102 h 160"/>
              <a:gd name="T102" fmla="*/ 48 w 96"/>
              <a:gd name="T103" fmla="*/ 102 h 160"/>
              <a:gd name="T104" fmla="*/ 48 w 96"/>
              <a:gd name="T105" fmla="*/ 102 h 160"/>
              <a:gd name="T106" fmla="*/ 48 w 96"/>
              <a:gd name="T107" fmla="*/ 10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6" h="160">
                <a:moveTo>
                  <a:pt x="48" y="0"/>
                </a:moveTo>
                <a:cubicBezTo>
                  <a:pt x="21" y="0"/>
                  <a:pt x="0" y="21"/>
                  <a:pt x="0" y="49"/>
                </a:cubicBezTo>
                <a:cubicBezTo>
                  <a:pt x="0" y="67"/>
                  <a:pt x="6" y="78"/>
                  <a:pt x="13" y="88"/>
                </a:cubicBezTo>
                <a:cubicBezTo>
                  <a:pt x="18" y="96"/>
                  <a:pt x="25" y="106"/>
                  <a:pt x="25" y="118"/>
                </a:cubicBezTo>
                <a:cubicBezTo>
                  <a:pt x="25" y="121"/>
                  <a:pt x="26" y="124"/>
                  <a:pt x="29" y="124"/>
                </a:cubicBezTo>
                <a:cubicBezTo>
                  <a:pt x="26" y="125"/>
                  <a:pt x="25" y="127"/>
                  <a:pt x="25" y="129"/>
                </a:cubicBezTo>
                <a:cubicBezTo>
                  <a:pt x="25" y="132"/>
                  <a:pt x="26" y="134"/>
                  <a:pt x="29" y="135"/>
                </a:cubicBezTo>
                <a:cubicBezTo>
                  <a:pt x="26" y="137"/>
                  <a:pt x="25" y="138"/>
                  <a:pt x="25" y="141"/>
                </a:cubicBezTo>
                <a:cubicBezTo>
                  <a:pt x="25" y="145"/>
                  <a:pt x="28" y="148"/>
                  <a:pt x="32" y="148"/>
                </a:cubicBezTo>
                <a:cubicBezTo>
                  <a:pt x="35" y="148"/>
                  <a:pt x="35" y="148"/>
                  <a:pt x="35" y="148"/>
                </a:cubicBezTo>
                <a:cubicBezTo>
                  <a:pt x="36" y="154"/>
                  <a:pt x="41" y="160"/>
                  <a:pt x="48" y="160"/>
                </a:cubicBezTo>
                <a:cubicBezTo>
                  <a:pt x="55" y="160"/>
                  <a:pt x="60" y="154"/>
                  <a:pt x="61" y="148"/>
                </a:cubicBezTo>
                <a:cubicBezTo>
                  <a:pt x="64" y="148"/>
                  <a:pt x="64" y="148"/>
                  <a:pt x="64" y="148"/>
                </a:cubicBezTo>
                <a:cubicBezTo>
                  <a:pt x="68" y="148"/>
                  <a:pt x="71" y="145"/>
                  <a:pt x="71" y="141"/>
                </a:cubicBezTo>
                <a:cubicBezTo>
                  <a:pt x="71" y="138"/>
                  <a:pt x="69" y="137"/>
                  <a:pt x="67" y="135"/>
                </a:cubicBezTo>
                <a:cubicBezTo>
                  <a:pt x="69" y="134"/>
                  <a:pt x="71" y="132"/>
                  <a:pt x="71" y="129"/>
                </a:cubicBezTo>
                <a:cubicBezTo>
                  <a:pt x="71" y="127"/>
                  <a:pt x="69" y="125"/>
                  <a:pt x="67" y="124"/>
                </a:cubicBezTo>
                <a:cubicBezTo>
                  <a:pt x="69" y="124"/>
                  <a:pt x="71" y="121"/>
                  <a:pt x="71" y="118"/>
                </a:cubicBezTo>
                <a:cubicBezTo>
                  <a:pt x="71" y="106"/>
                  <a:pt x="77" y="96"/>
                  <a:pt x="83" y="88"/>
                </a:cubicBezTo>
                <a:cubicBezTo>
                  <a:pt x="90" y="78"/>
                  <a:pt x="96" y="67"/>
                  <a:pt x="96" y="49"/>
                </a:cubicBezTo>
                <a:cubicBezTo>
                  <a:pt x="96" y="21"/>
                  <a:pt x="75" y="0"/>
                  <a:pt x="48" y="0"/>
                </a:cubicBezTo>
                <a:close/>
                <a:moveTo>
                  <a:pt x="72" y="80"/>
                </a:moveTo>
                <a:cubicBezTo>
                  <a:pt x="68" y="89"/>
                  <a:pt x="61" y="99"/>
                  <a:pt x="60" y="111"/>
                </a:cubicBezTo>
                <a:cubicBezTo>
                  <a:pt x="53" y="111"/>
                  <a:pt x="53" y="111"/>
                  <a:pt x="53" y="111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4"/>
                  <a:pt x="61" y="52"/>
                  <a:pt x="60" y="49"/>
                </a:cubicBezTo>
                <a:cubicBezTo>
                  <a:pt x="59" y="46"/>
                  <a:pt x="55" y="44"/>
                  <a:pt x="52" y="44"/>
                </a:cubicBezTo>
                <a:cubicBezTo>
                  <a:pt x="51" y="44"/>
                  <a:pt x="49" y="46"/>
                  <a:pt x="48" y="46"/>
                </a:cubicBezTo>
                <a:cubicBezTo>
                  <a:pt x="47" y="46"/>
                  <a:pt x="45" y="44"/>
                  <a:pt x="44" y="44"/>
                </a:cubicBezTo>
                <a:cubicBezTo>
                  <a:pt x="41" y="44"/>
                  <a:pt x="39" y="46"/>
                  <a:pt x="36" y="49"/>
                </a:cubicBezTo>
                <a:cubicBezTo>
                  <a:pt x="35" y="52"/>
                  <a:pt x="33" y="54"/>
                  <a:pt x="33" y="57"/>
                </a:cubicBezTo>
                <a:cubicBezTo>
                  <a:pt x="33" y="57"/>
                  <a:pt x="33" y="57"/>
                  <a:pt x="33" y="57"/>
                </a:cubicBezTo>
                <a:cubicBezTo>
                  <a:pt x="43" y="111"/>
                  <a:pt x="43" y="111"/>
                  <a:pt x="43" y="111"/>
                </a:cubicBezTo>
                <a:cubicBezTo>
                  <a:pt x="36" y="111"/>
                  <a:pt x="36" y="111"/>
                  <a:pt x="36" y="111"/>
                </a:cubicBezTo>
                <a:cubicBezTo>
                  <a:pt x="35" y="99"/>
                  <a:pt x="28" y="89"/>
                  <a:pt x="24" y="80"/>
                </a:cubicBezTo>
                <a:cubicBezTo>
                  <a:pt x="17" y="72"/>
                  <a:pt x="12" y="63"/>
                  <a:pt x="12" y="49"/>
                </a:cubicBezTo>
                <a:cubicBezTo>
                  <a:pt x="12" y="29"/>
                  <a:pt x="28" y="13"/>
                  <a:pt x="48" y="13"/>
                </a:cubicBezTo>
                <a:cubicBezTo>
                  <a:pt x="68" y="13"/>
                  <a:pt x="84" y="29"/>
                  <a:pt x="84" y="49"/>
                </a:cubicBezTo>
                <a:cubicBezTo>
                  <a:pt x="84" y="63"/>
                  <a:pt x="79" y="72"/>
                  <a:pt x="72" y="80"/>
                </a:cubicBezTo>
                <a:close/>
                <a:moveTo>
                  <a:pt x="48" y="102"/>
                </a:moveTo>
                <a:cubicBezTo>
                  <a:pt x="41" y="57"/>
                  <a:pt x="41" y="57"/>
                  <a:pt x="41" y="57"/>
                </a:cubicBezTo>
                <a:cubicBezTo>
                  <a:pt x="40" y="56"/>
                  <a:pt x="41" y="54"/>
                  <a:pt x="41" y="54"/>
                </a:cubicBezTo>
                <a:cubicBezTo>
                  <a:pt x="43" y="53"/>
                  <a:pt x="43" y="53"/>
                  <a:pt x="44" y="53"/>
                </a:cubicBezTo>
                <a:cubicBezTo>
                  <a:pt x="45" y="53"/>
                  <a:pt x="45" y="53"/>
                  <a:pt x="45" y="53"/>
                </a:cubicBezTo>
                <a:cubicBezTo>
                  <a:pt x="45" y="54"/>
                  <a:pt x="47" y="54"/>
                  <a:pt x="48" y="54"/>
                </a:cubicBezTo>
                <a:cubicBezTo>
                  <a:pt x="49" y="54"/>
                  <a:pt x="51" y="54"/>
                  <a:pt x="51" y="53"/>
                </a:cubicBezTo>
                <a:cubicBezTo>
                  <a:pt x="52" y="53"/>
                  <a:pt x="52" y="53"/>
                  <a:pt x="52" y="53"/>
                </a:cubicBezTo>
                <a:cubicBezTo>
                  <a:pt x="53" y="53"/>
                  <a:pt x="53" y="53"/>
                  <a:pt x="55" y="54"/>
                </a:cubicBezTo>
                <a:cubicBezTo>
                  <a:pt x="55" y="54"/>
                  <a:pt x="56" y="56"/>
                  <a:pt x="55" y="57"/>
                </a:cubicBezTo>
                <a:cubicBezTo>
                  <a:pt x="48" y="102"/>
                  <a:pt x="48" y="102"/>
                  <a:pt x="48" y="102"/>
                </a:cubicBezTo>
                <a:cubicBezTo>
                  <a:pt x="48" y="102"/>
                  <a:pt x="48" y="102"/>
                  <a:pt x="48" y="102"/>
                </a:cubicBezTo>
                <a:close/>
                <a:moveTo>
                  <a:pt x="48" y="102"/>
                </a:moveTo>
                <a:cubicBezTo>
                  <a:pt x="48" y="102"/>
                  <a:pt x="48" y="102"/>
                  <a:pt x="48" y="10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7" name="Freeform 56"/>
          <p:cNvSpPr>
            <a:spLocks noEditPoints="1"/>
          </p:cNvSpPr>
          <p:nvPr/>
        </p:nvSpPr>
        <p:spPr bwMode="auto">
          <a:xfrm>
            <a:off x="9946619" y="4570217"/>
            <a:ext cx="180000" cy="180000"/>
          </a:xfrm>
          <a:custGeom>
            <a:avLst/>
            <a:gdLst>
              <a:gd name="T0" fmla="*/ 120 w 160"/>
              <a:gd name="T1" fmla="*/ 133 h 155"/>
              <a:gd name="T2" fmla="*/ 21 w 160"/>
              <a:gd name="T3" fmla="*/ 133 h 155"/>
              <a:gd name="T4" fmla="*/ 21 w 160"/>
              <a:gd name="T5" fmla="*/ 29 h 155"/>
              <a:gd name="T6" fmla="*/ 96 w 160"/>
              <a:gd name="T7" fmla="*/ 29 h 155"/>
              <a:gd name="T8" fmla="*/ 120 w 160"/>
              <a:gd name="T9" fmla="*/ 3 h 155"/>
              <a:gd name="T10" fmla="*/ 0 w 160"/>
              <a:gd name="T11" fmla="*/ 3 h 155"/>
              <a:gd name="T12" fmla="*/ 0 w 160"/>
              <a:gd name="T13" fmla="*/ 155 h 155"/>
              <a:gd name="T14" fmla="*/ 142 w 160"/>
              <a:gd name="T15" fmla="*/ 155 h 155"/>
              <a:gd name="T16" fmla="*/ 142 w 160"/>
              <a:gd name="T17" fmla="*/ 58 h 155"/>
              <a:gd name="T18" fmla="*/ 120 w 160"/>
              <a:gd name="T19" fmla="*/ 83 h 155"/>
              <a:gd name="T20" fmla="*/ 120 w 160"/>
              <a:gd name="T21" fmla="*/ 133 h 155"/>
              <a:gd name="T22" fmla="*/ 43 w 160"/>
              <a:gd name="T23" fmla="*/ 58 h 155"/>
              <a:gd name="T24" fmla="*/ 31 w 160"/>
              <a:gd name="T25" fmla="*/ 75 h 155"/>
              <a:gd name="T26" fmla="*/ 67 w 160"/>
              <a:gd name="T27" fmla="*/ 117 h 155"/>
              <a:gd name="T28" fmla="*/ 160 w 160"/>
              <a:gd name="T29" fmla="*/ 17 h 155"/>
              <a:gd name="T30" fmla="*/ 145 w 160"/>
              <a:gd name="T31" fmla="*/ 0 h 155"/>
              <a:gd name="T32" fmla="*/ 67 w 160"/>
              <a:gd name="T33" fmla="*/ 83 h 155"/>
              <a:gd name="T34" fmla="*/ 43 w 160"/>
              <a:gd name="T35" fmla="*/ 58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0" h="155">
                <a:moveTo>
                  <a:pt x="120" y="133"/>
                </a:moveTo>
                <a:lnTo>
                  <a:pt x="21" y="133"/>
                </a:lnTo>
                <a:lnTo>
                  <a:pt x="21" y="29"/>
                </a:lnTo>
                <a:lnTo>
                  <a:pt x="96" y="29"/>
                </a:lnTo>
                <a:lnTo>
                  <a:pt x="120" y="3"/>
                </a:lnTo>
                <a:lnTo>
                  <a:pt x="0" y="3"/>
                </a:lnTo>
                <a:lnTo>
                  <a:pt x="0" y="155"/>
                </a:lnTo>
                <a:lnTo>
                  <a:pt x="142" y="155"/>
                </a:lnTo>
                <a:lnTo>
                  <a:pt x="142" y="58"/>
                </a:lnTo>
                <a:lnTo>
                  <a:pt x="120" y="83"/>
                </a:lnTo>
                <a:lnTo>
                  <a:pt x="120" y="133"/>
                </a:lnTo>
                <a:close/>
                <a:moveTo>
                  <a:pt x="43" y="58"/>
                </a:moveTo>
                <a:lnTo>
                  <a:pt x="31" y="75"/>
                </a:lnTo>
                <a:lnTo>
                  <a:pt x="67" y="117"/>
                </a:lnTo>
                <a:lnTo>
                  <a:pt x="160" y="17"/>
                </a:lnTo>
                <a:lnTo>
                  <a:pt x="145" y="0"/>
                </a:lnTo>
                <a:lnTo>
                  <a:pt x="67" y="83"/>
                </a:lnTo>
                <a:lnTo>
                  <a:pt x="43" y="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Freeform 129"/>
          <p:cNvSpPr>
            <a:spLocks noEditPoints="1"/>
          </p:cNvSpPr>
          <p:nvPr/>
        </p:nvSpPr>
        <p:spPr bwMode="auto">
          <a:xfrm>
            <a:off x="9946619" y="5557673"/>
            <a:ext cx="180000" cy="180000"/>
          </a:xfrm>
          <a:custGeom>
            <a:avLst/>
            <a:gdLst>
              <a:gd name="T0" fmla="*/ 54 w 160"/>
              <a:gd name="T1" fmla="*/ 134 h 149"/>
              <a:gd name="T2" fmla="*/ 108 w 160"/>
              <a:gd name="T3" fmla="*/ 134 h 149"/>
              <a:gd name="T4" fmla="*/ 108 w 160"/>
              <a:gd name="T5" fmla="*/ 149 h 149"/>
              <a:gd name="T6" fmla="*/ 54 w 160"/>
              <a:gd name="T7" fmla="*/ 149 h 149"/>
              <a:gd name="T8" fmla="*/ 54 w 160"/>
              <a:gd name="T9" fmla="*/ 134 h 149"/>
              <a:gd name="T10" fmla="*/ 54 w 160"/>
              <a:gd name="T11" fmla="*/ 134 h 149"/>
              <a:gd name="T12" fmla="*/ 160 w 160"/>
              <a:gd name="T13" fmla="*/ 0 h 149"/>
              <a:gd name="T14" fmla="*/ 160 w 160"/>
              <a:gd name="T15" fmla="*/ 128 h 149"/>
              <a:gd name="T16" fmla="*/ 0 w 160"/>
              <a:gd name="T17" fmla="*/ 128 h 149"/>
              <a:gd name="T18" fmla="*/ 0 w 160"/>
              <a:gd name="T19" fmla="*/ 0 h 149"/>
              <a:gd name="T20" fmla="*/ 160 w 160"/>
              <a:gd name="T21" fmla="*/ 0 h 149"/>
              <a:gd name="T22" fmla="*/ 160 w 160"/>
              <a:gd name="T23" fmla="*/ 0 h 149"/>
              <a:gd name="T24" fmla="*/ 143 w 160"/>
              <a:gd name="T25" fmla="*/ 115 h 149"/>
              <a:gd name="T26" fmla="*/ 140 w 160"/>
              <a:gd name="T27" fmla="*/ 109 h 149"/>
              <a:gd name="T28" fmla="*/ 134 w 160"/>
              <a:gd name="T29" fmla="*/ 115 h 149"/>
              <a:gd name="T30" fmla="*/ 140 w 160"/>
              <a:gd name="T31" fmla="*/ 118 h 149"/>
              <a:gd name="T32" fmla="*/ 143 w 160"/>
              <a:gd name="T33" fmla="*/ 115 h 149"/>
              <a:gd name="T34" fmla="*/ 148 w 160"/>
              <a:gd name="T35" fmla="*/ 9 h 149"/>
              <a:gd name="T36" fmla="*/ 14 w 160"/>
              <a:gd name="T37" fmla="*/ 9 h 149"/>
              <a:gd name="T38" fmla="*/ 14 w 160"/>
              <a:gd name="T39" fmla="*/ 100 h 149"/>
              <a:gd name="T40" fmla="*/ 148 w 160"/>
              <a:gd name="T41" fmla="*/ 100 h 149"/>
              <a:gd name="T42" fmla="*/ 148 w 160"/>
              <a:gd name="T43" fmla="*/ 9 h 149"/>
              <a:gd name="T44" fmla="*/ 148 w 160"/>
              <a:gd name="T45" fmla="*/ 9 h 149"/>
              <a:gd name="T46" fmla="*/ 45 w 160"/>
              <a:gd name="T47" fmla="*/ 79 h 149"/>
              <a:gd name="T48" fmla="*/ 45 w 160"/>
              <a:gd name="T49" fmla="*/ 33 h 149"/>
              <a:gd name="T50" fmla="*/ 85 w 160"/>
              <a:gd name="T51" fmla="*/ 33 h 149"/>
              <a:gd name="T52" fmla="*/ 65 w 160"/>
              <a:gd name="T53" fmla="*/ 58 h 149"/>
              <a:gd name="T54" fmla="*/ 85 w 160"/>
              <a:gd name="T55" fmla="*/ 79 h 149"/>
              <a:gd name="T56" fmla="*/ 45 w 160"/>
              <a:gd name="T57" fmla="*/ 79 h 149"/>
              <a:gd name="T58" fmla="*/ 57 w 160"/>
              <a:gd name="T59" fmla="*/ 39 h 149"/>
              <a:gd name="T60" fmla="*/ 63 w 160"/>
              <a:gd name="T61" fmla="*/ 42 h 149"/>
              <a:gd name="T62" fmla="*/ 65 w 160"/>
              <a:gd name="T63" fmla="*/ 39 h 149"/>
              <a:gd name="T64" fmla="*/ 63 w 160"/>
              <a:gd name="T65" fmla="*/ 33 h 149"/>
              <a:gd name="T66" fmla="*/ 57 w 160"/>
              <a:gd name="T67" fmla="*/ 39 h 149"/>
              <a:gd name="T68" fmla="*/ 91 w 160"/>
              <a:gd name="T69" fmla="*/ 64 h 149"/>
              <a:gd name="T70" fmla="*/ 97 w 160"/>
              <a:gd name="T71" fmla="*/ 58 h 149"/>
              <a:gd name="T72" fmla="*/ 91 w 160"/>
              <a:gd name="T73" fmla="*/ 52 h 149"/>
              <a:gd name="T74" fmla="*/ 85 w 160"/>
              <a:gd name="T75" fmla="*/ 58 h 149"/>
              <a:gd name="T76" fmla="*/ 91 w 160"/>
              <a:gd name="T77" fmla="*/ 64 h 149"/>
              <a:gd name="T78" fmla="*/ 117 w 160"/>
              <a:gd name="T79" fmla="*/ 64 h 149"/>
              <a:gd name="T80" fmla="*/ 123 w 160"/>
              <a:gd name="T81" fmla="*/ 58 h 149"/>
              <a:gd name="T82" fmla="*/ 117 w 160"/>
              <a:gd name="T83" fmla="*/ 52 h 149"/>
              <a:gd name="T84" fmla="*/ 111 w 160"/>
              <a:gd name="T85" fmla="*/ 58 h 149"/>
              <a:gd name="T86" fmla="*/ 117 w 160"/>
              <a:gd name="T87" fmla="*/ 64 h 149"/>
              <a:gd name="T88" fmla="*/ 117 w 160"/>
              <a:gd name="T89" fmla="*/ 64 h 149"/>
              <a:gd name="T90" fmla="*/ 117 w 160"/>
              <a:gd name="T91" fmla="*/ 64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60" h="149">
                <a:moveTo>
                  <a:pt x="54" y="134"/>
                </a:moveTo>
                <a:cubicBezTo>
                  <a:pt x="108" y="134"/>
                  <a:pt x="108" y="134"/>
                  <a:pt x="108" y="134"/>
                </a:cubicBezTo>
                <a:cubicBezTo>
                  <a:pt x="108" y="149"/>
                  <a:pt x="108" y="149"/>
                  <a:pt x="108" y="149"/>
                </a:cubicBezTo>
                <a:cubicBezTo>
                  <a:pt x="54" y="149"/>
                  <a:pt x="54" y="149"/>
                  <a:pt x="54" y="149"/>
                </a:cubicBezTo>
                <a:cubicBezTo>
                  <a:pt x="54" y="134"/>
                  <a:pt x="54" y="134"/>
                  <a:pt x="54" y="134"/>
                </a:cubicBezTo>
                <a:cubicBezTo>
                  <a:pt x="54" y="134"/>
                  <a:pt x="54" y="134"/>
                  <a:pt x="54" y="134"/>
                </a:cubicBezTo>
                <a:close/>
                <a:moveTo>
                  <a:pt x="160" y="0"/>
                </a:moveTo>
                <a:cubicBezTo>
                  <a:pt x="160" y="128"/>
                  <a:pt x="160" y="128"/>
                  <a:pt x="160" y="128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0"/>
                  <a:pt x="0" y="0"/>
                  <a:pt x="0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0" y="0"/>
                  <a:pt x="160" y="0"/>
                </a:cubicBezTo>
                <a:close/>
                <a:moveTo>
                  <a:pt x="143" y="115"/>
                </a:moveTo>
                <a:cubicBezTo>
                  <a:pt x="143" y="112"/>
                  <a:pt x="143" y="109"/>
                  <a:pt x="140" y="109"/>
                </a:cubicBezTo>
                <a:cubicBezTo>
                  <a:pt x="137" y="109"/>
                  <a:pt x="134" y="112"/>
                  <a:pt x="134" y="115"/>
                </a:cubicBezTo>
                <a:cubicBezTo>
                  <a:pt x="134" y="118"/>
                  <a:pt x="137" y="118"/>
                  <a:pt x="140" y="118"/>
                </a:cubicBezTo>
                <a:cubicBezTo>
                  <a:pt x="143" y="118"/>
                  <a:pt x="143" y="118"/>
                  <a:pt x="143" y="115"/>
                </a:cubicBezTo>
                <a:close/>
                <a:moveTo>
                  <a:pt x="148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00"/>
                  <a:pt x="14" y="100"/>
                  <a:pt x="14" y="100"/>
                </a:cubicBezTo>
                <a:cubicBezTo>
                  <a:pt x="148" y="100"/>
                  <a:pt x="148" y="100"/>
                  <a:pt x="148" y="100"/>
                </a:cubicBezTo>
                <a:cubicBezTo>
                  <a:pt x="148" y="9"/>
                  <a:pt x="148" y="9"/>
                  <a:pt x="148" y="9"/>
                </a:cubicBezTo>
                <a:cubicBezTo>
                  <a:pt x="148" y="9"/>
                  <a:pt x="148" y="9"/>
                  <a:pt x="148" y="9"/>
                </a:cubicBezTo>
                <a:close/>
                <a:moveTo>
                  <a:pt x="45" y="79"/>
                </a:moveTo>
                <a:cubicBezTo>
                  <a:pt x="31" y="67"/>
                  <a:pt x="31" y="45"/>
                  <a:pt x="45" y="33"/>
                </a:cubicBezTo>
                <a:cubicBezTo>
                  <a:pt x="57" y="21"/>
                  <a:pt x="74" y="21"/>
                  <a:pt x="85" y="33"/>
                </a:cubicBezTo>
                <a:cubicBezTo>
                  <a:pt x="65" y="58"/>
                  <a:pt x="65" y="58"/>
                  <a:pt x="65" y="58"/>
                </a:cubicBezTo>
                <a:cubicBezTo>
                  <a:pt x="85" y="79"/>
                  <a:pt x="85" y="79"/>
                  <a:pt x="85" y="79"/>
                </a:cubicBezTo>
                <a:cubicBezTo>
                  <a:pt x="74" y="91"/>
                  <a:pt x="57" y="91"/>
                  <a:pt x="45" y="79"/>
                </a:cubicBezTo>
                <a:close/>
                <a:moveTo>
                  <a:pt x="57" y="39"/>
                </a:moveTo>
                <a:cubicBezTo>
                  <a:pt x="57" y="42"/>
                  <a:pt x="60" y="42"/>
                  <a:pt x="63" y="42"/>
                </a:cubicBezTo>
                <a:cubicBezTo>
                  <a:pt x="65" y="42"/>
                  <a:pt x="65" y="42"/>
                  <a:pt x="65" y="39"/>
                </a:cubicBezTo>
                <a:cubicBezTo>
                  <a:pt x="65" y="36"/>
                  <a:pt x="65" y="33"/>
                  <a:pt x="63" y="33"/>
                </a:cubicBezTo>
                <a:cubicBezTo>
                  <a:pt x="60" y="33"/>
                  <a:pt x="57" y="36"/>
                  <a:pt x="57" y="39"/>
                </a:cubicBezTo>
                <a:close/>
                <a:moveTo>
                  <a:pt x="91" y="64"/>
                </a:moveTo>
                <a:cubicBezTo>
                  <a:pt x="97" y="64"/>
                  <a:pt x="97" y="61"/>
                  <a:pt x="97" y="58"/>
                </a:cubicBezTo>
                <a:cubicBezTo>
                  <a:pt x="97" y="55"/>
                  <a:pt x="97" y="52"/>
                  <a:pt x="91" y="52"/>
                </a:cubicBezTo>
                <a:cubicBezTo>
                  <a:pt x="88" y="52"/>
                  <a:pt x="85" y="55"/>
                  <a:pt x="85" y="58"/>
                </a:cubicBezTo>
                <a:cubicBezTo>
                  <a:pt x="85" y="61"/>
                  <a:pt x="88" y="64"/>
                  <a:pt x="91" y="64"/>
                </a:cubicBezTo>
                <a:close/>
                <a:moveTo>
                  <a:pt x="117" y="64"/>
                </a:moveTo>
                <a:cubicBezTo>
                  <a:pt x="123" y="64"/>
                  <a:pt x="123" y="61"/>
                  <a:pt x="123" y="58"/>
                </a:cubicBezTo>
                <a:cubicBezTo>
                  <a:pt x="123" y="55"/>
                  <a:pt x="123" y="52"/>
                  <a:pt x="117" y="52"/>
                </a:cubicBezTo>
                <a:cubicBezTo>
                  <a:pt x="114" y="52"/>
                  <a:pt x="111" y="55"/>
                  <a:pt x="111" y="58"/>
                </a:cubicBezTo>
                <a:cubicBezTo>
                  <a:pt x="111" y="61"/>
                  <a:pt x="114" y="64"/>
                  <a:pt x="117" y="64"/>
                </a:cubicBezTo>
                <a:close/>
                <a:moveTo>
                  <a:pt x="117" y="64"/>
                </a:moveTo>
                <a:cubicBezTo>
                  <a:pt x="117" y="64"/>
                  <a:pt x="117" y="64"/>
                  <a:pt x="117" y="6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" name="图片 20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45" y="4183123"/>
            <a:ext cx="247222" cy="247222"/>
          </a:xfrm>
          <a:prstGeom prst="rect">
            <a:avLst/>
          </a:prstGeom>
        </p:spPr>
      </p:pic>
      <p:pic>
        <p:nvPicPr>
          <p:cNvPr id="210" name="图片 20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04" y="4761394"/>
            <a:ext cx="223104" cy="223104"/>
          </a:xfrm>
          <a:prstGeom prst="rect">
            <a:avLst/>
          </a:prstGeom>
        </p:spPr>
      </p:pic>
      <p:sp>
        <p:nvSpPr>
          <p:cNvPr id="211" name="Freeform 120"/>
          <p:cNvSpPr>
            <a:spLocks noEditPoints="1"/>
          </p:cNvSpPr>
          <p:nvPr/>
        </p:nvSpPr>
        <p:spPr bwMode="auto">
          <a:xfrm>
            <a:off x="5982190" y="4546654"/>
            <a:ext cx="272830" cy="289090"/>
          </a:xfrm>
          <a:custGeom>
            <a:avLst/>
            <a:gdLst>
              <a:gd name="T0" fmla="*/ 16 w 151"/>
              <a:gd name="T1" fmla="*/ 0 h 160"/>
              <a:gd name="T2" fmla="*/ 0 w 151"/>
              <a:gd name="T3" fmla="*/ 60 h 160"/>
              <a:gd name="T4" fmla="*/ 57 w 151"/>
              <a:gd name="T5" fmla="*/ 76 h 160"/>
              <a:gd name="T6" fmla="*/ 73 w 151"/>
              <a:gd name="T7" fmla="*/ 17 h 160"/>
              <a:gd name="T8" fmla="*/ 64 w 151"/>
              <a:gd name="T9" fmla="*/ 60 h 160"/>
              <a:gd name="T10" fmla="*/ 16 w 151"/>
              <a:gd name="T11" fmla="*/ 65 h 160"/>
              <a:gd name="T12" fmla="*/ 9 w 151"/>
              <a:gd name="T13" fmla="*/ 17 h 160"/>
              <a:gd name="T14" fmla="*/ 57 w 151"/>
              <a:gd name="T15" fmla="*/ 10 h 160"/>
              <a:gd name="T16" fmla="*/ 64 w 151"/>
              <a:gd name="T17" fmla="*/ 60 h 160"/>
              <a:gd name="T18" fmla="*/ 26 w 151"/>
              <a:gd name="T19" fmla="*/ 19 h 160"/>
              <a:gd name="T20" fmla="*/ 16 w 151"/>
              <a:gd name="T21" fmla="*/ 36 h 160"/>
              <a:gd name="T22" fmla="*/ 20 w 151"/>
              <a:gd name="T23" fmla="*/ 36 h 160"/>
              <a:gd name="T24" fmla="*/ 26 w 151"/>
              <a:gd name="T25" fmla="*/ 25 h 160"/>
              <a:gd name="T26" fmla="*/ 44 w 151"/>
              <a:gd name="T27" fmla="*/ 22 h 160"/>
              <a:gd name="T28" fmla="*/ 19 w 151"/>
              <a:gd name="T29" fmla="*/ 44 h 160"/>
              <a:gd name="T30" fmla="*/ 15 w 151"/>
              <a:gd name="T31" fmla="*/ 45 h 160"/>
              <a:gd name="T32" fmla="*/ 18 w 151"/>
              <a:gd name="T33" fmla="*/ 48 h 160"/>
              <a:gd name="T34" fmla="*/ 20 w 151"/>
              <a:gd name="T35" fmla="*/ 45 h 160"/>
              <a:gd name="T36" fmla="*/ 135 w 151"/>
              <a:gd name="T37" fmla="*/ 0 h 160"/>
              <a:gd name="T38" fmla="*/ 80 w 151"/>
              <a:gd name="T39" fmla="*/ 17 h 160"/>
              <a:gd name="T40" fmla="*/ 95 w 151"/>
              <a:gd name="T41" fmla="*/ 76 h 160"/>
              <a:gd name="T42" fmla="*/ 151 w 151"/>
              <a:gd name="T43" fmla="*/ 60 h 160"/>
              <a:gd name="T44" fmla="*/ 135 w 151"/>
              <a:gd name="T45" fmla="*/ 0 h 160"/>
              <a:gd name="T46" fmla="*/ 135 w 151"/>
              <a:gd name="T47" fmla="*/ 65 h 160"/>
              <a:gd name="T48" fmla="*/ 88 w 151"/>
              <a:gd name="T49" fmla="*/ 60 h 160"/>
              <a:gd name="T50" fmla="*/ 95 w 151"/>
              <a:gd name="T51" fmla="*/ 10 h 160"/>
              <a:gd name="T52" fmla="*/ 142 w 151"/>
              <a:gd name="T53" fmla="*/ 17 h 160"/>
              <a:gd name="T54" fmla="*/ 57 w 151"/>
              <a:gd name="T55" fmla="*/ 84 h 160"/>
              <a:gd name="T56" fmla="*/ 0 w 151"/>
              <a:gd name="T57" fmla="*/ 101 h 160"/>
              <a:gd name="T58" fmla="*/ 16 w 151"/>
              <a:gd name="T59" fmla="*/ 160 h 160"/>
              <a:gd name="T60" fmla="*/ 73 w 151"/>
              <a:gd name="T61" fmla="*/ 144 h 160"/>
              <a:gd name="T62" fmla="*/ 57 w 151"/>
              <a:gd name="T63" fmla="*/ 84 h 160"/>
              <a:gd name="T64" fmla="*/ 57 w 151"/>
              <a:gd name="T65" fmla="*/ 151 h 160"/>
              <a:gd name="T66" fmla="*/ 9 w 151"/>
              <a:gd name="T67" fmla="*/ 144 h 160"/>
              <a:gd name="T68" fmla="*/ 16 w 151"/>
              <a:gd name="T69" fmla="*/ 94 h 160"/>
              <a:gd name="T70" fmla="*/ 64 w 151"/>
              <a:gd name="T71" fmla="*/ 101 h 160"/>
              <a:gd name="T72" fmla="*/ 135 w 151"/>
              <a:gd name="T73" fmla="*/ 84 h 160"/>
              <a:gd name="T74" fmla="*/ 80 w 151"/>
              <a:gd name="T75" fmla="*/ 101 h 160"/>
              <a:gd name="T76" fmla="*/ 95 w 151"/>
              <a:gd name="T77" fmla="*/ 160 h 160"/>
              <a:gd name="T78" fmla="*/ 151 w 151"/>
              <a:gd name="T79" fmla="*/ 144 h 160"/>
              <a:gd name="T80" fmla="*/ 135 w 151"/>
              <a:gd name="T81" fmla="*/ 84 h 160"/>
              <a:gd name="T82" fmla="*/ 135 w 151"/>
              <a:gd name="T83" fmla="*/ 151 h 160"/>
              <a:gd name="T84" fmla="*/ 88 w 151"/>
              <a:gd name="T85" fmla="*/ 144 h 160"/>
              <a:gd name="T86" fmla="*/ 95 w 151"/>
              <a:gd name="T87" fmla="*/ 94 h 160"/>
              <a:gd name="T88" fmla="*/ 142 w 151"/>
              <a:gd name="T89" fmla="*/ 10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51" h="160">
                <a:moveTo>
                  <a:pt x="57" y="0"/>
                </a:moveTo>
                <a:cubicBezTo>
                  <a:pt x="57" y="0"/>
                  <a:pt x="57" y="0"/>
                  <a:pt x="16" y="0"/>
                </a:cubicBezTo>
                <a:cubicBezTo>
                  <a:pt x="7" y="0"/>
                  <a:pt x="0" y="7"/>
                  <a:pt x="0" y="17"/>
                </a:cubicBezTo>
                <a:cubicBezTo>
                  <a:pt x="0" y="17"/>
                  <a:pt x="0" y="17"/>
                  <a:pt x="0" y="60"/>
                </a:cubicBezTo>
                <a:cubicBezTo>
                  <a:pt x="0" y="68"/>
                  <a:pt x="7" y="76"/>
                  <a:pt x="16" y="76"/>
                </a:cubicBezTo>
                <a:cubicBezTo>
                  <a:pt x="16" y="76"/>
                  <a:pt x="16" y="76"/>
                  <a:pt x="57" y="76"/>
                </a:cubicBezTo>
                <a:cubicBezTo>
                  <a:pt x="65" y="76"/>
                  <a:pt x="73" y="68"/>
                  <a:pt x="73" y="60"/>
                </a:cubicBezTo>
                <a:cubicBezTo>
                  <a:pt x="73" y="17"/>
                  <a:pt x="73" y="17"/>
                  <a:pt x="73" y="17"/>
                </a:cubicBezTo>
                <a:cubicBezTo>
                  <a:pt x="73" y="7"/>
                  <a:pt x="65" y="0"/>
                  <a:pt x="57" y="0"/>
                </a:cubicBezTo>
                <a:close/>
                <a:moveTo>
                  <a:pt x="64" y="60"/>
                </a:moveTo>
                <a:cubicBezTo>
                  <a:pt x="64" y="63"/>
                  <a:pt x="61" y="65"/>
                  <a:pt x="57" y="65"/>
                </a:cubicBezTo>
                <a:cubicBezTo>
                  <a:pt x="57" y="65"/>
                  <a:pt x="57" y="65"/>
                  <a:pt x="16" y="65"/>
                </a:cubicBezTo>
                <a:cubicBezTo>
                  <a:pt x="12" y="65"/>
                  <a:pt x="9" y="63"/>
                  <a:pt x="9" y="60"/>
                </a:cubicBezTo>
                <a:cubicBezTo>
                  <a:pt x="9" y="60"/>
                  <a:pt x="9" y="60"/>
                  <a:pt x="9" y="17"/>
                </a:cubicBezTo>
                <a:cubicBezTo>
                  <a:pt x="9" y="13"/>
                  <a:pt x="12" y="10"/>
                  <a:pt x="16" y="10"/>
                </a:cubicBezTo>
                <a:cubicBezTo>
                  <a:pt x="16" y="10"/>
                  <a:pt x="16" y="10"/>
                  <a:pt x="57" y="10"/>
                </a:cubicBezTo>
                <a:cubicBezTo>
                  <a:pt x="61" y="10"/>
                  <a:pt x="64" y="13"/>
                  <a:pt x="64" y="17"/>
                </a:cubicBezTo>
                <a:lnTo>
                  <a:pt x="64" y="60"/>
                </a:lnTo>
                <a:close/>
                <a:moveTo>
                  <a:pt x="41" y="19"/>
                </a:moveTo>
                <a:cubicBezTo>
                  <a:pt x="41" y="19"/>
                  <a:pt x="41" y="19"/>
                  <a:pt x="26" y="19"/>
                </a:cubicBezTo>
                <a:cubicBezTo>
                  <a:pt x="20" y="19"/>
                  <a:pt x="16" y="26"/>
                  <a:pt x="16" y="32"/>
                </a:cubicBezTo>
                <a:cubicBezTo>
                  <a:pt x="16" y="32"/>
                  <a:pt x="16" y="32"/>
                  <a:pt x="16" y="36"/>
                </a:cubicBezTo>
                <a:cubicBezTo>
                  <a:pt x="16" y="38"/>
                  <a:pt x="18" y="39"/>
                  <a:pt x="19" y="39"/>
                </a:cubicBezTo>
                <a:cubicBezTo>
                  <a:pt x="20" y="39"/>
                  <a:pt x="20" y="38"/>
                  <a:pt x="20" y="36"/>
                </a:cubicBezTo>
                <a:cubicBezTo>
                  <a:pt x="20" y="36"/>
                  <a:pt x="20" y="36"/>
                  <a:pt x="20" y="32"/>
                </a:cubicBezTo>
                <a:cubicBezTo>
                  <a:pt x="20" y="29"/>
                  <a:pt x="23" y="25"/>
                  <a:pt x="26" y="25"/>
                </a:cubicBezTo>
                <a:cubicBezTo>
                  <a:pt x="26" y="25"/>
                  <a:pt x="26" y="25"/>
                  <a:pt x="41" y="25"/>
                </a:cubicBezTo>
                <a:cubicBezTo>
                  <a:pt x="42" y="25"/>
                  <a:pt x="44" y="23"/>
                  <a:pt x="44" y="22"/>
                </a:cubicBezTo>
                <a:cubicBezTo>
                  <a:pt x="44" y="20"/>
                  <a:pt x="42" y="19"/>
                  <a:pt x="41" y="19"/>
                </a:cubicBezTo>
                <a:close/>
                <a:moveTo>
                  <a:pt x="19" y="44"/>
                </a:moveTo>
                <a:cubicBezTo>
                  <a:pt x="19" y="43"/>
                  <a:pt x="18" y="43"/>
                  <a:pt x="17" y="44"/>
                </a:cubicBezTo>
                <a:cubicBezTo>
                  <a:pt x="15" y="45"/>
                  <a:pt x="15" y="45"/>
                  <a:pt x="15" y="45"/>
                </a:cubicBezTo>
                <a:cubicBezTo>
                  <a:pt x="17" y="47"/>
                  <a:pt x="17" y="47"/>
                  <a:pt x="17" y="47"/>
                </a:cubicBezTo>
                <a:cubicBezTo>
                  <a:pt x="17" y="48"/>
                  <a:pt x="18" y="48"/>
                  <a:pt x="18" y="48"/>
                </a:cubicBezTo>
                <a:cubicBezTo>
                  <a:pt x="19" y="48"/>
                  <a:pt x="19" y="48"/>
                  <a:pt x="19" y="47"/>
                </a:cubicBezTo>
                <a:cubicBezTo>
                  <a:pt x="20" y="47"/>
                  <a:pt x="20" y="45"/>
                  <a:pt x="20" y="45"/>
                </a:cubicBezTo>
                <a:cubicBezTo>
                  <a:pt x="20" y="45"/>
                  <a:pt x="20" y="44"/>
                  <a:pt x="19" y="44"/>
                </a:cubicBezTo>
                <a:close/>
                <a:moveTo>
                  <a:pt x="135" y="0"/>
                </a:moveTo>
                <a:cubicBezTo>
                  <a:pt x="135" y="0"/>
                  <a:pt x="135" y="0"/>
                  <a:pt x="95" y="0"/>
                </a:cubicBezTo>
                <a:cubicBezTo>
                  <a:pt x="87" y="0"/>
                  <a:pt x="80" y="7"/>
                  <a:pt x="80" y="17"/>
                </a:cubicBezTo>
                <a:cubicBezTo>
                  <a:pt x="80" y="17"/>
                  <a:pt x="80" y="17"/>
                  <a:pt x="80" y="60"/>
                </a:cubicBezTo>
                <a:cubicBezTo>
                  <a:pt x="80" y="68"/>
                  <a:pt x="87" y="76"/>
                  <a:pt x="95" y="76"/>
                </a:cubicBezTo>
                <a:cubicBezTo>
                  <a:pt x="95" y="76"/>
                  <a:pt x="95" y="76"/>
                  <a:pt x="135" y="76"/>
                </a:cubicBezTo>
                <a:cubicBezTo>
                  <a:pt x="144" y="76"/>
                  <a:pt x="151" y="68"/>
                  <a:pt x="151" y="60"/>
                </a:cubicBezTo>
                <a:cubicBezTo>
                  <a:pt x="151" y="17"/>
                  <a:pt x="151" y="17"/>
                  <a:pt x="151" y="17"/>
                </a:cubicBezTo>
                <a:cubicBezTo>
                  <a:pt x="151" y="7"/>
                  <a:pt x="144" y="0"/>
                  <a:pt x="135" y="0"/>
                </a:cubicBezTo>
                <a:close/>
                <a:moveTo>
                  <a:pt x="142" y="60"/>
                </a:moveTo>
                <a:cubicBezTo>
                  <a:pt x="142" y="63"/>
                  <a:pt x="139" y="65"/>
                  <a:pt x="135" y="65"/>
                </a:cubicBezTo>
                <a:cubicBezTo>
                  <a:pt x="135" y="65"/>
                  <a:pt x="135" y="65"/>
                  <a:pt x="95" y="65"/>
                </a:cubicBezTo>
                <a:cubicBezTo>
                  <a:pt x="91" y="65"/>
                  <a:pt x="88" y="63"/>
                  <a:pt x="88" y="60"/>
                </a:cubicBezTo>
                <a:cubicBezTo>
                  <a:pt x="88" y="60"/>
                  <a:pt x="88" y="60"/>
                  <a:pt x="88" y="17"/>
                </a:cubicBezTo>
                <a:cubicBezTo>
                  <a:pt x="88" y="13"/>
                  <a:pt x="91" y="10"/>
                  <a:pt x="95" y="10"/>
                </a:cubicBezTo>
                <a:cubicBezTo>
                  <a:pt x="95" y="10"/>
                  <a:pt x="95" y="10"/>
                  <a:pt x="135" y="10"/>
                </a:cubicBezTo>
                <a:cubicBezTo>
                  <a:pt x="139" y="10"/>
                  <a:pt x="142" y="13"/>
                  <a:pt x="142" y="17"/>
                </a:cubicBezTo>
                <a:lnTo>
                  <a:pt x="142" y="60"/>
                </a:lnTo>
                <a:close/>
                <a:moveTo>
                  <a:pt x="57" y="84"/>
                </a:moveTo>
                <a:cubicBezTo>
                  <a:pt x="57" y="84"/>
                  <a:pt x="57" y="84"/>
                  <a:pt x="16" y="84"/>
                </a:cubicBezTo>
                <a:cubicBezTo>
                  <a:pt x="7" y="84"/>
                  <a:pt x="0" y="91"/>
                  <a:pt x="0" y="101"/>
                </a:cubicBezTo>
                <a:cubicBezTo>
                  <a:pt x="0" y="101"/>
                  <a:pt x="0" y="101"/>
                  <a:pt x="0" y="144"/>
                </a:cubicBezTo>
                <a:cubicBezTo>
                  <a:pt x="0" y="152"/>
                  <a:pt x="7" y="160"/>
                  <a:pt x="16" y="160"/>
                </a:cubicBezTo>
                <a:cubicBezTo>
                  <a:pt x="16" y="160"/>
                  <a:pt x="16" y="160"/>
                  <a:pt x="57" y="160"/>
                </a:cubicBezTo>
                <a:cubicBezTo>
                  <a:pt x="65" y="160"/>
                  <a:pt x="73" y="152"/>
                  <a:pt x="73" y="144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3" y="91"/>
                  <a:pt x="65" y="84"/>
                  <a:pt x="57" y="84"/>
                </a:cubicBezTo>
                <a:close/>
                <a:moveTo>
                  <a:pt x="64" y="144"/>
                </a:moveTo>
                <a:cubicBezTo>
                  <a:pt x="64" y="148"/>
                  <a:pt x="61" y="151"/>
                  <a:pt x="57" y="151"/>
                </a:cubicBezTo>
                <a:cubicBezTo>
                  <a:pt x="57" y="151"/>
                  <a:pt x="57" y="151"/>
                  <a:pt x="16" y="151"/>
                </a:cubicBezTo>
                <a:cubicBezTo>
                  <a:pt x="12" y="151"/>
                  <a:pt x="9" y="148"/>
                  <a:pt x="9" y="144"/>
                </a:cubicBezTo>
                <a:cubicBezTo>
                  <a:pt x="9" y="144"/>
                  <a:pt x="9" y="144"/>
                  <a:pt x="9" y="101"/>
                </a:cubicBezTo>
                <a:cubicBezTo>
                  <a:pt x="9" y="97"/>
                  <a:pt x="12" y="94"/>
                  <a:pt x="16" y="94"/>
                </a:cubicBezTo>
                <a:cubicBezTo>
                  <a:pt x="16" y="94"/>
                  <a:pt x="16" y="94"/>
                  <a:pt x="57" y="94"/>
                </a:cubicBezTo>
                <a:cubicBezTo>
                  <a:pt x="61" y="94"/>
                  <a:pt x="64" y="97"/>
                  <a:pt x="64" y="101"/>
                </a:cubicBezTo>
                <a:lnTo>
                  <a:pt x="64" y="144"/>
                </a:lnTo>
                <a:close/>
                <a:moveTo>
                  <a:pt x="135" y="84"/>
                </a:moveTo>
                <a:cubicBezTo>
                  <a:pt x="135" y="84"/>
                  <a:pt x="135" y="84"/>
                  <a:pt x="95" y="84"/>
                </a:cubicBezTo>
                <a:cubicBezTo>
                  <a:pt x="87" y="84"/>
                  <a:pt x="80" y="91"/>
                  <a:pt x="80" y="101"/>
                </a:cubicBezTo>
                <a:cubicBezTo>
                  <a:pt x="80" y="101"/>
                  <a:pt x="80" y="101"/>
                  <a:pt x="80" y="144"/>
                </a:cubicBezTo>
                <a:cubicBezTo>
                  <a:pt x="80" y="152"/>
                  <a:pt x="87" y="160"/>
                  <a:pt x="95" y="160"/>
                </a:cubicBezTo>
                <a:cubicBezTo>
                  <a:pt x="95" y="160"/>
                  <a:pt x="95" y="160"/>
                  <a:pt x="135" y="160"/>
                </a:cubicBezTo>
                <a:cubicBezTo>
                  <a:pt x="144" y="160"/>
                  <a:pt x="151" y="152"/>
                  <a:pt x="151" y="144"/>
                </a:cubicBezTo>
                <a:cubicBezTo>
                  <a:pt x="151" y="101"/>
                  <a:pt x="151" y="101"/>
                  <a:pt x="151" y="101"/>
                </a:cubicBezTo>
                <a:cubicBezTo>
                  <a:pt x="151" y="91"/>
                  <a:pt x="144" y="84"/>
                  <a:pt x="135" y="84"/>
                </a:cubicBezTo>
                <a:close/>
                <a:moveTo>
                  <a:pt x="142" y="144"/>
                </a:moveTo>
                <a:cubicBezTo>
                  <a:pt x="142" y="148"/>
                  <a:pt x="139" y="151"/>
                  <a:pt x="135" y="151"/>
                </a:cubicBezTo>
                <a:cubicBezTo>
                  <a:pt x="135" y="151"/>
                  <a:pt x="135" y="151"/>
                  <a:pt x="95" y="151"/>
                </a:cubicBezTo>
                <a:cubicBezTo>
                  <a:pt x="91" y="151"/>
                  <a:pt x="88" y="148"/>
                  <a:pt x="88" y="144"/>
                </a:cubicBezTo>
                <a:cubicBezTo>
                  <a:pt x="88" y="144"/>
                  <a:pt x="88" y="144"/>
                  <a:pt x="88" y="101"/>
                </a:cubicBezTo>
                <a:cubicBezTo>
                  <a:pt x="88" y="97"/>
                  <a:pt x="91" y="94"/>
                  <a:pt x="95" y="94"/>
                </a:cubicBezTo>
                <a:cubicBezTo>
                  <a:pt x="95" y="94"/>
                  <a:pt x="95" y="94"/>
                  <a:pt x="135" y="94"/>
                </a:cubicBezTo>
                <a:cubicBezTo>
                  <a:pt x="139" y="94"/>
                  <a:pt x="142" y="97"/>
                  <a:pt x="142" y="101"/>
                </a:cubicBezTo>
                <a:lnTo>
                  <a:pt x="142" y="1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7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box 524"/>
          <p:cNvSpPr/>
          <p:nvPr>
            <p:custDataLst>
              <p:tags r:id="rId1"/>
            </p:custDataLst>
          </p:nvPr>
        </p:nvSpPr>
        <p:spPr>
          <a:xfrm>
            <a:off x="319405" y="5673725"/>
            <a:ext cx="11513185" cy="967105"/>
          </a:xfrm>
          <a:prstGeom prst="rect">
            <a:avLst/>
          </a:prstGeom>
          <a:gradFill flip="none" rotWithShape="1">
            <a:gsLst>
              <a:gs pos="0">
                <a:srgbClr val="457B9D">
                  <a:alpha val="5000"/>
                </a:srgbClr>
              </a:gs>
              <a:gs pos="100000">
                <a:srgbClr val="457B9D">
                  <a:alpha val="5000"/>
                </a:srgbClr>
              </a:gs>
            </a:gsLst>
            <a:lin ang="2700000" scaled="1"/>
          </a:gradFill>
          <a:ln w="12700" cap="flat" cmpd="sng" algn="ctr">
            <a:solidFill>
              <a:srgbClr val="213271">
                <a:alpha val="70000"/>
              </a:srgb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消费者全域运营体系模型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sp>
        <p:nvSpPr>
          <p:cNvPr id="17" name="Isosceles Triangle 13"/>
          <p:cNvSpPr/>
          <p:nvPr>
            <p:custDataLst>
              <p:tags r:id="rId4"/>
            </p:custDataLst>
          </p:nvPr>
        </p:nvSpPr>
        <p:spPr>
          <a:xfrm>
            <a:off x="368935" y="1034415"/>
            <a:ext cx="11451590" cy="599440"/>
          </a:xfrm>
          <a:prstGeom prst="triangl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90000"/>
                  <a:lumOff val="1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" name="Rectangle: Rounded Corners 15"/>
          <p:cNvSpPr/>
          <p:nvPr>
            <p:custDataLst>
              <p:tags r:id="rId5"/>
            </p:custDataLst>
          </p:nvPr>
        </p:nvSpPr>
        <p:spPr>
          <a:xfrm>
            <a:off x="9157335" y="2411095"/>
            <a:ext cx="2494915" cy="283591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 w="19050" cap="flat" cmpd="sng" algn="ctr">
            <a:solidFill>
              <a:schemeClr val="accent1">
                <a:lumMod val="60000"/>
                <a:lumOff val="40000"/>
                <a:alpha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8" name="矩形 107"/>
          <p:cNvSpPr/>
          <p:nvPr>
            <p:custDataLst>
              <p:tags r:id="rId6"/>
            </p:custDataLst>
          </p:nvPr>
        </p:nvSpPr>
        <p:spPr>
          <a:xfrm>
            <a:off x="9835198" y="1752600"/>
            <a:ext cx="12014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转化复购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矩形 107"/>
          <p:cNvSpPr/>
          <p:nvPr>
            <p:custDataLst>
              <p:tags r:id="rId7"/>
            </p:custDataLst>
          </p:nvPr>
        </p:nvSpPr>
        <p:spPr>
          <a:xfrm>
            <a:off x="946150" y="1752600"/>
            <a:ext cx="129921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会员招募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7" name="直线连接符 181"/>
          <p:cNvCxnSpPr/>
          <p:nvPr>
            <p:custDataLst>
              <p:tags r:id="rId8"/>
            </p:custDataLst>
          </p:nvPr>
        </p:nvCxnSpPr>
        <p:spPr>
          <a:xfrm>
            <a:off x="2727325" y="3681095"/>
            <a:ext cx="985520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线连接符 182"/>
          <p:cNvCxnSpPr/>
          <p:nvPr>
            <p:custDataLst>
              <p:tags r:id="rId9"/>
            </p:custDataLst>
          </p:nvPr>
        </p:nvCxnSpPr>
        <p:spPr>
          <a:xfrm flipH="1">
            <a:off x="2765425" y="3802380"/>
            <a:ext cx="947420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10"/>
            </p:custDataLst>
          </p:nvPr>
        </p:nvSpPr>
        <p:spPr>
          <a:xfrm>
            <a:off x="2991168" y="340106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1"/>
            </p:custDataLst>
          </p:nvPr>
        </p:nvSpPr>
        <p:spPr>
          <a:xfrm>
            <a:off x="2991168" y="3942715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13" name="组合 412"/>
          <p:cNvGrpSpPr/>
          <p:nvPr/>
        </p:nvGrpSpPr>
        <p:grpSpPr>
          <a:xfrm>
            <a:off x="9146540" y="2163445"/>
            <a:ext cx="2508250" cy="615950"/>
            <a:chOff x="14404" y="3883"/>
            <a:chExt cx="3950" cy="970"/>
          </a:xfrm>
        </p:grpSpPr>
        <p:sp>
          <p:nvSpPr>
            <p:cNvPr id="34" name="矩形 33"/>
            <p:cNvSpPr/>
            <p:nvPr>
              <p:custDataLst>
                <p:tags r:id="rId12"/>
              </p:custDataLst>
            </p:nvPr>
          </p:nvSpPr>
          <p:spPr>
            <a:xfrm>
              <a:off x="14404" y="3883"/>
              <a:ext cx="3951" cy="97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8755" tIns="49378" rIns="98755" bIns="49378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" name="Graphic 142" descr="Store"/>
            <p:cNvSpPr/>
            <p:nvPr>
              <p:custDataLst>
                <p:tags r:id="rId13"/>
              </p:custDataLst>
            </p:nvPr>
          </p:nvSpPr>
          <p:spPr>
            <a:xfrm flipH="1">
              <a:off x="14744" y="4125"/>
              <a:ext cx="347" cy="324"/>
            </a:xfrm>
            <a:custGeom>
              <a:avLst/>
              <a:gdLst>
                <a:gd name="connsiteX0" fmla="*/ 354289 w 398575"/>
                <a:gd name="connsiteY0" fmla="*/ 164382 h 372598"/>
                <a:gd name="connsiteX1" fmla="*/ 332146 w 398575"/>
                <a:gd name="connsiteY1" fmla="*/ 186299 h 372598"/>
                <a:gd name="connsiteX2" fmla="*/ 310003 w 398575"/>
                <a:gd name="connsiteY2" fmla="*/ 164382 h 372598"/>
                <a:gd name="connsiteX3" fmla="*/ 310003 w 398575"/>
                <a:gd name="connsiteY3" fmla="*/ 142464 h 372598"/>
                <a:gd name="connsiteX4" fmla="*/ 298932 w 398575"/>
                <a:gd name="connsiteY4" fmla="*/ 32876 h 372598"/>
                <a:gd name="connsiteX5" fmla="*/ 343218 w 398575"/>
                <a:gd name="connsiteY5" fmla="*/ 32876 h 372598"/>
                <a:gd name="connsiteX6" fmla="*/ 354289 w 398575"/>
                <a:gd name="connsiteY6" fmla="*/ 142464 h 372598"/>
                <a:gd name="connsiteX7" fmla="*/ 354289 w 398575"/>
                <a:gd name="connsiteY7" fmla="*/ 164382 h 372598"/>
                <a:gd name="connsiteX8" fmla="*/ 265717 w 398575"/>
                <a:gd name="connsiteY8" fmla="*/ 164382 h 372598"/>
                <a:gd name="connsiteX9" fmla="*/ 243574 w 398575"/>
                <a:gd name="connsiteY9" fmla="*/ 186299 h 372598"/>
                <a:gd name="connsiteX10" fmla="*/ 221431 w 398575"/>
                <a:gd name="connsiteY10" fmla="*/ 164382 h 372598"/>
                <a:gd name="connsiteX11" fmla="*/ 221431 w 398575"/>
                <a:gd name="connsiteY11" fmla="*/ 142464 h 372598"/>
                <a:gd name="connsiteX12" fmla="*/ 215895 w 398575"/>
                <a:gd name="connsiteY12" fmla="*/ 32876 h 372598"/>
                <a:gd name="connsiteX13" fmla="*/ 260181 w 398575"/>
                <a:gd name="connsiteY13" fmla="*/ 32876 h 372598"/>
                <a:gd name="connsiteX14" fmla="*/ 265717 w 398575"/>
                <a:gd name="connsiteY14" fmla="*/ 142464 h 372598"/>
                <a:gd name="connsiteX15" fmla="*/ 265717 w 398575"/>
                <a:gd name="connsiteY15" fmla="*/ 164382 h 372598"/>
                <a:gd name="connsiteX16" fmla="*/ 177145 w 398575"/>
                <a:gd name="connsiteY16" fmla="*/ 142464 h 372598"/>
                <a:gd name="connsiteX17" fmla="*/ 177145 w 398575"/>
                <a:gd name="connsiteY17" fmla="*/ 164382 h 372598"/>
                <a:gd name="connsiteX18" fmla="*/ 155002 w 398575"/>
                <a:gd name="connsiteY18" fmla="*/ 186299 h 372598"/>
                <a:gd name="connsiteX19" fmla="*/ 132859 w 398575"/>
                <a:gd name="connsiteY19" fmla="*/ 164382 h 372598"/>
                <a:gd name="connsiteX20" fmla="*/ 132859 w 398575"/>
                <a:gd name="connsiteY20" fmla="*/ 142464 h 372598"/>
                <a:gd name="connsiteX21" fmla="*/ 138394 w 398575"/>
                <a:gd name="connsiteY21" fmla="*/ 32876 h 372598"/>
                <a:gd name="connsiteX22" fmla="*/ 182680 w 398575"/>
                <a:gd name="connsiteY22" fmla="*/ 32876 h 372598"/>
                <a:gd name="connsiteX23" fmla="*/ 177145 w 398575"/>
                <a:gd name="connsiteY23" fmla="*/ 142464 h 372598"/>
                <a:gd name="connsiteX24" fmla="*/ 155002 w 398575"/>
                <a:gd name="connsiteY24" fmla="*/ 317805 h 372598"/>
                <a:gd name="connsiteX25" fmla="*/ 66429 w 398575"/>
                <a:gd name="connsiteY25" fmla="*/ 317805 h 372598"/>
                <a:gd name="connsiteX26" fmla="*/ 66429 w 398575"/>
                <a:gd name="connsiteY26" fmla="*/ 230135 h 372598"/>
                <a:gd name="connsiteX27" fmla="*/ 155002 w 398575"/>
                <a:gd name="connsiteY27" fmla="*/ 230135 h 372598"/>
                <a:gd name="connsiteX28" fmla="*/ 155002 w 398575"/>
                <a:gd name="connsiteY28" fmla="*/ 317805 h 372598"/>
                <a:gd name="connsiteX29" fmla="*/ 44286 w 398575"/>
                <a:gd name="connsiteY29" fmla="*/ 164382 h 372598"/>
                <a:gd name="connsiteX30" fmla="*/ 44286 w 398575"/>
                <a:gd name="connsiteY30" fmla="*/ 142464 h 372598"/>
                <a:gd name="connsiteX31" fmla="*/ 55358 w 398575"/>
                <a:gd name="connsiteY31" fmla="*/ 32876 h 372598"/>
                <a:gd name="connsiteX32" fmla="*/ 99644 w 398575"/>
                <a:gd name="connsiteY32" fmla="*/ 32876 h 372598"/>
                <a:gd name="connsiteX33" fmla="*/ 88572 w 398575"/>
                <a:gd name="connsiteY33" fmla="*/ 142464 h 372598"/>
                <a:gd name="connsiteX34" fmla="*/ 88572 w 398575"/>
                <a:gd name="connsiteY34" fmla="*/ 164382 h 372598"/>
                <a:gd name="connsiteX35" fmla="*/ 66429 w 398575"/>
                <a:gd name="connsiteY35" fmla="*/ 186299 h 372598"/>
                <a:gd name="connsiteX36" fmla="*/ 44286 w 398575"/>
                <a:gd name="connsiteY36" fmla="*/ 164382 h 372598"/>
                <a:gd name="connsiteX37" fmla="*/ 376432 w 398575"/>
                <a:gd name="connsiteY37" fmla="*/ 0 h 372598"/>
                <a:gd name="connsiteX38" fmla="*/ 22143 w 398575"/>
                <a:gd name="connsiteY38" fmla="*/ 0 h 372598"/>
                <a:gd name="connsiteX39" fmla="*/ 0 w 398575"/>
                <a:gd name="connsiteY39" fmla="*/ 142464 h 372598"/>
                <a:gd name="connsiteX40" fmla="*/ 0 w 398575"/>
                <a:gd name="connsiteY40" fmla="*/ 164382 h 372598"/>
                <a:gd name="connsiteX41" fmla="*/ 22143 w 398575"/>
                <a:gd name="connsiteY41" fmla="*/ 186299 h 372598"/>
                <a:gd name="connsiteX42" fmla="*/ 22143 w 398575"/>
                <a:gd name="connsiteY42" fmla="*/ 372599 h 372598"/>
                <a:gd name="connsiteX43" fmla="*/ 210359 w 398575"/>
                <a:gd name="connsiteY43" fmla="*/ 372599 h 372598"/>
                <a:gd name="connsiteX44" fmla="*/ 210359 w 398575"/>
                <a:gd name="connsiteY44" fmla="*/ 230135 h 372598"/>
                <a:gd name="connsiteX45" fmla="*/ 332146 w 398575"/>
                <a:gd name="connsiteY45" fmla="*/ 230135 h 372598"/>
                <a:gd name="connsiteX46" fmla="*/ 332146 w 398575"/>
                <a:gd name="connsiteY46" fmla="*/ 372599 h 372598"/>
                <a:gd name="connsiteX47" fmla="*/ 376432 w 398575"/>
                <a:gd name="connsiteY47" fmla="*/ 372599 h 372598"/>
                <a:gd name="connsiteX48" fmla="*/ 376432 w 398575"/>
                <a:gd name="connsiteY48" fmla="*/ 186299 h 372598"/>
                <a:gd name="connsiteX49" fmla="*/ 398576 w 398575"/>
                <a:gd name="connsiteY49" fmla="*/ 164382 h 372598"/>
                <a:gd name="connsiteX50" fmla="*/ 398576 w 398575"/>
                <a:gd name="connsiteY50" fmla="*/ 142464 h 372598"/>
                <a:gd name="connsiteX51" fmla="*/ 376432 w 398575"/>
                <a:gd name="connsiteY51" fmla="*/ 0 h 37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98575" h="372598">
                  <a:moveTo>
                    <a:pt x="354289" y="164382"/>
                  </a:moveTo>
                  <a:cubicBezTo>
                    <a:pt x="354289" y="176437"/>
                    <a:pt x="344325" y="186299"/>
                    <a:pt x="332146" y="186299"/>
                  </a:cubicBezTo>
                  <a:cubicBezTo>
                    <a:pt x="319968" y="186299"/>
                    <a:pt x="310003" y="176437"/>
                    <a:pt x="310003" y="164382"/>
                  </a:cubicBezTo>
                  <a:lnTo>
                    <a:pt x="310003" y="142464"/>
                  </a:lnTo>
                  <a:lnTo>
                    <a:pt x="298932" y="32876"/>
                  </a:lnTo>
                  <a:lnTo>
                    <a:pt x="343218" y="32876"/>
                  </a:lnTo>
                  <a:lnTo>
                    <a:pt x="354289" y="142464"/>
                  </a:lnTo>
                  <a:lnTo>
                    <a:pt x="354289" y="164382"/>
                  </a:lnTo>
                  <a:close/>
                  <a:moveTo>
                    <a:pt x="265717" y="164382"/>
                  </a:moveTo>
                  <a:cubicBezTo>
                    <a:pt x="265717" y="176437"/>
                    <a:pt x="255753" y="186299"/>
                    <a:pt x="243574" y="186299"/>
                  </a:cubicBezTo>
                  <a:cubicBezTo>
                    <a:pt x="231395" y="186299"/>
                    <a:pt x="221431" y="176437"/>
                    <a:pt x="221431" y="164382"/>
                  </a:cubicBezTo>
                  <a:lnTo>
                    <a:pt x="221431" y="142464"/>
                  </a:lnTo>
                  <a:lnTo>
                    <a:pt x="215895" y="32876"/>
                  </a:lnTo>
                  <a:lnTo>
                    <a:pt x="260181" y="32876"/>
                  </a:lnTo>
                  <a:lnTo>
                    <a:pt x="265717" y="142464"/>
                  </a:lnTo>
                  <a:lnTo>
                    <a:pt x="265717" y="164382"/>
                  </a:lnTo>
                  <a:close/>
                  <a:moveTo>
                    <a:pt x="177145" y="142464"/>
                  </a:moveTo>
                  <a:lnTo>
                    <a:pt x="177145" y="164382"/>
                  </a:lnTo>
                  <a:cubicBezTo>
                    <a:pt x="177145" y="176437"/>
                    <a:pt x="167180" y="186299"/>
                    <a:pt x="155002" y="186299"/>
                  </a:cubicBezTo>
                  <a:cubicBezTo>
                    <a:pt x="142823" y="186299"/>
                    <a:pt x="132859" y="176437"/>
                    <a:pt x="132859" y="164382"/>
                  </a:cubicBezTo>
                  <a:lnTo>
                    <a:pt x="132859" y="142464"/>
                  </a:lnTo>
                  <a:lnTo>
                    <a:pt x="138394" y="32876"/>
                  </a:lnTo>
                  <a:lnTo>
                    <a:pt x="182680" y="32876"/>
                  </a:lnTo>
                  <a:lnTo>
                    <a:pt x="177145" y="142464"/>
                  </a:lnTo>
                  <a:close/>
                  <a:moveTo>
                    <a:pt x="155002" y="317805"/>
                  </a:moveTo>
                  <a:lnTo>
                    <a:pt x="66429" y="317805"/>
                  </a:lnTo>
                  <a:lnTo>
                    <a:pt x="66429" y="230135"/>
                  </a:lnTo>
                  <a:lnTo>
                    <a:pt x="155002" y="230135"/>
                  </a:lnTo>
                  <a:lnTo>
                    <a:pt x="155002" y="317805"/>
                  </a:lnTo>
                  <a:close/>
                  <a:moveTo>
                    <a:pt x="44286" y="164382"/>
                  </a:moveTo>
                  <a:lnTo>
                    <a:pt x="44286" y="142464"/>
                  </a:lnTo>
                  <a:lnTo>
                    <a:pt x="55358" y="32876"/>
                  </a:lnTo>
                  <a:lnTo>
                    <a:pt x="99644" y="32876"/>
                  </a:lnTo>
                  <a:lnTo>
                    <a:pt x="88572" y="142464"/>
                  </a:lnTo>
                  <a:lnTo>
                    <a:pt x="88572" y="164382"/>
                  </a:lnTo>
                  <a:cubicBezTo>
                    <a:pt x="88572" y="176437"/>
                    <a:pt x="78608" y="186299"/>
                    <a:pt x="66429" y="186299"/>
                  </a:cubicBezTo>
                  <a:cubicBezTo>
                    <a:pt x="54251" y="186299"/>
                    <a:pt x="44286" y="176437"/>
                    <a:pt x="44286" y="164382"/>
                  </a:cubicBezTo>
                  <a:close/>
                  <a:moveTo>
                    <a:pt x="376432" y="0"/>
                  </a:moveTo>
                  <a:lnTo>
                    <a:pt x="22143" y="0"/>
                  </a:lnTo>
                  <a:lnTo>
                    <a:pt x="0" y="142464"/>
                  </a:lnTo>
                  <a:lnTo>
                    <a:pt x="0" y="164382"/>
                  </a:lnTo>
                  <a:cubicBezTo>
                    <a:pt x="0" y="176437"/>
                    <a:pt x="9964" y="186299"/>
                    <a:pt x="22143" y="186299"/>
                  </a:cubicBezTo>
                  <a:lnTo>
                    <a:pt x="22143" y="372599"/>
                  </a:lnTo>
                  <a:lnTo>
                    <a:pt x="210359" y="372599"/>
                  </a:lnTo>
                  <a:lnTo>
                    <a:pt x="210359" y="230135"/>
                  </a:lnTo>
                  <a:lnTo>
                    <a:pt x="332146" y="230135"/>
                  </a:lnTo>
                  <a:lnTo>
                    <a:pt x="332146" y="372599"/>
                  </a:lnTo>
                  <a:lnTo>
                    <a:pt x="376432" y="372599"/>
                  </a:lnTo>
                  <a:lnTo>
                    <a:pt x="376432" y="186299"/>
                  </a:lnTo>
                  <a:cubicBezTo>
                    <a:pt x="388611" y="186299"/>
                    <a:pt x="398576" y="176437"/>
                    <a:pt x="398576" y="164382"/>
                  </a:cubicBezTo>
                  <a:lnTo>
                    <a:pt x="398576" y="142464"/>
                  </a:lnTo>
                  <a:lnTo>
                    <a:pt x="376432" y="0"/>
                  </a:lnTo>
                  <a:close/>
                </a:path>
              </a:pathLst>
            </a:custGeom>
            <a:solidFill>
              <a:schemeClr val="bg1"/>
            </a:solidFill>
            <a:ln w="5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Graphic 143" descr="Social network"/>
            <p:cNvSpPr/>
            <p:nvPr>
              <p:custDataLst>
                <p:tags r:id="rId14"/>
              </p:custDataLst>
            </p:nvPr>
          </p:nvSpPr>
          <p:spPr>
            <a:xfrm flipH="1">
              <a:off x="15702" y="4076"/>
              <a:ext cx="425" cy="398"/>
            </a:xfrm>
            <a:custGeom>
              <a:avLst/>
              <a:gdLst>
                <a:gd name="connsiteX0" fmla="*/ 363060 w 410405"/>
                <a:gd name="connsiteY0" fmla="*/ 200036 h 384053"/>
                <a:gd name="connsiteX1" fmla="*/ 410405 w 410405"/>
                <a:gd name="connsiteY1" fmla="*/ 153173 h 384053"/>
                <a:gd name="connsiteX2" fmla="*/ 363060 w 410405"/>
                <a:gd name="connsiteY2" fmla="*/ 106310 h 384053"/>
                <a:gd name="connsiteX3" fmla="*/ 315715 w 410405"/>
                <a:gd name="connsiteY3" fmla="*/ 153173 h 384053"/>
                <a:gd name="connsiteX4" fmla="*/ 316294 w 410405"/>
                <a:gd name="connsiteY4" fmla="*/ 160203 h 384053"/>
                <a:gd name="connsiteX5" fmla="*/ 261532 w 410405"/>
                <a:gd name="connsiteY5" fmla="*/ 182853 h 384053"/>
                <a:gd name="connsiteX6" fmla="*/ 214870 w 410405"/>
                <a:gd name="connsiteY6" fmla="*/ 150778 h 384053"/>
                <a:gd name="connsiteX7" fmla="*/ 214870 w 410405"/>
                <a:gd name="connsiteY7" fmla="*/ 92564 h 384053"/>
                <a:gd name="connsiteX8" fmla="*/ 250511 w 410405"/>
                <a:gd name="connsiteY8" fmla="*/ 36459 h 384053"/>
                <a:gd name="connsiteX9" fmla="*/ 193828 w 410405"/>
                <a:gd name="connsiteY9" fmla="*/ 1182 h 384053"/>
                <a:gd name="connsiteX10" fmla="*/ 158188 w 410405"/>
                <a:gd name="connsiteY10" fmla="*/ 57287 h 384053"/>
                <a:gd name="connsiteX11" fmla="*/ 193828 w 410405"/>
                <a:gd name="connsiteY11" fmla="*/ 92564 h 384053"/>
                <a:gd name="connsiteX12" fmla="*/ 193828 w 410405"/>
                <a:gd name="connsiteY12" fmla="*/ 150726 h 384053"/>
                <a:gd name="connsiteX13" fmla="*/ 147430 w 410405"/>
                <a:gd name="connsiteY13" fmla="*/ 182384 h 384053"/>
                <a:gd name="connsiteX14" fmla="*/ 94141 w 410405"/>
                <a:gd name="connsiteY14" fmla="*/ 160359 h 384053"/>
                <a:gd name="connsiteX15" fmla="*/ 54585 w 410405"/>
                <a:gd name="connsiteY15" fmla="*/ 106886 h 384053"/>
                <a:gd name="connsiteX16" fmla="*/ 563 w 410405"/>
                <a:gd name="connsiteY16" fmla="*/ 146039 h 384053"/>
                <a:gd name="connsiteX17" fmla="*/ 40118 w 410405"/>
                <a:gd name="connsiteY17" fmla="*/ 199512 h 384053"/>
                <a:gd name="connsiteX18" fmla="*/ 86197 w 410405"/>
                <a:gd name="connsiteY18" fmla="*/ 179989 h 384053"/>
                <a:gd name="connsiteX19" fmla="*/ 139960 w 410405"/>
                <a:gd name="connsiteY19" fmla="*/ 201754 h 384053"/>
                <a:gd name="connsiteX20" fmla="*/ 151744 w 410405"/>
                <a:gd name="connsiteY20" fmla="*/ 253824 h 384053"/>
                <a:gd name="connsiteX21" fmla="*/ 108239 w 410405"/>
                <a:gd name="connsiteY21" fmla="*/ 297302 h 384053"/>
                <a:gd name="connsiteX22" fmla="*/ 43085 w 410405"/>
                <a:gd name="connsiteY22" fmla="*/ 312575 h 384053"/>
                <a:gd name="connsiteX23" fmla="*/ 58515 w 410405"/>
                <a:gd name="connsiteY23" fmla="*/ 377065 h 384053"/>
                <a:gd name="connsiteX24" fmla="*/ 123668 w 410405"/>
                <a:gd name="connsiteY24" fmla="*/ 361793 h 384053"/>
                <a:gd name="connsiteX25" fmla="*/ 123126 w 410405"/>
                <a:gd name="connsiteY25" fmla="*/ 311726 h 384053"/>
                <a:gd name="connsiteX26" fmla="*/ 166947 w 410405"/>
                <a:gd name="connsiteY26" fmla="*/ 268352 h 384053"/>
                <a:gd name="connsiteX27" fmla="*/ 241804 w 410405"/>
                <a:gd name="connsiteY27" fmla="*/ 268352 h 384053"/>
                <a:gd name="connsiteX28" fmla="*/ 285625 w 410405"/>
                <a:gd name="connsiteY28" fmla="*/ 311674 h 384053"/>
                <a:gd name="connsiteX29" fmla="*/ 299616 w 410405"/>
                <a:gd name="connsiteY29" fmla="*/ 376484 h 384053"/>
                <a:gd name="connsiteX30" fmla="*/ 365094 w 410405"/>
                <a:gd name="connsiteY30" fmla="*/ 362636 h 384053"/>
                <a:gd name="connsiteX31" fmla="*/ 351102 w 410405"/>
                <a:gd name="connsiteY31" fmla="*/ 297825 h 384053"/>
                <a:gd name="connsiteX32" fmla="*/ 300197 w 410405"/>
                <a:gd name="connsiteY32" fmla="*/ 297459 h 384053"/>
                <a:gd name="connsiteX33" fmla="*/ 256955 w 410405"/>
                <a:gd name="connsiteY33" fmla="*/ 254085 h 384053"/>
                <a:gd name="connsiteX34" fmla="*/ 270317 w 410405"/>
                <a:gd name="connsiteY34" fmla="*/ 214928 h 384053"/>
                <a:gd name="connsiteX35" fmla="*/ 269054 w 410405"/>
                <a:gd name="connsiteY35" fmla="*/ 202275 h 384053"/>
                <a:gd name="connsiteX36" fmla="*/ 324343 w 410405"/>
                <a:gd name="connsiteY36" fmla="*/ 179885 h 384053"/>
                <a:gd name="connsiteX37" fmla="*/ 363060 w 410405"/>
                <a:gd name="connsiteY37" fmla="*/ 200036 h 384053"/>
                <a:gd name="connsiteX38" fmla="*/ 363060 w 410405"/>
                <a:gd name="connsiteY38" fmla="*/ 124483 h 384053"/>
                <a:gd name="connsiteX39" fmla="*/ 376369 w 410405"/>
                <a:gd name="connsiteY39" fmla="*/ 137656 h 384053"/>
                <a:gd name="connsiteX40" fmla="*/ 363060 w 410405"/>
                <a:gd name="connsiteY40" fmla="*/ 150830 h 384053"/>
                <a:gd name="connsiteX41" fmla="*/ 349751 w 410405"/>
                <a:gd name="connsiteY41" fmla="*/ 137656 h 384053"/>
                <a:gd name="connsiteX42" fmla="*/ 349751 w 410405"/>
                <a:gd name="connsiteY42" fmla="*/ 137604 h 384053"/>
                <a:gd name="connsiteX43" fmla="*/ 363060 w 410405"/>
                <a:gd name="connsiteY43" fmla="*/ 124483 h 384053"/>
                <a:gd name="connsiteX44" fmla="*/ 336757 w 410405"/>
                <a:gd name="connsiteY44" fmla="*/ 167180 h 384053"/>
                <a:gd name="connsiteX45" fmla="*/ 339440 w 410405"/>
                <a:gd name="connsiteY45" fmla="*/ 161973 h 384053"/>
                <a:gd name="connsiteX46" fmla="*/ 352381 w 410405"/>
                <a:gd name="connsiteY46" fmla="*/ 155725 h 384053"/>
                <a:gd name="connsiteX47" fmla="*/ 363323 w 410405"/>
                <a:gd name="connsiteY47" fmla="*/ 154111 h 384053"/>
                <a:gd name="connsiteX48" fmla="*/ 374265 w 410405"/>
                <a:gd name="connsiteY48" fmla="*/ 155725 h 384053"/>
                <a:gd name="connsiteX49" fmla="*/ 387206 w 410405"/>
                <a:gd name="connsiteY49" fmla="*/ 161973 h 384053"/>
                <a:gd name="connsiteX50" fmla="*/ 389836 w 410405"/>
                <a:gd name="connsiteY50" fmla="*/ 167180 h 384053"/>
                <a:gd name="connsiteX51" fmla="*/ 389836 w 410405"/>
                <a:gd name="connsiteY51" fmla="*/ 177177 h 384053"/>
                <a:gd name="connsiteX52" fmla="*/ 336494 w 410405"/>
                <a:gd name="connsiteY52" fmla="*/ 177177 h 384053"/>
                <a:gd name="connsiteX53" fmla="*/ 47690 w 410405"/>
                <a:gd name="connsiteY53" fmla="*/ 124483 h 384053"/>
                <a:gd name="connsiteX54" fmla="*/ 60999 w 410405"/>
                <a:gd name="connsiteY54" fmla="*/ 137656 h 384053"/>
                <a:gd name="connsiteX55" fmla="*/ 47690 w 410405"/>
                <a:gd name="connsiteY55" fmla="*/ 150830 h 384053"/>
                <a:gd name="connsiteX56" fmla="*/ 34381 w 410405"/>
                <a:gd name="connsiteY56" fmla="*/ 137656 h 384053"/>
                <a:gd name="connsiteX57" fmla="*/ 34381 w 410405"/>
                <a:gd name="connsiteY57" fmla="*/ 137604 h 384053"/>
                <a:gd name="connsiteX58" fmla="*/ 47427 w 410405"/>
                <a:gd name="connsiteY58" fmla="*/ 124483 h 384053"/>
                <a:gd name="connsiteX59" fmla="*/ 73993 w 410405"/>
                <a:gd name="connsiteY59" fmla="*/ 177230 h 384053"/>
                <a:gd name="connsiteX60" fmla="*/ 20861 w 410405"/>
                <a:gd name="connsiteY60" fmla="*/ 177230 h 384053"/>
                <a:gd name="connsiteX61" fmla="*/ 20861 w 410405"/>
                <a:gd name="connsiteY61" fmla="*/ 167180 h 384053"/>
                <a:gd name="connsiteX62" fmla="*/ 23544 w 410405"/>
                <a:gd name="connsiteY62" fmla="*/ 161973 h 384053"/>
                <a:gd name="connsiteX63" fmla="*/ 36485 w 410405"/>
                <a:gd name="connsiteY63" fmla="*/ 155725 h 384053"/>
                <a:gd name="connsiteX64" fmla="*/ 47427 w 410405"/>
                <a:gd name="connsiteY64" fmla="*/ 154111 h 384053"/>
                <a:gd name="connsiteX65" fmla="*/ 58369 w 410405"/>
                <a:gd name="connsiteY65" fmla="*/ 155725 h 384053"/>
                <a:gd name="connsiteX66" fmla="*/ 71310 w 410405"/>
                <a:gd name="connsiteY66" fmla="*/ 161973 h 384053"/>
                <a:gd name="connsiteX67" fmla="*/ 73940 w 410405"/>
                <a:gd name="connsiteY67" fmla="*/ 167180 h 384053"/>
                <a:gd name="connsiteX68" fmla="*/ 83357 w 410405"/>
                <a:gd name="connsiteY68" fmla="*/ 308497 h 384053"/>
                <a:gd name="connsiteX69" fmla="*/ 96613 w 410405"/>
                <a:gd name="connsiteY69" fmla="*/ 321619 h 384053"/>
                <a:gd name="connsiteX70" fmla="*/ 83357 w 410405"/>
                <a:gd name="connsiteY70" fmla="*/ 334741 h 384053"/>
                <a:gd name="connsiteX71" fmla="*/ 70100 w 410405"/>
                <a:gd name="connsiteY71" fmla="*/ 321619 h 384053"/>
                <a:gd name="connsiteX72" fmla="*/ 83357 w 410405"/>
                <a:gd name="connsiteY72" fmla="*/ 308497 h 384053"/>
                <a:gd name="connsiteX73" fmla="*/ 109659 w 410405"/>
                <a:gd name="connsiteY73" fmla="*/ 361192 h 384053"/>
                <a:gd name="connsiteX74" fmla="*/ 57054 w 410405"/>
                <a:gd name="connsiteY74" fmla="*/ 361192 h 384053"/>
                <a:gd name="connsiteX75" fmla="*/ 57054 w 410405"/>
                <a:gd name="connsiteY75" fmla="*/ 351143 h 384053"/>
                <a:gd name="connsiteX76" fmla="*/ 59684 w 410405"/>
                <a:gd name="connsiteY76" fmla="*/ 345936 h 384053"/>
                <a:gd name="connsiteX77" fmla="*/ 72625 w 410405"/>
                <a:gd name="connsiteY77" fmla="*/ 339739 h 384053"/>
                <a:gd name="connsiteX78" fmla="*/ 83357 w 410405"/>
                <a:gd name="connsiteY78" fmla="*/ 338021 h 384053"/>
                <a:gd name="connsiteX79" fmla="*/ 94299 w 410405"/>
                <a:gd name="connsiteY79" fmla="*/ 339687 h 384053"/>
                <a:gd name="connsiteX80" fmla="*/ 107240 w 410405"/>
                <a:gd name="connsiteY80" fmla="*/ 345884 h 384053"/>
                <a:gd name="connsiteX81" fmla="*/ 109870 w 410405"/>
                <a:gd name="connsiteY81" fmla="*/ 351091 h 384053"/>
                <a:gd name="connsiteX82" fmla="*/ 204349 w 410405"/>
                <a:gd name="connsiteY82" fmla="*/ 18208 h 384053"/>
                <a:gd name="connsiteX83" fmla="*/ 217606 w 410405"/>
                <a:gd name="connsiteY83" fmla="*/ 31330 h 384053"/>
                <a:gd name="connsiteX84" fmla="*/ 204349 w 410405"/>
                <a:gd name="connsiteY84" fmla="*/ 44452 h 384053"/>
                <a:gd name="connsiteX85" fmla="*/ 191093 w 410405"/>
                <a:gd name="connsiteY85" fmla="*/ 31382 h 384053"/>
                <a:gd name="connsiteX86" fmla="*/ 204297 w 410405"/>
                <a:gd name="connsiteY86" fmla="*/ 18208 h 384053"/>
                <a:gd name="connsiteX87" fmla="*/ 204349 w 410405"/>
                <a:gd name="connsiteY87" fmla="*/ 18208 h 384053"/>
                <a:gd name="connsiteX88" fmla="*/ 178047 w 410405"/>
                <a:gd name="connsiteY88" fmla="*/ 70903 h 384053"/>
                <a:gd name="connsiteX89" fmla="*/ 178047 w 410405"/>
                <a:gd name="connsiteY89" fmla="*/ 60854 h 384053"/>
                <a:gd name="connsiteX90" fmla="*/ 180677 w 410405"/>
                <a:gd name="connsiteY90" fmla="*/ 55647 h 384053"/>
                <a:gd name="connsiteX91" fmla="*/ 193618 w 410405"/>
                <a:gd name="connsiteY91" fmla="*/ 49450 h 384053"/>
                <a:gd name="connsiteX92" fmla="*/ 204349 w 410405"/>
                <a:gd name="connsiteY92" fmla="*/ 47732 h 384053"/>
                <a:gd name="connsiteX93" fmla="*/ 215291 w 410405"/>
                <a:gd name="connsiteY93" fmla="*/ 49398 h 384053"/>
                <a:gd name="connsiteX94" fmla="*/ 228232 w 410405"/>
                <a:gd name="connsiteY94" fmla="*/ 55594 h 384053"/>
                <a:gd name="connsiteX95" fmla="*/ 230863 w 410405"/>
                <a:gd name="connsiteY95" fmla="*/ 60801 h 384053"/>
                <a:gd name="connsiteX96" fmla="*/ 230863 w 410405"/>
                <a:gd name="connsiteY96" fmla="*/ 70851 h 384053"/>
                <a:gd name="connsiteX97" fmla="*/ 204349 w 410405"/>
                <a:gd name="connsiteY97" fmla="*/ 175043 h 384053"/>
                <a:gd name="connsiteX98" fmla="*/ 222867 w 410405"/>
                <a:gd name="connsiteY98" fmla="*/ 193267 h 384053"/>
                <a:gd name="connsiteX99" fmla="*/ 204455 w 410405"/>
                <a:gd name="connsiteY99" fmla="*/ 211596 h 384053"/>
                <a:gd name="connsiteX100" fmla="*/ 185937 w 410405"/>
                <a:gd name="connsiteY100" fmla="*/ 193371 h 384053"/>
                <a:gd name="connsiteX101" fmla="*/ 185937 w 410405"/>
                <a:gd name="connsiteY101" fmla="*/ 193319 h 384053"/>
                <a:gd name="connsiteX102" fmla="*/ 204349 w 410405"/>
                <a:gd name="connsiteY102" fmla="*/ 175043 h 384053"/>
                <a:gd name="connsiteX103" fmla="*/ 241173 w 410405"/>
                <a:gd name="connsiteY103" fmla="*/ 248305 h 384053"/>
                <a:gd name="connsiteX104" fmla="*/ 167526 w 410405"/>
                <a:gd name="connsiteY104" fmla="*/ 248305 h 384053"/>
                <a:gd name="connsiteX105" fmla="*/ 167526 w 410405"/>
                <a:gd name="connsiteY105" fmla="*/ 234454 h 384053"/>
                <a:gd name="connsiteX106" fmla="*/ 171208 w 410405"/>
                <a:gd name="connsiteY106" fmla="*/ 227164 h 384053"/>
                <a:gd name="connsiteX107" fmla="*/ 189199 w 410405"/>
                <a:gd name="connsiteY107" fmla="*/ 218469 h 384053"/>
                <a:gd name="connsiteX108" fmla="*/ 204349 w 410405"/>
                <a:gd name="connsiteY108" fmla="*/ 216126 h 384053"/>
                <a:gd name="connsiteX109" fmla="*/ 219552 w 410405"/>
                <a:gd name="connsiteY109" fmla="*/ 218365 h 384053"/>
                <a:gd name="connsiteX110" fmla="*/ 237543 w 410405"/>
                <a:gd name="connsiteY110" fmla="*/ 227060 h 384053"/>
                <a:gd name="connsiteX111" fmla="*/ 241173 w 410405"/>
                <a:gd name="connsiteY111" fmla="*/ 234454 h 384053"/>
                <a:gd name="connsiteX112" fmla="*/ 325342 w 410405"/>
                <a:gd name="connsiteY112" fmla="*/ 308497 h 384053"/>
                <a:gd name="connsiteX113" fmla="*/ 338599 w 410405"/>
                <a:gd name="connsiteY113" fmla="*/ 321619 h 384053"/>
                <a:gd name="connsiteX114" fmla="*/ 325342 w 410405"/>
                <a:gd name="connsiteY114" fmla="*/ 334741 h 384053"/>
                <a:gd name="connsiteX115" fmla="*/ 312085 w 410405"/>
                <a:gd name="connsiteY115" fmla="*/ 321619 h 384053"/>
                <a:gd name="connsiteX116" fmla="*/ 325342 w 410405"/>
                <a:gd name="connsiteY116" fmla="*/ 308497 h 384053"/>
                <a:gd name="connsiteX117" fmla="*/ 299039 w 410405"/>
                <a:gd name="connsiteY117" fmla="*/ 351143 h 384053"/>
                <a:gd name="connsiteX118" fmla="*/ 301670 w 410405"/>
                <a:gd name="connsiteY118" fmla="*/ 345936 h 384053"/>
                <a:gd name="connsiteX119" fmla="*/ 314611 w 410405"/>
                <a:gd name="connsiteY119" fmla="*/ 339739 h 384053"/>
                <a:gd name="connsiteX120" fmla="*/ 325342 w 410405"/>
                <a:gd name="connsiteY120" fmla="*/ 338021 h 384053"/>
                <a:gd name="connsiteX121" fmla="*/ 336284 w 410405"/>
                <a:gd name="connsiteY121" fmla="*/ 339687 h 384053"/>
                <a:gd name="connsiteX122" fmla="*/ 349225 w 410405"/>
                <a:gd name="connsiteY122" fmla="*/ 345884 h 384053"/>
                <a:gd name="connsiteX123" fmla="*/ 351855 w 410405"/>
                <a:gd name="connsiteY123" fmla="*/ 351091 h 384053"/>
                <a:gd name="connsiteX124" fmla="*/ 351855 w 410405"/>
                <a:gd name="connsiteY124" fmla="*/ 361140 h 384053"/>
                <a:gd name="connsiteX125" fmla="*/ 299039 w 410405"/>
                <a:gd name="connsiteY125" fmla="*/ 361140 h 384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410405" h="384053">
                  <a:moveTo>
                    <a:pt x="363060" y="200036"/>
                  </a:moveTo>
                  <a:cubicBezTo>
                    <a:pt x="389208" y="200036"/>
                    <a:pt x="410405" y="179055"/>
                    <a:pt x="410405" y="153173"/>
                  </a:cubicBezTo>
                  <a:cubicBezTo>
                    <a:pt x="410405" y="127291"/>
                    <a:pt x="389208" y="106310"/>
                    <a:pt x="363060" y="106310"/>
                  </a:cubicBezTo>
                  <a:cubicBezTo>
                    <a:pt x="336912" y="106310"/>
                    <a:pt x="315715" y="127291"/>
                    <a:pt x="315715" y="153173"/>
                  </a:cubicBezTo>
                  <a:cubicBezTo>
                    <a:pt x="315721" y="155528"/>
                    <a:pt x="315914" y="157878"/>
                    <a:pt x="316294" y="160203"/>
                  </a:cubicBezTo>
                  <a:lnTo>
                    <a:pt x="261532" y="182853"/>
                  </a:lnTo>
                  <a:cubicBezTo>
                    <a:pt x="251710" y="165699"/>
                    <a:pt x="234540" y="153896"/>
                    <a:pt x="214870" y="150778"/>
                  </a:cubicBezTo>
                  <a:lnTo>
                    <a:pt x="214870" y="92564"/>
                  </a:lnTo>
                  <a:cubicBezTo>
                    <a:pt x="240365" y="86812"/>
                    <a:pt x="256321" y="61693"/>
                    <a:pt x="250511" y="36459"/>
                  </a:cubicBezTo>
                  <a:cubicBezTo>
                    <a:pt x="244700" y="11225"/>
                    <a:pt x="219322" y="-4570"/>
                    <a:pt x="193828" y="1182"/>
                  </a:cubicBezTo>
                  <a:cubicBezTo>
                    <a:pt x="168334" y="6933"/>
                    <a:pt x="152378" y="32053"/>
                    <a:pt x="158188" y="57287"/>
                  </a:cubicBezTo>
                  <a:cubicBezTo>
                    <a:pt x="162232" y="74848"/>
                    <a:pt x="176087" y="88561"/>
                    <a:pt x="193828" y="92564"/>
                  </a:cubicBezTo>
                  <a:lnTo>
                    <a:pt x="193828" y="150726"/>
                  </a:lnTo>
                  <a:cubicBezTo>
                    <a:pt x="174343" y="153845"/>
                    <a:pt x="157307" y="165469"/>
                    <a:pt x="147430" y="182384"/>
                  </a:cubicBezTo>
                  <a:lnTo>
                    <a:pt x="94141" y="160359"/>
                  </a:lnTo>
                  <a:cubicBezTo>
                    <a:pt x="98136" y="134781"/>
                    <a:pt x="80426" y="110841"/>
                    <a:pt x="54585" y="106886"/>
                  </a:cubicBezTo>
                  <a:cubicBezTo>
                    <a:pt x="28744" y="102932"/>
                    <a:pt x="4558" y="120461"/>
                    <a:pt x="563" y="146039"/>
                  </a:cubicBezTo>
                  <a:cubicBezTo>
                    <a:pt x="-3432" y="171617"/>
                    <a:pt x="14277" y="195558"/>
                    <a:pt x="40118" y="199512"/>
                  </a:cubicBezTo>
                  <a:cubicBezTo>
                    <a:pt x="57984" y="202245"/>
                    <a:pt x="75863" y="194671"/>
                    <a:pt x="86197" y="179989"/>
                  </a:cubicBezTo>
                  <a:lnTo>
                    <a:pt x="139960" y="201754"/>
                  </a:lnTo>
                  <a:cubicBezTo>
                    <a:pt x="136148" y="219980"/>
                    <a:pt x="140440" y="238949"/>
                    <a:pt x="151744" y="253824"/>
                  </a:cubicBezTo>
                  <a:lnTo>
                    <a:pt x="108239" y="297302"/>
                  </a:lnTo>
                  <a:cubicBezTo>
                    <a:pt x="85986" y="283711"/>
                    <a:pt x="56816" y="290549"/>
                    <a:pt x="43085" y="312575"/>
                  </a:cubicBezTo>
                  <a:cubicBezTo>
                    <a:pt x="29354" y="334601"/>
                    <a:pt x="36262" y="363474"/>
                    <a:pt x="58515" y="377065"/>
                  </a:cubicBezTo>
                  <a:cubicBezTo>
                    <a:pt x="80767" y="390656"/>
                    <a:pt x="109937" y="383819"/>
                    <a:pt x="123668" y="361793"/>
                  </a:cubicBezTo>
                  <a:cubicBezTo>
                    <a:pt x="133265" y="346399"/>
                    <a:pt x="133054" y="326912"/>
                    <a:pt x="123126" y="311726"/>
                  </a:cubicBezTo>
                  <a:lnTo>
                    <a:pt x="166947" y="268352"/>
                  </a:lnTo>
                  <a:cubicBezTo>
                    <a:pt x="189450" y="283827"/>
                    <a:pt x="219301" y="283827"/>
                    <a:pt x="241804" y="268352"/>
                  </a:cubicBezTo>
                  <a:lnTo>
                    <a:pt x="285625" y="311674"/>
                  </a:lnTo>
                  <a:cubicBezTo>
                    <a:pt x="271407" y="333395"/>
                    <a:pt x="277671" y="362412"/>
                    <a:pt x="299616" y="376484"/>
                  </a:cubicBezTo>
                  <a:cubicBezTo>
                    <a:pt x="321561" y="390557"/>
                    <a:pt x="350876" y="384357"/>
                    <a:pt x="365094" y="362636"/>
                  </a:cubicBezTo>
                  <a:cubicBezTo>
                    <a:pt x="379312" y="340915"/>
                    <a:pt x="373047" y="311898"/>
                    <a:pt x="351102" y="297825"/>
                  </a:cubicBezTo>
                  <a:cubicBezTo>
                    <a:pt x="335650" y="287915"/>
                    <a:pt x="315794" y="287772"/>
                    <a:pt x="300197" y="297459"/>
                  </a:cubicBezTo>
                  <a:lnTo>
                    <a:pt x="256955" y="254085"/>
                  </a:lnTo>
                  <a:cubicBezTo>
                    <a:pt x="265633" y="242840"/>
                    <a:pt x="270329" y="229079"/>
                    <a:pt x="270317" y="214928"/>
                  </a:cubicBezTo>
                  <a:cubicBezTo>
                    <a:pt x="270298" y="210681"/>
                    <a:pt x="269875" y="206444"/>
                    <a:pt x="269054" y="202275"/>
                  </a:cubicBezTo>
                  <a:lnTo>
                    <a:pt x="324343" y="179885"/>
                  </a:lnTo>
                  <a:cubicBezTo>
                    <a:pt x="333152" y="192455"/>
                    <a:pt x="347605" y="199977"/>
                    <a:pt x="363060" y="200036"/>
                  </a:cubicBezTo>
                  <a:close/>
                  <a:moveTo>
                    <a:pt x="363060" y="124483"/>
                  </a:moveTo>
                  <a:cubicBezTo>
                    <a:pt x="370411" y="124483"/>
                    <a:pt x="376369" y="130381"/>
                    <a:pt x="376369" y="137656"/>
                  </a:cubicBezTo>
                  <a:cubicBezTo>
                    <a:pt x="376369" y="144932"/>
                    <a:pt x="370410" y="150830"/>
                    <a:pt x="363060" y="150830"/>
                  </a:cubicBezTo>
                  <a:cubicBezTo>
                    <a:pt x="355710" y="150830"/>
                    <a:pt x="349751" y="144932"/>
                    <a:pt x="349751" y="137656"/>
                  </a:cubicBezTo>
                  <a:cubicBezTo>
                    <a:pt x="349751" y="137639"/>
                    <a:pt x="349751" y="137622"/>
                    <a:pt x="349751" y="137604"/>
                  </a:cubicBezTo>
                  <a:cubicBezTo>
                    <a:pt x="349808" y="130361"/>
                    <a:pt x="355742" y="124511"/>
                    <a:pt x="363060" y="124483"/>
                  </a:cubicBezTo>
                  <a:close/>
                  <a:moveTo>
                    <a:pt x="336757" y="167180"/>
                  </a:moveTo>
                  <a:cubicBezTo>
                    <a:pt x="336810" y="165132"/>
                    <a:pt x="337796" y="163218"/>
                    <a:pt x="339440" y="161973"/>
                  </a:cubicBezTo>
                  <a:cubicBezTo>
                    <a:pt x="343374" y="159194"/>
                    <a:pt x="347747" y="157083"/>
                    <a:pt x="352381" y="155725"/>
                  </a:cubicBezTo>
                  <a:cubicBezTo>
                    <a:pt x="355938" y="154702"/>
                    <a:pt x="359619" y="154158"/>
                    <a:pt x="363323" y="154111"/>
                  </a:cubicBezTo>
                  <a:cubicBezTo>
                    <a:pt x="367031" y="154116"/>
                    <a:pt x="370718" y="154659"/>
                    <a:pt x="374265" y="155725"/>
                  </a:cubicBezTo>
                  <a:cubicBezTo>
                    <a:pt x="378950" y="156951"/>
                    <a:pt x="383346" y="159073"/>
                    <a:pt x="387206" y="161973"/>
                  </a:cubicBezTo>
                  <a:cubicBezTo>
                    <a:pt x="388819" y="163237"/>
                    <a:pt x="389782" y="165145"/>
                    <a:pt x="389836" y="167180"/>
                  </a:cubicBezTo>
                  <a:lnTo>
                    <a:pt x="389836" y="177177"/>
                  </a:lnTo>
                  <a:lnTo>
                    <a:pt x="336494" y="177177"/>
                  </a:lnTo>
                  <a:close/>
                  <a:moveTo>
                    <a:pt x="47690" y="124483"/>
                  </a:moveTo>
                  <a:cubicBezTo>
                    <a:pt x="55041" y="124483"/>
                    <a:pt x="60999" y="130381"/>
                    <a:pt x="60999" y="137656"/>
                  </a:cubicBezTo>
                  <a:cubicBezTo>
                    <a:pt x="60999" y="144932"/>
                    <a:pt x="55040" y="150830"/>
                    <a:pt x="47690" y="150830"/>
                  </a:cubicBezTo>
                  <a:cubicBezTo>
                    <a:pt x="40340" y="150830"/>
                    <a:pt x="34381" y="144932"/>
                    <a:pt x="34381" y="137656"/>
                  </a:cubicBezTo>
                  <a:cubicBezTo>
                    <a:pt x="34381" y="137639"/>
                    <a:pt x="34381" y="137622"/>
                    <a:pt x="34381" y="137604"/>
                  </a:cubicBezTo>
                  <a:cubicBezTo>
                    <a:pt x="34436" y="130461"/>
                    <a:pt x="40212" y="124652"/>
                    <a:pt x="47427" y="124483"/>
                  </a:cubicBezTo>
                  <a:close/>
                  <a:moveTo>
                    <a:pt x="73993" y="177230"/>
                  </a:moveTo>
                  <a:lnTo>
                    <a:pt x="20861" y="177230"/>
                  </a:lnTo>
                  <a:lnTo>
                    <a:pt x="20861" y="167180"/>
                  </a:lnTo>
                  <a:cubicBezTo>
                    <a:pt x="20913" y="165132"/>
                    <a:pt x="21900" y="163218"/>
                    <a:pt x="23544" y="161973"/>
                  </a:cubicBezTo>
                  <a:cubicBezTo>
                    <a:pt x="27478" y="159194"/>
                    <a:pt x="31851" y="157083"/>
                    <a:pt x="36485" y="155725"/>
                  </a:cubicBezTo>
                  <a:cubicBezTo>
                    <a:pt x="40042" y="154702"/>
                    <a:pt x="43723" y="154158"/>
                    <a:pt x="47427" y="154111"/>
                  </a:cubicBezTo>
                  <a:cubicBezTo>
                    <a:pt x="51135" y="154116"/>
                    <a:pt x="54821" y="154659"/>
                    <a:pt x="58369" y="155725"/>
                  </a:cubicBezTo>
                  <a:cubicBezTo>
                    <a:pt x="63054" y="156951"/>
                    <a:pt x="67450" y="159073"/>
                    <a:pt x="71310" y="161973"/>
                  </a:cubicBezTo>
                  <a:cubicBezTo>
                    <a:pt x="72923" y="163237"/>
                    <a:pt x="73886" y="165145"/>
                    <a:pt x="73940" y="167180"/>
                  </a:cubicBezTo>
                  <a:close/>
                  <a:moveTo>
                    <a:pt x="83357" y="308497"/>
                  </a:moveTo>
                  <a:cubicBezTo>
                    <a:pt x="90678" y="308497"/>
                    <a:pt x="96613" y="314372"/>
                    <a:pt x="96613" y="321619"/>
                  </a:cubicBezTo>
                  <a:cubicBezTo>
                    <a:pt x="96613" y="328866"/>
                    <a:pt x="90678" y="334741"/>
                    <a:pt x="83357" y="334741"/>
                  </a:cubicBezTo>
                  <a:cubicBezTo>
                    <a:pt x="76035" y="334741"/>
                    <a:pt x="70100" y="328866"/>
                    <a:pt x="70100" y="321619"/>
                  </a:cubicBezTo>
                  <a:cubicBezTo>
                    <a:pt x="70100" y="314372"/>
                    <a:pt x="76035" y="308497"/>
                    <a:pt x="83357" y="308497"/>
                  </a:cubicBezTo>
                  <a:close/>
                  <a:moveTo>
                    <a:pt x="109659" y="361192"/>
                  </a:moveTo>
                  <a:lnTo>
                    <a:pt x="57054" y="361192"/>
                  </a:lnTo>
                  <a:lnTo>
                    <a:pt x="57054" y="351143"/>
                  </a:lnTo>
                  <a:cubicBezTo>
                    <a:pt x="57101" y="349105"/>
                    <a:pt x="58066" y="347195"/>
                    <a:pt x="59684" y="345936"/>
                  </a:cubicBezTo>
                  <a:cubicBezTo>
                    <a:pt x="63614" y="343163"/>
                    <a:pt x="67990" y="341068"/>
                    <a:pt x="72625" y="339739"/>
                  </a:cubicBezTo>
                  <a:cubicBezTo>
                    <a:pt x="76111" y="338704"/>
                    <a:pt x="79719" y="338126"/>
                    <a:pt x="83357" y="338021"/>
                  </a:cubicBezTo>
                  <a:cubicBezTo>
                    <a:pt x="87067" y="338038"/>
                    <a:pt x="90755" y="338600"/>
                    <a:pt x="94299" y="339687"/>
                  </a:cubicBezTo>
                  <a:cubicBezTo>
                    <a:pt x="98982" y="340891"/>
                    <a:pt x="103379" y="342997"/>
                    <a:pt x="107240" y="345884"/>
                  </a:cubicBezTo>
                  <a:cubicBezTo>
                    <a:pt x="108858" y="347143"/>
                    <a:pt x="109823" y="349053"/>
                    <a:pt x="109870" y="351091"/>
                  </a:cubicBezTo>
                  <a:close/>
                  <a:moveTo>
                    <a:pt x="204349" y="18208"/>
                  </a:moveTo>
                  <a:cubicBezTo>
                    <a:pt x="211671" y="18208"/>
                    <a:pt x="217606" y="24083"/>
                    <a:pt x="217606" y="31330"/>
                  </a:cubicBezTo>
                  <a:cubicBezTo>
                    <a:pt x="217606" y="38577"/>
                    <a:pt x="211670" y="44452"/>
                    <a:pt x="204349" y="44452"/>
                  </a:cubicBezTo>
                  <a:cubicBezTo>
                    <a:pt x="197048" y="44452"/>
                    <a:pt x="191122" y="38608"/>
                    <a:pt x="191093" y="31382"/>
                  </a:cubicBezTo>
                  <a:cubicBezTo>
                    <a:pt x="191064" y="24135"/>
                    <a:pt x="196975" y="18237"/>
                    <a:pt x="204297" y="18208"/>
                  </a:cubicBezTo>
                  <a:cubicBezTo>
                    <a:pt x="204314" y="18208"/>
                    <a:pt x="204332" y="18208"/>
                    <a:pt x="204349" y="18208"/>
                  </a:cubicBezTo>
                  <a:close/>
                  <a:moveTo>
                    <a:pt x="178047" y="70903"/>
                  </a:moveTo>
                  <a:lnTo>
                    <a:pt x="178047" y="60854"/>
                  </a:lnTo>
                  <a:cubicBezTo>
                    <a:pt x="178093" y="58816"/>
                    <a:pt x="179058" y="56906"/>
                    <a:pt x="180677" y="55647"/>
                  </a:cubicBezTo>
                  <a:cubicBezTo>
                    <a:pt x="184607" y="52874"/>
                    <a:pt x="188982" y="50779"/>
                    <a:pt x="193618" y="49450"/>
                  </a:cubicBezTo>
                  <a:cubicBezTo>
                    <a:pt x="197103" y="48415"/>
                    <a:pt x="200712" y="47837"/>
                    <a:pt x="204349" y="47732"/>
                  </a:cubicBezTo>
                  <a:cubicBezTo>
                    <a:pt x="208060" y="47749"/>
                    <a:pt x="211747" y="48311"/>
                    <a:pt x="215291" y="49398"/>
                  </a:cubicBezTo>
                  <a:cubicBezTo>
                    <a:pt x="219974" y="50602"/>
                    <a:pt x="224372" y="52708"/>
                    <a:pt x="228232" y="55594"/>
                  </a:cubicBezTo>
                  <a:cubicBezTo>
                    <a:pt x="229851" y="56854"/>
                    <a:pt x="230816" y="58764"/>
                    <a:pt x="230863" y="60801"/>
                  </a:cubicBezTo>
                  <a:lnTo>
                    <a:pt x="230863" y="70851"/>
                  </a:lnTo>
                  <a:close/>
                  <a:moveTo>
                    <a:pt x="204349" y="175043"/>
                  </a:moveTo>
                  <a:cubicBezTo>
                    <a:pt x="214547" y="175014"/>
                    <a:pt x="222838" y="183173"/>
                    <a:pt x="222867" y="193267"/>
                  </a:cubicBezTo>
                  <a:cubicBezTo>
                    <a:pt x="222895" y="203361"/>
                    <a:pt x="214652" y="211566"/>
                    <a:pt x="204455" y="211596"/>
                  </a:cubicBezTo>
                  <a:cubicBezTo>
                    <a:pt x="194257" y="211624"/>
                    <a:pt x="185966" y="203465"/>
                    <a:pt x="185937" y="193371"/>
                  </a:cubicBezTo>
                  <a:cubicBezTo>
                    <a:pt x="185937" y="193354"/>
                    <a:pt x="185937" y="193336"/>
                    <a:pt x="185937" y="193319"/>
                  </a:cubicBezTo>
                  <a:cubicBezTo>
                    <a:pt x="185937" y="183246"/>
                    <a:pt x="194172" y="175071"/>
                    <a:pt x="204349" y="175043"/>
                  </a:cubicBezTo>
                  <a:close/>
                  <a:moveTo>
                    <a:pt x="241173" y="248305"/>
                  </a:moveTo>
                  <a:lnTo>
                    <a:pt x="167526" y="248305"/>
                  </a:lnTo>
                  <a:lnTo>
                    <a:pt x="167526" y="234454"/>
                  </a:lnTo>
                  <a:cubicBezTo>
                    <a:pt x="167595" y="231603"/>
                    <a:pt x="168945" y="228931"/>
                    <a:pt x="171208" y="227164"/>
                  </a:cubicBezTo>
                  <a:cubicBezTo>
                    <a:pt x="176667" y="223283"/>
                    <a:pt x="182750" y="220343"/>
                    <a:pt x="189199" y="218469"/>
                  </a:cubicBezTo>
                  <a:cubicBezTo>
                    <a:pt x="194123" y="217033"/>
                    <a:pt x="199217" y="216245"/>
                    <a:pt x="204349" y="216126"/>
                  </a:cubicBezTo>
                  <a:cubicBezTo>
                    <a:pt x="209499" y="216141"/>
                    <a:pt x="214621" y="216895"/>
                    <a:pt x="219552" y="218365"/>
                  </a:cubicBezTo>
                  <a:cubicBezTo>
                    <a:pt x="226077" y="220042"/>
                    <a:pt x="232195" y="222999"/>
                    <a:pt x="237543" y="227060"/>
                  </a:cubicBezTo>
                  <a:cubicBezTo>
                    <a:pt x="239814" y="228860"/>
                    <a:pt x="241147" y="231575"/>
                    <a:pt x="241173" y="234454"/>
                  </a:cubicBezTo>
                  <a:close/>
                  <a:moveTo>
                    <a:pt x="325342" y="308497"/>
                  </a:moveTo>
                  <a:cubicBezTo>
                    <a:pt x="332664" y="308497"/>
                    <a:pt x="338599" y="314372"/>
                    <a:pt x="338599" y="321619"/>
                  </a:cubicBezTo>
                  <a:cubicBezTo>
                    <a:pt x="338599" y="328866"/>
                    <a:pt x="332664" y="334741"/>
                    <a:pt x="325342" y="334741"/>
                  </a:cubicBezTo>
                  <a:cubicBezTo>
                    <a:pt x="318020" y="334741"/>
                    <a:pt x="312085" y="328866"/>
                    <a:pt x="312085" y="321619"/>
                  </a:cubicBezTo>
                  <a:cubicBezTo>
                    <a:pt x="312085" y="314372"/>
                    <a:pt x="318020" y="308497"/>
                    <a:pt x="325342" y="308497"/>
                  </a:cubicBezTo>
                  <a:close/>
                  <a:moveTo>
                    <a:pt x="299039" y="351143"/>
                  </a:moveTo>
                  <a:cubicBezTo>
                    <a:pt x="299086" y="349105"/>
                    <a:pt x="300051" y="347195"/>
                    <a:pt x="301670" y="345936"/>
                  </a:cubicBezTo>
                  <a:cubicBezTo>
                    <a:pt x="305600" y="343163"/>
                    <a:pt x="309975" y="341068"/>
                    <a:pt x="314611" y="339739"/>
                  </a:cubicBezTo>
                  <a:cubicBezTo>
                    <a:pt x="318096" y="338704"/>
                    <a:pt x="321704" y="338126"/>
                    <a:pt x="325342" y="338021"/>
                  </a:cubicBezTo>
                  <a:cubicBezTo>
                    <a:pt x="329052" y="338038"/>
                    <a:pt x="332740" y="338600"/>
                    <a:pt x="336284" y="339687"/>
                  </a:cubicBezTo>
                  <a:cubicBezTo>
                    <a:pt x="340967" y="340891"/>
                    <a:pt x="345364" y="342997"/>
                    <a:pt x="349225" y="345884"/>
                  </a:cubicBezTo>
                  <a:cubicBezTo>
                    <a:pt x="350844" y="347143"/>
                    <a:pt x="351808" y="349053"/>
                    <a:pt x="351855" y="351091"/>
                  </a:cubicBezTo>
                  <a:lnTo>
                    <a:pt x="351855" y="361140"/>
                  </a:lnTo>
                  <a:lnTo>
                    <a:pt x="299039" y="361140"/>
                  </a:lnTo>
                  <a:close/>
                </a:path>
              </a:pathLst>
            </a:custGeom>
            <a:solidFill>
              <a:schemeClr val="bg1"/>
            </a:solidFill>
            <a:ln w="5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8" name="矩形 107"/>
            <p:cNvSpPr/>
            <p:nvPr>
              <p:custDataLst>
                <p:tags r:id="rId15"/>
              </p:custDataLst>
            </p:nvPr>
          </p:nvSpPr>
          <p:spPr>
            <a:xfrm>
              <a:off x="14713" y="4573"/>
              <a:ext cx="4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门店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9" name="矩形 107"/>
            <p:cNvSpPr/>
            <p:nvPr>
              <p:custDataLst>
                <p:tags r:id="rId16"/>
              </p:custDataLst>
            </p:nvPr>
          </p:nvSpPr>
          <p:spPr>
            <a:xfrm>
              <a:off x="15491" y="4573"/>
              <a:ext cx="8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社交电商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0" name="矩形 107"/>
            <p:cNvSpPr/>
            <p:nvPr>
              <p:custDataLst>
                <p:tags r:id="rId17"/>
              </p:custDataLst>
            </p:nvPr>
          </p:nvSpPr>
          <p:spPr>
            <a:xfrm>
              <a:off x="17443" y="4573"/>
              <a:ext cx="808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电商平台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1" name="矩形 107"/>
            <p:cNvSpPr/>
            <p:nvPr>
              <p:custDataLst>
                <p:tags r:id="rId18"/>
              </p:custDataLst>
            </p:nvPr>
          </p:nvSpPr>
          <p:spPr>
            <a:xfrm>
              <a:off x="16569" y="4573"/>
              <a:ext cx="600" cy="24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微商城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236" name="图形 235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7645" y="4076"/>
              <a:ext cx="398" cy="398"/>
            </a:xfrm>
            <a:prstGeom prst="rect">
              <a:avLst/>
            </a:prstGeom>
          </p:spPr>
        </p:pic>
        <p:pic>
          <p:nvPicPr>
            <p:cNvPr id="238" name="图形 23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6663" y="4076"/>
              <a:ext cx="417" cy="417"/>
            </a:xfrm>
            <a:prstGeom prst="rect">
              <a:avLst/>
            </a:prstGeom>
          </p:spPr>
        </p:pic>
      </p:grpSp>
      <p:grpSp>
        <p:nvGrpSpPr>
          <p:cNvPr id="436" name="组合 435"/>
          <p:cNvGrpSpPr/>
          <p:nvPr/>
        </p:nvGrpSpPr>
        <p:grpSpPr>
          <a:xfrm>
            <a:off x="9459595" y="2920365"/>
            <a:ext cx="1884680" cy="379730"/>
            <a:chOff x="14892" y="4835"/>
            <a:chExt cx="2968" cy="598"/>
          </a:xfrm>
        </p:grpSpPr>
        <p:sp>
          <p:nvSpPr>
            <p:cNvPr id="44" name="Rectangle: Rounded Corners 140"/>
            <p:cNvSpPr/>
            <p:nvPr>
              <p:custDataLst>
                <p:tags r:id="rId25"/>
              </p:custDataLst>
            </p:nvPr>
          </p:nvSpPr>
          <p:spPr>
            <a:xfrm>
              <a:off x="14901" y="4835"/>
              <a:ext cx="2959" cy="59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6" name="TextBox 138"/>
            <p:cNvSpPr txBox="1"/>
            <p:nvPr>
              <p:custDataLst>
                <p:tags r:id="rId26"/>
              </p:custDataLst>
            </p:nvPr>
          </p:nvSpPr>
          <p:spPr>
            <a:xfrm>
              <a:off x="14892" y="4849"/>
              <a:ext cx="2968" cy="584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5022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5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新客转化</a:t>
              </a:r>
              <a:endPara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46" name="圆角矩形 98"/>
          <p:cNvSpPr/>
          <p:nvPr>
            <p:custDataLst>
              <p:tags r:id="rId27"/>
            </p:custDataLst>
          </p:nvPr>
        </p:nvSpPr>
        <p:spPr>
          <a:xfrm>
            <a:off x="9497060" y="3402965"/>
            <a:ext cx="772160" cy="15049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>
            <p:custDataLst>
              <p:tags r:id="rId28"/>
            </p:custDataLst>
          </p:nvPr>
        </p:nvSpPr>
        <p:spPr>
          <a:xfrm>
            <a:off x="9650095" y="3423920"/>
            <a:ext cx="490855" cy="1225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小样招新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椭圆 247"/>
          <p:cNvSpPr/>
          <p:nvPr>
            <p:custDataLst>
              <p:tags r:id="rId29"/>
            </p:custDataLst>
          </p:nvPr>
        </p:nvSpPr>
        <p:spPr>
          <a:xfrm>
            <a:off x="9518650" y="3420745"/>
            <a:ext cx="114935" cy="11557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9" name="矩形 2"/>
          <p:cNvSpPr/>
          <p:nvPr>
            <p:custDataLst>
              <p:tags r:id="rId30"/>
            </p:custDataLst>
          </p:nvPr>
        </p:nvSpPr>
        <p:spPr>
          <a:xfrm rot="2700000">
            <a:off x="9563100" y="3444240"/>
            <a:ext cx="30480" cy="51435"/>
          </a:xfrm>
          <a:custGeom>
            <a:avLst/>
            <a:gdLst>
              <a:gd name="connsiteX0" fmla="*/ 0 w 415436"/>
              <a:gd name="connsiteY0" fmla="*/ 0 h 415436"/>
              <a:gd name="connsiteX1" fmla="*/ 415436 w 415436"/>
              <a:gd name="connsiteY1" fmla="*/ 0 h 415436"/>
              <a:gd name="connsiteX2" fmla="*/ 415436 w 415436"/>
              <a:gd name="connsiteY2" fmla="*/ 415436 h 415436"/>
              <a:gd name="connsiteX3" fmla="*/ 0 w 415436"/>
              <a:gd name="connsiteY3" fmla="*/ 415436 h 415436"/>
              <a:gd name="connsiteX4" fmla="*/ 0 w 415436"/>
              <a:gd name="connsiteY4" fmla="*/ 0 h 415436"/>
              <a:gd name="connsiteX0-1" fmla="*/ 0 w 415436"/>
              <a:gd name="connsiteY0-2" fmla="*/ 415436 h 415436"/>
              <a:gd name="connsiteX1-3" fmla="*/ 415436 w 415436"/>
              <a:gd name="connsiteY1-4" fmla="*/ 0 h 415436"/>
              <a:gd name="connsiteX2-5" fmla="*/ 415436 w 415436"/>
              <a:gd name="connsiteY2-6" fmla="*/ 415436 h 415436"/>
              <a:gd name="connsiteX3-7" fmla="*/ 0 w 415436"/>
              <a:gd name="connsiteY3-8" fmla="*/ 415436 h 415436"/>
              <a:gd name="connsiteX0-9" fmla="*/ 0 w 218174"/>
              <a:gd name="connsiteY0-10" fmla="*/ 415436 h 415436"/>
              <a:gd name="connsiteX1-11" fmla="*/ 218174 w 218174"/>
              <a:gd name="connsiteY1-12" fmla="*/ 0 h 415436"/>
              <a:gd name="connsiteX2-13" fmla="*/ 218174 w 218174"/>
              <a:gd name="connsiteY2-14" fmla="*/ 415436 h 415436"/>
              <a:gd name="connsiteX3-15" fmla="*/ 0 w 218174"/>
              <a:gd name="connsiteY3-16" fmla="*/ 415436 h 415436"/>
              <a:gd name="connsiteX0-17" fmla="*/ 0 w 218174"/>
              <a:gd name="connsiteY0-18" fmla="*/ 415436 h 415436"/>
              <a:gd name="connsiteX1-19" fmla="*/ 118424 w 218174"/>
              <a:gd name="connsiteY1-20" fmla="*/ 208567 h 415436"/>
              <a:gd name="connsiteX2-21" fmla="*/ 218174 w 218174"/>
              <a:gd name="connsiteY2-22" fmla="*/ 0 h 415436"/>
              <a:gd name="connsiteX3-23" fmla="*/ 218174 w 218174"/>
              <a:gd name="connsiteY3-24" fmla="*/ 415436 h 415436"/>
              <a:gd name="connsiteX4-25" fmla="*/ 0 w 218174"/>
              <a:gd name="connsiteY4-26" fmla="*/ 415436 h 415436"/>
              <a:gd name="connsiteX0-27" fmla="*/ 27697 w 245871"/>
              <a:gd name="connsiteY0-28" fmla="*/ 415436 h 415436"/>
              <a:gd name="connsiteX1-29" fmla="*/ 0 w 245871"/>
              <a:gd name="connsiteY1-30" fmla="*/ 120895 h 415436"/>
              <a:gd name="connsiteX2-31" fmla="*/ 245871 w 245871"/>
              <a:gd name="connsiteY2-32" fmla="*/ 0 h 415436"/>
              <a:gd name="connsiteX3-33" fmla="*/ 245871 w 245871"/>
              <a:gd name="connsiteY3-34" fmla="*/ 415436 h 415436"/>
              <a:gd name="connsiteX4-35" fmla="*/ 27697 w 245871"/>
              <a:gd name="connsiteY4-36" fmla="*/ 415436 h 415436"/>
              <a:gd name="connsiteX0-37" fmla="*/ 0 w 245871"/>
              <a:gd name="connsiteY0-38" fmla="*/ 120895 h 415436"/>
              <a:gd name="connsiteX1-39" fmla="*/ 245871 w 245871"/>
              <a:gd name="connsiteY1-40" fmla="*/ 0 h 415436"/>
              <a:gd name="connsiteX2-41" fmla="*/ 245871 w 245871"/>
              <a:gd name="connsiteY2-42" fmla="*/ 415436 h 415436"/>
              <a:gd name="connsiteX3-43" fmla="*/ 27697 w 245871"/>
              <a:gd name="connsiteY3-44" fmla="*/ 415436 h 415436"/>
              <a:gd name="connsiteX4-45" fmla="*/ 91440 w 245871"/>
              <a:gd name="connsiteY4-46" fmla="*/ 212335 h 415436"/>
              <a:gd name="connsiteX0-47" fmla="*/ 0 w 245871"/>
              <a:gd name="connsiteY0-48" fmla="*/ 120895 h 415436"/>
              <a:gd name="connsiteX1-49" fmla="*/ 245871 w 245871"/>
              <a:gd name="connsiteY1-50" fmla="*/ 0 h 415436"/>
              <a:gd name="connsiteX2-51" fmla="*/ 245871 w 245871"/>
              <a:gd name="connsiteY2-52" fmla="*/ 415436 h 415436"/>
              <a:gd name="connsiteX3-53" fmla="*/ 27697 w 245871"/>
              <a:gd name="connsiteY3-54" fmla="*/ 415436 h 415436"/>
              <a:gd name="connsiteX0-55" fmla="*/ 218174 w 218174"/>
              <a:gd name="connsiteY0-56" fmla="*/ 0 h 415436"/>
              <a:gd name="connsiteX1-57" fmla="*/ 218174 w 218174"/>
              <a:gd name="connsiteY1-58" fmla="*/ 415436 h 415436"/>
              <a:gd name="connsiteX2-59" fmla="*/ 0 w 218174"/>
              <a:gd name="connsiteY2-60" fmla="*/ 415436 h 4154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1905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" name="矩形: 圆角 6"/>
          <p:cNvSpPr/>
          <p:nvPr/>
        </p:nvSpPr>
        <p:spPr>
          <a:xfrm>
            <a:off x="1025525" y="21691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矩形: 圆角 6"/>
          <p:cNvSpPr/>
          <p:nvPr/>
        </p:nvSpPr>
        <p:spPr>
          <a:xfrm>
            <a:off x="495300" y="2169160"/>
            <a:ext cx="53086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文本框 214"/>
          <p:cNvSpPr txBox="1"/>
          <p:nvPr>
            <p:custDataLst>
              <p:tags r:id="rId31"/>
            </p:custDataLst>
          </p:nvPr>
        </p:nvSpPr>
        <p:spPr>
          <a:xfrm>
            <a:off x="1037590" y="2232025"/>
            <a:ext cx="944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门店店主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矩形: 圆角 6"/>
          <p:cNvSpPr/>
          <p:nvPr/>
        </p:nvSpPr>
        <p:spPr>
          <a:xfrm>
            <a:off x="1025525" y="44043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矩形: 圆角 6"/>
          <p:cNvSpPr/>
          <p:nvPr/>
        </p:nvSpPr>
        <p:spPr>
          <a:xfrm>
            <a:off x="495300" y="4403725"/>
            <a:ext cx="530225" cy="43751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文本框 234"/>
          <p:cNvSpPr txBox="1"/>
          <p:nvPr>
            <p:custDataLst>
              <p:tags r:id="rId32"/>
            </p:custDataLst>
          </p:nvPr>
        </p:nvSpPr>
        <p:spPr>
          <a:xfrm>
            <a:off x="1037590" y="4467225"/>
            <a:ext cx="160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数字化社交媒体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>
              <a:defRPr/>
            </a:pP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矩形: 圆角 6"/>
          <p:cNvSpPr/>
          <p:nvPr/>
        </p:nvSpPr>
        <p:spPr>
          <a:xfrm>
            <a:off x="1025525" y="27279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3" name="矩形: 圆角 6"/>
          <p:cNvSpPr/>
          <p:nvPr/>
        </p:nvSpPr>
        <p:spPr>
          <a:xfrm>
            <a:off x="495300" y="2727960"/>
            <a:ext cx="53086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文本框 243"/>
          <p:cNvSpPr txBox="1"/>
          <p:nvPr>
            <p:custDataLst>
              <p:tags r:id="rId33"/>
            </p:custDataLst>
          </p:nvPr>
        </p:nvSpPr>
        <p:spPr>
          <a:xfrm>
            <a:off x="1037590" y="2790825"/>
            <a:ext cx="14173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店员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导购员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矩形: 圆角 6"/>
          <p:cNvSpPr/>
          <p:nvPr/>
        </p:nvSpPr>
        <p:spPr>
          <a:xfrm>
            <a:off x="1025525" y="32867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1" name="矩形: 圆角 6"/>
          <p:cNvSpPr/>
          <p:nvPr/>
        </p:nvSpPr>
        <p:spPr>
          <a:xfrm>
            <a:off x="495300" y="3286760"/>
            <a:ext cx="53086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文本框 251"/>
          <p:cNvSpPr txBox="1"/>
          <p:nvPr>
            <p:custDataLst>
              <p:tags r:id="rId34"/>
            </p:custDataLst>
          </p:nvPr>
        </p:nvSpPr>
        <p:spPr>
          <a:xfrm>
            <a:off x="1037590" y="3349625"/>
            <a:ext cx="1499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sz="1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体验馆</a:t>
            </a:r>
            <a:r>
              <a:rPr lang="en-US" altLang="zh-CN" sz="1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妈妈班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2" name="矩形: 圆角 6"/>
          <p:cNvSpPr/>
          <p:nvPr/>
        </p:nvSpPr>
        <p:spPr>
          <a:xfrm>
            <a:off x="1025525" y="38455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3" name="矩形: 圆角 6"/>
          <p:cNvSpPr/>
          <p:nvPr/>
        </p:nvSpPr>
        <p:spPr>
          <a:xfrm>
            <a:off x="495300" y="3845560"/>
            <a:ext cx="53086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文本框 263"/>
          <p:cNvSpPr txBox="1"/>
          <p:nvPr>
            <p:custDataLst>
              <p:tags r:id="rId35"/>
            </p:custDataLst>
          </p:nvPr>
        </p:nvSpPr>
        <p:spPr>
          <a:xfrm>
            <a:off x="1037590" y="3908425"/>
            <a:ext cx="1626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展会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路演</a:t>
            </a:r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kumimoji="0" lang="zh-CN" altLang="en-US" sz="140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跨品类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矩形: 圆角 6"/>
          <p:cNvSpPr/>
          <p:nvPr/>
        </p:nvSpPr>
        <p:spPr>
          <a:xfrm>
            <a:off x="1025525" y="4963160"/>
            <a:ext cx="1562100" cy="436880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79" h="688">
                <a:moveTo>
                  <a:pt x="0" y="0"/>
                </a:moveTo>
                <a:lnTo>
                  <a:pt x="2664" y="0"/>
                </a:lnTo>
                <a:cubicBezTo>
                  <a:pt x="2728" y="0"/>
                  <a:pt x="2779" y="51"/>
                  <a:pt x="2779" y="115"/>
                </a:cubicBezTo>
                <a:lnTo>
                  <a:pt x="2779" y="573"/>
                </a:lnTo>
                <a:cubicBezTo>
                  <a:pt x="2779" y="637"/>
                  <a:pt x="2728" y="688"/>
                  <a:pt x="2664" y="688"/>
                </a:cubicBezTo>
                <a:lnTo>
                  <a:pt x="0" y="688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7" name="矩形: 圆角 6"/>
          <p:cNvSpPr/>
          <p:nvPr/>
        </p:nvSpPr>
        <p:spPr>
          <a:xfrm>
            <a:off x="495300" y="4962525"/>
            <a:ext cx="530225" cy="43751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35" h="688">
                <a:moveTo>
                  <a:pt x="115" y="0"/>
                </a:moveTo>
                <a:lnTo>
                  <a:pt x="835" y="0"/>
                </a:lnTo>
                <a:lnTo>
                  <a:pt x="835" y="688"/>
                </a:lnTo>
                <a:lnTo>
                  <a:pt x="115" y="688"/>
                </a:lnTo>
                <a:cubicBezTo>
                  <a:pt x="51" y="688"/>
                  <a:pt x="0" y="637"/>
                  <a:pt x="0" y="573"/>
                </a:cubicBezTo>
                <a:lnTo>
                  <a:pt x="0" y="115"/>
                </a:lnTo>
                <a:cubicBezTo>
                  <a:pt x="0" y="51"/>
                  <a:pt x="51" y="0"/>
                  <a:pt x="115" y="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rgbClr val="02328C">
              <a:shade val="15000"/>
            </a:srgbClr>
          </a:lnRef>
          <a:fillRef idx="1">
            <a:srgbClr val="02328C"/>
          </a:fillRef>
          <a:effectRef idx="0">
            <a:srgbClr val="02328C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文本框 267"/>
          <p:cNvSpPr txBox="1"/>
          <p:nvPr>
            <p:custDataLst>
              <p:tags r:id="rId36"/>
            </p:custDataLst>
          </p:nvPr>
        </p:nvSpPr>
        <p:spPr>
          <a:xfrm>
            <a:off x="1037590" y="5026025"/>
            <a:ext cx="944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14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电商平台</a:t>
            </a:r>
            <a:endParaRPr kumimoji="0" lang="zh-CN" altLang="en-US" sz="14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69" name="图片 268" descr="门店店长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2935" y="2245360"/>
            <a:ext cx="270510" cy="270510"/>
          </a:xfrm>
          <a:prstGeom prst="rect">
            <a:avLst/>
          </a:prstGeom>
        </p:spPr>
      </p:pic>
      <p:pic>
        <p:nvPicPr>
          <p:cNvPr id="270" name="图片 269" descr="店员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22935" y="2790190"/>
            <a:ext cx="307340" cy="307340"/>
          </a:xfrm>
          <a:prstGeom prst="rect">
            <a:avLst/>
          </a:prstGeom>
        </p:spPr>
      </p:pic>
      <p:pic>
        <p:nvPicPr>
          <p:cNvPr id="271" name="图片 270" descr="培训班级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22935" y="3345180"/>
            <a:ext cx="322580" cy="322580"/>
          </a:xfrm>
          <a:prstGeom prst="rect">
            <a:avLst/>
          </a:prstGeom>
        </p:spPr>
      </p:pic>
      <p:pic>
        <p:nvPicPr>
          <p:cNvPr id="272" name="图片 271" descr="在线展会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22935" y="3908425"/>
            <a:ext cx="279400" cy="279400"/>
          </a:xfrm>
          <a:prstGeom prst="rect">
            <a:avLst/>
          </a:prstGeom>
        </p:spPr>
      </p:pic>
      <p:pic>
        <p:nvPicPr>
          <p:cNvPr id="277" name="图片 276" descr="媒体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22935" y="4441825"/>
            <a:ext cx="318770" cy="318770"/>
          </a:xfrm>
          <a:prstGeom prst="rect">
            <a:avLst/>
          </a:prstGeom>
        </p:spPr>
      </p:pic>
      <p:pic>
        <p:nvPicPr>
          <p:cNvPr id="282" name="图片 281" descr="电商平台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22935" y="5060950"/>
            <a:ext cx="271780" cy="271780"/>
          </a:xfrm>
          <a:prstGeom prst="rect">
            <a:avLst/>
          </a:prstGeom>
        </p:spPr>
      </p:pic>
      <p:cxnSp>
        <p:nvCxnSpPr>
          <p:cNvPr id="408" name="直线连接符 181"/>
          <p:cNvCxnSpPr/>
          <p:nvPr>
            <p:custDataLst>
              <p:tags r:id="rId49"/>
            </p:custDataLst>
          </p:nvPr>
        </p:nvCxnSpPr>
        <p:spPr>
          <a:xfrm>
            <a:off x="8117840" y="3582670"/>
            <a:ext cx="985520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线连接符 182"/>
          <p:cNvCxnSpPr/>
          <p:nvPr>
            <p:custDataLst>
              <p:tags r:id="rId50"/>
            </p:custDataLst>
          </p:nvPr>
        </p:nvCxnSpPr>
        <p:spPr>
          <a:xfrm flipH="1">
            <a:off x="8155940" y="3703955"/>
            <a:ext cx="947420" cy="0"/>
          </a:xfrm>
          <a:prstGeom prst="line">
            <a:avLst/>
          </a:prstGeom>
          <a:ln w="34925">
            <a:gradFill>
              <a:gsLst>
                <a:gs pos="0">
                  <a:schemeClr val="accent5">
                    <a:alpha val="0"/>
                  </a:schemeClr>
                </a:gs>
                <a:gs pos="100000">
                  <a:schemeClr val="accent5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文本框 409"/>
          <p:cNvSpPr txBox="1"/>
          <p:nvPr>
            <p:custDataLst>
              <p:tags r:id="rId51"/>
            </p:custDataLst>
          </p:nvPr>
        </p:nvSpPr>
        <p:spPr>
          <a:xfrm>
            <a:off x="8381683" y="3302635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消费者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1" name="文本框 410"/>
          <p:cNvSpPr txBox="1"/>
          <p:nvPr>
            <p:custDataLst>
              <p:tags r:id="rId52"/>
            </p:custDataLst>
          </p:nvPr>
        </p:nvSpPr>
        <p:spPr>
          <a:xfrm>
            <a:off x="8381683" y="384429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endParaRPr lang="zh-CN" altLang="en-US" sz="12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38" name="组合 437"/>
          <p:cNvGrpSpPr/>
          <p:nvPr/>
        </p:nvGrpSpPr>
        <p:grpSpPr>
          <a:xfrm>
            <a:off x="10514965" y="3393440"/>
            <a:ext cx="772160" cy="150495"/>
            <a:chOff x="14583" y="5435"/>
            <a:chExt cx="1216" cy="237"/>
          </a:xfrm>
        </p:grpSpPr>
        <p:sp>
          <p:nvSpPr>
            <p:cNvPr id="439" name="圆角矩形 98"/>
            <p:cNvSpPr/>
            <p:nvPr>
              <p:custDataLst>
                <p:tags r:id="rId53"/>
              </p:custDataLst>
            </p:nvPr>
          </p:nvSpPr>
          <p:spPr>
            <a:xfrm>
              <a:off x="14583" y="5435"/>
              <a:ext cx="1216" cy="23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0" name="文本框 439"/>
            <p:cNvSpPr txBox="1"/>
            <p:nvPr>
              <p:custDataLst>
                <p:tags r:id="rId54"/>
              </p:custDataLst>
            </p:nvPr>
          </p:nvSpPr>
          <p:spPr>
            <a:xfrm>
              <a:off x="14824" y="5468"/>
              <a:ext cx="773" cy="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新客礼包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1" name="椭圆 440"/>
            <p:cNvSpPr/>
            <p:nvPr>
              <p:custDataLst>
                <p:tags r:id="rId55"/>
              </p:custDataLst>
            </p:nvPr>
          </p:nvSpPr>
          <p:spPr>
            <a:xfrm>
              <a:off x="14617" y="5463"/>
              <a:ext cx="181" cy="182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2" name="矩形 2"/>
            <p:cNvSpPr/>
            <p:nvPr>
              <p:custDataLst>
                <p:tags r:id="rId56"/>
              </p:custDataLst>
            </p:nvPr>
          </p:nvSpPr>
          <p:spPr>
            <a:xfrm rot="2700000">
              <a:off x="14687" y="5500"/>
              <a:ext cx="48" cy="81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46" name="组合 445"/>
          <p:cNvGrpSpPr/>
          <p:nvPr/>
        </p:nvGrpSpPr>
        <p:grpSpPr>
          <a:xfrm>
            <a:off x="9254490" y="4136390"/>
            <a:ext cx="690880" cy="150495"/>
            <a:chOff x="14583" y="5435"/>
            <a:chExt cx="1088" cy="237"/>
          </a:xfrm>
        </p:grpSpPr>
        <p:sp>
          <p:nvSpPr>
            <p:cNvPr id="447" name="圆角矩形 98"/>
            <p:cNvSpPr/>
            <p:nvPr>
              <p:custDataLst>
                <p:tags r:id="rId57"/>
              </p:custDataLst>
            </p:nvPr>
          </p:nvSpPr>
          <p:spPr>
            <a:xfrm>
              <a:off x="14583" y="5435"/>
              <a:ext cx="1088" cy="23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8" name="文本框 447"/>
            <p:cNvSpPr txBox="1"/>
            <p:nvPr>
              <p:custDataLst>
                <p:tags r:id="rId58"/>
              </p:custDataLst>
            </p:nvPr>
          </p:nvSpPr>
          <p:spPr>
            <a:xfrm>
              <a:off x="14824" y="5468"/>
              <a:ext cx="773" cy="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复购券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9" name="椭圆 448"/>
            <p:cNvSpPr/>
            <p:nvPr>
              <p:custDataLst>
                <p:tags r:id="rId59"/>
              </p:custDataLst>
            </p:nvPr>
          </p:nvSpPr>
          <p:spPr>
            <a:xfrm>
              <a:off x="14617" y="5463"/>
              <a:ext cx="181" cy="182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0" name="矩形 2"/>
            <p:cNvSpPr/>
            <p:nvPr>
              <p:custDataLst>
                <p:tags r:id="rId60"/>
              </p:custDataLst>
            </p:nvPr>
          </p:nvSpPr>
          <p:spPr>
            <a:xfrm rot="2700000">
              <a:off x="14687" y="5500"/>
              <a:ext cx="48" cy="81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1" name="组合 450"/>
          <p:cNvGrpSpPr/>
          <p:nvPr/>
        </p:nvGrpSpPr>
        <p:grpSpPr>
          <a:xfrm>
            <a:off x="10024745" y="4143375"/>
            <a:ext cx="772160" cy="150495"/>
            <a:chOff x="14583" y="5435"/>
            <a:chExt cx="1216" cy="237"/>
          </a:xfrm>
        </p:grpSpPr>
        <p:sp>
          <p:nvSpPr>
            <p:cNvPr id="452" name="圆角矩形 98"/>
            <p:cNvSpPr/>
            <p:nvPr>
              <p:custDataLst>
                <p:tags r:id="rId61"/>
              </p:custDataLst>
            </p:nvPr>
          </p:nvSpPr>
          <p:spPr>
            <a:xfrm>
              <a:off x="14583" y="5435"/>
              <a:ext cx="1216" cy="23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3" name="文本框 452"/>
            <p:cNvSpPr txBox="1"/>
            <p:nvPr>
              <p:custDataLst>
                <p:tags r:id="rId62"/>
              </p:custDataLst>
            </p:nvPr>
          </p:nvSpPr>
          <p:spPr>
            <a:xfrm>
              <a:off x="14824" y="5468"/>
              <a:ext cx="773" cy="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促销套餐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4" name="椭圆 453"/>
            <p:cNvSpPr/>
            <p:nvPr>
              <p:custDataLst>
                <p:tags r:id="rId63"/>
              </p:custDataLst>
            </p:nvPr>
          </p:nvSpPr>
          <p:spPr>
            <a:xfrm>
              <a:off x="14617" y="5463"/>
              <a:ext cx="181" cy="182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5" name="矩形 2"/>
            <p:cNvSpPr/>
            <p:nvPr>
              <p:custDataLst>
                <p:tags r:id="rId64"/>
              </p:custDataLst>
            </p:nvPr>
          </p:nvSpPr>
          <p:spPr>
            <a:xfrm rot="2700000">
              <a:off x="14687" y="5500"/>
              <a:ext cx="48" cy="81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56" name="组合 455"/>
          <p:cNvGrpSpPr/>
          <p:nvPr/>
        </p:nvGrpSpPr>
        <p:grpSpPr>
          <a:xfrm>
            <a:off x="10876280" y="4143375"/>
            <a:ext cx="675005" cy="150495"/>
            <a:chOff x="14583" y="5435"/>
            <a:chExt cx="1063" cy="237"/>
          </a:xfrm>
        </p:grpSpPr>
        <p:sp>
          <p:nvSpPr>
            <p:cNvPr id="457" name="圆角矩形 98"/>
            <p:cNvSpPr/>
            <p:nvPr>
              <p:custDataLst>
                <p:tags r:id="rId65"/>
              </p:custDataLst>
            </p:nvPr>
          </p:nvSpPr>
          <p:spPr>
            <a:xfrm>
              <a:off x="14583" y="5435"/>
              <a:ext cx="1063" cy="23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8" name="文本框 457"/>
            <p:cNvSpPr txBox="1"/>
            <p:nvPr>
              <p:custDataLst>
                <p:tags r:id="rId66"/>
              </p:custDataLst>
            </p:nvPr>
          </p:nvSpPr>
          <p:spPr>
            <a:xfrm>
              <a:off x="14824" y="5468"/>
              <a:ext cx="773" cy="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会员积分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9" name="椭圆 458"/>
            <p:cNvSpPr/>
            <p:nvPr>
              <p:custDataLst>
                <p:tags r:id="rId67"/>
              </p:custDataLst>
            </p:nvPr>
          </p:nvSpPr>
          <p:spPr>
            <a:xfrm>
              <a:off x="14617" y="5463"/>
              <a:ext cx="181" cy="182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0" name="矩形 2"/>
            <p:cNvSpPr/>
            <p:nvPr>
              <p:custDataLst>
                <p:tags r:id="rId68"/>
              </p:custDataLst>
            </p:nvPr>
          </p:nvSpPr>
          <p:spPr>
            <a:xfrm rot="2700000">
              <a:off x="14687" y="5500"/>
              <a:ext cx="48" cy="81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65" name="圆角矩形 98"/>
          <p:cNvSpPr/>
          <p:nvPr>
            <p:custDataLst>
              <p:tags r:id="rId69"/>
            </p:custDataLst>
          </p:nvPr>
        </p:nvSpPr>
        <p:spPr>
          <a:xfrm>
            <a:off x="9791700" y="4935855"/>
            <a:ext cx="1136015" cy="15049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6" name="文本框 465"/>
          <p:cNvSpPr txBox="1"/>
          <p:nvPr>
            <p:custDataLst>
              <p:tags r:id="rId70"/>
            </p:custDataLst>
          </p:nvPr>
        </p:nvSpPr>
        <p:spPr>
          <a:xfrm>
            <a:off x="9944735" y="4956810"/>
            <a:ext cx="982980" cy="113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MGM</a:t>
            </a:r>
            <a:r>
              <a:rPr lang="zh-CN" altLang="en-US" sz="8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老带新机制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7" name="椭圆 466"/>
          <p:cNvSpPr/>
          <p:nvPr>
            <p:custDataLst>
              <p:tags r:id="rId71"/>
            </p:custDataLst>
          </p:nvPr>
        </p:nvSpPr>
        <p:spPr>
          <a:xfrm>
            <a:off x="9813290" y="4953635"/>
            <a:ext cx="114935" cy="11557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8" name="矩形 2"/>
          <p:cNvSpPr/>
          <p:nvPr>
            <p:custDataLst>
              <p:tags r:id="rId72"/>
            </p:custDataLst>
          </p:nvPr>
        </p:nvSpPr>
        <p:spPr>
          <a:xfrm rot="2700000">
            <a:off x="9857740" y="4977130"/>
            <a:ext cx="30480" cy="51435"/>
          </a:xfrm>
          <a:custGeom>
            <a:avLst/>
            <a:gdLst>
              <a:gd name="connsiteX0" fmla="*/ 0 w 415436"/>
              <a:gd name="connsiteY0" fmla="*/ 0 h 415436"/>
              <a:gd name="connsiteX1" fmla="*/ 415436 w 415436"/>
              <a:gd name="connsiteY1" fmla="*/ 0 h 415436"/>
              <a:gd name="connsiteX2" fmla="*/ 415436 w 415436"/>
              <a:gd name="connsiteY2" fmla="*/ 415436 h 415436"/>
              <a:gd name="connsiteX3" fmla="*/ 0 w 415436"/>
              <a:gd name="connsiteY3" fmla="*/ 415436 h 415436"/>
              <a:gd name="connsiteX4" fmla="*/ 0 w 415436"/>
              <a:gd name="connsiteY4" fmla="*/ 0 h 415436"/>
              <a:gd name="connsiteX0-1" fmla="*/ 0 w 415436"/>
              <a:gd name="connsiteY0-2" fmla="*/ 415436 h 415436"/>
              <a:gd name="connsiteX1-3" fmla="*/ 415436 w 415436"/>
              <a:gd name="connsiteY1-4" fmla="*/ 0 h 415436"/>
              <a:gd name="connsiteX2-5" fmla="*/ 415436 w 415436"/>
              <a:gd name="connsiteY2-6" fmla="*/ 415436 h 415436"/>
              <a:gd name="connsiteX3-7" fmla="*/ 0 w 415436"/>
              <a:gd name="connsiteY3-8" fmla="*/ 415436 h 415436"/>
              <a:gd name="connsiteX0-9" fmla="*/ 0 w 218174"/>
              <a:gd name="connsiteY0-10" fmla="*/ 415436 h 415436"/>
              <a:gd name="connsiteX1-11" fmla="*/ 218174 w 218174"/>
              <a:gd name="connsiteY1-12" fmla="*/ 0 h 415436"/>
              <a:gd name="connsiteX2-13" fmla="*/ 218174 w 218174"/>
              <a:gd name="connsiteY2-14" fmla="*/ 415436 h 415436"/>
              <a:gd name="connsiteX3-15" fmla="*/ 0 w 218174"/>
              <a:gd name="connsiteY3-16" fmla="*/ 415436 h 415436"/>
              <a:gd name="connsiteX0-17" fmla="*/ 0 w 218174"/>
              <a:gd name="connsiteY0-18" fmla="*/ 415436 h 415436"/>
              <a:gd name="connsiteX1-19" fmla="*/ 118424 w 218174"/>
              <a:gd name="connsiteY1-20" fmla="*/ 208567 h 415436"/>
              <a:gd name="connsiteX2-21" fmla="*/ 218174 w 218174"/>
              <a:gd name="connsiteY2-22" fmla="*/ 0 h 415436"/>
              <a:gd name="connsiteX3-23" fmla="*/ 218174 w 218174"/>
              <a:gd name="connsiteY3-24" fmla="*/ 415436 h 415436"/>
              <a:gd name="connsiteX4-25" fmla="*/ 0 w 218174"/>
              <a:gd name="connsiteY4-26" fmla="*/ 415436 h 415436"/>
              <a:gd name="connsiteX0-27" fmla="*/ 27697 w 245871"/>
              <a:gd name="connsiteY0-28" fmla="*/ 415436 h 415436"/>
              <a:gd name="connsiteX1-29" fmla="*/ 0 w 245871"/>
              <a:gd name="connsiteY1-30" fmla="*/ 120895 h 415436"/>
              <a:gd name="connsiteX2-31" fmla="*/ 245871 w 245871"/>
              <a:gd name="connsiteY2-32" fmla="*/ 0 h 415436"/>
              <a:gd name="connsiteX3-33" fmla="*/ 245871 w 245871"/>
              <a:gd name="connsiteY3-34" fmla="*/ 415436 h 415436"/>
              <a:gd name="connsiteX4-35" fmla="*/ 27697 w 245871"/>
              <a:gd name="connsiteY4-36" fmla="*/ 415436 h 415436"/>
              <a:gd name="connsiteX0-37" fmla="*/ 0 w 245871"/>
              <a:gd name="connsiteY0-38" fmla="*/ 120895 h 415436"/>
              <a:gd name="connsiteX1-39" fmla="*/ 245871 w 245871"/>
              <a:gd name="connsiteY1-40" fmla="*/ 0 h 415436"/>
              <a:gd name="connsiteX2-41" fmla="*/ 245871 w 245871"/>
              <a:gd name="connsiteY2-42" fmla="*/ 415436 h 415436"/>
              <a:gd name="connsiteX3-43" fmla="*/ 27697 w 245871"/>
              <a:gd name="connsiteY3-44" fmla="*/ 415436 h 415436"/>
              <a:gd name="connsiteX4-45" fmla="*/ 91440 w 245871"/>
              <a:gd name="connsiteY4-46" fmla="*/ 212335 h 415436"/>
              <a:gd name="connsiteX0-47" fmla="*/ 0 w 245871"/>
              <a:gd name="connsiteY0-48" fmla="*/ 120895 h 415436"/>
              <a:gd name="connsiteX1-49" fmla="*/ 245871 w 245871"/>
              <a:gd name="connsiteY1-50" fmla="*/ 0 h 415436"/>
              <a:gd name="connsiteX2-51" fmla="*/ 245871 w 245871"/>
              <a:gd name="connsiteY2-52" fmla="*/ 415436 h 415436"/>
              <a:gd name="connsiteX3-53" fmla="*/ 27697 w 245871"/>
              <a:gd name="connsiteY3-54" fmla="*/ 415436 h 415436"/>
              <a:gd name="connsiteX0-55" fmla="*/ 218174 w 218174"/>
              <a:gd name="connsiteY0-56" fmla="*/ 0 h 415436"/>
              <a:gd name="connsiteX1-57" fmla="*/ 218174 w 218174"/>
              <a:gd name="connsiteY1-58" fmla="*/ 415436 h 415436"/>
              <a:gd name="connsiteX2-59" fmla="*/ 0 w 218174"/>
              <a:gd name="connsiteY2-60" fmla="*/ 415436 h 4154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19050" cap="rnd"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矩形: 圆角 103"/>
          <p:cNvSpPr/>
          <p:nvPr>
            <p:custDataLst>
              <p:tags r:id="rId73"/>
            </p:custDataLst>
          </p:nvPr>
        </p:nvSpPr>
        <p:spPr>
          <a:xfrm>
            <a:off x="374015" y="6142990"/>
            <a:ext cx="11338560" cy="45085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1" name="文本框 470"/>
          <p:cNvSpPr txBox="1"/>
          <p:nvPr>
            <p:custDataLst>
              <p:tags r:id="rId74"/>
            </p:custDataLst>
          </p:nvPr>
        </p:nvSpPr>
        <p:spPr>
          <a:xfrm>
            <a:off x="820420" y="6161088"/>
            <a:ext cx="105613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消费者大数据库（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CDP)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数据收集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打标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追踪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2" name="矩形 471"/>
          <p:cNvSpPr/>
          <p:nvPr>
            <p:custDataLst>
              <p:tags r:id="rId75"/>
            </p:custDataLst>
          </p:nvPr>
        </p:nvSpPr>
        <p:spPr>
          <a:xfrm>
            <a:off x="374650" y="5748020"/>
            <a:ext cx="11457305" cy="40195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3" name="Flowchart: Terminator 16"/>
          <p:cNvSpPr/>
          <p:nvPr>
            <p:custDataLst>
              <p:tags r:id="rId76"/>
            </p:custDataLst>
          </p:nvPr>
        </p:nvSpPr>
        <p:spPr>
          <a:xfrm>
            <a:off x="10036810" y="5838825"/>
            <a:ext cx="1619250" cy="23177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正品溯源查询体系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4" name="Flowchart: Terminator 18"/>
          <p:cNvSpPr/>
          <p:nvPr>
            <p:custDataLst>
              <p:tags r:id="rId77"/>
            </p:custDataLst>
          </p:nvPr>
        </p:nvSpPr>
        <p:spPr>
          <a:xfrm>
            <a:off x="8269605" y="5835650"/>
            <a:ext cx="1562100" cy="2470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品牌素材库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5" name="Flowchart: Terminator 19"/>
          <p:cNvSpPr/>
          <p:nvPr>
            <p:custDataLst>
              <p:tags r:id="rId78"/>
            </p:custDataLst>
          </p:nvPr>
        </p:nvSpPr>
        <p:spPr>
          <a:xfrm>
            <a:off x="3582035" y="5843270"/>
            <a:ext cx="1352550" cy="21336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会员小程序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6" name="Flowchart: Terminator 18"/>
          <p:cNvSpPr/>
          <p:nvPr>
            <p:custDataLst>
              <p:tags r:id="rId79"/>
            </p:custDataLst>
          </p:nvPr>
        </p:nvSpPr>
        <p:spPr>
          <a:xfrm>
            <a:off x="2165985" y="5841365"/>
            <a:ext cx="1210310" cy="22161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企业微信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7" name="Flowchart: Terminator 20"/>
          <p:cNvSpPr/>
          <p:nvPr>
            <p:custDataLst>
              <p:tags r:id="rId80"/>
            </p:custDataLst>
          </p:nvPr>
        </p:nvSpPr>
        <p:spPr>
          <a:xfrm>
            <a:off x="5139690" y="5838825"/>
            <a:ext cx="1156970" cy="23177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微商城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8" name="Flowchart: Terminator 21"/>
          <p:cNvSpPr/>
          <p:nvPr>
            <p:custDataLst>
              <p:tags r:id="rId81"/>
            </p:custDataLst>
          </p:nvPr>
        </p:nvSpPr>
        <p:spPr>
          <a:xfrm>
            <a:off x="542925" y="5840730"/>
            <a:ext cx="1417955" cy="225425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微信公众号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9" name="Flowchart: Terminator 20"/>
          <p:cNvSpPr/>
          <p:nvPr>
            <p:custDataLst>
              <p:tags r:id="rId82"/>
            </p:custDataLst>
          </p:nvPr>
        </p:nvSpPr>
        <p:spPr>
          <a:xfrm>
            <a:off x="6502400" y="5840730"/>
            <a:ext cx="1562100" cy="223520"/>
          </a:xfrm>
          <a:prstGeom prst="roundRect">
            <a:avLst>
              <a:gd name="adj" fmla="val 50000"/>
            </a:avLst>
          </a:prstGeom>
          <a:solidFill>
            <a:sysClr val="window" lastClr="FFFFFF"/>
          </a:solidFill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rgbClr val="64171D">
              <a:shade val="15000"/>
            </a:srgbClr>
          </a:lnRef>
          <a:fillRef idx="1">
            <a:srgbClr val="64171D"/>
          </a:fillRef>
          <a:effectRef idx="0">
            <a:srgbClr val="64171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12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微社群工具</a:t>
            </a:r>
            <a:endParaRPr 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6345" y="1677035"/>
            <a:ext cx="4371975" cy="389509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9" name="TextBox 14"/>
          <p:cNvSpPr txBox="1"/>
          <p:nvPr>
            <p:custDataLst>
              <p:tags r:id="rId83"/>
            </p:custDataLst>
          </p:nvPr>
        </p:nvSpPr>
        <p:spPr>
          <a:xfrm>
            <a:off x="4940300" y="125539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消费者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全域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运营体系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992245" y="2360930"/>
            <a:ext cx="3756025" cy="2484755"/>
            <a:chOff x="6210" y="3916"/>
            <a:chExt cx="5915" cy="3913"/>
          </a:xfrm>
        </p:grpSpPr>
        <p:sp>
          <p:nvSpPr>
            <p:cNvPr id="42" name="椭圆 99"/>
            <p:cNvSpPr/>
            <p:nvPr>
              <p:custDataLst>
                <p:tags r:id="rId84"/>
              </p:custDataLst>
            </p:nvPr>
          </p:nvSpPr>
          <p:spPr>
            <a:xfrm>
              <a:off x="8301" y="6128"/>
              <a:ext cx="1701" cy="1701"/>
            </a:xfrm>
            <a:prstGeom prst="ellipse">
              <a:avLst/>
            </a:prstGeom>
            <a:solidFill>
              <a:schemeClr val="accent5"/>
            </a:solidFill>
            <a:ln w="76200">
              <a:solidFill>
                <a:schemeClr val="accent5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43" name="Straight Connector 118"/>
            <p:cNvCxnSpPr/>
            <p:nvPr>
              <p:custDataLst>
                <p:tags r:id="rId85"/>
              </p:custDataLst>
            </p:nvPr>
          </p:nvCxnSpPr>
          <p:spPr>
            <a:xfrm>
              <a:off x="9126" y="5126"/>
              <a:ext cx="0" cy="228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119"/>
            <p:cNvCxnSpPr/>
            <p:nvPr>
              <p:custDataLst>
                <p:tags r:id="rId86"/>
              </p:custDataLst>
            </p:nvPr>
          </p:nvCxnSpPr>
          <p:spPr>
            <a:xfrm flipV="1">
              <a:off x="9452" y="4709"/>
              <a:ext cx="258" cy="49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20"/>
            <p:cNvCxnSpPr/>
            <p:nvPr>
              <p:custDataLst>
                <p:tags r:id="rId87"/>
              </p:custDataLst>
            </p:nvPr>
          </p:nvCxnSpPr>
          <p:spPr>
            <a:xfrm>
              <a:off x="8583" y="4599"/>
              <a:ext cx="219" cy="83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椭圆 106"/>
            <p:cNvSpPr/>
            <p:nvPr>
              <p:custDataLst>
                <p:tags r:id="rId88"/>
              </p:custDataLst>
            </p:nvPr>
          </p:nvSpPr>
          <p:spPr>
            <a:xfrm>
              <a:off x="8791" y="4489"/>
              <a:ext cx="686" cy="64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kumimoji="1" lang="zh-CN" altLang="en-US" sz="1050" kern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9" name="矩形 107"/>
            <p:cNvSpPr/>
            <p:nvPr>
              <p:custDataLst>
                <p:tags r:id="rId89"/>
              </p:custDataLst>
            </p:nvPr>
          </p:nvSpPr>
          <p:spPr>
            <a:xfrm>
              <a:off x="8529" y="3916"/>
              <a:ext cx="1252" cy="43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美颜顾问</a:t>
              </a:r>
              <a:endParaRPr lang="zh-CN" altLang="en-US" sz="1200" b="1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空心弧 108"/>
            <p:cNvSpPr/>
            <p:nvPr>
              <p:custDataLst>
                <p:tags r:id="rId90"/>
              </p:custDataLst>
            </p:nvPr>
          </p:nvSpPr>
          <p:spPr>
            <a:xfrm rot="5400000">
              <a:off x="8550" y="4228"/>
              <a:ext cx="1167" cy="1203"/>
            </a:xfrm>
            <a:prstGeom prst="blockArc">
              <a:avLst>
                <a:gd name="adj1" fmla="val 12894987"/>
                <a:gd name="adj2" fmla="val 8853212"/>
                <a:gd name="adj3" fmla="val 483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矩形 114"/>
            <p:cNvSpPr/>
            <p:nvPr>
              <p:custDataLst>
                <p:tags r:id="rId91"/>
              </p:custDataLst>
            </p:nvPr>
          </p:nvSpPr>
          <p:spPr>
            <a:xfrm>
              <a:off x="8859" y="4200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alpha val="80000"/>
                    </a:schemeClr>
                  </a:solidFill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关怀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矩形 115"/>
            <p:cNvSpPr/>
            <p:nvPr>
              <p:custDataLst>
                <p:tags r:id="rId92"/>
              </p:custDataLst>
            </p:nvPr>
          </p:nvSpPr>
          <p:spPr>
            <a:xfrm rot="2456136">
              <a:off x="8536" y="4952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咨询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矩形 116"/>
            <p:cNvSpPr/>
            <p:nvPr>
              <p:custDataLst>
                <p:tags r:id="rId93"/>
              </p:custDataLst>
            </p:nvPr>
          </p:nvSpPr>
          <p:spPr>
            <a:xfrm rot="19148798">
              <a:off x="9137" y="4956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跟进</a:t>
              </a:r>
              <a:endParaRPr kumimoji="1" lang="zh-CN" altLang="en-US" sz="700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TextBox 123"/>
            <p:cNvSpPr txBox="1"/>
            <p:nvPr>
              <p:custDataLst>
                <p:tags r:id="rId94"/>
              </p:custDataLst>
            </p:nvPr>
          </p:nvSpPr>
          <p:spPr>
            <a:xfrm>
              <a:off x="8935" y="4668"/>
              <a:ext cx="400" cy="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55" name="Straight Connector 92"/>
            <p:cNvCxnSpPr/>
            <p:nvPr>
              <p:custDataLst>
                <p:tags r:id="rId95"/>
              </p:custDataLst>
            </p:nvPr>
          </p:nvCxnSpPr>
          <p:spPr>
            <a:xfrm>
              <a:off x="7087" y="5563"/>
              <a:ext cx="0" cy="228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93"/>
            <p:cNvCxnSpPr/>
            <p:nvPr>
              <p:custDataLst>
                <p:tags r:id="rId96"/>
              </p:custDataLst>
            </p:nvPr>
          </p:nvCxnSpPr>
          <p:spPr>
            <a:xfrm flipV="1">
              <a:off x="7413" y="5154"/>
              <a:ext cx="213" cy="41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94"/>
            <p:cNvCxnSpPr/>
            <p:nvPr>
              <p:custDataLst>
                <p:tags r:id="rId97"/>
              </p:custDataLst>
            </p:nvPr>
          </p:nvCxnSpPr>
          <p:spPr>
            <a:xfrm>
              <a:off x="6587" y="5053"/>
              <a:ext cx="195" cy="74"/>
            </a:xfrm>
            <a:prstGeom prst="line">
              <a:avLst/>
            </a:prstGeom>
            <a:ln w="9525">
              <a:solidFill>
                <a:schemeClr val="accent5">
                  <a:lumMod val="60000"/>
                  <a:lumOff val="40000"/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椭圆 106"/>
            <p:cNvSpPr/>
            <p:nvPr>
              <p:custDataLst>
                <p:tags r:id="rId98"/>
              </p:custDataLst>
            </p:nvPr>
          </p:nvSpPr>
          <p:spPr>
            <a:xfrm>
              <a:off x="6752" y="4926"/>
              <a:ext cx="686" cy="64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矩形 107"/>
            <p:cNvSpPr/>
            <p:nvPr>
              <p:custDataLst>
                <p:tags r:id="rId99"/>
              </p:custDataLst>
            </p:nvPr>
          </p:nvSpPr>
          <p:spPr>
            <a:xfrm>
              <a:off x="6352" y="4244"/>
              <a:ext cx="1493" cy="43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护肤研究院</a:t>
              </a:r>
              <a:endParaRPr kumimoji="1" lang="zh-CN" altLang="en-US" sz="1200" b="1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空心弧 108"/>
            <p:cNvSpPr/>
            <p:nvPr>
              <p:custDataLst>
                <p:tags r:id="rId100"/>
              </p:custDataLst>
            </p:nvPr>
          </p:nvSpPr>
          <p:spPr>
            <a:xfrm rot="5400000">
              <a:off x="6511" y="4666"/>
              <a:ext cx="1167" cy="1203"/>
            </a:xfrm>
            <a:prstGeom prst="blockArc">
              <a:avLst>
                <a:gd name="adj1" fmla="val 12894987"/>
                <a:gd name="adj2" fmla="val 8853212"/>
                <a:gd name="adj3" fmla="val 483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矩形 114"/>
            <p:cNvSpPr/>
            <p:nvPr>
              <p:custDataLst>
                <p:tags r:id="rId101"/>
              </p:custDataLst>
            </p:nvPr>
          </p:nvSpPr>
          <p:spPr>
            <a:xfrm>
              <a:off x="6772" y="4620"/>
              <a:ext cx="70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专家说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矩形 115"/>
            <p:cNvSpPr/>
            <p:nvPr>
              <p:custDataLst>
                <p:tags r:id="rId102"/>
              </p:custDataLst>
            </p:nvPr>
          </p:nvSpPr>
          <p:spPr>
            <a:xfrm rot="2803302">
              <a:off x="6637" y="5453"/>
              <a:ext cx="280" cy="169"/>
            </a:xfrm>
            <a:prstGeom prst="rect">
              <a:avLst/>
            </a:prstGeom>
            <a:solidFill>
              <a:srgbClr val="5987C6">
                <a:alpha val="7000"/>
              </a:srgbClr>
            </a:solidFill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课程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矩形 116"/>
            <p:cNvSpPr/>
            <p:nvPr>
              <p:custDataLst>
                <p:tags r:id="rId103"/>
              </p:custDataLst>
            </p:nvPr>
          </p:nvSpPr>
          <p:spPr>
            <a:xfrm rot="19103477">
              <a:off x="7136" y="5397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直播</a:t>
              </a:r>
              <a:endParaRPr kumimoji="1" lang="zh-CN" altLang="en-US" sz="700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TextBox 97"/>
            <p:cNvSpPr txBox="1"/>
            <p:nvPr>
              <p:custDataLst>
                <p:tags r:id="rId104"/>
              </p:custDataLst>
            </p:nvPr>
          </p:nvSpPr>
          <p:spPr>
            <a:xfrm>
              <a:off x="6895" y="5124"/>
              <a:ext cx="400" cy="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教育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66" name="Straight Connector 80"/>
            <p:cNvCxnSpPr>
              <a:endCxn id="73" idx="3"/>
            </p:cNvCxnSpPr>
            <p:nvPr>
              <p:custDataLst>
                <p:tags r:id="rId105"/>
              </p:custDataLst>
            </p:nvPr>
          </p:nvCxnSpPr>
          <p:spPr>
            <a:xfrm>
              <a:off x="6916" y="7466"/>
              <a:ext cx="1" cy="254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81"/>
            <p:cNvCxnSpPr/>
            <p:nvPr>
              <p:custDataLst>
                <p:tags r:id="rId106"/>
              </p:custDataLst>
            </p:nvPr>
          </p:nvCxnSpPr>
          <p:spPr>
            <a:xfrm flipV="1">
              <a:off x="7242" y="7051"/>
              <a:ext cx="206" cy="40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82"/>
            <p:cNvCxnSpPr/>
            <p:nvPr>
              <p:custDataLst>
                <p:tags r:id="rId107"/>
              </p:custDataLst>
            </p:nvPr>
          </p:nvCxnSpPr>
          <p:spPr>
            <a:xfrm>
              <a:off x="6413" y="6948"/>
              <a:ext cx="194" cy="75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/>
            <p:cNvSpPr/>
            <p:nvPr>
              <p:custDataLst>
                <p:tags r:id="rId108"/>
              </p:custDataLst>
            </p:nvPr>
          </p:nvSpPr>
          <p:spPr>
            <a:xfrm>
              <a:off x="6581" y="6822"/>
              <a:ext cx="686" cy="64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0" name="矩形 69"/>
            <p:cNvSpPr/>
            <p:nvPr>
              <p:custDataLst>
                <p:tags r:id="rId109"/>
              </p:custDataLst>
            </p:nvPr>
          </p:nvSpPr>
          <p:spPr>
            <a:xfrm>
              <a:off x="6419" y="6254"/>
              <a:ext cx="1011" cy="43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品牌馆</a:t>
              </a:r>
              <a:endParaRPr lang="zh-CN" altLang="en-US" sz="1200" b="1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空心弧 70"/>
            <p:cNvSpPr/>
            <p:nvPr>
              <p:custDataLst>
                <p:tags r:id="rId110"/>
              </p:custDataLst>
            </p:nvPr>
          </p:nvSpPr>
          <p:spPr>
            <a:xfrm rot="5400000">
              <a:off x="6340" y="6561"/>
              <a:ext cx="1167" cy="1203"/>
            </a:xfrm>
            <a:prstGeom prst="blockArc">
              <a:avLst>
                <a:gd name="adj1" fmla="val 12894987"/>
                <a:gd name="adj2" fmla="val 8853212"/>
                <a:gd name="adj3" fmla="val 483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kumimoji="1" lang="zh-CN" altLang="en-US" sz="1050" kern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2" name="矩形 114"/>
            <p:cNvSpPr/>
            <p:nvPr>
              <p:custDataLst>
                <p:tags r:id="rId111"/>
              </p:custDataLst>
            </p:nvPr>
          </p:nvSpPr>
          <p:spPr>
            <a:xfrm>
              <a:off x="6645" y="6533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品牌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" name="矩形 115"/>
            <p:cNvSpPr/>
            <p:nvPr>
              <p:custDataLst>
                <p:tags r:id="rId112"/>
              </p:custDataLst>
            </p:nvPr>
          </p:nvSpPr>
          <p:spPr>
            <a:xfrm rot="2456136">
              <a:off x="6210" y="7300"/>
              <a:ext cx="805" cy="313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alpha val="80000"/>
                    </a:schemeClr>
                  </a:solidFill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产品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4" name="矩形 116"/>
            <p:cNvSpPr/>
            <p:nvPr>
              <p:custDataLst>
                <p:tags r:id="rId113"/>
              </p:custDataLst>
            </p:nvPr>
          </p:nvSpPr>
          <p:spPr>
            <a:xfrm rot="19431348">
              <a:off x="6975" y="7291"/>
              <a:ext cx="542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CSR</a:t>
              </a:r>
              <a:endParaRPr kumimoji="1" lang="en-US" altLang="zh-CN" sz="700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5" name="TextBox 85"/>
            <p:cNvSpPr txBox="1"/>
            <p:nvPr>
              <p:custDataLst>
                <p:tags r:id="rId114"/>
              </p:custDataLst>
            </p:nvPr>
          </p:nvSpPr>
          <p:spPr>
            <a:xfrm>
              <a:off x="6725" y="7001"/>
              <a:ext cx="400" cy="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品宣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76" name="Straight Connector 60"/>
            <p:cNvCxnSpPr/>
            <p:nvPr>
              <p:custDataLst>
                <p:tags r:id="rId115"/>
              </p:custDataLst>
            </p:nvPr>
          </p:nvCxnSpPr>
          <p:spPr>
            <a:xfrm>
              <a:off x="9770" y="4972"/>
              <a:ext cx="663" cy="293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Straight Connector 61"/>
            <p:cNvCxnSpPr/>
            <p:nvPr>
              <p:custDataLst>
                <p:tags r:id="rId116"/>
              </p:custDataLst>
            </p:nvPr>
          </p:nvCxnSpPr>
          <p:spPr>
            <a:xfrm flipH="1">
              <a:off x="7802" y="4991"/>
              <a:ext cx="629" cy="381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Straight Connector 62"/>
            <p:cNvCxnSpPr/>
            <p:nvPr>
              <p:custDataLst>
                <p:tags r:id="rId117"/>
              </p:custDataLst>
            </p:nvPr>
          </p:nvCxnSpPr>
          <p:spPr>
            <a:xfrm flipH="1">
              <a:off x="9979" y="5683"/>
              <a:ext cx="674" cy="700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Straight Connector 63"/>
            <p:cNvCxnSpPr/>
            <p:nvPr>
              <p:custDataLst>
                <p:tags r:id="rId118"/>
              </p:custDataLst>
            </p:nvPr>
          </p:nvCxnSpPr>
          <p:spPr>
            <a:xfrm>
              <a:off x="7555" y="5760"/>
              <a:ext cx="766" cy="584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Straight Connector 64"/>
            <p:cNvCxnSpPr/>
            <p:nvPr>
              <p:custDataLst>
                <p:tags r:id="rId119"/>
              </p:custDataLst>
            </p:nvPr>
          </p:nvCxnSpPr>
          <p:spPr>
            <a:xfrm flipH="1" flipV="1">
              <a:off x="10159" y="7172"/>
              <a:ext cx="612" cy="6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Straight Connector 65"/>
            <p:cNvCxnSpPr/>
            <p:nvPr>
              <p:custDataLst>
                <p:tags r:id="rId120"/>
              </p:custDataLst>
            </p:nvPr>
          </p:nvCxnSpPr>
          <p:spPr>
            <a:xfrm>
              <a:off x="7627" y="7162"/>
              <a:ext cx="520" cy="9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Straight Connector 66"/>
            <p:cNvCxnSpPr/>
            <p:nvPr>
              <p:custDataLst>
                <p:tags r:id="rId121"/>
              </p:custDataLst>
            </p:nvPr>
          </p:nvCxnSpPr>
          <p:spPr>
            <a:xfrm>
              <a:off x="11269" y="5862"/>
              <a:ext cx="173" cy="445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Straight Connector 67"/>
            <p:cNvCxnSpPr/>
            <p:nvPr>
              <p:custDataLst>
                <p:tags r:id="rId122"/>
              </p:custDataLst>
            </p:nvPr>
          </p:nvCxnSpPr>
          <p:spPr>
            <a:xfrm flipH="1">
              <a:off x="6762" y="5889"/>
              <a:ext cx="141" cy="383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Straight Connector 130"/>
            <p:cNvCxnSpPr/>
            <p:nvPr>
              <p:custDataLst>
                <p:tags r:id="rId123"/>
              </p:custDataLst>
            </p:nvPr>
          </p:nvCxnSpPr>
          <p:spPr>
            <a:xfrm flipH="1">
              <a:off x="9153" y="5466"/>
              <a:ext cx="11" cy="567"/>
            </a:xfrm>
            <a:prstGeom prst="line">
              <a:avLst/>
            </a:prstGeom>
            <a:gradFill>
              <a:gsLst>
                <a:gs pos="73000">
                  <a:srgbClr val="E0EEF8">
                    <a:lumMod val="93000"/>
                    <a:lumOff val="7000"/>
                  </a:srgbClr>
                </a:gs>
                <a:gs pos="30000">
                  <a:schemeClr val="bg1"/>
                </a:gs>
                <a:gs pos="100000">
                  <a:srgbClr val="ADD2ED"/>
                </a:gs>
              </a:gsLst>
              <a:lin ang="5400000" scaled="0"/>
            </a:gradFill>
            <a:ln w="31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文本框 88"/>
            <p:cNvSpPr txBox="1"/>
            <p:nvPr>
              <p:custDataLst>
                <p:tags r:id="rId124"/>
              </p:custDataLst>
            </p:nvPr>
          </p:nvSpPr>
          <p:spPr>
            <a:xfrm>
              <a:off x="8671" y="6534"/>
              <a:ext cx="960" cy="77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俱乐部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90" name="图形 212"/>
            <p:cNvPicPr>
              <a:picLocks noChangeAspect="1"/>
            </p:cNvPicPr>
            <p:nvPr>
              <p:custDataLst>
                <p:tags r:id="rId125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/>
            </a:stretch>
          </p:blipFill>
          <p:spPr>
            <a:xfrm>
              <a:off x="9998" y="4775"/>
              <a:ext cx="236" cy="236"/>
            </a:xfrm>
            <a:prstGeom prst="rect">
              <a:avLst/>
            </a:prstGeom>
          </p:spPr>
        </p:pic>
        <p:pic>
          <p:nvPicPr>
            <p:cNvPr id="93" name="图形 220"/>
            <p:cNvPicPr>
              <a:picLocks noChangeAspect="1"/>
            </p:cNvPicPr>
            <p:nvPr>
              <p:custDataLst>
                <p:tags r:id="rId128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p:blipFill>
          <p:spPr>
            <a:xfrm>
              <a:off x="10360" y="6862"/>
              <a:ext cx="236" cy="236"/>
            </a:xfrm>
            <a:prstGeom prst="rect">
              <a:avLst/>
            </a:prstGeom>
          </p:spPr>
        </p:pic>
        <p:pic>
          <p:nvPicPr>
            <p:cNvPr id="96" name="图形 213"/>
            <p:cNvPicPr>
              <a:picLocks noChangeAspect="1"/>
            </p:cNvPicPr>
            <p:nvPr>
              <p:custDataLst>
                <p:tags r:id="rId130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p:blipFill>
          <p:spPr>
            <a:xfrm>
              <a:off x="7974" y="4775"/>
              <a:ext cx="236" cy="236"/>
            </a:xfrm>
            <a:prstGeom prst="rect">
              <a:avLst/>
            </a:prstGeom>
          </p:spPr>
        </p:pic>
        <p:pic>
          <p:nvPicPr>
            <p:cNvPr id="100" name="图形 219"/>
            <p:cNvPicPr>
              <a:picLocks noChangeAspect="1"/>
            </p:cNvPicPr>
            <p:nvPr>
              <p:custDataLst>
                <p:tags r:id="rId132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p:blipFill>
          <p:spPr>
            <a:xfrm>
              <a:off x="7743" y="6864"/>
              <a:ext cx="236" cy="236"/>
            </a:xfrm>
            <a:prstGeom prst="rect">
              <a:avLst/>
            </a:prstGeom>
          </p:spPr>
        </p:pic>
        <p:pic>
          <p:nvPicPr>
            <p:cNvPr id="101" name="图形 215"/>
            <p:cNvPicPr>
              <a:picLocks noChangeAspect="1"/>
            </p:cNvPicPr>
            <p:nvPr>
              <p:custDataLst>
                <p:tags r:id="rId134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/>
            </a:stretch>
          </p:blipFill>
          <p:spPr>
            <a:xfrm>
              <a:off x="8528" y="5894"/>
              <a:ext cx="236" cy="236"/>
            </a:xfrm>
            <a:prstGeom prst="rect">
              <a:avLst/>
            </a:prstGeom>
          </p:spPr>
        </p:pic>
        <p:pic>
          <p:nvPicPr>
            <p:cNvPr id="103" name="图形 217"/>
            <p:cNvPicPr>
              <a:picLocks noChangeAspect="1"/>
            </p:cNvPicPr>
            <p:nvPr>
              <p:custDataLst>
                <p:tags r:id="rId136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/>
            </a:stretch>
          </p:blipFill>
          <p:spPr>
            <a:xfrm>
              <a:off x="7177" y="5962"/>
              <a:ext cx="236" cy="236"/>
            </a:xfrm>
            <a:prstGeom prst="rect">
              <a:avLst/>
            </a:prstGeom>
          </p:spPr>
        </p:pic>
        <p:pic>
          <p:nvPicPr>
            <p:cNvPr id="104" name="图形 218"/>
            <p:cNvPicPr>
              <a:picLocks noChangeAspect="1"/>
            </p:cNvPicPr>
            <p:nvPr>
              <p:custDataLst>
                <p:tags r:id="rId138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/>
            </a:stretch>
          </p:blipFill>
          <p:spPr>
            <a:xfrm>
              <a:off x="10803" y="5962"/>
              <a:ext cx="236" cy="236"/>
            </a:xfrm>
            <a:prstGeom prst="rect">
              <a:avLst/>
            </a:prstGeom>
          </p:spPr>
        </p:pic>
        <p:pic>
          <p:nvPicPr>
            <p:cNvPr id="105" name="图形 216"/>
            <p:cNvPicPr>
              <a:picLocks noChangeAspect="1"/>
            </p:cNvPicPr>
            <p:nvPr>
              <p:custDataLst>
                <p:tags r:id="rId140"/>
              </p:custDataLst>
            </p:nvPr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/>
            </a:stretch>
          </p:blipFill>
          <p:spPr>
            <a:xfrm>
              <a:off x="9510" y="5894"/>
              <a:ext cx="236" cy="236"/>
            </a:xfrm>
            <a:prstGeom prst="rect">
              <a:avLst/>
            </a:prstGeom>
          </p:spPr>
        </p:pic>
        <p:cxnSp>
          <p:nvCxnSpPr>
            <p:cNvPr id="106" name="Straight Connector 80"/>
            <p:cNvCxnSpPr>
              <a:endCxn id="118" idx="3"/>
            </p:cNvCxnSpPr>
            <p:nvPr>
              <p:custDataLst>
                <p:tags r:id="rId142"/>
              </p:custDataLst>
            </p:nvPr>
          </p:nvCxnSpPr>
          <p:spPr>
            <a:xfrm>
              <a:off x="11490" y="7467"/>
              <a:ext cx="1" cy="254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81"/>
            <p:cNvCxnSpPr/>
            <p:nvPr>
              <p:custDataLst>
                <p:tags r:id="rId143"/>
              </p:custDataLst>
            </p:nvPr>
          </p:nvCxnSpPr>
          <p:spPr>
            <a:xfrm flipV="1">
              <a:off x="11817" y="7051"/>
              <a:ext cx="206" cy="40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82"/>
            <p:cNvCxnSpPr/>
            <p:nvPr>
              <p:custDataLst>
                <p:tags r:id="rId144"/>
              </p:custDataLst>
            </p:nvPr>
          </p:nvCxnSpPr>
          <p:spPr>
            <a:xfrm>
              <a:off x="10988" y="6948"/>
              <a:ext cx="194" cy="75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椭圆 110"/>
            <p:cNvSpPr/>
            <p:nvPr>
              <p:custDataLst>
                <p:tags r:id="rId145"/>
              </p:custDataLst>
            </p:nvPr>
          </p:nvSpPr>
          <p:spPr>
            <a:xfrm>
              <a:off x="11156" y="6822"/>
              <a:ext cx="686" cy="64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5" name="矩形 114"/>
            <p:cNvSpPr/>
            <p:nvPr>
              <p:custDataLst>
                <p:tags r:id="rId146"/>
              </p:custDataLst>
            </p:nvPr>
          </p:nvSpPr>
          <p:spPr>
            <a:xfrm>
              <a:off x="10873" y="6254"/>
              <a:ext cx="1252" cy="43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b="1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会员体系</a:t>
              </a:r>
              <a:endParaRPr lang="zh-CN" altLang="en-US" sz="1200" b="1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6" name="空心弧 115"/>
            <p:cNvSpPr/>
            <p:nvPr>
              <p:custDataLst>
                <p:tags r:id="rId147"/>
              </p:custDataLst>
            </p:nvPr>
          </p:nvSpPr>
          <p:spPr>
            <a:xfrm rot="5400000">
              <a:off x="10915" y="6561"/>
              <a:ext cx="1167" cy="1203"/>
            </a:xfrm>
            <a:prstGeom prst="blockArc">
              <a:avLst>
                <a:gd name="adj1" fmla="val 12894987"/>
                <a:gd name="adj2" fmla="val 8853212"/>
                <a:gd name="adj3" fmla="val 483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kumimoji="1" lang="zh-CN" altLang="en-US" sz="1050" kern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7" name="矩形 114"/>
            <p:cNvSpPr/>
            <p:nvPr>
              <p:custDataLst>
                <p:tags r:id="rId148"/>
              </p:custDataLst>
            </p:nvPr>
          </p:nvSpPr>
          <p:spPr>
            <a:xfrm>
              <a:off x="11220" y="6533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积分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8" name="矩形 115"/>
            <p:cNvSpPr/>
            <p:nvPr>
              <p:custDataLst>
                <p:tags r:id="rId149"/>
              </p:custDataLst>
            </p:nvPr>
          </p:nvSpPr>
          <p:spPr>
            <a:xfrm rot="2456136">
              <a:off x="10785" y="7300"/>
              <a:ext cx="805" cy="313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700" noProof="0" dirty="0">
                  <a:ln>
                    <a:noFill/>
                  </a:ln>
                  <a:solidFill>
                    <a:schemeClr val="accent6">
                      <a:alpha val="80000"/>
                    </a:schemeClr>
                  </a:solidFill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MGM</a:t>
              </a:r>
              <a:endParaRPr kumimoji="1" lang="en-US" altLang="zh-CN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19" name="矩形 116"/>
            <p:cNvSpPr/>
            <p:nvPr>
              <p:custDataLst>
                <p:tags r:id="rId150"/>
              </p:custDataLst>
            </p:nvPr>
          </p:nvSpPr>
          <p:spPr>
            <a:xfrm rot="19431348">
              <a:off x="11531" y="7291"/>
              <a:ext cx="581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KOC</a:t>
              </a:r>
              <a:endParaRPr kumimoji="1" lang="en-US" altLang="zh-CN" sz="700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0" name="TextBox 85"/>
            <p:cNvSpPr txBox="1"/>
            <p:nvPr>
              <p:custDataLst>
                <p:tags r:id="rId151"/>
              </p:custDataLst>
            </p:nvPr>
          </p:nvSpPr>
          <p:spPr>
            <a:xfrm>
              <a:off x="11300" y="7001"/>
              <a:ext cx="400" cy="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福利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21" name="Straight Connector 94"/>
            <p:cNvCxnSpPr/>
            <p:nvPr>
              <p:custDataLst>
                <p:tags r:id="rId152"/>
              </p:custDataLst>
            </p:nvPr>
          </p:nvCxnSpPr>
          <p:spPr>
            <a:xfrm>
              <a:off x="10712" y="5039"/>
              <a:ext cx="195" cy="74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椭圆 106"/>
            <p:cNvSpPr/>
            <p:nvPr>
              <p:custDataLst>
                <p:tags r:id="rId153"/>
              </p:custDataLst>
            </p:nvPr>
          </p:nvSpPr>
          <p:spPr>
            <a:xfrm>
              <a:off x="10877" y="4912"/>
              <a:ext cx="686" cy="649"/>
            </a:xfrm>
            <a:prstGeom prst="ellipse">
              <a:avLst/>
            </a:prstGeom>
            <a:solidFill>
              <a:schemeClr val="accent5">
                <a:lumMod val="20000"/>
                <a:lumOff val="80000"/>
                <a:alpha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05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3" name="矩形 107"/>
            <p:cNvSpPr/>
            <p:nvPr>
              <p:custDataLst>
                <p:tags r:id="rId154"/>
              </p:custDataLst>
            </p:nvPr>
          </p:nvSpPr>
          <p:spPr>
            <a:xfrm>
              <a:off x="10718" y="4230"/>
              <a:ext cx="1011" cy="43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200" b="1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生活馆</a:t>
              </a:r>
              <a:endParaRPr kumimoji="1" lang="zh-CN" altLang="en-US" sz="1200" b="1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7" name="空心弧 108"/>
            <p:cNvSpPr/>
            <p:nvPr>
              <p:custDataLst>
                <p:tags r:id="rId155"/>
              </p:custDataLst>
            </p:nvPr>
          </p:nvSpPr>
          <p:spPr>
            <a:xfrm rot="5400000">
              <a:off x="10636" y="4652"/>
              <a:ext cx="1167" cy="1203"/>
            </a:xfrm>
            <a:prstGeom prst="blockArc">
              <a:avLst>
                <a:gd name="adj1" fmla="val 12894987"/>
                <a:gd name="adj2" fmla="val 8853212"/>
                <a:gd name="adj3" fmla="val 4839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kumimoji="1" lang="zh-CN" altLang="en-US" sz="1050" kern="0" noProof="0" dirty="0">
                <a:ln>
                  <a:noFill/>
                </a:ln>
                <a:solidFill>
                  <a:schemeClr val="accent6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0" name="矩形 114"/>
            <p:cNvSpPr/>
            <p:nvPr>
              <p:custDataLst>
                <p:tags r:id="rId156"/>
              </p:custDataLst>
            </p:nvPr>
          </p:nvSpPr>
          <p:spPr>
            <a:xfrm>
              <a:off x="10967" y="4606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旅游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1" name="矩形 115"/>
            <p:cNvSpPr/>
            <p:nvPr>
              <p:custDataLst>
                <p:tags r:id="rId157"/>
              </p:custDataLst>
            </p:nvPr>
          </p:nvSpPr>
          <p:spPr>
            <a:xfrm rot="2803302">
              <a:off x="10762" y="5439"/>
              <a:ext cx="280" cy="169"/>
            </a:xfrm>
            <a:prstGeom prst="rect">
              <a:avLst/>
            </a:prstGeom>
            <a:solidFill>
              <a:srgbClr val="5987C6">
                <a:alpha val="7000"/>
              </a:srgbClr>
            </a:solidFill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运动</a:t>
              </a:r>
              <a:endParaRPr kumimoji="1" lang="zh-CN" altLang="en-US" sz="7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alpha val="80000"/>
                  </a:schemeClr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2" name="矩形 116"/>
            <p:cNvSpPr/>
            <p:nvPr>
              <p:custDataLst>
                <p:tags r:id="rId158"/>
              </p:custDataLst>
            </p:nvPr>
          </p:nvSpPr>
          <p:spPr>
            <a:xfrm rot="19103477">
              <a:off x="11261" y="5383"/>
              <a:ext cx="568" cy="3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700" dirty="0">
                  <a:solidFill>
                    <a:schemeClr val="accent6">
                      <a:alpha val="8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室内</a:t>
              </a:r>
              <a:endParaRPr kumimoji="1" lang="zh-CN" altLang="en-US" sz="700" dirty="0">
                <a:solidFill>
                  <a:schemeClr val="accent6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3" name="TextBox 97"/>
            <p:cNvSpPr txBox="1"/>
            <p:nvPr>
              <p:custDataLst>
                <p:tags r:id="rId159"/>
              </p:custDataLst>
            </p:nvPr>
          </p:nvSpPr>
          <p:spPr>
            <a:xfrm>
              <a:off x="11020" y="5110"/>
              <a:ext cx="400" cy="2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体验</a:t>
              </a:r>
              <a:endParaRPr lang="zh-CN" altLang="en-US" sz="1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34" name="Straight Connector 93"/>
            <p:cNvCxnSpPr/>
            <p:nvPr>
              <p:custDataLst>
                <p:tags r:id="rId160"/>
              </p:custDataLst>
            </p:nvPr>
          </p:nvCxnSpPr>
          <p:spPr>
            <a:xfrm flipV="1">
              <a:off x="11541" y="5097"/>
              <a:ext cx="213" cy="41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92"/>
            <p:cNvCxnSpPr/>
            <p:nvPr>
              <p:custDataLst>
                <p:tags r:id="rId161"/>
              </p:custDataLst>
            </p:nvPr>
          </p:nvCxnSpPr>
          <p:spPr>
            <a:xfrm>
              <a:off x="11229" y="5548"/>
              <a:ext cx="0" cy="228"/>
            </a:xfrm>
            <a:prstGeom prst="line">
              <a:avLst/>
            </a:prstGeom>
            <a:ln w="9525">
              <a:solidFill>
                <a:schemeClr val="accent6">
                  <a:alpha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矩形 107"/>
          <p:cNvSpPr/>
          <p:nvPr>
            <p:custDataLst>
              <p:tags r:id="rId162"/>
            </p:custDataLst>
          </p:nvPr>
        </p:nvSpPr>
        <p:spPr>
          <a:xfrm>
            <a:off x="4927918" y="1752600"/>
            <a:ext cx="17621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CRM</a:t>
            </a:r>
            <a:r>
              <a:rPr lang="zh-CN" altLang="en-US" sz="2000" b="1" dirty="0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中央引擎</a:t>
            </a:r>
            <a:endParaRPr lang="zh-CN" altLang="en-US" sz="20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矩形 136"/>
          <p:cNvSpPr/>
          <p:nvPr>
            <p:custDataLst>
              <p:tags r:id="rId163"/>
            </p:custDataLst>
          </p:nvPr>
        </p:nvSpPr>
        <p:spPr>
          <a:xfrm>
            <a:off x="4768215" y="5102860"/>
            <a:ext cx="2195830" cy="285115"/>
          </a:xfrm>
          <a:prstGeom prst="rect">
            <a:avLst/>
          </a:prstGeom>
          <a:gradFill flip="none" rotWithShape="1">
            <a:gsLst>
              <a:gs pos="23000">
                <a:schemeClr val="accent5"/>
              </a:gs>
              <a:gs pos="100000">
                <a:schemeClr val="accent5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数据中台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45" name="组合 144"/>
          <p:cNvGrpSpPr/>
          <p:nvPr/>
        </p:nvGrpSpPr>
        <p:grpSpPr>
          <a:xfrm>
            <a:off x="4922520" y="5530850"/>
            <a:ext cx="429895" cy="229870"/>
            <a:chOff x="6179" y="8628"/>
            <a:chExt cx="951" cy="447"/>
          </a:xfrm>
        </p:grpSpPr>
        <p:sp>
          <p:nvSpPr>
            <p:cNvPr id="146" name="箭头: 下 47"/>
            <p:cNvSpPr/>
            <p:nvPr>
              <p:custDataLst>
                <p:tags r:id="rId164"/>
              </p:custDataLst>
            </p:nvPr>
          </p:nvSpPr>
          <p:spPr>
            <a:xfrm rot="10800000" flipH="1" flipV="1">
              <a:off x="6179" y="86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7" name="箭头: 下 47"/>
            <p:cNvSpPr/>
            <p:nvPr>
              <p:custDataLst>
                <p:tags r:id="rId165"/>
              </p:custDataLst>
            </p:nvPr>
          </p:nvSpPr>
          <p:spPr>
            <a:xfrm rot="10800000" flipH="1" flipV="1">
              <a:off x="6206" y="8775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5613400" y="5530850"/>
            <a:ext cx="429895" cy="229870"/>
            <a:chOff x="6179" y="8628"/>
            <a:chExt cx="951" cy="447"/>
          </a:xfrm>
        </p:grpSpPr>
        <p:sp>
          <p:nvSpPr>
            <p:cNvPr id="149" name="箭头: 下 47"/>
            <p:cNvSpPr/>
            <p:nvPr>
              <p:custDataLst>
                <p:tags r:id="rId166"/>
              </p:custDataLst>
            </p:nvPr>
          </p:nvSpPr>
          <p:spPr>
            <a:xfrm rot="10800000" flipH="1" flipV="1">
              <a:off x="6179" y="86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0" name="箭头: 下 47"/>
            <p:cNvSpPr/>
            <p:nvPr>
              <p:custDataLst>
                <p:tags r:id="rId167"/>
              </p:custDataLst>
            </p:nvPr>
          </p:nvSpPr>
          <p:spPr>
            <a:xfrm rot="10800000" flipH="1" flipV="1">
              <a:off x="6206" y="8775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6339205" y="5530850"/>
            <a:ext cx="429895" cy="229870"/>
            <a:chOff x="6179" y="8628"/>
            <a:chExt cx="951" cy="447"/>
          </a:xfrm>
        </p:grpSpPr>
        <p:sp>
          <p:nvSpPr>
            <p:cNvPr id="152" name="箭头: 下 47"/>
            <p:cNvSpPr/>
            <p:nvPr>
              <p:custDataLst>
                <p:tags r:id="rId168"/>
              </p:custDataLst>
            </p:nvPr>
          </p:nvSpPr>
          <p:spPr>
            <a:xfrm rot="10800000" flipH="1" flipV="1">
              <a:off x="6179" y="8628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3" name="箭头: 下 47"/>
            <p:cNvSpPr/>
            <p:nvPr>
              <p:custDataLst>
                <p:tags r:id="rId169"/>
              </p:custDataLst>
            </p:nvPr>
          </p:nvSpPr>
          <p:spPr>
            <a:xfrm rot="10800000" flipH="1" flipV="1">
              <a:off x="6206" y="8775"/>
              <a:ext cx="925" cy="301"/>
            </a:xfrm>
            <a:prstGeom prst="triangle">
              <a:avLst/>
            </a:prstGeom>
            <a:gradFill>
              <a:gsLst>
                <a:gs pos="99000">
                  <a:schemeClr val="accent5">
                    <a:alpha val="0"/>
                  </a:schemeClr>
                </a:gs>
                <a:gs pos="0">
                  <a:schemeClr val="accent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9471025" y="3653155"/>
            <a:ext cx="1878965" cy="379730"/>
            <a:chOff x="14901" y="4835"/>
            <a:chExt cx="2959" cy="598"/>
          </a:xfrm>
        </p:grpSpPr>
        <p:sp>
          <p:nvSpPr>
            <p:cNvPr id="155" name="Rectangle: Rounded Corners 140"/>
            <p:cNvSpPr/>
            <p:nvPr>
              <p:custDataLst>
                <p:tags r:id="rId170"/>
              </p:custDataLst>
            </p:nvPr>
          </p:nvSpPr>
          <p:spPr>
            <a:xfrm>
              <a:off x="14901" y="4835"/>
              <a:ext cx="2959" cy="59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6" name="TextBox 138"/>
            <p:cNvSpPr txBox="1"/>
            <p:nvPr>
              <p:custDataLst>
                <p:tags r:id="rId171"/>
              </p:custDataLst>
            </p:nvPr>
          </p:nvSpPr>
          <p:spPr>
            <a:xfrm>
              <a:off x="15024" y="4849"/>
              <a:ext cx="2606" cy="5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5022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5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老客复购</a:t>
              </a:r>
              <a:endPara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9476740" y="4448175"/>
            <a:ext cx="1878965" cy="379730"/>
            <a:chOff x="14901" y="4835"/>
            <a:chExt cx="2959" cy="598"/>
          </a:xfrm>
        </p:grpSpPr>
        <p:sp>
          <p:nvSpPr>
            <p:cNvPr id="158" name="Rectangle: Rounded Corners 140"/>
            <p:cNvSpPr/>
            <p:nvPr>
              <p:custDataLst>
                <p:tags r:id="rId172"/>
              </p:custDataLst>
            </p:nvPr>
          </p:nvSpPr>
          <p:spPr>
            <a:xfrm>
              <a:off x="14901" y="4835"/>
              <a:ext cx="2959" cy="590"/>
            </a:xfrm>
            <a:prstGeom prst="roundRect">
              <a:avLst>
                <a:gd name="adj" fmla="val 0"/>
              </a:avLst>
            </a:prstGeom>
            <a:solidFill>
              <a:schemeClr val="bg1">
                <a:alpha val="90000"/>
              </a:schemeClr>
            </a:solidFill>
            <a:ln w="127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20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9" name="TextBox 138"/>
            <p:cNvSpPr txBox="1"/>
            <p:nvPr>
              <p:custDataLst>
                <p:tags r:id="rId173"/>
              </p:custDataLst>
            </p:nvPr>
          </p:nvSpPr>
          <p:spPr>
            <a:xfrm>
              <a:off x="15106" y="4849"/>
              <a:ext cx="2565" cy="5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5022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5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KOC</a:t>
              </a:r>
              <a:r>
                <a:rPr lang="zh-CN" altLang="en-US" sz="15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分销</a:t>
              </a:r>
              <a:endParaRPr lang="zh-CN" altLang="en-US" sz="15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62" name="textbox 524"/>
          <p:cNvSpPr/>
          <p:nvPr>
            <p:custDataLst>
              <p:tags r:id="rId174"/>
            </p:custDataLst>
          </p:nvPr>
        </p:nvSpPr>
        <p:spPr>
          <a:xfrm>
            <a:off x="307340" y="1677035"/>
            <a:ext cx="11513185" cy="3895725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63" name="组合 162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164" name="图片 163"/>
            <p:cNvPicPr>
              <a:picLocks noChangeAspect="1"/>
            </p:cNvPicPr>
            <p:nvPr userDrawn="1"/>
          </p:nvPicPr>
          <p:blipFill>
            <a:blip r:embed="rId175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165" name="文本框 164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/>
        </p:nvSpPr>
        <p:spPr>
          <a:xfrm>
            <a:off x="1105535" y="347980"/>
            <a:ext cx="7137400" cy="396875"/>
          </a:xfrm>
          <a:prstGeom prst="rect">
            <a:avLst/>
          </a:prstGeom>
          <a:ln w="12700">
            <a:miter lim="400000"/>
          </a:ln>
        </p:spPr>
        <p:txBody>
          <a:bodyPr vert="horz" wrap="square" lIns="25400" tIns="25400" rIns="25400" bIns="2540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800" b="1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>
                  <a:outerShdw blurRad="187896" dist="38100" dir="2700000" algn="tl" rotWithShape="0">
                    <a:srgbClr val="1C2952">
                      <a:alpha val="6000"/>
                    </a:srgbClr>
                  </a:outerShdw>
                </a:effectLst>
                <a:uLnTx/>
                <a:uFillTx/>
                <a:latin typeface="HONOR Sans CN" panose="05000200000000000000" charset="-122"/>
                <a:ea typeface="HONOR Sans CN" panose="05000200000000000000" charset="-122"/>
                <a:cs typeface="OPPOSans H" panose="00020600040101010101" pitchFamily="18" charset="-122"/>
              </a:defRPr>
            </a:lvl1pPr>
          </a:lstStyle>
          <a:p>
            <a:pPr algn="l"/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业务框架</a:t>
            </a:r>
            <a:r>
              <a:rPr lang="en-US" altLang="zh-CN"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50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屋顶架构</a:t>
            </a:r>
            <a:r>
              <a:rPr sz="25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sz="2500">
                <a:solidFill>
                  <a:schemeClr val="tx2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会员全生命周期管理体系</a:t>
            </a:r>
            <a:endParaRPr sz="2500" b="0">
              <a:solidFill>
                <a:schemeClr val="tx2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屋顶资源管理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186055"/>
            <a:ext cx="549910" cy="549910"/>
          </a:xfrm>
          <a:prstGeom prst="rect">
            <a:avLst/>
          </a:prstGeom>
        </p:spPr>
      </p:pic>
      <p:grpSp>
        <p:nvGrpSpPr>
          <p:cNvPr id="235" name="组合 234"/>
          <p:cNvGrpSpPr/>
          <p:nvPr/>
        </p:nvGrpSpPr>
        <p:grpSpPr>
          <a:xfrm>
            <a:off x="343535" y="1054100"/>
            <a:ext cx="11306175" cy="821055"/>
            <a:chOff x="698" y="2182"/>
            <a:chExt cx="17805" cy="1293"/>
          </a:xfrm>
        </p:grpSpPr>
        <p:sp>
          <p:nvSpPr>
            <p:cNvPr id="2" name="梯形 1"/>
            <p:cNvSpPr/>
            <p:nvPr/>
          </p:nvSpPr>
          <p:spPr>
            <a:xfrm>
              <a:off x="698" y="2679"/>
              <a:ext cx="17805" cy="796"/>
            </a:xfrm>
            <a:prstGeom prst="trapezoid">
              <a:avLst>
                <a:gd name="adj" fmla="val 355209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2" name="紫荆的职场Point28"/>
            <p:cNvSpPr/>
            <p:nvPr/>
          </p:nvSpPr>
          <p:spPr>
            <a:xfrm>
              <a:off x="3331" y="2182"/>
              <a:ext cx="12411" cy="498"/>
            </a:xfrm>
            <a:prstGeom prst="triangle">
              <a:avLst>
                <a:gd name="adj" fmla="val 50434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33" name="紫荆的职场Point28"/>
            <p:cNvSpPr/>
            <p:nvPr/>
          </p:nvSpPr>
          <p:spPr>
            <a:xfrm>
              <a:off x="2675" y="2182"/>
              <a:ext cx="13727" cy="1125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 w="19050" cap="flat" cmpd="sng" algn="ctr"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6603" y="2679"/>
              <a:ext cx="5501" cy="6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会员全生命周期管理体系框架</a:t>
              </a:r>
              <a:endPara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298450" y="1982470"/>
            <a:ext cx="1301115" cy="455295"/>
          </a:xfrm>
          <a:prstGeom prst="rect">
            <a:avLst/>
          </a:prstGeom>
          <a:gradFill>
            <a:gsLst>
              <a:gs pos="30000">
                <a:schemeClr val="accent1">
                  <a:lumMod val="20000"/>
                  <a:lumOff val="80000"/>
                  <a:alpha val="58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16200000" scaled="1"/>
          </a:gra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+mn-ea"/>
              </a:rPr>
              <a:t>生命周期</a:t>
            </a:r>
            <a:endParaRPr lang="zh-CN" altLang="en-US" sz="1400" b="1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450" y="2510155"/>
            <a:ext cx="1310005" cy="1320165"/>
          </a:xfrm>
          <a:prstGeom prst="rect">
            <a:avLst/>
          </a:prstGeom>
          <a:gradFill flip="none" rotWithShape="1">
            <a:gsLst>
              <a:gs pos="23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全链路会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员场景库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763395" y="1982470"/>
            <a:ext cx="9956165" cy="454660"/>
            <a:chOff x="2065" y="1928"/>
            <a:chExt cx="15679" cy="716"/>
          </a:xfrm>
          <a:solidFill>
            <a:schemeClr val="accent2"/>
          </a:solidFill>
        </p:grpSpPr>
        <p:sp>
          <p:nvSpPr>
            <p:cNvPr id="12" name="箭头: 五边形 5"/>
            <p:cNvSpPr/>
            <p:nvPr/>
          </p:nvSpPr>
          <p:spPr>
            <a:xfrm>
              <a:off x="2065" y="1928"/>
              <a:ext cx="2670" cy="717"/>
            </a:xfrm>
            <a:prstGeom prst="homePlate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① 会员招募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箭头: V 形 6"/>
            <p:cNvSpPr/>
            <p:nvPr/>
          </p:nvSpPr>
          <p:spPr>
            <a:xfrm>
              <a:off x="4555" y="1928"/>
              <a:ext cx="2781" cy="717"/>
            </a:xfrm>
            <a:prstGeom prst="chevron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② 会员激活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" name="箭头: V 形 7"/>
            <p:cNvSpPr/>
            <p:nvPr/>
          </p:nvSpPr>
          <p:spPr>
            <a:xfrm>
              <a:off x="7157" y="1928"/>
              <a:ext cx="2781" cy="717"/>
            </a:xfrm>
            <a:prstGeom prst="chevron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③ 会员活跃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" name="箭头: V 形 8"/>
            <p:cNvSpPr/>
            <p:nvPr/>
          </p:nvSpPr>
          <p:spPr>
            <a:xfrm>
              <a:off x="9759" y="1928"/>
              <a:ext cx="2781" cy="717"/>
            </a:xfrm>
            <a:prstGeom prst="chevron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④ 会员升级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" name="箭头: V 形 9"/>
            <p:cNvSpPr/>
            <p:nvPr/>
          </p:nvSpPr>
          <p:spPr>
            <a:xfrm>
              <a:off x="12362" y="1928"/>
              <a:ext cx="2781" cy="717"/>
            </a:xfrm>
            <a:prstGeom prst="chevron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⑤ 会员续费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箭头: V 形 10"/>
            <p:cNvSpPr/>
            <p:nvPr/>
          </p:nvSpPr>
          <p:spPr>
            <a:xfrm>
              <a:off x="14964" y="1928"/>
              <a:ext cx="2781" cy="717"/>
            </a:xfrm>
            <a:prstGeom prst="chevron">
              <a:avLst/>
            </a:prstGeom>
            <a:gradFill>
              <a:gsLst>
                <a:gs pos="30000">
                  <a:schemeClr val="accent1">
                    <a:lumMod val="20000"/>
                    <a:lumOff val="80000"/>
                    <a:alpha val="58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400" b="1">
                  <a:solidFill>
                    <a:schemeClr val="accent1"/>
                  </a:solidFill>
                  <a:cs typeface="微软雅黑" panose="020B0503020204020204" charset="-122"/>
                  <a:sym typeface="微软雅黑" panose="020B0503020204020204" charset="-122"/>
                </a:rPr>
                <a:t>⑥ 会员召回</a:t>
              </a:r>
              <a:endParaRPr lang="zh-CN" altLang="en-US" sz="1400" b="1">
                <a:solidFill>
                  <a:schemeClr val="accent1"/>
                </a:solidFill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1763395" y="2510155"/>
            <a:ext cx="9956800" cy="131889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650865" y="2546985"/>
            <a:ext cx="18135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全链路会员场景库</a:t>
            </a:r>
            <a:endParaRPr lang="zh-CN" altLang="en-US" sz="16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7391400" y="2631758"/>
            <a:ext cx="266700" cy="167640"/>
            <a:chOff x="11640" y="4125"/>
            <a:chExt cx="420" cy="264"/>
          </a:xfrm>
        </p:grpSpPr>
        <p:sp>
          <p:nvSpPr>
            <p:cNvPr id="318" name="菱形 317"/>
            <p:cNvSpPr/>
            <p:nvPr/>
          </p:nvSpPr>
          <p:spPr>
            <a:xfrm flipH="1" flipV="1">
              <a:off x="11640" y="4125"/>
              <a:ext cx="321" cy="264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9" name="菱形 318"/>
            <p:cNvSpPr/>
            <p:nvPr/>
          </p:nvSpPr>
          <p:spPr>
            <a:xfrm flipH="1" flipV="1">
              <a:off x="11740" y="4125"/>
              <a:ext cx="321" cy="264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32" name="矩形 31"/>
          <p:cNvSpPr/>
          <p:nvPr/>
        </p:nvSpPr>
        <p:spPr>
          <a:xfrm>
            <a:off x="6649085" y="2935605"/>
            <a:ext cx="4862195" cy="36195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会员端-专属体验升级</a:t>
            </a:r>
            <a:endParaRPr lang="zh-CN" altLang="en-US" sz="14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987550" y="2920048"/>
            <a:ext cx="4269105" cy="393065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5875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企业端-智能会员增长</a:t>
            </a:r>
            <a:endParaRPr lang="zh-CN" altLang="en-US" sz="1400" b="1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98450" y="3905885"/>
            <a:ext cx="1310005" cy="1004570"/>
          </a:xfrm>
          <a:prstGeom prst="rect">
            <a:avLst/>
          </a:prstGeom>
          <a:gradFill flip="none" rotWithShape="1">
            <a:gsLst>
              <a:gs pos="23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数据驱动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会员运营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98450" y="5045710"/>
            <a:ext cx="1310005" cy="1584325"/>
          </a:xfrm>
          <a:prstGeom prst="rect">
            <a:avLst/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55" tIns="49378" rIns="98755" bIns="49378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技术支撑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763395" y="3905885"/>
            <a:ext cx="2393950" cy="100457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284345" y="3905885"/>
            <a:ext cx="2393950" cy="100457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805295" y="3905885"/>
            <a:ext cx="2393950" cy="100457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26245" y="3905885"/>
            <a:ext cx="2393950" cy="1004570"/>
          </a:xfrm>
          <a:prstGeom prst="rect">
            <a:avLst/>
          </a:prstGeom>
          <a:solidFill>
            <a:schemeClr val="accent5">
              <a:lumMod val="20000"/>
              <a:lumOff val="80000"/>
              <a:alpha val="20000"/>
            </a:schemeClr>
          </a:solidFill>
          <a:ln w="12700" cap="flat" cmpd="sng" algn="ctr">
            <a:solidFill>
              <a:schemeClr val="accent5">
                <a:lumMod val="60000"/>
                <a:lumOff val="40000"/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657475" y="4295140"/>
            <a:ext cx="139128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基础属性（性别、地域）、消费偏好、行为标签。</a:t>
            </a:r>
            <a:endParaRPr lang="en-US" altLang="zh-CN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697480" y="3961765"/>
            <a:ext cx="13112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会员画像洞察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" name="图片 66" descr="客户画像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5185" y="4171315"/>
            <a:ext cx="421640" cy="421640"/>
          </a:xfrm>
          <a:prstGeom prst="rect">
            <a:avLst/>
          </a:prstGeom>
        </p:spPr>
      </p:pic>
      <p:sp>
        <p:nvSpPr>
          <p:cNvPr id="71" name="文本框 70"/>
          <p:cNvSpPr txBox="1"/>
          <p:nvPr/>
        </p:nvSpPr>
        <p:spPr>
          <a:xfrm>
            <a:off x="5240020" y="3961765"/>
            <a:ext cx="13112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行为深度分析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" name="图片 72" descr="行为轨迹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2800" y="4171315"/>
            <a:ext cx="487680" cy="385445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5193665" y="4295140"/>
            <a:ext cx="14554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生命周期阶段识别（消费过程跟踪）、价值分层（</a:t>
            </a:r>
            <a:r>
              <a:rPr lang="en-US" altLang="zh-CN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RFM</a:t>
            </a: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模型）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806055" y="3974465"/>
            <a:ext cx="13112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智能决策工具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759700" y="4307840"/>
            <a:ext cx="14554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续费率预测模型、流失风险评分、个性化权益匹配算法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255885" y="3935095"/>
            <a:ext cx="13112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实践驱动优化</a:t>
            </a:r>
            <a:endParaRPr lang="zh-CN" altLang="en-US" sz="1400" b="1" dirty="0">
              <a:solidFill>
                <a:schemeClr val="accent5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209530" y="4268470"/>
            <a:ext cx="145542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</a:t>
            </a:r>
            <a:r>
              <a:rPr lang="zh-CN" altLang="en-US" sz="1000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测试会员权益包、灰度发布新等级体系、线上创新活动发布</a:t>
            </a:r>
            <a:endParaRPr lang="zh-CN" altLang="en-US" sz="1000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0" name="图片 79" descr="icon_ 一体化分析表 Integrated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54210" y="4171315"/>
            <a:ext cx="513715" cy="513715"/>
          </a:xfrm>
          <a:prstGeom prst="rect">
            <a:avLst/>
          </a:prstGeom>
        </p:spPr>
      </p:pic>
      <p:pic>
        <p:nvPicPr>
          <p:cNvPr id="81" name="图片 80" descr="flowDon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6120" y="4171315"/>
            <a:ext cx="506730" cy="506730"/>
          </a:xfrm>
          <a:prstGeom prst="rect">
            <a:avLst/>
          </a:prstGeom>
        </p:spPr>
      </p:pic>
      <p:sp>
        <p:nvSpPr>
          <p:cNvPr id="83" name="圆角矩形 11"/>
          <p:cNvSpPr/>
          <p:nvPr/>
        </p:nvSpPr>
        <p:spPr>
          <a:xfrm>
            <a:off x="1763395" y="5923915"/>
            <a:ext cx="9956165" cy="706755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2015490" y="6101715"/>
            <a:ext cx="1706880" cy="372745"/>
            <a:chOff x="3174" y="9609"/>
            <a:chExt cx="2688" cy="587"/>
          </a:xfrm>
          <a:solidFill>
            <a:schemeClr val="accent1"/>
          </a:solidFill>
        </p:grpSpPr>
        <p:sp>
          <p:nvSpPr>
            <p:cNvPr id="141" name="圆柱体 499"/>
            <p:cNvSpPr/>
            <p:nvPr/>
          </p:nvSpPr>
          <p:spPr>
            <a:xfrm>
              <a:off x="3174" y="9609"/>
              <a:ext cx="2688" cy="587"/>
            </a:xfrm>
            <a:prstGeom prst="can">
              <a:avLst>
                <a:gd name="adj" fmla="val 26575"/>
              </a:avLst>
            </a:prstGeom>
            <a:grpFill/>
            <a:ln w="38100">
              <a:noFill/>
            </a:ln>
            <a:effectLst>
              <a:outerShdw blurRad="254000" dist="123444" dir="5400000" sx="99000" sy="99000" algn="ctr" rotWithShape="0">
                <a:srgbClr val="58729A">
                  <a:alpha val="40000"/>
                </a:srgbClr>
              </a:outerShd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523" y="9791"/>
              <a:ext cx="1985" cy="3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CRM</a:t>
              </a:r>
              <a:r>
                <a:rPr lang="zh-CN" altLang="en-US" sz="1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会员管理系统</a:t>
              </a:r>
              <a:endPara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69385" y="6101715"/>
            <a:ext cx="1706880" cy="372745"/>
            <a:chOff x="3174" y="9609"/>
            <a:chExt cx="2688" cy="587"/>
          </a:xfrm>
          <a:solidFill>
            <a:schemeClr val="accent1"/>
          </a:solidFill>
        </p:grpSpPr>
        <p:sp>
          <p:nvSpPr>
            <p:cNvPr id="152" name="圆柱体 499"/>
            <p:cNvSpPr/>
            <p:nvPr/>
          </p:nvSpPr>
          <p:spPr>
            <a:xfrm>
              <a:off x="3174" y="9609"/>
              <a:ext cx="2688" cy="587"/>
            </a:xfrm>
            <a:prstGeom prst="can">
              <a:avLst>
                <a:gd name="adj" fmla="val 26575"/>
              </a:avLst>
            </a:prstGeom>
            <a:grpFill/>
            <a:ln w="38100">
              <a:noFill/>
            </a:ln>
            <a:effectLst>
              <a:outerShdw blurRad="254000" dist="123444" dir="5400000" sx="99000" sy="99000" algn="ctr" rotWithShape="0">
                <a:srgbClr val="58729A">
                  <a:alpha val="40000"/>
                </a:srgbClr>
              </a:outerShdw>
            </a:effectLst>
          </p:spPr>
          <p:style>
            <a:lnRef idx="2">
              <a:srgbClr val="24396B">
                <a:shade val="50000"/>
              </a:srgbClr>
            </a:lnRef>
            <a:fillRef idx="1">
              <a:srgbClr val="24396B"/>
            </a:fillRef>
            <a:effectRef idx="0">
              <a:srgbClr val="24396B"/>
            </a:effectRef>
            <a:fontRef idx="minor">
              <a:srgbClr val="FFFFFF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zh-CN" altLang="en-US" sz="1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3552" y="9791"/>
              <a:ext cx="2061" cy="3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ERP业务生产系统</a:t>
              </a:r>
              <a:endPara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55" name="圆柱体 499"/>
          <p:cNvSpPr/>
          <p:nvPr/>
        </p:nvSpPr>
        <p:spPr>
          <a:xfrm>
            <a:off x="5923280" y="6101715"/>
            <a:ext cx="1706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圆柱体 499"/>
          <p:cNvSpPr/>
          <p:nvPr/>
        </p:nvSpPr>
        <p:spPr>
          <a:xfrm>
            <a:off x="7877175" y="6101715"/>
            <a:ext cx="1706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圆柱体 499"/>
          <p:cNvSpPr/>
          <p:nvPr/>
        </p:nvSpPr>
        <p:spPr>
          <a:xfrm>
            <a:off x="9831070" y="6101715"/>
            <a:ext cx="1706880" cy="372745"/>
          </a:xfrm>
          <a:prstGeom prst="can">
            <a:avLst>
              <a:gd name="adj" fmla="val 26575"/>
            </a:avLst>
          </a:prstGeom>
          <a:solidFill>
            <a:schemeClr val="accent1"/>
          </a:solidFill>
          <a:ln w="38100">
            <a:noFill/>
          </a:ln>
          <a:effectLst>
            <a:outerShdw blurRad="254000" dist="123444" dir="5400000" sx="99000" sy="99000" algn="ctr" rotWithShape="0">
              <a:srgbClr val="58729A">
                <a:alpha val="40000"/>
              </a:srgbClr>
            </a:outerShdw>
          </a:effectLst>
        </p:spPr>
        <p:style>
          <a:lnRef idx="2">
            <a:srgbClr val="24396B">
              <a:shade val="50000"/>
            </a:srgbClr>
          </a:lnRef>
          <a:fillRef idx="1">
            <a:srgbClr val="24396B"/>
          </a:fillRef>
          <a:effectRef idx="0">
            <a:srgbClr val="24396B"/>
          </a:effectRef>
          <a:fontRef idx="minor">
            <a:srgbClr val="FFFFFF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algn="ctr"/>
            <a:endParaRPr lang="zh-CN" alt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" name="圆角矩形 11"/>
          <p:cNvSpPr/>
          <p:nvPr/>
        </p:nvSpPr>
        <p:spPr>
          <a:xfrm>
            <a:off x="1764030" y="5045710"/>
            <a:ext cx="9956165" cy="805180"/>
          </a:xfrm>
          <a:prstGeom prst="roundRect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 w="12700" cap="flat" cmpd="sng" algn="ctr">
            <a:solidFill>
              <a:schemeClr val="accent1">
                <a:alpha val="70000"/>
              </a:scheme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ysClr val="window" lastClr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0" name="右箭头 239"/>
          <p:cNvSpPr/>
          <p:nvPr/>
        </p:nvSpPr>
        <p:spPr>
          <a:xfrm rot="16200000" flipV="1">
            <a:off x="2440305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cs typeface="微软雅黑" panose="020B0503020204020204" charset="-122"/>
            </a:endParaRPr>
          </a:p>
        </p:txBody>
      </p:sp>
      <p:sp>
        <p:nvSpPr>
          <p:cNvPr id="241" name="右箭头 240"/>
          <p:cNvSpPr/>
          <p:nvPr/>
        </p:nvSpPr>
        <p:spPr>
          <a:xfrm rot="16200000" flipV="1">
            <a:off x="3013710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2" name="右箭头 241"/>
          <p:cNvSpPr/>
          <p:nvPr/>
        </p:nvSpPr>
        <p:spPr>
          <a:xfrm rot="16200000" flipV="1">
            <a:off x="4394200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3" name="右箭头 242"/>
          <p:cNvSpPr/>
          <p:nvPr/>
        </p:nvSpPr>
        <p:spPr>
          <a:xfrm rot="16200000" flipV="1">
            <a:off x="4967605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4" name="右箭头 243"/>
          <p:cNvSpPr/>
          <p:nvPr/>
        </p:nvSpPr>
        <p:spPr>
          <a:xfrm rot="16200000" flipV="1">
            <a:off x="6330950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5" name="右箭头 244"/>
          <p:cNvSpPr/>
          <p:nvPr/>
        </p:nvSpPr>
        <p:spPr>
          <a:xfrm rot="16200000" flipV="1">
            <a:off x="6904355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6" name="右箭头 245"/>
          <p:cNvSpPr/>
          <p:nvPr/>
        </p:nvSpPr>
        <p:spPr>
          <a:xfrm rot="16200000" flipV="1">
            <a:off x="8315325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7" name="右箭头 246"/>
          <p:cNvSpPr/>
          <p:nvPr/>
        </p:nvSpPr>
        <p:spPr>
          <a:xfrm rot="16200000" flipV="1">
            <a:off x="8888730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8" name="右箭头 247"/>
          <p:cNvSpPr/>
          <p:nvPr/>
        </p:nvSpPr>
        <p:spPr>
          <a:xfrm rot="16200000" flipV="1">
            <a:off x="10255250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49" name="右箭头 248"/>
          <p:cNvSpPr/>
          <p:nvPr/>
        </p:nvSpPr>
        <p:spPr>
          <a:xfrm rot="16200000" flipV="1">
            <a:off x="10828655" y="5800725"/>
            <a:ext cx="250825" cy="249555"/>
          </a:xfrm>
          <a:prstGeom prst="rightArrow">
            <a:avLst>
              <a:gd name="adj1" fmla="val 39783"/>
              <a:gd name="adj2" fmla="val 41835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cs typeface="微软雅黑" panose="020B0503020204020204" charset="-122"/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146165" y="6217285"/>
            <a:ext cx="1308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智能化营销平台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058785" y="6203950"/>
            <a:ext cx="1390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客户端</a:t>
            </a:r>
            <a:r>
              <a:rPr lang="en-US" alt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直连中台</a:t>
            </a:r>
            <a:endParaRPr lang="zh-CN" alt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0010140" y="6203950"/>
            <a:ext cx="13906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sz="1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智能决策分析平台</a:t>
            </a:r>
            <a:endParaRPr lang="zh-CN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5" name="文本框 254"/>
          <p:cNvSpPr txBox="1"/>
          <p:nvPr>
            <p:custDataLst>
              <p:tags r:id="rId11"/>
            </p:custDataLst>
          </p:nvPr>
        </p:nvSpPr>
        <p:spPr>
          <a:xfrm>
            <a:off x="2232025" y="5455920"/>
            <a:ext cx="12623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r>
              <a:rPr lang="zh-CN" altLang="en-US" sz="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裂变红包、付费会员试用期、联名卡申领</a:t>
            </a:r>
            <a:endParaRPr lang="zh-CN" altLang="en-US" sz="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矩形: 圆角 5"/>
          <p:cNvSpPr/>
          <p:nvPr/>
        </p:nvSpPr>
        <p:spPr>
          <a:xfrm>
            <a:off x="2203450" y="5135245"/>
            <a:ext cx="1318895" cy="28448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58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9" name="矩形 258"/>
          <p:cNvSpPr/>
          <p:nvPr>
            <p:custDataLst>
              <p:tags r:id="rId12"/>
            </p:custDataLst>
          </p:nvPr>
        </p:nvSpPr>
        <p:spPr>
          <a:xfrm>
            <a:off x="2224405" y="5147945"/>
            <a:ext cx="1214120" cy="275590"/>
          </a:xfrm>
          <a:prstGeom prst="rect">
            <a:avLst/>
          </a:prstGeom>
          <a:solidFill>
            <a:srgbClr val="000000">
              <a:alpha val="0"/>
            </a:srgb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wrap="square" lIns="91440" tIns="45720" rIns="91440" bIns="4572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招募激活工具</a:t>
            </a:r>
            <a:endParaRPr lang="zh-CN"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2" name="文本框 261"/>
          <p:cNvSpPr txBox="1"/>
          <p:nvPr>
            <p:custDataLst>
              <p:tags r:id="rId13"/>
            </p:custDataLst>
          </p:nvPr>
        </p:nvSpPr>
        <p:spPr>
          <a:xfrm>
            <a:off x="4159885" y="5455920"/>
            <a:ext cx="13423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签到积分体系、会员日专属折扣、等级任务挑战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矩形: 圆角 5"/>
          <p:cNvSpPr/>
          <p:nvPr/>
        </p:nvSpPr>
        <p:spPr>
          <a:xfrm>
            <a:off x="4131310" y="5135245"/>
            <a:ext cx="1318895" cy="28448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58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5" name="矩形 264"/>
          <p:cNvSpPr/>
          <p:nvPr>
            <p:custDataLst>
              <p:tags r:id="rId14"/>
            </p:custDataLst>
          </p:nvPr>
        </p:nvSpPr>
        <p:spPr>
          <a:xfrm>
            <a:off x="4193540" y="5144135"/>
            <a:ext cx="1252220" cy="27559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1">
                        <a:alpha val="15000"/>
                      </a:schemeClr>
                    </a:gs>
                  </a:gsLst>
                  <a:lin ang="10800000" scaled="1"/>
                </a:gradFill>
              </a14:hiddenFill>
            </a:ext>
          </a:extLst>
        </p:spPr>
        <p:txBody>
          <a:bodyPr wrap="square" lIns="91440" tIns="45720" rIns="91440" bIns="4572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活跃留存抓手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7" name="文本框 266"/>
          <p:cNvSpPr txBox="1"/>
          <p:nvPr>
            <p:custDataLst>
              <p:tags r:id="rId15"/>
            </p:custDataLst>
          </p:nvPr>
        </p:nvSpPr>
        <p:spPr>
          <a:xfrm>
            <a:off x="6140450" y="5455920"/>
            <a:ext cx="13423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阶梯式权益升级、储值卡加赠、限量商品预售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9" name="矩形: 圆角 5"/>
          <p:cNvSpPr/>
          <p:nvPr/>
        </p:nvSpPr>
        <p:spPr>
          <a:xfrm>
            <a:off x="6111875" y="5135245"/>
            <a:ext cx="1318895" cy="28448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58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0" name="矩形 269"/>
          <p:cNvSpPr/>
          <p:nvPr>
            <p:custDataLst>
              <p:tags r:id="rId16"/>
            </p:custDataLst>
          </p:nvPr>
        </p:nvSpPr>
        <p:spPr>
          <a:xfrm>
            <a:off x="6174105" y="5144135"/>
            <a:ext cx="1252220" cy="27559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1">
                        <a:alpha val="15000"/>
                      </a:schemeClr>
                    </a:gs>
                  </a:gsLst>
                  <a:lin ang="10800000" scaled="1"/>
                </a:gradFill>
              </a14:hiddenFill>
            </a:ext>
          </a:extLst>
        </p:spPr>
        <p:txBody>
          <a:bodyPr wrap="square" lIns="91440" tIns="45720" rIns="91440" bIns="4572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升级复购推荐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2" name="文本框 271"/>
          <p:cNvSpPr txBox="1"/>
          <p:nvPr>
            <p:custDataLst>
              <p:tags r:id="rId17"/>
            </p:custDataLst>
          </p:nvPr>
        </p:nvSpPr>
        <p:spPr>
          <a:xfrm>
            <a:off x="10101580" y="5455920"/>
            <a:ext cx="13423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沉默期唤醒礼包、流失预测干预、老会员复归计划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矩形: 圆角 5"/>
          <p:cNvSpPr/>
          <p:nvPr/>
        </p:nvSpPr>
        <p:spPr>
          <a:xfrm>
            <a:off x="10073005" y="5135245"/>
            <a:ext cx="1318895" cy="28448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58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5" name="矩形 274"/>
          <p:cNvSpPr/>
          <p:nvPr>
            <p:custDataLst>
              <p:tags r:id="rId18"/>
            </p:custDataLst>
          </p:nvPr>
        </p:nvSpPr>
        <p:spPr>
          <a:xfrm>
            <a:off x="10135235" y="5144135"/>
            <a:ext cx="1252220" cy="27559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1">
                        <a:alpha val="15000"/>
                      </a:schemeClr>
                    </a:gs>
                  </a:gsLst>
                  <a:lin ang="10800000" scaled="1"/>
                </a:gradFill>
              </a14:hiddenFill>
            </a:ext>
          </a:extLst>
        </p:spPr>
        <p:txBody>
          <a:bodyPr wrap="square" lIns="91440" tIns="45720" rIns="91440" bIns="4572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流失召回帮手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77" name="文本框 276"/>
          <p:cNvSpPr txBox="1"/>
          <p:nvPr>
            <p:custDataLst>
              <p:tags r:id="rId19"/>
            </p:custDataLst>
          </p:nvPr>
        </p:nvSpPr>
        <p:spPr>
          <a:xfrm>
            <a:off x="8121015" y="5455920"/>
            <a:ext cx="134239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 typeface="微软雅黑" panose="020B0503020204020204" charset="-122"/>
              <a:buNone/>
            </a:pP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高价值会员</a:t>
            </a:r>
            <a:r>
              <a:rPr lang="zh-CN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专属服务</a:t>
            </a:r>
            <a:r>
              <a:rPr lang="zh-CN" altLang="en-US" sz="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、会员活动创建与活动效果</a:t>
            </a:r>
            <a:endParaRPr lang="zh-CN" altLang="en-US" sz="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9" name="矩形: 圆角 5"/>
          <p:cNvSpPr/>
          <p:nvPr/>
        </p:nvSpPr>
        <p:spPr>
          <a:xfrm>
            <a:off x="8092440" y="5135245"/>
            <a:ext cx="1318895" cy="28448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5875" cap="flat" cmpd="sng" algn="ctr">
            <a:solidFill>
              <a:schemeClr val="accent1">
                <a:alpha val="5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80" name="矩形 279"/>
          <p:cNvSpPr/>
          <p:nvPr>
            <p:custDataLst>
              <p:tags r:id="rId20"/>
            </p:custDataLst>
          </p:nvPr>
        </p:nvSpPr>
        <p:spPr>
          <a:xfrm>
            <a:off x="8154670" y="5144135"/>
            <a:ext cx="1252220" cy="27559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1">
                        <a:alpha val="15000"/>
                      </a:schemeClr>
                    </a:gs>
                  </a:gsLst>
                  <a:lin ang="10800000" scaled="1"/>
                </a:gradFill>
              </a14:hiddenFill>
            </a:ext>
          </a:extLst>
        </p:spPr>
        <p:txBody>
          <a:bodyPr wrap="square" lIns="91440" tIns="45720" rIns="91440" bIns="4572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忠诚深化监控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显眼包PPT-2"/>
          <p:cNvSpPr/>
          <p:nvPr/>
        </p:nvSpPr>
        <p:spPr>
          <a:xfrm>
            <a:off x="1977390" y="3381375"/>
            <a:ext cx="136715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更低流失率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8" name="显眼包PPT-2"/>
          <p:cNvSpPr/>
          <p:nvPr/>
        </p:nvSpPr>
        <p:spPr>
          <a:xfrm>
            <a:off x="3439160" y="3381375"/>
            <a:ext cx="136715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更高复购率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9" name="显眼包PPT-2"/>
          <p:cNvSpPr/>
          <p:nvPr/>
        </p:nvSpPr>
        <p:spPr>
          <a:xfrm>
            <a:off x="4889500" y="3381375"/>
            <a:ext cx="136715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更强品牌忠诚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11" name="显眼包PPT-2"/>
          <p:cNvSpPr/>
          <p:nvPr/>
        </p:nvSpPr>
        <p:spPr>
          <a:xfrm>
            <a:off x="6649085" y="3381375"/>
            <a:ext cx="88328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有权益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20" name="显眼包PPT-2"/>
          <p:cNvSpPr/>
          <p:nvPr/>
        </p:nvSpPr>
        <p:spPr>
          <a:xfrm>
            <a:off x="7642225" y="3381375"/>
            <a:ext cx="88328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有温度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35" name="显眼包PPT-2"/>
          <p:cNvSpPr/>
          <p:nvPr/>
        </p:nvSpPr>
        <p:spPr>
          <a:xfrm>
            <a:off x="8635365" y="3381375"/>
            <a:ext cx="88328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有特权</a:t>
            </a:r>
            <a:endParaRPr lang="en-US" altLang="zh-CN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36" name="显眼包PPT-2"/>
          <p:cNvSpPr/>
          <p:nvPr/>
        </p:nvSpPr>
        <p:spPr>
          <a:xfrm>
            <a:off x="9628505" y="3381375"/>
            <a:ext cx="88328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有社群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sp>
        <p:nvSpPr>
          <p:cNvPr id="37" name="显眼包PPT-2"/>
          <p:cNvSpPr/>
          <p:nvPr/>
        </p:nvSpPr>
        <p:spPr>
          <a:xfrm>
            <a:off x="10621645" y="3381375"/>
            <a:ext cx="883285" cy="32448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cs typeface="微软雅黑" panose="020B0503020204020204" charset="-122"/>
              </a:rPr>
              <a:t>有惊喜</a:t>
            </a:r>
            <a:endParaRPr lang="zh-CN" altLang="en-US" sz="1400" dirty="0">
              <a:solidFill>
                <a:schemeClr val="tx2"/>
              </a:solidFill>
              <a:cs typeface="微软雅黑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 flipH="1">
            <a:off x="5417820" y="2631758"/>
            <a:ext cx="266700" cy="167640"/>
            <a:chOff x="11640" y="4125"/>
            <a:chExt cx="420" cy="264"/>
          </a:xfrm>
        </p:grpSpPr>
        <p:sp>
          <p:nvSpPr>
            <p:cNvPr id="40" name="菱形 39"/>
            <p:cNvSpPr/>
            <p:nvPr/>
          </p:nvSpPr>
          <p:spPr>
            <a:xfrm flipH="1" flipV="1">
              <a:off x="11640" y="4125"/>
              <a:ext cx="321" cy="264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1" name="菱形 40"/>
            <p:cNvSpPr/>
            <p:nvPr/>
          </p:nvSpPr>
          <p:spPr>
            <a:xfrm flipH="1" flipV="1">
              <a:off x="11740" y="4125"/>
              <a:ext cx="321" cy="264"/>
            </a:xfrm>
            <a:prstGeom prst="diamond">
              <a:avLst/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</a:schemeClr>
                </a:gs>
                <a:gs pos="5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endParaRPr lang="zh-CN" altLang="en-US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675245" y="347980"/>
            <a:ext cx="4588510" cy="367030"/>
            <a:chOff x="12087" y="-1089"/>
            <a:chExt cx="7226" cy="578"/>
          </a:xfrm>
        </p:grpSpPr>
        <p:pic>
          <p:nvPicPr>
            <p:cNvPr id="43" name="图片 42"/>
            <p:cNvPicPr>
              <a:picLocks noChangeAspect="1"/>
            </p:cNvPicPr>
            <p:nvPr userDrawn="1"/>
          </p:nvPicPr>
          <p:blipFill>
            <a:blip r:embed="rId21"/>
            <a:srcRect r="57320" b="-13333"/>
            <a:stretch>
              <a:fillRect/>
            </a:stretch>
          </p:blipFill>
          <p:spPr>
            <a:xfrm>
              <a:off x="12087" y="-1089"/>
              <a:ext cx="2548" cy="578"/>
            </a:xfrm>
            <a:prstGeom prst="rect">
              <a:avLst/>
            </a:prstGeom>
          </p:spPr>
        </p:pic>
        <p:sp>
          <p:nvSpPr>
            <p:cNvPr id="44" name="文本框 43"/>
            <p:cNvSpPr txBox="1"/>
            <p:nvPr userDrawn="1"/>
          </p:nvSpPr>
          <p:spPr>
            <a:xfrm>
              <a:off x="14635" y="-993"/>
              <a:ext cx="46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复杂逻辑场景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框架搭建系列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PPT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模板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©天蝎PPT1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 flipH="1">
            <a:off x="4431665" y="1270"/>
            <a:ext cx="7755825" cy="6858000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1270"/>
            <a:ext cx="12268200" cy="6858000"/>
          </a:xfrm>
          <a:prstGeom prst="rect">
            <a:avLst/>
          </a:prstGeom>
          <a:gradFill>
            <a:gsLst>
              <a:gs pos="0">
                <a:srgbClr val="EDEEF2">
                  <a:lumMod val="0"/>
                  <a:lumOff val="100000"/>
                </a:srgbClr>
              </a:gs>
              <a:gs pos="100000">
                <a:srgbClr val="DBDBDD">
                  <a:alpha val="5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598" name="Group"/>
          <p:cNvGrpSpPr/>
          <p:nvPr/>
        </p:nvGrpSpPr>
        <p:grpSpPr>
          <a:xfrm>
            <a:off x="1443368" y="1358900"/>
            <a:ext cx="9305264" cy="4305301"/>
            <a:chOff x="0" y="0"/>
            <a:chExt cx="18610527" cy="8610600"/>
          </a:xfrm>
          <a:solidFill>
            <a:schemeClr val="accent1"/>
          </a:solidFill>
        </p:grpSpPr>
        <p:sp>
          <p:nvSpPr>
            <p:cNvPr id="5596" name="Triangle"/>
            <p:cNvSpPr/>
            <p:nvPr/>
          </p:nvSpPr>
          <p:spPr>
            <a:xfrm rot="5400000">
              <a:off x="0" y="7340600"/>
              <a:ext cx="1270000" cy="1270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5597" name="Rounded Rectangle"/>
            <p:cNvSpPr/>
            <p:nvPr/>
          </p:nvSpPr>
          <p:spPr>
            <a:xfrm>
              <a:off x="0" y="0"/>
              <a:ext cx="18610528" cy="7924800"/>
            </a:xfrm>
            <a:prstGeom prst="roundRect">
              <a:avLst>
                <a:gd name="adj" fmla="val 2404"/>
              </a:avLst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454150" y="2272665"/>
            <a:ext cx="9283700" cy="157607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algn="ctr"/>
            <a:r>
              <a:rPr lang="id-ID" sz="8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  <a:endParaRPr lang="id-ID" sz="8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7"/>
          <p:cNvSpPr txBox="1"/>
          <p:nvPr/>
        </p:nvSpPr>
        <p:spPr>
          <a:xfrm>
            <a:off x="3982085" y="4293870"/>
            <a:ext cx="497014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：开悟思维    </a:t>
            </a:r>
            <a:r>
              <a:rPr lang="id-ID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汇报时间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en-ID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0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1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2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3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4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5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6.xml><?xml version="1.0" encoding="utf-8"?>
<p:tagLst xmlns:p="http://schemas.openxmlformats.org/presentationml/2006/main">
  <p:tag name="KSO_WM_DIAGRAM_VIRTUALLY_FRAME" val="{&quot;height&quot;:410,&quot;left&quot;:29.05,&quot;top&quot;:91.25,&quot;width&quot;:920.15}"/>
</p:tagLst>
</file>

<file path=ppt/tags/tag27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28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29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0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1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2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3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4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5.xml><?xml version="1.0" encoding="utf-8"?>
<p:tagLst xmlns:p="http://schemas.openxmlformats.org/presentationml/2006/main">
  <p:tag name="KSO_WM_DIAGRAM_VIRTUALLY_FRAME" val="{&quot;height&quot;:410,&quot;left&quot;:29.05,&quot;top&quot;:91.25,&quot;width&quot;:912.85}"/>
</p:tagLst>
</file>

<file path=ppt/tags/tag36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37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38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39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0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1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2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3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4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5.xml><?xml version="1.0" encoding="utf-8"?>
<p:tagLst xmlns:p="http://schemas.openxmlformats.org/presentationml/2006/main">
  <p:tag name="KSO_WM_DIAGRAM_VIRTUALLY_FRAME" val="{&quot;height&quot;:410,&quot;left&quot;:29.05,&quot;top&quot;:91.25,&quot;width&quot;:919.5}"/>
</p:tagLst>
</file>

<file path=ppt/tags/tag4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4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4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4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5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6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7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8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9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0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1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6.xml><?xml version="1.0" encoding="utf-8"?>
<p:tagLst xmlns:p="http://schemas.openxmlformats.org/presentationml/2006/main">
  <p:tag name="TEXTZ '" val="-2.147484E+09"/>
  <p:tag name="SHADOWSIZE" val="100"/>
  <p:tag name="KSO_WM_DIAGRAM_VIRTUALLY_FRAME" val="{&quot;height&quot;:403.1,&quot;left&quot;:55.7,&quot;top&quot;:109.25,&quot;width&quot;:860.45}"/>
</p:tagLst>
</file>

<file path=ppt/tags/tag12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2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3.xml><?xml version="1.0" encoding="utf-8"?>
<p:tagLst xmlns:p="http://schemas.openxmlformats.org/presentationml/2006/main">
  <p:tag name="KSO_WM_DIAGRAM_VIRTUALLY_FRAME" val="{&quot;height&quot;:336.9,&quot;left&quot;:59.1,&quot;top&quot;:200.4,&quot;width&quot;:851.65}"/>
</p:tagLst>
</file>

<file path=ppt/tags/tag13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3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403.1,&quot;left&quot;:55.7,&quot;top&quot;:109.25,&quot;width&quot;:860.45}"/>
</p:tagLst>
</file>

<file path=ppt/tags/tag143.xml><?xml version="1.0" encoding="utf-8"?>
<p:tagLst xmlns:p="http://schemas.openxmlformats.org/presentationml/2006/main">
  <p:tag name="KSO_WM_UNIT_FILL_FORE_SCHEMECOLOR_INDEX_BRIGHTNESS" val="0.8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403.1,&quot;left&quot;:55.7,&quot;top&quot;:109.25,&quot;width&quot;:860.45}"/>
</p:tagLst>
</file>

<file path=ppt/tags/tag14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4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2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5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5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66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67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68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69.xml><?xml version="1.0" encoding="utf-8"?>
<p:tagLst xmlns:p="http://schemas.openxmlformats.org/presentationml/2006/main">
  <p:tag name="SHADOWSIZE" val="90"/>
  <p:tag name="ADJUSTMENTS" val="6.765331"/>
  <p:tag name="KSO_WM_DIAGRAM_VIRTUALLY_FRAME" val="{&quot;height&quot;:403.1,&quot;left&quot;:55.7,&quot;top&quot;:109.25,&quot;width&quot;:860.45}"/>
</p:tagLst>
</file>

<file path=ppt/tags/tag17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7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1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2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3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4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5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6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7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8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89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0.xml><?xml version="1.0" encoding="utf-8"?>
<p:tagLst xmlns:p="http://schemas.openxmlformats.org/presentationml/2006/main">
  <p:tag name="KSO_WM_DIAGRAM_VIRTUALLY_FRAME" val="{&quot;height&quot;:403.1,&quot;left&quot;:55.7,&quot;top&quot;:109.25,&quot;width&quot;:860.45}"/>
</p:tagLst>
</file>

<file path=ppt/tags/tag191.xml><?xml version="1.0" encoding="utf-8"?>
<p:tagLst xmlns:p="http://schemas.openxmlformats.org/presentationml/2006/main">
  <p:tag name="KSO_WM_DIAGRAM_VIRTUALLY_FRAME" val="{&quot;height&quot;:119.55858267716535,&quot;left&quot;:56.673779527559056,&quot;top&quot;:327.6747244094488,&quot;width&quot;:876.6085826771654}"/>
</p:tagLst>
</file>

<file path=ppt/tags/tag192.xml><?xml version="1.0" encoding="utf-8"?>
<p:tagLst xmlns:p="http://schemas.openxmlformats.org/presentationml/2006/main">
  <p:tag name="KSO_WM_DIAGRAM_VIRTUALLY_FRAME" val="{&quot;height&quot;:119.55858267716535,&quot;left&quot;:56.673779527559056,&quot;top&quot;:327.6747244094488,&quot;width&quot;:876.6085826771654}"/>
</p:tagLst>
</file>

<file path=ppt/tags/tag193.xml><?xml version="1.0" encoding="utf-8"?>
<p:tagLst xmlns:p="http://schemas.openxmlformats.org/presentationml/2006/main">
  <p:tag name="KSO_WM_DIAGRAM_VIRTUALLY_FRAME" val="{&quot;height&quot;:119.55858267716535,&quot;left&quot;:56.673779527559056,&quot;top&quot;:327.6747244094488,&quot;width&quot;:876.6085826771654}"/>
</p:tagLst>
</file>

<file path=ppt/tags/tag194.xml><?xml version="1.0" encoding="utf-8"?>
<p:tagLst xmlns:p="http://schemas.openxmlformats.org/presentationml/2006/main">
  <p:tag name="KSO_WM_DIAGRAM_VIRTUALLY_FRAME" val="{&quot;height&quot;:119.55858267716535,&quot;left&quot;:56.673779527559056,&quot;top&quot;:327.6747244094488,&quot;width&quot;:876.6085826771654}"/>
</p:tagLst>
</file>

<file path=ppt/tags/tag195.xml><?xml version="1.0" encoding="utf-8"?>
<p:tagLst xmlns:p="http://schemas.openxmlformats.org/presentationml/2006/main">
  <p:tag name="KSO_WM_DIAGRAM_VIRTUALLY_FRAME" val="{&quot;height&quot;:119.55858267716535,&quot;left&quot;:56.673779527559056,&quot;top&quot;:327.6747244094488,&quot;width&quot;:876.6085826771654}"/>
</p:tagLst>
</file>

<file path=ppt/tags/tag196.xml><?xml version="1.0" encoding="utf-8"?>
<p:tagLst xmlns:p="http://schemas.openxmlformats.org/presentationml/2006/main">
  <p:tag name="SHADOWSIZE" val="108"/>
  <p:tag name="TEXTSHADOWSIZE" val="100"/>
</p:tagLst>
</file>

<file path=ppt/tags/tag197.xml><?xml version="1.0" encoding="utf-8"?>
<p:tagLst xmlns:p="http://schemas.openxmlformats.org/presentationml/2006/main">
  <p:tag name="SHADOWSIZE" val="108"/>
  <p:tag name="TEXTSHADOWSIZE" val="100"/>
</p:tagLst>
</file>

<file path=ppt/tags/tag198.xml><?xml version="1.0" encoding="utf-8"?>
<p:tagLst xmlns:p="http://schemas.openxmlformats.org/presentationml/2006/main">
  <p:tag name="SHADOWSIZE" val="108"/>
  <p:tag name="TEXTSHADOWSIZE" val="100"/>
</p:tagLst>
</file>

<file path=ppt/tags/tag199.xml><?xml version="1.0" encoding="utf-8"?>
<p:tagLst xmlns:p="http://schemas.openxmlformats.org/presentationml/2006/main">
  <p:tag name="SHADOWSIZE" val="108"/>
  <p:tag name="TEXTSHADOWSIZE" val="100"/>
</p:tagLst>
</file>

<file path=ppt/tags/tag200.xml><?xml version="1.0" encoding="utf-8"?>
<p:tagLst xmlns:p="http://schemas.openxmlformats.org/presentationml/2006/main">
  <p:tag name="SHADOWSIZE" val="108"/>
  <p:tag name="TEXTSHADOWSIZE" val="100"/>
</p:tagLst>
</file>

<file path=ppt/tags/tag201.xml><?xml version="1.0" encoding="utf-8"?>
<p:tagLst xmlns:p="http://schemas.openxmlformats.org/presentationml/2006/main">
  <p:tag name="SHADOWSIZE" val="108"/>
  <p:tag name="TEXTSHADOWSIZE" val="100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TEXTSHADOWSIZE" val="100"/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SHADOWSIZE" val="100"/>
  <p:tag name="KSO_WM_BEAUTIFY_FLAG" val=""/>
</p:tagLst>
</file>

<file path=ppt/tags/tag220.xml><?xml version="1.0" encoding="utf-8"?>
<p:tagLst xmlns:p="http://schemas.openxmlformats.org/presentationml/2006/main">
  <p:tag name="SHADOWSIZE" val="100"/>
  <p:tag name="KSO_WM_BEAUTIFY_FLAG" val=""/>
</p:tagLst>
</file>

<file path=ppt/tags/tag221.xml><?xml version="1.0" encoding="utf-8"?>
<p:tagLst xmlns:p="http://schemas.openxmlformats.org/presentationml/2006/main">
  <p:tag name="SHADOWSIZE" val="100"/>
  <p:tag name="KSO_WM_BEAUTIFY_FLAG" val=""/>
</p:tagLst>
</file>

<file path=ppt/tags/tag222.xml><?xml version="1.0" encoding="utf-8"?>
<p:tagLst xmlns:p="http://schemas.openxmlformats.org/presentationml/2006/main">
  <p:tag name="SHADOWSIZE" val="100"/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SHADOWSIZE" val="100"/>
  <p:tag name="KSO_WM_BEAUTIFY_FLAG" val=""/>
</p:tagLst>
</file>

<file path=ppt/tags/tag231.xml><?xml version="1.0" encoding="utf-8"?>
<p:tagLst xmlns:p="http://schemas.openxmlformats.org/presentationml/2006/main">
  <p:tag name="SHADOWSIZE" val="100"/>
  <p:tag name="KSO_WM_BEAUTIFY_FLAG" val=""/>
</p:tagLst>
</file>

<file path=ppt/tags/tag232.xml><?xml version="1.0" encoding="utf-8"?>
<p:tagLst xmlns:p="http://schemas.openxmlformats.org/presentationml/2006/main">
  <p:tag name="SHADOWSIZE" val="100"/>
  <p:tag name="KSO_WM_BEAUTIFY_FLAG" val=""/>
</p:tagLst>
</file>

<file path=ppt/tags/tag233.xml><?xml version="1.0" encoding="utf-8"?>
<p:tagLst xmlns:p="http://schemas.openxmlformats.org/presentationml/2006/main">
  <p:tag name="SHADOWSIZE" val="100"/>
  <p:tag name="KSO_WM_BEAUTIFY_FLAG" val=""/>
</p:tagLst>
</file>

<file path=ppt/tags/tag234.xml><?xml version="1.0" encoding="utf-8"?>
<p:tagLst xmlns:p="http://schemas.openxmlformats.org/presentationml/2006/main">
  <p:tag name="SHADOWSIZE" val="100"/>
  <p:tag name="KSO_WM_BEAUTIFY_FLAG" val=""/>
</p:tagLst>
</file>

<file path=ppt/tags/tag235.xml><?xml version="1.0" encoding="utf-8"?>
<p:tagLst xmlns:p="http://schemas.openxmlformats.org/presentationml/2006/main">
  <p:tag name="SHADOWSIZE" val="100"/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SHADOWSIZE" val="100"/>
  <p:tag name="ADJUSTMENTS" val="4.790097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SHADOWSIZE" val="100"/>
  <p:tag name="ADJUSTMENTS" val="4.790097"/>
</p:tagLst>
</file>

<file path=ppt/tags/tag244.xml><?xml version="1.0" encoding="utf-8"?>
<p:tagLst xmlns:p="http://schemas.openxmlformats.org/presentationml/2006/main">
  <p:tag name="SHADOWSIZE" val="100"/>
  <p:tag name="ADJUSTMENTS" val="4.790097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SHADOWSIZE" val="100"/>
  <p:tag name="ADJUSTMENTS" val="4.790097"/>
</p:tagLst>
</file>

<file path=ppt/tags/tag320.xml><?xml version="1.0" encoding="utf-8"?>
<p:tagLst xmlns:p="http://schemas.openxmlformats.org/presentationml/2006/main">
  <p:tag name="SHADOWSIZE" val="100"/>
  <p:tag name="ADJUSTMENTS" val="4.790097"/>
</p:tagLst>
</file>

<file path=ppt/tags/tag321.xml><?xml version="1.0" encoding="utf-8"?>
<p:tagLst xmlns:p="http://schemas.openxmlformats.org/presentationml/2006/main">
  <p:tag name="ADJUSTMENTS" val="34.13236"/>
</p:tagLst>
</file>

<file path=ppt/tags/tag322.xml><?xml version="1.0" encoding="utf-8"?>
<p:tagLst xmlns:p="http://schemas.openxmlformats.org/presentationml/2006/main">
  <p:tag name="SHADOWSIZE" val="95"/>
  <p:tag name="ADJUSTMENTS" val="10.52441"/>
</p:tagLst>
</file>

<file path=ppt/tags/tag323.xml><?xml version="1.0" encoding="utf-8"?>
<p:tagLst xmlns:p="http://schemas.openxmlformats.org/presentationml/2006/main">
  <p:tag name="SHADOWSIZE" val="95"/>
  <p:tag name="ADJUSTMENTS" val="10.52441"/>
</p:tagLst>
</file>

<file path=ppt/tags/tag324.xml><?xml version="1.0" encoding="utf-8"?>
<p:tagLst xmlns:p="http://schemas.openxmlformats.org/presentationml/2006/main">
  <p:tag name="SHADOWSIZE" val="95"/>
  <p:tag name="ADJUSTMENTS" val="10.52441"/>
</p:tagLst>
</file>

<file path=ppt/tags/tag325.xml><?xml version="1.0" encoding="utf-8"?>
<p:tagLst xmlns:p="http://schemas.openxmlformats.org/presentationml/2006/main">
  <p:tag name="SHADOWSIZE" val="95"/>
  <p:tag name="ADJUSTMENTS" val="10.52441"/>
</p:tagLst>
</file>

<file path=ppt/tags/tag326.xml><?xml version="1.0" encoding="utf-8"?>
<p:tagLst xmlns:p="http://schemas.openxmlformats.org/presentationml/2006/main">
  <p:tag name="SHADOWSIZE" val="95"/>
  <p:tag name="ADJUSTMENTS" val="10.52441"/>
</p:tagLst>
</file>

<file path=ppt/tags/tag327.xml><?xml version="1.0" encoding="utf-8"?>
<p:tagLst xmlns:p="http://schemas.openxmlformats.org/presentationml/2006/main">
  <p:tag name="SHADOWSIZE" val="95"/>
  <p:tag name="ADJUSTMENTS" val="10.52441"/>
</p:tagLst>
</file>

<file path=ppt/tags/tag328.xml><?xml version="1.0" encoding="utf-8"?>
<p:tagLst xmlns:p="http://schemas.openxmlformats.org/presentationml/2006/main">
  <p:tag name="SHADOWSIZE" val="95"/>
  <p:tag name="ADJUSTMENTS" val="10.52441"/>
</p:tagLst>
</file>

<file path=ppt/tags/tag329.xml><?xml version="1.0" encoding="utf-8"?>
<p:tagLst xmlns:p="http://schemas.openxmlformats.org/presentationml/2006/main">
  <p:tag name="SHADOWSIZE" val="100"/>
  <p:tag name="ADJUSTMENTS" val="8.475393"/>
</p:tagLst>
</file>

<file path=ppt/tags/tag330.xml><?xml version="1.0" encoding="utf-8"?>
<p:tagLst xmlns:p="http://schemas.openxmlformats.org/presentationml/2006/main">
  <p:tag name="SHADOWSIZE" val="95"/>
  <p:tag name="ADJUSTMENTS" val="10.52441"/>
</p:tagLst>
</file>

<file path=ppt/tags/tag331.xml><?xml version="1.0" encoding="utf-8"?>
<p:tagLst xmlns:p="http://schemas.openxmlformats.org/presentationml/2006/main">
  <p:tag name="ADJUSTMENTS" val="34.13236"/>
</p:tagLst>
</file>

<file path=ppt/tags/tag332.xml><?xml version="1.0" encoding="utf-8"?>
<p:tagLst xmlns:p="http://schemas.openxmlformats.org/presentationml/2006/main">
  <p:tag name="SHADOWSIZE" val="95"/>
  <p:tag name="ADJUSTMENTS" val="10.52441"/>
</p:tagLst>
</file>

<file path=ppt/tags/tag333.xml><?xml version="1.0" encoding="utf-8"?>
<p:tagLst xmlns:p="http://schemas.openxmlformats.org/presentationml/2006/main">
  <p:tag name="SHADOWSIZE" val="95"/>
  <p:tag name="ADJUSTMENTS" val="10.52441"/>
</p:tagLst>
</file>

<file path=ppt/tags/tag334.xml><?xml version="1.0" encoding="utf-8"?>
<p:tagLst xmlns:p="http://schemas.openxmlformats.org/presentationml/2006/main">
  <p:tag name="SHADOWSIZE" val="95"/>
  <p:tag name="ADJUSTMENTS" val="10.52441"/>
</p:tagLst>
</file>

<file path=ppt/tags/tag335.xml><?xml version="1.0" encoding="utf-8"?>
<p:tagLst xmlns:p="http://schemas.openxmlformats.org/presentationml/2006/main">
  <p:tag name="SHADOWSIZE" val="95"/>
  <p:tag name="ADJUSTMENTS" val="10.52441"/>
</p:tagLst>
</file>

<file path=ppt/tags/tag336.xml><?xml version="1.0" encoding="utf-8"?>
<p:tagLst xmlns:p="http://schemas.openxmlformats.org/presentationml/2006/main">
  <p:tag name="SHADOWSIZE" val="100"/>
  <p:tag name="ADJUSTMENTS" val="8.475393"/>
</p:tagLst>
</file>

<file path=ppt/tags/tag337.xml><?xml version="1.0" encoding="utf-8"?>
<p:tagLst xmlns:p="http://schemas.openxmlformats.org/presentationml/2006/main">
  <p:tag name="ADJUSTMENTS" val="34.13236"/>
</p:tagLst>
</file>

<file path=ppt/tags/tag338.xml><?xml version="1.0" encoding="utf-8"?>
<p:tagLst xmlns:p="http://schemas.openxmlformats.org/presentationml/2006/main">
  <p:tag name="SHADOWSIZE" val="95"/>
  <p:tag name="ADJUSTMENTS" val="10.52441"/>
</p:tagLst>
</file>

<file path=ppt/tags/tag339.xml><?xml version="1.0" encoding="utf-8"?>
<p:tagLst xmlns:p="http://schemas.openxmlformats.org/presentationml/2006/main">
  <p:tag name="SHADOWSIZE" val="95"/>
  <p:tag name="ADJUSTMENTS" val="10.52441"/>
</p:tagLst>
</file>

<file path=ppt/tags/tag340.xml><?xml version="1.0" encoding="utf-8"?>
<p:tagLst xmlns:p="http://schemas.openxmlformats.org/presentationml/2006/main">
  <p:tag name="SHADOWSIZE" val="95"/>
  <p:tag name="ADJUSTMENTS" val="10.52441"/>
</p:tagLst>
</file>

<file path=ppt/tags/tag341.xml><?xml version="1.0" encoding="utf-8"?>
<p:tagLst xmlns:p="http://schemas.openxmlformats.org/presentationml/2006/main">
  <p:tag name="SHADOWSIZE" val="95"/>
  <p:tag name="ADJUSTMENTS" val="10.52441"/>
</p:tagLst>
</file>

<file path=ppt/tags/tag342.xml><?xml version="1.0" encoding="utf-8"?>
<p:tagLst xmlns:p="http://schemas.openxmlformats.org/presentationml/2006/main">
  <p:tag name="SHADOWSIZE" val="95"/>
  <p:tag name="ADJUSTMENTS" val="10.52441"/>
</p:tagLst>
</file>

<file path=ppt/tags/tag343.xml><?xml version="1.0" encoding="utf-8"?>
<p:tagLst xmlns:p="http://schemas.openxmlformats.org/presentationml/2006/main">
  <p:tag name="SHADOWSIZE" val="95"/>
  <p:tag name="ADJUSTMENTS" val="10.52441"/>
</p:tagLst>
</file>

<file path=ppt/tags/tag344.xml><?xml version="1.0" encoding="utf-8"?>
<p:tagLst xmlns:p="http://schemas.openxmlformats.org/presentationml/2006/main">
  <p:tag name="SHADOWSIZE" val="95"/>
  <p:tag name="ADJUSTMENTS" val="10.52441"/>
</p:tagLst>
</file>

<file path=ppt/tags/tag345.xml><?xml version="1.0" encoding="utf-8"?>
<p:tagLst xmlns:p="http://schemas.openxmlformats.org/presentationml/2006/main">
  <p:tag name="SHADOWSIZE" val="95"/>
  <p:tag name="ADJUSTMENTS" val="10.52441"/>
</p:tagLst>
</file>

<file path=ppt/tags/tag346.xml><?xml version="1.0" encoding="utf-8"?>
<p:tagLst xmlns:p="http://schemas.openxmlformats.org/presentationml/2006/main">
  <p:tag name="SHADOWSIZE" val="95"/>
  <p:tag name="ADJUSTMENTS" val="10.52441"/>
</p:tagLst>
</file>

<file path=ppt/tags/tag347.xml><?xml version="1.0" encoding="utf-8"?>
<p:tagLst xmlns:p="http://schemas.openxmlformats.org/presentationml/2006/main">
  <p:tag name="SHADOWSIZE" val="100"/>
  <p:tag name="ADJUSTMENTS" val="8.475393"/>
</p:tagLst>
</file>

<file path=ppt/tags/tag348.xml><?xml version="1.0" encoding="utf-8"?>
<p:tagLst xmlns:p="http://schemas.openxmlformats.org/presentationml/2006/main">
  <p:tag name="SHADOWSIZE" val="100"/>
  <p:tag name="ADJUSTMENTS" val="4.790097"/>
</p:tagLst>
</file>

<file path=ppt/tags/tag349.xml><?xml version="1.0" encoding="utf-8"?>
<p:tagLst xmlns:p="http://schemas.openxmlformats.org/presentationml/2006/main">
  <p:tag name="SHADOWSIZE" val="100"/>
  <p:tag name="ADJUSTMENTS" val="4.790097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LTOP" val=" 112"/>
  <p:tag name="LLEFT" val=" 271.125"/>
</p:tagLst>
</file>

<file path=ppt/tags/tag356.xml><?xml version="1.0" encoding="utf-8"?>
<p:tagLst xmlns:p="http://schemas.openxmlformats.org/presentationml/2006/main">
  <p:tag name="LTOP" val=" 140.125"/>
  <p:tag name="LLEFT" val=" 278.125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LTOP" val=" 412.125"/>
  <p:tag name="LLEFT" val=" 86"/>
</p:tagLst>
</file>

<file path=ppt/tags/tag360.xml><?xml version="1.0" encoding="utf-8"?>
<p:tagLst xmlns:p="http://schemas.openxmlformats.org/presentationml/2006/main">
  <p:tag name="LTOP" val=" 412.125"/>
  <p:tag name="LLEFT" val=" 86"/>
</p:tagLst>
</file>

<file path=ppt/tags/tag361.xml><?xml version="1.0" encoding="utf-8"?>
<p:tagLst xmlns:p="http://schemas.openxmlformats.org/presentationml/2006/main">
  <p:tag name="LTOP" val=" 412.125"/>
  <p:tag name="LLEFT" val=" 86"/>
</p:tagLst>
</file>

<file path=ppt/tags/tag362.xml><?xml version="1.0" encoding="utf-8"?>
<p:tagLst xmlns:p="http://schemas.openxmlformats.org/presentationml/2006/main">
  <p:tag name="LTOP" val=" 412.125"/>
  <p:tag name="LLEFT" val=" 86"/>
</p:tagLst>
</file>

<file path=ppt/tags/tag363.xml><?xml version="1.0" encoding="utf-8"?>
<p:tagLst xmlns:p="http://schemas.openxmlformats.org/presentationml/2006/main">
  <p:tag name="LTOP" val=" 412.125"/>
  <p:tag name="LLEFT" val=" 86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LTOP" val=" 412.125"/>
  <p:tag name="LLEFT" val=" 86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ADJUSTMENTS" val="34.01449"/>
</p:tagLst>
</file>

<file path=ppt/tags/tag369.xml><?xml version="1.0" encoding="utf-8"?>
<p:tagLst xmlns:p="http://schemas.openxmlformats.org/presentationml/2006/main">
  <p:tag name="SHADOWSIZE" val="108"/>
  <p:tag name="TEXTSHADOWSIZE" val="100"/>
</p:tagLst>
</file>

<file path=ppt/tags/tag370.xml><?xml version="1.0" encoding="utf-8"?>
<p:tagLst xmlns:p="http://schemas.openxmlformats.org/presentationml/2006/main">
  <p:tag name="SHADOWSIZE" val="108"/>
  <p:tag name="TEXTSHADOWSIZE" val="100"/>
</p:tagLst>
</file>

<file path=ppt/tags/tag371.xml><?xml version="1.0" encoding="utf-8"?>
<p:tagLst xmlns:p="http://schemas.openxmlformats.org/presentationml/2006/main">
  <p:tag name="SHADOWSIZE" val="99"/>
  <p:tag name="TEXTSHADOWSIZE" val="100"/>
</p:tagLst>
</file>

<file path=ppt/tags/tag372.xml><?xml version="1.0" encoding="utf-8"?>
<p:tagLst xmlns:p="http://schemas.openxmlformats.org/presentationml/2006/main">
  <p:tag name="SHADOWSIZE" val="99"/>
  <p:tag name="TEXTSHADOWSIZE" val="100"/>
</p:tagLst>
</file>

<file path=ppt/tags/tag373.xml><?xml version="1.0" encoding="utf-8"?>
<p:tagLst xmlns:p="http://schemas.openxmlformats.org/presentationml/2006/main">
  <p:tag name="SHADOWSIZE" val="99"/>
  <p:tag name="TEXTSHADOWSIZE" val="100"/>
</p:tagLst>
</file>

<file path=ppt/tags/tag374.xml><?xml version="1.0" encoding="utf-8"?>
<p:tagLst xmlns:p="http://schemas.openxmlformats.org/presentationml/2006/main">
  <p:tag name="SHADOWSIZE" val="99"/>
  <p:tag name="TEXTSHADOWSIZE" val="100"/>
</p:tagLst>
</file>

<file path=ppt/tags/tag375.xml><?xml version="1.0" encoding="utf-8"?>
<p:tagLst xmlns:p="http://schemas.openxmlformats.org/presentationml/2006/main">
  <p:tag name="SHADOWSIZE" val="99"/>
  <p:tag name="TEXTSHADOWSIZE" val="100"/>
</p:tagLst>
</file>

<file path=ppt/tags/tag376.xml><?xml version="1.0" encoding="utf-8"?>
<p:tagLst xmlns:p="http://schemas.openxmlformats.org/presentationml/2006/main">
  <p:tag name="SHADOWSIZE" val="99"/>
  <p:tag name="TEXTSHADOWSIZE" val="100"/>
</p:tagLst>
</file>

<file path=ppt/tags/tag377.xml><?xml version="1.0" encoding="utf-8"?>
<p:tagLst xmlns:p="http://schemas.openxmlformats.org/presentationml/2006/main">
  <p:tag name="SHADOWSIZE" val="108"/>
  <p:tag name="TEXTSHADOWSIZE" val="100"/>
</p:tagLst>
</file>

<file path=ppt/tags/tag378.xml><?xml version="1.0" encoding="utf-8"?>
<p:tagLst xmlns:p="http://schemas.openxmlformats.org/presentationml/2006/main">
  <p:tag name="SHADOWSIZE" val="108"/>
  <p:tag name="TEXTSHADOWSIZE" val="100"/>
</p:tagLst>
</file>

<file path=ppt/tags/tag379.xml><?xml version="1.0" encoding="utf-8"?>
<p:tagLst xmlns:p="http://schemas.openxmlformats.org/presentationml/2006/main">
  <p:tag name="SHADOWSIZE" val="108"/>
  <p:tag name="TEXTSHADOWSIZE" val="100"/>
</p:tagLst>
</file>

<file path=ppt/tags/tag380.xml><?xml version="1.0" encoding="utf-8"?>
<p:tagLst xmlns:p="http://schemas.openxmlformats.org/presentationml/2006/main">
  <p:tag name="SHADOWSIZE" val="108"/>
  <p:tag name="TEXTSHADOWSIZE" val="100"/>
</p:tagLst>
</file>

<file path=ppt/tags/tag381.xml><?xml version="1.0" encoding="utf-8"?>
<p:tagLst xmlns:p="http://schemas.openxmlformats.org/presentationml/2006/main">
  <p:tag name="SHADOWSIZE" val="108"/>
  <p:tag name="TEXTSHADOWSIZE" val="100"/>
</p:tagLst>
</file>

<file path=ppt/tags/tag382.xml><?xml version="1.0" encoding="utf-8"?>
<p:tagLst xmlns:p="http://schemas.openxmlformats.org/presentationml/2006/main">
  <p:tag name="SHADOWSIZE" val="108"/>
  <p:tag name="TEXTSHADOWSIZE" val="100"/>
</p:tagLst>
</file>

<file path=ppt/tags/tag383.xml><?xml version="1.0" encoding="utf-8"?>
<p:tagLst xmlns:p="http://schemas.openxmlformats.org/presentationml/2006/main">
  <p:tag name="SHADOWSIZE" val="108"/>
  <p:tag name="TEXTSHADOWSIZE" val="100"/>
</p:tagLst>
</file>

<file path=ppt/tags/tag384.xml><?xml version="1.0" encoding="utf-8"?>
<p:tagLst xmlns:p="http://schemas.openxmlformats.org/presentationml/2006/main">
  <p:tag name="SHADOWSIZE" val="108"/>
  <p:tag name="TEXTSHADOWSIZE" val="100"/>
</p:tagLst>
</file>

<file path=ppt/tags/tag385.xml><?xml version="1.0" encoding="utf-8"?>
<p:tagLst xmlns:p="http://schemas.openxmlformats.org/presentationml/2006/main">
  <p:tag name="KSO_WM_DIAGRAM_VIRTUALLY_FRAME" val="{&quot;height&quot;:340.3533858267716,&quot;left&quot;:502.14023622047245,&quot;top&quot;:157.99566929133857,&quot;width&quot;:425.45937007874016}"/>
</p:tagLst>
</file>

<file path=ppt/tags/tag386.xml><?xml version="1.0" encoding="utf-8"?>
<p:tagLst xmlns:p="http://schemas.openxmlformats.org/presentationml/2006/main">
  <p:tag name="KSO_WM_DIAGRAM_VIRTUALLY_FRAME" val="{&quot;height&quot;:340.3533858267716,&quot;left&quot;:502.14023622047245,&quot;top&quot;:157.99566929133857,&quot;width&quot;:425.45937007874016}"/>
</p:tagLst>
</file>

<file path=ppt/tags/tag387.xml><?xml version="1.0" encoding="utf-8"?>
<p:tagLst xmlns:p="http://schemas.openxmlformats.org/presentationml/2006/main">
  <p:tag name="KSO_WM_DIAGRAM_VIRTUALLY_FRAME" val="{&quot;height&quot;:340.3533858267716,&quot;left&quot;:502.14023622047245,&quot;top&quot;:157.99566929133857,&quot;width&quot;:425.45937007874016}"/>
</p:tagLst>
</file>

<file path=ppt/tags/tag388.xml><?xml version="1.0" encoding="utf-8"?>
<p:tagLst xmlns:p="http://schemas.openxmlformats.org/presentationml/2006/main">
  <p:tag name="KSO_WM_DIAGRAM_VIRTUALLY_FRAME" val="{&quot;height&quot;:340.3533858267716,&quot;left&quot;:502.14023622047245,&quot;top&quot;:157.99566929133857,&quot;width&quot;:425.45937007874016}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SHADOWSIZE" val="100"/>
</p:tagLst>
</file>

<file path=ppt/tags/tag449.xml><?xml version="1.0" encoding="utf-8"?>
<p:tagLst xmlns:p="http://schemas.openxmlformats.org/presentationml/2006/main">
  <p:tag name="SHADOWSIZE" val="100"/>
</p:tagLst>
</file>

<file path=ppt/tags/tag450.xml><?xml version="1.0" encoding="utf-8"?>
<p:tagLst xmlns:p="http://schemas.openxmlformats.org/presentationml/2006/main">
  <p:tag name="SHADOWSIZE" val="100"/>
</p:tagLst>
</file>

<file path=ppt/tags/tag451.xml><?xml version="1.0" encoding="utf-8"?>
<p:tagLst xmlns:p="http://schemas.openxmlformats.org/presentationml/2006/main">
  <p:tag name="SHADOWSIZE" val="100"/>
</p:tagLst>
</file>

<file path=ppt/tags/tag452.xml><?xml version="1.0" encoding="utf-8"?>
<p:tagLst xmlns:p="http://schemas.openxmlformats.org/presentationml/2006/main">
  <p:tag name="SHADOWSIZE" val="100"/>
</p:tagLst>
</file>

<file path=ppt/tags/tag453.xml><?xml version="1.0" encoding="utf-8"?>
<p:tagLst xmlns:p="http://schemas.openxmlformats.org/presentationml/2006/main">
  <p:tag name="SHADOWSIZE" val="100"/>
</p:tagLst>
</file>

<file path=ppt/tags/tag454.xml><?xml version="1.0" encoding="utf-8"?>
<p:tagLst xmlns:p="http://schemas.openxmlformats.org/presentationml/2006/main">
  <p:tag name="SHADOWSIZE" val="100"/>
</p:tagLst>
</file>

<file path=ppt/tags/tag455.xml><?xml version="1.0" encoding="utf-8"?>
<p:tagLst xmlns:p="http://schemas.openxmlformats.org/presentationml/2006/main">
  <p:tag name="SHADOWSIZE" val="100"/>
</p:tagLst>
</file>

<file path=ppt/tags/tag456.xml><?xml version="1.0" encoding="utf-8"?>
<p:tagLst xmlns:p="http://schemas.openxmlformats.org/presentationml/2006/main">
  <p:tag name="SHADOWSIZE" val="100"/>
</p:tagLst>
</file>

<file path=ppt/tags/tag457.xml><?xml version="1.0" encoding="utf-8"?>
<p:tagLst xmlns:p="http://schemas.openxmlformats.org/presentationml/2006/main">
  <p:tag name="SHADOWSIZE" val="100"/>
</p:tagLst>
</file>

<file path=ppt/tags/tag458.xml><?xml version="1.0" encoding="utf-8"?>
<p:tagLst xmlns:p="http://schemas.openxmlformats.org/presentationml/2006/main">
  <p:tag name="SHADOWSIZE" val="100"/>
</p:tagLst>
</file>

<file path=ppt/tags/tag459.xml><?xml version="1.0" encoding="utf-8"?>
<p:tagLst xmlns:p="http://schemas.openxmlformats.org/presentationml/2006/main">
  <p:tag name="SHADOWSIZE" val="100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TEXTSHADOWSIZE" val="100"/>
  <p:tag name="KSO_WM_BEAUTIFY_FLAG" val=""/>
</p:tagLst>
</file>

<file path=ppt/tags/tag492.xml><?xml version="1.0" encoding="utf-8"?>
<p:tagLst xmlns:p="http://schemas.openxmlformats.org/presentationml/2006/main">
  <p:tag name="SHADOWSIZE" val="100"/>
  <p:tag name="KSO_WM_BEAUTIFY_FLAG" val=""/>
</p:tagLst>
</file>

<file path=ppt/tags/tag493.xml><?xml version="1.0" encoding="utf-8"?>
<p:tagLst xmlns:p="http://schemas.openxmlformats.org/presentationml/2006/main">
  <p:tag name="SHADOWSIZE" val="100"/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TEXTSHADOWSIZE" val="100"/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SHADOWSIZE" val="100"/>
  <p:tag name="KSO_WM_BEAUTIFY_FLAG" val=""/>
</p:tagLst>
</file>

<file path=ppt/tags/tag541.xml><?xml version="1.0" encoding="utf-8"?>
<p:tagLst xmlns:p="http://schemas.openxmlformats.org/presentationml/2006/main">
  <p:tag name="SHADOWSIZE" val="100"/>
  <p:tag name="KSO_WM_BEAUTIFY_FLAG" val=""/>
</p:tagLst>
</file>

<file path=ppt/tags/tag542.xml><?xml version="1.0" encoding="utf-8"?>
<p:tagLst xmlns:p="http://schemas.openxmlformats.org/presentationml/2006/main">
  <p:tag name="SHADOWSIZE" val="100"/>
  <p:tag name="KSO_WM_BEAUTIFY_FLAG" val=""/>
</p:tagLst>
</file>

<file path=ppt/tags/tag543.xml><?xml version="1.0" encoding="utf-8"?>
<p:tagLst xmlns:p="http://schemas.openxmlformats.org/presentationml/2006/main">
  <p:tag name="SHADOWSIZE" val="100"/>
  <p:tag name="KSO_WM_BEAUTIFY_FLAG" val=""/>
</p:tagLst>
</file>

<file path=ppt/tags/tag544.xml><?xml version="1.0" encoding="utf-8"?>
<p:tagLst xmlns:p="http://schemas.openxmlformats.org/presentationml/2006/main">
  <p:tag name="SHADOWSIZE" val="100"/>
  <p:tag name="KSO_WM_BEAUTIFY_FLAG" val=""/>
</p:tagLst>
</file>

<file path=ppt/tags/tag545.xml><?xml version="1.0" encoding="utf-8"?>
<p:tagLst xmlns:p="http://schemas.openxmlformats.org/presentationml/2006/main">
  <p:tag name="SHADOWSIZE" val="100"/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DIAGRAM_VIRTUALLY_FRAME" val="{&quot;height&quot;:241.9,&quot;left&quot;:40.85,&quot;top&quot;:220.1,&quot;width&quot;:878.8}"/>
</p:tagLst>
</file>

<file path=ppt/tags/tag554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57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58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59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60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61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62.xml><?xml version="1.0" encoding="utf-8"?>
<p:tagLst xmlns:p="http://schemas.openxmlformats.org/presentationml/2006/main">
  <p:tag name="KSO_WM_DIAGRAM_VIRTUALLY_FRAME" val="{&quot;height&quot;:254.3,&quot;left&quot;:40.85,&quot;top&quot;:209.3,&quot;width&quot;:878.8}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CONNECTOR" val="583,584"/>
  <p:tag name="CONNECTORTYPE" val="CONNECTORTYPE_STRAIGHT"/>
  <p:tag name="CONNECTORORIENTATION" val="CONNECTORORIENTATION_VERT"/>
</p:tagLst>
</file>

<file path=ppt/tags/tag565.xml><?xml version="1.0" encoding="utf-8"?>
<p:tagLst xmlns:p="http://schemas.openxmlformats.org/presentationml/2006/main">
  <p:tag name="CONNECTOR" val="583,585"/>
  <p:tag name="CONNECTORTYPE" val="CONNECTORTYPE_STRAIGHT"/>
  <p:tag name="CONNECTORORIENTATION" val="CONNECTORORIENTATION_VERT"/>
</p:tagLst>
</file>

<file path=ppt/tags/tag566.xml><?xml version="1.0" encoding="utf-8"?>
<p:tagLst xmlns:p="http://schemas.openxmlformats.org/presentationml/2006/main">
  <p:tag name="CONNECTOR" val="583,589"/>
  <p:tag name="CONNECTORTYPE" val="CONNECTORTYPE_STRAIGHT"/>
  <p:tag name="CONNECTORORIENTATION" val="CONNECTORORIENTATION_VERT"/>
</p:tagLst>
</file>

<file path=ppt/tags/tag567.xml><?xml version="1.0" encoding="utf-8"?>
<p:tagLst xmlns:p="http://schemas.openxmlformats.org/presentationml/2006/main">
  <p:tag name="CONNECTOR" val="583,590"/>
  <p:tag name="CONNECTORTYPE" val="CONNECTORTYPE_STRAIGHT"/>
  <p:tag name="CONNECTORORIENTATION" val="CONNECTORORIENTATION_VERT"/>
</p:tagLst>
</file>

<file path=ppt/tags/tag568.xml><?xml version="1.0" encoding="utf-8"?>
<p:tagLst xmlns:p="http://schemas.openxmlformats.org/presentationml/2006/main">
  <p:tag name="CONNECTOR" val="583,591"/>
  <p:tag name="CONNECTORTYPE" val="CONNECTORTYPE_STRAIGHT"/>
  <p:tag name="CONNECTORORIENTATION" val="CONNECTORORIENTATION_VERT"/>
</p:tagLst>
</file>

<file path=ppt/tags/tag569.xml><?xml version="1.0" encoding="utf-8"?>
<p:tagLst xmlns:p="http://schemas.openxmlformats.org/presentationml/2006/main">
  <p:tag name="CONNECTOR" val="583,595"/>
  <p:tag name="CONNECTORTYPE" val="CONNECTORTYPE_STRAIGHT"/>
  <p:tag name="CONNECTORORIENTATION" val="CONNECTORORIENTATION_VERT"/>
</p:tagLst>
</file>

<file path=ppt/tags/tag570.xml><?xml version="1.0" encoding="utf-8"?>
<p:tagLst xmlns:p="http://schemas.openxmlformats.org/presentationml/2006/main">
  <p:tag name="CONNECTORHOST" val="584,585,589,590,591,595"/>
</p:tagLst>
</file>

<file path=ppt/tags/tag571.xml><?xml version="1.0" encoding="utf-8"?>
<p:tagLst xmlns:p="http://schemas.openxmlformats.org/presentationml/2006/main">
  <p:tag name="CONNECTORHOST" val="583"/>
</p:tagLst>
</file>

<file path=ppt/tags/tag572.xml><?xml version="1.0" encoding="utf-8"?>
<p:tagLst xmlns:p="http://schemas.openxmlformats.org/presentationml/2006/main">
  <p:tag name="CONNECTORHOST" val="583"/>
</p:tagLst>
</file>

<file path=ppt/tags/tag573.xml><?xml version="1.0" encoding="utf-8"?>
<p:tagLst xmlns:p="http://schemas.openxmlformats.org/presentationml/2006/main">
  <p:tag name="CONNECTORHOST" val="583"/>
</p:tagLst>
</file>

<file path=ppt/tags/tag574.xml><?xml version="1.0" encoding="utf-8"?>
<p:tagLst xmlns:p="http://schemas.openxmlformats.org/presentationml/2006/main">
  <p:tag name="CONNECTORHOST" val="583"/>
</p:tagLst>
</file>

<file path=ppt/tags/tag575.xml><?xml version="1.0" encoding="utf-8"?>
<p:tagLst xmlns:p="http://schemas.openxmlformats.org/presentationml/2006/main">
  <p:tag name="CONNECTORHOST" val="583"/>
</p:tagLst>
</file>

<file path=ppt/tags/tag576.xml><?xml version="1.0" encoding="utf-8"?>
<p:tagLst xmlns:p="http://schemas.openxmlformats.org/presentationml/2006/main">
  <p:tag name="CONNECTORHOST" val="583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  <p:tag name="COMMONDATA" val="eyJoZGlkIjoiMmIxOGE2NGY5MzIzZTFjYjRkMjdkOTZiZDJlY2ZhYzQifQ=="/>
  <p:tag name="RESOURCE_RECORD_KEY" val="{&quot;29&quot;:[50000086]}"/>
</p:tagLst>
</file>

<file path=ppt/theme/theme1.xml><?xml version="1.0" encoding="utf-8"?>
<a:theme xmlns:a="http://schemas.openxmlformats.org/drawingml/2006/main" name="Office 主题​​">
  <a:themeElements>
    <a:clrScheme name="纯蓝色配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4274"/>
      </a:accent1>
      <a:accent2>
        <a:srgbClr val="A2342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latin typeface="HONOR Sans CN" panose="05000200000000000000" charset="-122"/>
            <a:ea typeface="HONOR Sans CN" panose="05000200000000000000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">
      <a:dk1>
        <a:srgbClr val="202020"/>
      </a:dk1>
      <a:lt1>
        <a:srgbClr val="FFFFFF"/>
      </a:lt1>
      <a:dk2>
        <a:srgbClr val="404040"/>
      </a:dk2>
      <a:lt2>
        <a:srgbClr val="FFFFFF"/>
      </a:lt2>
      <a:accent1>
        <a:srgbClr val="1C4274"/>
      </a:accent1>
      <a:accent2>
        <a:srgbClr val="89B0E3"/>
      </a:accent2>
      <a:accent3>
        <a:srgbClr val="1C4274"/>
      </a:accent3>
      <a:accent4>
        <a:srgbClr val="A5A5A5"/>
      </a:accent4>
      <a:accent5>
        <a:srgbClr val="4E88D4"/>
      </a:accent5>
      <a:accent6>
        <a:srgbClr val="404040"/>
      </a:accent6>
      <a:hlink>
        <a:srgbClr val="0026E5"/>
      </a:hlink>
      <a:folHlink>
        <a:srgbClr val="7E1FAD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>
            <a:latin typeface="HONOR Sans CN" panose="05000200000000000000" charset="-122"/>
            <a:ea typeface="HONOR Sans CN" panose="05000200000000000000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18645</Words>
  <Application>WPS 演示</Application>
  <PresentationFormat>宽屏</PresentationFormat>
  <Paragraphs>4003</Paragraphs>
  <Slides>47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75" baseType="lpstr">
      <vt:lpstr>Arial</vt:lpstr>
      <vt:lpstr>宋体</vt:lpstr>
      <vt:lpstr>Wingdings</vt:lpstr>
      <vt:lpstr>HONOR Sans CN</vt:lpstr>
      <vt:lpstr>微软雅黑</vt:lpstr>
      <vt:lpstr>OPPOSans H</vt:lpstr>
      <vt:lpstr>思源黑体 CN Bold</vt:lpstr>
      <vt:lpstr>思源黑体 CN Normal</vt:lpstr>
      <vt:lpstr>OPPOSans R</vt:lpstr>
      <vt:lpstr>Helvetica Neue Medium</vt:lpstr>
      <vt:lpstr>Helvetica Neue</vt:lpstr>
      <vt:lpstr>Arial Unicode MS</vt:lpstr>
      <vt:lpstr>Wingdings</vt:lpstr>
      <vt:lpstr>等线</vt:lpstr>
      <vt:lpstr>Times New Roman</vt:lpstr>
      <vt:lpstr>vivo type 简 Regular</vt:lpstr>
      <vt:lpstr>-apple-system</vt:lpstr>
      <vt:lpstr>楷体</vt:lpstr>
      <vt:lpstr>思源宋体 CN Heavy</vt:lpstr>
      <vt:lpstr>Barlow SemiBold</vt:lpstr>
      <vt:lpstr>OPPO Sans Bold</vt:lpstr>
      <vt:lpstr>阿里巴巴普惠体 M</vt:lpstr>
      <vt:lpstr>Helvetica Neue</vt:lpstr>
      <vt:lpstr>Helvetica Neue Medium</vt:lpstr>
      <vt:lpstr>Retro Cute Medium</vt:lpstr>
      <vt:lpstr>黑体</vt:lpstr>
      <vt:lpstr>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徐鸣冲</dc:creator>
  <cp:lastModifiedBy>冲Sherman</cp:lastModifiedBy>
  <cp:revision>361</cp:revision>
  <dcterms:created xsi:type="dcterms:W3CDTF">2022-10-13T07:27:00Z</dcterms:created>
  <dcterms:modified xsi:type="dcterms:W3CDTF">2026-02-09T07:48:55Z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CA97EDF6D6A64F93AC17D52C38E77688_13</vt:lpwstr>
  </property>
  <property fmtid="{D5CDD505-2E9C-101B-9397-08002B2CF9AE}" pid="3" name="KSOProductBuildVer">
    <vt:lpwstr>2052-12.1.0.25222</vt:lpwstr>
  </property>
</Properties>
</file>