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1.svg" ContentType="image/svg+xml"/>
  <Override PartName="/ppt/media/image113.svg" ContentType="image/svg+xml"/>
  <Override PartName="/ppt/media/image115.svg" ContentType="image/svg+xml"/>
  <Override PartName="/ppt/media/image117.svg" ContentType="image/svg+xml"/>
  <Override PartName="/ppt/media/image119.svg" ContentType="image/svg+xml"/>
  <Override PartName="/ppt/media/image121.svg" ContentType="image/svg+xml"/>
  <Override PartName="/ppt/media/image123.svg" ContentType="image/svg+xml"/>
  <Override PartName="/ppt/media/image124.svg" ContentType="image/svg+xml"/>
  <Override PartName="/ppt/media/image126.svg" ContentType="image/svg+xml"/>
  <Override PartName="/ppt/media/image127.svg" ContentType="image/svg+xml"/>
  <Override PartName="/ppt/media/image128.svg" ContentType="image/svg+xml"/>
  <Override PartName="/ppt/media/image129.svg" ContentType="image/svg+xml"/>
  <Override PartName="/ppt/media/image130.svg" ContentType="image/svg+xml"/>
  <Override PartName="/ppt/media/image131.svg" ContentType="image/svg+xml"/>
  <Override PartName="/ppt/media/image133.svg" ContentType="image/svg+xml"/>
  <Override PartName="/ppt/media/image134.svg" ContentType="image/svg+xml"/>
  <Override PartName="/ppt/media/image135.svg" ContentType="image/svg+xml"/>
  <Override PartName="/ppt/media/image137.svg" ContentType="image/svg+xml"/>
  <Override PartName="/ppt/media/image138.svg" ContentType="image/svg+xml"/>
  <Override PartName="/ppt/media/image139.svg" ContentType="image/svg+xml"/>
  <Override PartName="/ppt/media/image141.svg" ContentType="image/svg+xml"/>
  <Override PartName="/ppt/media/image143.svg" ContentType="image/svg+xml"/>
  <Override PartName="/ppt/media/image145.svg" ContentType="image/svg+xml"/>
  <Override PartName="/ppt/media/image147.svg" ContentType="image/svg+xml"/>
  <Override PartName="/ppt/media/image149.svg" ContentType="image/svg+xml"/>
  <Override PartName="/ppt/media/image151.svg" ContentType="image/svg+xml"/>
  <Override PartName="/ppt/media/image153.svg" ContentType="image/svg+xml"/>
  <Override PartName="/ppt/media/image155.svg" ContentType="image/svg+xml"/>
  <Override PartName="/ppt/media/image157.svg" ContentType="image/svg+xml"/>
  <Override PartName="/ppt/media/image159.svg" ContentType="image/svg+xml"/>
  <Override PartName="/ppt/media/image161.svg" ContentType="image/svg+xml"/>
  <Override PartName="/ppt/media/image163.svg" ContentType="image/svg+xml"/>
  <Override PartName="/ppt/media/image165.svg" ContentType="image/svg+xml"/>
  <Override PartName="/ppt/media/image167.svg" ContentType="image/svg+xml"/>
  <Override PartName="/ppt/media/image169.svg" ContentType="image/svg+xml"/>
  <Override PartName="/ppt/media/image170.svg" ContentType="image/svg+xml"/>
  <Override PartName="/ppt/media/image172.svg" ContentType="image/svg+xml"/>
  <Override PartName="/ppt/media/image173.svg" ContentType="image/svg+xml"/>
  <Override PartName="/ppt/media/image175.svg" ContentType="image/svg+xml"/>
  <Override PartName="/ppt/media/image177.svg" ContentType="image/svg+xml"/>
  <Override PartName="/ppt/media/image178.svg" ContentType="image/svg+xml"/>
  <Override PartName="/ppt/media/image18.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3.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71.svg" ContentType="image/svg+xml"/>
  <Override PartName="/ppt/media/image73.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89.svg" ContentType="image/svg+xml"/>
  <Override PartName="/ppt/media/image90.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7" r:id="rId3"/>
  </p:sldMasterIdLst>
  <p:notesMasterIdLst>
    <p:notesMasterId r:id="rId6"/>
  </p:notesMasterIdLst>
  <p:handoutMasterIdLst>
    <p:handoutMasterId r:id="rId50"/>
  </p:handoutMasterIdLst>
  <p:sldIdLst>
    <p:sldId id="15004852" r:id="rId4"/>
    <p:sldId id="15004853" r:id="rId5"/>
    <p:sldId id="15004854" r:id="rId7"/>
    <p:sldId id="15004855" r:id="rId8"/>
    <p:sldId id="15004857" r:id="rId9"/>
    <p:sldId id="15004858" r:id="rId10"/>
    <p:sldId id="15004859" r:id="rId11"/>
    <p:sldId id="15004860" r:id="rId12"/>
    <p:sldId id="15005189" r:id="rId13"/>
    <p:sldId id="15005253" r:id="rId14"/>
    <p:sldId id="15005254" r:id="rId15"/>
    <p:sldId id="15005255" r:id="rId16"/>
    <p:sldId id="15005256" r:id="rId17"/>
    <p:sldId id="15005257" r:id="rId18"/>
    <p:sldId id="15005258" r:id="rId19"/>
    <p:sldId id="15005259" r:id="rId20"/>
    <p:sldId id="15005260" r:id="rId21"/>
    <p:sldId id="15005261" r:id="rId22"/>
    <p:sldId id="15005262" r:id="rId23"/>
    <p:sldId id="15005263" r:id="rId24"/>
    <p:sldId id="15005264" r:id="rId25"/>
    <p:sldId id="15005265" r:id="rId26"/>
    <p:sldId id="15005266" r:id="rId27"/>
    <p:sldId id="15005267" r:id="rId28"/>
    <p:sldId id="15005268" r:id="rId29"/>
    <p:sldId id="15005269" r:id="rId30"/>
    <p:sldId id="15005270" r:id="rId31"/>
    <p:sldId id="15005271" r:id="rId32"/>
    <p:sldId id="15005272" r:id="rId33"/>
    <p:sldId id="15005273" r:id="rId34"/>
    <p:sldId id="15005274" r:id="rId35"/>
    <p:sldId id="15005275" r:id="rId36"/>
    <p:sldId id="15005276" r:id="rId37"/>
    <p:sldId id="15005277" r:id="rId38"/>
    <p:sldId id="15005278" r:id="rId39"/>
    <p:sldId id="15005279" r:id="rId40"/>
    <p:sldId id="15005280" r:id="rId41"/>
    <p:sldId id="15005281" r:id="rId42"/>
    <p:sldId id="15005282" r:id="rId43"/>
    <p:sldId id="15005283" r:id="rId44"/>
    <p:sldId id="15005284" r:id="rId45"/>
    <p:sldId id="15005285" r:id="rId46"/>
    <p:sldId id="15005286" r:id="rId47"/>
    <p:sldId id="15005287" r:id="rId48"/>
    <p:sldId id="15004861" r:id="rId49"/>
  </p:sldIdLst>
  <p:sldSz cx="12192000" cy="6858000"/>
  <p:notesSz cx="9144000" cy="6858000"/>
  <p:custDataLst>
    <p:tags r:id="rId5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bb3e318-5b20-4b11-b681-784848b03e07}">
          <p14:sldIdLst>
            <p14:sldId id="15004852"/>
            <p14:sldId id="15004853"/>
            <p14:sldId id="15004854"/>
            <p14:sldId id="15004855"/>
            <p14:sldId id="15004857"/>
            <p14:sldId id="15004858"/>
            <p14:sldId id="15004859"/>
            <p14:sldId id="15004860"/>
          </p14:sldIdLst>
        </p14:section>
        <p14:section name="05-业务流程架构" id="{aef281a6-fc0d-40b6-9db7-ce4cdd8c270a}">
          <p14:sldIdLst>
            <p14:sldId id="15005189"/>
            <p14:sldId id="15005253"/>
            <p14:sldId id="15005254"/>
            <p14:sldId id="15005255"/>
            <p14:sldId id="15005256"/>
            <p14:sldId id="15005257"/>
            <p14:sldId id="15005258"/>
            <p14:sldId id="15005259"/>
            <p14:sldId id="15005260"/>
            <p14:sldId id="15005261"/>
            <p14:sldId id="15005262"/>
            <p14:sldId id="15005263"/>
            <p14:sldId id="15005264"/>
            <p14:sldId id="15005265"/>
            <p14:sldId id="15005266"/>
            <p14:sldId id="15005267"/>
            <p14:sldId id="15005268"/>
            <p14:sldId id="15005269"/>
            <p14:sldId id="15005270"/>
            <p14:sldId id="15005271"/>
            <p14:sldId id="15005272"/>
            <p14:sldId id="15005273"/>
            <p14:sldId id="15005274"/>
            <p14:sldId id="15005275"/>
            <p14:sldId id="15005276"/>
            <p14:sldId id="15005277"/>
            <p14:sldId id="15005278"/>
            <p14:sldId id="15005279"/>
            <p14:sldId id="15005280"/>
            <p14:sldId id="15005281"/>
            <p14:sldId id="15005282"/>
            <p14:sldId id="15005283"/>
            <p14:sldId id="15005284"/>
            <p14:sldId id="15005285"/>
            <p14:sldId id="15005286"/>
            <p14:sldId id="15005287"/>
            <p14:sldId id="15004861"/>
          </p14:sldIdLst>
        </p14:section>
      </p14:sectionLst>
    </p:ext>
    <p:ext uri="{EFAFB233-063F-42B5-8137-9DF3F51BA10A}">
      <p15:sldGuideLst xmlns:p15="http://schemas.microsoft.com/office/powerpoint/2012/main">
        <p15:guide id="1" orient="horz" pos="2466" userDrawn="1">
          <p15:clr>
            <a:srgbClr val="A4A3A4"/>
          </p15:clr>
        </p15:guide>
        <p15:guide id="2" pos="41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1" clrIdx="0"/>
  <p:cmAuthor id="7" name="Administrator" initials="A" lastIdx="0" clrIdx="6"/>
  <p:cmAuthor id="1" name="Microsoft Office User" initials="MOU" lastIdx="1" clrIdx="0"/>
  <p:cmAuthor id="8" name="宋洁然" initials="宋" lastIdx="0" clrIdx="7"/>
  <p:cmAuthor id="2" name="小麦" initials="l" lastIdx="1" clrIdx="1"/>
  <p:cmAuthor id="9" name="ming qiu" initials="m" lastIdx="0" clrIdx="8"/>
  <p:cmAuthor id="3" name="仲杰 李" initials="仲杰" lastIdx="1" clrIdx="3"/>
  <p:cmAuthor id="10" name="WPS_1679281038" initials="W" lastIdx="0" clrIdx="9"/>
  <p:cmAuthor id="5" name="1206988966@qq.com" initials="1" lastIdx="0" clrIdx="4"/>
  <p:cmAuthor id="6" name="姜伟光" initials="姜" lastIdx="0" clrIdx="5"/>
  <p:cmAuthor id="11" name="田野田野" initials="田野田野" lastIdx="0" clrIdx="10"/>
  <p:cmAuthor id="12" name="作者" initials="A" lastIdx="0" clrIdx="11"/>
  <p:cmAuthor id="13" name="ALA11.黄宜隆" initials="A" lastIdx="0" clrIdx="12"/>
  <p:cmAuthor id="14" name="陈 源晨" initials="陈" lastIdx="0" clrIdx="13"/>
  <p:cmAuthor id="15" name="Haval Sh" initials="HS" lastIdx="0" clrIdx="14"/>
  <p:cmAuthor id="16" name="宋 雪贤" initials="宋" lastIdx="0" clrIdx="15"/>
  <p:cmAuthor id="17" name="YOYOON" initials="Y" lastIdx="0" clrIdx="16"/>
  <p:cmAuthor id="18" name=" src" initials="s" lastIdx="0" clrIdx="17"/>
  <p:cmAuthor id="19" name="WHITE GRAPHIC" initials="WG" lastIdx="0" clrIdx="18"/>
  <p:cmAuthor id="20" name="USER" initials="U" lastIdx="0" clrIdx="19"/>
  <p:cmAuthor id="21" name="SheHab" initials="S" lastIdx="0" clrIdx="20"/>
  <p:cmAuthor id="22" name="幸全" initials="幸全" lastIdx="0" clrIdx="21"/>
  <p:cmAuthor id="23" name="刘付观生" initials="刘付观生" lastIdx="0" clrIdx="22"/>
  <p:cmAuthor id="24" name="liufuguansheng" initials="liufu" lastIdx="0" clrIdx="23"/>
  <p:cmAuthor id="25" name="ITC" initials="I" lastIdx="0" clrIdx="24"/>
  <p:cmAuthor id="26" name="WATER MELON" initials="WM" lastIdx="0" clrIdx="25"/>
  <p:cmAuthor id="27" name="余 KM" initials="余" lastIdx="0" clrIdx="26"/>
  <p:cmAuthor id="28" name="8615900558199" initials="8" lastIdx="0" clrIdx="27"/>
  <p:cmAuthor id="29" name="WPS" initials="W" lastIdx="0" clrIdx="28"/>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1C4274"/>
    <a:srgbClr val="9A3123"/>
    <a:srgbClr val="457B9D"/>
    <a:srgbClr val="FAF4F4"/>
    <a:srgbClr val="E8ECF1"/>
    <a:srgbClr val="AA3722"/>
    <a:srgbClr val="F1F5FA"/>
    <a:srgbClr val="F7F1F1"/>
    <a:srgbClr val="1D35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6457"/>
  </p:normalViewPr>
  <p:slideViewPr>
    <p:cSldViewPr snapToGrid="0" showGuides="1">
      <p:cViewPr varScale="1">
        <p:scale>
          <a:sx n="95" d="100"/>
          <a:sy n="95" d="100"/>
        </p:scale>
        <p:origin x="350" y="53"/>
      </p:cViewPr>
      <p:guideLst>
        <p:guide orient="horz" pos="2466"/>
        <p:guide pos="4128"/>
      </p:guideLst>
    </p:cSldViewPr>
  </p:slideViewPr>
  <p:outlineViewPr>
    <p:cViewPr>
      <p:scale>
        <a:sx n="33" d="100"/>
        <a:sy n="33" d="100"/>
      </p:scale>
      <p:origin x="0" y="-2576"/>
    </p:cViewPr>
  </p:outlineViewPr>
  <p:notesTextViewPr>
    <p:cViewPr>
      <p:scale>
        <a:sx n="3" d="2"/>
        <a:sy n="3" d="2"/>
      </p:scale>
      <p:origin x="0" y="0"/>
    </p:cViewPr>
  </p:notesTextViewPr>
  <p:sorterViewPr>
    <p:cViewPr>
      <p:scale>
        <a:sx n="1" d="1"/>
        <a:sy n="1" d="1"/>
      </p:scale>
      <p:origin x="0" y="-2271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5" Type="http://schemas.openxmlformats.org/officeDocument/2006/relationships/tags" Target="tags/tag316.xml"/><Relationship Id="rId54" Type="http://schemas.openxmlformats.org/officeDocument/2006/relationships/commentAuthors" Target="commentAuthors.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6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6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6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6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kumimoji="1"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ACF6214C-E03D-6F40-B83F-4BCCB0CB53EF}"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kumimoji="1"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7D75D23C-CB69-BA4F-AB82-253009860475}"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 </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 </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9" name="文本框 8"/>
          <p:cNvSpPr txBox="1"/>
          <p:nvPr userDrawn="1"/>
        </p:nvSpPr>
        <p:spPr>
          <a:xfrm>
            <a:off x="5227955" y="215900"/>
            <a:ext cx="5846445" cy="826135"/>
          </a:xfrm>
          <a:prstGeom prst="rect">
            <a:avLst/>
          </a:prstGeom>
          <a:noFill/>
        </p:spPr>
        <p:txBody>
          <a:bodyPr wrap="square" rtlCol="0" anchor="ctr" anchorCtr="0">
            <a:noAutofit/>
          </a:bodyPr>
          <a:lstStyle/>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本作品系开悟思维原创作品，已获国家版权局作品登记证书！</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原创版权保护，仅供个人学习使用，侵权必究！</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cxnSp>
        <p:nvCxnSpPr>
          <p:cNvPr id="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内容占位符 57"/>
          <p:cNvSpPr>
            <a:spLocks noGrp="1"/>
          </p:cNvSpPr>
          <p:nvPr>
            <p:ph sz="quarter" idx="18"/>
          </p:nvPr>
        </p:nvSpPr>
        <p:spPr>
          <a:xfrm>
            <a:off x="519113" y="1289050"/>
            <a:ext cx="10987087" cy="4627563"/>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标题 1"/>
          <p:cNvSpPr>
            <a:spLocks noGrp="1"/>
          </p:cNvSpPr>
          <p:nvPr>
            <p:ph type="ctrTitle" hasCustomPrompt="1"/>
          </p:nvPr>
        </p:nvSpPr>
        <p:spPr>
          <a:xfrm>
            <a:off x="368705" y="275357"/>
            <a:ext cx="2188210" cy="481330"/>
          </a:xfrm>
          <a:ln w="12700">
            <a:miter lim="400000"/>
          </a:ln>
        </p:spPr>
        <p:txBody>
          <a:bodyPr wrap="none" lIns="25400" tIns="25400" rIns="25400" bIns="25400">
            <a:spAutoFit/>
          </a:bodyPr>
          <a:lstStyle>
            <a:lvl1pPr>
              <a:defRPr kumimoji="0" lang="zh-CN" altLang="en-US" sz="2800" b="1" u="none" strike="noStrike" cap="none" spc="0" normalizeH="0" baseline="0" dirty="0">
                <a:ln>
                  <a:noFill/>
                </a:ln>
                <a:solidFill>
                  <a:schemeClr val="accent1"/>
                </a:solidFill>
                <a:effectLst>
                  <a:outerShdw blurRad="187896" dist="38100" dir="2700000" algn="tl" rotWithShape="0">
                    <a:srgbClr val="1C2952">
                      <a:alpha val="6000"/>
                    </a:srgbClr>
                  </a:outerShdw>
                </a:effectLst>
                <a:uLnTx/>
                <a:uFillTx/>
                <a:latin typeface="微软雅黑" panose="020B0503020204020204" charset="-122"/>
                <a:ea typeface="微软雅黑" panose="020B0503020204020204" charset="-122"/>
                <a:cs typeface="微软雅黑" panose="020B0503020204020204" charset="-122"/>
              </a:defRPr>
            </a:lvl1pPr>
          </a:lstStyle>
          <a:p>
            <a:pPr marL="0" marR="0" lvl="0" indent="0" fontAlgn="auto">
              <a:lnSpc>
                <a:spcPct val="100000"/>
              </a:lnSpc>
              <a:spcBef>
                <a:spcPts val="0"/>
              </a:spcBef>
              <a:spcAft>
                <a:spcPts val="0"/>
              </a:spcAft>
              <a:buClrTx/>
              <a:buSzTx/>
              <a:buFontTx/>
            </a:pPr>
            <a:r>
              <a:rPr lang="zh-CN" altLang="en-US" dirty="0"/>
              <a:t>单击输入文字</a:t>
            </a:r>
            <a:endParaRPr lang="zh-CN" altLang="en-US" dirty="0"/>
          </a:p>
        </p:txBody>
      </p:sp>
      <p:pic>
        <p:nvPicPr>
          <p:cNvPr id="4" name="图片 3"/>
          <p:cNvPicPr>
            <a:picLocks noChangeAspect="1"/>
          </p:cNvPicPr>
          <p:nvPr userDrawn="1"/>
        </p:nvPicPr>
        <p:blipFill>
          <a:blip r:embed="rId2"/>
          <a:srcRect r="56499" b="-1176"/>
          <a:stretch>
            <a:fillRect/>
          </a:stretch>
        </p:blipFill>
        <p:spPr>
          <a:xfrm>
            <a:off x="7656830" y="354330"/>
            <a:ext cx="1649095" cy="327660"/>
          </a:xfrm>
          <a:prstGeom prst="rect">
            <a:avLst/>
          </a:prstGeom>
        </p:spPr>
      </p:pic>
      <p:sp>
        <p:nvSpPr>
          <p:cNvPr id="2" name="文本框 1"/>
          <p:cNvSpPr txBox="1"/>
          <p:nvPr userDrawn="1"/>
        </p:nvSpPr>
        <p:spPr>
          <a:xfrm>
            <a:off x="9227185" y="417830"/>
            <a:ext cx="2970530" cy="245110"/>
          </a:xfrm>
          <a:prstGeom prst="rect">
            <a:avLst/>
          </a:prstGeom>
          <a:noFill/>
        </p:spPr>
        <p:txBody>
          <a:bodyPr wrap="square" rtlCol="0">
            <a:spAutoFit/>
          </a:bodyPr>
          <a:lstStyle/>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复杂逻辑场景</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框架搭建系列</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PPT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模板</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FC04CB4-406B-4597-B044-D3B6F9EB6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D9AE3D-545A-4B2E-82ED-8AC91F57BFD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28" y="608412"/>
            <a:ext cx="10969709" cy="705614"/>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28" y="1490430"/>
            <a:ext cx="10969709" cy="4759297"/>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9" name="文本框 8"/>
          <p:cNvSpPr txBox="1"/>
          <p:nvPr userDrawn="1"/>
        </p:nvSpPr>
        <p:spPr>
          <a:xfrm>
            <a:off x="5227955" y="215900"/>
            <a:ext cx="5846445" cy="826135"/>
          </a:xfrm>
          <a:prstGeom prst="rect">
            <a:avLst/>
          </a:prstGeom>
          <a:noFill/>
        </p:spPr>
        <p:txBody>
          <a:bodyPr wrap="square" rtlCol="0" anchor="ctr" anchorCtr="0">
            <a:noAutofit/>
          </a:bodyPr>
          <a:lstStyle/>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本作品系开悟思维原创作品，已获国家版权局作品登记证书！</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原创版权保护，仅供个人学习使用，侵权必究！</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58" name="内容占位符 57"/>
          <p:cNvSpPr>
            <a:spLocks noGrp="1"/>
          </p:cNvSpPr>
          <p:nvPr>
            <p:ph sz="quarter" idx="18"/>
          </p:nvPr>
        </p:nvSpPr>
        <p:spPr>
          <a:xfrm>
            <a:off x="519113" y="1289050"/>
            <a:ext cx="10987087" cy="4627563"/>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标题 1"/>
          <p:cNvSpPr>
            <a:spLocks noGrp="1"/>
          </p:cNvSpPr>
          <p:nvPr>
            <p:ph type="ctrTitle" hasCustomPrompt="1"/>
          </p:nvPr>
        </p:nvSpPr>
        <p:spPr>
          <a:xfrm>
            <a:off x="368705" y="275357"/>
            <a:ext cx="2188210" cy="481330"/>
          </a:xfrm>
          <a:ln w="12700">
            <a:miter lim="400000"/>
          </a:ln>
        </p:spPr>
        <p:txBody>
          <a:bodyPr wrap="none" lIns="25400" tIns="25400" rIns="25400" bIns="25400">
            <a:spAutoFit/>
          </a:bodyPr>
          <a:lstStyle>
            <a:lvl1pPr>
              <a:defRPr kumimoji="0" lang="zh-CN" altLang="en-US" sz="2800" b="1" u="none" strike="noStrike" cap="none" spc="0" normalizeH="0" baseline="0" dirty="0">
                <a:ln>
                  <a:noFill/>
                </a:ln>
                <a:solidFill>
                  <a:schemeClr val="accent1"/>
                </a:solidFill>
                <a:effectLst>
                  <a:outerShdw blurRad="187896" dist="38100" dir="2700000" algn="tl" rotWithShape="0">
                    <a:srgbClr val="1C2952">
                      <a:alpha val="6000"/>
                    </a:srgbClr>
                  </a:outerShdw>
                </a:effectLst>
                <a:uLnTx/>
                <a:uFillTx/>
                <a:latin typeface="微软雅黑" panose="020B0503020204020204" charset="-122"/>
                <a:ea typeface="微软雅黑" panose="020B0503020204020204" charset="-122"/>
                <a:cs typeface="微软雅黑" panose="020B0503020204020204" charset="-122"/>
              </a:defRPr>
            </a:lvl1pPr>
          </a:lstStyle>
          <a:p>
            <a:pPr marL="0" marR="0" lvl="0" indent="0" fontAlgn="auto">
              <a:lnSpc>
                <a:spcPct val="100000"/>
              </a:lnSpc>
              <a:spcBef>
                <a:spcPts val="0"/>
              </a:spcBef>
              <a:spcAft>
                <a:spcPts val="0"/>
              </a:spcAft>
              <a:buClrTx/>
              <a:buSzTx/>
              <a:buFontTx/>
            </a:pPr>
            <a:r>
              <a:rPr lang="zh-CN" altLang="en-US" dirty="0"/>
              <a:t>单击输入文字</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FC04CB4-406B-4597-B044-D3B6F9EB6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D9AE3D-545A-4B2E-82ED-8AC91F57BFD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28" y="608412"/>
            <a:ext cx="10969709" cy="705614"/>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28" y="1490430"/>
            <a:ext cx="10969709" cy="4759297"/>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3854961C-C3E7-4008-B7AA-A672D0EA3DB0}" type="datetimeFigureOut">
              <a:rPr lang="en-US" smtClean="0"/>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8472ACB7-49E0-448E-BCC2-AC9877F63D4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3854961C-C3E7-4008-B7AA-A672D0EA3DB0}" type="datetimeFigureOut">
              <a:rPr lang="en-US" smtClean="0"/>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8472ACB7-49E0-448E-BCC2-AC9877F63D4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tags" Target="../tags/tag12.xml"/><Relationship Id="rId1" Type="http://schemas.openxmlformats.org/officeDocument/2006/relationships/tags" Target="../tags/tag11.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image" Target="../media/image7.png"/><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1" Type="http://schemas.openxmlformats.org/officeDocument/2006/relationships/slideLayout" Target="../slideLayouts/slideLayout9.xml"/><Relationship Id="rId10" Type="http://schemas.openxmlformats.org/officeDocument/2006/relationships/image" Target="../media/image8.png"/><Relationship Id="rId1" Type="http://schemas.openxmlformats.org/officeDocument/2006/relationships/tags" Target="../tags/tag19.xml"/></Relationships>
</file>

<file path=ppt/slides/_rels/slide6.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image" Target="../media/image10.png"/><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image" Target="../media/image9.png"/><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4" Type="http://schemas.openxmlformats.org/officeDocument/2006/relationships/slideLayout" Target="../slideLayouts/slideLayout9.xml"/><Relationship Id="rId13" Type="http://schemas.openxmlformats.org/officeDocument/2006/relationships/image" Target="../media/image12.png"/><Relationship Id="rId12" Type="http://schemas.openxmlformats.org/officeDocument/2006/relationships/image" Target="../media/image11.png"/><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7.xml"/></Relationships>
</file>

<file path=ppt/slides/_rels/slide7.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image" Target="../media/image14.png"/><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image" Target="../media/image13.png"/><Relationship Id="rId2" Type="http://schemas.openxmlformats.org/officeDocument/2006/relationships/tags" Target="../tags/tag37.xml"/><Relationship Id="rId15" Type="http://schemas.openxmlformats.org/officeDocument/2006/relationships/slideLayout" Target="../slideLayouts/slideLayout9.xml"/><Relationship Id="rId14" Type="http://schemas.openxmlformats.org/officeDocument/2006/relationships/image" Target="../media/image16.png"/><Relationship Id="rId13" Type="http://schemas.openxmlformats.org/officeDocument/2006/relationships/tags" Target="../tags/tag45.xml"/><Relationship Id="rId12" Type="http://schemas.openxmlformats.org/officeDocument/2006/relationships/image" Target="../media/image15.png"/><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99" Type="http://schemas.openxmlformats.org/officeDocument/2006/relationships/tags" Target="../tags/tag142.xml"/><Relationship Id="rId98" Type="http://schemas.openxmlformats.org/officeDocument/2006/relationships/tags" Target="../tags/tag141.xml"/><Relationship Id="rId97" Type="http://schemas.openxmlformats.org/officeDocument/2006/relationships/tags" Target="../tags/tag140.xml"/><Relationship Id="rId96" Type="http://schemas.openxmlformats.org/officeDocument/2006/relationships/tags" Target="../tags/tag139.xml"/><Relationship Id="rId95" Type="http://schemas.openxmlformats.org/officeDocument/2006/relationships/tags" Target="../tags/tag138.xml"/><Relationship Id="rId94" Type="http://schemas.openxmlformats.org/officeDocument/2006/relationships/tags" Target="../tags/tag137.xml"/><Relationship Id="rId93" Type="http://schemas.openxmlformats.org/officeDocument/2006/relationships/tags" Target="../tags/tag136.xml"/><Relationship Id="rId92" Type="http://schemas.openxmlformats.org/officeDocument/2006/relationships/tags" Target="../tags/tag135.xml"/><Relationship Id="rId91" Type="http://schemas.openxmlformats.org/officeDocument/2006/relationships/tags" Target="../tags/tag134.xml"/><Relationship Id="rId90" Type="http://schemas.openxmlformats.org/officeDocument/2006/relationships/tags" Target="../tags/tag133.xml"/><Relationship Id="rId9" Type="http://schemas.openxmlformats.org/officeDocument/2006/relationships/tags" Target="../tags/tag54.xml"/><Relationship Id="rId89" Type="http://schemas.openxmlformats.org/officeDocument/2006/relationships/tags" Target="../tags/tag132.xml"/><Relationship Id="rId88" Type="http://schemas.openxmlformats.org/officeDocument/2006/relationships/tags" Target="../tags/tag131.xml"/><Relationship Id="rId87" Type="http://schemas.openxmlformats.org/officeDocument/2006/relationships/tags" Target="../tags/tag130.xml"/><Relationship Id="rId86" Type="http://schemas.openxmlformats.org/officeDocument/2006/relationships/tags" Target="../tags/tag129.xml"/><Relationship Id="rId85" Type="http://schemas.openxmlformats.org/officeDocument/2006/relationships/tags" Target="../tags/tag128.xml"/><Relationship Id="rId84" Type="http://schemas.openxmlformats.org/officeDocument/2006/relationships/tags" Target="../tags/tag127.xml"/><Relationship Id="rId83" Type="http://schemas.openxmlformats.org/officeDocument/2006/relationships/tags" Target="../tags/tag126.xml"/><Relationship Id="rId82" Type="http://schemas.openxmlformats.org/officeDocument/2006/relationships/tags" Target="../tags/tag125.xml"/><Relationship Id="rId81" Type="http://schemas.openxmlformats.org/officeDocument/2006/relationships/tags" Target="../tags/tag124.xml"/><Relationship Id="rId80" Type="http://schemas.openxmlformats.org/officeDocument/2006/relationships/tags" Target="../tags/tag123.xml"/><Relationship Id="rId8" Type="http://schemas.openxmlformats.org/officeDocument/2006/relationships/tags" Target="../tags/tag53.xml"/><Relationship Id="rId79" Type="http://schemas.openxmlformats.org/officeDocument/2006/relationships/tags" Target="../tags/tag122.xml"/><Relationship Id="rId78" Type="http://schemas.openxmlformats.org/officeDocument/2006/relationships/tags" Target="../tags/tag121.xml"/><Relationship Id="rId77" Type="http://schemas.openxmlformats.org/officeDocument/2006/relationships/tags" Target="../tags/tag120.xml"/><Relationship Id="rId76" Type="http://schemas.openxmlformats.org/officeDocument/2006/relationships/tags" Target="../tags/tag119.xml"/><Relationship Id="rId75" Type="http://schemas.openxmlformats.org/officeDocument/2006/relationships/tags" Target="../tags/tag118.xml"/><Relationship Id="rId74" Type="http://schemas.openxmlformats.org/officeDocument/2006/relationships/tags" Target="../tags/tag117.xml"/><Relationship Id="rId73" Type="http://schemas.openxmlformats.org/officeDocument/2006/relationships/image" Target="../media/image18.svg"/><Relationship Id="rId72" Type="http://schemas.openxmlformats.org/officeDocument/2006/relationships/image" Target="../media/image17.png"/><Relationship Id="rId71" Type="http://schemas.openxmlformats.org/officeDocument/2006/relationships/tags" Target="../tags/tag116.xml"/><Relationship Id="rId70" Type="http://schemas.openxmlformats.org/officeDocument/2006/relationships/tags" Target="../tags/tag115.xml"/><Relationship Id="rId7" Type="http://schemas.openxmlformats.org/officeDocument/2006/relationships/tags" Target="../tags/tag52.xml"/><Relationship Id="rId69" Type="http://schemas.openxmlformats.org/officeDocument/2006/relationships/tags" Target="../tags/tag114.xml"/><Relationship Id="rId68" Type="http://schemas.openxmlformats.org/officeDocument/2006/relationships/tags" Target="../tags/tag113.xml"/><Relationship Id="rId67" Type="http://schemas.openxmlformats.org/officeDocument/2006/relationships/tags" Target="../tags/tag112.xml"/><Relationship Id="rId66" Type="http://schemas.openxmlformats.org/officeDocument/2006/relationships/tags" Target="../tags/tag111.xml"/><Relationship Id="rId65" Type="http://schemas.openxmlformats.org/officeDocument/2006/relationships/tags" Target="../tags/tag110.xml"/><Relationship Id="rId64" Type="http://schemas.openxmlformats.org/officeDocument/2006/relationships/tags" Target="../tags/tag109.xml"/><Relationship Id="rId63" Type="http://schemas.openxmlformats.org/officeDocument/2006/relationships/tags" Target="../tags/tag108.xml"/><Relationship Id="rId62" Type="http://schemas.openxmlformats.org/officeDocument/2006/relationships/tags" Target="../tags/tag107.xml"/><Relationship Id="rId61" Type="http://schemas.openxmlformats.org/officeDocument/2006/relationships/tags" Target="../tags/tag106.xml"/><Relationship Id="rId60" Type="http://schemas.openxmlformats.org/officeDocument/2006/relationships/tags" Target="../tags/tag105.xml"/><Relationship Id="rId6" Type="http://schemas.openxmlformats.org/officeDocument/2006/relationships/tags" Target="../tags/tag51.xml"/><Relationship Id="rId59" Type="http://schemas.openxmlformats.org/officeDocument/2006/relationships/tags" Target="../tags/tag104.xml"/><Relationship Id="rId58" Type="http://schemas.openxmlformats.org/officeDocument/2006/relationships/tags" Target="../tags/tag103.xml"/><Relationship Id="rId57" Type="http://schemas.openxmlformats.org/officeDocument/2006/relationships/tags" Target="../tags/tag102.xml"/><Relationship Id="rId56" Type="http://schemas.openxmlformats.org/officeDocument/2006/relationships/tags" Target="../tags/tag101.xml"/><Relationship Id="rId55" Type="http://schemas.openxmlformats.org/officeDocument/2006/relationships/tags" Target="../tags/tag100.xml"/><Relationship Id="rId54" Type="http://schemas.openxmlformats.org/officeDocument/2006/relationships/tags" Target="../tags/tag99.xml"/><Relationship Id="rId53" Type="http://schemas.openxmlformats.org/officeDocument/2006/relationships/tags" Target="../tags/tag98.xml"/><Relationship Id="rId52" Type="http://schemas.openxmlformats.org/officeDocument/2006/relationships/tags" Target="../tags/tag97.xml"/><Relationship Id="rId51" Type="http://schemas.openxmlformats.org/officeDocument/2006/relationships/tags" Target="../tags/tag96.xml"/><Relationship Id="rId50" Type="http://schemas.openxmlformats.org/officeDocument/2006/relationships/tags" Target="../tags/tag95.xml"/><Relationship Id="rId5" Type="http://schemas.openxmlformats.org/officeDocument/2006/relationships/tags" Target="../tags/tag50.xml"/><Relationship Id="rId49" Type="http://schemas.openxmlformats.org/officeDocument/2006/relationships/tags" Target="../tags/tag94.xml"/><Relationship Id="rId48" Type="http://schemas.openxmlformats.org/officeDocument/2006/relationships/tags" Target="../tags/tag93.xml"/><Relationship Id="rId47" Type="http://schemas.openxmlformats.org/officeDocument/2006/relationships/tags" Target="../tags/tag92.xml"/><Relationship Id="rId46" Type="http://schemas.openxmlformats.org/officeDocument/2006/relationships/tags" Target="../tags/tag91.xml"/><Relationship Id="rId45" Type="http://schemas.openxmlformats.org/officeDocument/2006/relationships/tags" Target="../tags/tag90.xml"/><Relationship Id="rId44" Type="http://schemas.openxmlformats.org/officeDocument/2006/relationships/tags" Target="../tags/tag89.xml"/><Relationship Id="rId43" Type="http://schemas.openxmlformats.org/officeDocument/2006/relationships/tags" Target="../tags/tag88.xml"/><Relationship Id="rId42" Type="http://schemas.openxmlformats.org/officeDocument/2006/relationships/tags" Target="../tags/tag87.xml"/><Relationship Id="rId41" Type="http://schemas.openxmlformats.org/officeDocument/2006/relationships/tags" Target="../tags/tag86.xml"/><Relationship Id="rId40" Type="http://schemas.openxmlformats.org/officeDocument/2006/relationships/tags" Target="../tags/tag85.xml"/><Relationship Id="rId4" Type="http://schemas.openxmlformats.org/officeDocument/2006/relationships/tags" Target="../tags/tag49.xml"/><Relationship Id="rId39" Type="http://schemas.openxmlformats.org/officeDocument/2006/relationships/tags" Target="../tags/tag84.xml"/><Relationship Id="rId38" Type="http://schemas.openxmlformats.org/officeDocument/2006/relationships/tags" Target="../tags/tag83.xml"/><Relationship Id="rId37" Type="http://schemas.openxmlformats.org/officeDocument/2006/relationships/tags" Target="../tags/tag82.xml"/><Relationship Id="rId36" Type="http://schemas.openxmlformats.org/officeDocument/2006/relationships/tags" Target="../tags/tag81.xml"/><Relationship Id="rId35" Type="http://schemas.openxmlformats.org/officeDocument/2006/relationships/tags" Target="../tags/tag80.xml"/><Relationship Id="rId34" Type="http://schemas.openxmlformats.org/officeDocument/2006/relationships/tags" Target="../tags/tag79.xml"/><Relationship Id="rId33" Type="http://schemas.openxmlformats.org/officeDocument/2006/relationships/tags" Target="../tags/tag78.xml"/><Relationship Id="rId32" Type="http://schemas.openxmlformats.org/officeDocument/2006/relationships/tags" Target="../tags/tag77.xml"/><Relationship Id="rId31" Type="http://schemas.openxmlformats.org/officeDocument/2006/relationships/tags" Target="../tags/tag76.xml"/><Relationship Id="rId30" Type="http://schemas.openxmlformats.org/officeDocument/2006/relationships/tags" Target="../tags/tag75.xml"/><Relationship Id="rId3" Type="http://schemas.openxmlformats.org/officeDocument/2006/relationships/tags" Target="../tags/tag48.xml"/><Relationship Id="rId29" Type="http://schemas.openxmlformats.org/officeDocument/2006/relationships/tags" Target="../tags/tag74.xml"/><Relationship Id="rId28" Type="http://schemas.openxmlformats.org/officeDocument/2006/relationships/tags" Target="../tags/tag73.xml"/><Relationship Id="rId27" Type="http://schemas.openxmlformats.org/officeDocument/2006/relationships/tags" Target="../tags/tag72.xml"/><Relationship Id="rId26" Type="http://schemas.openxmlformats.org/officeDocument/2006/relationships/tags" Target="../tags/tag71.xml"/><Relationship Id="rId25" Type="http://schemas.openxmlformats.org/officeDocument/2006/relationships/tags" Target="../tags/tag70.xml"/><Relationship Id="rId24" Type="http://schemas.openxmlformats.org/officeDocument/2006/relationships/tags" Target="../tags/tag69.xml"/><Relationship Id="rId23" Type="http://schemas.openxmlformats.org/officeDocument/2006/relationships/tags" Target="../tags/tag68.xml"/><Relationship Id="rId22" Type="http://schemas.openxmlformats.org/officeDocument/2006/relationships/tags" Target="../tags/tag67.xml"/><Relationship Id="rId21" Type="http://schemas.openxmlformats.org/officeDocument/2006/relationships/tags" Target="../tags/tag66.xml"/><Relationship Id="rId20" Type="http://schemas.openxmlformats.org/officeDocument/2006/relationships/tags" Target="../tags/tag65.xml"/><Relationship Id="rId2" Type="http://schemas.openxmlformats.org/officeDocument/2006/relationships/tags" Target="../tags/tag47.xml"/><Relationship Id="rId19" Type="http://schemas.openxmlformats.org/officeDocument/2006/relationships/tags" Target="../tags/tag64.xml"/><Relationship Id="rId18" Type="http://schemas.openxmlformats.org/officeDocument/2006/relationships/tags" Target="../tags/tag63.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8" Type="http://schemas.openxmlformats.org/officeDocument/2006/relationships/slideLayout" Target="../slideLayouts/slideLayout9.xml"/><Relationship Id="rId147" Type="http://schemas.openxmlformats.org/officeDocument/2006/relationships/tags" Target="../tags/tag190.xml"/><Relationship Id="rId146" Type="http://schemas.openxmlformats.org/officeDocument/2006/relationships/tags" Target="../tags/tag189.xml"/><Relationship Id="rId145" Type="http://schemas.openxmlformats.org/officeDocument/2006/relationships/tags" Target="../tags/tag188.xml"/><Relationship Id="rId144" Type="http://schemas.openxmlformats.org/officeDocument/2006/relationships/tags" Target="../tags/tag187.xml"/><Relationship Id="rId143" Type="http://schemas.openxmlformats.org/officeDocument/2006/relationships/tags" Target="../tags/tag186.xml"/><Relationship Id="rId142" Type="http://schemas.openxmlformats.org/officeDocument/2006/relationships/tags" Target="../tags/tag185.xml"/><Relationship Id="rId141" Type="http://schemas.openxmlformats.org/officeDocument/2006/relationships/tags" Target="../tags/tag184.xml"/><Relationship Id="rId140" Type="http://schemas.openxmlformats.org/officeDocument/2006/relationships/tags" Target="../tags/tag183.xml"/><Relationship Id="rId14" Type="http://schemas.openxmlformats.org/officeDocument/2006/relationships/tags" Target="../tags/tag59.xml"/><Relationship Id="rId139" Type="http://schemas.openxmlformats.org/officeDocument/2006/relationships/tags" Target="../tags/tag182.xml"/><Relationship Id="rId138" Type="http://schemas.openxmlformats.org/officeDocument/2006/relationships/tags" Target="../tags/tag181.xml"/><Relationship Id="rId137" Type="http://schemas.openxmlformats.org/officeDocument/2006/relationships/tags" Target="../tags/tag180.xml"/><Relationship Id="rId136" Type="http://schemas.openxmlformats.org/officeDocument/2006/relationships/tags" Target="../tags/tag179.xml"/><Relationship Id="rId135" Type="http://schemas.openxmlformats.org/officeDocument/2006/relationships/tags" Target="../tags/tag178.xml"/><Relationship Id="rId134" Type="http://schemas.openxmlformats.org/officeDocument/2006/relationships/tags" Target="../tags/tag177.xml"/><Relationship Id="rId133" Type="http://schemas.openxmlformats.org/officeDocument/2006/relationships/tags" Target="../tags/tag176.xml"/><Relationship Id="rId132" Type="http://schemas.openxmlformats.org/officeDocument/2006/relationships/tags" Target="../tags/tag175.xml"/><Relationship Id="rId131" Type="http://schemas.openxmlformats.org/officeDocument/2006/relationships/tags" Target="../tags/tag174.xml"/><Relationship Id="rId130" Type="http://schemas.openxmlformats.org/officeDocument/2006/relationships/tags" Target="../tags/tag173.xml"/><Relationship Id="rId13" Type="http://schemas.openxmlformats.org/officeDocument/2006/relationships/tags" Target="../tags/tag58.xml"/><Relationship Id="rId129" Type="http://schemas.openxmlformats.org/officeDocument/2006/relationships/tags" Target="../tags/tag172.xml"/><Relationship Id="rId128" Type="http://schemas.openxmlformats.org/officeDocument/2006/relationships/tags" Target="../tags/tag171.xml"/><Relationship Id="rId127" Type="http://schemas.openxmlformats.org/officeDocument/2006/relationships/tags" Target="../tags/tag170.xml"/><Relationship Id="rId126" Type="http://schemas.openxmlformats.org/officeDocument/2006/relationships/tags" Target="../tags/tag169.xml"/><Relationship Id="rId125" Type="http://schemas.openxmlformats.org/officeDocument/2006/relationships/tags" Target="../tags/tag168.xml"/><Relationship Id="rId124" Type="http://schemas.openxmlformats.org/officeDocument/2006/relationships/tags" Target="../tags/tag167.xml"/><Relationship Id="rId123" Type="http://schemas.openxmlformats.org/officeDocument/2006/relationships/tags" Target="../tags/tag166.xml"/><Relationship Id="rId122" Type="http://schemas.openxmlformats.org/officeDocument/2006/relationships/tags" Target="../tags/tag165.xml"/><Relationship Id="rId121" Type="http://schemas.openxmlformats.org/officeDocument/2006/relationships/tags" Target="../tags/tag164.xml"/><Relationship Id="rId120" Type="http://schemas.openxmlformats.org/officeDocument/2006/relationships/tags" Target="../tags/tag163.xml"/><Relationship Id="rId12" Type="http://schemas.openxmlformats.org/officeDocument/2006/relationships/tags" Target="../tags/tag57.xml"/><Relationship Id="rId119" Type="http://schemas.openxmlformats.org/officeDocument/2006/relationships/tags" Target="../tags/tag162.xml"/><Relationship Id="rId118" Type="http://schemas.openxmlformats.org/officeDocument/2006/relationships/tags" Target="../tags/tag161.xml"/><Relationship Id="rId117" Type="http://schemas.openxmlformats.org/officeDocument/2006/relationships/tags" Target="../tags/tag160.xml"/><Relationship Id="rId116" Type="http://schemas.openxmlformats.org/officeDocument/2006/relationships/tags" Target="../tags/tag159.xml"/><Relationship Id="rId115" Type="http://schemas.openxmlformats.org/officeDocument/2006/relationships/tags" Target="../tags/tag158.xml"/><Relationship Id="rId114" Type="http://schemas.openxmlformats.org/officeDocument/2006/relationships/tags" Target="../tags/tag157.xml"/><Relationship Id="rId113" Type="http://schemas.openxmlformats.org/officeDocument/2006/relationships/tags" Target="../tags/tag156.xml"/><Relationship Id="rId112" Type="http://schemas.openxmlformats.org/officeDocument/2006/relationships/tags" Target="../tags/tag155.xml"/><Relationship Id="rId111" Type="http://schemas.openxmlformats.org/officeDocument/2006/relationships/tags" Target="../tags/tag154.xml"/><Relationship Id="rId110" Type="http://schemas.openxmlformats.org/officeDocument/2006/relationships/tags" Target="../tags/tag153.xml"/><Relationship Id="rId11" Type="http://schemas.openxmlformats.org/officeDocument/2006/relationships/tags" Target="../tags/tag56.xml"/><Relationship Id="rId109" Type="http://schemas.openxmlformats.org/officeDocument/2006/relationships/tags" Target="../tags/tag152.xml"/><Relationship Id="rId108" Type="http://schemas.openxmlformats.org/officeDocument/2006/relationships/tags" Target="../tags/tag151.xml"/><Relationship Id="rId107" Type="http://schemas.openxmlformats.org/officeDocument/2006/relationships/tags" Target="../tags/tag150.xml"/><Relationship Id="rId106" Type="http://schemas.openxmlformats.org/officeDocument/2006/relationships/tags" Target="../tags/tag149.xml"/><Relationship Id="rId105" Type="http://schemas.openxmlformats.org/officeDocument/2006/relationships/tags" Target="../tags/tag148.xml"/><Relationship Id="rId104" Type="http://schemas.openxmlformats.org/officeDocument/2006/relationships/tags" Target="../tags/tag147.xml"/><Relationship Id="rId103" Type="http://schemas.openxmlformats.org/officeDocument/2006/relationships/tags" Target="../tags/tag146.xml"/><Relationship Id="rId102" Type="http://schemas.openxmlformats.org/officeDocument/2006/relationships/tags" Target="../tags/tag145.xml"/><Relationship Id="rId101" Type="http://schemas.openxmlformats.org/officeDocument/2006/relationships/tags" Target="../tags/tag144.xml"/><Relationship Id="rId100" Type="http://schemas.openxmlformats.org/officeDocument/2006/relationships/tags" Target="../tags/tag143.xml"/><Relationship Id="rId10" Type="http://schemas.openxmlformats.org/officeDocument/2006/relationships/tags" Target="../tags/tag55.xml"/><Relationship Id="rId1" Type="http://schemas.openxmlformats.org/officeDocument/2006/relationships/tags" Target="../tags/tag46.xml"/></Relationships>
</file>

<file path=ppt/slides/_rels/slide9.xml.rels><?xml version="1.0" encoding="UTF-8" standalone="yes"?>
<Relationships xmlns="http://schemas.openxmlformats.org/package/2006/relationships"><Relationship Id="rId9" Type="http://schemas.openxmlformats.org/officeDocument/2006/relationships/tags" Target="../tags/tag198.xml"/><Relationship Id="rId8" Type="http://schemas.openxmlformats.org/officeDocument/2006/relationships/tags" Target="../tags/tag197.xml"/><Relationship Id="rId7" Type="http://schemas.openxmlformats.org/officeDocument/2006/relationships/tags" Target="../tags/tag196.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7" Type="http://schemas.openxmlformats.org/officeDocument/2006/relationships/slideLayout" Target="../slideLayouts/slideLayout9.xml"/><Relationship Id="rId36" Type="http://schemas.openxmlformats.org/officeDocument/2006/relationships/tags" Target="../tags/tag225.xml"/><Relationship Id="rId35" Type="http://schemas.openxmlformats.org/officeDocument/2006/relationships/tags" Target="../tags/tag224.xml"/><Relationship Id="rId34" Type="http://schemas.openxmlformats.org/officeDocument/2006/relationships/tags" Target="../tags/tag223.xml"/><Relationship Id="rId33" Type="http://schemas.openxmlformats.org/officeDocument/2006/relationships/tags" Target="../tags/tag222.xml"/><Relationship Id="rId32" Type="http://schemas.openxmlformats.org/officeDocument/2006/relationships/tags" Target="../tags/tag221.xml"/><Relationship Id="rId31" Type="http://schemas.openxmlformats.org/officeDocument/2006/relationships/tags" Target="../tags/tag220.xml"/><Relationship Id="rId30" Type="http://schemas.openxmlformats.org/officeDocument/2006/relationships/tags" Target="../tags/tag219.xml"/><Relationship Id="rId3" Type="http://schemas.openxmlformats.org/officeDocument/2006/relationships/tags" Target="../tags/tag192.xml"/><Relationship Id="rId29" Type="http://schemas.openxmlformats.org/officeDocument/2006/relationships/tags" Target="../tags/tag218.xml"/><Relationship Id="rId28" Type="http://schemas.openxmlformats.org/officeDocument/2006/relationships/tags" Target="../tags/tag217.xml"/><Relationship Id="rId27" Type="http://schemas.openxmlformats.org/officeDocument/2006/relationships/tags" Target="../tags/tag216.xml"/><Relationship Id="rId26" Type="http://schemas.openxmlformats.org/officeDocument/2006/relationships/tags" Target="../tags/tag215.xml"/><Relationship Id="rId25" Type="http://schemas.openxmlformats.org/officeDocument/2006/relationships/tags" Target="../tags/tag214.xml"/><Relationship Id="rId24" Type="http://schemas.openxmlformats.org/officeDocument/2006/relationships/tags" Target="../tags/tag213.xml"/><Relationship Id="rId23" Type="http://schemas.openxmlformats.org/officeDocument/2006/relationships/tags" Target="../tags/tag212.xml"/><Relationship Id="rId22" Type="http://schemas.openxmlformats.org/officeDocument/2006/relationships/tags" Target="../tags/tag211.xml"/><Relationship Id="rId21" Type="http://schemas.openxmlformats.org/officeDocument/2006/relationships/tags" Target="../tags/tag210.xml"/><Relationship Id="rId20" Type="http://schemas.openxmlformats.org/officeDocument/2006/relationships/tags" Target="../tags/tag209.xml"/><Relationship Id="rId2" Type="http://schemas.openxmlformats.org/officeDocument/2006/relationships/tags" Target="../tags/tag191.xml"/><Relationship Id="rId19" Type="http://schemas.openxmlformats.org/officeDocument/2006/relationships/tags" Target="../tags/tag208.xml"/><Relationship Id="rId18" Type="http://schemas.openxmlformats.org/officeDocument/2006/relationships/tags" Target="../tags/tag207.xml"/><Relationship Id="rId17" Type="http://schemas.openxmlformats.org/officeDocument/2006/relationships/tags" Target="../tags/tag206.xml"/><Relationship Id="rId16" Type="http://schemas.openxmlformats.org/officeDocument/2006/relationships/tags" Target="../tags/tag205.xml"/><Relationship Id="rId15" Type="http://schemas.openxmlformats.org/officeDocument/2006/relationships/tags" Target="../tags/tag204.xml"/><Relationship Id="rId14" Type="http://schemas.openxmlformats.org/officeDocument/2006/relationships/tags" Target="../tags/tag203.xml"/><Relationship Id="rId13" Type="http://schemas.openxmlformats.org/officeDocument/2006/relationships/tags" Target="../tags/tag202.xml"/><Relationship Id="rId12" Type="http://schemas.openxmlformats.org/officeDocument/2006/relationships/tags" Target="../tags/tag201.xml"/><Relationship Id="rId11" Type="http://schemas.openxmlformats.org/officeDocument/2006/relationships/tags" Target="../tags/tag200.xml"/><Relationship Id="rId10" Type="http://schemas.openxmlformats.org/officeDocument/2006/relationships/tags" Target="../tags/tag199.xml"/><Relationship Id="rId1" Type="http://schemas.openxmlformats.org/officeDocument/2006/relationships/image" Target="../media/image19.jpeg"/></Relationships>
</file>

<file path=ppt/slides/_rels/slide10.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svg"/><Relationship Id="rId7" Type="http://schemas.openxmlformats.org/officeDocument/2006/relationships/image" Target="../media/image26.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 Id="rId33" Type="http://schemas.openxmlformats.org/officeDocument/2006/relationships/notesSlide" Target="../notesSlides/notesSlide4.xml"/><Relationship Id="rId32" Type="http://schemas.openxmlformats.org/officeDocument/2006/relationships/slideLayout" Target="../slideLayouts/slideLayout12.xml"/><Relationship Id="rId31" Type="http://schemas.openxmlformats.org/officeDocument/2006/relationships/image" Target="../media/image1.png"/><Relationship Id="rId30" Type="http://schemas.openxmlformats.org/officeDocument/2006/relationships/image" Target="../media/image49.svg"/><Relationship Id="rId3" Type="http://schemas.openxmlformats.org/officeDocument/2006/relationships/image" Target="../media/image22.png"/><Relationship Id="rId29" Type="http://schemas.openxmlformats.org/officeDocument/2006/relationships/image" Target="../media/image48.png"/><Relationship Id="rId28" Type="http://schemas.openxmlformats.org/officeDocument/2006/relationships/image" Target="../media/image47.svg"/><Relationship Id="rId27" Type="http://schemas.openxmlformats.org/officeDocument/2006/relationships/image" Target="../media/image46.png"/><Relationship Id="rId26" Type="http://schemas.openxmlformats.org/officeDocument/2006/relationships/image" Target="../media/image45.svg"/><Relationship Id="rId25" Type="http://schemas.openxmlformats.org/officeDocument/2006/relationships/image" Target="../media/image44.png"/><Relationship Id="rId24" Type="http://schemas.openxmlformats.org/officeDocument/2006/relationships/image" Target="../media/image43.svg"/><Relationship Id="rId23" Type="http://schemas.openxmlformats.org/officeDocument/2006/relationships/image" Target="../media/image42.png"/><Relationship Id="rId22" Type="http://schemas.openxmlformats.org/officeDocument/2006/relationships/image" Target="../media/image41.svg"/><Relationship Id="rId21" Type="http://schemas.openxmlformats.org/officeDocument/2006/relationships/image" Target="../media/image40.png"/><Relationship Id="rId20" Type="http://schemas.openxmlformats.org/officeDocument/2006/relationships/image" Target="../media/image39.svg"/><Relationship Id="rId2" Type="http://schemas.openxmlformats.org/officeDocument/2006/relationships/image" Target="../media/image21.svg"/><Relationship Id="rId19" Type="http://schemas.openxmlformats.org/officeDocument/2006/relationships/image" Target="../media/image38.png"/><Relationship Id="rId18" Type="http://schemas.openxmlformats.org/officeDocument/2006/relationships/image" Target="../media/image37.svg"/><Relationship Id="rId17" Type="http://schemas.openxmlformats.org/officeDocument/2006/relationships/image" Target="../media/image36.png"/><Relationship Id="rId16" Type="http://schemas.openxmlformats.org/officeDocument/2006/relationships/image" Target="../media/image35.svg"/><Relationship Id="rId15" Type="http://schemas.openxmlformats.org/officeDocument/2006/relationships/image" Target="../media/image34.png"/><Relationship Id="rId14" Type="http://schemas.openxmlformats.org/officeDocument/2006/relationships/image" Target="../media/image33.svg"/><Relationship Id="rId13" Type="http://schemas.openxmlformats.org/officeDocument/2006/relationships/image" Target="../media/image32.png"/><Relationship Id="rId12" Type="http://schemas.openxmlformats.org/officeDocument/2006/relationships/image" Target="../media/image31.svg"/><Relationship Id="rId11" Type="http://schemas.openxmlformats.org/officeDocument/2006/relationships/image" Target="../media/image30.png"/><Relationship Id="rId10" Type="http://schemas.openxmlformats.org/officeDocument/2006/relationships/image" Target="../media/image29.sv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9" Type="http://schemas.openxmlformats.org/officeDocument/2006/relationships/image" Target="../media/image57.png"/><Relationship Id="rId8" Type="http://schemas.openxmlformats.org/officeDocument/2006/relationships/image" Target="../media/image56.svg"/><Relationship Id="rId7" Type="http://schemas.openxmlformats.org/officeDocument/2006/relationships/image" Target="../media/image55.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50.svg"/><Relationship Id="rId13" Type="http://schemas.openxmlformats.org/officeDocument/2006/relationships/notesSlide" Target="../notesSlides/notesSlide5.xml"/><Relationship Id="rId12" Type="http://schemas.openxmlformats.org/officeDocument/2006/relationships/slideLayout" Target="../slideLayouts/slideLayout12.xml"/><Relationship Id="rId11" Type="http://schemas.openxmlformats.org/officeDocument/2006/relationships/image" Target="../media/image1.png"/><Relationship Id="rId10" Type="http://schemas.openxmlformats.org/officeDocument/2006/relationships/image" Target="../media/image58.sv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59.svg"/><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0.sv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9" Type="http://schemas.openxmlformats.org/officeDocument/2006/relationships/tags" Target="../tags/tag232.xml"/><Relationship Id="rId8" Type="http://schemas.openxmlformats.org/officeDocument/2006/relationships/tags" Target="../tags/tag231.xml"/><Relationship Id="rId7" Type="http://schemas.openxmlformats.org/officeDocument/2006/relationships/tags" Target="../tags/tag230.xml"/><Relationship Id="rId6" Type="http://schemas.openxmlformats.org/officeDocument/2006/relationships/tags" Target="../tags/tag229.xml"/><Relationship Id="rId5" Type="http://schemas.openxmlformats.org/officeDocument/2006/relationships/tags" Target="../tags/tag228.xml"/><Relationship Id="rId45" Type="http://schemas.openxmlformats.org/officeDocument/2006/relationships/slideLayout" Target="../slideLayouts/slideLayout12.xml"/><Relationship Id="rId44" Type="http://schemas.openxmlformats.org/officeDocument/2006/relationships/image" Target="../media/image1.png"/><Relationship Id="rId43" Type="http://schemas.openxmlformats.org/officeDocument/2006/relationships/tags" Target="../tags/tag266.xml"/><Relationship Id="rId42" Type="http://schemas.openxmlformats.org/officeDocument/2006/relationships/tags" Target="../tags/tag265.xml"/><Relationship Id="rId41" Type="http://schemas.openxmlformats.org/officeDocument/2006/relationships/tags" Target="../tags/tag264.xml"/><Relationship Id="rId40" Type="http://schemas.openxmlformats.org/officeDocument/2006/relationships/tags" Target="../tags/tag263.xml"/><Relationship Id="rId4" Type="http://schemas.openxmlformats.org/officeDocument/2006/relationships/tags" Target="../tags/tag227.xml"/><Relationship Id="rId39" Type="http://schemas.openxmlformats.org/officeDocument/2006/relationships/tags" Target="../tags/tag262.xml"/><Relationship Id="rId38" Type="http://schemas.openxmlformats.org/officeDocument/2006/relationships/tags" Target="../tags/tag261.xml"/><Relationship Id="rId37" Type="http://schemas.openxmlformats.org/officeDocument/2006/relationships/tags" Target="../tags/tag260.xml"/><Relationship Id="rId36" Type="http://schemas.openxmlformats.org/officeDocument/2006/relationships/tags" Target="../tags/tag259.xml"/><Relationship Id="rId35" Type="http://schemas.openxmlformats.org/officeDocument/2006/relationships/tags" Target="../tags/tag258.xml"/><Relationship Id="rId34" Type="http://schemas.openxmlformats.org/officeDocument/2006/relationships/tags" Target="../tags/tag257.xml"/><Relationship Id="rId33" Type="http://schemas.openxmlformats.org/officeDocument/2006/relationships/tags" Target="../tags/tag256.xml"/><Relationship Id="rId32" Type="http://schemas.openxmlformats.org/officeDocument/2006/relationships/tags" Target="../tags/tag255.xml"/><Relationship Id="rId31" Type="http://schemas.openxmlformats.org/officeDocument/2006/relationships/tags" Target="../tags/tag254.xml"/><Relationship Id="rId30" Type="http://schemas.openxmlformats.org/officeDocument/2006/relationships/tags" Target="../tags/tag253.xml"/><Relationship Id="rId3" Type="http://schemas.openxmlformats.org/officeDocument/2006/relationships/tags" Target="../tags/tag226.xml"/><Relationship Id="rId29" Type="http://schemas.openxmlformats.org/officeDocument/2006/relationships/tags" Target="../tags/tag252.xml"/><Relationship Id="rId28" Type="http://schemas.openxmlformats.org/officeDocument/2006/relationships/tags" Target="../tags/tag251.xml"/><Relationship Id="rId27" Type="http://schemas.openxmlformats.org/officeDocument/2006/relationships/tags" Target="../tags/tag250.xml"/><Relationship Id="rId26" Type="http://schemas.openxmlformats.org/officeDocument/2006/relationships/tags" Target="../tags/tag249.xml"/><Relationship Id="rId25" Type="http://schemas.openxmlformats.org/officeDocument/2006/relationships/tags" Target="../tags/tag248.xml"/><Relationship Id="rId24" Type="http://schemas.openxmlformats.org/officeDocument/2006/relationships/tags" Target="../tags/tag247.xml"/><Relationship Id="rId23" Type="http://schemas.openxmlformats.org/officeDocument/2006/relationships/tags" Target="../tags/tag246.xml"/><Relationship Id="rId22" Type="http://schemas.openxmlformats.org/officeDocument/2006/relationships/tags" Target="../tags/tag245.xml"/><Relationship Id="rId21" Type="http://schemas.openxmlformats.org/officeDocument/2006/relationships/tags" Target="../tags/tag244.xml"/><Relationship Id="rId20" Type="http://schemas.openxmlformats.org/officeDocument/2006/relationships/tags" Target="../tags/tag243.xml"/><Relationship Id="rId2" Type="http://schemas.openxmlformats.org/officeDocument/2006/relationships/image" Target="../media/image61.svg"/><Relationship Id="rId19" Type="http://schemas.openxmlformats.org/officeDocument/2006/relationships/tags" Target="../tags/tag242.xml"/><Relationship Id="rId18" Type="http://schemas.openxmlformats.org/officeDocument/2006/relationships/tags" Target="../tags/tag241.xml"/><Relationship Id="rId17" Type="http://schemas.openxmlformats.org/officeDocument/2006/relationships/tags" Target="../tags/tag240.xml"/><Relationship Id="rId16" Type="http://schemas.openxmlformats.org/officeDocument/2006/relationships/tags" Target="../tags/tag239.xml"/><Relationship Id="rId15" Type="http://schemas.openxmlformats.org/officeDocument/2006/relationships/tags" Target="../tags/tag238.xml"/><Relationship Id="rId14" Type="http://schemas.openxmlformats.org/officeDocument/2006/relationships/tags" Target="../tags/tag237.xml"/><Relationship Id="rId13" Type="http://schemas.openxmlformats.org/officeDocument/2006/relationships/tags" Target="../tags/tag236.xml"/><Relationship Id="rId12" Type="http://schemas.openxmlformats.org/officeDocument/2006/relationships/tags" Target="../tags/tag235.xml"/><Relationship Id="rId11" Type="http://schemas.openxmlformats.org/officeDocument/2006/relationships/tags" Target="../tags/tag234.xml"/><Relationship Id="rId10" Type="http://schemas.openxmlformats.org/officeDocument/2006/relationships/tags" Target="../tags/tag233.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63.svg"/><Relationship Id="rId3" Type="http://schemas.openxmlformats.org/officeDocument/2006/relationships/image" Target="../media/image62.png"/><Relationship Id="rId2" Type="http://schemas.openxmlformats.org/officeDocument/2006/relationships/image" Target="../media/image21.sv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5.svg"/><Relationship Id="rId1" Type="http://schemas.openxmlformats.org/officeDocument/2006/relationships/image" Target="../media/image64.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1.sv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6.svg"/><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7.sv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image" Target="../media/image72.png"/><Relationship Id="rId7" Type="http://schemas.openxmlformats.org/officeDocument/2006/relationships/image" Target="../media/image71.svg"/><Relationship Id="rId6" Type="http://schemas.openxmlformats.org/officeDocument/2006/relationships/image" Target="../media/image70.png"/><Relationship Id="rId5" Type="http://schemas.openxmlformats.org/officeDocument/2006/relationships/tags" Target="../tags/tag268.xml"/><Relationship Id="rId4" Type="http://schemas.openxmlformats.org/officeDocument/2006/relationships/image" Target="../media/image69.png"/><Relationship Id="rId3" Type="http://schemas.openxmlformats.org/officeDocument/2006/relationships/tags" Target="../tags/tag267.xml"/><Relationship Id="rId2" Type="http://schemas.openxmlformats.org/officeDocument/2006/relationships/image" Target="../media/image68.svg"/><Relationship Id="rId10" Type="http://schemas.openxmlformats.org/officeDocument/2006/relationships/slideLayout" Target="../slideLayouts/slideLayout12.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9" Type="http://schemas.openxmlformats.org/officeDocument/2006/relationships/tags" Target="../tags/tag275.xml"/><Relationship Id="rId8" Type="http://schemas.openxmlformats.org/officeDocument/2006/relationships/tags" Target="../tags/tag274.xml"/><Relationship Id="rId7" Type="http://schemas.openxmlformats.org/officeDocument/2006/relationships/tags" Target="../tags/tag273.xml"/><Relationship Id="rId6" Type="http://schemas.openxmlformats.org/officeDocument/2006/relationships/tags" Target="../tags/tag272.xml"/><Relationship Id="rId5" Type="http://schemas.openxmlformats.org/officeDocument/2006/relationships/tags" Target="../tags/tag271.xml"/><Relationship Id="rId4" Type="http://schemas.openxmlformats.org/officeDocument/2006/relationships/tags" Target="../tags/tag270.xml"/><Relationship Id="rId3" Type="http://schemas.openxmlformats.org/officeDocument/2006/relationships/tags" Target="../tags/tag269.xml"/><Relationship Id="rId2" Type="http://schemas.openxmlformats.org/officeDocument/2006/relationships/image" Target="../media/image73.svg"/><Relationship Id="rId17" Type="http://schemas.openxmlformats.org/officeDocument/2006/relationships/slideLayout" Target="../slideLayouts/slideLayout12.xml"/><Relationship Id="rId16" Type="http://schemas.openxmlformats.org/officeDocument/2006/relationships/image" Target="../media/image1.png"/><Relationship Id="rId15" Type="http://schemas.openxmlformats.org/officeDocument/2006/relationships/image" Target="../media/image77.svg"/><Relationship Id="rId14" Type="http://schemas.openxmlformats.org/officeDocument/2006/relationships/image" Target="../media/image76.svg"/><Relationship Id="rId13" Type="http://schemas.openxmlformats.org/officeDocument/2006/relationships/image" Target="../media/image75.svg"/><Relationship Id="rId12" Type="http://schemas.openxmlformats.org/officeDocument/2006/relationships/image" Target="../media/image74.png"/><Relationship Id="rId11" Type="http://schemas.openxmlformats.org/officeDocument/2006/relationships/tags" Target="../tags/tag277.xml"/><Relationship Id="rId10" Type="http://schemas.openxmlformats.org/officeDocument/2006/relationships/tags" Target="../tags/tag276.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1.png"/><Relationship Id="rId6" Type="http://schemas.openxmlformats.org/officeDocument/2006/relationships/tags" Target="../tags/tag281.xml"/><Relationship Id="rId5" Type="http://schemas.openxmlformats.org/officeDocument/2006/relationships/tags" Target="../tags/tag280.xml"/><Relationship Id="rId4" Type="http://schemas.openxmlformats.org/officeDocument/2006/relationships/tags" Target="../tags/tag279.xml"/><Relationship Id="rId3" Type="http://schemas.openxmlformats.org/officeDocument/2006/relationships/tags" Target="../tags/tag278.xml"/><Relationship Id="rId2" Type="http://schemas.openxmlformats.org/officeDocument/2006/relationships/image" Target="../media/image78.svg"/><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79.svg"/><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80.svg"/><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78.svg"/><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9" Type="http://schemas.openxmlformats.org/officeDocument/2006/relationships/image" Target="../media/image88.svg"/><Relationship Id="rId8" Type="http://schemas.openxmlformats.org/officeDocument/2006/relationships/image" Target="../media/image87.png"/><Relationship Id="rId7" Type="http://schemas.openxmlformats.org/officeDocument/2006/relationships/image" Target="../media/image86.svg"/><Relationship Id="rId6" Type="http://schemas.openxmlformats.org/officeDocument/2006/relationships/image" Target="../media/image85.png"/><Relationship Id="rId5" Type="http://schemas.openxmlformats.org/officeDocument/2006/relationships/image" Target="../media/image84.svg"/><Relationship Id="rId4" Type="http://schemas.openxmlformats.org/officeDocument/2006/relationships/image" Target="../media/image83.png"/><Relationship Id="rId3" Type="http://schemas.openxmlformats.org/officeDocument/2006/relationships/image" Target="../media/image82.svg"/><Relationship Id="rId2" Type="http://schemas.openxmlformats.org/officeDocument/2006/relationships/image" Target="../media/image81.png"/><Relationship Id="rId13" Type="http://schemas.openxmlformats.org/officeDocument/2006/relationships/slideLayout" Target="../slideLayouts/slideLayout12.xml"/><Relationship Id="rId12" Type="http://schemas.openxmlformats.org/officeDocument/2006/relationships/image" Target="../media/image1.png"/><Relationship Id="rId11" Type="http://schemas.openxmlformats.org/officeDocument/2006/relationships/image" Target="../media/image78.svg"/><Relationship Id="rId10" Type="http://schemas.openxmlformats.org/officeDocument/2006/relationships/image" Target="../media/image20.png"/><Relationship Id="rId1" Type="http://schemas.openxmlformats.org/officeDocument/2006/relationships/tags" Target="../tags/tag282.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89.svg"/><Relationship Id="rId1" Type="http://schemas.openxmlformats.org/officeDocument/2006/relationships/image" Target="../media/image64.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90.svg"/><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tags" Target="../tags/tag287.xml"/><Relationship Id="rId66" Type="http://schemas.openxmlformats.org/officeDocument/2006/relationships/slideLayout" Target="../slideLayouts/slideLayout12.xml"/><Relationship Id="rId65" Type="http://schemas.openxmlformats.org/officeDocument/2006/relationships/image" Target="../media/image1.png"/><Relationship Id="rId64" Type="http://schemas.openxmlformats.org/officeDocument/2006/relationships/tags" Target="../tags/tag312.xml"/><Relationship Id="rId63" Type="http://schemas.openxmlformats.org/officeDocument/2006/relationships/tags" Target="../tags/tag311.xml"/><Relationship Id="rId62" Type="http://schemas.openxmlformats.org/officeDocument/2006/relationships/tags" Target="../tags/tag310.xml"/><Relationship Id="rId61" Type="http://schemas.openxmlformats.org/officeDocument/2006/relationships/tags" Target="../tags/tag309.xml"/><Relationship Id="rId60" Type="http://schemas.openxmlformats.org/officeDocument/2006/relationships/tags" Target="../tags/tag308.xml"/><Relationship Id="rId6" Type="http://schemas.openxmlformats.org/officeDocument/2006/relationships/tags" Target="../tags/tag286.xml"/><Relationship Id="rId59" Type="http://schemas.openxmlformats.org/officeDocument/2006/relationships/tags" Target="../tags/tag307.xml"/><Relationship Id="rId58" Type="http://schemas.openxmlformats.org/officeDocument/2006/relationships/tags" Target="../tags/tag306.xml"/><Relationship Id="rId57" Type="http://schemas.openxmlformats.org/officeDocument/2006/relationships/tags" Target="../tags/tag305.xml"/><Relationship Id="rId56" Type="http://schemas.openxmlformats.org/officeDocument/2006/relationships/tags" Target="../tags/tag304.xml"/><Relationship Id="rId55" Type="http://schemas.openxmlformats.org/officeDocument/2006/relationships/tags" Target="../tags/tag303.xml"/><Relationship Id="rId54" Type="http://schemas.openxmlformats.org/officeDocument/2006/relationships/image" Target="../media/image123.svg"/><Relationship Id="rId53" Type="http://schemas.openxmlformats.org/officeDocument/2006/relationships/image" Target="../media/image122.png"/><Relationship Id="rId52" Type="http://schemas.openxmlformats.org/officeDocument/2006/relationships/image" Target="../media/image121.svg"/><Relationship Id="rId51" Type="http://schemas.openxmlformats.org/officeDocument/2006/relationships/image" Target="../media/image120.png"/><Relationship Id="rId50" Type="http://schemas.openxmlformats.org/officeDocument/2006/relationships/image" Target="../media/image119.svg"/><Relationship Id="rId5" Type="http://schemas.openxmlformats.org/officeDocument/2006/relationships/tags" Target="../tags/tag285.xml"/><Relationship Id="rId49" Type="http://schemas.openxmlformats.org/officeDocument/2006/relationships/image" Target="../media/image118.png"/><Relationship Id="rId48" Type="http://schemas.openxmlformats.org/officeDocument/2006/relationships/image" Target="../media/image117.svg"/><Relationship Id="rId47" Type="http://schemas.openxmlformats.org/officeDocument/2006/relationships/image" Target="../media/image116.png"/><Relationship Id="rId46" Type="http://schemas.openxmlformats.org/officeDocument/2006/relationships/image" Target="../media/image115.svg"/><Relationship Id="rId45" Type="http://schemas.openxmlformats.org/officeDocument/2006/relationships/image" Target="../media/image114.png"/><Relationship Id="rId44" Type="http://schemas.openxmlformats.org/officeDocument/2006/relationships/image" Target="../media/image113.svg"/><Relationship Id="rId43" Type="http://schemas.openxmlformats.org/officeDocument/2006/relationships/image" Target="../media/image112.png"/><Relationship Id="rId42" Type="http://schemas.openxmlformats.org/officeDocument/2006/relationships/image" Target="../media/image111.svg"/><Relationship Id="rId41" Type="http://schemas.openxmlformats.org/officeDocument/2006/relationships/image" Target="../media/image110.png"/><Relationship Id="rId40" Type="http://schemas.openxmlformats.org/officeDocument/2006/relationships/image" Target="../media/image109.svg"/><Relationship Id="rId4" Type="http://schemas.openxmlformats.org/officeDocument/2006/relationships/tags" Target="../tags/tag284.xml"/><Relationship Id="rId39" Type="http://schemas.openxmlformats.org/officeDocument/2006/relationships/image" Target="../media/image108.png"/><Relationship Id="rId38" Type="http://schemas.openxmlformats.org/officeDocument/2006/relationships/image" Target="../media/image107.svg"/><Relationship Id="rId37" Type="http://schemas.openxmlformats.org/officeDocument/2006/relationships/image" Target="../media/image106.png"/><Relationship Id="rId36" Type="http://schemas.openxmlformats.org/officeDocument/2006/relationships/image" Target="../media/image105.svg"/><Relationship Id="rId35" Type="http://schemas.openxmlformats.org/officeDocument/2006/relationships/image" Target="../media/image104.png"/><Relationship Id="rId34" Type="http://schemas.openxmlformats.org/officeDocument/2006/relationships/image" Target="../media/image103.svg"/><Relationship Id="rId33" Type="http://schemas.openxmlformats.org/officeDocument/2006/relationships/image" Target="../media/image102.png"/><Relationship Id="rId32" Type="http://schemas.openxmlformats.org/officeDocument/2006/relationships/image" Target="../media/image101.svg"/><Relationship Id="rId31" Type="http://schemas.openxmlformats.org/officeDocument/2006/relationships/image" Target="../media/image100.png"/><Relationship Id="rId30" Type="http://schemas.openxmlformats.org/officeDocument/2006/relationships/image" Target="../media/image99.svg"/><Relationship Id="rId3" Type="http://schemas.openxmlformats.org/officeDocument/2006/relationships/tags" Target="../tags/tag283.xml"/><Relationship Id="rId29" Type="http://schemas.openxmlformats.org/officeDocument/2006/relationships/image" Target="../media/image98.png"/><Relationship Id="rId28" Type="http://schemas.openxmlformats.org/officeDocument/2006/relationships/image" Target="../media/image97.svg"/><Relationship Id="rId27" Type="http://schemas.openxmlformats.org/officeDocument/2006/relationships/image" Target="../media/image96.png"/><Relationship Id="rId26" Type="http://schemas.openxmlformats.org/officeDocument/2006/relationships/image" Target="../media/image95.svg"/><Relationship Id="rId25" Type="http://schemas.openxmlformats.org/officeDocument/2006/relationships/image" Target="../media/image94.png"/><Relationship Id="rId24" Type="http://schemas.openxmlformats.org/officeDocument/2006/relationships/image" Target="../media/image93.svg"/><Relationship Id="rId23" Type="http://schemas.openxmlformats.org/officeDocument/2006/relationships/image" Target="../media/image92.png"/><Relationship Id="rId22" Type="http://schemas.openxmlformats.org/officeDocument/2006/relationships/tags" Target="../tags/tag302.xml"/><Relationship Id="rId21" Type="http://schemas.openxmlformats.org/officeDocument/2006/relationships/tags" Target="../tags/tag301.xml"/><Relationship Id="rId20" Type="http://schemas.openxmlformats.org/officeDocument/2006/relationships/tags" Target="../tags/tag300.xml"/><Relationship Id="rId2" Type="http://schemas.openxmlformats.org/officeDocument/2006/relationships/image" Target="../media/image91.svg"/><Relationship Id="rId19" Type="http://schemas.openxmlformats.org/officeDocument/2006/relationships/tags" Target="../tags/tag299.xml"/><Relationship Id="rId18" Type="http://schemas.openxmlformats.org/officeDocument/2006/relationships/tags" Target="../tags/tag298.xml"/><Relationship Id="rId17" Type="http://schemas.openxmlformats.org/officeDocument/2006/relationships/tags" Target="../tags/tag297.xml"/><Relationship Id="rId16" Type="http://schemas.openxmlformats.org/officeDocument/2006/relationships/tags" Target="../tags/tag296.xml"/><Relationship Id="rId15" Type="http://schemas.openxmlformats.org/officeDocument/2006/relationships/tags" Target="../tags/tag295.xml"/><Relationship Id="rId14" Type="http://schemas.openxmlformats.org/officeDocument/2006/relationships/tags" Target="../tags/tag294.xml"/><Relationship Id="rId13" Type="http://schemas.openxmlformats.org/officeDocument/2006/relationships/tags" Target="../tags/tag293.xml"/><Relationship Id="rId12" Type="http://schemas.openxmlformats.org/officeDocument/2006/relationships/tags" Target="../tags/tag292.xml"/><Relationship Id="rId11" Type="http://schemas.openxmlformats.org/officeDocument/2006/relationships/tags" Target="../tags/tag291.xml"/><Relationship Id="rId10" Type="http://schemas.openxmlformats.org/officeDocument/2006/relationships/tags" Target="../tags/tag290.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png"/><Relationship Id="rId7" Type="http://schemas.openxmlformats.org/officeDocument/2006/relationships/image" Target="../media/image126.svg"/><Relationship Id="rId6" Type="http://schemas.openxmlformats.org/officeDocument/2006/relationships/image" Target="../media/image125.png"/><Relationship Id="rId5" Type="http://schemas.openxmlformats.org/officeDocument/2006/relationships/tags" Target="../tags/tag315.xml"/><Relationship Id="rId4" Type="http://schemas.openxmlformats.org/officeDocument/2006/relationships/tags" Target="../tags/tag314.xml"/><Relationship Id="rId3" Type="http://schemas.openxmlformats.org/officeDocument/2006/relationships/tags" Target="../tags/tag313.xml"/><Relationship Id="rId2" Type="http://schemas.openxmlformats.org/officeDocument/2006/relationships/image" Target="../media/image124.svg"/><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27.svg"/><Relationship Id="rId1" Type="http://schemas.openxmlformats.org/officeDocument/2006/relationships/image" Target="../media/image64.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28.svg"/><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29.svg"/><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30.svg"/><Relationship Id="rId1" Type="http://schemas.openxmlformats.org/officeDocument/2006/relationships/image" Target="../media/image64.pn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133.svg"/><Relationship Id="rId3" Type="http://schemas.openxmlformats.org/officeDocument/2006/relationships/image" Target="../media/image132.png"/><Relationship Id="rId2" Type="http://schemas.openxmlformats.org/officeDocument/2006/relationships/image" Target="../media/image131.svg"/><Relationship Id="rId1" Type="http://schemas.openxmlformats.org/officeDocument/2006/relationships/image" Target="../media/image64.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34.svg"/><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image" Target="../media/image138.svg"/><Relationship Id="rId4" Type="http://schemas.openxmlformats.org/officeDocument/2006/relationships/image" Target="../media/image137.svg"/><Relationship Id="rId3" Type="http://schemas.openxmlformats.org/officeDocument/2006/relationships/image" Target="../media/image136.png"/><Relationship Id="rId2" Type="http://schemas.openxmlformats.org/officeDocument/2006/relationships/image" Target="../media/image135.svg"/><Relationship Id="rId1" Type="http://schemas.openxmlformats.org/officeDocument/2006/relationships/image" Target="../media/image64.png"/></Relationships>
</file>

<file path=ppt/slides/_rels/slide38.xml.rels><?xml version="1.0" encoding="UTF-8" standalone="yes"?>
<Relationships xmlns="http://schemas.openxmlformats.org/package/2006/relationships"><Relationship Id="rId9" Type="http://schemas.openxmlformats.org/officeDocument/2006/relationships/image" Target="../media/image146.png"/><Relationship Id="rId8" Type="http://schemas.openxmlformats.org/officeDocument/2006/relationships/image" Target="../media/image145.svg"/><Relationship Id="rId7" Type="http://schemas.openxmlformats.org/officeDocument/2006/relationships/image" Target="../media/image144.png"/><Relationship Id="rId6" Type="http://schemas.openxmlformats.org/officeDocument/2006/relationships/image" Target="../media/image143.svg"/><Relationship Id="rId5" Type="http://schemas.openxmlformats.org/officeDocument/2006/relationships/image" Target="../media/image142.png"/><Relationship Id="rId4" Type="http://schemas.openxmlformats.org/officeDocument/2006/relationships/image" Target="../media/image141.svg"/><Relationship Id="rId34" Type="http://schemas.openxmlformats.org/officeDocument/2006/relationships/slideLayout" Target="../slideLayouts/slideLayout12.xml"/><Relationship Id="rId33" Type="http://schemas.openxmlformats.org/officeDocument/2006/relationships/image" Target="../media/image1.png"/><Relationship Id="rId32" Type="http://schemas.openxmlformats.org/officeDocument/2006/relationships/image" Target="../media/image169.svg"/><Relationship Id="rId31" Type="http://schemas.openxmlformats.org/officeDocument/2006/relationships/image" Target="../media/image168.png"/><Relationship Id="rId30" Type="http://schemas.openxmlformats.org/officeDocument/2006/relationships/image" Target="../media/image167.svg"/><Relationship Id="rId3" Type="http://schemas.openxmlformats.org/officeDocument/2006/relationships/image" Target="../media/image140.png"/><Relationship Id="rId29" Type="http://schemas.openxmlformats.org/officeDocument/2006/relationships/image" Target="../media/image166.png"/><Relationship Id="rId28" Type="http://schemas.openxmlformats.org/officeDocument/2006/relationships/image" Target="../media/image165.svg"/><Relationship Id="rId27" Type="http://schemas.openxmlformats.org/officeDocument/2006/relationships/image" Target="../media/image164.png"/><Relationship Id="rId26" Type="http://schemas.openxmlformats.org/officeDocument/2006/relationships/image" Target="../media/image163.svg"/><Relationship Id="rId25" Type="http://schemas.openxmlformats.org/officeDocument/2006/relationships/image" Target="../media/image162.png"/><Relationship Id="rId24" Type="http://schemas.openxmlformats.org/officeDocument/2006/relationships/image" Target="../media/image161.svg"/><Relationship Id="rId23" Type="http://schemas.openxmlformats.org/officeDocument/2006/relationships/image" Target="../media/image160.png"/><Relationship Id="rId22" Type="http://schemas.openxmlformats.org/officeDocument/2006/relationships/image" Target="../media/image159.svg"/><Relationship Id="rId21" Type="http://schemas.openxmlformats.org/officeDocument/2006/relationships/image" Target="../media/image158.png"/><Relationship Id="rId20" Type="http://schemas.openxmlformats.org/officeDocument/2006/relationships/image" Target="../media/image157.svg"/><Relationship Id="rId2" Type="http://schemas.openxmlformats.org/officeDocument/2006/relationships/image" Target="../media/image139.svg"/><Relationship Id="rId19" Type="http://schemas.openxmlformats.org/officeDocument/2006/relationships/image" Target="../media/image156.png"/><Relationship Id="rId18" Type="http://schemas.openxmlformats.org/officeDocument/2006/relationships/image" Target="../media/image155.svg"/><Relationship Id="rId17" Type="http://schemas.openxmlformats.org/officeDocument/2006/relationships/image" Target="../media/image154.png"/><Relationship Id="rId16" Type="http://schemas.openxmlformats.org/officeDocument/2006/relationships/image" Target="../media/image153.svg"/><Relationship Id="rId15" Type="http://schemas.openxmlformats.org/officeDocument/2006/relationships/image" Target="../media/image152.png"/><Relationship Id="rId14" Type="http://schemas.openxmlformats.org/officeDocument/2006/relationships/image" Target="../media/image151.svg"/><Relationship Id="rId13" Type="http://schemas.openxmlformats.org/officeDocument/2006/relationships/image" Target="../media/image150.png"/><Relationship Id="rId12" Type="http://schemas.openxmlformats.org/officeDocument/2006/relationships/image" Target="../media/image149.svg"/><Relationship Id="rId11" Type="http://schemas.openxmlformats.org/officeDocument/2006/relationships/image" Target="../media/image148.png"/><Relationship Id="rId10" Type="http://schemas.openxmlformats.org/officeDocument/2006/relationships/image" Target="../media/image147.svg"/><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70.svg"/><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70.svg"/><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72.svg"/><Relationship Id="rId1" Type="http://schemas.openxmlformats.org/officeDocument/2006/relationships/image" Target="../media/image171.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73.svg"/><Relationship Id="rId1" Type="http://schemas.openxmlformats.org/officeDocument/2006/relationships/image" Target="../media/image64.png"/></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1.png"/><Relationship Id="rId6" Type="http://schemas.openxmlformats.org/officeDocument/2006/relationships/image" Target="../media/image177.svg"/><Relationship Id="rId5" Type="http://schemas.openxmlformats.org/officeDocument/2006/relationships/image" Target="../media/image176.png"/><Relationship Id="rId4" Type="http://schemas.openxmlformats.org/officeDocument/2006/relationships/image" Target="../media/image175.svg"/><Relationship Id="rId3" Type="http://schemas.openxmlformats.org/officeDocument/2006/relationships/image" Target="../media/image174.png"/><Relationship Id="rId2" Type="http://schemas.openxmlformats.org/officeDocument/2006/relationships/image" Target="../media/image65.svg"/><Relationship Id="rId1" Type="http://schemas.openxmlformats.org/officeDocument/2006/relationships/image" Target="../media/image20.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78.svg"/><Relationship Id="rId1" Type="http://schemas.openxmlformats.org/officeDocument/2006/relationships/image" Target="../media/image64.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descr="&amp;pky380_sjzg_VCG41N612724130_sjzg_VCG41N612724130&amp;"/>
          <p:cNvPicPr>
            <a:picLocks noChangeAspect="1"/>
          </p:cNvPicPr>
          <p:nvPr userDrawn="1"/>
        </p:nvPicPr>
        <p:blipFill>
          <a:blip r:embed="rId1">
            <a:lum contrast="-66000"/>
          </a:blip>
          <a:stretch>
            <a:fillRect/>
          </a:stretch>
        </p:blipFill>
        <p:spPr>
          <a:xfrm>
            <a:off x="-11430" y="0"/>
            <a:ext cx="12214225" cy="6858000"/>
          </a:xfrm>
          <a:prstGeom prst="rect">
            <a:avLst/>
          </a:prstGeom>
        </p:spPr>
      </p:pic>
      <p:sp>
        <p:nvSpPr>
          <p:cNvPr id="46" name="矩形 45"/>
          <p:cNvSpPr/>
          <p:nvPr userDrawn="1"/>
        </p:nvSpPr>
        <p:spPr>
          <a:xfrm>
            <a:off x="0" y="0"/>
            <a:ext cx="12192000" cy="6858000"/>
          </a:xfrm>
          <a:prstGeom prst="rect">
            <a:avLst/>
          </a:prstGeom>
          <a:gradFill>
            <a:gsLst>
              <a:gs pos="0">
                <a:schemeClr val="accent1">
                  <a:alpha val="90000"/>
                </a:schemeClr>
              </a:gs>
              <a:gs pos="100000">
                <a:schemeClr val="accent1">
                  <a:alpha val="6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44" name="直接连接符 43"/>
          <p:cNvCxnSpPr/>
          <p:nvPr/>
        </p:nvCxnSpPr>
        <p:spPr>
          <a:xfrm>
            <a:off x="1567721" y="8585987"/>
            <a:ext cx="572022" cy="0"/>
          </a:xfrm>
          <a:prstGeom prst="line">
            <a:avLst/>
          </a:prstGeom>
          <a:ln w="12700">
            <a:gradFill flip="none" rotWithShape="1">
              <a:gsLst>
                <a:gs pos="11000">
                  <a:schemeClr val="bg1">
                    <a:alpha val="0"/>
                  </a:schemeClr>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3870960" y="1540510"/>
            <a:ext cx="4001135" cy="706755"/>
          </a:xfrm>
          <a:prstGeom prst="rect">
            <a:avLst/>
          </a:prstGeom>
          <a:noFill/>
        </p:spPr>
        <p:txBody>
          <a:bodyPr wrap="square" rtlCol="0">
            <a:spAutoFit/>
          </a:bodyPr>
          <a:lstStyle/>
          <a:p>
            <a:pPr algn="dist"/>
            <a:r>
              <a:rPr lang="zh-CN" altLang="en-US" sz="4000" b="1" dirty="0">
                <a:solidFill>
                  <a:srgbClr val="FFC000"/>
                </a:solidFill>
                <a:latin typeface="微软雅黑" panose="020B0503020204020204" charset="-122"/>
                <a:ea typeface="微软雅黑" panose="020B0503020204020204" charset="-122"/>
                <a:cs typeface="微软雅黑" panose="020B0503020204020204" charset="-122"/>
              </a:rPr>
              <a:t>「框架搭建系列</a:t>
            </a:r>
            <a:r>
              <a:rPr lang="zh-CN" altLang="en-US" sz="4000" b="1" dirty="0">
                <a:solidFill>
                  <a:srgbClr val="FFC000"/>
                </a:solidFill>
                <a:latin typeface="微软雅黑" panose="020B0503020204020204" charset="-122"/>
                <a:ea typeface="微软雅黑" panose="020B0503020204020204" charset="-122"/>
                <a:cs typeface="微软雅黑" panose="020B0503020204020204" charset="-122"/>
                <a:sym typeface="+mn-ea"/>
              </a:rPr>
              <a:t>」</a:t>
            </a:r>
            <a:endParaRPr lang="zh-CN" altLang="en-US" sz="4000" b="1" dirty="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sp>
        <p:nvSpPr>
          <p:cNvPr id="80" name="文本框 79"/>
          <p:cNvSpPr txBox="1"/>
          <p:nvPr/>
        </p:nvSpPr>
        <p:spPr>
          <a:xfrm>
            <a:off x="2024380" y="2326005"/>
            <a:ext cx="7940040" cy="1014730"/>
          </a:xfrm>
          <a:prstGeom prst="rect">
            <a:avLst/>
          </a:prstGeom>
          <a:noFill/>
        </p:spPr>
        <p:txBody>
          <a:bodyPr wrap="square" rtlCol="0">
            <a:spAutoFit/>
          </a:bodyPr>
          <a:lstStyle/>
          <a:p>
            <a:pPr algn="dist"/>
            <a:r>
              <a:rPr lang="zh-CN" sz="6000" b="1" dirty="0">
                <a:solidFill>
                  <a:schemeClr val="bg1"/>
                </a:solidFill>
                <a:latin typeface="微软雅黑" panose="020B0503020204020204" charset="-122"/>
                <a:ea typeface="微软雅黑" panose="020B0503020204020204" charset="-122"/>
                <a:cs typeface="微软雅黑" panose="020B0503020204020204" charset="-122"/>
              </a:rPr>
              <a:t>复杂逻辑场景</a:t>
            </a:r>
            <a:r>
              <a:rPr lang="en-US" altLang="zh-CN" sz="6000" b="1" dirty="0">
                <a:solidFill>
                  <a:schemeClr val="bg1"/>
                </a:solidFill>
                <a:latin typeface="微软雅黑" panose="020B0503020204020204" charset="-122"/>
                <a:ea typeface="微软雅黑" panose="020B0503020204020204" charset="-122"/>
                <a:cs typeface="微软雅黑" panose="020B0503020204020204" charset="-122"/>
              </a:rPr>
              <a:t>PPT</a:t>
            </a:r>
            <a:r>
              <a:rPr lang="zh-CN" altLang="en-US" sz="6000" b="1" dirty="0">
                <a:solidFill>
                  <a:schemeClr val="bg1"/>
                </a:solidFill>
                <a:latin typeface="微软雅黑" panose="020B0503020204020204" charset="-122"/>
                <a:ea typeface="微软雅黑" panose="020B0503020204020204" charset="-122"/>
                <a:cs typeface="微软雅黑" panose="020B0503020204020204" charset="-122"/>
              </a:rPr>
              <a:t>模板</a:t>
            </a:r>
            <a:endParaRPr lang="zh-CN" altLang="en-US" sz="6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5244518" y="4138060"/>
            <a:ext cx="1702965" cy="306705"/>
          </a:xfrm>
          <a:prstGeom prst="rect">
            <a:avLst/>
          </a:prstGeom>
          <a:noFill/>
          <a:ln w="3175">
            <a:noFill/>
          </a:ln>
        </p:spPr>
        <p:txBody>
          <a:bodyPr wrap="square" rtlCol="0">
            <a:spAutoFit/>
          </a:bodyPr>
          <a:lstStyle/>
          <a:p>
            <a:pPr algn="ct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汇报人：开悟思维</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4721860" y="4411345"/>
            <a:ext cx="2490470" cy="306705"/>
          </a:xfrm>
          <a:prstGeom prst="rect">
            <a:avLst/>
          </a:prstGeom>
          <a:noFill/>
          <a:ln w="3175">
            <a:noFill/>
          </a:ln>
        </p:spPr>
        <p:txBody>
          <a:bodyPr wrap="square" rtlCol="0">
            <a:spAutoFit/>
          </a:bodyPr>
          <a:lstStyle>
            <a:defPPr>
              <a:defRPr lang="zh-CN"/>
            </a:defPPr>
            <a:lvl1pPr algn="ctr">
              <a:defRPr sz="1400">
                <a:solidFill>
                  <a:schemeClr val="bg1"/>
                </a:solidFill>
              </a:defRPr>
            </a:lvl1pPr>
          </a:lstStyle>
          <a:p>
            <a:pPr algn="ctr"/>
            <a:r>
              <a:rPr lang="zh-CN" altLang="en-US" dirty="0">
                <a:latin typeface="微软雅黑" panose="020B0503020204020204" charset="-122"/>
                <a:ea typeface="微软雅黑" panose="020B0503020204020204" charset="-122"/>
                <a:cs typeface="微软雅黑" panose="020B0503020204020204" charset="-122"/>
              </a:rPr>
              <a:t>汇报时间：</a:t>
            </a:r>
            <a:r>
              <a:rPr lang="en-US" altLang="zh-CN" dirty="0">
                <a:latin typeface="微软雅黑" panose="020B0503020204020204" charset="-122"/>
                <a:ea typeface="微软雅黑" panose="020B0503020204020204" charset="-122"/>
                <a:cs typeface="微软雅黑" panose="020B0503020204020204" charset="-122"/>
              </a:rPr>
              <a:t>20xx.xx</a:t>
            </a:r>
            <a:endParaRPr lang="zh-CN" altLang="en-US" dirty="0">
              <a:latin typeface="微软雅黑" panose="020B0503020204020204" charset="-122"/>
              <a:ea typeface="微软雅黑" panose="020B0503020204020204" charset="-122"/>
              <a:cs typeface="微软雅黑" panose="020B0503020204020204" charset="-122"/>
            </a:endParaRPr>
          </a:p>
        </p:txBody>
      </p:sp>
      <p:cxnSp>
        <p:nvCxnSpPr>
          <p:cNvPr id="83" name="直接连接符 82"/>
          <p:cNvCxnSpPr/>
          <p:nvPr/>
        </p:nvCxnSpPr>
        <p:spPr>
          <a:xfrm>
            <a:off x="2328724" y="3360147"/>
            <a:ext cx="7534552" cy="635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84" name="等腰三角形 83"/>
          <p:cNvSpPr/>
          <p:nvPr/>
        </p:nvSpPr>
        <p:spPr>
          <a:xfrm flipV="1">
            <a:off x="9715109" y="3360147"/>
            <a:ext cx="148167" cy="12773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2608152" y="3437112"/>
            <a:ext cx="6975697" cy="275590"/>
          </a:xfrm>
          <a:prstGeom prst="rect">
            <a:avLst/>
          </a:prstGeom>
          <a:noFill/>
        </p:spPr>
        <p:txBody>
          <a:bodyPr wrap="square" rtlCol="0">
            <a:spAutoFit/>
          </a:bodyPr>
          <a:lstStyle/>
          <a:p>
            <a:pPr algn="ct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Framework Series: Complex Logic Construction PPT Template</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userDrawn="1"/>
        </p:nvSpPr>
        <p:spPr>
          <a:xfrm>
            <a:off x="9388344" y="744017"/>
            <a:ext cx="2357120" cy="92075"/>
          </a:xfrm>
          <a:prstGeom prst="rect">
            <a:avLst/>
          </a:prstGeom>
          <a:noFill/>
        </p:spPr>
        <p:txBody>
          <a:bodyPr wrap="none" lIns="0" tIns="0" rIns="0" bIns="0" rtlCol="0">
            <a:spAutoFit/>
          </a:bodyPr>
          <a:lstStyle/>
          <a:p>
            <a:pPr algn="r">
              <a:lnSpc>
                <a:spcPct val="60000"/>
              </a:lnSpc>
              <a:spcAft>
                <a:spcPts val="600"/>
              </a:spcAft>
            </a:pPr>
            <a:r>
              <a:rPr lang="zh-CN" altLang="en-US" sz="1000" spc="16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仅供学习使用，严禁商用，侵权必究</a:t>
            </a:r>
            <a:endParaRPr lang="zh-CN" altLang="en-US" sz="1000" spc="16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矩形 2"/>
          <p:cNvSpPr/>
          <p:nvPr userDrawn="1"/>
        </p:nvSpPr>
        <p:spPr>
          <a:xfrm>
            <a:off x="9200515" y="521970"/>
            <a:ext cx="2626995" cy="454660"/>
          </a:xfrm>
          <a:prstGeom prst="rect">
            <a:avLst/>
          </a:prstGeom>
          <a:noFill/>
          <a:ln>
            <a:solidFill>
              <a:schemeClr val="bg1"/>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12" name="文本框 11"/>
          <p:cNvSpPr txBox="1"/>
          <p:nvPr>
            <p:custDataLst>
              <p:tags r:id="rId1"/>
            </p:custDataLst>
          </p:nvPr>
        </p:nvSpPr>
        <p:spPr>
          <a:xfrm flipH="1">
            <a:off x="3674110" y="530860"/>
            <a:ext cx="4691380" cy="491490"/>
          </a:xfrm>
          <a:prstGeom prst="rect">
            <a:avLst/>
          </a:prstGeom>
          <a:noFill/>
        </p:spPr>
        <p:txBody>
          <a:bodyPr wrap="square" rtlCol="0">
            <a:noAutofit/>
          </a:bodyPr>
          <a:lstStyle/>
          <a:p>
            <a:pPr algn="ctr"/>
            <a:r>
              <a:rPr lang="zh-CN" sz="3200" b="1">
                <a:solidFill>
                  <a:schemeClr val="accent1"/>
                </a:solidFill>
                <a:latin typeface="微软雅黑" panose="020B0503020204020204" charset="-122"/>
                <a:ea typeface="微软雅黑" panose="020B0503020204020204" charset="-122"/>
                <a:cs typeface="微软雅黑" panose="020B0503020204020204" charset="-122"/>
              </a:rPr>
              <a:t>本版配色说明</a:t>
            </a:r>
            <a:endParaRPr lang="zh-CN"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2"/>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3"/>
          <a:srcRect r="58023" b="-8235"/>
          <a:stretch>
            <a:fillRect/>
          </a:stretch>
        </p:blipFill>
        <p:spPr>
          <a:xfrm>
            <a:off x="10253980" y="147320"/>
            <a:ext cx="1591310" cy="350520"/>
          </a:xfrm>
          <a:prstGeom prst="rect">
            <a:avLst/>
          </a:prstGeom>
        </p:spPr>
      </p:pic>
      <p:sp>
        <p:nvSpPr>
          <p:cNvPr id="85" name="文本框 84"/>
          <p:cNvSpPr txBox="1"/>
          <p:nvPr/>
        </p:nvSpPr>
        <p:spPr>
          <a:xfrm rot="2580000">
            <a:off x="3877945" y="4537075"/>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04</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2" name="文本框 81"/>
          <p:cNvSpPr txBox="1"/>
          <p:nvPr/>
        </p:nvSpPr>
        <p:spPr>
          <a:xfrm rot="19800000">
            <a:off x="3994150" y="3270885"/>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01</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4" name="文本框 83"/>
          <p:cNvSpPr txBox="1"/>
          <p:nvPr/>
        </p:nvSpPr>
        <p:spPr>
          <a:xfrm rot="18960000">
            <a:off x="6292215" y="3458210"/>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03</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3" name="文本框 82"/>
          <p:cNvSpPr txBox="1"/>
          <p:nvPr/>
        </p:nvSpPr>
        <p:spPr>
          <a:xfrm>
            <a:off x="6394450" y="4545330"/>
            <a:ext cx="274320" cy="706755"/>
          </a:xfrm>
          <a:prstGeom prst="rect">
            <a:avLst/>
          </a:prstGeom>
          <a:noFill/>
        </p:spPr>
        <p:txBody>
          <a:bodyPr wrap="square" rtlCol="0">
            <a:spAutoFit/>
          </a:bodyPr>
          <a:lstStyle/>
          <a:p>
            <a:pPr algn="l"/>
            <a:r>
              <a:rPr lang="en-US" sz="2000" b="1" spc="0" baseline="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02</a:t>
            </a:r>
            <a:endParaRPr lang="en-US" sz="2000" b="1" spc="0" baseline="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68" name="任意多边形: 形状 56"/>
          <p:cNvSpPr/>
          <p:nvPr/>
        </p:nvSpPr>
        <p:spPr>
          <a:xfrm>
            <a:off x="5866765" y="3973195"/>
            <a:ext cx="2520315" cy="1205230"/>
          </a:xfrm>
          <a:custGeom>
            <a:avLst/>
            <a:gdLst>
              <a:gd name="connsiteX0" fmla="*/ 323850 w 1082039"/>
              <a:gd name="connsiteY0" fmla="*/ 75248 h 1005840"/>
              <a:gd name="connsiteX1" fmla="*/ 631508 w 1082039"/>
              <a:gd name="connsiteY1" fmla="*/ 420053 h 1005840"/>
              <a:gd name="connsiteX2" fmla="*/ 1038225 w 1082039"/>
              <a:gd name="connsiteY2" fmla="*/ 681990 h 1005840"/>
              <a:gd name="connsiteX3" fmla="*/ 1082040 w 1082039"/>
              <a:gd name="connsiteY3" fmla="*/ 864870 h 1005840"/>
              <a:gd name="connsiteX4" fmla="*/ 932498 w 1082039"/>
              <a:gd name="connsiteY4" fmla="*/ 1005840 h 1005840"/>
              <a:gd name="connsiteX5" fmla="*/ 168592 w 1082039"/>
              <a:gd name="connsiteY5" fmla="*/ 423863 h 1005840"/>
              <a:gd name="connsiteX6" fmla="*/ 120967 w 1082039"/>
              <a:gd name="connsiteY6" fmla="*/ 363855 h 1005840"/>
              <a:gd name="connsiteX7" fmla="*/ 0 w 1082039"/>
              <a:gd name="connsiteY7" fmla="*/ 205740 h 1005840"/>
              <a:gd name="connsiteX8" fmla="*/ 193358 w 1082039"/>
              <a:gd name="connsiteY8" fmla="*/ 180023 h 1005840"/>
              <a:gd name="connsiteX9" fmla="*/ 267652 w 1082039"/>
              <a:gd name="connsiteY9" fmla="*/ 0 h 1005840"/>
              <a:gd name="connsiteX10" fmla="*/ 323850 w 1082039"/>
              <a:gd name="connsiteY10" fmla="*/ 75248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07" h="2491">
                <a:moveTo>
                  <a:pt x="763" y="177"/>
                </a:moveTo>
                <a:cubicBezTo>
                  <a:pt x="1281" y="766"/>
                  <a:pt x="1555" y="1285"/>
                  <a:pt x="2589" y="1650"/>
                </a:cubicBezTo>
                <a:lnTo>
                  <a:pt x="2589" y="1649"/>
                </a:lnTo>
                <a:cubicBezTo>
                  <a:pt x="2688" y="1672"/>
                  <a:pt x="2805" y="1685"/>
                  <a:pt x="2903" y="1685"/>
                </a:cubicBezTo>
                <a:cubicBezTo>
                  <a:pt x="3697" y="1709"/>
                  <a:pt x="4354" y="1016"/>
                  <a:pt x="4399" y="319"/>
                </a:cubicBezTo>
                <a:lnTo>
                  <a:pt x="4810" y="81"/>
                </a:lnTo>
                <a:lnTo>
                  <a:pt x="5207" y="310"/>
                </a:lnTo>
                <a:cubicBezTo>
                  <a:pt x="5177" y="1541"/>
                  <a:pt x="4023" y="2520"/>
                  <a:pt x="2903" y="2490"/>
                </a:cubicBezTo>
                <a:cubicBezTo>
                  <a:pt x="2848" y="2493"/>
                  <a:pt x="2633" y="2487"/>
                  <a:pt x="2340" y="2414"/>
                </a:cubicBezTo>
                <a:lnTo>
                  <a:pt x="2341" y="2412"/>
                </a:lnTo>
                <a:lnTo>
                  <a:pt x="2197" y="2368"/>
                </a:lnTo>
                <a:lnTo>
                  <a:pt x="2196" y="2369"/>
                </a:lnTo>
                <a:cubicBezTo>
                  <a:pt x="445" y="1509"/>
                  <a:pt x="153" y="565"/>
                  <a:pt x="285" y="857"/>
                </a:cubicBezTo>
                <a:cubicBezTo>
                  <a:pt x="217" y="771"/>
                  <a:pt x="139" y="668"/>
                  <a:pt x="81" y="591"/>
                </a:cubicBezTo>
                <a:cubicBezTo>
                  <a:pt x="55" y="557"/>
                  <a:pt x="19" y="509"/>
                  <a:pt x="0" y="485"/>
                </a:cubicBezTo>
                <a:lnTo>
                  <a:pt x="455" y="424"/>
                </a:lnTo>
                <a:lnTo>
                  <a:pt x="630" y="0"/>
                </a:lnTo>
                <a:cubicBezTo>
                  <a:pt x="672" y="57"/>
                  <a:pt x="722" y="124"/>
                  <a:pt x="763" y="177"/>
                </a:cubicBezTo>
                <a:close/>
              </a:path>
            </a:pathLst>
          </a:custGeom>
          <a:solidFill>
            <a:srgbClr val="9A3123">
              <a:lumMod val="40000"/>
              <a:lumOff val="60000"/>
            </a:srgbClr>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2" name="任意多边形: 形状 57"/>
          <p:cNvSpPr/>
          <p:nvPr/>
        </p:nvSpPr>
        <p:spPr>
          <a:xfrm>
            <a:off x="5991860" y="2943860"/>
            <a:ext cx="2396490" cy="1115695"/>
          </a:xfrm>
          <a:custGeom>
            <a:avLst/>
            <a:gdLst>
              <a:gd name="connsiteX0" fmla="*/ 1286828 w 1286827"/>
              <a:gd name="connsiteY0" fmla="*/ 971550 h 972502"/>
              <a:gd name="connsiteX1" fmla="*/ 1117283 w 1286827"/>
              <a:gd name="connsiteY1" fmla="*/ 873443 h 972502"/>
              <a:gd name="connsiteX2" fmla="*/ 944880 w 1286827"/>
              <a:gd name="connsiteY2" fmla="*/ 972503 h 972502"/>
              <a:gd name="connsiteX3" fmla="*/ 307658 w 1286827"/>
              <a:gd name="connsiteY3" fmla="*/ 341948 h 972502"/>
              <a:gd name="connsiteX4" fmla="*/ 147638 w 1286827"/>
              <a:gd name="connsiteY4" fmla="*/ 366713 h 972502"/>
              <a:gd name="connsiteX5" fmla="*/ 0 w 1286827"/>
              <a:gd name="connsiteY5" fmla="*/ 226695 h 972502"/>
              <a:gd name="connsiteX6" fmla="*/ 44768 w 1286827"/>
              <a:gd name="connsiteY6" fmla="*/ 40958 h 972502"/>
              <a:gd name="connsiteX7" fmla="*/ 307658 w 1286827"/>
              <a:gd name="connsiteY7" fmla="*/ 0 h 972502"/>
              <a:gd name="connsiteX8" fmla="*/ 1286828 w 1286827"/>
              <a:gd name="connsiteY8" fmla="*/ 971550 h 97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1" h="2306">
                <a:moveTo>
                  <a:pt x="4951" y="2288"/>
                </a:moveTo>
                <a:lnTo>
                  <a:pt x="4552" y="2057"/>
                </a:lnTo>
                <a:lnTo>
                  <a:pt x="4146" y="2290"/>
                </a:lnTo>
                <a:cubicBezTo>
                  <a:pt x="4162" y="1456"/>
                  <a:pt x="3393" y="785"/>
                  <a:pt x="2645" y="805"/>
                </a:cubicBezTo>
                <a:cubicBezTo>
                  <a:pt x="2535" y="804"/>
                  <a:pt x="2401" y="826"/>
                  <a:pt x="2307" y="852"/>
                </a:cubicBezTo>
                <a:lnTo>
                  <a:pt x="2308" y="853"/>
                </a:lnTo>
                <a:lnTo>
                  <a:pt x="2128" y="915"/>
                </a:lnTo>
                <a:lnTo>
                  <a:pt x="2128" y="915"/>
                </a:lnTo>
                <a:cubicBezTo>
                  <a:pt x="1466" y="1164"/>
                  <a:pt x="798" y="1908"/>
                  <a:pt x="505" y="2305"/>
                </a:cubicBezTo>
                <a:cubicBezTo>
                  <a:pt x="483" y="2276"/>
                  <a:pt x="455" y="2240"/>
                  <a:pt x="436" y="2215"/>
                </a:cubicBezTo>
                <a:cubicBezTo>
                  <a:pt x="415" y="2186"/>
                  <a:pt x="388" y="2151"/>
                  <a:pt x="370" y="2128"/>
                </a:cubicBezTo>
                <a:cubicBezTo>
                  <a:pt x="342" y="2088"/>
                  <a:pt x="307" y="2043"/>
                  <a:pt x="278" y="2007"/>
                </a:cubicBezTo>
                <a:cubicBezTo>
                  <a:pt x="188" y="1885"/>
                  <a:pt x="85" y="1748"/>
                  <a:pt x="0" y="1639"/>
                </a:cubicBezTo>
                <a:lnTo>
                  <a:pt x="13" y="1627"/>
                </a:lnTo>
                <a:cubicBezTo>
                  <a:pt x="372" y="1159"/>
                  <a:pt x="1162" y="404"/>
                  <a:pt x="1865" y="154"/>
                </a:cubicBezTo>
                <a:lnTo>
                  <a:pt x="1865" y="152"/>
                </a:lnTo>
                <a:lnTo>
                  <a:pt x="2025" y="97"/>
                </a:lnTo>
                <a:lnTo>
                  <a:pt x="2025" y="96"/>
                </a:lnTo>
                <a:lnTo>
                  <a:pt x="2031" y="95"/>
                </a:lnTo>
                <a:lnTo>
                  <a:pt x="2045" y="90"/>
                </a:lnTo>
                <a:lnTo>
                  <a:pt x="2045" y="91"/>
                </a:lnTo>
                <a:cubicBezTo>
                  <a:pt x="2234" y="33"/>
                  <a:pt x="2458" y="-1"/>
                  <a:pt x="2645" y="0"/>
                </a:cubicBezTo>
                <a:cubicBezTo>
                  <a:pt x="3928" y="-37"/>
                  <a:pt x="4972" y="1137"/>
                  <a:pt x="4951" y="2288"/>
                </a:cubicBezTo>
                <a:close/>
              </a:path>
            </a:pathLst>
          </a:custGeom>
          <a:solidFill>
            <a:srgbClr val="9A3123"/>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70" name="任意多边形: 形状 64"/>
          <p:cNvSpPr/>
          <p:nvPr/>
        </p:nvSpPr>
        <p:spPr>
          <a:xfrm>
            <a:off x="3610610" y="2945130"/>
            <a:ext cx="2518410" cy="1204595"/>
          </a:xfrm>
          <a:custGeom>
            <a:avLst/>
            <a:gdLst>
              <a:gd name="connsiteX0" fmla="*/ 1247775 w 1292542"/>
              <a:gd name="connsiteY0" fmla="*/ 40005 h 973454"/>
              <a:gd name="connsiteX1" fmla="*/ 1292543 w 1292542"/>
              <a:gd name="connsiteY1" fmla="*/ 226695 h 973454"/>
              <a:gd name="connsiteX2" fmla="*/ 1145858 w 1292542"/>
              <a:gd name="connsiteY2" fmla="*/ 364808 h 973454"/>
              <a:gd name="connsiteX3" fmla="*/ 980123 w 1292542"/>
              <a:gd name="connsiteY3" fmla="*/ 340995 h 973454"/>
              <a:gd name="connsiteX4" fmla="*/ 342900 w 1292542"/>
              <a:gd name="connsiteY4" fmla="*/ 968693 h 973454"/>
              <a:gd name="connsiteX5" fmla="*/ 174308 w 1292542"/>
              <a:gd name="connsiteY5" fmla="*/ 872490 h 973454"/>
              <a:gd name="connsiteX6" fmla="*/ 0 w 1292542"/>
              <a:gd name="connsiteY6" fmla="*/ 973455 h 973454"/>
              <a:gd name="connsiteX7" fmla="*/ 979170 w 1292542"/>
              <a:gd name="connsiteY7" fmla="*/ 0 h 973454"/>
              <a:gd name="connsiteX8" fmla="*/ 1247775 w 1292542"/>
              <a:gd name="connsiteY8" fmla="*/ 40005 h 97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3" h="2488">
                <a:moveTo>
                  <a:pt x="2700" y="859"/>
                </a:moveTo>
                <a:lnTo>
                  <a:pt x="2699" y="860"/>
                </a:lnTo>
                <a:cubicBezTo>
                  <a:pt x="2579" y="823"/>
                  <a:pt x="2423" y="803"/>
                  <a:pt x="2314" y="804"/>
                </a:cubicBezTo>
                <a:lnTo>
                  <a:pt x="2308" y="804"/>
                </a:lnTo>
                <a:lnTo>
                  <a:pt x="2269" y="803"/>
                </a:lnTo>
                <a:cubicBezTo>
                  <a:pt x="1439" y="779"/>
                  <a:pt x="778" y="1620"/>
                  <a:pt x="808" y="2282"/>
                </a:cubicBezTo>
                <a:lnTo>
                  <a:pt x="411" y="2055"/>
                </a:lnTo>
                <a:lnTo>
                  <a:pt x="1" y="2293"/>
                </a:lnTo>
                <a:lnTo>
                  <a:pt x="0" y="2232"/>
                </a:lnTo>
                <a:cubicBezTo>
                  <a:pt x="-28" y="974"/>
                  <a:pt x="1242" y="-29"/>
                  <a:pt x="2251" y="0"/>
                </a:cubicBezTo>
                <a:lnTo>
                  <a:pt x="2306" y="1"/>
                </a:lnTo>
                <a:lnTo>
                  <a:pt x="2316" y="1"/>
                </a:lnTo>
                <a:lnTo>
                  <a:pt x="2326" y="1"/>
                </a:lnTo>
                <a:cubicBezTo>
                  <a:pt x="2526" y="-1"/>
                  <a:pt x="2770" y="45"/>
                  <a:pt x="2915" y="88"/>
                </a:cubicBezTo>
                <a:lnTo>
                  <a:pt x="2914" y="85"/>
                </a:lnTo>
                <a:lnTo>
                  <a:pt x="3087" y="141"/>
                </a:lnTo>
                <a:lnTo>
                  <a:pt x="3087" y="142"/>
                </a:lnTo>
                <a:lnTo>
                  <a:pt x="3087" y="142"/>
                </a:lnTo>
                <a:cubicBezTo>
                  <a:pt x="4534" y="854"/>
                  <a:pt x="4907" y="1681"/>
                  <a:pt x="4924" y="1635"/>
                </a:cubicBezTo>
                <a:cubicBezTo>
                  <a:pt x="5017" y="1755"/>
                  <a:pt x="5119" y="1892"/>
                  <a:pt x="5203" y="2003"/>
                </a:cubicBezTo>
                <a:lnTo>
                  <a:pt x="5028" y="2427"/>
                </a:lnTo>
                <a:lnTo>
                  <a:pt x="4572" y="2488"/>
                </a:lnTo>
                <a:cubicBezTo>
                  <a:pt x="4528" y="2432"/>
                  <a:pt x="4481" y="2370"/>
                  <a:pt x="4442" y="2319"/>
                </a:cubicBezTo>
                <a:cubicBezTo>
                  <a:pt x="4169" y="1982"/>
                  <a:pt x="3707" y="1300"/>
                  <a:pt x="2841" y="907"/>
                </a:cubicBezTo>
                <a:lnTo>
                  <a:pt x="2864" y="884"/>
                </a:lnTo>
                <a:lnTo>
                  <a:pt x="2839" y="904"/>
                </a:lnTo>
                <a:lnTo>
                  <a:pt x="2700" y="859"/>
                </a:lnTo>
                <a:close/>
              </a:path>
            </a:pathLst>
          </a:custGeom>
          <a:solidFill>
            <a:srgbClr val="1C4274"/>
          </a:solidFill>
          <a:ln w="9525" cap="flat">
            <a:noFill/>
            <a:prstDash val="solid"/>
            <a:miter/>
          </a:ln>
        </p:spPr>
        <p:txBody>
          <a:bodyPr wrap="square" rtlCol="0" anchor="ctr">
            <a:noAutofit/>
          </a:bodyPr>
          <a:lstStyle/>
          <a:p>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71" name="任意多边形: 形状 65"/>
          <p:cNvSpPr/>
          <p:nvPr/>
        </p:nvSpPr>
        <p:spPr>
          <a:xfrm>
            <a:off x="3610610" y="4011930"/>
            <a:ext cx="2395220" cy="1166495"/>
          </a:xfrm>
          <a:custGeom>
            <a:avLst/>
            <a:gdLst>
              <a:gd name="connsiteX0" fmla="*/ 1073468 w 1220152"/>
              <a:gd name="connsiteY0" fmla="*/ 849630 h 1022985"/>
              <a:gd name="connsiteX1" fmla="*/ 1220153 w 1220152"/>
              <a:gd name="connsiteY1" fmla="*/ 988695 h 1022985"/>
              <a:gd name="connsiteX2" fmla="*/ 978218 w 1220152"/>
              <a:gd name="connsiteY2" fmla="*/ 1022985 h 1022985"/>
              <a:gd name="connsiteX3" fmla="*/ 0 w 1220152"/>
              <a:gd name="connsiteY3" fmla="*/ 100013 h 1022985"/>
              <a:gd name="connsiteX4" fmla="*/ 173355 w 1220152"/>
              <a:gd name="connsiteY4" fmla="*/ 0 h 1022985"/>
              <a:gd name="connsiteX5" fmla="*/ 342900 w 1220152"/>
              <a:gd name="connsiteY5" fmla="*/ 97155 h 1022985"/>
              <a:gd name="connsiteX6" fmla="*/ 978218 w 1220152"/>
              <a:gd name="connsiteY6" fmla="*/ 680085 h 1022985"/>
              <a:gd name="connsiteX7" fmla="*/ 1117283 w 1220152"/>
              <a:gd name="connsiteY7" fmla="*/ 661035 h 1022985"/>
              <a:gd name="connsiteX8" fmla="*/ 1073468 w 1220152"/>
              <a:gd name="connsiteY8" fmla="*/ 849630 h 1022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48" h="2410">
                <a:moveTo>
                  <a:pt x="2554" y="2393"/>
                </a:moveTo>
                <a:cubicBezTo>
                  <a:pt x="2489" y="2402"/>
                  <a:pt x="2368" y="2410"/>
                  <a:pt x="2304" y="2409"/>
                </a:cubicBezTo>
                <a:cubicBezTo>
                  <a:pt x="1059" y="2447"/>
                  <a:pt x="34" y="1340"/>
                  <a:pt x="0" y="236"/>
                </a:cubicBezTo>
                <a:lnTo>
                  <a:pt x="408" y="0"/>
                </a:lnTo>
                <a:lnTo>
                  <a:pt x="808" y="229"/>
                </a:lnTo>
                <a:cubicBezTo>
                  <a:pt x="849" y="1011"/>
                  <a:pt x="1589" y="1620"/>
                  <a:pt x="2304" y="1602"/>
                </a:cubicBezTo>
                <a:cubicBezTo>
                  <a:pt x="2318" y="1602"/>
                  <a:pt x="2346" y="1601"/>
                  <a:pt x="2347" y="1601"/>
                </a:cubicBezTo>
                <a:lnTo>
                  <a:pt x="2347" y="1600"/>
                </a:lnTo>
                <a:cubicBezTo>
                  <a:pt x="2489" y="1593"/>
                  <a:pt x="2671" y="1553"/>
                  <a:pt x="2783" y="1510"/>
                </a:cubicBezTo>
                <a:lnTo>
                  <a:pt x="2783" y="1509"/>
                </a:lnTo>
                <a:cubicBezTo>
                  <a:pt x="2956" y="1442"/>
                  <a:pt x="2919" y="1447"/>
                  <a:pt x="2996" y="1409"/>
                </a:cubicBezTo>
                <a:lnTo>
                  <a:pt x="2997" y="1416"/>
                </a:lnTo>
                <a:cubicBezTo>
                  <a:pt x="3553" y="1154"/>
                  <a:pt x="4190" y="464"/>
                  <a:pt x="4446" y="109"/>
                </a:cubicBezTo>
                <a:cubicBezTo>
                  <a:pt x="4467" y="137"/>
                  <a:pt x="4493" y="171"/>
                  <a:pt x="4510" y="194"/>
                </a:cubicBezTo>
                <a:cubicBezTo>
                  <a:pt x="4531" y="221"/>
                  <a:pt x="4556" y="255"/>
                  <a:pt x="4573" y="277"/>
                </a:cubicBezTo>
                <a:cubicBezTo>
                  <a:pt x="4597" y="310"/>
                  <a:pt x="4626" y="348"/>
                  <a:pt x="4648" y="376"/>
                </a:cubicBezTo>
                <a:cubicBezTo>
                  <a:pt x="4655" y="385"/>
                  <a:pt x="4658" y="389"/>
                  <a:pt x="4668" y="402"/>
                </a:cubicBezTo>
                <a:cubicBezTo>
                  <a:pt x="4759" y="526"/>
                  <a:pt x="4862" y="661"/>
                  <a:pt x="4948" y="771"/>
                </a:cubicBezTo>
                <a:lnTo>
                  <a:pt x="4939" y="780"/>
                </a:lnTo>
                <a:cubicBezTo>
                  <a:pt x="4606" y="1213"/>
                  <a:pt x="3902" y="1899"/>
                  <a:pt x="3262" y="2179"/>
                </a:cubicBezTo>
                <a:lnTo>
                  <a:pt x="3265" y="2181"/>
                </a:lnTo>
                <a:cubicBezTo>
                  <a:pt x="2845" y="2379"/>
                  <a:pt x="2582" y="2390"/>
                  <a:pt x="2554" y="2395"/>
                </a:cubicBezTo>
                <a:lnTo>
                  <a:pt x="2554" y="2393"/>
                </a:lnTo>
                <a:close/>
              </a:path>
            </a:pathLst>
          </a:custGeom>
          <a:solidFill>
            <a:srgbClr val="1C4274">
              <a:lumMod val="60000"/>
              <a:lumOff val="40000"/>
            </a:srgbClr>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6209030" y="3173730"/>
            <a:ext cx="2220595" cy="2220595"/>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整合：全域数据资产化与智能中台</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rot="600000">
            <a:off x="3634105" y="3187065"/>
            <a:ext cx="2220595" cy="2220595"/>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启动：系统化工具基础构建</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rot="21240000">
            <a:off x="3614420" y="2780665"/>
            <a:ext cx="2159000" cy="2159000"/>
          </a:xfrm>
          <a:prstGeom prst="rect">
            <a:avLst/>
          </a:prstGeom>
          <a:noFill/>
        </p:spPr>
        <p:txBody>
          <a:bodyPr wrap="squar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升级：数据驱动的全域增长</a:t>
            </a:r>
            <a:endParaRPr kumimoji="0" lang="zh-CN"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rot="21360000">
            <a:off x="6177280" y="2766060"/>
            <a:ext cx="2159000" cy="2159000"/>
          </a:xfrm>
          <a:prstGeom prst="rect">
            <a:avLst/>
          </a:prstGeom>
          <a:noFill/>
        </p:spPr>
        <p:txBody>
          <a:bodyPr wrap="squar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深化：全域融合与体验升级</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3228340" y="1597660"/>
            <a:ext cx="5621655" cy="475615"/>
          </a:xfrm>
          <a:prstGeom prst="rect">
            <a:avLst/>
          </a:prstGeom>
          <a:noFill/>
        </p:spPr>
        <p:txBody>
          <a:bodyPr wrap="square" rtlCol="0">
            <a:spAutoFit/>
          </a:bodyPr>
          <a:lstStyle/>
          <a:p>
            <a:pPr algn="ctr"/>
            <a:r>
              <a:rPr lang="zh-CN" altLang="en-US" sz="2500" b="1">
                <a:solidFill>
                  <a:srgbClr val="C00000"/>
                </a:solidFill>
                <a:latin typeface="微软雅黑" panose="020B0503020204020204" charset="-122"/>
                <a:ea typeface="微软雅黑" panose="020B0503020204020204" charset="-122"/>
                <a:cs typeface="微软雅黑" panose="020B0503020204020204" charset="-122"/>
              </a:rPr>
              <a:t>配色⑧：</a:t>
            </a:r>
            <a:r>
              <a:rPr lang="zh-CN" sz="2500" b="1">
                <a:solidFill>
                  <a:srgbClr val="C00000"/>
                </a:solidFill>
                <a:latin typeface="微软雅黑" panose="020B0503020204020204" charset="-122"/>
                <a:ea typeface="微软雅黑" panose="020B0503020204020204" charset="-122"/>
                <a:cs typeface="微软雅黑" panose="020B0503020204020204" charset="-122"/>
              </a:rPr>
              <a:t>商务纯蓝色</a:t>
            </a:r>
            <a:endParaRPr lang="zh-CN" sz="25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1" name="任意多边形 10"/>
          <p:cNvSpPr/>
          <p:nvPr/>
        </p:nvSpPr>
        <p:spPr>
          <a:xfrm>
            <a:off x="2637155" y="2799080"/>
            <a:ext cx="3343910" cy="3589020"/>
          </a:xfrm>
          <a:custGeom>
            <a:avLst/>
            <a:gdLst>
              <a:gd name="adj" fmla="val 650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520" h="9467">
                <a:moveTo>
                  <a:pt x="0" y="616"/>
                </a:moveTo>
                <a:cubicBezTo>
                  <a:pt x="-11" y="270"/>
                  <a:pt x="306" y="-8"/>
                  <a:pt x="616" y="0"/>
                </a:cubicBezTo>
                <a:lnTo>
                  <a:pt x="8520" y="0"/>
                </a:lnTo>
                <a:lnTo>
                  <a:pt x="8520" y="9467"/>
                </a:lnTo>
                <a:lnTo>
                  <a:pt x="616" y="9467"/>
                </a:lnTo>
                <a:cubicBezTo>
                  <a:pt x="270" y="9478"/>
                  <a:pt x="-8" y="9161"/>
                  <a:pt x="0" y="8851"/>
                </a:cubicBezTo>
                <a:lnTo>
                  <a:pt x="0" y="616"/>
                </a:lnTo>
                <a:close/>
              </a:path>
            </a:pathLst>
          </a:custGeom>
          <a:solidFill>
            <a:schemeClr val="accent1"/>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nvSpPr>
        <p:spPr>
          <a:xfrm flipH="1">
            <a:off x="5980430" y="2799080"/>
            <a:ext cx="3370580" cy="3589020"/>
          </a:xfrm>
          <a:custGeom>
            <a:avLst/>
            <a:gdLst>
              <a:gd name="adj" fmla="val 650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520" h="9467">
                <a:moveTo>
                  <a:pt x="0" y="616"/>
                </a:moveTo>
                <a:cubicBezTo>
                  <a:pt x="-11" y="270"/>
                  <a:pt x="306" y="-8"/>
                  <a:pt x="616" y="0"/>
                </a:cubicBezTo>
                <a:lnTo>
                  <a:pt x="8520" y="0"/>
                </a:lnTo>
                <a:lnTo>
                  <a:pt x="8520" y="9467"/>
                </a:lnTo>
                <a:lnTo>
                  <a:pt x="616" y="9467"/>
                </a:lnTo>
                <a:cubicBezTo>
                  <a:pt x="270" y="9478"/>
                  <a:pt x="-8" y="9161"/>
                  <a:pt x="0" y="8851"/>
                </a:cubicBezTo>
                <a:lnTo>
                  <a:pt x="0" y="616"/>
                </a:lnTo>
                <a:close/>
              </a:path>
            </a:pathLst>
          </a:custGeom>
          <a:solidFill>
            <a:schemeClr val="accent1">
              <a:lumMod val="60000"/>
              <a:lumOff val="40000"/>
            </a:schemeClr>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5" name="十二边形 14"/>
          <p:cNvSpPr/>
          <p:nvPr/>
        </p:nvSpPr>
        <p:spPr>
          <a:xfrm>
            <a:off x="5173345" y="3685540"/>
            <a:ext cx="1684020" cy="1684020"/>
          </a:xfrm>
          <a:prstGeom prst="dodecagon">
            <a:avLst/>
          </a:prstGeom>
          <a:solidFill>
            <a:schemeClr val="accent4"/>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3227705" y="4276725"/>
            <a:ext cx="1700530" cy="706755"/>
          </a:xfrm>
          <a:prstGeom prst="rect">
            <a:avLst/>
          </a:prstGeom>
          <a:noFill/>
        </p:spPr>
        <p:txBody>
          <a:bodyPr wrap="square" rtlCol="0">
            <a:spAutoFit/>
          </a:bodyPr>
          <a:lstStyle/>
          <a:p>
            <a:pPr algn="ct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深海蓝</a:t>
            </a:r>
            <a:r>
              <a:rPr lang="en-US" altLang="zh-CN"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1C4274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7047230" y="4276725"/>
            <a:ext cx="1833245" cy="706755"/>
          </a:xfrm>
          <a:prstGeom prst="rect">
            <a:avLst/>
          </a:prstGeom>
          <a:noFill/>
        </p:spPr>
        <p:txBody>
          <a:bodyPr wrap="square" rtlCol="0">
            <a:spAutoFit/>
          </a:bodyPr>
          <a:lstStyle/>
          <a:p>
            <a:pPr lvl="0" algn="ctr">
              <a:buClrTx/>
              <a:buSzTx/>
              <a:buFontTx/>
            </a:pP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亮蓝色</a:t>
            </a:r>
            <a:endPar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rPr>
              <a:t>4E88D4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5258118" y="4174173"/>
            <a:ext cx="1514475" cy="706755"/>
          </a:xfrm>
          <a:prstGeom prst="rect">
            <a:avLst/>
          </a:prstGeom>
          <a:noFill/>
        </p:spPr>
        <p:txBody>
          <a:bodyPr wrap="square" rtlCol="0">
            <a:spAutoFit/>
          </a:bodyPr>
          <a:lstStyle/>
          <a:p>
            <a:pPr lvl="0" algn="ctr">
              <a:buClrTx/>
              <a:buSzTx/>
              <a:buFontTx/>
            </a:pP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钢灰色</a:t>
            </a:r>
            <a:endPar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rPr>
              <a:t>A5A5A5</a:t>
            </a:r>
            <a:endPar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88" name="文本框 287"/>
          <p:cNvSpPr txBox="1"/>
          <p:nvPr/>
        </p:nvSpPr>
        <p:spPr>
          <a:xfrm>
            <a:off x="3429953" y="2145030"/>
            <a:ext cx="5218430" cy="475615"/>
          </a:xfrm>
          <a:prstGeom prst="rect">
            <a:avLst/>
          </a:prstGeom>
          <a:noFill/>
        </p:spPr>
        <p:txBody>
          <a:bodyPr wrap="square" rtlCol="0">
            <a:spAutoFit/>
          </a:bodyPr>
          <a:lstStyle/>
          <a:p>
            <a:pPr lvl="0" algn="ctr">
              <a:buClrTx/>
              <a:buSzTx/>
              <a:buFontTx/>
            </a:pPr>
            <a:r>
              <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钛青浮幕影，钢灰溯光澜</a:t>
            </a:r>
            <a:r>
              <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a:t>
            </a:r>
            <a:endPar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91" name="文本框 290"/>
          <p:cNvSpPr txBox="1"/>
          <p:nvPr/>
        </p:nvSpPr>
        <p:spPr>
          <a:xfrm>
            <a:off x="2945130" y="3068320"/>
            <a:ext cx="1464310" cy="398780"/>
          </a:xfrm>
          <a:prstGeom prst="rect">
            <a:avLst/>
          </a:prstGeom>
          <a:noFill/>
        </p:spPr>
        <p:txBody>
          <a:bodyPr wrap="square" rtlCol="0">
            <a:spAutoFit/>
          </a:bodyPr>
          <a:lstStyle/>
          <a:p>
            <a:pPr lvl="0" algn="ctr">
              <a:buClrTx/>
              <a:buSzTx/>
              <a:buFontTx/>
            </a:pPr>
            <a:r>
              <a:rPr lang="zh-CN" altLang="en-US" sz="2000" b="1" spc="-150" noProof="0" dirty="0">
                <a:ln w="4762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配色⑦</a:t>
            </a:r>
            <a:endParaRPr lang="en-US" altLang="zh-CN" sz="2000" b="1" spc="-150" noProof="0" dirty="0">
              <a:ln w="4762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4" name="文本框 73"/>
          <p:cNvSpPr txBox="1"/>
          <p:nvPr>
            <p:custDataLst>
              <p:tags r:id="rId1"/>
            </p:custDataLst>
          </p:nvPr>
        </p:nvSpPr>
        <p:spPr>
          <a:xfrm>
            <a:off x="1544955" y="1263015"/>
            <a:ext cx="9367520" cy="347345"/>
          </a:xfrm>
          <a:prstGeom prst="rect">
            <a:avLst/>
          </a:prstGeom>
          <a:noFill/>
        </p:spPr>
        <p:txBody>
          <a:bodyPr wrap="square" rtlCol="0">
            <a:noAutofit/>
          </a:bodyPr>
          <a:lstStyle/>
          <a:p>
            <a:pPr algn="ctr">
              <a:lnSpc>
                <a:spcPct val="100000"/>
              </a:lnSpc>
            </a:pPr>
            <a:r>
              <a:rPr lang="zh-CN" altLang="en-US">
                <a:solidFill>
                  <a:schemeClr val="tx2"/>
                </a:solidFill>
                <a:latin typeface="微软雅黑" panose="020B0503020204020204" charset="-122"/>
                <a:ea typeface="微软雅黑" panose="020B0503020204020204" charset="-122"/>
                <a:cs typeface="微软雅黑" panose="020B0503020204020204" charset="-122"/>
              </a:rPr>
              <a:t>本作品系开悟思维原创作品，已获国家版权局作品登记证书，仅供个人学习使用！</a:t>
            </a: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2"/>
            </p:custDataLst>
          </p:nvPr>
        </p:nvSpPr>
        <p:spPr>
          <a:xfrm flipH="1">
            <a:off x="3674110" y="530860"/>
            <a:ext cx="4691380" cy="491490"/>
          </a:xfrm>
          <a:prstGeom prst="rect">
            <a:avLst/>
          </a:prstGeom>
          <a:noFill/>
        </p:spPr>
        <p:txBody>
          <a:bodyPr wrap="square" rtlCol="0">
            <a:noAutofit/>
          </a:bodyPr>
          <a:lstStyle/>
          <a:p>
            <a:pPr algn="ct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原创版权保护</a:t>
            </a:r>
            <a:r>
              <a:rPr lang="en-US" altLang="zh-CN" sz="3200" b="1">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侵权必究</a:t>
            </a:r>
            <a:endParaRPr lang="zh-CN" altLang="en-US"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3"/>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4"/>
          <a:srcRect r="58023" b="-8235"/>
          <a:stretch>
            <a:fillRect/>
          </a:stretch>
        </p:blipFill>
        <p:spPr>
          <a:xfrm>
            <a:off x="10253980" y="147320"/>
            <a:ext cx="1591310" cy="350520"/>
          </a:xfrm>
          <a:prstGeom prst="rect">
            <a:avLst/>
          </a:prstGeom>
        </p:spPr>
      </p:pic>
      <p:pic>
        <p:nvPicPr>
          <p:cNvPr id="3" name="图片 2"/>
          <p:cNvPicPr>
            <a:picLocks noChangeAspect="1"/>
          </p:cNvPicPr>
          <p:nvPr/>
        </p:nvPicPr>
        <p:blipFill>
          <a:blip r:embed="rId5"/>
          <a:stretch>
            <a:fillRect/>
          </a:stretch>
        </p:blipFill>
        <p:spPr>
          <a:xfrm>
            <a:off x="2948940" y="1851025"/>
            <a:ext cx="6596380" cy="46882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4" name="文本框 73"/>
          <p:cNvSpPr txBox="1"/>
          <p:nvPr>
            <p:custDataLst>
              <p:tags r:id="rId1"/>
            </p:custDataLst>
          </p:nvPr>
        </p:nvSpPr>
        <p:spPr>
          <a:xfrm>
            <a:off x="1544955" y="1263015"/>
            <a:ext cx="9367520" cy="347345"/>
          </a:xfrm>
          <a:prstGeom prst="rect">
            <a:avLst/>
          </a:prstGeom>
          <a:noFill/>
        </p:spPr>
        <p:txBody>
          <a:bodyPr wrap="square" rtlCol="0">
            <a:noAutofit/>
          </a:bodyPr>
          <a:lstStyle/>
          <a:p>
            <a:pPr algn="ctr">
              <a:lnSpc>
                <a:spcPct val="100000"/>
              </a:lnSpc>
            </a:pPr>
            <a:r>
              <a:rPr lang="en-US" altLang="en-US">
                <a:solidFill>
                  <a:schemeClr val="tx2"/>
                </a:solidFill>
                <a:latin typeface="微软雅黑" panose="020B0503020204020204" charset="-122"/>
                <a:ea typeface="微软雅黑" panose="020B0503020204020204" charset="-122"/>
                <a:cs typeface="微软雅黑" panose="020B0503020204020204" charset="-122"/>
              </a:rPr>
              <a:t>↓</a:t>
            </a:r>
            <a:r>
              <a:rPr lang="zh-CN" altLang="en-US">
                <a:solidFill>
                  <a:schemeClr val="tx2"/>
                </a:solidFill>
                <a:latin typeface="微软雅黑" panose="020B0503020204020204" charset="-122"/>
                <a:ea typeface="微软雅黑" panose="020B0503020204020204" charset="-122"/>
                <a:cs typeface="微软雅黑" panose="020B0503020204020204" charset="-122"/>
              </a:rPr>
              <a:t>欢迎关注微信号，或小红书账号</a:t>
            </a:r>
            <a:r>
              <a:rPr lang="en-US" altLang="zh-CN">
                <a:solidFill>
                  <a:schemeClr val="tx2"/>
                </a:solidFill>
                <a:latin typeface="微软雅黑" panose="020B0503020204020204" charset="-122"/>
                <a:ea typeface="微软雅黑" panose="020B0503020204020204" charset="-122"/>
                <a:cs typeface="微软雅黑" panose="020B0503020204020204" charset="-122"/>
              </a:rPr>
              <a:t>“</a:t>
            </a:r>
            <a:r>
              <a:rPr lang="zh-CN" altLang="en-US">
                <a:solidFill>
                  <a:schemeClr val="tx2"/>
                </a:solidFill>
                <a:latin typeface="微软雅黑" panose="020B0503020204020204" charset="-122"/>
                <a:ea typeface="微软雅黑" panose="020B0503020204020204" charset="-122"/>
                <a:cs typeface="微软雅黑" panose="020B0503020204020204" charset="-122"/>
              </a:rPr>
              <a:t>开悟思维锦囊</a:t>
            </a:r>
            <a:r>
              <a:rPr lang="en-US" altLang="zh-CN">
                <a:solidFill>
                  <a:schemeClr val="tx2"/>
                </a:solidFill>
                <a:latin typeface="微软雅黑" panose="020B0503020204020204" charset="-122"/>
                <a:ea typeface="微软雅黑" panose="020B0503020204020204" charset="-122"/>
                <a:cs typeface="微软雅黑" panose="020B0503020204020204" charset="-122"/>
              </a:rPr>
              <a:t>”</a:t>
            </a:r>
            <a:r>
              <a:rPr lang="en-US" altLang="en-US">
                <a:solidFill>
                  <a:schemeClr val="tx2"/>
                </a:solidFill>
                <a:latin typeface="微软雅黑" panose="020B0503020204020204" charset="-122"/>
                <a:ea typeface="微软雅黑" panose="020B0503020204020204" charset="-122"/>
                <a:cs typeface="微软雅黑" panose="020B0503020204020204" charset="-122"/>
              </a:rPr>
              <a:t>↓</a:t>
            </a:r>
            <a:endParaRPr lang="en-US"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2"/>
            </p:custDataLst>
          </p:nvPr>
        </p:nvSpPr>
        <p:spPr>
          <a:xfrm flipH="1">
            <a:off x="2905125" y="530860"/>
            <a:ext cx="5909310" cy="491490"/>
          </a:xfrm>
          <a:prstGeom prst="rect">
            <a:avLst/>
          </a:prstGeom>
          <a:noFill/>
        </p:spPr>
        <p:txBody>
          <a:bodyPr wrap="square" rtlCol="0">
            <a:noAutofit/>
          </a:bodyPr>
          <a:lstStyle/>
          <a:p>
            <a:pPr algn="ctr"/>
            <a:r>
              <a:rPr lang="en-US" sz="3200" b="1">
                <a:solidFill>
                  <a:schemeClr val="accent1"/>
                </a:solidFill>
                <a:latin typeface="微软雅黑" panose="020B0503020204020204" charset="-122"/>
                <a:ea typeface="微软雅黑" panose="020B0503020204020204" charset="-122"/>
                <a:cs typeface="微软雅黑" panose="020B0503020204020204" charset="-122"/>
              </a:rPr>
              <a:t>PPT</a:t>
            </a: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模板使用过程中有任何问题</a:t>
            </a:r>
            <a:endParaRPr lang="zh-CN" altLang="en-US"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3"/>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4"/>
          <a:srcRect r="58023" b="-8235"/>
          <a:stretch>
            <a:fillRect/>
          </a:stretch>
        </p:blipFill>
        <p:spPr>
          <a:xfrm>
            <a:off x="10253980" y="147320"/>
            <a:ext cx="1591310" cy="350520"/>
          </a:xfrm>
          <a:prstGeom prst="rect">
            <a:avLst/>
          </a:prstGeom>
        </p:spPr>
      </p:pic>
      <p:pic>
        <p:nvPicPr>
          <p:cNvPr id="3" name="图片 2"/>
          <p:cNvPicPr>
            <a:picLocks noChangeAspect="1"/>
          </p:cNvPicPr>
          <p:nvPr/>
        </p:nvPicPr>
        <p:blipFill>
          <a:blip r:embed="rId5"/>
          <a:srcRect l="851" t="-77" r="464" b="1258"/>
          <a:stretch>
            <a:fillRect/>
          </a:stretch>
        </p:blipFill>
        <p:spPr>
          <a:xfrm>
            <a:off x="2287905" y="2447925"/>
            <a:ext cx="3238500" cy="3242945"/>
          </a:xfrm>
          <a:prstGeom prst="rect">
            <a:avLst/>
          </a:prstGeom>
        </p:spPr>
      </p:pic>
      <p:pic>
        <p:nvPicPr>
          <p:cNvPr id="4" name="图片 3"/>
          <p:cNvPicPr>
            <a:picLocks noChangeAspect="1"/>
          </p:cNvPicPr>
          <p:nvPr/>
        </p:nvPicPr>
        <p:blipFill>
          <a:blip r:embed="rId6"/>
          <a:stretch>
            <a:fillRect/>
          </a:stretch>
        </p:blipFill>
        <p:spPr>
          <a:xfrm>
            <a:off x="6543040" y="2495550"/>
            <a:ext cx="3206750" cy="31476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dirty="0">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sz="2500" b="1" dirty="0">
                <a:solidFill>
                  <a:schemeClr val="tx2"/>
                </a:solidFill>
                <a:latin typeface="微软雅黑" panose="020B0503020204020204" charset="-122"/>
                <a:ea typeface="微软雅黑" panose="020B0503020204020204" charset="-122"/>
                <a:cs typeface="微软雅黑" panose="020B0503020204020204" charset="-122"/>
                <a:sym typeface="+mn-ea"/>
              </a:rPr>
              <a:t>复制到自己</a:t>
            </a:r>
            <a:r>
              <a:rPr lang="en-US" altLang="zh-CN" sz="2500" b="1" dirty="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2500" b="1" dirty="0">
                <a:solidFill>
                  <a:schemeClr val="tx2"/>
                </a:solidFill>
                <a:latin typeface="微软雅黑" panose="020B0503020204020204" charset="-122"/>
                <a:ea typeface="微软雅黑" panose="020B0503020204020204" charset="-122"/>
                <a:cs typeface="微软雅黑" panose="020B0503020204020204" charset="-122"/>
                <a:sym typeface="+mn-ea"/>
              </a:rPr>
              <a:t>颜色变了怎么办？</a:t>
            </a:r>
            <a:endParaRPr lang="zh-CN" altLang="en-US" sz="25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4" name="文本框 33"/>
          <p:cNvSpPr txBox="1"/>
          <p:nvPr>
            <p:custDataLst>
              <p:tags r:id="rId2"/>
            </p:custDataLst>
          </p:nvPr>
        </p:nvSpPr>
        <p:spPr>
          <a:xfrm>
            <a:off x="520065" y="1809750"/>
            <a:ext cx="5454650" cy="58356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复制</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模板页面（也可多选页面）</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，选择</a:t>
            </a:r>
            <a:r>
              <a:rPr 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自己的</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PPT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报告页面，右键点击选择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带格式粘贴</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3"/>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 name="文本框 3"/>
          <p:cNvSpPr txBox="1"/>
          <p:nvPr>
            <p:custDataLst>
              <p:tags r:id="rId4"/>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custDataLst>
              <p:tags r:id="rId5"/>
            </p:custDataLst>
          </p:nvPr>
        </p:nvSpPr>
        <p:spPr>
          <a:xfrm>
            <a:off x="8225155"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6"/>
            </p:custDataLst>
          </p:nvPr>
        </p:nvPicPr>
        <p:blipFill>
          <a:blip r:embed="rId7"/>
          <a:stretch>
            <a:fillRect/>
          </a:stretch>
        </p:blipFill>
        <p:spPr>
          <a:xfrm>
            <a:off x="786765" y="2526030"/>
            <a:ext cx="4668520" cy="3519170"/>
          </a:xfrm>
          <a:prstGeom prst="rect">
            <a:avLst/>
          </a:prstGeom>
        </p:spPr>
      </p:pic>
      <p:sp>
        <p:nvSpPr>
          <p:cNvPr id="10" name="文本框 9"/>
          <p:cNvSpPr txBox="1"/>
          <p:nvPr>
            <p:custDataLst>
              <p:tags r:id="rId8"/>
            </p:custDataLst>
          </p:nvPr>
        </p:nvSpPr>
        <p:spPr>
          <a:xfrm>
            <a:off x="6600190" y="1858645"/>
            <a:ext cx="5454650" cy="58356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复制</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模板页面（也可多选页面）</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，选择</a:t>
            </a:r>
            <a:r>
              <a:rPr 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自己的</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PPT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报告页面，右键点击选择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保留原格式</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pic>
        <p:nvPicPr>
          <p:cNvPr id="11" name="图片 10"/>
          <p:cNvPicPr>
            <a:picLocks noChangeAspect="1"/>
          </p:cNvPicPr>
          <p:nvPr>
            <p:custDataLst>
              <p:tags r:id="rId9"/>
            </p:custDataLst>
          </p:nvPr>
        </p:nvPicPr>
        <p:blipFill>
          <a:blip r:embed="rId10"/>
          <a:stretch>
            <a:fillRect/>
          </a:stretch>
        </p:blipFill>
        <p:spPr>
          <a:xfrm>
            <a:off x="7367270" y="2748915"/>
            <a:ext cx="3867150" cy="3134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如何一键修改整套</a:t>
            </a:r>
            <a:r>
              <a:rPr lang="en-US" altLang="zh-CN" sz="2500" b="1">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的颜色？</a:t>
            </a:r>
            <a:endPar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4" name="文本框 33"/>
          <p:cNvSpPr txBox="1"/>
          <p:nvPr>
            <p:custDataLst>
              <p:tags r:id="rId2"/>
            </p:custDataLst>
          </p:nvPr>
        </p:nvSpPr>
        <p:spPr>
          <a:xfrm>
            <a:off x="520065" y="1563370"/>
            <a:ext cx="5454650" cy="107632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配色方案</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选项，选择【更多配色方案】，</a:t>
            </a:r>
            <a:r>
              <a:rPr lang="zh-CN" sz="1600">
                <a:solidFill>
                  <a:schemeClr val="tx2"/>
                </a:solidFill>
                <a:latin typeface="微软雅黑" panose="020B0503020204020204" charset="-122"/>
                <a:ea typeface="微软雅黑" panose="020B0503020204020204" charset="-122"/>
                <a:cs typeface="微软雅黑" panose="020B0503020204020204" charset="-122"/>
                <a:sym typeface="+mn-ea"/>
              </a:rPr>
              <a:t>里面有本模板已经设定好的多种配色</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点击【使用】即可一键全部替换。选择【自定义】也可配置自己的常用色。</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3"/>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2" name="图片 1"/>
          <p:cNvPicPr>
            <a:picLocks noChangeAspect="1"/>
          </p:cNvPicPr>
          <p:nvPr>
            <p:custDataLst>
              <p:tags r:id="rId4"/>
            </p:custDataLst>
          </p:nvPr>
        </p:nvPicPr>
        <p:blipFill>
          <a:blip r:embed="rId5"/>
          <a:srcRect r="1191" b="22551"/>
          <a:stretch>
            <a:fillRect/>
          </a:stretch>
        </p:blipFill>
        <p:spPr>
          <a:xfrm>
            <a:off x="431800" y="2770505"/>
            <a:ext cx="5319395" cy="2425065"/>
          </a:xfrm>
          <a:prstGeom prst="rect">
            <a:avLst/>
          </a:prstGeom>
        </p:spPr>
      </p:pic>
      <p:sp>
        <p:nvSpPr>
          <p:cNvPr id="4" name="文本框 3"/>
          <p:cNvSpPr txBox="1"/>
          <p:nvPr>
            <p:custDataLst>
              <p:tags r:id="rId6"/>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7"/>
            </p:custDataLst>
          </p:nvPr>
        </p:nvPicPr>
        <p:blipFill>
          <a:blip r:embed="rId8"/>
          <a:stretch>
            <a:fillRect/>
          </a:stretch>
        </p:blipFill>
        <p:spPr>
          <a:xfrm>
            <a:off x="1367790" y="3487420"/>
            <a:ext cx="2376170" cy="2754630"/>
          </a:xfrm>
          <a:prstGeom prst="rect">
            <a:avLst/>
          </a:prstGeom>
        </p:spPr>
      </p:pic>
      <p:sp>
        <p:nvSpPr>
          <p:cNvPr id="6" name="文本框 5"/>
          <p:cNvSpPr txBox="1"/>
          <p:nvPr>
            <p:custDataLst>
              <p:tags r:id="rId9"/>
            </p:custDataLst>
          </p:nvPr>
        </p:nvSpPr>
        <p:spPr>
          <a:xfrm>
            <a:off x="6438900" y="1686560"/>
            <a:ext cx="5454650" cy="82994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选项卡，找到【变体】选择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颜色</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a:t>
            </a:r>
            <a:r>
              <a:rPr lang="zh-CN" sz="1600">
                <a:solidFill>
                  <a:schemeClr val="tx2"/>
                </a:solidFill>
                <a:latin typeface="微软雅黑" panose="020B0503020204020204" charset="-122"/>
                <a:ea typeface="微软雅黑" panose="020B0503020204020204" charset="-122"/>
                <a:cs typeface="微软雅黑" panose="020B0503020204020204" charset="-122"/>
                <a:sym typeface="+mn-ea"/>
              </a:rPr>
              <a:t>里面有本模板已经设定好的多种配色</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点击其中一种颜色即可一键全部替换。选择【自定义】也可配置自己的颜色。</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custDataLst>
              <p:tags r:id="rId10"/>
            </p:custDataLst>
          </p:nvPr>
        </p:nvSpPr>
        <p:spPr>
          <a:xfrm>
            <a:off x="8225155"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p:cNvPicPr>
            <a:picLocks noChangeAspect="1"/>
          </p:cNvPicPr>
          <p:nvPr>
            <p:custDataLst>
              <p:tags r:id="rId11"/>
            </p:custDataLst>
          </p:nvPr>
        </p:nvPicPr>
        <p:blipFill>
          <a:blip r:embed="rId12"/>
          <a:stretch>
            <a:fillRect/>
          </a:stretch>
        </p:blipFill>
        <p:spPr>
          <a:xfrm>
            <a:off x="6579870" y="2639695"/>
            <a:ext cx="5171440" cy="2321560"/>
          </a:xfrm>
          <a:prstGeom prst="rect">
            <a:avLst/>
          </a:prstGeom>
        </p:spPr>
      </p:pic>
      <p:pic>
        <p:nvPicPr>
          <p:cNvPr id="9" name="图片 8"/>
          <p:cNvPicPr>
            <a:picLocks noChangeAspect="1"/>
          </p:cNvPicPr>
          <p:nvPr/>
        </p:nvPicPr>
        <p:blipFill>
          <a:blip r:embed="rId13"/>
          <a:stretch>
            <a:fillRect/>
          </a:stretch>
        </p:blipFill>
        <p:spPr>
          <a:xfrm>
            <a:off x="8391525" y="3858895"/>
            <a:ext cx="2294890" cy="24422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如何一键去除右上角的logo？</a:t>
            </a:r>
            <a:endPar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33" name="图片 32"/>
          <p:cNvPicPr>
            <a:picLocks noChangeAspect="1"/>
          </p:cNvPicPr>
          <p:nvPr>
            <p:custDataLst>
              <p:tags r:id="rId2"/>
            </p:custDataLst>
          </p:nvPr>
        </p:nvPicPr>
        <p:blipFill>
          <a:blip r:embed="rId3"/>
          <a:srcRect r="1364" b="46622"/>
          <a:stretch>
            <a:fillRect/>
          </a:stretch>
        </p:blipFill>
        <p:spPr>
          <a:xfrm>
            <a:off x="641985" y="2576830"/>
            <a:ext cx="5029835" cy="1704340"/>
          </a:xfrm>
          <a:prstGeom prst="rect">
            <a:avLst/>
          </a:prstGeom>
        </p:spPr>
      </p:pic>
      <p:sp>
        <p:nvSpPr>
          <p:cNvPr id="34" name="文本框 33"/>
          <p:cNvSpPr txBox="1"/>
          <p:nvPr>
            <p:custDataLst>
              <p:tags r:id="rId4"/>
            </p:custDataLst>
          </p:nvPr>
        </p:nvSpPr>
        <p:spPr>
          <a:xfrm>
            <a:off x="641985" y="1610360"/>
            <a:ext cx="5116195" cy="82994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母版</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选项，进入母版视图。</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②</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进入母版视图后，右击logo选择删除，点击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关闭</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幻灯片母版视图即可</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5"/>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39" name="图片 38"/>
          <p:cNvPicPr>
            <a:picLocks noChangeAspect="1"/>
          </p:cNvPicPr>
          <p:nvPr>
            <p:custDataLst>
              <p:tags r:id="rId6"/>
            </p:custDataLst>
          </p:nvPr>
        </p:nvPicPr>
        <p:blipFill>
          <a:blip r:embed="rId7"/>
          <a:srcRect l="2160" t="-2686" r="934" b="33542"/>
          <a:stretch>
            <a:fillRect/>
          </a:stretch>
        </p:blipFill>
        <p:spPr>
          <a:xfrm>
            <a:off x="641985" y="4417695"/>
            <a:ext cx="4970145" cy="1762760"/>
          </a:xfrm>
          <a:prstGeom prst="rect">
            <a:avLst/>
          </a:prstGeom>
        </p:spPr>
      </p:pic>
      <p:sp>
        <p:nvSpPr>
          <p:cNvPr id="2" name="文本框 1"/>
          <p:cNvSpPr txBox="1"/>
          <p:nvPr>
            <p:custDataLst>
              <p:tags r:id="rId8"/>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custDataLst>
              <p:tags r:id="rId9"/>
            </p:custDataLst>
          </p:nvPr>
        </p:nvSpPr>
        <p:spPr>
          <a:xfrm>
            <a:off x="6771640" y="1572895"/>
            <a:ext cx="5116195" cy="829945"/>
          </a:xfrm>
          <a:prstGeom prst="rect">
            <a:avLst/>
          </a:prstGeom>
          <a:noFill/>
        </p:spPr>
        <p:txBody>
          <a:bodyPr wrap="square" rtlCol="0" anchor="ctr" anchorCtr="0">
            <a:spAutoFit/>
          </a:bodyPr>
          <a:lstStyle/>
          <a:p>
            <a:pPr fontAlgn="ctr">
              <a:lnSpc>
                <a:spcPct val="100000"/>
              </a:lnSpc>
            </a:pPr>
            <a:r>
              <a:rPr lang="en-US"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dirty="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点击【试图】选项卡，选择【幻灯片母版】选项，进入母版视图。</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②</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进入母版视图后，右击logo选择删除，点击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关闭</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幻灯片母版视图即可。</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custDataLst>
              <p:tags r:id="rId10"/>
            </p:custDataLst>
          </p:nvPr>
        </p:nvSpPr>
        <p:spPr>
          <a:xfrm>
            <a:off x="8435975" y="1197293"/>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1"/>
            </p:custDataLst>
          </p:nvPr>
        </p:nvPicPr>
        <p:blipFill>
          <a:blip r:embed="rId12"/>
          <a:srcRect t="1212" b="49421"/>
          <a:stretch>
            <a:fillRect/>
          </a:stretch>
        </p:blipFill>
        <p:spPr>
          <a:xfrm>
            <a:off x="6507480" y="2618740"/>
            <a:ext cx="5321300" cy="1706880"/>
          </a:xfrm>
          <a:prstGeom prst="rect">
            <a:avLst/>
          </a:prstGeom>
        </p:spPr>
      </p:pic>
      <p:pic>
        <p:nvPicPr>
          <p:cNvPr id="6" name="图片 5"/>
          <p:cNvPicPr>
            <a:picLocks noChangeAspect="1"/>
          </p:cNvPicPr>
          <p:nvPr>
            <p:custDataLst>
              <p:tags r:id="rId13"/>
            </p:custDataLst>
          </p:nvPr>
        </p:nvPicPr>
        <p:blipFill>
          <a:blip r:embed="rId14"/>
          <a:srcRect t="401" r="6963" b="47355"/>
          <a:stretch>
            <a:fillRect/>
          </a:stretch>
        </p:blipFill>
        <p:spPr>
          <a:xfrm>
            <a:off x="6507480" y="4490085"/>
            <a:ext cx="5332730" cy="16179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619885" y="447358"/>
            <a:ext cx="6458585" cy="553085"/>
          </a:xfrm>
          <a:prstGeom prst="rect">
            <a:avLst/>
          </a:prstGeom>
          <a:noFill/>
        </p:spPr>
        <p:txBody>
          <a:bodyPr wrap="square" rtlCol="0" anchor="ctr" anchorCtr="0">
            <a:spAutoFit/>
          </a:bodyPr>
          <a:lstStyle/>
          <a:p>
            <a:pPr fontAlgn="ctr">
              <a:lnSpc>
                <a:spcPct val="100000"/>
              </a:lnSpc>
            </a:pPr>
            <a:r>
              <a:rPr lang="en-US" altLang="zh-CN" sz="3000" b="1">
                <a:solidFill>
                  <a:schemeClr val="tx2">
                    <a:lumMod val="60000"/>
                    <a:lumOff val="40000"/>
                  </a:schemeClr>
                </a:solidFill>
                <a:latin typeface="+mj-lt"/>
                <a:ea typeface="微软雅黑" panose="020B0503020204020204" charset="-122"/>
                <a:cs typeface="+mj-lt"/>
                <a:sym typeface="+mn-ea"/>
              </a:rPr>
              <a:t>CONTENTS</a:t>
            </a:r>
            <a:endParaRPr lang="en-US" altLang="zh-CN" sz="3000" b="1">
              <a:solidFill>
                <a:schemeClr val="tx2">
                  <a:lumMod val="60000"/>
                  <a:lumOff val="40000"/>
                </a:schemeClr>
              </a:solidFill>
              <a:latin typeface="+mj-lt"/>
              <a:ea typeface="微软雅黑" panose="020B0503020204020204" charset="-122"/>
              <a:cs typeface="+mj-lt"/>
              <a:sym typeface="+mn-ea"/>
            </a:endParaRPr>
          </a:p>
        </p:txBody>
      </p:sp>
      <p:sp>
        <p:nvSpPr>
          <p:cNvPr id="26" name="文本框 25"/>
          <p:cNvSpPr txBox="1"/>
          <p:nvPr/>
        </p:nvSpPr>
        <p:spPr>
          <a:xfrm>
            <a:off x="415925" y="370840"/>
            <a:ext cx="1203960" cy="706755"/>
          </a:xfrm>
          <a:prstGeom prst="rect">
            <a:avLst/>
          </a:prstGeom>
          <a:noFill/>
        </p:spPr>
        <p:txBody>
          <a:bodyPr wrap="square" rtlCol="0" anchor="ctr" anchorCtr="0">
            <a:spAutoFit/>
          </a:bodyPr>
          <a:lstStyle/>
          <a:p>
            <a:pPr fontAlgn="ctr">
              <a:lnSpc>
                <a:spcPct val="100000"/>
              </a:lnSpc>
            </a:pPr>
            <a:r>
              <a:rPr lang="zh-CN" altLang="en-US" sz="4000" b="1">
                <a:solidFill>
                  <a:schemeClr val="accent1"/>
                </a:solidFill>
                <a:latin typeface="微软雅黑" panose="020B0503020204020204" charset="-122"/>
                <a:ea typeface="微软雅黑" panose="020B0503020204020204" charset="-122"/>
                <a:cs typeface="微软雅黑" panose="020B0503020204020204" charset="-122"/>
                <a:sym typeface="+mn-ea"/>
              </a:rPr>
              <a:t>目录</a:t>
            </a:r>
            <a:endParaRPr lang="zh-CN" altLang="en-US" sz="4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 name="矩形 1"/>
          <p:cNvSpPr/>
          <p:nvPr>
            <p:custDataLst>
              <p:tags r:id="rId1"/>
            </p:custDataLst>
          </p:nvPr>
        </p:nvSpPr>
        <p:spPr>
          <a:xfrm>
            <a:off x="707390" y="13887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1" name="文本框 40"/>
          <p:cNvSpPr txBox="1"/>
          <p:nvPr>
            <p:custDataLst>
              <p:tags r:id="rId2"/>
            </p:custDataLst>
          </p:nvPr>
        </p:nvSpPr>
        <p:spPr>
          <a:xfrm>
            <a:off x="707390" y="1995170"/>
            <a:ext cx="3366135" cy="398780"/>
          </a:xfrm>
          <a:prstGeom prst="rect">
            <a:avLst/>
          </a:prstGeom>
          <a:noFill/>
        </p:spPr>
        <p:txBody>
          <a:bodyPr wrap="square" rtlCol="0" anchor="ctr" anchorCtr="0">
            <a:spAutoFit/>
          </a:bodyPr>
          <a:lstStyle/>
          <a:p>
            <a:pPr algn="ctr" fontAlgn="ctr">
              <a:lnSpc>
                <a:spcPct val="100000"/>
              </a:lnSpc>
            </a:pP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屋顶</a:t>
            </a:r>
            <a:r>
              <a:rPr lang="en-US" alt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战略屋架构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2" name="文本框 41"/>
          <p:cNvSpPr txBox="1"/>
          <p:nvPr>
            <p:custDataLst>
              <p:tags r:id="rId3"/>
            </p:custDataLst>
          </p:nvPr>
        </p:nvSpPr>
        <p:spPr>
          <a:xfrm>
            <a:off x="1867535" y="1479550"/>
            <a:ext cx="1046480" cy="553085"/>
          </a:xfrm>
          <a:prstGeom prst="rect">
            <a:avLst/>
          </a:prstGeom>
          <a:noFill/>
        </p:spPr>
        <p:txBody>
          <a:bodyPr wrap="square" rtlCol="0" anchor="ctr" anchorCtr="0">
            <a:spAutoFit/>
          </a:bodyPr>
          <a:lstStyle/>
          <a:p>
            <a:pPr lvl="0" algn="ctr" fontAlgn="ctr">
              <a:buClrTx/>
              <a:buSzTx/>
              <a:buFontTx/>
            </a:pPr>
            <a:r>
              <a:rPr lang="en-US" altLang="zh-CN"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①</a:t>
            </a:r>
            <a:endParaRPr lang="en-US" altLang="zh-CN"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7" name="矩形 66"/>
          <p:cNvSpPr/>
          <p:nvPr>
            <p:custDataLst>
              <p:tags r:id="rId4"/>
            </p:custDataLst>
          </p:nvPr>
        </p:nvSpPr>
        <p:spPr>
          <a:xfrm>
            <a:off x="4485640" y="13887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6" name="文本框 75"/>
          <p:cNvSpPr txBox="1"/>
          <p:nvPr>
            <p:custDataLst>
              <p:tags r:id="rId5"/>
            </p:custDataLst>
          </p:nvPr>
        </p:nvSpPr>
        <p:spPr>
          <a:xfrm>
            <a:off x="4485640" y="19951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多层平台架构</a:t>
            </a:r>
            <a:endPar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7" name="文本框 76"/>
          <p:cNvSpPr txBox="1"/>
          <p:nvPr>
            <p:custDataLst>
              <p:tags r:id="rId6"/>
            </p:custDataLst>
          </p:nvPr>
        </p:nvSpPr>
        <p:spPr>
          <a:xfrm>
            <a:off x="5645785" y="14795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②</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9" name="矩形 78"/>
          <p:cNvSpPr/>
          <p:nvPr>
            <p:custDataLst>
              <p:tags r:id="rId7"/>
            </p:custDataLst>
          </p:nvPr>
        </p:nvSpPr>
        <p:spPr>
          <a:xfrm>
            <a:off x="8268970" y="1389380"/>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8" name="文本框 87"/>
          <p:cNvSpPr txBox="1"/>
          <p:nvPr>
            <p:custDataLst>
              <p:tags r:id="rId8"/>
            </p:custDataLst>
          </p:nvPr>
        </p:nvSpPr>
        <p:spPr>
          <a:xfrm>
            <a:off x="8268970" y="1995805"/>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中心发散</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9" name="文本框 88"/>
          <p:cNvSpPr txBox="1"/>
          <p:nvPr>
            <p:custDataLst>
              <p:tags r:id="rId9"/>
            </p:custDataLst>
          </p:nvPr>
        </p:nvSpPr>
        <p:spPr>
          <a:xfrm>
            <a:off x="9429115" y="1480185"/>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③</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1" name="矩形 90"/>
          <p:cNvSpPr/>
          <p:nvPr>
            <p:custDataLst>
              <p:tags r:id="rId10"/>
            </p:custDataLst>
          </p:nvPr>
        </p:nvSpPr>
        <p:spPr>
          <a:xfrm>
            <a:off x="707390" y="41319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0" name="文本框 99"/>
          <p:cNvSpPr txBox="1"/>
          <p:nvPr>
            <p:custDataLst>
              <p:tags r:id="rId11"/>
            </p:custDataLst>
          </p:nvPr>
        </p:nvSpPr>
        <p:spPr>
          <a:xfrm>
            <a:off x="707390" y="47383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循环逻辑</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1" name="文本框 100"/>
          <p:cNvSpPr txBox="1"/>
          <p:nvPr>
            <p:custDataLst>
              <p:tags r:id="rId12"/>
            </p:custDataLst>
          </p:nvPr>
        </p:nvSpPr>
        <p:spPr>
          <a:xfrm>
            <a:off x="1867535" y="42227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④</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03" name="矩形 102"/>
          <p:cNvSpPr/>
          <p:nvPr>
            <p:custDataLst>
              <p:tags r:id="rId13"/>
            </p:custDataLst>
          </p:nvPr>
        </p:nvSpPr>
        <p:spPr>
          <a:xfrm>
            <a:off x="4485640" y="41319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2" name="文本框 111"/>
          <p:cNvSpPr txBox="1"/>
          <p:nvPr>
            <p:custDataLst>
              <p:tags r:id="rId14"/>
            </p:custDataLst>
          </p:nvPr>
        </p:nvSpPr>
        <p:spPr>
          <a:xfrm>
            <a:off x="4485640" y="47383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业务流程</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3" name="文本框 112"/>
          <p:cNvSpPr txBox="1"/>
          <p:nvPr>
            <p:custDataLst>
              <p:tags r:id="rId15"/>
            </p:custDataLst>
          </p:nvPr>
        </p:nvSpPr>
        <p:spPr>
          <a:xfrm>
            <a:off x="5645785" y="42227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⑤</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5" name="矩形 114"/>
          <p:cNvSpPr/>
          <p:nvPr>
            <p:custDataLst>
              <p:tags r:id="rId16"/>
            </p:custDataLst>
          </p:nvPr>
        </p:nvSpPr>
        <p:spPr>
          <a:xfrm>
            <a:off x="8268970" y="4132580"/>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4" name="文本框 123"/>
          <p:cNvSpPr txBox="1"/>
          <p:nvPr>
            <p:custDataLst>
              <p:tags r:id="rId17"/>
            </p:custDataLst>
          </p:nvPr>
        </p:nvSpPr>
        <p:spPr>
          <a:xfrm>
            <a:off x="8268970" y="4739005"/>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时间流程</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5" name="文本框 124"/>
          <p:cNvSpPr txBox="1"/>
          <p:nvPr>
            <p:custDataLst>
              <p:tags r:id="rId18"/>
            </p:custDataLst>
          </p:nvPr>
        </p:nvSpPr>
        <p:spPr>
          <a:xfrm>
            <a:off x="9429115" y="4223385"/>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⑥</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7" name="梯形 126"/>
          <p:cNvSpPr/>
          <p:nvPr>
            <p:custDataLst>
              <p:tags r:id="rId19"/>
            </p:custDataLst>
          </p:nvPr>
        </p:nvSpPr>
        <p:spPr>
          <a:xfrm>
            <a:off x="5431155" y="3411855"/>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8" name="梯形 127"/>
          <p:cNvSpPr/>
          <p:nvPr>
            <p:custDataLst>
              <p:tags r:id="rId20"/>
            </p:custDataLst>
          </p:nvPr>
        </p:nvSpPr>
        <p:spPr>
          <a:xfrm>
            <a:off x="5431155" y="3058795"/>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9" name="梯形 128"/>
          <p:cNvSpPr/>
          <p:nvPr>
            <p:custDataLst>
              <p:tags r:id="rId21"/>
            </p:custDataLst>
          </p:nvPr>
        </p:nvSpPr>
        <p:spPr>
          <a:xfrm>
            <a:off x="5431155" y="2705100"/>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30" name="Freeform 1482"/>
          <p:cNvSpPr/>
          <p:nvPr>
            <p:custDataLst>
              <p:tags r:id="rId22"/>
            </p:custDataLst>
          </p:nvPr>
        </p:nvSpPr>
        <p:spPr>
          <a:xfrm>
            <a:off x="5433695" y="3482340"/>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1" name="Freeform 1484"/>
          <p:cNvSpPr/>
          <p:nvPr>
            <p:custDataLst>
              <p:tags r:id="rId23"/>
            </p:custDataLst>
          </p:nvPr>
        </p:nvSpPr>
        <p:spPr>
          <a:xfrm>
            <a:off x="5433695" y="3129280"/>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2" name="Freeform 1486"/>
          <p:cNvSpPr/>
          <p:nvPr>
            <p:custDataLst>
              <p:tags r:id="rId24"/>
            </p:custDataLst>
          </p:nvPr>
        </p:nvSpPr>
        <p:spPr>
          <a:xfrm>
            <a:off x="5433695" y="2776855"/>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3" name="矩形: 圆角 43"/>
          <p:cNvSpPr/>
          <p:nvPr>
            <p:custDataLst>
              <p:tags r:id="rId25"/>
            </p:custDataLst>
          </p:nvPr>
        </p:nvSpPr>
        <p:spPr>
          <a:xfrm>
            <a:off x="5581650"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4" name="Freeform 1529"/>
          <p:cNvSpPr/>
          <p:nvPr>
            <p:custDataLst>
              <p:tags r:id="rId26"/>
            </p:custDataLst>
          </p:nvPr>
        </p:nvSpPr>
        <p:spPr>
          <a:xfrm>
            <a:off x="5603240"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5" name="矩形: 圆角 8"/>
          <p:cNvSpPr/>
          <p:nvPr>
            <p:custDataLst>
              <p:tags r:id="rId27"/>
            </p:custDataLst>
          </p:nvPr>
        </p:nvSpPr>
        <p:spPr>
          <a:xfrm>
            <a:off x="562419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6" name="Freeform 1493"/>
          <p:cNvSpPr/>
          <p:nvPr>
            <p:custDataLst>
              <p:tags r:id="rId28"/>
            </p:custDataLst>
          </p:nvPr>
        </p:nvSpPr>
        <p:spPr>
          <a:xfrm>
            <a:off x="5644515"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37" name="矩形: 圆角 8"/>
          <p:cNvSpPr/>
          <p:nvPr>
            <p:custDataLst>
              <p:tags r:id="rId29"/>
            </p:custDataLst>
          </p:nvPr>
        </p:nvSpPr>
        <p:spPr>
          <a:xfrm>
            <a:off x="5943600"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8" name="Freeform 1493"/>
          <p:cNvSpPr/>
          <p:nvPr>
            <p:custDataLst>
              <p:tags r:id="rId30"/>
            </p:custDataLst>
          </p:nvPr>
        </p:nvSpPr>
        <p:spPr>
          <a:xfrm>
            <a:off x="5963920"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39" name="矩形: 圆角 8"/>
          <p:cNvSpPr/>
          <p:nvPr>
            <p:custDataLst>
              <p:tags r:id="rId31"/>
            </p:custDataLst>
          </p:nvPr>
        </p:nvSpPr>
        <p:spPr>
          <a:xfrm>
            <a:off x="626300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0" name="Freeform 1493"/>
          <p:cNvSpPr/>
          <p:nvPr>
            <p:custDataLst>
              <p:tags r:id="rId32"/>
            </p:custDataLst>
          </p:nvPr>
        </p:nvSpPr>
        <p:spPr>
          <a:xfrm>
            <a:off x="6283325"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1" name="矩形: 圆角 8"/>
          <p:cNvSpPr/>
          <p:nvPr>
            <p:custDataLst>
              <p:tags r:id="rId33"/>
            </p:custDataLst>
          </p:nvPr>
        </p:nvSpPr>
        <p:spPr>
          <a:xfrm>
            <a:off x="658177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2" name="Freeform 1493"/>
          <p:cNvSpPr/>
          <p:nvPr>
            <p:custDataLst>
              <p:tags r:id="rId34"/>
            </p:custDataLst>
          </p:nvPr>
        </p:nvSpPr>
        <p:spPr>
          <a:xfrm>
            <a:off x="6602730"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3" name="矩形: 圆角 43"/>
          <p:cNvSpPr/>
          <p:nvPr>
            <p:custDataLst>
              <p:tags r:id="rId35"/>
            </p:custDataLst>
          </p:nvPr>
        </p:nvSpPr>
        <p:spPr>
          <a:xfrm>
            <a:off x="6023610"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4" name="Freeform 1529"/>
          <p:cNvSpPr/>
          <p:nvPr>
            <p:custDataLst>
              <p:tags r:id="rId36"/>
            </p:custDataLst>
          </p:nvPr>
        </p:nvSpPr>
        <p:spPr>
          <a:xfrm>
            <a:off x="6044565"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rgbClr val="58729A">
              <a:lumMod val="20000"/>
              <a:lumOff val="80000"/>
              <a:alpha val="50195"/>
            </a:srgb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5" name="矩形: 圆角 43"/>
          <p:cNvSpPr/>
          <p:nvPr>
            <p:custDataLst>
              <p:tags r:id="rId37"/>
            </p:custDataLst>
          </p:nvPr>
        </p:nvSpPr>
        <p:spPr>
          <a:xfrm>
            <a:off x="6466205"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6" name="Freeform 1529"/>
          <p:cNvSpPr/>
          <p:nvPr>
            <p:custDataLst>
              <p:tags r:id="rId38"/>
            </p:custDataLst>
          </p:nvPr>
        </p:nvSpPr>
        <p:spPr>
          <a:xfrm>
            <a:off x="6486525"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47" name="Rectangle 1555"/>
          <p:cNvSpPr/>
          <p:nvPr>
            <p:custDataLst>
              <p:tags r:id="rId39"/>
            </p:custDataLst>
          </p:nvPr>
        </p:nvSpPr>
        <p:spPr>
          <a:xfrm>
            <a:off x="6044565" y="2891790"/>
            <a:ext cx="323215" cy="51435"/>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48" name="矩形: 圆角 48"/>
          <p:cNvSpPr/>
          <p:nvPr>
            <p:custDataLst>
              <p:tags r:id="rId40"/>
            </p:custDataLst>
          </p:nvPr>
        </p:nvSpPr>
        <p:spPr>
          <a:xfrm>
            <a:off x="5599430" y="3232785"/>
            <a:ext cx="586105" cy="163195"/>
          </a:xfrm>
          <a:prstGeom prst="roundRect">
            <a:avLst>
              <a:gd name="adj" fmla="val 1871"/>
            </a:avLst>
          </a:prstGeom>
          <a:solidFill>
            <a:srgbClr val="000000">
              <a:alpha val="0"/>
            </a:srgbClr>
          </a:solidFill>
          <a:ln w="11430" cap="flat" cmpd="sng" algn="ctr">
            <a:solidFill>
              <a:schemeClr val="accent1">
                <a:lumMod val="40000"/>
                <a:lumOff val="60000"/>
              </a:schemeClr>
            </a:solidFill>
            <a:prstDash val="dash"/>
            <a:miter lim="800000"/>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b="1" dirty="0">
              <a:solidFill>
                <a:srgbClr val="24396B"/>
              </a:solidFill>
              <a:latin typeface="微软雅黑" panose="020B0503020204020204" charset="-122"/>
              <a:ea typeface="微软雅黑" panose="020B0503020204020204" charset="-122"/>
              <a:cs typeface="微软雅黑" panose="020B0503020204020204" charset="-122"/>
            </a:endParaRPr>
          </a:p>
        </p:txBody>
      </p:sp>
      <p:sp>
        <p:nvSpPr>
          <p:cNvPr id="150" name="Freeform 1536"/>
          <p:cNvSpPr/>
          <p:nvPr>
            <p:custDataLst>
              <p:tags r:id="rId41"/>
            </p:custDataLst>
          </p:nvPr>
        </p:nvSpPr>
        <p:spPr>
          <a:xfrm>
            <a:off x="5619115" y="3313430"/>
            <a:ext cx="274320" cy="66675"/>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51" name="Freeform 1537"/>
          <p:cNvSpPr/>
          <p:nvPr>
            <p:custDataLst>
              <p:tags r:id="rId42"/>
            </p:custDataLst>
          </p:nvPr>
        </p:nvSpPr>
        <p:spPr>
          <a:xfrm>
            <a:off x="5906770" y="3313430"/>
            <a:ext cx="262255" cy="66675"/>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2" name="Rectangle 1570"/>
          <p:cNvSpPr/>
          <p:nvPr>
            <p:custDataLst>
              <p:tags r:id="rId43"/>
            </p:custDataLst>
          </p:nvPr>
        </p:nvSpPr>
        <p:spPr>
          <a:xfrm>
            <a:off x="5617210" y="3251200"/>
            <a:ext cx="551815" cy="44450"/>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4" name="Freeform 1536"/>
          <p:cNvSpPr/>
          <p:nvPr>
            <p:custDataLst>
              <p:tags r:id="rId44"/>
            </p:custDataLst>
          </p:nvPr>
        </p:nvSpPr>
        <p:spPr>
          <a:xfrm>
            <a:off x="6257925" y="3313430"/>
            <a:ext cx="274320" cy="66675"/>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55" name="Freeform 1537"/>
          <p:cNvSpPr/>
          <p:nvPr>
            <p:custDataLst>
              <p:tags r:id="rId45"/>
            </p:custDataLst>
          </p:nvPr>
        </p:nvSpPr>
        <p:spPr>
          <a:xfrm>
            <a:off x="6546215" y="3313430"/>
            <a:ext cx="262255" cy="66675"/>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6" name="Rectangle 1570"/>
          <p:cNvSpPr/>
          <p:nvPr>
            <p:custDataLst>
              <p:tags r:id="rId46"/>
            </p:custDataLst>
          </p:nvPr>
        </p:nvSpPr>
        <p:spPr>
          <a:xfrm>
            <a:off x="6256020" y="3248660"/>
            <a:ext cx="551815" cy="44450"/>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7" name="矩形: 圆角 48"/>
          <p:cNvSpPr/>
          <p:nvPr>
            <p:custDataLst>
              <p:tags r:id="rId47"/>
            </p:custDataLst>
          </p:nvPr>
        </p:nvSpPr>
        <p:spPr>
          <a:xfrm>
            <a:off x="6238875" y="3232785"/>
            <a:ext cx="586105" cy="163195"/>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b="1" dirty="0">
              <a:solidFill>
                <a:srgbClr val="24396B"/>
              </a:solidFill>
              <a:latin typeface="微软雅黑" panose="020B0503020204020204" charset="-122"/>
              <a:ea typeface="微软雅黑" panose="020B0503020204020204" charset="-122"/>
              <a:cs typeface="微软雅黑" panose="020B0503020204020204" charset="-122"/>
            </a:endParaRPr>
          </a:p>
        </p:txBody>
      </p:sp>
      <p:grpSp>
        <p:nvGrpSpPr>
          <p:cNvPr id="158" name="组合 157"/>
          <p:cNvGrpSpPr/>
          <p:nvPr>
            <p:custDataLst>
              <p:tags r:id="rId48"/>
            </p:custDataLst>
          </p:nvPr>
        </p:nvGrpSpPr>
        <p:grpSpPr>
          <a:xfrm>
            <a:off x="8874760" y="2491740"/>
            <a:ext cx="2159000" cy="965200"/>
            <a:chOff x="1978" y="9485"/>
            <a:chExt cx="4539" cy="2029"/>
          </a:xfrm>
        </p:grpSpPr>
        <p:sp>
          <p:nvSpPr>
            <p:cNvPr id="216" name="Shape"/>
            <p:cNvSpPr/>
            <p:nvPr>
              <p:custDataLst>
                <p:tags r:id="rId49"/>
              </p:custDataLst>
            </p:nvPr>
          </p:nvSpPr>
          <p:spPr>
            <a:xfrm>
              <a:off x="3454" y="10131"/>
              <a:ext cx="699" cy="737"/>
            </a:xfrm>
            <a:custGeom>
              <a:avLst/>
              <a:gdLst/>
              <a:ahLst/>
              <a:cxnLst>
                <a:cxn ang="0">
                  <a:pos x="wd2" y="hd2"/>
                </a:cxn>
                <a:cxn ang="5400000">
                  <a:pos x="wd2" y="hd2"/>
                </a:cxn>
                <a:cxn ang="10800000">
                  <a:pos x="wd2" y="hd2"/>
                </a:cxn>
                <a:cxn ang="16200000">
                  <a:pos x="wd2" y="hd2"/>
                </a:cxn>
              </a:cxnLst>
              <a:rect l="0" t="0" r="r" b="b"/>
              <a:pathLst>
                <a:path w="21600" h="21600" extrusionOk="0">
                  <a:moveTo>
                    <a:pt x="11375" y="0"/>
                  </a:moveTo>
                  <a:cubicBezTo>
                    <a:pt x="8463" y="0"/>
                    <a:pt x="5552" y="1056"/>
                    <a:pt x="3331" y="3165"/>
                  </a:cubicBezTo>
                  <a:cubicBezTo>
                    <a:pt x="1110" y="5274"/>
                    <a:pt x="0" y="8038"/>
                    <a:pt x="0" y="10801"/>
                  </a:cubicBezTo>
                  <a:cubicBezTo>
                    <a:pt x="0" y="13565"/>
                    <a:pt x="1110" y="16329"/>
                    <a:pt x="3331" y="18438"/>
                  </a:cubicBezTo>
                  <a:cubicBezTo>
                    <a:pt x="5552" y="20546"/>
                    <a:pt x="8463" y="21600"/>
                    <a:pt x="11375" y="21600"/>
                  </a:cubicBezTo>
                  <a:cubicBezTo>
                    <a:pt x="14286" y="21600"/>
                    <a:pt x="17197" y="20546"/>
                    <a:pt x="19418" y="18438"/>
                  </a:cubicBezTo>
                  <a:cubicBezTo>
                    <a:pt x="20341" y="17562"/>
                    <a:pt x="21061" y="16569"/>
                    <a:pt x="21600" y="15513"/>
                  </a:cubicBezTo>
                  <a:cubicBezTo>
                    <a:pt x="21198" y="15286"/>
                    <a:pt x="20815" y="15014"/>
                    <a:pt x="20469" y="14686"/>
                  </a:cubicBezTo>
                  <a:cubicBezTo>
                    <a:pt x="18210" y="12541"/>
                    <a:pt x="18210" y="9061"/>
                    <a:pt x="20469" y="6917"/>
                  </a:cubicBezTo>
                  <a:cubicBezTo>
                    <a:pt x="20815" y="6588"/>
                    <a:pt x="21198" y="6317"/>
                    <a:pt x="21600" y="6089"/>
                  </a:cubicBezTo>
                  <a:cubicBezTo>
                    <a:pt x="21061" y="5034"/>
                    <a:pt x="20341" y="4041"/>
                    <a:pt x="19418" y="3165"/>
                  </a:cubicBezTo>
                  <a:cubicBezTo>
                    <a:pt x="17197" y="1056"/>
                    <a:pt x="14286" y="0"/>
                    <a:pt x="11375" y="0"/>
                  </a:cubicBezTo>
                  <a:close/>
                </a:path>
              </a:pathLst>
            </a:custGeom>
            <a:solidFill>
              <a:schemeClr val="accent1">
                <a:lumMod val="60000"/>
                <a:lumOff val="4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7" name="Shape"/>
            <p:cNvSpPr/>
            <p:nvPr>
              <p:custDataLst>
                <p:tags r:id="rId50"/>
              </p:custDataLst>
            </p:nvPr>
          </p:nvSpPr>
          <p:spPr>
            <a:xfrm>
              <a:off x="4345" y="10131"/>
              <a:ext cx="700" cy="737"/>
            </a:xfrm>
            <a:custGeom>
              <a:avLst/>
              <a:gdLst/>
              <a:ahLst/>
              <a:cxnLst>
                <a:cxn ang="0">
                  <a:pos x="wd2" y="hd2"/>
                </a:cxn>
                <a:cxn ang="5400000">
                  <a:pos x="wd2" y="hd2"/>
                </a:cxn>
                <a:cxn ang="10800000">
                  <a:pos x="wd2" y="hd2"/>
                </a:cxn>
                <a:cxn ang="16200000">
                  <a:pos x="wd2" y="hd2"/>
                </a:cxn>
              </a:cxnLst>
              <a:rect l="0" t="0" r="r" b="b"/>
              <a:pathLst>
                <a:path w="21600" h="21600" extrusionOk="0">
                  <a:moveTo>
                    <a:pt x="10224" y="0"/>
                  </a:moveTo>
                  <a:cubicBezTo>
                    <a:pt x="7313" y="0"/>
                    <a:pt x="4403" y="1056"/>
                    <a:pt x="2182" y="3165"/>
                  </a:cubicBezTo>
                  <a:cubicBezTo>
                    <a:pt x="1259" y="4041"/>
                    <a:pt x="539" y="5034"/>
                    <a:pt x="0" y="6089"/>
                  </a:cubicBezTo>
                  <a:cubicBezTo>
                    <a:pt x="402" y="6317"/>
                    <a:pt x="784" y="6588"/>
                    <a:pt x="1130" y="6917"/>
                  </a:cubicBezTo>
                  <a:cubicBezTo>
                    <a:pt x="3389" y="9061"/>
                    <a:pt x="3389" y="12541"/>
                    <a:pt x="1130" y="14686"/>
                  </a:cubicBezTo>
                  <a:cubicBezTo>
                    <a:pt x="784" y="15014"/>
                    <a:pt x="402" y="15286"/>
                    <a:pt x="0" y="15513"/>
                  </a:cubicBezTo>
                  <a:cubicBezTo>
                    <a:pt x="539" y="16569"/>
                    <a:pt x="1259" y="17562"/>
                    <a:pt x="2182" y="18438"/>
                  </a:cubicBezTo>
                  <a:cubicBezTo>
                    <a:pt x="4403" y="20546"/>
                    <a:pt x="7313" y="21600"/>
                    <a:pt x="10224" y="21600"/>
                  </a:cubicBezTo>
                  <a:cubicBezTo>
                    <a:pt x="13135" y="21600"/>
                    <a:pt x="16046" y="20546"/>
                    <a:pt x="18267" y="18438"/>
                  </a:cubicBezTo>
                  <a:cubicBezTo>
                    <a:pt x="20488" y="16329"/>
                    <a:pt x="21600" y="13565"/>
                    <a:pt x="21600" y="10801"/>
                  </a:cubicBezTo>
                  <a:cubicBezTo>
                    <a:pt x="21600" y="8038"/>
                    <a:pt x="20488" y="5274"/>
                    <a:pt x="18267" y="3165"/>
                  </a:cubicBezTo>
                  <a:cubicBezTo>
                    <a:pt x="16046" y="1056"/>
                    <a:pt x="13135" y="0"/>
                    <a:pt x="10224" y="0"/>
                  </a:cubicBezTo>
                  <a:close/>
                </a:path>
              </a:pathLst>
            </a:custGeom>
            <a:solidFill>
              <a:schemeClr val="accent1">
                <a:lumMod val="60000"/>
                <a:lumOff val="40000"/>
              </a:schemeClr>
            </a:solidFill>
            <a:ln w="12700">
              <a:miter lim="400000"/>
            </a:ln>
          </p:spPr>
          <p:txBody>
            <a:bodyPr lIns="0" tIns="0" rIns="0" bIns="0" anchor="ctr">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18" name="Circle"/>
            <p:cNvSpPr/>
            <p:nvPr>
              <p:custDataLst>
                <p:tags r:id="rId51"/>
              </p:custDataLst>
            </p:nvPr>
          </p:nvSpPr>
          <p:spPr>
            <a:xfrm>
              <a:off x="4093" y="10343"/>
              <a:ext cx="312" cy="312"/>
            </a:xfrm>
            <a:prstGeom prst="ellipse">
              <a:avLst/>
            </a:prstGeom>
            <a:solidFill>
              <a:schemeClr val="accent1">
                <a:lumMod val="60000"/>
                <a:lumOff val="4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3" name="Circle"/>
            <p:cNvSpPr/>
            <p:nvPr>
              <p:custDataLst>
                <p:tags r:id="rId52"/>
              </p:custDataLst>
            </p:nvPr>
          </p:nvSpPr>
          <p:spPr>
            <a:xfrm>
              <a:off x="6037" y="9485"/>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9" name="Circle"/>
            <p:cNvSpPr/>
            <p:nvPr>
              <p:custDataLst>
                <p:tags r:id="rId53"/>
              </p:custDataLst>
            </p:nvPr>
          </p:nvSpPr>
          <p:spPr>
            <a:xfrm>
              <a:off x="6037" y="10002"/>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0" name="Circle"/>
            <p:cNvSpPr/>
            <p:nvPr>
              <p:custDataLst>
                <p:tags r:id="rId54"/>
              </p:custDataLst>
            </p:nvPr>
          </p:nvSpPr>
          <p:spPr>
            <a:xfrm>
              <a:off x="6037" y="10518"/>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1" name="Circle"/>
            <p:cNvSpPr/>
            <p:nvPr>
              <p:custDataLst>
                <p:tags r:id="rId55"/>
              </p:custDataLst>
            </p:nvPr>
          </p:nvSpPr>
          <p:spPr>
            <a:xfrm>
              <a:off x="6037" y="11034"/>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2" name="Circle"/>
            <p:cNvSpPr/>
            <p:nvPr>
              <p:custDataLst>
                <p:tags r:id="rId56"/>
              </p:custDataLst>
            </p:nvPr>
          </p:nvSpPr>
          <p:spPr>
            <a:xfrm>
              <a:off x="1978" y="9485"/>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3" name="Circle"/>
            <p:cNvSpPr/>
            <p:nvPr>
              <p:custDataLst>
                <p:tags r:id="rId57"/>
              </p:custDataLst>
            </p:nvPr>
          </p:nvSpPr>
          <p:spPr>
            <a:xfrm>
              <a:off x="1978" y="10002"/>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4" name="Circle"/>
            <p:cNvSpPr/>
            <p:nvPr>
              <p:custDataLst>
                <p:tags r:id="rId58"/>
              </p:custDataLst>
            </p:nvPr>
          </p:nvSpPr>
          <p:spPr>
            <a:xfrm>
              <a:off x="1978" y="10518"/>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5" name="Circle"/>
            <p:cNvSpPr/>
            <p:nvPr>
              <p:custDataLst>
                <p:tags r:id="rId59"/>
              </p:custDataLst>
            </p:nvPr>
          </p:nvSpPr>
          <p:spPr>
            <a:xfrm>
              <a:off x="1978" y="11034"/>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6" name="Line"/>
            <p:cNvSpPr/>
            <p:nvPr>
              <p:custDataLst>
                <p:tags r:id="rId60"/>
              </p:custDataLst>
            </p:nvPr>
          </p:nvSpPr>
          <p:spPr>
            <a:xfrm flipH="1" flipV="1">
              <a:off x="2479" y="9810"/>
              <a:ext cx="971" cy="383"/>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7" name="Line"/>
            <p:cNvSpPr/>
            <p:nvPr>
              <p:custDataLst>
                <p:tags r:id="rId61"/>
              </p:custDataLst>
            </p:nvPr>
          </p:nvSpPr>
          <p:spPr>
            <a:xfrm flipH="1" flipV="1">
              <a:off x="2491" y="10286"/>
              <a:ext cx="858" cy="107"/>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8" name="Line"/>
            <p:cNvSpPr/>
            <p:nvPr>
              <p:custDataLst>
                <p:tags r:id="rId62"/>
              </p:custDataLst>
            </p:nvPr>
          </p:nvSpPr>
          <p:spPr>
            <a:xfrm flipH="1">
              <a:off x="2488" y="10621"/>
              <a:ext cx="865" cy="106"/>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9" name="Line"/>
            <p:cNvSpPr/>
            <p:nvPr>
              <p:custDataLst>
                <p:tags r:id="rId63"/>
              </p:custDataLst>
            </p:nvPr>
          </p:nvSpPr>
          <p:spPr>
            <a:xfrm flipH="1">
              <a:off x="2478" y="10805"/>
              <a:ext cx="977" cy="370"/>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0" name="Line"/>
            <p:cNvSpPr/>
            <p:nvPr>
              <p:custDataLst>
                <p:tags r:id="rId64"/>
              </p:custDataLst>
            </p:nvPr>
          </p:nvSpPr>
          <p:spPr>
            <a:xfrm>
              <a:off x="5029" y="10802"/>
              <a:ext cx="986" cy="376"/>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cs typeface="微软雅黑" panose="020B0503020204020204" charset="-122"/>
                <a:sym typeface="+mn-ea"/>
              </a:endParaRPr>
            </a:p>
          </p:txBody>
        </p:sp>
        <p:sp>
          <p:nvSpPr>
            <p:cNvPr id="241" name="Line"/>
            <p:cNvSpPr/>
            <p:nvPr>
              <p:custDataLst>
                <p:tags r:id="rId65"/>
              </p:custDataLst>
            </p:nvPr>
          </p:nvSpPr>
          <p:spPr>
            <a:xfrm>
              <a:off x="5127" y="10611"/>
              <a:ext cx="875" cy="111"/>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2" name="Line"/>
            <p:cNvSpPr/>
            <p:nvPr>
              <p:custDataLst>
                <p:tags r:id="rId66"/>
              </p:custDataLst>
            </p:nvPr>
          </p:nvSpPr>
          <p:spPr>
            <a:xfrm flipV="1">
              <a:off x="5128" y="10281"/>
              <a:ext cx="877" cy="114"/>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5" name="Line"/>
            <p:cNvSpPr/>
            <p:nvPr>
              <p:custDataLst>
                <p:tags r:id="rId67"/>
              </p:custDataLst>
            </p:nvPr>
          </p:nvSpPr>
          <p:spPr>
            <a:xfrm flipV="1">
              <a:off x="5030" y="9821"/>
              <a:ext cx="984" cy="378"/>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6" name="Line"/>
            <p:cNvSpPr/>
            <p:nvPr>
              <p:custDataLst>
                <p:tags r:id="rId68"/>
              </p:custDataLst>
            </p:nvPr>
          </p:nvSpPr>
          <p:spPr>
            <a:xfrm>
              <a:off x="3337" y="10034"/>
              <a:ext cx="467" cy="932"/>
            </a:xfrm>
            <a:custGeom>
              <a:avLst/>
              <a:gdLst/>
              <a:ahLst/>
              <a:cxnLst>
                <a:cxn ang="0">
                  <a:pos x="wd2" y="hd2"/>
                </a:cxn>
                <a:cxn ang="5400000">
                  <a:pos x="wd2" y="hd2"/>
                </a:cxn>
                <a:cxn ang="10800000">
                  <a:pos x="wd2" y="hd2"/>
                </a:cxn>
                <a:cxn ang="16200000">
                  <a:pos x="wd2" y="hd2"/>
                </a:cxn>
              </a:cxnLst>
              <a:rect l="0" t="0" r="r" b="b"/>
              <a:pathLst>
                <a:path w="21592" h="21592" extrusionOk="0">
                  <a:moveTo>
                    <a:pt x="21483" y="0"/>
                  </a:moveTo>
                  <a:cubicBezTo>
                    <a:pt x="9601" y="20"/>
                    <a:pt x="-8" y="4851"/>
                    <a:pt x="0" y="10801"/>
                  </a:cubicBezTo>
                  <a:cubicBezTo>
                    <a:pt x="9" y="16768"/>
                    <a:pt x="9678" y="21600"/>
                    <a:pt x="21592" y="21592"/>
                  </a:cubicBezTo>
                </a:path>
              </a:pathLst>
            </a:custGeom>
            <a:ln w="38100">
              <a:solidFill>
                <a:schemeClr val="accent1">
                  <a:lumMod val="60000"/>
                  <a:lumOff val="40000"/>
                </a:schemeClr>
              </a:solidFill>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7" name="Line"/>
            <p:cNvSpPr/>
            <p:nvPr>
              <p:custDataLst>
                <p:tags r:id="rId69"/>
              </p:custDataLst>
            </p:nvPr>
          </p:nvSpPr>
          <p:spPr>
            <a:xfrm>
              <a:off x="4694" y="10033"/>
              <a:ext cx="448" cy="933"/>
            </a:xfrm>
            <a:custGeom>
              <a:avLst/>
              <a:gdLst/>
              <a:ahLst/>
              <a:cxnLst>
                <a:cxn ang="0">
                  <a:pos x="wd2" y="hd2"/>
                </a:cxn>
                <a:cxn ang="5400000">
                  <a:pos x="wd2" y="hd2"/>
                </a:cxn>
                <a:cxn ang="10800000">
                  <a:pos x="wd2" y="hd2"/>
                </a:cxn>
                <a:cxn ang="16200000">
                  <a:pos x="wd2" y="hd2"/>
                </a:cxn>
              </a:cxnLst>
              <a:rect l="0" t="0" r="r" b="b"/>
              <a:pathLst>
                <a:path w="20753" h="21600" extrusionOk="0">
                  <a:moveTo>
                    <a:pt x="0" y="0"/>
                  </a:moveTo>
                  <a:cubicBezTo>
                    <a:pt x="12246" y="292"/>
                    <a:pt x="21600" y="5577"/>
                    <a:pt x="20692" y="11690"/>
                  </a:cubicBezTo>
                  <a:cubicBezTo>
                    <a:pt x="19881" y="17155"/>
                    <a:pt x="10952" y="21431"/>
                    <a:pt x="0" y="21600"/>
                  </a:cubicBezTo>
                </a:path>
              </a:pathLst>
            </a:custGeom>
            <a:ln w="38100">
              <a:solidFill>
                <a:schemeClr val="accent1">
                  <a:lumMod val="60000"/>
                  <a:lumOff val="40000"/>
                </a:schemeClr>
              </a:solidFill>
            </a:ln>
          </p:spPr>
          <p:txBody>
            <a:bodyPr lIns="22859" tIns="22859" rIns="22859" bIns="22859">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159" name="组合 158"/>
          <p:cNvGrpSpPr/>
          <p:nvPr>
            <p:custDataLst>
              <p:tags r:id="rId70"/>
            </p:custDataLst>
          </p:nvPr>
        </p:nvGrpSpPr>
        <p:grpSpPr>
          <a:xfrm>
            <a:off x="1816100" y="5186680"/>
            <a:ext cx="1156335" cy="1155401"/>
            <a:chOff x="2917" y="9383"/>
            <a:chExt cx="2530" cy="2529"/>
          </a:xfrm>
        </p:grpSpPr>
        <p:pic>
          <p:nvPicPr>
            <p:cNvPr id="249" name="图片 248" descr="左右箭头-2"/>
            <p:cNvPicPr>
              <a:picLocks noChangeAspect="1"/>
            </p:cNvPicPr>
            <p:nvPr>
              <p:custDataLst>
                <p:tags r:id="rId71"/>
              </p:custDataLst>
            </p:nvPr>
          </p:nvPicPr>
          <p:blipFill>
            <a:blip r:embed="rId72">
              <a:extLst>
                <a:ext uri="{96DAC541-7B7A-43D3-8B79-37D633B846F1}">
                  <asvg:svgBlip xmlns:asvg="http://schemas.microsoft.com/office/drawing/2016/SVG/main" r:embed="rId73"/>
                </a:ext>
              </a:extLst>
            </a:blip>
            <a:stretch>
              <a:fillRect/>
            </a:stretch>
          </p:blipFill>
          <p:spPr>
            <a:xfrm>
              <a:off x="4171" y="10609"/>
              <a:ext cx="79" cy="79"/>
            </a:xfrm>
            <a:prstGeom prst="rect">
              <a:avLst/>
            </a:prstGeom>
          </p:spPr>
        </p:pic>
        <p:sp>
          <p:nvSpPr>
            <p:cNvPr id="250" name="紫荆的职场Point8"/>
            <p:cNvSpPr/>
            <p:nvPr>
              <p:custDataLst>
                <p:tags r:id="rId74"/>
              </p:custDataLst>
            </p:nvPr>
          </p:nvSpPr>
          <p:spPr bwMode="auto">
            <a:xfrm>
              <a:off x="4470" y="10061"/>
              <a:ext cx="479" cy="498"/>
            </a:xfrm>
            <a:custGeom>
              <a:avLst/>
              <a:gdLst>
                <a:gd name="connsiteX0" fmla="*/ 619628 w 1306515"/>
                <a:gd name="connsiteY0" fmla="*/ 0 h 1357311"/>
                <a:gd name="connsiteX1" fmla="*/ 1306515 w 1306515"/>
                <a:gd name="connsiteY1" fmla="*/ 1189815 h 1357311"/>
                <a:gd name="connsiteX2" fmla="*/ 357258 w 1306515"/>
                <a:gd name="connsiteY2" fmla="*/ 1357311 h 1357311"/>
                <a:gd name="connsiteX3" fmla="*/ 0 w 1306515"/>
                <a:gd name="connsiteY3" fmla="*/ 738585 h 1357311"/>
              </a:gdLst>
              <a:ahLst/>
              <a:cxnLst>
                <a:cxn ang="0">
                  <a:pos x="connsiteX0" y="connsiteY0"/>
                </a:cxn>
                <a:cxn ang="0">
                  <a:pos x="connsiteX1" y="connsiteY1"/>
                </a:cxn>
                <a:cxn ang="0">
                  <a:pos x="connsiteX2" y="connsiteY2"/>
                </a:cxn>
                <a:cxn ang="0">
                  <a:pos x="connsiteX3" y="connsiteY3"/>
                </a:cxn>
              </a:cxnLst>
              <a:rect l="l" t="t" r="r" b="b"/>
              <a:pathLst>
                <a:path w="1306515" h="1357311">
                  <a:moveTo>
                    <a:pt x="619628" y="0"/>
                  </a:moveTo>
                  <a:cubicBezTo>
                    <a:pt x="981268" y="303552"/>
                    <a:pt x="1224584" y="724865"/>
                    <a:pt x="1306515" y="1189815"/>
                  </a:cubicBezTo>
                  <a:lnTo>
                    <a:pt x="357258" y="1357311"/>
                  </a:lnTo>
                  <a:cubicBezTo>
                    <a:pt x="314577" y="1115499"/>
                    <a:pt x="188060" y="896363"/>
                    <a:pt x="0" y="738585"/>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1" name="紫荆的职场Point9"/>
            <p:cNvSpPr/>
            <p:nvPr>
              <p:custDataLst>
                <p:tags r:id="rId75"/>
              </p:custDataLst>
            </p:nvPr>
          </p:nvSpPr>
          <p:spPr bwMode="auto">
            <a:xfrm>
              <a:off x="4560" y="10531"/>
              <a:ext cx="405" cy="497"/>
            </a:xfrm>
            <a:custGeom>
              <a:avLst/>
              <a:gdLst>
                <a:gd name="connsiteX0" fmla="*/ 1072263 w 1102722"/>
                <a:gd name="connsiteY0" fmla="*/ 0 h 1352548"/>
                <a:gd name="connsiteX1" fmla="*/ 833940 w 1102722"/>
                <a:gd name="connsiteY1" fmla="*/ 1352548 h 1352548"/>
                <a:gd name="connsiteX2" fmla="*/ 0 w 1102722"/>
                <a:gd name="connsiteY2" fmla="*/ 870774 h 1352548"/>
                <a:gd name="connsiteX3" fmla="*/ 123920 w 1102722"/>
                <a:gd name="connsiteY3" fmla="*/ 167449 h 1352548"/>
              </a:gdLst>
              <a:ahLst/>
              <a:cxnLst>
                <a:cxn ang="0">
                  <a:pos x="connsiteX0" y="connsiteY0"/>
                </a:cxn>
                <a:cxn ang="0">
                  <a:pos x="connsiteX1" y="connsiteY1"/>
                </a:cxn>
                <a:cxn ang="0">
                  <a:pos x="connsiteX2" y="connsiteY2"/>
                </a:cxn>
                <a:cxn ang="0">
                  <a:pos x="connsiteX3" y="connsiteY3"/>
                </a:cxn>
              </a:cxnLst>
              <a:rect l="l" t="t" r="r" b="b"/>
              <a:pathLst>
                <a:path w="1102722" h="1352548">
                  <a:moveTo>
                    <a:pt x="1072263" y="0"/>
                  </a:moveTo>
                  <a:cubicBezTo>
                    <a:pt x="1154115" y="465010"/>
                    <a:pt x="1069788" y="943736"/>
                    <a:pt x="833940" y="1352548"/>
                  </a:cubicBezTo>
                  <a:lnTo>
                    <a:pt x="0" y="870774"/>
                  </a:lnTo>
                  <a:cubicBezTo>
                    <a:pt x="122588" y="658177"/>
                    <a:pt x="166560" y="409194"/>
                    <a:pt x="123920" y="167449"/>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2" name="紫荆的职场Point10"/>
            <p:cNvSpPr/>
            <p:nvPr>
              <p:custDataLst>
                <p:tags r:id="rId76"/>
              </p:custDataLst>
            </p:nvPr>
          </p:nvSpPr>
          <p:spPr bwMode="auto">
            <a:xfrm>
              <a:off x="4344" y="10874"/>
              <a:ext cx="507" cy="502"/>
            </a:xfrm>
            <a:custGeom>
              <a:avLst/>
              <a:gdLst>
                <a:gd name="connsiteX0" fmla="*/ 547519 w 1382715"/>
                <a:gd name="connsiteY0" fmla="*/ 0 h 1365248"/>
                <a:gd name="connsiteX1" fmla="*/ 1382715 w 1382715"/>
                <a:gd name="connsiteY1" fmla="*/ 482144 h 1365248"/>
                <a:gd name="connsiteX2" fmla="*/ 329808 w 1382715"/>
                <a:gd name="connsiteY2" fmla="*/ 1365248 h 1365248"/>
                <a:gd name="connsiteX3" fmla="*/ 0 w 1382715"/>
                <a:gd name="connsiteY3" fmla="*/ 459275 h 1365248"/>
                <a:gd name="connsiteX4" fmla="*/ 547519 w 1382715"/>
                <a:gd name="connsiteY4" fmla="*/ 0 h 136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715" h="1365248">
                  <a:moveTo>
                    <a:pt x="547519" y="0"/>
                  </a:moveTo>
                  <a:lnTo>
                    <a:pt x="1382715" y="482144"/>
                  </a:lnTo>
                  <a:cubicBezTo>
                    <a:pt x="1146512" y="891108"/>
                    <a:pt x="773810" y="1203835"/>
                    <a:pt x="329808" y="1365248"/>
                  </a:cubicBezTo>
                  <a:lnTo>
                    <a:pt x="0" y="459275"/>
                  </a:lnTo>
                  <a:cubicBezTo>
                    <a:pt x="230866" y="375424"/>
                    <a:pt x="424556" y="212677"/>
                    <a:pt x="547519"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3" name="紫荆的职场Point11"/>
            <p:cNvSpPr/>
            <p:nvPr>
              <p:custDataLst>
                <p:tags r:id="rId77"/>
              </p:custDataLst>
            </p:nvPr>
          </p:nvSpPr>
          <p:spPr bwMode="auto">
            <a:xfrm>
              <a:off x="3932" y="11053"/>
              <a:ext cx="504" cy="377"/>
            </a:xfrm>
            <a:custGeom>
              <a:avLst/>
              <a:gdLst>
                <a:gd name="connsiteX0" fmla="*/ 329870 w 1374777"/>
                <a:gd name="connsiteY0" fmla="*/ 0 h 1026426"/>
                <a:gd name="connsiteX1" fmla="*/ 1044716 w 1374777"/>
                <a:gd name="connsiteY1" fmla="*/ 0 h 1026426"/>
                <a:gd name="connsiteX2" fmla="*/ 1374777 w 1374777"/>
                <a:gd name="connsiteY2" fmla="*/ 905312 h 1026426"/>
                <a:gd name="connsiteX3" fmla="*/ 0 w 1374777"/>
                <a:gd name="connsiteY3" fmla="*/ 905312 h 1026426"/>
              </a:gdLst>
              <a:ahLst/>
              <a:cxnLst>
                <a:cxn ang="0">
                  <a:pos x="connsiteX0" y="connsiteY0"/>
                </a:cxn>
                <a:cxn ang="0">
                  <a:pos x="connsiteX1" y="connsiteY1"/>
                </a:cxn>
                <a:cxn ang="0">
                  <a:pos x="connsiteX2" y="connsiteY2"/>
                </a:cxn>
                <a:cxn ang="0">
                  <a:pos x="connsiteX3" y="connsiteY3"/>
                </a:cxn>
              </a:cxnLst>
              <a:rect l="l" t="t" r="r" b="b"/>
              <a:pathLst>
                <a:path w="1374777" h="1026426">
                  <a:moveTo>
                    <a:pt x="329870" y="0"/>
                  </a:moveTo>
                  <a:cubicBezTo>
                    <a:pt x="560779" y="83981"/>
                    <a:pt x="813807" y="83981"/>
                    <a:pt x="1044716" y="0"/>
                  </a:cubicBezTo>
                  <a:lnTo>
                    <a:pt x="1374777" y="905312"/>
                  </a:lnTo>
                  <a:cubicBezTo>
                    <a:pt x="930692" y="1066798"/>
                    <a:pt x="443895" y="1066798"/>
                    <a:pt x="0" y="905312"/>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4" name="紫荆的职场Point12"/>
            <p:cNvSpPr/>
            <p:nvPr>
              <p:custDataLst>
                <p:tags r:id="rId78"/>
              </p:custDataLst>
            </p:nvPr>
          </p:nvSpPr>
          <p:spPr bwMode="auto">
            <a:xfrm>
              <a:off x="3518" y="10874"/>
              <a:ext cx="507" cy="502"/>
            </a:xfrm>
            <a:custGeom>
              <a:avLst/>
              <a:gdLst>
                <a:gd name="connsiteX0" fmla="*/ 834237 w 1381127"/>
                <a:gd name="connsiteY0" fmla="*/ 0 h 1365248"/>
                <a:gd name="connsiteX1" fmla="*/ 1381127 w 1381127"/>
                <a:gd name="connsiteY1" fmla="*/ 459275 h 1365248"/>
                <a:gd name="connsiteX2" fmla="*/ 1051508 w 1381127"/>
                <a:gd name="connsiteY2" fmla="*/ 1365248 h 1365248"/>
                <a:gd name="connsiteX3" fmla="*/ 0 w 1381127"/>
                <a:gd name="connsiteY3" fmla="*/ 482144 h 1365248"/>
              </a:gdLst>
              <a:ahLst/>
              <a:cxnLst>
                <a:cxn ang="0">
                  <a:pos x="connsiteX0" y="connsiteY0"/>
                </a:cxn>
                <a:cxn ang="0">
                  <a:pos x="connsiteX1" y="connsiteY1"/>
                </a:cxn>
                <a:cxn ang="0">
                  <a:pos x="connsiteX2" y="connsiteY2"/>
                </a:cxn>
                <a:cxn ang="0">
                  <a:pos x="connsiteX3" y="connsiteY3"/>
                </a:cxn>
              </a:cxnLst>
              <a:rect l="l" t="t" r="r" b="b"/>
              <a:pathLst>
                <a:path w="1381127" h="1365248">
                  <a:moveTo>
                    <a:pt x="834237" y="0"/>
                  </a:moveTo>
                  <a:cubicBezTo>
                    <a:pt x="956868" y="212677"/>
                    <a:pt x="1150527" y="375424"/>
                    <a:pt x="1381127" y="459275"/>
                  </a:cubicBezTo>
                  <a:lnTo>
                    <a:pt x="1051508" y="1365248"/>
                  </a:lnTo>
                  <a:cubicBezTo>
                    <a:pt x="608206" y="1203835"/>
                    <a:pt x="235742" y="891108"/>
                    <a:pt x="0" y="482144"/>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5" name="紫荆的职场Point13"/>
            <p:cNvSpPr/>
            <p:nvPr>
              <p:custDataLst>
                <p:tags r:id="rId79"/>
              </p:custDataLst>
            </p:nvPr>
          </p:nvSpPr>
          <p:spPr bwMode="auto">
            <a:xfrm>
              <a:off x="3404" y="10527"/>
              <a:ext cx="405" cy="497"/>
            </a:xfrm>
            <a:custGeom>
              <a:avLst/>
              <a:gdLst>
                <a:gd name="connsiteX0" fmla="*/ 30497 w 1104248"/>
                <a:gd name="connsiteY0" fmla="*/ 0 h 1352548"/>
                <a:gd name="connsiteX1" fmla="*/ 980178 w 1104248"/>
                <a:gd name="connsiteY1" fmla="*/ 167449 h 1352548"/>
                <a:gd name="connsiteX2" fmla="*/ 1104248 w 1104248"/>
                <a:gd name="connsiteY2" fmla="*/ 870774 h 1352548"/>
                <a:gd name="connsiteX3" fmla="*/ 269109 w 1104248"/>
                <a:gd name="connsiteY3" fmla="*/ 1352548 h 1352548"/>
                <a:gd name="connsiteX4" fmla="*/ 30497 w 1104248"/>
                <a:gd name="connsiteY4" fmla="*/ 0 h 1352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248" h="1352548">
                  <a:moveTo>
                    <a:pt x="30497" y="0"/>
                  </a:moveTo>
                  <a:lnTo>
                    <a:pt x="980178" y="167449"/>
                  </a:lnTo>
                  <a:cubicBezTo>
                    <a:pt x="937487" y="409194"/>
                    <a:pt x="981321" y="658177"/>
                    <a:pt x="1104248" y="870774"/>
                  </a:cubicBezTo>
                  <a:lnTo>
                    <a:pt x="269109" y="1352548"/>
                  </a:lnTo>
                  <a:cubicBezTo>
                    <a:pt x="32975" y="943736"/>
                    <a:pt x="-51454" y="465010"/>
                    <a:pt x="30497"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6" name="紫荆的职场Point14"/>
            <p:cNvSpPr/>
            <p:nvPr>
              <p:custDataLst>
                <p:tags r:id="rId80"/>
              </p:custDataLst>
            </p:nvPr>
          </p:nvSpPr>
          <p:spPr bwMode="auto">
            <a:xfrm>
              <a:off x="3421" y="10061"/>
              <a:ext cx="479" cy="498"/>
            </a:xfrm>
            <a:custGeom>
              <a:avLst/>
              <a:gdLst>
                <a:gd name="connsiteX0" fmla="*/ 686888 w 1306515"/>
                <a:gd name="connsiteY0" fmla="*/ 0 h 1357311"/>
                <a:gd name="connsiteX1" fmla="*/ 1306515 w 1306515"/>
                <a:gd name="connsiteY1" fmla="*/ 738593 h 1357311"/>
                <a:gd name="connsiteX2" fmla="*/ 949353 w 1306515"/>
                <a:gd name="connsiteY2" fmla="*/ 1357311 h 1357311"/>
                <a:gd name="connsiteX3" fmla="*/ 0 w 1306515"/>
                <a:gd name="connsiteY3" fmla="*/ 1189887 h 1357311"/>
                <a:gd name="connsiteX4" fmla="*/ 686888 w 1306515"/>
                <a:gd name="connsiteY4" fmla="*/ 0 h 13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515" h="1357311">
                  <a:moveTo>
                    <a:pt x="686888" y="0"/>
                  </a:moveTo>
                  <a:lnTo>
                    <a:pt x="1306515" y="738593"/>
                  </a:lnTo>
                  <a:cubicBezTo>
                    <a:pt x="1118455" y="896393"/>
                    <a:pt x="991938" y="1115465"/>
                    <a:pt x="949353" y="1357311"/>
                  </a:cubicBezTo>
                  <a:lnTo>
                    <a:pt x="0" y="1189887"/>
                  </a:lnTo>
                  <a:cubicBezTo>
                    <a:pt x="82027" y="724776"/>
                    <a:pt x="325248" y="303499"/>
                    <a:pt x="686888"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7" name="紫荆的职场Point15"/>
            <p:cNvSpPr/>
            <p:nvPr>
              <p:custDataLst>
                <p:tags r:id="rId81"/>
              </p:custDataLst>
            </p:nvPr>
          </p:nvSpPr>
          <p:spPr bwMode="auto">
            <a:xfrm>
              <a:off x="3696" y="9869"/>
              <a:ext cx="474" cy="443"/>
            </a:xfrm>
            <a:custGeom>
              <a:avLst/>
              <a:gdLst>
                <a:gd name="connsiteX0" fmla="*/ 1290640 w 1290640"/>
                <a:gd name="connsiteY0" fmla="*/ 0 h 1208086"/>
                <a:gd name="connsiteX1" fmla="*/ 1290640 w 1290640"/>
                <a:gd name="connsiteY1" fmla="*/ 963840 h 1208086"/>
                <a:gd name="connsiteX2" fmla="*/ 619599 w 1290640"/>
                <a:gd name="connsiteY2" fmla="*/ 1208086 h 1208086"/>
                <a:gd name="connsiteX3" fmla="*/ 0 w 1290640"/>
                <a:gd name="connsiteY3" fmla="*/ 469631 h 1208086"/>
                <a:gd name="connsiteX4" fmla="*/ 1290640 w 1290640"/>
                <a:gd name="connsiteY4" fmla="*/ 0 h 1208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0640" h="1208086">
                  <a:moveTo>
                    <a:pt x="1290640" y="0"/>
                  </a:moveTo>
                  <a:lnTo>
                    <a:pt x="1290640" y="963840"/>
                  </a:lnTo>
                  <a:cubicBezTo>
                    <a:pt x="1045239" y="963840"/>
                    <a:pt x="807650" y="1050336"/>
                    <a:pt x="619599" y="1208086"/>
                  </a:cubicBezTo>
                  <a:lnTo>
                    <a:pt x="0" y="469631"/>
                  </a:lnTo>
                  <a:cubicBezTo>
                    <a:pt x="361623" y="166324"/>
                    <a:pt x="818701" y="0"/>
                    <a:pt x="1290640"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8" name="紫荆的职场Point16"/>
            <p:cNvSpPr/>
            <p:nvPr>
              <p:custDataLst>
                <p:tags r:id="rId82"/>
              </p:custDataLst>
            </p:nvPr>
          </p:nvSpPr>
          <p:spPr bwMode="auto">
            <a:xfrm>
              <a:off x="4200" y="9869"/>
              <a:ext cx="474" cy="443"/>
            </a:xfrm>
            <a:custGeom>
              <a:avLst/>
              <a:gdLst>
                <a:gd name="connsiteX0" fmla="*/ 0 w 1290640"/>
                <a:gd name="connsiteY0" fmla="*/ 0 h 1208086"/>
                <a:gd name="connsiteX1" fmla="*/ 1290640 w 1290640"/>
                <a:gd name="connsiteY1" fmla="*/ 469631 h 1208086"/>
                <a:gd name="connsiteX2" fmla="*/ 671133 w 1290640"/>
                <a:gd name="connsiteY2" fmla="*/ 1208086 h 1208086"/>
                <a:gd name="connsiteX3" fmla="*/ 0 w 1290640"/>
                <a:gd name="connsiteY3" fmla="*/ 963840 h 1208086"/>
              </a:gdLst>
              <a:ahLst/>
              <a:cxnLst>
                <a:cxn ang="0">
                  <a:pos x="connsiteX0" y="connsiteY0"/>
                </a:cxn>
                <a:cxn ang="0">
                  <a:pos x="connsiteX1" y="connsiteY1"/>
                </a:cxn>
                <a:cxn ang="0">
                  <a:pos x="connsiteX2" y="connsiteY2"/>
                </a:cxn>
                <a:cxn ang="0">
                  <a:pos x="connsiteX3" y="connsiteY3"/>
                </a:cxn>
              </a:cxnLst>
              <a:rect l="l" t="t" r="r" b="b"/>
              <a:pathLst>
                <a:path w="1290640" h="1208086">
                  <a:moveTo>
                    <a:pt x="0" y="0"/>
                  </a:moveTo>
                  <a:cubicBezTo>
                    <a:pt x="472060" y="0"/>
                    <a:pt x="929070" y="166324"/>
                    <a:pt x="1290640" y="469631"/>
                  </a:cubicBezTo>
                  <a:lnTo>
                    <a:pt x="671133" y="1208086"/>
                  </a:lnTo>
                  <a:cubicBezTo>
                    <a:pt x="483109" y="1050336"/>
                    <a:pt x="245555" y="963840"/>
                    <a:pt x="0" y="96384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9" name="紫荆的职场Point17"/>
            <p:cNvSpPr/>
            <p:nvPr>
              <p:custDataLst>
                <p:tags r:id="rId83"/>
              </p:custDataLst>
            </p:nvPr>
          </p:nvSpPr>
          <p:spPr>
            <a:xfrm>
              <a:off x="3820" y="10294"/>
              <a:ext cx="706" cy="706"/>
            </a:xfrm>
            <a:prstGeom prst="ellipse">
              <a:avLst/>
            </a:prstGeom>
            <a:solidFill>
              <a:schemeClr val="accent1">
                <a:lumMod val="60000"/>
                <a:lumOff val="40000"/>
              </a:schemeClr>
            </a:solidFill>
            <a:ln w="25617" cap="flat" cmpd="sng" algn="ctr">
              <a:solidFill>
                <a:schemeClr val="accent1">
                  <a:lumMod val="60000"/>
                  <a:lumOff val="40000"/>
                </a:schemeClr>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lIns="122959" tIns="61480" rIns="122959" bIns="61480" rtlCol="0" anchor="ctr"/>
            <a:lstStyle/>
            <a:p>
              <a:pPr algn="ctr">
                <a:spcBef>
                  <a:spcPct val="0"/>
                </a:spcBef>
                <a:spcAft>
                  <a:spcPct val="0"/>
                </a:spcAft>
              </a:pPr>
              <a:endParaRPr 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62" name="任意多边形: 形状 54"/>
            <p:cNvSpPr/>
            <p:nvPr>
              <p:custDataLst>
                <p:tags r:id="rId84"/>
              </p:custDataLst>
            </p:nvPr>
          </p:nvSpPr>
          <p:spPr>
            <a:xfrm>
              <a:off x="3005" y="9466"/>
              <a:ext cx="1184" cy="1176"/>
            </a:xfrm>
            <a:custGeom>
              <a:avLst/>
              <a:gdLst>
                <a:gd name="connsiteX0" fmla="*/ 720258 w 2418588"/>
                <a:gd name="connsiteY0" fmla="*/ 2400151 h 2400300"/>
                <a:gd name="connsiteX1" fmla="*/ 2414280 w 2418588"/>
                <a:gd name="connsiteY1" fmla="*/ 718417 h 2400300"/>
                <a:gd name="connsiteX2" fmla="*/ 2419805 w 2418588"/>
                <a:gd name="connsiteY2" fmla="*/ 718417 h 2400300"/>
                <a:gd name="connsiteX3" fmla="*/ 2419805 w 2418588"/>
                <a:gd name="connsiteY3" fmla="*/ -54 h 2400300"/>
                <a:gd name="connsiteX4" fmla="*/ 2413899 w 2418588"/>
                <a:gd name="connsiteY4" fmla="*/ -54 h 2400300"/>
                <a:gd name="connsiteX5" fmla="*/ 1216 w 2418588"/>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88" h="2400300">
                  <a:moveTo>
                    <a:pt x="720258" y="2400151"/>
                  </a:moveTo>
                  <a:cubicBezTo>
                    <a:pt x="727117" y="1470225"/>
                    <a:pt x="1482830" y="718417"/>
                    <a:pt x="2414280" y="718417"/>
                  </a:cubicBezTo>
                  <a:lnTo>
                    <a:pt x="2419805" y="718417"/>
                  </a:lnTo>
                  <a:lnTo>
                    <a:pt x="2419805" y="-54"/>
                  </a:lnTo>
                  <a:lnTo>
                    <a:pt x="2413899" y="-54"/>
                  </a:lnTo>
                  <a:cubicBezTo>
                    <a:pt x="1085543" y="-54"/>
                    <a:pt x="7980" y="1073509"/>
                    <a:pt x="1216" y="2400247"/>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3" name="任意多边形: 形状 55"/>
            <p:cNvSpPr/>
            <p:nvPr>
              <p:custDataLst>
                <p:tags r:id="rId85"/>
              </p:custDataLst>
            </p:nvPr>
          </p:nvSpPr>
          <p:spPr>
            <a:xfrm>
              <a:off x="2917" y="10298"/>
              <a:ext cx="1271" cy="1532"/>
            </a:xfrm>
            <a:custGeom>
              <a:avLst/>
              <a:gdLst>
                <a:gd name="connsiteX0" fmla="*/ 2592778 w 2596610"/>
                <a:gd name="connsiteY0" fmla="*/ 2409581 h 3128200"/>
                <a:gd name="connsiteX1" fmla="*/ 898471 w 2596610"/>
                <a:gd name="connsiteY1" fmla="*/ 715274 h 3128200"/>
                <a:gd name="connsiteX2" fmla="*/ 898471 w 2596610"/>
                <a:gd name="connsiteY2" fmla="*/ 715179 h 3128200"/>
                <a:gd name="connsiteX3" fmla="*/ 898471 w 2596610"/>
                <a:gd name="connsiteY3" fmla="*/ 707749 h 3128200"/>
                <a:gd name="connsiteX4" fmla="*/ 1069921 w 2596610"/>
                <a:gd name="connsiteY4" fmla="*/ 707749 h 3128200"/>
                <a:gd name="connsiteX5" fmla="*/ 535568 w 2596610"/>
                <a:gd name="connsiteY5" fmla="*/ -54 h 3128200"/>
                <a:gd name="connsiteX6" fmla="*/ 1216 w 2596610"/>
                <a:gd name="connsiteY6" fmla="*/ 707749 h 3128200"/>
                <a:gd name="connsiteX7" fmla="*/ 179428 w 2596610"/>
                <a:gd name="connsiteY7" fmla="*/ 707749 h 3128200"/>
                <a:gd name="connsiteX8" fmla="*/ 179428 w 2596610"/>
                <a:gd name="connsiteY8" fmla="*/ 715179 h 3128200"/>
                <a:gd name="connsiteX9" fmla="*/ 2592302 w 2596610"/>
                <a:gd name="connsiteY9" fmla="*/ 3128147 h 3128200"/>
                <a:gd name="connsiteX10" fmla="*/ 2597826 w 2596610"/>
                <a:gd name="connsiteY10" fmla="*/ 3128147 h 3128200"/>
                <a:gd name="connsiteX11" fmla="*/ 2597826 w 2596610"/>
                <a:gd name="connsiteY11" fmla="*/ 2409391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6610" h="3128200">
                  <a:moveTo>
                    <a:pt x="2592778" y="2409581"/>
                  </a:moveTo>
                  <a:cubicBezTo>
                    <a:pt x="1657042" y="2409581"/>
                    <a:pt x="898471" y="1651010"/>
                    <a:pt x="898471" y="715274"/>
                  </a:cubicBezTo>
                  <a:cubicBezTo>
                    <a:pt x="898471" y="715245"/>
                    <a:pt x="898471" y="715207"/>
                    <a:pt x="898471" y="715179"/>
                  </a:cubicBezTo>
                  <a:cubicBezTo>
                    <a:pt x="898471" y="712702"/>
                    <a:pt x="898471" y="710226"/>
                    <a:pt x="898471" y="707749"/>
                  </a:cubicBezTo>
                  <a:lnTo>
                    <a:pt x="1069921" y="707749"/>
                  </a:lnTo>
                  <a:lnTo>
                    <a:pt x="535568" y="-54"/>
                  </a:lnTo>
                  <a:lnTo>
                    <a:pt x="1216" y="707749"/>
                  </a:lnTo>
                  <a:lnTo>
                    <a:pt x="179428" y="707749"/>
                  </a:lnTo>
                  <a:cubicBezTo>
                    <a:pt x="179428" y="710226"/>
                    <a:pt x="179428" y="712702"/>
                    <a:pt x="179428" y="715179"/>
                  </a:cubicBezTo>
                  <a:cubicBezTo>
                    <a:pt x="179428" y="2047822"/>
                    <a:pt x="1259754" y="3128147"/>
                    <a:pt x="2592302" y="3128147"/>
                  </a:cubicBezTo>
                  <a:lnTo>
                    <a:pt x="2597826" y="3128147"/>
                  </a:lnTo>
                  <a:lnTo>
                    <a:pt x="2597826" y="2409391"/>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4" name="任意多边形: 形状 56"/>
            <p:cNvSpPr/>
            <p:nvPr>
              <p:custDataLst>
                <p:tags r:id="rId86"/>
              </p:custDataLst>
            </p:nvPr>
          </p:nvSpPr>
          <p:spPr>
            <a:xfrm>
              <a:off x="3848" y="10642"/>
              <a:ext cx="1519" cy="1270"/>
            </a:xfrm>
            <a:custGeom>
              <a:avLst/>
              <a:gdLst>
                <a:gd name="connsiteX0" fmla="*/ 3104937 w 3103721"/>
                <a:gd name="connsiteY0" fmla="*/ 12520 h 2592038"/>
                <a:gd name="connsiteX1" fmla="*/ 3104937 w 3103721"/>
                <a:gd name="connsiteY1" fmla="*/ -54 h 2592038"/>
                <a:gd name="connsiteX2" fmla="*/ 2386180 w 3103721"/>
                <a:gd name="connsiteY2" fmla="*/ -54 h 2592038"/>
                <a:gd name="connsiteX3" fmla="*/ 2386180 w 3103721"/>
                <a:gd name="connsiteY3" fmla="*/ 12520 h 2592038"/>
                <a:gd name="connsiteX4" fmla="*/ 708923 w 3103721"/>
                <a:gd name="connsiteY4" fmla="*/ 1706541 h 2592038"/>
                <a:gd name="connsiteX5" fmla="*/ 708923 w 3103721"/>
                <a:gd name="connsiteY5" fmla="*/ 1523280 h 2592038"/>
                <a:gd name="connsiteX6" fmla="*/ 1216 w 3103721"/>
                <a:gd name="connsiteY6" fmla="*/ 2057632 h 2592038"/>
                <a:gd name="connsiteX7" fmla="*/ 708923 w 3103721"/>
                <a:gd name="connsiteY7" fmla="*/ 2591985 h 2592038"/>
                <a:gd name="connsiteX8" fmla="*/ 708923 w 3103721"/>
                <a:gd name="connsiteY8" fmla="*/ 2425297 h 2592038"/>
                <a:gd name="connsiteX9" fmla="*/ 3104937 w 3103721"/>
                <a:gd name="connsiteY9" fmla="*/ 12520 h 259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721" h="2592038">
                  <a:moveTo>
                    <a:pt x="3104937" y="12520"/>
                  </a:moveTo>
                  <a:cubicBezTo>
                    <a:pt x="3104937" y="8329"/>
                    <a:pt x="3104937" y="4137"/>
                    <a:pt x="3104937" y="-54"/>
                  </a:cubicBezTo>
                  <a:lnTo>
                    <a:pt x="2386180" y="-54"/>
                  </a:lnTo>
                  <a:cubicBezTo>
                    <a:pt x="2386180" y="4137"/>
                    <a:pt x="2386180" y="8329"/>
                    <a:pt x="2386180" y="12520"/>
                  </a:cubicBezTo>
                  <a:cubicBezTo>
                    <a:pt x="2386123" y="941550"/>
                    <a:pt x="1637906" y="1697244"/>
                    <a:pt x="708923" y="1706541"/>
                  </a:cubicBezTo>
                  <a:lnTo>
                    <a:pt x="708923" y="1523280"/>
                  </a:lnTo>
                  <a:lnTo>
                    <a:pt x="1216" y="2057632"/>
                  </a:lnTo>
                  <a:lnTo>
                    <a:pt x="708923" y="2591985"/>
                  </a:lnTo>
                  <a:lnTo>
                    <a:pt x="708923" y="2425297"/>
                  </a:lnTo>
                  <a:cubicBezTo>
                    <a:pt x="2033755" y="2416153"/>
                    <a:pt x="3104937" y="1339542"/>
                    <a:pt x="3104937" y="12520"/>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5" name="任意多边形: 形状 57"/>
            <p:cNvSpPr/>
            <p:nvPr>
              <p:custDataLst>
                <p:tags r:id="rId87"/>
              </p:custDataLst>
            </p:nvPr>
          </p:nvSpPr>
          <p:spPr>
            <a:xfrm>
              <a:off x="4188" y="9466"/>
              <a:ext cx="1259" cy="1517"/>
            </a:xfrm>
            <a:custGeom>
              <a:avLst/>
              <a:gdLst>
                <a:gd name="connsiteX0" fmla="*/ 2408279 w 2570511"/>
                <a:gd name="connsiteY0" fmla="*/ 2389864 h 3097625"/>
                <a:gd name="connsiteX1" fmla="*/ 1216 w 2570511"/>
                <a:gd name="connsiteY1" fmla="*/ -54 h 3097625"/>
                <a:gd name="connsiteX2" fmla="*/ 1216 w 2570511"/>
                <a:gd name="connsiteY2" fmla="*/ 718608 h 3097625"/>
                <a:gd name="connsiteX3" fmla="*/ 1689522 w 2570511"/>
                <a:gd name="connsiteY3" fmla="*/ 2389864 h 3097625"/>
                <a:gd name="connsiteX4" fmla="*/ 1503023 w 2570511"/>
                <a:gd name="connsiteY4" fmla="*/ 2389864 h 3097625"/>
                <a:gd name="connsiteX5" fmla="*/ 2037375 w 2570511"/>
                <a:gd name="connsiteY5" fmla="*/ 3097572 h 3097625"/>
                <a:gd name="connsiteX6" fmla="*/ 2571728 w 2570511"/>
                <a:gd name="connsiteY6" fmla="*/ 2389864 h 309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511" h="3097625">
                  <a:moveTo>
                    <a:pt x="2408279" y="2389864"/>
                  </a:moveTo>
                  <a:cubicBezTo>
                    <a:pt x="2395611" y="1069604"/>
                    <a:pt x="1323667" y="2899"/>
                    <a:pt x="1216" y="-54"/>
                  </a:cubicBezTo>
                  <a:lnTo>
                    <a:pt x="1216" y="718608"/>
                  </a:lnTo>
                  <a:cubicBezTo>
                    <a:pt x="926760" y="721465"/>
                    <a:pt x="1677616" y="1466511"/>
                    <a:pt x="1689522" y="2389864"/>
                  </a:cubicBezTo>
                  <a:lnTo>
                    <a:pt x="1503023" y="2389864"/>
                  </a:lnTo>
                  <a:lnTo>
                    <a:pt x="2037375" y="3097572"/>
                  </a:lnTo>
                  <a:lnTo>
                    <a:pt x="2571728" y="2389864"/>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6" name="任意多边形: 形状 59"/>
            <p:cNvSpPr/>
            <p:nvPr>
              <p:custDataLst>
                <p:tags r:id="rId88"/>
              </p:custDataLst>
            </p:nvPr>
          </p:nvSpPr>
          <p:spPr>
            <a:xfrm>
              <a:off x="4150" y="9383"/>
              <a:ext cx="352" cy="524"/>
            </a:xfrm>
            <a:custGeom>
              <a:avLst/>
              <a:gdLst>
                <a:gd name="connsiteX0" fmla="*/ 0 w 718946"/>
                <a:gd name="connsiteY0" fmla="*/ 0 h 1068704"/>
                <a:gd name="connsiteX1" fmla="*/ 718947 w 718946"/>
                <a:gd name="connsiteY1" fmla="*/ 534353 h 1068704"/>
                <a:gd name="connsiteX2" fmla="*/ 0 w 718946"/>
                <a:gd name="connsiteY2" fmla="*/ 1068705 h 1068704"/>
                <a:gd name="connsiteX3" fmla="*/ 0 w 718946"/>
                <a:gd name="connsiteY3" fmla="*/ 0 h 1068704"/>
              </a:gdLst>
              <a:ahLst/>
              <a:cxnLst>
                <a:cxn ang="0">
                  <a:pos x="connsiteX0" y="connsiteY0"/>
                </a:cxn>
                <a:cxn ang="0">
                  <a:pos x="connsiteX1" y="connsiteY1"/>
                </a:cxn>
                <a:cxn ang="0">
                  <a:pos x="connsiteX2" y="connsiteY2"/>
                </a:cxn>
                <a:cxn ang="0">
                  <a:pos x="connsiteX3" y="connsiteY3"/>
                </a:cxn>
              </a:cxnLst>
              <a:rect l="l" t="t" r="r" b="b"/>
              <a:pathLst>
                <a:path w="718946" h="1068704">
                  <a:moveTo>
                    <a:pt x="0" y="0"/>
                  </a:moveTo>
                  <a:lnTo>
                    <a:pt x="718947" y="534353"/>
                  </a:lnTo>
                  <a:lnTo>
                    <a:pt x="0" y="1068705"/>
                  </a:lnTo>
                  <a:lnTo>
                    <a:pt x="0" y="0"/>
                  </a:ln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grpSp>
        <p:nvGrpSpPr>
          <p:cNvPr id="161" name="组合 160"/>
          <p:cNvGrpSpPr/>
          <p:nvPr>
            <p:custDataLst>
              <p:tags r:id="rId89"/>
            </p:custDataLst>
          </p:nvPr>
        </p:nvGrpSpPr>
        <p:grpSpPr>
          <a:xfrm>
            <a:off x="9033510" y="5218430"/>
            <a:ext cx="1974850" cy="974725"/>
            <a:chOff x="759" y="11416"/>
            <a:chExt cx="6502" cy="3209"/>
          </a:xfrm>
        </p:grpSpPr>
        <p:grpSp>
          <p:nvGrpSpPr>
            <p:cNvPr id="280" name="天蝎PPT原创©1"/>
            <p:cNvGrpSpPr/>
            <p:nvPr>
              <p:custDataLst>
                <p:tags r:id="rId90"/>
              </p:custDataLst>
            </p:nvPr>
          </p:nvGrpSpPr>
          <p:grpSpPr>
            <a:xfrm>
              <a:off x="760" y="11850"/>
              <a:ext cx="6496" cy="2138"/>
              <a:chOff x="371833" y="1813205"/>
              <a:chExt cx="11650653" cy="1175604"/>
            </a:xfrm>
            <a:solidFill>
              <a:srgbClr val="B2C5D4"/>
            </a:solidFill>
          </p:grpSpPr>
          <p:sp>
            <p:nvSpPr>
              <p:cNvPr id="281" name="天蝎PPT原创©1-1"/>
              <p:cNvSpPr/>
              <p:nvPr>
                <p:custDataLst>
                  <p:tags r:id="rId91"/>
                </p:custDataLst>
              </p:nvPr>
            </p:nvSpPr>
            <p:spPr>
              <a:xfrm>
                <a:off x="3718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2" name="天蝎PPT原创©1-2"/>
              <p:cNvSpPr/>
              <p:nvPr>
                <p:custDataLst>
                  <p:tags r:id="rId92"/>
                </p:custDataLst>
              </p:nvPr>
            </p:nvSpPr>
            <p:spPr>
              <a:xfrm>
                <a:off x="33182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7" name="天蝎PPT原创©1-3"/>
              <p:cNvSpPr/>
              <p:nvPr>
                <p:custDataLst>
                  <p:tags r:id="rId93"/>
                </p:custDataLst>
              </p:nvPr>
            </p:nvSpPr>
            <p:spPr>
              <a:xfrm>
                <a:off x="62476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8" name="天蝎PPT原创©1-4"/>
              <p:cNvSpPr/>
              <p:nvPr>
                <p:custDataLst>
                  <p:tags r:id="rId94"/>
                </p:custDataLst>
              </p:nvPr>
            </p:nvSpPr>
            <p:spPr>
              <a:xfrm>
                <a:off x="91940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289" name="天蝎PPT原创©2-1"/>
            <p:cNvSpPr/>
            <p:nvPr>
              <p:custDataLst>
                <p:tags r:id="rId95"/>
              </p:custDataLst>
            </p:nvPr>
          </p:nvSpPr>
          <p:spPr>
            <a:xfrm>
              <a:off x="765"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0" name="天蝎PPT原创©2-2"/>
            <p:cNvSpPr/>
            <p:nvPr>
              <p:custDataLst>
                <p:tags r:id="rId96"/>
              </p:custDataLst>
            </p:nvPr>
          </p:nvSpPr>
          <p:spPr>
            <a:xfrm>
              <a:off x="2408" y="11850"/>
              <a:ext cx="1577" cy="551"/>
            </a:xfrm>
            <a:prstGeom prst="rect">
              <a:avLst/>
            </a:prstGeom>
            <a:solidFill>
              <a:schemeClr val="accent1">
                <a:lumMod val="60000"/>
                <a:lumOff val="40000"/>
              </a:schemeClr>
            </a:solidFill>
            <a:ln>
              <a:noFill/>
            </a:ln>
          </p:spPr>
          <p:txBody>
            <a:bodyPr spcFirstLastPara="1" wrap="square" lIns="0" tIns="0" rIns="0" bIns="0" rtlCol="0" anchor="ctr"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6" name="天蝎PPT原创©2-3"/>
            <p:cNvSpPr/>
            <p:nvPr>
              <p:custDataLst>
                <p:tags r:id="rId97"/>
              </p:custDataLst>
            </p:nvPr>
          </p:nvSpPr>
          <p:spPr>
            <a:xfrm>
              <a:off x="4042"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7" name="天蝎PPT原创©2-4"/>
            <p:cNvSpPr/>
            <p:nvPr>
              <p:custDataLst>
                <p:tags r:id="rId98"/>
              </p:custDataLst>
            </p:nvPr>
          </p:nvSpPr>
          <p:spPr>
            <a:xfrm>
              <a:off x="5684"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8" name="天蝎PPT原创©7"/>
            <p:cNvSpPr/>
            <p:nvPr>
              <p:custDataLst>
                <p:tags r:id="rId99"/>
              </p:custDataLst>
            </p:nvPr>
          </p:nvSpPr>
          <p:spPr>
            <a:xfrm>
              <a:off x="765" y="14069"/>
              <a:ext cx="1040" cy="556"/>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299" name="天蝎PPT原创©8"/>
            <p:cNvSpPr/>
            <p:nvPr>
              <p:custDataLst>
                <p:tags r:id="rId100"/>
              </p:custDataLst>
            </p:nvPr>
          </p:nvSpPr>
          <p:spPr>
            <a:xfrm>
              <a:off x="1848" y="14069"/>
              <a:ext cx="5413" cy="556"/>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algn="ct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300" name="天蝎PPT原创©18"/>
            <p:cNvSpPr/>
            <p:nvPr>
              <p:custDataLst>
                <p:tags r:id="rId101"/>
              </p:custDataLst>
            </p:nvPr>
          </p:nvSpPr>
          <p:spPr>
            <a:xfrm rot="5400000">
              <a:off x="3849" y="8442"/>
              <a:ext cx="438" cy="6386"/>
            </a:xfrm>
            <a:custGeom>
              <a:avLst/>
              <a:gdLst>
                <a:gd name="connsiteX0" fmla="*/ 0 w 298898"/>
                <a:gd name="connsiteY0" fmla="*/ 257670 h 10698196"/>
                <a:gd name="connsiteX1" fmla="*/ 149449 w 298898"/>
                <a:gd name="connsiteY1" fmla="*/ 0 h 10698196"/>
                <a:gd name="connsiteX2" fmla="*/ 298898 w 298898"/>
                <a:gd name="connsiteY2" fmla="*/ 257670 h 10698196"/>
                <a:gd name="connsiteX3" fmla="*/ 213612 w 298898"/>
                <a:gd name="connsiteY3" fmla="*/ 257670 h 10698196"/>
                <a:gd name="connsiteX4" fmla="*/ 213612 w 298898"/>
                <a:gd name="connsiteY4" fmla="*/ 10698196 h 10698196"/>
                <a:gd name="connsiteX5" fmla="*/ 87002 w 298898"/>
                <a:gd name="connsiteY5" fmla="*/ 10698196 h 10698196"/>
                <a:gd name="connsiteX6" fmla="*/ 87002 w 298898"/>
                <a:gd name="connsiteY6" fmla="*/ 257670 h 10698196"/>
                <a:gd name="connsiteX0-1" fmla="*/ 0 w 270261"/>
                <a:gd name="connsiteY0-2" fmla="*/ 271117 h 10698196"/>
                <a:gd name="connsiteX1-3" fmla="*/ 120812 w 270261"/>
                <a:gd name="connsiteY1-4" fmla="*/ 0 h 10698196"/>
                <a:gd name="connsiteX2-5" fmla="*/ 270261 w 270261"/>
                <a:gd name="connsiteY2-6" fmla="*/ 257670 h 10698196"/>
                <a:gd name="connsiteX3-7" fmla="*/ 184975 w 270261"/>
                <a:gd name="connsiteY3-8" fmla="*/ 257670 h 10698196"/>
                <a:gd name="connsiteX4-9" fmla="*/ 184975 w 270261"/>
                <a:gd name="connsiteY4-10" fmla="*/ 10698196 h 10698196"/>
                <a:gd name="connsiteX5-11" fmla="*/ 58365 w 270261"/>
                <a:gd name="connsiteY5-12" fmla="*/ 10698196 h 10698196"/>
                <a:gd name="connsiteX6-13" fmla="*/ 58365 w 270261"/>
                <a:gd name="connsiteY6-14" fmla="*/ 257670 h 10698196"/>
                <a:gd name="connsiteX7" fmla="*/ 0 w 270261"/>
                <a:gd name="connsiteY7" fmla="*/ 271117 h 10698196"/>
                <a:gd name="connsiteX0-15" fmla="*/ 0 w 270261"/>
                <a:gd name="connsiteY0-16" fmla="*/ 432483 h 10859562"/>
                <a:gd name="connsiteX1-17" fmla="*/ 120813 w 270261"/>
                <a:gd name="connsiteY1-18" fmla="*/ 0 h 10859562"/>
                <a:gd name="connsiteX2-19" fmla="*/ 270261 w 270261"/>
                <a:gd name="connsiteY2-20" fmla="*/ 419036 h 10859562"/>
                <a:gd name="connsiteX3-21" fmla="*/ 184975 w 270261"/>
                <a:gd name="connsiteY3-22" fmla="*/ 419036 h 10859562"/>
                <a:gd name="connsiteX4-23" fmla="*/ 184975 w 270261"/>
                <a:gd name="connsiteY4-24" fmla="*/ 10859562 h 10859562"/>
                <a:gd name="connsiteX5-25" fmla="*/ 58365 w 270261"/>
                <a:gd name="connsiteY5-26" fmla="*/ 10859562 h 10859562"/>
                <a:gd name="connsiteX6-27" fmla="*/ 58365 w 270261"/>
                <a:gd name="connsiteY6-28" fmla="*/ 419036 h 10859562"/>
                <a:gd name="connsiteX7-29" fmla="*/ 0 w 270261"/>
                <a:gd name="connsiteY7-30" fmla="*/ 432483 h 10859562"/>
                <a:gd name="connsiteX0-31" fmla="*/ 0 w 237533"/>
                <a:gd name="connsiteY0-32" fmla="*/ 432483 h 10859562"/>
                <a:gd name="connsiteX1-33" fmla="*/ 120813 w 237533"/>
                <a:gd name="connsiteY1-34" fmla="*/ 0 h 10859562"/>
                <a:gd name="connsiteX2-35" fmla="*/ 237533 w 237533"/>
                <a:gd name="connsiteY2-36" fmla="*/ 405589 h 10859562"/>
                <a:gd name="connsiteX3-37" fmla="*/ 184975 w 237533"/>
                <a:gd name="connsiteY3-38" fmla="*/ 419036 h 10859562"/>
                <a:gd name="connsiteX4-39" fmla="*/ 184975 w 237533"/>
                <a:gd name="connsiteY4-40" fmla="*/ 10859562 h 10859562"/>
                <a:gd name="connsiteX5-41" fmla="*/ 58365 w 237533"/>
                <a:gd name="connsiteY5-42" fmla="*/ 10859562 h 10859562"/>
                <a:gd name="connsiteX6-43" fmla="*/ 58365 w 237533"/>
                <a:gd name="connsiteY6-44" fmla="*/ 419036 h 10859562"/>
                <a:gd name="connsiteX7-45" fmla="*/ 0 w 237533"/>
                <a:gd name="connsiteY7-46" fmla="*/ 432483 h 108595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Lst>
              <a:rect l="l" t="t" r="r" b="b"/>
              <a:pathLst>
                <a:path w="237533" h="10859562">
                  <a:moveTo>
                    <a:pt x="0" y="432483"/>
                  </a:moveTo>
                  <a:lnTo>
                    <a:pt x="120813" y="0"/>
                  </a:lnTo>
                  <a:lnTo>
                    <a:pt x="237533" y="405589"/>
                  </a:lnTo>
                  <a:lnTo>
                    <a:pt x="184975" y="419036"/>
                  </a:lnTo>
                  <a:lnTo>
                    <a:pt x="184975" y="10859562"/>
                  </a:lnTo>
                  <a:lnTo>
                    <a:pt x="58365" y="10859562"/>
                  </a:lnTo>
                  <a:lnTo>
                    <a:pt x="58365" y="419036"/>
                  </a:lnTo>
                  <a:cubicBezTo>
                    <a:pt x="29364" y="419036"/>
                    <a:pt x="29001" y="432483"/>
                    <a:pt x="0" y="432483"/>
                  </a:cubicBezTo>
                  <a:close/>
                </a:path>
              </a:pathLst>
            </a:cu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1" name="天蝎PPT原创©25"/>
            <p:cNvSpPr/>
            <p:nvPr>
              <p:custDataLst>
                <p:tags r:id="rId102"/>
              </p:custDataLst>
            </p:nvPr>
          </p:nvSpPr>
          <p:spPr>
            <a:xfrm>
              <a:off x="2396"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6" name="天蝎PPT原创©27"/>
            <p:cNvSpPr/>
            <p:nvPr>
              <p:custDataLst>
                <p:tags r:id="rId103"/>
              </p:custDataLst>
            </p:nvPr>
          </p:nvSpPr>
          <p:spPr>
            <a:xfrm>
              <a:off x="401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7" name="天蝎PPT原创©29"/>
            <p:cNvSpPr/>
            <p:nvPr>
              <p:custDataLst>
                <p:tags r:id="rId104"/>
              </p:custDataLst>
            </p:nvPr>
          </p:nvSpPr>
          <p:spPr>
            <a:xfrm>
              <a:off x="5624"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8" name="天蝎PPT原创©17"/>
            <p:cNvSpPr/>
            <p:nvPr>
              <p:custDataLst>
                <p:tags r:id="rId105"/>
              </p:custDataLst>
            </p:nvPr>
          </p:nvSpPr>
          <p:spPr>
            <a:xfrm>
              <a:off x="75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4" name="圆角矩形 8"/>
          <p:cNvSpPr/>
          <p:nvPr>
            <p:custDataLst>
              <p:tags r:id="rId106"/>
            </p:custDataLst>
          </p:nvPr>
        </p:nvSpPr>
        <p:spPr>
          <a:xfrm>
            <a:off x="5149850"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 name="圆角矩形 8"/>
          <p:cNvSpPr/>
          <p:nvPr>
            <p:custDataLst>
              <p:tags r:id="rId107"/>
            </p:custDataLst>
          </p:nvPr>
        </p:nvSpPr>
        <p:spPr>
          <a:xfrm>
            <a:off x="5944870"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圆角矩形 8"/>
          <p:cNvSpPr/>
          <p:nvPr>
            <p:custDataLst>
              <p:tags r:id="rId108"/>
            </p:custDataLst>
          </p:nvPr>
        </p:nvSpPr>
        <p:spPr>
          <a:xfrm>
            <a:off x="6739255"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圆角矩形 59"/>
          <p:cNvSpPr/>
          <p:nvPr>
            <p:custDataLst>
              <p:tags r:id="rId109"/>
            </p:custDataLst>
          </p:nvPr>
        </p:nvSpPr>
        <p:spPr>
          <a:xfrm>
            <a:off x="5095875"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8" name="Freeform 2384"/>
          <p:cNvSpPr/>
          <p:nvPr>
            <p:custDataLst>
              <p:tags r:id="rId110"/>
            </p:custDataLst>
          </p:nvPr>
        </p:nvSpPr>
        <p:spPr>
          <a:xfrm>
            <a:off x="6981190" y="5207635"/>
            <a:ext cx="361950" cy="116205"/>
          </a:xfrm>
          <a:custGeom>
            <a:avLst/>
            <a:gdLst/>
            <a:ahLst/>
            <a:cxnLst/>
            <a:rect l="0" t="0" r="0" b="0"/>
            <a:pathLst>
              <a:path w="1648967" h="527305">
                <a:moveTo>
                  <a:pt x="0" y="108967"/>
                </a:moveTo>
                <a:lnTo>
                  <a:pt x="108965"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27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9" name="Freeform 2385"/>
          <p:cNvSpPr/>
          <p:nvPr>
            <p:custDataLst>
              <p:tags r:id="rId111"/>
            </p:custDataLst>
          </p:nvPr>
        </p:nvSpPr>
        <p:spPr>
          <a:xfrm>
            <a:off x="698119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 name="Freeform 2389"/>
          <p:cNvSpPr/>
          <p:nvPr>
            <p:custDataLst>
              <p:tags r:id="rId112"/>
            </p:custDataLst>
          </p:nvPr>
        </p:nvSpPr>
        <p:spPr>
          <a:xfrm>
            <a:off x="5101590" y="5209540"/>
            <a:ext cx="361950" cy="116205"/>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1" name="Freeform 2390"/>
          <p:cNvSpPr/>
          <p:nvPr>
            <p:custDataLst>
              <p:tags r:id="rId113"/>
            </p:custDataLst>
          </p:nvPr>
        </p:nvSpPr>
        <p:spPr>
          <a:xfrm>
            <a:off x="5100955" y="5231130"/>
            <a:ext cx="339090" cy="93345"/>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2" name="Freeform 2409"/>
          <p:cNvSpPr/>
          <p:nvPr>
            <p:custDataLst>
              <p:tags r:id="rId114"/>
            </p:custDataLst>
          </p:nvPr>
        </p:nvSpPr>
        <p:spPr>
          <a:xfrm>
            <a:off x="5076190" y="6168390"/>
            <a:ext cx="2302510" cy="116205"/>
          </a:xfrm>
          <a:custGeom>
            <a:avLst/>
            <a:gdLst/>
            <a:ahLst/>
            <a:cxnLst/>
            <a:rect l="0" t="0" r="0" b="0"/>
            <a:pathLst>
              <a:path w="10489693" h="527303">
                <a:moveTo>
                  <a:pt x="0" y="108953"/>
                </a:moveTo>
                <a:lnTo>
                  <a:pt x="108954" y="0"/>
                </a:lnTo>
                <a:lnTo>
                  <a:pt x="10489693" y="0"/>
                </a:lnTo>
                <a:lnTo>
                  <a:pt x="10489693" y="418338"/>
                </a:lnTo>
                <a:lnTo>
                  <a:pt x="10380727" y="527303"/>
                </a:lnTo>
                <a:lnTo>
                  <a:pt x="0" y="527303"/>
                </a:lnTo>
                <a:close/>
                <a:moveTo>
                  <a:pt x="0" y="108953"/>
                </a:moveTo>
                <a:lnTo>
                  <a:pt x="10380727" y="108953"/>
                </a:lnTo>
                <a:lnTo>
                  <a:pt x="10489693" y="0"/>
                </a:lnTo>
                <a:moveTo>
                  <a:pt x="10380727" y="108953"/>
                </a:moveTo>
                <a:lnTo>
                  <a:pt x="10380727" y="527303"/>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3" name="Freeform 2410"/>
          <p:cNvSpPr/>
          <p:nvPr>
            <p:custDataLst>
              <p:tags r:id="rId115"/>
            </p:custDataLst>
          </p:nvPr>
        </p:nvSpPr>
        <p:spPr>
          <a:xfrm>
            <a:off x="5075555" y="6191250"/>
            <a:ext cx="2281555" cy="93345"/>
          </a:xfrm>
          <a:custGeom>
            <a:avLst/>
            <a:gdLst/>
            <a:ahLst/>
            <a:cxnLst/>
            <a:rect l="0" t="0" r="0" b="0"/>
            <a:pathLst>
              <a:path w="10395204" h="425196">
                <a:moveTo>
                  <a:pt x="0" y="425196"/>
                </a:moveTo>
                <a:lnTo>
                  <a:pt x="10395204" y="425196"/>
                </a:lnTo>
                <a:lnTo>
                  <a:pt x="10395204"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4" name="Freeform 2447"/>
          <p:cNvSpPr/>
          <p:nvPr>
            <p:custDataLst>
              <p:tags r:id="rId116"/>
            </p:custDataLst>
          </p:nvPr>
        </p:nvSpPr>
        <p:spPr>
          <a:xfrm>
            <a:off x="6503670" y="5207635"/>
            <a:ext cx="361950" cy="116205"/>
          </a:xfrm>
          <a:custGeom>
            <a:avLst/>
            <a:gdLst/>
            <a:ahLst/>
            <a:cxnLst/>
            <a:rect l="0" t="0" r="0" b="0"/>
            <a:pathLst>
              <a:path w="1648969" h="527305">
                <a:moveTo>
                  <a:pt x="0" y="108967"/>
                </a:moveTo>
                <a:lnTo>
                  <a:pt x="108966" y="0"/>
                </a:lnTo>
                <a:lnTo>
                  <a:pt x="1648969" y="0"/>
                </a:lnTo>
                <a:lnTo>
                  <a:pt x="1648969" y="418338"/>
                </a:lnTo>
                <a:lnTo>
                  <a:pt x="1540002" y="527305"/>
                </a:lnTo>
                <a:lnTo>
                  <a:pt x="0" y="527305"/>
                </a:lnTo>
                <a:close/>
                <a:moveTo>
                  <a:pt x="0" y="108967"/>
                </a:moveTo>
                <a:lnTo>
                  <a:pt x="1540002" y="108967"/>
                </a:lnTo>
                <a:lnTo>
                  <a:pt x="1648969"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5" name="Freeform 2448"/>
          <p:cNvSpPr/>
          <p:nvPr>
            <p:custDataLst>
              <p:tags r:id="rId117"/>
            </p:custDataLst>
          </p:nvPr>
        </p:nvSpPr>
        <p:spPr>
          <a:xfrm>
            <a:off x="650367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 name="Freeform 2482"/>
          <p:cNvSpPr/>
          <p:nvPr>
            <p:custDataLst>
              <p:tags r:id="rId118"/>
            </p:custDataLst>
          </p:nvPr>
        </p:nvSpPr>
        <p:spPr>
          <a:xfrm>
            <a:off x="6054090" y="5207635"/>
            <a:ext cx="361950" cy="116205"/>
          </a:xfrm>
          <a:custGeom>
            <a:avLst/>
            <a:gdLst/>
            <a:ahLst/>
            <a:cxnLst/>
            <a:rect l="0" t="0" r="0" b="0"/>
            <a:pathLst>
              <a:path w="1648968" h="527305">
                <a:moveTo>
                  <a:pt x="0" y="108967"/>
                </a:moveTo>
                <a:lnTo>
                  <a:pt x="108967" y="0"/>
                </a:lnTo>
                <a:lnTo>
                  <a:pt x="1648968" y="0"/>
                </a:lnTo>
                <a:lnTo>
                  <a:pt x="1648968" y="418338"/>
                </a:lnTo>
                <a:lnTo>
                  <a:pt x="1540003" y="527305"/>
                </a:lnTo>
                <a:lnTo>
                  <a:pt x="0" y="527305"/>
                </a:lnTo>
                <a:close/>
                <a:moveTo>
                  <a:pt x="0" y="108967"/>
                </a:moveTo>
                <a:lnTo>
                  <a:pt x="1540003" y="108967"/>
                </a:lnTo>
                <a:lnTo>
                  <a:pt x="1648968" y="0"/>
                </a:lnTo>
                <a:moveTo>
                  <a:pt x="1540003" y="108967"/>
                </a:moveTo>
                <a:lnTo>
                  <a:pt x="1540003"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7" name="Freeform 2483"/>
          <p:cNvSpPr/>
          <p:nvPr>
            <p:custDataLst>
              <p:tags r:id="rId119"/>
            </p:custDataLst>
          </p:nvPr>
        </p:nvSpPr>
        <p:spPr>
          <a:xfrm>
            <a:off x="6053455"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cxnSp>
        <p:nvCxnSpPr>
          <p:cNvPr id="22" name="直接连接符 21"/>
          <p:cNvCxnSpPr/>
          <p:nvPr>
            <p:custDataLst>
              <p:tags r:id="rId120"/>
            </p:custDataLst>
          </p:nvPr>
        </p:nvCxnSpPr>
        <p:spPr>
          <a:xfrm rot="10800000">
            <a:off x="5005705" y="6238240"/>
            <a:ext cx="67310"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23" name="Freeform 2470"/>
          <p:cNvSpPr/>
          <p:nvPr>
            <p:custDataLst>
              <p:tags r:id="rId121"/>
            </p:custDataLst>
          </p:nvPr>
        </p:nvSpPr>
        <p:spPr>
          <a:xfrm>
            <a:off x="5582285" y="5207635"/>
            <a:ext cx="361950" cy="116205"/>
          </a:xfrm>
          <a:custGeom>
            <a:avLst/>
            <a:gdLst/>
            <a:ahLst/>
            <a:cxnLst/>
            <a:rect l="0" t="0" r="0" b="0"/>
            <a:pathLst>
              <a:path w="1648968" h="527305">
                <a:moveTo>
                  <a:pt x="0" y="108967"/>
                </a:moveTo>
                <a:lnTo>
                  <a:pt x="108965" y="0"/>
                </a:lnTo>
                <a:lnTo>
                  <a:pt x="1648968" y="0"/>
                </a:lnTo>
                <a:lnTo>
                  <a:pt x="1648968" y="418338"/>
                </a:lnTo>
                <a:lnTo>
                  <a:pt x="1540002" y="527305"/>
                </a:lnTo>
                <a:lnTo>
                  <a:pt x="0" y="527305"/>
                </a:lnTo>
                <a:close/>
                <a:moveTo>
                  <a:pt x="0" y="108967"/>
                </a:moveTo>
                <a:lnTo>
                  <a:pt x="1540002" y="108967"/>
                </a:lnTo>
                <a:lnTo>
                  <a:pt x="1648968"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4" name="Freeform 2471"/>
          <p:cNvSpPr/>
          <p:nvPr>
            <p:custDataLst>
              <p:tags r:id="rId122"/>
            </p:custDataLst>
          </p:nvPr>
        </p:nvSpPr>
        <p:spPr>
          <a:xfrm>
            <a:off x="558165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 name="圆角矩形 59"/>
          <p:cNvSpPr/>
          <p:nvPr>
            <p:custDataLst>
              <p:tags r:id="rId123"/>
            </p:custDataLst>
          </p:nvPr>
        </p:nvSpPr>
        <p:spPr>
          <a:xfrm>
            <a:off x="601599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27" name="圆角矩形 59"/>
          <p:cNvSpPr/>
          <p:nvPr>
            <p:custDataLst>
              <p:tags r:id="rId124"/>
            </p:custDataLst>
          </p:nvPr>
        </p:nvSpPr>
        <p:spPr>
          <a:xfrm>
            <a:off x="647573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0" name="圆角矩形 59"/>
          <p:cNvSpPr/>
          <p:nvPr>
            <p:custDataLst>
              <p:tags r:id="rId125"/>
            </p:custDataLst>
          </p:nvPr>
        </p:nvSpPr>
        <p:spPr>
          <a:xfrm>
            <a:off x="555625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1" name="圆角矩形 59"/>
          <p:cNvSpPr/>
          <p:nvPr>
            <p:custDataLst>
              <p:tags r:id="rId126"/>
            </p:custDataLst>
          </p:nvPr>
        </p:nvSpPr>
        <p:spPr>
          <a:xfrm>
            <a:off x="693547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5" name="等腰三角形 34"/>
          <p:cNvSpPr/>
          <p:nvPr>
            <p:custDataLst>
              <p:tags r:id="rId127"/>
            </p:custDataLst>
          </p:nvPr>
        </p:nvSpPr>
        <p:spPr>
          <a:xfrm rot="5400000">
            <a:off x="689102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6" name="等腰三角形 35"/>
          <p:cNvSpPr/>
          <p:nvPr>
            <p:custDataLst>
              <p:tags r:id="rId128"/>
            </p:custDataLst>
          </p:nvPr>
        </p:nvSpPr>
        <p:spPr>
          <a:xfrm rot="5400000">
            <a:off x="549148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3" name="等腰三角形 42"/>
          <p:cNvSpPr/>
          <p:nvPr>
            <p:custDataLst>
              <p:tags r:id="rId129"/>
            </p:custDataLst>
          </p:nvPr>
        </p:nvSpPr>
        <p:spPr>
          <a:xfrm rot="5400000">
            <a:off x="596646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4" name="等腰三角形 43"/>
          <p:cNvSpPr/>
          <p:nvPr>
            <p:custDataLst>
              <p:tags r:id="rId130"/>
            </p:custDataLst>
          </p:nvPr>
        </p:nvSpPr>
        <p:spPr>
          <a:xfrm rot="5400000">
            <a:off x="643128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5" name="等腰三角形 44"/>
          <p:cNvSpPr/>
          <p:nvPr>
            <p:custDataLst>
              <p:tags r:id="rId131"/>
            </p:custDataLst>
          </p:nvPr>
        </p:nvSpPr>
        <p:spPr>
          <a:xfrm rot="16200000" flipH="1">
            <a:off x="6606540" y="601535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6" name="等腰三角形 45"/>
          <p:cNvSpPr/>
          <p:nvPr>
            <p:custDataLst>
              <p:tags r:id="rId132"/>
            </p:custDataLst>
          </p:nvPr>
        </p:nvSpPr>
        <p:spPr>
          <a:xfrm rot="16200000" flipH="1">
            <a:off x="5814695" y="601535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cxnSp>
        <p:nvCxnSpPr>
          <p:cNvPr id="49" name="直接连接符 48"/>
          <p:cNvCxnSpPr/>
          <p:nvPr>
            <p:custDataLst>
              <p:tags r:id="rId133"/>
            </p:custDataLst>
          </p:nvPr>
        </p:nvCxnSpPr>
        <p:spPr>
          <a:xfrm flipH="1">
            <a:off x="4997450" y="5270500"/>
            <a:ext cx="9842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0" name="直接连接符 49"/>
          <p:cNvCxnSpPr/>
          <p:nvPr>
            <p:custDataLst>
              <p:tags r:id="rId134"/>
            </p:custDataLst>
          </p:nvPr>
        </p:nvCxnSpPr>
        <p:spPr>
          <a:xfrm flipV="1">
            <a:off x="5005070" y="5269865"/>
            <a:ext cx="0" cy="977265"/>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51" name="等腰三角形 50"/>
          <p:cNvSpPr/>
          <p:nvPr>
            <p:custDataLst>
              <p:tags r:id="rId135"/>
            </p:custDataLst>
          </p:nvPr>
        </p:nvSpPr>
        <p:spPr>
          <a:xfrm flipH="1">
            <a:off x="4964430" y="567118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nvGrpSpPr>
          <p:cNvPr id="56" name="组合 55"/>
          <p:cNvGrpSpPr/>
          <p:nvPr>
            <p:custDataLst>
              <p:tags r:id="rId136"/>
            </p:custDataLst>
          </p:nvPr>
        </p:nvGrpSpPr>
        <p:grpSpPr>
          <a:xfrm flipH="1">
            <a:off x="7336790" y="5250180"/>
            <a:ext cx="130810" cy="976630"/>
            <a:chOff x="8018" y="8499"/>
            <a:chExt cx="206" cy="1538"/>
          </a:xfrm>
        </p:grpSpPr>
        <p:cxnSp>
          <p:nvCxnSpPr>
            <p:cNvPr id="52" name="直接连接符 51"/>
            <p:cNvCxnSpPr/>
            <p:nvPr>
              <p:custDataLst>
                <p:tags r:id="rId137"/>
              </p:custDataLst>
            </p:nvPr>
          </p:nvCxnSpPr>
          <p:spPr>
            <a:xfrm rot="10800000">
              <a:off x="8083" y="10024"/>
              <a:ext cx="106"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3" name="直接连接符 52"/>
            <p:cNvCxnSpPr/>
            <p:nvPr>
              <p:custDataLst>
                <p:tags r:id="rId138"/>
              </p:custDataLst>
            </p:nvPr>
          </p:nvCxnSpPr>
          <p:spPr>
            <a:xfrm flipH="1">
              <a:off x="8070" y="8500"/>
              <a:ext cx="15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4" name="直接连接符 53"/>
            <p:cNvCxnSpPr/>
            <p:nvPr>
              <p:custDataLst>
                <p:tags r:id="rId139"/>
              </p:custDataLst>
            </p:nvPr>
          </p:nvCxnSpPr>
          <p:spPr>
            <a:xfrm flipV="1">
              <a:off x="8082" y="8499"/>
              <a:ext cx="0" cy="1539"/>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55" name="等腰三角形 54"/>
            <p:cNvSpPr/>
            <p:nvPr>
              <p:custDataLst>
                <p:tags r:id="rId140"/>
              </p:custDataLst>
            </p:nvPr>
          </p:nvSpPr>
          <p:spPr>
            <a:xfrm flipH="1" flipV="1">
              <a:off x="8018" y="9131"/>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sp>
        <p:nvSpPr>
          <p:cNvPr id="3" name="Google Shape;464;p24"/>
          <p:cNvSpPr/>
          <p:nvPr>
            <p:custDataLst>
              <p:tags r:id="rId141"/>
            </p:custDataLst>
          </p:nvPr>
        </p:nvSpPr>
        <p:spPr>
          <a:xfrm>
            <a:off x="2690495" y="2694305"/>
            <a:ext cx="639445" cy="76136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Google Shape;450;p24"/>
          <p:cNvSpPr/>
          <p:nvPr>
            <p:custDataLst>
              <p:tags r:id="rId142"/>
            </p:custDataLst>
          </p:nvPr>
        </p:nvSpPr>
        <p:spPr>
          <a:xfrm>
            <a:off x="1382395" y="2464435"/>
            <a:ext cx="1948180" cy="217170"/>
          </a:xfrm>
          <a:custGeom>
            <a:avLst/>
            <a:gdLst/>
            <a:ahLst/>
            <a:cxnLst/>
            <a:rect l="l" t="t" r="r" b="b"/>
            <a:pathLst>
              <a:path w="21588" h="21575" extrusionOk="0">
                <a:moveTo>
                  <a:pt x="109" y="19963"/>
                </a:moveTo>
                <a:cubicBezTo>
                  <a:pt x="41" y="20039"/>
                  <a:pt x="-6" y="20418"/>
                  <a:pt x="0" y="20836"/>
                </a:cubicBezTo>
                <a:cubicBezTo>
                  <a:pt x="7" y="21266"/>
                  <a:pt x="68" y="21590"/>
                  <a:pt x="139" y="21574"/>
                </a:cubicBezTo>
                <a:lnTo>
                  <a:pt x="21476" y="21515"/>
                </a:lnTo>
                <a:cubicBezTo>
                  <a:pt x="21535" y="21473"/>
                  <a:pt x="21581" y="21191"/>
                  <a:pt x="21587" y="20835"/>
                </a:cubicBezTo>
                <a:cubicBezTo>
                  <a:pt x="21594" y="20443"/>
                  <a:pt x="21552" y="20082"/>
                  <a:pt x="21489" y="19993"/>
                </a:cubicBezTo>
                <a:lnTo>
                  <a:pt x="10898" y="125"/>
                </a:lnTo>
                <a:cubicBezTo>
                  <a:pt x="10866" y="51"/>
                  <a:pt x="10833" y="10"/>
                  <a:pt x="10798" y="2"/>
                </a:cubicBezTo>
                <a:cubicBezTo>
                  <a:pt x="10748" y="-10"/>
                  <a:pt x="10699" y="50"/>
                  <a:pt x="10653" y="176"/>
                </a:cubicBezTo>
                <a:lnTo>
                  <a:pt x="109" y="19963"/>
                </a:lnTo>
                <a:close/>
              </a:path>
            </a:pathLst>
          </a:custGeom>
          <a:solidFill>
            <a:schemeClr val="accent1">
              <a:lumMod val="60000"/>
              <a:lumOff val="40000"/>
            </a:schemeClr>
          </a:solidFill>
          <a:ln>
            <a:noFill/>
          </a:ln>
        </p:spPr>
        <p:txBody>
          <a:bodyPr spcFirstLastPara="1" wrap="square" lIns="22868" tIns="22868" rIns="22868" bIns="22868" anchor="t"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Google Shape;452;p24"/>
          <p:cNvSpPr/>
          <p:nvPr>
            <p:custDataLst>
              <p:tags r:id="rId143"/>
            </p:custDataLst>
          </p:nvPr>
        </p:nvSpPr>
        <p:spPr>
          <a:xfrm>
            <a:off x="1386205" y="2694305"/>
            <a:ext cx="639445" cy="76263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Google Shape;453;p24"/>
          <p:cNvSpPr/>
          <p:nvPr>
            <p:custDataLst>
              <p:tags r:id="rId144"/>
            </p:custDataLst>
          </p:nvPr>
        </p:nvSpPr>
        <p:spPr>
          <a:xfrm>
            <a:off x="138620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Google Shape;458;p24"/>
          <p:cNvSpPr/>
          <p:nvPr>
            <p:custDataLst>
              <p:tags r:id="rId145"/>
            </p:custDataLst>
          </p:nvPr>
        </p:nvSpPr>
        <p:spPr>
          <a:xfrm>
            <a:off x="2038985" y="2694305"/>
            <a:ext cx="639445" cy="76263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8" name="Google Shape;459;p24"/>
          <p:cNvSpPr/>
          <p:nvPr>
            <p:custDataLst>
              <p:tags r:id="rId146"/>
            </p:custDataLst>
          </p:nvPr>
        </p:nvSpPr>
        <p:spPr>
          <a:xfrm>
            <a:off x="203898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7" name="Google Shape;465;p24"/>
          <p:cNvSpPr/>
          <p:nvPr>
            <p:custDataLst>
              <p:tags r:id="rId147"/>
            </p:custDataLst>
          </p:nvPr>
        </p:nvSpPr>
        <p:spPr>
          <a:xfrm>
            <a:off x="269049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天蝎PPT1"/>
          <p:cNvPicPr>
            <a:picLocks noChangeAspect="1"/>
          </p:cNvPicPr>
          <p:nvPr/>
        </p:nvPicPr>
        <p:blipFill rotWithShape="1">
          <a:blip r:embed="rId1" cstate="email"/>
          <a:srcRect/>
          <a:stretch>
            <a:fillRect/>
          </a:stretch>
        </p:blipFill>
        <p:spPr>
          <a:xfrm flipH="1">
            <a:off x="4431665" y="1270"/>
            <a:ext cx="7755825" cy="6858000"/>
          </a:xfrm>
          <a:prstGeom prst="rect">
            <a:avLst/>
          </a:prstGeom>
        </p:spPr>
      </p:pic>
      <p:sp>
        <p:nvSpPr>
          <p:cNvPr id="36" name="矩形 35"/>
          <p:cNvSpPr/>
          <p:nvPr/>
        </p:nvSpPr>
        <p:spPr>
          <a:xfrm>
            <a:off x="0" y="-5080"/>
            <a:ext cx="12268200" cy="6858000"/>
          </a:xfrm>
          <a:prstGeom prst="rect">
            <a:avLst/>
          </a:prstGeom>
          <a:gradFill>
            <a:gsLst>
              <a:gs pos="0">
                <a:srgbClr val="EDEEF2">
                  <a:lumMod val="0"/>
                  <a:lumOff val="100000"/>
                </a:srgbClr>
              </a:gs>
              <a:gs pos="100000">
                <a:srgbClr val="DBDBDD">
                  <a:alpha val="50000"/>
                </a:srgb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 name="矩形 2"/>
          <p:cNvSpPr/>
          <p:nvPr/>
        </p:nvSpPr>
        <p:spPr>
          <a:xfrm>
            <a:off x="0" y="-5080"/>
            <a:ext cx="5048250" cy="6858000"/>
          </a:xfrm>
          <a:prstGeom prst="rect">
            <a:avLst/>
          </a:prstGeom>
          <a:gradFill>
            <a:gsLst>
              <a:gs pos="0">
                <a:schemeClr val="accent1">
                  <a:lumMod val="10000"/>
                  <a:lumOff val="90000"/>
                </a:schemeClr>
              </a:gs>
              <a:gs pos="100000">
                <a:schemeClr val="accent1">
                  <a:lumMod val="10000"/>
                  <a:lumOff val="90000"/>
                </a:schemeClr>
              </a:gs>
            </a:gsLst>
            <a:lin ang="5400000" scaled="0"/>
          </a:gradFill>
          <a:ln>
            <a:no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585470" y="1805940"/>
            <a:ext cx="3877310" cy="583565"/>
          </a:xfrm>
          <a:prstGeom prst="rect">
            <a:avLst/>
          </a:prstGeom>
          <a:noFill/>
        </p:spPr>
        <p:txBody>
          <a:bodyPr wrap="square" rtlCol="0" anchor="ctr" anchorCtr="0">
            <a:spAutoFit/>
          </a:bodyPr>
          <a:lstStyle/>
          <a:p>
            <a:pPr lvl="0" algn="ctr" fontAlgn="ctr">
              <a:buClrTx/>
              <a:buSzTx/>
              <a:buFontTx/>
            </a:pPr>
            <a:r>
              <a:rPr lang="zh-CN" altLang="en-US" sz="32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业务流程架构</a:t>
            </a:r>
            <a:endParaRPr lang="zh-CN" altLang="en-US" sz="32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819150" y="2650490"/>
            <a:ext cx="3409950" cy="337185"/>
          </a:xfrm>
          <a:prstGeom prst="rect">
            <a:avLst/>
          </a:prstGeom>
          <a:noFill/>
        </p:spPr>
        <p:txBody>
          <a:bodyPr wrap="square" rtlCol="0" anchor="ctr" anchorCtr="0">
            <a:spAutoFit/>
          </a:bodyPr>
          <a:lstStyle/>
          <a:p>
            <a:pPr lvl="0" algn="ctr" fontAlgn="ctr">
              <a:buClrTx/>
              <a:buSzTx/>
              <a:buFontTx/>
            </a:pPr>
            <a:r>
              <a:rPr lang="en-US" altLang="zh-CN" sz="1600">
                <a:solidFill>
                  <a:schemeClr val="accent6">
                    <a:alpha val="50000"/>
                  </a:schemeClr>
                </a:solidFill>
                <a:latin typeface="微软雅黑" panose="020B0503020204020204" charset="-122"/>
                <a:ea typeface="微软雅黑" panose="020B0503020204020204" charset="-122"/>
                <a:cs typeface="微软雅黑" panose="020B0503020204020204" charset="-122"/>
                <a:sym typeface="+mn-ea"/>
              </a:rPr>
              <a:t>Business Process Framework</a:t>
            </a:r>
            <a:endParaRPr lang="en-US" altLang="zh-CN" sz="1600">
              <a:solidFill>
                <a:schemeClr val="accent6">
                  <a:alpha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 name="矩形 11"/>
          <p:cNvSpPr/>
          <p:nvPr/>
        </p:nvSpPr>
        <p:spPr>
          <a:xfrm>
            <a:off x="1339215" y="2403475"/>
            <a:ext cx="396240" cy="3619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0" name="文本框 29"/>
          <p:cNvSpPr txBox="1"/>
          <p:nvPr/>
        </p:nvSpPr>
        <p:spPr>
          <a:xfrm>
            <a:off x="2000885" y="833755"/>
            <a:ext cx="1046480" cy="860425"/>
          </a:xfrm>
          <a:prstGeom prst="rect">
            <a:avLst/>
          </a:prstGeom>
          <a:noFill/>
        </p:spPr>
        <p:txBody>
          <a:bodyPr wrap="square" rtlCol="0" anchor="ctr" anchorCtr="0">
            <a:noAutofit/>
          </a:bodyPr>
          <a:lstStyle/>
          <a:p>
            <a:pPr lvl="0" algn="ctr" fontAlgn="ctr">
              <a:buClrTx/>
              <a:buSzTx/>
              <a:buFontTx/>
            </a:pPr>
            <a:r>
              <a:rPr lang="zh-CN" altLang="en-US" sz="5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⑤</a:t>
            </a:r>
            <a:endParaRPr lang="zh-CN" altLang="en-US" sz="5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2" name="文本框 51"/>
          <p:cNvSpPr txBox="1"/>
          <p:nvPr/>
        </p:nvSpPr>
        <p:spPr>
          <a:xfrm>
            <a:off x="5697220" y="2173605"/>
            <a:ext cx="5712460" cy="1706880"/>
          </a:xfrm>
          <a:prstGeom prst="rect">
            <a:avLst/>
          </a:prstGeom>
          <a:noFill/>
        </p:spPr>
        <p:txBody>
          <a:bodyPr wrap="square" rtlCol="0">
            <a:spAutoFit/>
          </a:bodyPr>
          <a:lstStyle/>
          <a:p>
            <a:pPr indent="0" fontAlgn="auto">
              <a:lnSpc>
                <a:spcPct val="150000"/>
              </a:lnSpc>
            </a:pPr>
            <a:r>
              <a:rPr lang="zh-CN" altLang="en-US" sz="1400" b="1">
                <a:solidFill>
                  <a:schemeClr val="tx2"/>
                </a:solidFill>
                <a:latin typeface="微软雅黑" panose="020B0503020204020204" charset="-122"/>
                <a:ea typeface="微软雅黑" panose="020B0503020204020204" charset="-122"/>
                <a:cs typeface="微软雅黑" panose="020B0503020204020204" charset="-122"/>
                <a:sym typeface="+mn-ea"/>
              </a:rPr>
              <a:t>设计元素：</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以具体业务为场景，分步构建流程逻辑，关键节点标注。</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1400" b="1">
                <a:solidFill>
                  <a:schemeClr val="tx2"/>
                </a:solidFill>
                <a:latin typeface="微软雅黑" panose="020B0503020204020204" charset="-122"/>
                <a:ea typeface="微软雅黑" panose="020B0503020204020204" charset="-122"/>
                <a:cs typeface="微软雅黑" panose="020B0503020204020204" charset="-122"/>
                <a:sym typeface="+mn-ea"/>
              </a:rPr>
              <a:t>应用场景：</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主要应用如</a:t>
            </a:r>
            <a:r>
              <a:rPr lang="zh-CN" sz="1400">
                <a:solidFill>
                  <a:schemeClr val="tx2"/>
                </a:solidFill>
                <a:latin typeface="微软雅黑" panose="020B0503020204020204" charset="-122"/>
                <a:ea typeface="微软雅黑" panose="020B0503020204020204" charset="-122"/>
                <a:cs typeface="微软雅黑" panose="020B0503020204020204" charset="-122"/>
                <a:sym typeface="+mn-ea"/>
              </a:rPr>
              <a:t>电商的流程优化、企业数字化改造的流程、企业战略汇报时的目标与执行路径，</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帮助您构建清晰、高效且可落地的业务流程图解。</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rPr>
              <a:t>核心关键词：</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「场景适配、主线流程构建、分层分模块扩展</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74" name="组合 73"/>
          <p:cNvGrpSpPr/>
          <p:nvPr/>
        </p:nvGrpSpPr>
        <p:grpSpPr>
          <a:xfrm>
            <a:off x="669925" y="3829685"/>
            <a:ext cx="4076065" cy="1752600"/>
            <a:chOff x="7818" y="8201"/>
            <a:chExt cx="3942" cy="1695"/>
          </a:xfrm>
        </p:grpSpPr>
        <p:sp>
          <p:nvSpPr>
            <p:cNvPr id="4" name="圆角矩形 8"/>
            <p:cNvSpPr/>
            <p:nvPr>
              <p:custDataLst>
                <p:tags r:id="rId2"/>
              </p:custDataLst>
            </p:nvPr>
          </p:nvSpPr>
          <p:spPr>
            <a:xfrm>
              <a:off x="8110" y="9428"/>
              <a:ext cx="944" cy="214"/>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 name="圆角矩形 8"/>
            <p:cNvSpPr/>
            <p:nvPr>
              <p:custDataLst>
                <p:tags r:id="rId3"/>
              </p:custDataLst>
            </p:nvPr>
          </p:nvSpPr>
          <p:spPr>
            <a:xfrm>
              <a:off x="9362" y="9428"/>
              <a:ext cx="944" cy="214"/>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 name="圆角矩形 8"/>
            <p:cNvSpPr/>
            <p:nvPr>
              <p:custDataLst>
                <p:tags r:id="rId4"/>
              </p:custDataLst>
            </p:nvPr>
          </p:nvSpPr>
          <p:spPr>
            <a:xfrm>
              <a:off x="10613" y="9428"/>
              <a:ext cx="944" cy="214"/>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 name="圆角矩形 59"/>
            <p:cNvSpPr/>
            <p:nvPr>
              <p:custDataLst>
                <p:tags r:id="rId5"/>
              </p:custDataLst>
            </p:nvPr>
          </p:nvSpPr>
          <p:spPr>
            <a:xfrm>
              <a:off x="8025" y="8532"/>
              <a:ext cx="654" cy="78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13" name="Freeform 2384"/>
            <p:cNvSpPr/>
            <p:nvPr>
              <p:custDataLst>
                <p:tags r:id="rId6"/>
              </p:custDataLst>
            </p:nvPr>
          </p:nvSpPr>
          <p:spPr>
            <a:xfrm>
              <a:off x="10994" y="8201"/>
              <a:ext cx="570" cy="183"/>
            </a:xfrm>
            <a:custGeom>
              <a:avLst/>
              <a:gdLst/>
              <a:ahLst/>
              <a:cxnLst/>
              <a:rect l="0" t="0" r="0" b="0"/>
              <a:pathLst>
                <a:path w="1648967" h="527305">
                  <a:moveTo>
                    <a:pt x="0" y="108967"/>
                  </a:moveTo>
                  <a:lnTo>
                    <a:pt x="108965"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27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4" name="Freeform 2385"/>
            <p:cNvSpPr/>
            <p:nvPr>
              <p:custDataLst>
                <p:tags r:id="rId7"/>
              </p:custDataLst>
            </p:nvPr>
          </p:nvSpPr>
          <p:spPr>
            <a:xfrm>
              <a:off x="10994" y="8238"/>
              <a:ext cx="534" cy="147"/>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5" name="Freeform 2389"/>
            <p:cNvSpPr/>
            <p:nvPr>
              <p:custDataLst>
                <p:tags r:id="rId8"/>
              </p:custDataLst>
            </p:nvPr>
          </p:nvSpPr>
          <p:spPr>
            <a:xfrm>
              <a:off x="8034" y="8204"/>
              <a:ext cx="570" cy="183"/>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6" name="Freeform 2390"/>
            <p:cNvSpPr/>
            <p:nvPr>
              <p:custDataLst>
                <p:tags r:id="rId9"/>
              </p:custDataLst>
            </p:nvPr>
          </p:nvSpPr>
          <p:spPr>
            <a:xfrm>
              <a:off x="8033" y="8238"/>
              <a:ext cx="534" cy="147"/>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7" name="Freeform 2409"/>
            <p:cNvSpPr/>
            <p:nvPr>
              <p:custDataLst>
                <p:tags r:id="rId10"/>
              </p:custDataLst>
            </p:nvPr>
          </p:nvSpPr>
          <p:spPr>
            <a:xfrm>
              <a:off x="7994" y="9714"/>
              <a:ext cx="3626" cy="183"/>
            </a:xfrm>
            <a:custGeom>
              <a:avLst/>
              <a:gdLst/>
              <a:ahLst/>
              <a:cxnLst/>
              <a:rect l="0" t="0" r="0" b="0"/>
              <a:pathLst>
                <a:path w="10489693" h="527303">
                  <a:moveTo>
                    <a:pt x="0" y="108953"/>
                  </a:moveTo>
                  <a:lnTo>
                    <a:pt x="108954" y="0"/>
                  </a:lnTo>
                  <a:lnTo>
                    <a:pt x="10489693" y="0"/>
                  </a:lnTo>
                  <a:lnTo>
                    <a:pt x="10489693" y="418338"/>
                  </a:lnTo>
                  <a:lnTo>
                    <a:pt x="10380727" y="527303"/>
                  </a:lnTo>
                  <a:lnTo>
                    <a:pt x="0" y="527303"/>
                  </a:lnTo>
                  <a:close/>
                  <a:moveTo>
                    <a:pt x="0" y="108953"/>
                  </a:moveTo>
                  <a:lnTo>
                    <a:pt x="10380727" y="108953"/>
                  </a:lnTo>
                  <a:lnTo>
                    <a:pt x="10489693" y="0"/>
                  </a:lnTo>
                  <a:moveTo>
                    <a:pt x="10380727" y="108953"/>
                  </a:moveTo>
                  <a:lnTo>
                    <a:pt x="10380727" y="527303"/>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9" name="Freeform 2410"/>
            <p:cNvSpPr/>
            <p:nvPr>
              <p:custDataLst>
                <p:tags r:id="rId11"/>
              </p:custDataLst>
            </p:nvPr>
          </p:nvSpPr>
          <p:spPr>
            <a:xfrm>
              <a:off x="7993" y="9750"/>
              <a:ext cx="3593" cy="147"/>
            </a:xfrm>
            <a:custGeom>
              <a:avLst/>
              <a:gdLst/>
              <a:ahLst/>
              <a:cxnLst/>
              <a:rect l="0" t="0" r="0" b="0"/>
              <a:pathLst>
                <a:path w="10395204" h="425196">
                  <a:moveTo>
                    <a:pt x="0" y="425196"/>
                  </a:moveTo>
                  <a:lnTo>
                    <a:pt x="10395204" y="425196"/>
                  </a:lnTo>
                  <a:lnTo>
                    <a:pt x="10395204"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1" name="Freeform 2447"/>
            <p:cNvSpPr/>
            <p:nvPr>
              <p:custDataLst>
                <p:tags r:id="rId12"/>
              </p:custDataLst>
            </p:nvPr>
          </p:nvSpPr>
          <p:spPr>
            <a:xfrm>
              <a:off x="10242" y="8201"/>
              <a:ext cx="570" cy="183"/>
            </a:xfrm>
            <a:custGeom>
              <a:avLst/>
              <a:gdLst/>
              <a:ahLst/>
              <a:cxnLst/>
              <a:rect l="0" t="0" r="0" b="0"/>
              <a:pathLst>
                <a:path w="1648969" h="527305">
                  <a:moveTo>
                    <a:pt x="0" y="108967"/>
                  </a:moveTo>
                  <a:lnTo>
                    <a:pt x="108966" y="0"/>
                  </a:lnTo>
                  <a:lnTo>
                    <a:pt x="1648969" y="0"/>
                  </a:lnTo>
                  <a:lnTo>
                    <a:pt x="1648969" y="418338"/>
                  </a:lnTo>
                  <a:lnTo>
                    <a:pt x="1540002" y="527305"/>
                  </a:lnTo>
                  <a:lnTo>
                    <a:pt x="0" y="527305"/>
                  </a:lnTo>
                  <a:close/>
                  <a:moveTo>
                    <a:pt x="0" y="108967"/>
                  </a:moveTo>
                  <a:lnTo>
                    <a:pt x="1540002" y="108967"/>
                  </a:lnTo>
                  <a:lnTo>
                    <a:pt x="1648969"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31" name="Freeform 2448"/>
            <p:cNvSpPr/>
            <p:nvPr>
              <p:custDataLst>
                <p:tags r:id="rId13"/>
              </p:custDataLst>
            </p:nvPr>
          </p:nvSpPr>
          <p:spPr>
            <a:xfrm>
              <a:off x="10242" y="8238"/>
              <a:ext cx="534" cy="147"/>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3" name="Freeform 2482"/>
            <p:cNvSpPr/>
            <p:nvPr>
              <p:custDataLst>
                <p:tags r:id="rId14"/>
              </p:custDataLst>
            </p:nvPr>
          </p:nvSpPr>
          <p:spPr>
            <a:xfrm>
              <a:off x="9534" y="8201"/>
              <a:ext cx="570" cy="183"/>
            </a:xfrm>
            <a:custGeom>
              <a:avLst/>
              <a:gdLst/>
              <a:ahLst/>
              <a:cxnLst/>
              <a:rect l="0" t="0" r="0" b="0"/>
              <a:pathLst>
                <a:path w="1648968" h="527305">
                  <a:moveTo>
                    <a:pt x="0" y="108967"/>
                  </a:moveTo>
                  <a:lnTo>
                    <a:pt x="108967" y="0"/>
                  </a:lnTo>
                  <a:lnTo>
                    <a:pt x="1648968" y="0"/>
                  </a:lnTo>
                  <a:lnTo>
                    <a:pt x="1648968" y="418338"/>
                  </a:lnTo>
                  <a:lnTo>
                    <a:pt x="1540003" y="527305"/>
                  </a:lnTo>
                  <a:lnTo>
                    <a:pt x="0" y="527305"/>
                  </a:lnTo>
                  <a:close/>
                  <a:moveTo>
                    <a:pt x="0" y="108967"/>
                  </a:moveTo>
                  <a:lnTo>
                    <a:pt x="1540003" y="108967"/>
                  </a:lnTo>
                  <a:lnTo>
                    <a:pt x="1648968" y="0"/>
                  </a:lnTo>
                  <a:moveTo>
                    <a:pt x="1540003" y="108967"/>
                  </a:moveTo>
                  <a:lnTo>
                    <a:pt x="1540003"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47" name="Freeform 2483"/>
            <p:cNvSpPr/>
            <p:nvPr>
              <p:custDataLst>
                <p:tags r:id="rId15"/>
              </p:custDataLst>
            </p:nvPr>
          </p:nvSpPr>
          <p:spPr>
            <a:xfrm>
              <a:off x="9533" y="8238"/>
              <a:ext cx="534" cy="147"/>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cxnSp>
          <p:nvCxnSpPr>
            <p:cNvPr id="53" name="直接连接符 52"/>
            <p:cNvCxnSpPr/>
            <p:nvPr>
              <p:custDataLst>
                <p:tags r:id="rId16"/>
              </p:custDataLst>
            </p:nvPr>
          </p:nvCxnSpPr>
          <p:spPr>
            <a:xfrm rot="10800000">
              <a:off x="7883" y="9824"/>
              <a:ext cx="106"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54" name="Freeform 2470"/>
            <p:cNvSpPr/>
            <p:nvPr>
              <p:custDataLst>
                <p:tags r:id="rId17"/>
              </p:custDataLst>
            </p:nvPr>
          </p:nvSpPr>
          <p:spPr>
            <a:xfrm>
              <a:off x="8791" y="8201"/>
              <a:ext cx="570" cy="183"/>
            </a:xfrm>
            <a:custGeom>
              <a:avLst/>
              <a:gdLst/>
              <a:ahLst/>
              <a:cxnLst/>
              <a:rect l="0" t="0" r="0" b="0"/>
              <a:pathLst>
                <a:path w="1648968" h="527305">
                  <a:moveTo>
                    <a:pt x="0" y="108967"/>
                  </a:moveTo>
                  <a:lnTo>
                    <a:pt x="108965" y="0"/>
                  </a:lnTo>
                  <a:lnTo>
                    <a:pt x="1648968" y="0"/>
                  </a:lnTo>
                  <a:lnTo>
                    <a:pt x="1648968" y="418338"/>
                  </a:lnTo>
                  <a:lnTo>
                    <a:pt x="1540002" y="527305"/>
                  </a:lnTo>
                  <a:lnTo>
                    <a:pt x="0" y="527305"/>
                  </a:lnTo>
                  <a:close/>
                  <a:moveTo>
                    <a:pt x="0" y="108967"/>
                  </a:moveTo>
                  <a:lnTo>
                    <a:pt x="1540002" y="108967"/>
                  </a:lnTo>
                  <a:lnTo>
                    <a:pt x="1648968"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55" name="Freeform 2471"/>
            <p:cNvSpPr/>
            <p:nvPr>
              <p:custDataLst>
                <p:tags r:id="rId18"/>
              </p:custDataLst>
            </p:nvPr>
          </p:nvSpPr>
          <p:spPr>
            <a:xfrm>
              <a:off x="8790" y="8238"/>
              <a:ext cx="534" cy="147"/>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6" name="圆角矩形 59"/>
            <p:cNvSpPr/>
            <p:nvPr>
              <p:custDataLst>
                <p:tags r:id="rId19"/>
              </p:custDataLst>
            </p:nvPr>
          </p:nvSpPr>
          <p:spPr>
            <a:xfrm>
              <a:off x="9474" y="8532"/>
              <a:ext cx="654" cy="78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57" name="圆角矩形 59"/>
            <p:cNvSpPr/>
            <p:nvPr>
              <p:custDataLst>
                <p:tags r:id="rId20"/>
              </p:custDataLst>
            </p:nvPr>
          </p:nvSpPr>
          <p:spPr>
            <a:xfrm>
              <a:off x="10198" y="8532"/>
              <a:ext cx="654" cy="78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58" name="圆角矩形 59"/>
            <p:cNvSpPr/>
            <p:nvPr>
              <p:custDataLst>
                <p:tags r:id="rId21"/>
              </p:custDataLst>
            </p:nvPr>
          </p:nvSpPr>
          <p:spPr>
            <a:xfrm>
              <a:off x="8750" y="8532"/>
              <a:ext cx="654" cy="78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59" name="圆角矩形 59"/>
            <p:cNvSpPr/>
            <p:nvPr>
              <p:custDataLst>
                <p:tags r:id="rId22"/>
              </p:custDataLst>
            </p:nvPr>
          </p:nvSpPr>
          <p:spPr>
            <a:xfrm>
              <a:off x="10922" y="8532"/>
              <a:ext cx="654" cy="78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60" name="等腰三角形 59"/>
            <p:cNvSpPr/>
            <p:nvPr>
              <p:custDataLst>
                <p:tags r:id="rId23"/>
              </p:custDataLst>
            </p:nvPr>
          </p:nvSpPr>
          <p:spPr>
            <a:xfrm rot="5400000">
              <a:off x="10852" y="8228"/>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61" name="等腰三角形 60"/>
            <p:cNvSpPr/>
            <p:nvPr>
              <p:custDataLst>
                <p:tags r:id="rId24"/>
              </p:custDataLst>
            </p:nvPr>
          </p:nvSpPr>
          <p:spPr>
            <a:xfrm rot="5400000">
              <a:off x="8648" y="8228"/>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62" name="等腰三角形 61"/>
            <p:cNvSpPr/>
            <p:nvPr>
              <p:custDataLst>
                <p:tags r:id="rId25"/>
              </p:custDataLst>
            </p:nvPr>
          </p:nvSpPr>
          <p:spPr>
            <a:xfrm rot="5400000">
              <a:off x="9396" y="8228"/>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63" name="等腰三角形 62"/>
            <p:cNvSpPr/>
            <p:nvPr>
              <p:custDataLst>
                <p:tags r:id="rId26"/>
              </p:custDataLst>
            </p:nvPr>
          </p:nvSpPr>
          <p:spPr>
            <a:xfrm rot="5400000">
              <a:off x="10128" y="8228"/>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64" name="等腰三角形 63"/>
            <p:cNvSpPr/>
            <p:nvPr>
              <p:custDataLst>
                <p:tags r:id="rId27"/>
              </p:custDataLst>
            </p:nvPr>
          </p:nvSpPr>
          <p:spPr>
            <a:xfrm rot="16200000" flipH="1">
              <a:off x="10404" y="9473"/>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65" name="等腰三角形 64"/>
            <p:cNvSpPr/>
            <p:nvPr>
              <p:custDataLst>
                <p:tags r:id="rId28"/>
              </p:custDataLst>
            </p:nvPr>
          </p:nvSpPr>
          <p:spPr>
            <a:xfrm rot="16200000" flipH="1">
              <a:off x="9157" y="9473"/>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cxnSp>
          <p:nvCxnSpPr>
            <p:cNvPr id="66" name="直接连接符 65"/>
            <p:cNvCxnSpPr/>
            <p:nvPr>
              <p:custDataLst>
                <p:tags r:id="rId29"/>
              </p:custDataLst>
            </p:nvPr>
          </p:nvCxnSpPr>
          <p:spPr>
            <a:xfrm flipH="1">
              <a:off x="7870" y="8300"/>
              <a:ext cx="15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67" name="直接连接符 66"/>
            <p:cNvCxnSpPr/>
            <p:nvPr>
              <p:custDataLst>
                <p:tags r:id="rId30"/>
              </p:custDataLst>
            </p:nvPr>
          </p:nvCxnSpPr>
          <p:spPr>
            <a:xfrm flipV="1">
              <a:off x="7882" y="8299"/>
              <a:ext cx="0" cy="1539"/>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68" name="等腰三角形 67"/>
            <p:cNvSpPr/>
            <p:nvPr>
              <p:custDataLst>
                <p:tags r:id="rId31"/>
              </p:custDataLst>
            </p:nvPr>
          </p:nvSpPr>
          <p:spPr>
            <a:xfrm flipH="1">
              <a:off x="7818" y="8931"/>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nvGrpSpPr>
            <p:cNvPr id="69" name="组合 68"/>
            <p:cNvGrpSpPr/>
            <p:nvPr>
              <p:custDataLst>
                <p:tags r:id="rId32"/>
              </p:custDataLst>
            </p:nvPr>
          </p:nvGrpSpPr>
          <p:grpSpPr>
            <a:xfrm flipH="1">
              <a:off x="11554" y="8268"/>
              <a:ext cx="206" cy="1538"/>
              <a:chOff x="8018" y="8499"/>
              <a:chExt cx="206" cy="1538"/>
            </a:xfrm>
          </p:grpSpPr>
          <p:cxnSp>
            <p:nvCxnSpPr>
              <p:cNvPr id="70" name="直接连接符 69"/>
              <p:cNvCxnSpPr/>
              <p:nvPr>
                <p:custDataLst>
                  <p:tags r:id="rId33"/>
                </p:custDataLst>
              </p:nvPr>
            </p:nvCxnSpPr>
            <p:spPr>
              <a:xfrm rot="10800000">
                <a:off x="8083" y="10024"/>
                <a:ext cx="106"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71" name="直接连接符 70"/>
              <p:cNvCxnSpPr/>
              <p:nvPr>
                <p:custDataLst>
                  <p:tags r:id="rId34"/>
                </p:custDataLst>
              </p:nvPr>
            </p:nvCxnSpPr>
            <p:spPr>
              <a:xfrm flipH="1">
                <a:off x="8070" y="8500"/>
                <a:ext cx="15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72" name="直接连接符 71"/>
              <p:cNvCxnSpPr/>
              <p:nvPr>
                <p:custDataLst>
                  <p:tags r:id="rId35"/>
                </p:custDataLst>
              </p:nvPr>
            </p:nvCxnSpPr>
            <p:spPr>
              <a:xfrm flipV="1">
                <a:off x="8082" y="8499"/>
                <a:ext cx="0" cy="1539"/>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73" name="等腰三角形 72"/>
              <p:cNvSpPr/>
              <p:nvPr>
                <p:custDataLst>
                  <p:tags r:id="rId36"/>
                </p:custDataLst>
              </p:nvPr>
            </p:nvSpPr>
            <p:spPr>
              <a:xfrm flipH="1" flipV="1">
                <a:off x="8018" y="9131"/>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530590" y="5163185"/>
            <a:ext cx="3183890" cy="1405255"/>
          </a:xfrm>
          <a:prstGeom prst="rect">
            <a:avLst/>
          </a:prstGeom>
          <a:solidFill>
            <a:schemeClr val="accent5">
              <a:lumMod val="20000"/>
              <a:lumOff val="80000"/>
              <a:alpha val="44000"/>
            </a:schemeClr>
          </a:solidFill>
          <a:ln>
            <a:solidFill>
              <a:schemeClr val="accent5">
                <a:alpha val="33534"/>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 name="矩形 7"/>
          <p:cNvSpPr/>
          <p:nvPr/>
        </p:nvSpPr>
        <p:spPr>
          <a:xfrm>
            <a:off x="337820" y="5163820"/>
            <a:ext cx="8121015" cy="1064895"/>
          </a:xfrm>
          <a:prstGeom prst="rect">
            <a:avLst/>
          </a:prstGeom>
          <a:solidFill>
            <a:schemeClr val="accent1">
              <a:lumMod val="20000"/>
              <a:lumOff val="80000"/>
              <a:alpha val="43913"/>
            </a:schemeClr>
          </a:solidFill>
          <a:ln>
            <a:solidFill>
              <a:schemeClr val="accent1">
                <a:alpha val="33534"/>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矩形 6"/>
          <p:cNvSpPr/>
          <p:nvPr/>
        </p:nvSpPr>
        <p:spPr>
          <a:xfrm>
            <a:off x="8525510" y="1756410"/>
            <a:ext cx="3190240" cy="3314700"/>
          </a:xfrm>
          <a:prstGeom prst="rect">
            <a:avLst/>
          </a:prstGeom>
          <a:solidFill>
            <a:schemeClr val="accent5">
              <a:lumMod val="20000"/>
              <a:lumOff val="80000"/>
              <a:alpha val="44000"/>
            </a:schemeClr>
          </a:solidFill>
          <a:ln>
            <a:solidFill>
              <a:schemeClr val="accent5">
                <a:alpha val="33534"/>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 name="矩形 11"/>
          <p:cNvSpPr/>
          <p:nvPr/>
        </p:nvSpPr>
        <p:spPr>
          <a:xfrm>
            <a:off x="5779770" y="1755775"/>
            <a:ext cx="2678430" cy="3314700"/>
          </a:xfrm>
          <a:prstGeom prst="rect">
            <a:avLst/>
          </a:prstGeom>
          <a:solidFill>
            <a:schemeClr val="accent1">
              <a:lumMod val="20000"/>
              <a:lumOff val="80000"/>
              <a:alpha val="43913"/>
            </a:schemeClr>
          </a:solidFill>
          <a:ln>
            <a:solidFill>
              <a:schemeClr val="accent1">
                <a:alpha val="33534"/>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 name="矩形 3"/>
          <p:cNvSpPr/>
          <p:nvPr/>
        </p:nvSpPr>
        <p:spPr>
          <a:xfrm>
            <a:off x="2904490" y="1755775"/>
            <a:ext cx="2781935" cy="3314700"/>
          </a:xfrm>
          <a:prstGeom prst="rect">
            <a:avLst/>
          </a:prstGeom>
          <a:solidFill>
            <a:schemeClr val="accent2">
              <a:lumMod val="20000"/>
              <a:lumOff val="80000"/>
              <a:alpha val="44000"/>
            </a:schemeClr>
          </a:solidFill>
          <a:ln>
            <a:solidFill>
              <a:schemeClr val="accent2">
                <a:alpha val="33534"/>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340360" y="1755775"/>
            <a:ext cx="2462530" cy="3315335"/>
          </a:xfrm>
          <a:prstGeom prst="rect">
            <a:avLst/>
          </a:prstGeom>
          <a:solidFill>
            <a:schemeClr val="accent1">
              <a:lumMod val="20000"/>
              <a:lumOff val="80000"/>
              <a:alpha val="43913"/>
            </a:schemeClr>
          </a:solidFill>
          <a:ln>
            <a:solidFill>
              <a:schemeClr val="accent1">
                <a:alpha val="33534"/>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1" name="任意多边形 60"/>
          <p:cNvSpPr/>
          <p:nvPr/>
        </p:nvSpPr>
        <p:spPr>
          <a:xfrm>
            <a:off x="355600" y="3585210"/>
            <a:ext cx="8780145" cy="429260"/>
          </a:xfrm>
          <a:custGeom>
            <a:avLst/>
            <a:gdLst/>
            <a:ahLst/>
            <a:cxnLst>
              <a:cxn ang="3">
                <a:pos x="hc" y="t"/>
              </a:cxn>
              <a:cxn ang="cd2">
                <a:pos x="l" y="vc"/>
              </a:cxn>
              <a:cxn ang="cd4">
                <a:pos x="hc" y="b"/>
              </a:cxn>
              <a:cxn ang="0">
                <a:pos x="r" y="vc"/>
              </a:cxn>
            </a:cxnLst>
            <a:rect l="l" t="t" r="r" b="b"/>
            <a:pathLst>
              <a:path w="13827" h="676">
                <a:moveTo>
                  <a:pt x="0" y="114"/>
                </a:moveTo>
                <a:lnTo>
                  <a:pt x="13455" y="114"/>
                </a:lnTo>
                <a:lnTo>
                  <a:pt x="13455" y="0"/>
                </a:lnTo>
                <a:lnTo>
                  <a:pt x="13827" y="338"/>
                </a:lnTo>
                <a:lnTo>
                  <a:pt x="13455" y="676"/>
                </a:lnTo>
                <a:lnTo>
                  <a:pt x="13455" y="562"/>
                </a:lnTo>
                <a:lnTo>
                  <a:pt x="0" y="562"/>
                </a:lnTo>
                <a:lnTo>
                  <a:pt x="0" y="114"/>
                </a:lnTo>
                <a:close/>
              </a:path>
            </a:pathLst>
          </a:custGeom>
          <a:gradFill>
            <a:gsLst>
              <a:gs pos="0">
                <a:schemeClr val="accent5">
                  <a:lumMod val="60000"/>
                  <a:lumOff val="40000"/>
                </a:schemeClr>
              </a:gs>
              <a:gs pos="100000">
                <a:schemeClr val="accent5"/>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业务流程架构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企业数字化转型实施流程</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76" name="任意多边形 75"/>
          <p:cNvSpPr/>
          <p:nvPr/>
        </p:nvSpPr>
        <p:spPr>
          <a:xfrm>
            <a:off x="355600" y="3021330"/>
            <a:ext cx="2917825" cy="645160"/>
          </a:xfrm>
          <a:custGeom>
            <a:avLst/>
            <a:gdLst/>
            <a:ahLst/>
            <a:cxnLst>
              <a:cxn ang="3">
                <a:pos x="hc" y="t"/>
              </a:cxn>
              <a:cxn ang="cd2">
                <a:pos x="l" y="vc"/>
              </a:cxn>
              <a:cxn ang="cd4">
                <a:pos x="hc" y="b"/>
              </a:cxn>
              <a:cxn ang="0">
                <a:pos x="r" y="vc"/>
              </a:cxn>
            </a:cxnLst>
            <a:rect l="l" t="t" r="r" b="b"/>
            <a:pathLst>
              <a:path w="4595" h="1016">
                <a:moveTo>
                  <a:pt x="0" y="0"/>
                </a:moveTo>
                <a:lnTo>
                  <a:pt x="3658" y="0"/>
                </a:lnTo>
                <a:lnTo>
                  <a:pt x="3658" y="1"/>
                </a:lnTo>
                <a:lnTo>
                  <a:pt x="3688" y="1"/>
                </a:lnTo>
                <a:lnTo>
                  <a:pt x="3703" y="0"/>
                </a:lnTo>
                <a:lnTo>
                  <a:pt x="3741" y="0"/>
                </a:lnTo>
                <a:cubicBezTo>
                  <a:pt x="3758" y="0"/>
                  <a:pt x="3786" y="4"/>
                  <a:pt x="3796" y="5"/>
                </a:cubicBezTo>
                <a:cubicBezTo>
                  <a:pt x="3800" y="6"/>
                  <a:pt x="3802" y="6"/>
                  <a:pt x="3802" y="6"/>
                </a:cubicBezTo>
                <a:cubicBezTo>
                  <a:pt x="4179" y="31"/>
                  <a:pt x="4598" y="519"/>
                  <a:pt x="4595" y="554"/>
                </a:cubicBezTo>
                <a:lnTo>
                  <a:pt x="4595" y="556"/>
                </a:lnTo>
                <a:lnTo>
                  <a:pt x="4595" y="559"/>
                </a:lnTo>
                <a:lnTo>
                  <a:pt x="4266" y="1016"/>
                </a:lnTo>
                <a:lnTo>
                  <a:pt x="3988" y="1016"/>
                </a:lnTo>
                <a:cubicBezTo>
                  <a:pt x="3953" y="892"/>
                  <a:pt x="3707" y="798"/>
                  <a:pt x="3671" y="800"/>
                </a:cubicBezTo>
                <a:lnTo>
                  <a:pt x="3669" y="800"/>
                </a:lnTo>
                <a:lnTo>
                  <a:pt x="3612" y="800"/>
                </a:lnTo>
                <a:lnTo>
                  <a:pt x="3612" y="792"/>
                </a:lnTo>
                <a:lnTo>
                  <a:pt x="0" y="792"/>
                </a:lnTo>
                <a:lnTo>
                  <a:pt x="0" y="0"/>
                </a:lnTo>
                <a:close/>
              </a:path>
            </a:pathLst>
          </a:custGeom>
          <a:gradFill>
            <a:gsLst>
              <a:gs pos="0">
                <a:schemeClr val="accent1">
                  <a:lumMod val="60000"/>
                  <a:lumOff val="40000"/>
                </a:schemeClr>
              </a:gs>
              <a:gs pos="75000">
                <a:schemeClr val="accent1"/>
              </a:gs>
            </a:gsLst>
            <a:lin ang="5400000" scaled="0"/>
          </a:gradFill>
          <a:ln w="19050" cap="rnd">
            <a:solidFill>
              <a:schemeClr val="bg1"/>
            </a:solidFill>
            <a:prstDash val="solid"/>
            <a:round/>
          </a:ln>
          <a:effectLst>
            <a:softEdge rad="19050"/>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77" name="任意多边形 76"/>
          <p:cNvSpPr/>
          <p:nvPr/>
        </p:nvSpPr>
        <p:spPr>
          <a:xfrm>
            <a:off x="5756910" y="3015615"/>
            <a:ext cx="2517775" cy="15748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965" h="2480">
                <a:moveTo>
                  <a:pt x="2335" y="215"/>
                </a:moveTo>
                <a:cubicBezTo>
                  <a:pt x="2388" y="174"/>
                  <a:pt x="2489" y="122"/>
                  <a:pt x="2538" y="101"/>
                </a:cubicBezTo>
                <a:cubicBezTo>
                  <a:pt x="2641" y="44"/>
                  <a:pt x="2794" y="-3"/>
                  <a:pt x="2839" y="3"/>
                </a:cubicBezTo>
                <a:lnTo>
                  <a:pt x="2849" y="3"/>
                </a:lnTo>
                <a:lnTo>
                  <a:pt x="2858" y="4"/>
                </a:lnTo>
                <a:lnTo>
                  <a:pt x="2862" y="4"/>
                </a:lnTo>
                <a:cubicBezTo>
                  <a:pt x="2873" y="2"/>
                  <a:pt x="2906" y="0"/>
                  <a:pt x="2908" y="1"/>
                </a:cubicBezTo>
                <a:lnTo>
                  <a:pt x="2914" y="1"/>
                </a:lnTo>
                <a:lnTo>
                  <a:pt x="2921" y="1"/>
                </a:lnTo>
                <a:lnTo>
                  <a:pt x="2928" y="1"/>
                </a:lnTo>
                <a:lnTo>
                  <a:pt x="2941" y="1"/>
                </a:lnTo>
                <a:lnTo>
                  <a:pt x="2959" y="1"/>
                </a:lnTo>
                <a:lnTo>
                  <a:pt x="2977" y="2"/>
                </a:lnTo>
                <a:lnTo>
                  <a:pt x="2995" y="3"/>
                </a:lnTo>
                <a:lnTo>
                  <a:pt x="3016" y="2"/>
                </a:lnTo>
                <a:lnTo>
                  <a:pt x="3037" y="1"/>
                </a:lnTo>
                <a:lnTo>
                  <a:pt x="3058" y="1"/>
                </a:lnTo>
                <a:lnTo>
                  <a:pt x="3073" y="0"/>
                </a:lnTo>
                <a:lnTo>
                  <a:pt x="3089" y="0"/>
                </a:lnTo>
                <a:lnTo>
                  <a:pt x="3094" y="0"/>
                </a:lnTo>
                <a:lnTo>
                  <a:pt x="3099" y="0"/>
                </a:lnTo>
                <a:lnTo>
                  <a:pt x="3105" y="0"/>
                </a:lnTo>
                <a:cubicBezTo>
                  <a:pt x="3125" y="-1"/>
                  <a:pt x="3164" y="4"/>
                  <a:pt x="3172" y="6"/>
                </a:cubicBezTo>
                <a:cubicBezTo>
                  <a:pt x="3533" y="39"/>
                  <a:pt x="3925" y="455"/>
                  <a:pt x="3965" y="559"/>
                </a:cubicBezTo>
                <a:lnTo>
                  <a:pt x="3636" y="1016"/>
                </a:lnTo>
                <a:lnTo>
                  <a:pt x="3358" y="1016"/>
                </a:lnTo>
                <a:cubicBezTo>
                  <a:pt x="3315" y="892"/>
                  <a:pt x="3094" y="798"/>
                  <a:pt x="3028" y="800"/>
                </a:cubicBezTo>
                <a:lnTo>
                  <a:pt x="3025" y="800"/>
                </a:lnTo>
                <a:lnTo>
                  <a:pt x="3005" y="800"/>
                </a:lnTo>
                <a:lnTo>
                  <a:pt x="2999" y="800"/>
                </a:lnTo>
                <a:lnTo>
                  <a:pt x="2993" y="800"/>
                </a:lnTo>
                <a:cubicBezTo>
                  <a:pt x="2979" y="800"/>
                  <a:pt x="2958" y="800"/>
                  <a:pt x="2956" y="800"/>
                </a:cubicBezTo>
                <a:cubicBezTo>
                  <a:pt x="2804" y="799"/>
                  <a:pt x="2637" y="972"/>
                  <a:pt x="2627" y="1016"/>
                </a:cubicBezTo>
                <a:lnTo>
                  <a:pt x="2621" y="1016"/>
                </a:lnTo>
                <a:lnTo>
                  <a:pt x="2034" y="1833"/>
                </a:lnTo>
                <a:cubicBezTo>
                  <a:pt x="1835" y="2204"/>
                  <a:pt x="1302" y="2485"/>
                  <a:pt x="1126" y="2480"/>
                </a:cubicBezTo>
                <a:lnTo>
                  <a:pt x="1117" y="2480"/>
                </a:lnTo>
                <a:lnTo>
                  <a:pt x="1107" y="2480"/>
                </a:lnTo>
                <a:lnTo>
                  <a:pt x="1092" y="2479"/>
                </a:lnTo>
                <a:lnTo>
                  <a:pt x="1034" y="2479"/>
                </a:lnTo>
                <a:lnTo>
                  <a:pt x="1009" y="2478"/>
                </a:lnTo>
                <a:lnTo>
                  <a:pt x="949" y="2478"/>
                </a:lnTo>
                <a:lnTo>
                  <a:pt x="919" y="2479"/>
                </a:lnTo>
                <a:lnTo>
                  <a:pt x="900" y="2480"/>
                </a:lnTo>
                <a:lnTo>
                  <a:pt x="864" y="2480"/>
                </a:lnTo>
                <a:lnTo>
                  <a:pt x="846" y="2480"/>
                </a:lnTo>
                <a:cubicBezTo>
                  <a:pt x="470" y="2484"/>
                  <a:pt x="43" y="2035"/>
                  <a:pt x="0" y="1925"/>
                </a:cubicBezTo>
                <a:lnTo>
                  <a:pt x="329" y="1468"/>
                </a:lnTo>
                <a:lnTo>
                  <a:pt x="607" y="1468"/>
                </a:lnTo>
                <a:cubicBezTo>
                  <a:pt x="650" y="1592"/>
                  <a:pt x="871" y="1686"/>
                  <a:pt x="937" y="1684"/>
                </a:cubicBezTo>
                <a:lnTo>
                  <a:pt x="944" y="1684"/>
                </a:lnTo>
                <a:lnTo>
                  <a:pt x="1002" y="1684"/>
                </a:lnTo>
                <a:lnTo>
                  <a:pt x="1009" y="1684"/>
                </a:lnTo>
                <a:cubicBezTo>
                  <a:pt x="1161" y="1685"/>
                  <a:pt x="1328" y="1512"/>
                  <a:pt x="1338" y="1468"/>
                </a:cubicBezTo>
                <a:lnTo>
                  <a:pt x="1344" y="1468"/>
                </a:lnTo>
                <a:lnTo>
                  <a:pt x="1935" y="645"/>
                </a:lnTo>
                <a:cubicBezTo>
                  <a:pt x="2016" y="482"/>
                  <a:pt x="2233" y="293"/>
                  <a:pt x="2350" y="215"/>
                </a:cubicBezTo>
                <a:lnTo>
                  <a:pt x="2335" y="215"/>
                </a:lnTo>
                <a:close/>
              </a:path>
            </a:pathLst>
          </a:custGeom>
          <a:gradFill>
            <a:gsLst>
              <a:gs pos="0">
                <a:schemeClr val="accent1">
                  <a:lumMod val="60000"/>
                  <a:lumOff val="40000"/>
                </a:schemeClr>
              </a:gs>
              <a:gs pos="77000">
                <a:schemeClr val="accent1"/>
              </a:gs>
            </a:gsLst>
            <a:lin ang="5400000" scaled="0"/>
          </a:gradFill>
          <a:ln w="19050" cap="rnd">
            <a:solidFill>
              <a:schemeClr val="bg1"/>
            </a:solidFill>
            <a:prstDash val="solid"/>
            <a:round/>
          </a:ln>
          <a:effectLst>
            <a:softEdge rad="1905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8" name="任意多边形 77"/>
          <p:cNvSpPr/>
          <p:nvPr/>
        </p:nvSpPr>
        <p:spPr>
          <a:xfrm>
            <a:off x="7005320" y="3015615"/>
            <a:ext cx="2517775" cy="15748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965" h="2480">
                <a:moveTo>
                  <a:pt x="2335" y="215"/>
                </a:moveTo>
                <a:cubicBezTo>
                  <a:pt x="2388" y="174"/>
                  <a:pt x="2489" y="122"/>
                  <a:pt x="2538" y="101"/>
                </a:cubicBezTo>
                <a:cubicBezTo>
                  <a:pt x="2641" y="44"/>
                  <a:pt x="2794" y="-3"/>
                  <a:pt x="2839" y="3"/>
                </a:cubicBezTo>
                <a:lnTo>
                  <a:pt x="2849" y="3"/>
                </a:lnTo>
                <a:lnTo>
                  <a:pt x="2858" y="4"/>
                </a:lnTo>
                <a:lnTo>
                  <a:pt x="2862" y="4"/>
                </a:lnTo>
                <a:cubicBezTo>
                  <a:pt x="2873" y="2"/>
                  <a:pt x="2906" y="0"/>
                  <a:pt x="2908" y="1"/>
                </a:cubicBezTo>
                <a:lnTo>
                  <a:pt x="2914" y="1"/>
                </a:lnTo>
                <a:lnTo>
                  <a:pt x="2921" y="1"/>
                </a:lnTo>
                <a:lnTo>
                  <a:pt x="2928" y="1"/>
                </a:lnTo>
                <a:lnTo>
                  <a:pt x="2941" y="1"/>
                </a:lnTo>
                <a:lnTo>
                  <a:pt x="2959" y="1"/>
                </a:lnTo>
                <a:lnTo>
                  <a:pt x="2977" y="2"/>
                </a:lnTo>
                <a:lnTo>
                  <a:pt x="2995" y="3"/>
                </a:lnTo>
                <a:lnTo>
                  <a:pt x="3016" y="2"/>
                </a:lnTo>
                <a:lnTo>
                  <a:pt x="3037" y="1"/>
                </a:lnTo>
                <a:lnTo>
                  <a:pt x="3058" y="1"/>
                </a:lnTo>
                <a:lnTo>
                  <a:pt x="3073" y="0"/>
                </a:lnTo>
                <a:lnTo>
                  <a:pt x="3089" y="0"/>
                </a:lnTo>
                <a:lnTo>
                  <a:pt x="3094" y="0"/>
                </a:lnTo>
                <a:lnTo>
                  <a:pt x="3099" y="0"/>
                </a:lnTo>
                <a:lnTo>
                  <a:pt x="3105" y="0"/>
                </a:lnTo>
                <a:cubicBezTo>
                  <a:pt x="3125" y="-1"/>
                  <a:pt x="3164" y="4"/>
                  <a:pt x="3172" y="6"/>
                </a:cubicBezTo>
                <a:cubicBezTo>
                  <a:pt x="3533" y="39"/>
                  <a:pt x="3925" y="455"/>
                  <a:pt x="3965" y="559"/>
                </a:cubicBezTo>
                <a:lnTo>
                  <a:pt x="3636" y="1016"/>
                </a:lnTo>
                <a:lnTo>
                  <a:pt x="3358" y="1016"/>
                </a:lnTo>
                <a:cubicBezTo>
                  <a:pt x="3315" y="892"/>
                  <a:pt x="3094" y="798"/>
                  <a:pt x="3028" y="800"/>
                </a:cubicBezTo>
                <a:lnTo>
                  <a:pt x="3025" y="800"/>
                </a:lnTo>
                <a:lnTo>
                  <a:pt x="3005" y="800"/>
                </a:lnTo>
                <a:lnTo>
                  <a:pt x="2999" y="800"/>
                </a:lnTo>
                <a:lnTo>
                  <a:pt x="2993" y="800"/>
                </a:lnTo>
                <a:cubicBezTo>
                  <a:pt x="2979" y="800"/>
                  <a:pt x="2958" y="800"/>
                  <a:pt x="2956" y="800"/>
                </a:cubicBezTo>
                <a:cubicBezTo>
                  <a:pt x="2804" y="799"/>
                  <a:pt x="2637" y="972"/>
                  <a:pt x="2627" y="1016"/>
                </a:cubicBezTo>
                <a:lnTo>
                  <a:pt x="2621" y="1016"/>
                </a:lnTo>
                <a:lnTo>
                  <a:pt x="2034" y="1833"/>
                </a:lnTo>
                <a:cubicBezTo>
                  <a:pt x="1835" y="2204"/>
                  <a:pt x="1302" y="2485"/>
                  <a:pt x="1126" y="2480"/>
                </a:cubicBezTo>
                <a:lnTo>
                  <a:pt x="1117" y="2480"/>
                </a:lnTo>
                <a:lnTo>
                  <a:pt x="1107" y="2480"/>
                </a:lnTo>
                <a:lnTo>
                  <a:pt x="1092" y="2479"/>
                </a:lnTo>
                <a:lnTo>
                  <a:pt x="1034" y="2479"/>
                </a:lnTo>
                <a:lnTo>
                  <a:pt x="1009" y="2478"/>
                </a:lnTo>
                <a:lnTo>
                  <a:pt x="949" y="2478"/>
                </a:lnTo>
                <a:lnTo>
                  <a:pt x="919" y="2479"/>
                </a:lnTo>
                <a:lnTo>
                  <a:pt x="900" y="2480"/>
                </a:lnTo>
                <a:lnTo>
                  <a:pt x="864" y="2480"/>
                </a:lnTo>
                <a:lnTo>
                  <a:pt x="846" y="2480"/>
                </a:lnTo>
                <a:cubicBezTo>
                  <a:pt x="470" y="2484"/>
                  <a:pt x="43" y="2035"/>
                  <a:pt x="0" y="1925"/>
                </a:cubicBezTo>
                <a:lnTo>
                  <a:pt x="329" y="1468"/>
                </a:lnTo>
                <a:lnTo>
                  <a:pt x="607" y="1468"/>
                </a:lnTo>
                <a:cubicBezTo>
                  <a:pt x="650" y="1592"/>
                  <a:pt x="871" y="1686"/>
                  <a:pt x="937" y="1684"/>
                </a:cubicBezTo>
                <a:lnTo>
                  <a:pt x="944" y="1684"/>
                </a:lnTo>
                <a:lnTo>
                  <a:pt x="1002" y="1684"/>
                </a:lnTo>
                <a:lnTo>
                  <a:pt x="1009" y="1684"/>
                </a:lnTo>
                <a:cubicBezTo>
                  <a:pt x="1161" y="1685"/>
                  <a:pt x="1328" y="1512"/>
                  <a:pt x="1338" y="1468"/>
                </a:cubicBezTo>
                <a:lnTo>
                  <a:pt x="1344" y="1468"/>
                </a:lnTo>
                <a:lnTo>
                  <a:pt x="1935" y="645"/>
                </a:lnTo>
                <a:cubicBezTo>
                  <a:pt x="2016" y="482"/>
                  <a:pt x="2233" y="293"/>
                  <a:pt x="2350" y="215"/>
                </a:cubicBezTo>
                <a:lnTo>
                  <a:pt x="2335" y="215"/>
                </a:lnTo>
                <a:close/>
              </a:path>
            </a:pathLst>
          </a:custGeom>
          <a:gradFill>
            <a:gsLst>
              <a:gs pos="0">
                <a:schemeClr val="accent1">
                  <a:lumMod val="40000"/>
                  <a:lumOff val="60000"/>
                </a:schemeClr>
              </a:gs>
              <a:gs pos="100000">
                <a:schemeClr val="accent1">
                  <a:lumMod val="60000"/>
                  <a:lumOff val="40000"/>
                </a:schemeClr>
              </a:gs>
            </a:gsLst>
            <a:lin ang="5400000" scaled="0"/>
          </a:gradFill>
          <a:ln w="19050" cap="rnd">
            <a:solidFill>
              <a:schemeClr val="bg1"/>
            </a:solidFill>
            <a:prstDash val="solid"/>
            <a:round/>
          </a:ln>
          <a:effectLst>
            <a:softEdge rad="1905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9" name="任意多边形 78"/>
          <p:cNvSpPr/>
          <p:nvPr/>
        </p:nvSpPr>
        <p:spPr>
          <a:xfrm>
            <a:off x="4504690" y="3015615"/>
            <a:ext cx="2517775" cy="15748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965" h="2480">
                <a:moveTo>
                  <a:pt x="2335" y="215"/>
                </a:moveTo>
                <a:cubicBezTo>
                  <a:pt x="2388" y="174"/>
                  <a:pt x="2489" y="122"/>
                  <a:pt x="2538" y="101"/>
                </a:cubicBezTo>
                <a:cubicBezTo>
                  <a:pt x="2641" y="44"/>
                  <a:pt x="2794" y="-3"/>
                  <a:pt x="2839" y="3"/>
                </a:cubicBezTo>
                <a:lnTo>
                  <a:pt x="2849" y="3"/>
                </a:lnTo>
                <a:lnTo>
                  <a:pt x="2858" y="4"/>
                </a:lnTo>
                <a:lnTo>
                  <a:pt x="2862" y="4"/>
                </a:lnTo>
                <a:cubicBezTo>
                  <a:pt x="2873" y="2"/>
                  <a:pt x="2906" y="0"/>
                  <a:pt x="2908" y="1"/>
                </a:cubicBezTo>
                <a:lnTo>
                  <a:pt x="2914" y="1"/>
                </a:lnTo>
                <a:lnTo>
                  <a:pt x="2921" y="1"/>
                </a:lnTo>
                <a:lnTo>
                  <a:pt x="2928" y="1"/>
                </a:lnTo>
                <a:lnTo>
                  <a:pt x="2941" y="1"/>
                </a:lnTo>
                <a:lnTo>
                  <a:pt x="2959" y="1"/>
                </a:lnTo>
                <a:lnTo>
                  <a:pt x="2977" y="2"/>
                </a:lnTo>
                <a:lnTo>
                  <a:pt x="2995" y="3"/>
                </a:lnTo>
                <a:lnTo>
                  <a:pt x="3016" y="2"/>
                </a:lnTo>
                <a:lnTo>
                  <a:pt x="3037" y="1"/>
                </a:lnTo>
                <a:lnTo>
                  <a:pt x="3058" y="1"/>
                </a:lnTo>
                <a:lnTo>
                  <a:pt x="3073" y="0"/>
                </a:lnTo>
                <a:lnTo>
                  <a:pt x="3089" y="0"/>
                </a:lnTo>
                <a:lnTo>
                  <a:pt x="3094" y="0"/>
                </a:lnTo>
                <a:lnTo>
                  <a:pt x="3099" y="0"/>
                </a:lnTo>
                <a:lnTo>
                  <a:pt x="3105" y="0"/>
                </a:lnTo>
                <a:cubicBezTo>
                  <a:pt x="3125" y="-1"/>
                  <a:pt x="3164" y="4"/>
                  <a:pt x="3172" y="6"/>
                </a:cubicBezTo>
                <a:cubicBezTo>
                  <a:pt x="3533" y="39"/>
                  <a:pt x="3925" y="455"/>
                  <a:pt x="3965" y="559"/>
                </a:cubicBezTo>
                <a:lnTo>
                  <a:pt x="3636" y="1016"/>
                </a:lnTo>
                <a:lnTo>
                  <a:pt x="3358" y="1016"/>
                </a:lnTo>
                <a:cubicBezTo>
                  <a:pt x="3315" y="892"/>
                  <a:pt x="3094" y="798"/>
                  <a:pt x="3028" y="800"/>
                </a:cubicBezTo>
                <a:lnTo>
                  <a:pt x="3025" y="800"/>
                </a:lnTo>
                <a:lnTo>
                  <a:pt x="3005" y="800"/>
                </a:lnTo>
                <a:lnTo>
                  <a:pt x="2999" y="800"/>
                </a:lnTo>
                <a:lnTo>
                  <a:pt x="2993" y="800"/>
                </a:lnTo>
                <a:cubicBezTo>
                  <a:pt x="2979" y="800"/>
                  <a:pt x="2958" y="800"/>
                  <a:pt x="2956" y="800"/>
                </a:cubicBezTo>
                <a:cubicBezTo>
                  <a:pt x="2804" y="799"/>
                  <a:pt x="2637" y="972"/>
                  <a:pt x="2627" y="1016"/>
                </a:cubicBezTo>
                <a:lnTo>
                  <a:pt x="2621" y="1016"/>
                </a:lnTo>
                <a:lnTo>
                  <a:pt x="2034" y="1833"/>
                </a:lnTo>
                <a:cubicBezTo>
                  <a:pt x="1835" y="2204"/>
                  <a:pt x="1302" y="2485"/>
                  <a:pt x="1126" y="2480"/>
                </a:cubicBezTo>
                <a:lnTo>
                  <a:pt x="1117" y="2480"/>
                </a:lnTo>
                <a:lnTo>
                  <a:pt x="1107" y="2480"/>
                </a:lnTo>
                <a:lnTo>
                  <a:pt x="1092" y="2479"/>
                </a:lnTo>
                <a:lnTo>
                  <a:pt x="1034" y="2479"/>
                </a:lnTo>
                <a:lnTo>
                  <a:pt x="1009" y="2478"/>
                </a:lnTo>
                <a:lnTo>
                  <a:pt x="949" y="2478"/>
                </a:lnTo>
                <a:lnTo>
                  <a:pt x="919" y="2479"/>
                </a:lnTo>
                <a:lnTo>
                  <a:pt x="900" y="2480"/>
                </a:lnTo>
                <a:lnTo>
                  <a:pt x="864" y="2480"/>
                </a:lnTo>
                <a:lnTo>
                  <a:pt x="846" y="2480"/>
                </a:lnTo>
                <a:cubicBezTo>
                  <a:pt x="470" y="2484"/>
                  <a:pt x="43" y="2035"/>
                  <a:pt x="0" y="1925"/>
                </a:cubicBezTo>
                <a:lnTo>
                  <a:pt x="329" y="1468"/>
                </a:lnTo>
                <a:lnTo>
                  <a:pt x="607" y="1468"/>
                </a:lnTo>
                <a:cubicBezTo>
                  <a:pt x="650" y="1592"/>
                  <a:pt x="871" y="1686"/>
                  <a:pt x="937" y="1684"/>
                </a:cubicBezTo>
                <a:lnTo>
                  <a:pt x="944" y="1684"/>
                </a:lnTo>
                <a:lnTo>
                  <a:pt x="1002" y="1684"/>
                </a:lnTo>
                <a:lnTo>
                  <a:pt x="1009" y="1684"/>
                </a:lnTo>
                <a:cubicBezTo>
                  <a:pt x="1161" y="1685"/>
                  <a:pt x="1328" y="1512"/>
                  <a:pt x="1338" y="1468"/>
                </a:cubicBezTo>
                <a:lnTo>
                  <a:pt x="1344" y="1468"/>
                </a:lnTo>
                <a:lnTo>
                  <a:pt x="1935" y="645"/>
                </a:lnTo>
                <a:cubicBezTo>
                  <a:pt x="2016" y="482"/>
                  <a:pt x="2233" y="293"/>
                  <a:pt x="2350" y="215"/>
                </a:cubicBezTo>
                <a:lnTo>
                  <a:pt x="2335" y="215"/>
                </a:lnTo>
                <a:close/>
              </a:path>
            </a:pathLst>
          </a:custGeom>
          <a:gradFill>
            <a:gsLst>
              <a:gs pos="0">
                <a:schemeClr val="accent1">
                  <a:lumMod val="40000"/>
                  <a:lumOff val="60000"/>
                </a:schemeClr>
              </a:gs>
              <a:gs pos="100000">
                <a:schemeClr val="accent1">
                  <a:lumMod val="60000"/>
                  <a:lumOff val="40000"/>
                </a:schemeClr>
              </a:gs>
            </a:gsLst>
            <a:lin ang="5400000" scaled="0"/>
          </a:gradFill>
          <a:ln w="19050" cap="rnd">
            <a:solidFill>
              <a:schemeClr val="bg1"/>
            </a:solidFill>
            <a:prstDash val="solid"/>
            <a:round/>
          </a:ln>
          <a:effectLst>
            <a:softEdge rad="1905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0" name="任意多边形 79"/>
          <p:cNvSpPr/>
          <p:nvPr/>
        </p:nvSpPr>
        <p:spPr>
          <a:xfrm>
            <a:off x="3256280" y="3015615"/>
            <a:ext cx="2517775" cy="15748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965" h="2480">
                <a:moveTo>
                  <a:pt x="2335" y="215"/>
                </a:moveTo>
                <a:cubicBezTo>
                  <a:pt x="2388" y="174"/>
                  <a:pt x="2489" y="122"/>
                  <a:pt x="2538" y="101"/>
                </a:cubicBezTo>
                <a:cubicBezTo>
                  <a:pt x="2641" y="44"/>
                  <a:pt x="2794" y="-3"/>
                  <a:pt x="2839" y="3"/>
                </a:cubicBezTo>
                <a:lnTo>
                  <a:pt x="2849" y="3"/>
                </a:lnTo>
                <a:lnTo>
                  <a:pt x="2858" y="4"/>
                </a:lnTo>
                <a:lnTo>
                  <a:pt x="2862" y="4"/>
                </a:lnTo>
                <a:cubicBezTo>
                  <a:pt x="2873" y="2"/>
                  <a:pt x="2906" y="0"/>
                  <a:pt x="2908" y="1"/>
                </a:cubicBezTo>
                <a:lnTo>
                  <a:pt x="2914" y="1"/>
                </a:lnTo>
                <a:lnTo>
                  <a:pt x="2921" y="1"/>
                </a:lnTo>
                <a:lnTo>
                  <a:pt x="2928" y="1"/>
                </a:lnTo>
                <a:lnTo>
                  <a:pt x="2941" y="1"/>
                </a:lnTo>
                <a:lnTo>
                  <a:pt x="2959" y="1"/>
                </a:lnTo>
                <a:lnTo>
                  <a:pt x="2977" y="2"/>
                </a:lnTo>
                <a:lnTo>
                  <a:pt x="2995" y="3"/>
                </a:lnTo>
                <a:lnTo>
                  <a:pt x="3016" y="2"/>
                </a:lnTo>
                <a:lnTo>
                  <a:pt x="3037" y="1"/>
                </a:lnTo>
                <a:lnTo>
                  <a:pt x="3058" y="1"/>
                </a:lnTo>
                <a:lnTo>
                  <a:pt x="3073" y="0"/>
                </a:lnTo>
                <a:lnTo>
                  <a:pt x="3089" y="0"/>
                </a:lnTo>
                <a:lnTo>
                  <a:pt x="3094" y="0"/>
                </a:lnTo>
                <a:lnTo>
                  <a:pt x="3099" y="0"/>
                </a:lnTo>
                <a:lnTo>
                  <a:pt x="3105" y="0"/>
                </a:lnTo>
                <a:cubicBezTo>
                  <a:pt x="3125" y="-1"/>
                  <a:pt x="3164" y="4"/>
                  <a:pt x="3172" y="6"/>
                </a:cubicBezTo>
                <a:cubicBezTo>
                  <a:pt x="3533" y="39"/>
                  <a:pt x="3925" y="455"/>
                  <a:pt x="3965" y="559"/>
                </a:cubicBezTo>
                <a:lnTo>
                  <a:pt x="3636" y="1016"/>
                </a:lnTo>
                <a:lnTo>
                  <a:pt x="3358" y="1016"/>
                </a:lnTo>
                <a:cubicBezTo>
                  <a:pt x="3315" y="892"/>
                  <a:pt x="3094" y="798"/>
                  <a:pt x="3028" y="800"/>
                </a:cubicBezTo>
                <a:lnTo>
                  <a:pt x="3025" y="800"/>
                </a:lnTo>
                <a:lnTo>
                  <a:pt x="3005" y="800"/>
                </a:lnTo>
                <a:lnTo>
                  <a:pt x="2999" y="800"/>
                </a:lnTo>
                <a:lnTo>
                  <a:pt x="2993" y="800"/>
                </a:lnTo>
                <a:cubicBezTo>
                  <a:pt x="2979" y="800"/>
                  <a:pt x="2958" y="800"/>
                  <a:pt x="2956" y="800"/>
                </a:cubicBezTo>
                <a:cubicBezTo>
                  <a:pt x="2804" y="799"/>
                  <a:pt x="2637" y="972"/>
                  <a:pt x="2627" y="1016"/>
                </a:cubicBezTo>
                <a:lnTo>
                  <a:pt x="2621" y="1016"/>
                </a:lnTo>
                <a:lnTo>
                  <a:pt x="2034" y="1833"/>
                </a:lnTo>
                <a:cubicBezTo>
                  <a:pt x="1835" y="2204"/>
                  <a:pt x="1302" y="2485"/>
                  <a:pt x="1126" y="2480"/>
                </a:cubicBezTo>
                <a:lnTo>
                  <a:pt x="1117" y="2480"/>
                </a:lnTo>
                <a:lnTo>
                  <a:pt x="1107" y="2480"/>
                </a:lnTo>
                <a:lnTo>
                  <a:pt x="1092" y="2479"/>
                </a:lnTo>
                <a:lnTo>
                  <a:pt x="1034" y="2479"/>
                </a:lnTo>
                <a:lnTo>
                  <a:pt x="1009" y="2478"/>
                </a:lnTo>
                <a:lnTo>
                  <a:pt x="949" y="2478"/>
                </a:lnTo>
                <a:lnTo>
                  <a:pt x="919" y="2479"/>
                </a:lnTo>
                <a:lnTo>
                  <a:pt x="900" y="2480"/>
                </a:lnTo>
                <a:lnTo>
                  <a:pt x="864" y="2480"/>
                </a:lnTo>
                <a:lnTo>
                  <a:pt x="846" y="2480"/>
                </a:lnTo>
                <a:cubicBezTo>
                  <a:pt x="470" y="2484"/>
                  <a:pt x="43" y="2035"/>
                  <a:pt x="0" y="1925"/>
                </a:cubicBezTo>
                <a:lnTo>
                  <a:pt x="329" y="1468"/>
                </a:lnTo>
                <a:lnTo>
                  <a:pt x="607" y="1468"/>
                </a:lnTo>
                <a:cubicBezTo>
                  <a:pt x="650" y="1592"/>
                  <a:pt x="871" y="1686"/>
                  <a:pt x="937" y="1684"/>
                </a:cubicBezTo>
                <a:lnTo>
                  <a:pt x="944" y="1684"/>
                </a:lnTo>
                <a:lnTo>
                  <a:pt x="1002" y="1684"/>
                </a:lnTo>
                <a:lnTo>
                  <a:pt x="1009" y="1684"/>
                </a:lnTo>
                <a:cubicBezTo>
                  <a:pt x="1161" y="1685"/>
                  <a:pt x="1328" y="1512"/>
                  <a:pt x="1338" y="1468"/>
                </a:cubicBezTo>
                <a:lnTo>
                  <a:pt x="1344" y="1468"/>
                </a:lnTo>
                <a:lnTo>
                  <a:pt x="1935" y="645"/>
                </a:lnTo>
                <a:cubicBezTo>
                  <a:pt x="2016" y="482"/>
                  <a:pt x="2233" y="293"/>
                  <a:pt x="2350" y="215"/>
                </a:cubicBezTo>
                <a:lnTo>
                  <a:pt x="2335" y="215"/>
                </a:lnTo>
                <a:close/>
              </a:path>
            </a:pathLst>
          </a:custGeom>
          <a:gradFill>
            <a:gsLst>
              <a:gs pos="0">
                <a:schemeClr val="accent1">
                  <a:lumMod val="60000"/>
                  <a:lumOff val="40000"/>
                </a:schemeClr>
              </a:gs>
              <a:gs pos="72000">
                <a:schemeClr val="accent1"/>
              </a:gs>
            </a:gsLst>
            <a:lin ang="5400000" scaled="0"/>
          </a:gradFill>
          <a:ln w="19050" cap="rnd">
            <a:solidFill>
              <a:schemeClr val="bg1"/>
            </a:solidFill>
            <a:prstDash val="solid"/>
            <a:round/>
          </a:ln>
          <a:effectLst>
            <a:softEdge rad="1905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1" name="任意多边形 80"/>
          <p:cNvSpPr/>
          <p:nvPr/>
        </p:nvSpPr>
        <p:spPr>
          <a:xfrm>
            <a:off x="355600" y="3015615"/>
            <a:ext cx="4166235" cy="15741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561" h="2479">
                <a:moveTo>
                  <a:pt x="4931" y="215"/>
                </a:moveTo>
                <a:cubicBezTo>
                  <a:pt x="4982" y="174"/>
                  <a:pt x="5109" y="111"/>
                  <a:pt x="5134" y="101"/>
                </a:cubicBezTo>
                <a:cubicBezTo>
                  <a:pt x="5226" y="47"/>
                  <a:pt x="5387" y="2"/>
                  <a:pt x="5419" y="3"/>
                </a:cubicBezTo>
                <a:lnTo>
                  <a:pt x="5421" y="3"/>
                </a:lnTo>
                <a:lnTo>
                  <a:pt x="5445" y="3"/>
                </a:lnTo>
                <a:lnTo>
                  <a:pt x="5454" y="4"/>
                </a:lnTo>
                <a:lnTo>
                  <a:pt x="5458" y="4"/>
                </a:lnTo>
                <a:cubicBezTo>
                  <a:pt x="5466" y="2"/>
                  <a:pt x="5496" y="1"/>
                  <a:pt x="5499" y="1"/>
                </a:cubicBezTo>
                <a:lnTo>
                  <a:pt x="5555" y="1"/>
                </a:lnTo>
                <a:lnTo>
                  <a:pt x="5591" y="3"/>
                </a:lnTo>
                <a:lnTo>
                  <a:pt x="5633" y="1"/>
                </a:lnTo>
                <a:lnTo>
                  <a:pt x="5654" y="1"/>
                </a:lnTo>
                <a:lnTo>
                  <a:pt x="5669" y="0"/>
                </a:lnTo>
                <a:lnTo>
                  <a:pt x="5707" y="0"/>
                </a:lnTo>
                <a:cubicBezTo>
                  <a:pt x="5728" y="0"/>
                  <a:pt x="5766" y="5"/>
                  <a:pt x="5768" y="6"/>
                </a:cubicBezTo>
                <a:cubicBezTo>
                  <a:pt x="6145" y="31"/>
                  <a:pt x="6563" y="515"/>
                  <a:pt x="6561" y="556"/>
                </a:cubicBezTo>
                <a:lnTo>
                  <a:pt x="6561" y="559"/>
                </a:lnTo>
                <a:lnTo>
                  <a:pt x="6232" y="1016"/>
                </a:lnTo>
                <a:lnTo>
                  <a:pt x="5954" y="1016"/>
                </a:lnTo>
                <a:cubicBezTo>
                  <a:pt x="5918" y="892"/>
                  <a:pt x="5675" y="798"/>
                  <a:pt x="5635" y="800"/>
                </a:cubicBezTo>
                <a:lnTo>
                  <a:pt x="5633" y="800"/>
                </a:lnTo>
                <a:lnTo>
                  <a:pt x="5544" y="800"/>
                </a:lnTo>
                <a:cubicBezTo>
                  <a:pt x="5390" y="801"/>
                  <a:pt x="5222" y="992"/>
                  <a:pt x="5223" y="1013"/>
                </a:cubicBezTo>
                <a:lnTo>
                  <a:pt x="5223" y="1015"/>
                </a:lnTo>
                <a:lnTo>
                  <a:pt x="5223" y="1016"/>
                </a:lnTo>
                <a:lnTo>
                  <a:pt x="5217" y="1016"/>
                </a:lnTo>
                <a:lnTo>
                  <a:pt x="4630" y="1832"/>
                </a:lnTo>
                <a:cubicBezTo>
                  <a:pt x="4450" y="2203"/>
                  <a:pt x="3859" y="2484"/>
                  <a:pt x="3751" y="2479"/>
                </a:cubicBezTo>
                <a:lnTo>
                  <a:pt x="3745" y="2479"/>
                </a:lnTo>
                <a:lnTo>
                  <a:pt x="0" y="2479"/>
                </a:lnTo>
                <a:lnTo>
                  <a:pt x="0" y="1686"/>
                </a:lnTo>
                <a:lnTo>
                  <a:pt x="3622" y="1686"/>
                </a:lnTo>
                <a:lnTo>
                  <a:pt x="3622" y="1683"/>
                </a:lnTo>
                <a:cubicBezTo>
                  <a:pt x="3768" y="1678"/>
                  <a:pt x="3937" y="1491"/>
                  <a:pt x="3934" y="1471"/>
                </a:cubicBezTo>
                <a:lnTo>
                  <a:pt x="3934" y="1469"/>
                </a:lnTo>
                <a:lnTo>
                  <a:pt x="3934" y="1467"/>
                </a:lnTo>
                <a:lnTo>
                  <a:pt x="3940" y="1467"/>
                </a:lnTo>
                <a:lnTo>
                  <a:pt x="4531" y="645"/>
                </a:lnTo>
                <a:cubicBezTo>
                  <a:pt x="4605" y="479"/>
                  <a:pt x="4883" y="252"/>
                  <a:pt x="4946" y="215"/>
                </a:cubicBezTo>
                <a:lnTo>
                  <a:pt x="4931" y="215"/>
                </a:lnTo>
                <a:close/>
              </a:path>
            </a:pathLst>
          </a:custGeom>
          <a:gradFill>
            <a:gsLst>
              <a:gs pos="0">
                <a:schemeClr val="accent1">
                  <a:lumMod val="40000"/>
                  <a:lumOff val="60000"/>
                </a:schemeClr>
              </a:gs>
              <a:gs pos="100000">
                <a:schemeClr val="accent1">
                  <a:lumMod val="60000"/>
                  <a:lumOff val="40000"/>
                </a:schemeClr>
              </a:gs>
            </a:gsLst>
            <a:lin ang="5400000" scaled="0"/>
          </a:gradFill>
          <a:ln w="19050" cap="rnd">
            <a:solidFill>
              <a:schemeClr val="bg1"/>
            </a:solidFill>
            <a:prstDash val="solid"/>
            <a:round/>
          </a:ln>
          <a:effectLst>
            <a:softEdge rad="19050"/>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4" name="文本框 83"/>
          <p:cNvSpPr txBox="1"/>
          <p:nvPr/>
        </p:nvSpPr>
        <p:spPr>
          <a:xfrm>
            <a:off x="355600" y="3121660"/>
            <a:ext cx="137731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管理需求</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355600" y="4181475"/>
            <a:ext cx="137731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业务需求</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a:off x="527050" y="3638550"/>
            <a:ext cx="103441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咨询</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7" name="文本框 86"/>
          <p:cNvSpPr txBox="1"/>
          <p:nvPr/>
        </p:nvSpPr>
        <p:spPr>
          <a:xfrm>
            <a:off x="3487420" y="2707640"/>
            <a:ext cx="791210" cy="306705"/>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产品</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8" name="文本框 87"/>
          <p:cNvSpPr txBox="1"/>
          <p:nvPr/>
        </p:nvSpPr>
        <p:spPr>
          <a:xfrm>
            <a:off x="4726940" y="2707640"/>
            <a:ext cx="791210" cy="306705"/>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财</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9" name="文本框 88"/>
          <p:cNvSpPr txBox="1"/>
          <p:nvPr/>
        </p:nvSpPr>
        <p:spPr>
          <a:xfrm>
            <a:off x="6042660" y="2707640"/>
            <a:ext cx="791210" cy="306705"/>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服务</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0" name="文本框 89"/>
          <p:cNvSpPr txBox="1"/>
          <p:nvPr/>
        </p:nvSpPr>
        <p:spPr>
          <a:xfrm>
            <a:off x="7305040" y="2707640"/>
            <a:ext cx="791210" cy="306705"/>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数据</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3436620" y="4629150"/>
            <a:ext cx="791210" cy="306705"/>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人</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4676140" y="4629150"/>
            <a:ext cx="791210" cy="306705"/>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客户</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2" name="文本框 101"/>
          <p:cNvSpPr txBox="1"/>
          <p:nvPr/>
        </p:nvSpPr>
        <p:spPr>
          <a:xfrm>
            <a:off x="5991860" y="4629150"/>
            <a:ext cx="791210" cy="306705"/>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物</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3" name="文本框 102"/>
          <p:cNvSpPr txBox="1"/>
          <p:nvPr/>
        </p:nvSpPr>
        <p:spPr>
          <a:xfrm>
            <a:off x="7305040" y="4629150"/>
            <a:ext cx="791210" cy="306705"/>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生产</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104" name="图片 10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241" name="组合 240"/>
          <p:cNvGrpSpPr/>
          <p:nvPr/>
        </p:nvGrpSpPr>
        <p:grpSpPr>
          <a:xfrm>
            <a:off x="339725" y="6095365"/>
            <a:ext cx="8119110" cy="473075"/>
            <a:chOff x="768411" y="5334450"/>
            <a:chExt cx="10938754" cy="472995"/>
          </a:xfrm>
        </p:grpSpPr>
        <p:sp>
          <p:nvSpPr>
            <p:cNvPr id="242" name="梯形 241"/>
            <p:cNvSpPr/>
            <p:nvPr/>
          </p:nvSpPr>
          <p:spPr>
            <a:xfrm>
              <a:off x="768411" y="5334450"/>
              <a:ext cx="10932475" cy="133327"/>
            </a:xfrm>
            <a:prstGeom prst="trapezoid">
              <a:avLst>
                <a:gd name="adj" fmla="val 199129"/>
              </a:avLst>
            </a:prstGeom>
            <a:solidFill>
              <a:schemeClr val="accent1">
                <a:lumMod val="60000"/>
                <a:lumOff val="4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243" name="矩形 242"/>
            <p:cNvSpPr/>
            <p:nvPr/>
          </p:nvSpPr>
          <p:spPr>
            <a:xfrm>
              <a:off x="768411" y="5467777"/>
              <a:ext cx="10938754" cy="339668"/>
            </a:xfrm>
            <a:prstGeom prst="rect">
              <a:avLst/>
            </a:prstGeom>
            <a:gradFill>
              <a:gsLst>
                <a:gs pos="100000">
                  <a:schemeClr val="accent1">
                    <a:lumMod val="60000"/>
                    <a:lumOff val="40000"/>
                  </a:schemeClr>
                </a:gs>
                <a:gs pos="0">
                  <a:schemeClr val="accent1"/>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a:latin typeface="微软雅黑" panose="020B0503020204020204" charset="-122"/>
                  <a:ea typeface="微软雅黑" panose="020B0503020204020204" charset="-122"/>
                  <a:cs typeface="微软雅黑" panose="020B0503020204020204" charset="-122"/>
                </a:rPr>
                <a:t> </a:t>
              </a:r>
              <a:endParaRPr kumimoji="1" lang="en-US" altLang="zh-CN">
                <a:latin typeface="微软雅黑" panose="020B0503020204020204" charset="-122"/>
                <a:ea typeface="微软雅黑" panose="020B0503020204020204" charset="-122"/>
                <a:cs typeface="微软雅黑" panose="020B0503020204020204" charset="-122"/>
              </a:endParaRPr>
            </a:p>
          </p:txBody>
        </p:sp>
      </p:grpSp>
      <p:sp>
        <p:nvSpPr>
          <p:cNvPr id="244" name="文本框 243"/>
          <p:cNvSpPr txBox="1"/>
          <p:nvPr/>
        </p:nvSpPr>
        <p:spPr>
          <a:xfrm>
            <a:off x="2845435" y="6281420"/>
            <a:ext cx="2703195" cy="24574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关键技术支撑</a:t>
            </a:r>
            <a:endParaRPr kumimoji="0" lang="zh-CN"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0" name="textbox 2070"/>
          <p:cNvSpPr/>
          <p:nvPr/>
        </p:nvSpPr>
        <p:spPr>
          <a:xfrm>
            <a:off x="301625" y="5808980"/>
            <a:ext cx="1698625" cy="245745"/>
          </a:xfrm>
          <a:prstGeom prst="rect">
            <a:avLst/>
          </a:prstGeom>
        </p:spPr>
        <p:txBody>
          <a:bodyPr vert="horz" wrap="square" lIns="0" tIns="0" rIns="0" bIns="0">
            <a:spAutoFit/>
          </a:bodyPr>
          <a:lstStyle/>
          <a:p>
            <a:pPr marL="12700" algn="ctr" rtl="0" eaLnBrk="0"/>
            <a:r>
              <a:rPr lang="zh-CN" sz="1600" kern="0" spc="140" dirty="0" err="1">
                <a:solidFill>
                  <a:schemeClr val="tx2"/>
                </a:solidFill>
                <a:latin typeface="微软雅黑" panose="020B0503020204020204" charset="-122"/>
                <a:ea typeface="微软雅黑" panose="020B0503020204020204" charset="-122"/>
                <a:cs typeface="微软雅黑" panose="020B0503020204020204" charset="-122"/>
              </a:rPr>
              <a:t>物联网</a:t>
            </a:r>
            <a:endParaRPr lang="zh-CN" sz="1600" kern="0" spc="140"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2" name="textbox 2070"/>
          <p:cNvSpPr/>
          <p:nvPr/>
        </p:nvSpPr>
        <p:spPr>
          <a:xfrm>
            <a:off x="1967865" y="5808980"/>
            <a:ext cx="1698625" cy="245745"/>
          </a:xfrm>
          <a:prstGeom prst="rect">
            <a:avLst/>
          </a:prstGeom>
        </p:spPr>
        <p:txBody>
          <a:bodyPr vert="horz" wrap="square" lIns="0" tIns="0" rIns="0" bIns="0">
            <a:spAutoFit/>
          </a:bodyPr>
          <a:lstStyle/>
          <a:p>
            <a:pPr marL="12700" algn="ctr" rtl="0" eaLnBrk="0"/>
            <a:r>
              <a:rPr lang="zh-CN" altLang="en-US" sz="1600" kern="0" spc="140" dirty="0" err="1">
                <a:solidFill>
                  <a:schemeClr val="tx2"/>
                </a:solidFill>
                <a:latin typeface="微软雅黑" panose="020B0503020204020204" charset="-122"/>
                <a:ea typeface="微软雅黑" panose="020B0503020204020204" charset="-122"/>
                <a:cs typeface="微软雅黑" panose="020B0503020204020204" charset="-122"/>
              </a:rPr>
              <a:t>移动互联</a:t>
            </a:r>
            <a:endParaRPr lang="zh-CN" altLang="en-US" sz="1600" kern="0" spc="140"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5" name="textbox 2070"/>
          <p:cNvSpPr/>
          <p:nvPr/>
        </p:nvSpPr>
        <p:spPr>
          <a:xfrm>
            <a:off x="3634105" y="5808980"/>
            <a:ext cx="1698625" cy="245745"/>
          </a:xfrm>
          <a:prstGeom prst="rect">
            <a:avLst/>
          </a:prstGeom>
        </p:spPr>
        <p:txBody>
          <a:bodyPr vert="horz" wrap="square" lIns="0" tIns="0" rIns="0" bIns="0">
            <a:spAutoFit/>
          </a:bodyPr>
          <a:lstStyle/>
          <a:p>
            <a:pPr marL="12700" algn="ctr" rtl="0" eaLnBrk="0"/>
            <a:r>
              <a:rPr lang="zh-CN" altLang="en-US" sz="1600" kern="0" spc="140" dirty="0" err="1">
                <a:solidFill>
                  <a:schemeClr val="tx2"/>
                </a:solidFill>
                <a:latin typeface="微软雅黑" panose="020B0503020204020204" charset="-122"/>
                <a:ea typeface="微软雅黑" panose="020B0503020204020204" charset="-122"/>
                <a:cs typeface="微软雅黑" panose="020B0503020204020204" charset="-122"/>
              </a:rPr>
              <a:t>大数据</a:t>
            </a:r>
            <a:endParaRPr lang="zh-CN" altLang="en-US" sz="1600" kern="0" spc="140"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9" name="textbox 2070"/>
          <p:cNvSpPr/>
          <p:nvPr/>
        </p:nvSpPr>
        <p:spPr>
          <a:xfrm>
            <a:off x="5300345" y="5808980"/>
            <a:ext cx="1698625" cy="245745"/>
          </a:xfrm>
          <a:prstGeom prst="rect">
            <a:avLst/>
          </a:prstGeom>
        </p:spPr>
        <p:txBody>
          <a:bodyPr vert="horz" wrap="square" lIns="0" tIns="0" rIns="0" bIns="0">
            <a:spAutoFit/>
          </a:bodyPr>
          <a:lstStyle/>
          <a:p>
            <a:pPr marL="12700" algn="ctr" rtl="0" eaLnBrk="0"/>
            <a:r>
              <a:rPr lang="zh-CN" altLang="en-US" sz="1600" kern="0" spc="140" dirty="0" err="1">
                <a:solidFill>
                  <a:schemeClr val="tx2"/>
                </a:solidFill>
                <a:latin typeface="微软雅黑" panose="020B0503020204020204" charset="-122"/>
                <a:ea typeface="微软雅黑" panose="020B0503020204020204" charset="-122"/>
                <a:cs typeface="微软雅黑" panose="020B0503020204020204" charset="-122"/>
              </a:rPr>
              <a:t>人工智能</a:t>
            </a:r>
            <a:endParaRPr lang="zh-CN" altLang="en-US" sz="1600" kern="0" spc="140"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3" name="textbox 2070"/>
          <p:cNvSpPr/>
          <p:nvPr/>
        </p:nvSpPr>
        <p:spPr>
          <a:xfrm>
            <a:off x="6966585" y="5808980"/>
            <a:ext cx="1698625" cy="245745"/>
          </a:xfrm>
          <a:prstGeom prst="rect">
            <a:avLst/>
          </a:prstGeom>
        </p:spPr>
        <p:txBody>
          <a:bodyPr vert="horz" wrap="square" lIns="0" tIns="0" rIns="0" bIns="0">
            <a:spAutoFit/>
          </a:bodyPr>
          <a:lstStyle/>
          <a:p>
            <a:pPr marL="12700" algn="ctr" rtl="0" eaLnBrk="0"/>
            <a:r>
              <a:rPr lang="zh-CN" altLang="en-US" sz="1600" kern="0" spc="140" dirty="0" err="1">
                <a:solidFill>
                  <a:schemeClr val="tx2"/>
                </a:solidFill>
                <a:latin typeface="微软雅黑" panose="020B0503020204020204" charset="-122"/>
                <a:ea typeface="微软雅黑" panose="020B0503020204020204" charset="-122"/>
                <a:cs typeface="微软雅黑" panose="020B0503020204020204" charset="-122"/>
              </a:rPr>
              <a:t>云计算</a:t>
            </a:r>
            <a:endParaRPr lang="zh-CN" altLang="en-US" sz="1600" kern="0" spc="140" dirty="0" err="1">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522" name="组合 521"/>
          <p:cNvGrpSpPr/>
          <p:nvPr/>
        </p:nvGrpSpPr>
        <p:grpSpPr>
          <a:xfrm>
            <a:off x="6809105" y="5244783"/>
            <a:ext cx="294640" cy="329565"/>
            <a:chOff x="10980" y="8069"/>
            <a:chExt cx="464" cy="519"/>
          </a:xfrm>
        </p:grpSpPr>
        <p:cxnSp>
          <p:nvCxnSpPr>
            <p:cNvPr id="346" name="直线箭头连接符 113"/>
            <p:cNvCxnSpPr/>
            <p:nvPr/>
          </p:nvCxnSpPr>
          <p:spPr>
            <a:xfrm flipV="1">
              <a:off x="10980" y="8370"/>
              <a:ext cx="0" cy="218"/>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347" name="直线箭头连接符 114"/>
            <p:cNvCxnSpPr/>
            <p:nvPr/>
          </p:nvCxnSpPr>
          <p:spPr>
            <a:xfrm flipV="1">
              <a:off x="11226" y="8069"/>
              <a:ext cx="0" cy="363"/>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363" name="直线箭头连接符 118"/>
            <p:cNvCxnSpPr/>
            <p:nvPr/>
          </p:nvCxnSpPr>
          <p:spPr>
            <a:xfrm flipV="1">
              <a:off x="11444" y="8225"/>
              <a:ext cx="0" cy="303"/>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grpSp>
      <p:sp>
        <p:nvSpPr>
          <p:cNvPr id="2" name="显眼包PPT9"/>
          <p:cNvSpPr/>
          <p:nvPr/>
        </p:nvSpPr>
        <p:spPr>
          <a:xfrm>
            <a:off x="337820" y="966470"/>
            <a:ext cx="11376025" cy="285750"/>
          </a:xfrm>
          <a:prstGeom prst="trapezoid">
            <a:avLst>
              <a:gd name="adj" fmla="val 189815"/>
            </a:avLst>
          </a:prstGeom>
          <a:gradFill>
            <a:gsLst>
              <a:gs pos="0">
                <a:schemeClr val="accent1">
                  <a:lumMod val="60000"/>
                  <a:lumOff val="40000"/>
                  <a:alpha val="50000"/>
                </a:schemeClr>
              </a:gs>
              <a:gs pos="100000">
                <a:schemeClr val="accent1">
                  <a:lumMod val="40000"/>
                  <a:lumOff val="6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8" name="显眼包PPT21"/>
          <p:cNvSpPr/>
          <p:nvPr/>
        </p:nvSpPr>
        <p:spPr>
          <a:xfrm>
            <a:off x="339090" y="1252220"/>
            <a:ext cx="2658745" cy="421640"/>
          </a:xfrm>
          <a:custGeom>
            <a:avLst/>
            <a:gdLst>
              <a:gd name="connsiteX0" fmla="*/ 0 w 2121006"/>
              <a:gd name="connsiteY0" fmla="*/ 0 h 343812"/>
              <a:gd name="connsiteX1" fmla="*/ 1946708 w 2121006"/>
              <a:gd name="connsiteY1" fmla="*/ 0 h 343812"/>
              <a:gd name="connsiteX2" fmla="*/ 2121006 w 2121006"/>
              <a:gd name="connsiteY2" fmla="*/ 174298 h 343812"/>
              <a:gd name="connsiteX3" fmla="*/ 1951492 w 2121006"/>
              <a:gd name="connsiteY3" fmla="*/ 343812 h 343812"/>
              <a:gd name="connsiteX4" fmla="*/ 0 w 2121006"/>
              <a:gd name="connsiteY4" fmla="*/ 343812 h 343812"/>
              <a:gd name="connsiteX5" fmla="*/ 0 w 2121006"/>
              <a:gd name="connsiteY5" fmla="*/ 0 h 34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1006" h="343812">
                <a:moveTo>
                  <a:pt x="0" y="0"/>
                </a:moveTo>
                <a:lnTo>
                  <a:pt x="1946708" y="0"/>
                </a:lnTo>
                <a:lnTo>
                  <a:pt x="2121006" y="174298"/>
                </a:lnTo>
                <a:lnTo>
                  <a:pt x="1951492" y="343812"/>
                </a:lnTo>
                <a:lnTo>
                  <a:pt x="0" y="343812"/>
                </a:lnTo>
                <a:lnTo>
                  <a:pt x="0" y="0"/>
                </a:lnTo>
                <a:close/>
              </a:path>
            </a:pathLst>
          </a:custGeom>
          <a:gradFill flip="none" rotWithShape="1">
            <a:gsLst>
              <a:gs pos="0">
                <a:schemeClr val="accent1">
                  <a:lumMod val="60000"/>
                  <a:lumOff val="40000"/>
                </a:schemeClr>
              </a:gs>
              <a:gs pos="54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61" name="显眼包PPT23"/>
          <p:cNvSpPr/>
          <p:nvPr/>
        </p:nvSpPr>
        <p:spPr>
          <a:xfrm>
            <a:off x="2896235" y="1252220"/>
            <a:ext cx="3032125" cy="421640"/>
          </a:xfrm>
          <a:custGeom>
            <a:avLst/>
            <a:gdLst>
              <a:gd name="connsiteX0" fmla="*/ 0 w 2273763"/>
              <a:gd name="connsiteY0" fmla="*/ 0 h 343812"/>
              <a:gd name="connsiteX1" fmla="*/ 2099464 w 2273763"/>
              <a:gd name="connsiteY1" fmla="*/ 0 h 343812"/>
              <a:gd name="connsiteX2" fmla="*/ 2273763 w 2273763"/>
              <a:gd name="connsiteY2" fmla="*/ 174298 h 343812"/>
              <a:gd name="connsiteX3" fmla="*/ 2104249 w 2273763"/>
              <a:gd name="connsiteY3" fmla="*/ 343812 h 343812"/>
              <a:gd name="connsiteX4" fmla="*/ 9818 w 2273763"/>
              <a:gd name="connsiteY4" fmla="*/ 343812 h 343812"/>
              <a:gd name="connsiteX5" fmla="*/ 176815 w 2273763"/>
              <a:gd name="connsiteY5" fmla="*/ 176815 h 343812"/>
              <a:gd name="connsiteX6" fmla="*/ 0 w 2273763"/>
              <a:gd name="connsiteY6" fmla="*/ 0 h 34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5" h="664">
                <a:moveTo>
                  <a:pt x="0" y="0"/>
                </a:moveTo>
                <a:lnTo>
                  <a:pt x="4372" y="0"/>
                </a:lnTo>
                <a:lnTo>
                  <a:pt x="4775" y="337"/>
                </a:lnTo>
                <a:lnTo>
                  <a:pt x="4383" y="664"/>
                </a:lnTo>
                <a:lnTo>
                  <a:pt x="3" y="664"/>
                </a:lnTo>
                <a:lnTo>
                  <a:pt x="341" y="337"/>
                </a:lnTo>
                <a:lnTo>
                  <a:pt x="0" y="6"/>
                </a:lnTo>
                <a:lnTo>
                  <a:pt x="0" y="0"/>
                </a:lnTo>
                <a:close/>
              </a:path>
            </a:pathLst>
          </a:custGeom>
          <a:gradFill flip="none" rotWithShape="1">
            <a:gsLst>
              <a:gs pos="0">
                <a:schemeClr val="accent1">
                  <a:lumMod val="40000"/>
                  <a:lumOff val="60000"/>
                </a:schemeClr>
              </a:gs>
              <a:gs pos="8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12" name="显眼包PPT24"/>
          <p:cNvSpPr/>
          <p:nvPr/>
        </p:nvSpPr>
        <p:spPr>
          <a:xfrm>
            <a:off x="8529955" y="1252220"/>
            <a:ext cx="3188970" cy="421640"/>
          </a:xfrm>
          <a:custGeom>
            <a:avLst/>
            <a:gdLst>
              <a:gd name="connsiteX0" fmla="*/ 0 w 2155635"/>
              <a:gd name="connsiteY0" fmla="*/ 0 h 343812"/>
              <a:gd name="connsiteX1" fmla="*/ 2155635 w 2155635"/>
              <a:gd name="connsiteY1" fmla="*/ 0 h 343812"/>
              <a:gd name="connsiteX2" fmla="*/ 2155635 w 2155635"/>
              <a:gd name="connsiteY2" fmla="*/ 343812 h 343812"/>
              <a:gd name="connsiteX3" fmla="*/ 9818 w 2155635"/>
              <a:gd name="connsiteY3" fmla="*/ 343812 h 343812"/>
              <a:gd name="connsiteX4" fmla="*/ 176815 w 2155635"/>
              <a:gd name="connsiteY4" fmla="*/ 176815 h 343812"/>
              <a:gd name="connsiteX5" fmla="*/ 0 w 2155635"/>
              <a:gd name="connsiteY5" fmla="*/ 0 h 34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2" h="664">
                <a:moveTo>
                  <a:pt x="0" y="0"/>
                </a:moveTo>
                <a:lnTo>
                  <a:pt x="5022" y="0"/>
                </a:lnTo>
                <a:lnTo>
                  <a:pt x="5022" y="664"/>
                </a:lnTo>
                <a:lnTo>
                  <a:pt x="11" y="664"/>
                </a:lnTo>
                <a:lnTo>
                  <a:pt x="403" y="337"/>
                </a:lnTo>
                <a:lnTo>
                  <a:pt x="0" y="0"/>
                </a:lnTo>
                <a:close/>
              </a:path>
            </a:pathLst>
          </a:custGeom>
          <a:gradFill flip="none" rotWithShape="1">
            <a:gsLst>
              <a:gs pos="0">
                <a:schemeClr val="accent5">
                  <a:lumMod val="60000"/>
                  <a:lumOff val="40000"/>
                </a:schemeClr>
              </a:gs>
              <a:gs pos="54000">
                <a:schemeClr val="accent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 name="显眼包PPT31"/>
          <p:cNvSpPr txBox="1"/>
          <p:nvPr/>
        </p:nvSpPr>
        <p:spPr>
          <a:xfrm>
            <a:off x="528873" y="1343025"/>
            <a:ext cx="1955800" cy="257810"/>
          </a:xfrm>
          <a:prstGeom prst="rect">
            <a:avLst/>
          </a:prstGeom>
          <a:noFill/>
        </p:spPr>
        <p:txBody>
          <a:bodyPr wrap="none" lIns="0" tIns="0" rIns="0" bIns="0" rtlCol="0">
            <a:spAutoFit/>
          </a:bodyPr>
          <a:lstStyle/>
          <a:p>
            <a:pPr marL="0" marR="0" lvl="0" indent="0" algn="l" defTabSz="914400" rtl="0" eaLnBrk="1" fontAlgn="auto" latinLnBrk="0" hangingPunct="1">
              <a:lnSpc>
                <a:spcPct val="120000"/>
              </a:lnSpc>
              <a:spcBef>
                <a:spcPts val="0"/>
              </a:spcBef>
              <a:spcAft>
                <a:spcPts val="120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第一阶段：战略蓝图规划</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 name="显眼包PPT23"/>
          <p:cNvSpPr/>
          <p:nvPr/>
        </p:nvSpPr>
        <p:spPr>
          <a:xfrm>
            <a:off x="5777865" y="1252220"/>
            <a:ext cx="2926080" cy="421640"/>
          </a:xfrm>
          <a:custGeom>
            <a:avLst/>
            <a:gdLst>
              <a:gd name="connsiteX0" fmla="*/ 0 w 2273763"/>
              <a:gd name="connsiteY0" fmla="*/ 0 h 343812"/>
              <a:gd name="connsiteX1" fmla="*/ 2099464 w 2273763"/>
              <a:gd name="connsiteY1" fmla="*/ 0 h 343812"/>
              <a:gd name="connsiteX2" fmla="*/ 2273763 w 2273763"/>
              <a:gd name="connsiteY2" fmla="*/ 174298 h 343812"/>
              <a:gd name="connsiteX3" fmla="*/ 2104249 w 2273763"/>
              <a:gd name="connsiteY3" fmla="*/ 343812 h 343812"/>
              <a:gd name="connsiteX4" fmla="*/ 9818 w 2273763"/>
              <a:gd name="connsiteY4" fmla="*/ 343812 h 343812"/>
              <a:gd name="connsiteX5" fmla="*/ 176815 w 2273763"/>
              <a:gd name="connsiteY5" fmla="*/ 176815 h 343812"/>
              <a:gd name="connsiteX6" fmla="*/ 0 w 2273763"/>
              <a:gd name="connsiteY6" fmla="*/ 0 h 34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8" h="664">
                <a:moveTo>
                  <a:pt x="0" y="0"/>
                </a:moveTo>
                <a:lnTo>
                  <a:pt x="4205" y="0"/>
                </a:lnTo>
                <a:lnTo>
                  <a:pt x="4608" y="337"/>
                </a:lnTo>
                <a:lnTo>
                  <a:pt x="4216" y="664"/>
                </a:lnTo>
                <a:lnTo>
                  <a:pt x="11" y="664"/>
                </a:lnTo>
                <a:lnTo>
                  <a:pt x="403" y="337"/>
                </a:lnTo>
                <a:lnTo>
                  <a:pt x="0" y="0"/>
                </a:lnTo>
                <a:close/>
              </a:path>
            </a:pathLst>
          </a:custGeom>
          <a:gradFill flip="none" rotWithShape="1">
            <a:gsLst>
              <a:gs pos="0">
                <a:schemeClr val="accent1">
                  <a:lumMod val="60000"/>
                  <a:lumOff val="40000"/>
                </a:schemeClr>
              </a:gs>
              <a:gs pos="54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8" name="显眼包PPT31"/>
          <p:cNvSpPr txBox="1"/>
          <p:nvPr/>
        </p:nvSpPr>
        <p:spPr>
          <a:xfrm>
            <a:off x="3319063" y="1343025"/>
            <a:ext cx="2133600" cy="257810"/>
          </a:xfrm>
          <a:prstGeom prst="rect">
            <a:avLst/>
          </a:prstGeom>
          <a:noFill/>
        </p:spPr>
        <p:txBody>
          <a:bodyPr wrap="none" lIns="0" tIns="0" rIns="0" bIns="0" rtlCol="0">
            <a:spAutoFit/>
          </a:bodyPr>
          <a:lstStyle/>
          <a:p>
            <a:pPr marL="0" marR="0" lvl="0" indent="0" algn="l" defTabSz="914400" rtl="0" eaLnBrk="1" fontAlgn="auto" latinLnBrk="0" hangingPunct="1">
              <a:lnSpc>
                <a:spcPct val="120000"/>
              </a:lnSpc>
              <a:spcBef>
                <a:spcPts val="0"/>
              </a:spcBef>
              <a:spcAft>
                <a:spcPts val="120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第二阶段：产品与客户开拓</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9" name="显眼包PPT31"/>
          <p:cNvSpPr txBox="1"/>
          <p:nvPr/>
        </p:nvSpPr>
        <p:spPr>
          <a:xfrm>
            <a:off x="6165768" y="1343025"/>
            <a:ext cx="2133600" cy="257810"/>
          </a:xfrm>
          <a:prstGeom prst="rect">
            <a:avLst/>
          </a:prstGeom>
          <a:noFill/>
        </p:spPr>
        <p:txBody>
          <a:bodyPr wrap="none" lIns="0" tIns="0" rIns="0" bIns="0" rtlCol="0">
            <a:spAutoFit/>
          </a:bodyPr>
          <a:lstStyle/>
          <a:p>
            <a:pPr marL="0" marR="0" lvl="0" indent="0" algn="l" defTabSz="914400" rtl="0" eaLnBrk="1" fontAlgn="auto" latinLnBrk="0" hangingPunct="1">
              <a:lnSpc>
                <a:spcPct val="120000"/>
              </a:lnSpc>
              <a:spcBef>
                <a:spcPts val="0"/>
              </a:spcBef>
              <a:spcAft>
                <a:spcPts val="120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第三阶段：运营与数据驱动</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4" name="显眼包PPT31"/>
          <p:cNvSpPr txBox="1"/>
          <p:nvPr/>
        </p:nvSpPr>
        <p:spPr>
          <a:xfrm>
            <a:off x="8979453" y="1335405"/>
            <a:ext cx="2489200" cy="257810"/>
          </a:xfrm>
          <a:prstGeom prst="rect">
            <a:avLst/>
          </a:prstGeom>
          <a:noFill/>
        </p:spPr>
        <p:txBody>
          <a:bodyPr wrap="none" lIns="0" tIns="0" rIns="0" bIns="0" rtlCol="0">
            <a:spAutoFit/>
          </a:bodyPr>
          <a:lstStyle/>
          <a:p>
            <a:pPr marL="0" marR="0" lvl="0" indent="0" algn="l" defTabSz="914400" rtl="0" eaLnBrk="1" fontAlgn="auto" latinLnBrk="0" hangingPunct="1">
              <a:lnSpc>
                <a:spcPct val="120000"/>
              </a:lnSpc>
              <a:spcBef>
                <a:spcPts val="0"/>
              </a:spcBef>
              <a:spcAft>
                <a:spcPts val="120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第四阶段：生态融合与持续进化</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100" name="图片 99" descr="客户供应商"/>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8723" y="4190365"/>
            <a:ext cx="309245" cy="257810"/>
          </a:xfrm>
          <a:prstGeom prst="rect">
            <a:avLst/>
          </a:prstGeom>
        </p:spPr>
      </p:pic>
      <p:pic>
        <p:nvPicPr>
          <p:cNvPr id="105" name="图片 104" descr="财务"/>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19040" y="3135630"/>
            <a:ext cx="251460" cy="251460"/>
          </a:xfrm>
          <a:prstGeom prst="rect">
            <a:avLst/>
          </a:prstGeom>
        </p:spPr>
      </p:pic>
      <p:pic>
        <p:nvPicPr>
          <p:cNvPr id="107" name="图片 106" descr="二级导航_产品制作"/>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37293" y="3135630"/>
            <a:ext cx="291465" cy="291465"/>
          </a:xfrm>
          <a:prstGeom prst="rect">
            <a:avLst/>
          </a:prstGeom>
        </p:spPr>
      </p:pic>
      <p:pic>
        <p:nvPicPr>
          <p:cNvPr id="110" name="图片 109" descr="头像"/>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24275" y="4150995"/>
            <a:ext cx="317500" cy="317500"/>
          </a:xfrm>
          <a:prstGeom prst="rect">
            <a:avLst/>
          </a:prstGeom>
        </p:spPr>
      </p:pic>
      <p:pic>
        <p:nvPicPr>
          <p:cNvPr id="106" name="图片 105" descr="物品"/>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80785" y="4210685"/>
            <a:ext cx="291465" cy="291465"/>
          </a:xfrm>
          <a:prstGeom prst="rect">
            <a:avLst/>
          </a:prstGeom>
        </p:spPr>
      </p:pic>
      <p:pic>
        <p:nvPicPr>
          <p:cNvPr id="109" name="图片 108" descr="服务"/>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80785" y="3142615"/>
            <a:ext cx="291465" cy="291465"/>
          </a:xfrm>
          <a:prstGeom prst="rect">
            <a:avLst/>
          </a:prstGeom>
        </p:spPr>
      </p:pic>
      <p:pic>
        <p:nvPicPr>
          <p:cNvPr id="99" name="图片 98" descr="菜单-生产管理"/>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71105" y="4213225"/>
            <a:ext cx="259080" cy="241935"/>
          </a:xfrm>
          <a:prstGeom prst="rect">
            <a:avLst/>
          </a:prstGeom>
        </p:spPr>
      </p:pic>
      <p:pic>
        <p:nvPicPr>
          <p:cNvPr id="108" name="图片 107" descr="数据"/>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578725" y="3143250"/>
            <a:ext cx="243840" cy="243840"/>
          </a:xfrm>
          <a:prstGeom prst="rect">
            <a:avLst/>
          </a:prstGeom>
        </p:spPr>
      </p:pic>
      <p:sp>
        <p:nvSpPr>
          <p:cNvPr id="37" name="textbox 2070"/>
          <p:cNvSpPr/>
          <p:nvPr/>
        </p:nvSpPr>
        <p:spPr>
          <a:xfrm>
            <a:off x="459105" y="1891665"/>
            <a:ext cx="2225040" cy="153670"/>
          </a:xfrm>
          <a:prstGeom prst="rect">
            <a:avLst/>
          </a:prstGeom>
        </p:spPr>
        <p:txBody>
          <a:bodyPr vert="horz" wrap="square" lIns="0" tIns="0" rIns="0" bIns="0">
            <a:spAutoFit/>
          </a:bodyPr>
          <a:lstStyle/>
          <a:p>
            <a:pPr marL="12700" algn="ctr" rtl="0" eaLnBrk="0"/>
            <a:r>
              <a:rPr lang="zh-CN" sz="1000" b="1"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核心聚焦：</a:t>
            </a:r>
            <a:r>
              <a:rPr lang="zh-CN" altLang="en-US" sz="10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定方向、绘蓝图</a:t>
            </a:r>
            <a:endParaRPr lang="zh-CN" altLang="en-US" sz="10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38" name="textbox 2070"/>
          <p:cNvSpPr/>
          <p:nvPr/>
        </p:nvSpPr>
        <p:spPr>
          <a:xfrm>
            <a:off x="464185" y="2319020"/>
            <a:ext cx="2225040" cy="492125"/>
          </a:xfrm>
          <a:prstGeom prst="rect">
            <a:avLst/>
          </a:prstGeom>
        </p:spPr>
        <p:txBody>
          <a:bodyPr vert="horz" wrap="square" lIns="0" tIns="0" rIns="0" bIns="0">
            <a:spAutoFit/>
          </a:bodyPr>
          <a:lstStyle/>
          <a:p>
            <a:pPr marL="12700" algn="ctr" rtl="0" eaLnBrk="0"/>
            <a:r>
              <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明确企业数字化与智能制造的总体愿景、战略目标及转型的必要性。规划清晰的实施路线图，设定阶段性目标，评估投资与资源需求，并设计配套的组织变革方向。</a:t>
            </a:r>
            <a:endPar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endParaRPr>
          </a:p>
        </p:txBody>
      </p:sp>
      <p:grpSp>
        <p:nvGrpSpPr>
          <p:cNvPr id="45" name="组合 44"/>
          <p:cNvGrpSpPr/>
          <p:nvPr/>
        </p:nvGrpSpPr>
        <p:grpSpPr>
          <a:xfrm>
            <a:off x="532765" y="2115820"/>
            <a:ext cx="545465" cy="132080"/>
            <a:chOff x="752" y="3332"/>
            <a:chExt cx="859" cy="208"/>
          </a:xfrm>
        </p:grpSpPr>
        <p:sp>
          <p:nvSpPr>
            <p:cNvPr id="39" name="圆角矩形 38"/>
            <p:cNvSpPr/>
            <p:nvPr/>
          </p:nvSpPr>
          <p:spPr>
            <a:xfrm>
              <a:off x="752" y="3332"/>
              <a:ext cx="858" cy="208"/>
            </a:xfrm>
            <a:prstGeom prst="roundRect">
              <a:avLst/>
            </a:prstGeom>
            <a:solidFill>
              <a:schemeClr val="bg1">
                <a:alpha val="50000"/>
              </a:schemeClr>
            </a:solidFill>
            <a:ln w="6350">
              <a:solidFill>
                <a:schemeClr val="accent1">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0" name="textbox 2070"/>
            <p:cNvSpPr/>
            <p:nvPr/>
          </p:nvSpPr>
          <p:spPr>
            <a:xfrm>
              <a:off x="753" y="3364"/>
              <a:ext cx="858" cy="145"/>
            </a:xfrm>
            <a:prstGeom prst="rect">
              <a:avLst/>
            </a:prstGeom>
          </p:spPr>
          <p:txBody>
            <a:bodyPr vert="horz" wrap="square" lIns="0" tIns="0" rIns="0" bIns="0">
              <a:spAutoFit/>
            </a:bodyPr>
            <a:lstStyle/>
            <a:p>
              <a:pPr marL="12700" algn="ctr" rtl="0" eaLnBrk="0"/>
              <a:r>
                <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战略白皮书</a:t>
              </a:r>
              <a:endPar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46" name="组合 45"/>
          <p:cNvGrpSpPr/>
          <p:nvPr/>
        </p:nvGrpSpPr>
        <p:grpSpPr>
          <a:xfrm>
            <a:off x="1160145" y="2115820"/>
            <a:ext cx="561340" cy="132080"/>
            <a:chOff x="1741" y="3332"/>
            <a:chExt cx="884" cy="208"/>
          </a:xfrm>
        </p:grpSpPr>
        <p:sp>
          <p:nvSpPr>
            <p:cNvPr id="41" name="圆角矩形 40"/>
            <p:cNvSpPr/>
            <p:nvPr/>
          </p:nvSpPr>
          <p:spPr>
            <a:xfrm>
              <a:off x="1741" y="3332"/>
              <a:ext cx="884" cy="208"/>
            </a:xfrm>
            <a:prstGeom prst="roundRect">
              <a:avLst/>
            </a:prstGeom>
            <a:solidFill>
              <a:schemeClr val="bg1">
                <a:alpha val="50000"/>
              </a:schemeClr>
            </a:solidFill>
            <a:ln w="6350">
              <a:solidFill>
                <a:schemeClr val="accent1">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2" name="textbox 2070"/>
            <p:cNvSpPr/>
            <p:nvPr/>
          </p:nvSpPr>
          <p:spPr>
            <a:xfrm>
              <a:off x="1754" y="3364"/>
              <a:ext cx="858" cy="145"/>
            </a:xfrm>
            <a:prstGeom prst="rect">
              <a:avLst/>
            </a:prstGeom>
          </p:spPr>
          <p:txBody>
            <a:bodyPr vert="horz" wrap="square" lIns="0" tIns="0" rIns="0" bIns="0">
              <a:spAutoFit/>
            </a:bodyPr>
            <a:lstStyle/>
            <a:p>
              <a:pPr marL="12700" algn="ctr" rtl="0" eaLnBrk="0"/>
              <a:r>
                <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实施路线图</a:t>
              </a:r>
              <a:endPar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47" name="组合 46"/>
          <p:cNvGrpSpPr/>
          <p:nvPr/>
        </p:nvGrpSpPr>
        <p:grpSpPr>
          <a:xfrm>
            <a:off x="1803400" y="2115820"/>
            <a:ext cx="737870" cy="132080"/>
            <a:chOff x="2752" y="3332"/>
            <a:chExt cx="1162" cy="208"/>
          </a:xfrm>
        </p:grpSpPr>
        <p:sp>
          <p:nvSpPr>
            <p:cNvPr id="43" name="圆角矩形 42"/>
            <p:cNvSpPr/>
            <p:nvPr/>
          </p:nvSpPr>
          <p:spPr>
            <a:xfrm>
              <a:off x="2752" y="3332"/>
              <a:ext cx="1162" cy="208"/>
            </a:xfrm>
            <a:prstGeom prst="roundRect">
              <a:avLst/>
            </a:prstGeom>
            <a:solidFill>
              <a:schemeClr val="bg1">
                <a:alpha val="50000"/>
              </a:schemeClr>
            </a:solidFill>
            <a:ln w="6350">
              <a:solidFill>
                <a:schemeClr val="accent1">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4" name="textbox 2070"/>
            <p:cNvSpPr/>
            <p:nvPr/>
          </p:nvSpPr>
          <p:spPr>
            <a:xfrm>
              <a:off x="2795" y="3364"/>
              <a:ext cx="1076" cy="145"/>
            </a:xfrm>
            <a:prstGeom prst="rect">
              <a:avLst/>
            </a:prstGeom>
          </p:spPr>
          <p:txBody>
            <a:bodyPr vert="horz" wrap="square" lIns="0" tIns="0" rIns="0" bIns="0">
              <a:spAutoFit/>
            </a:bodyPr>
            <a:lstStyle/>
            <a:p>
              <a:pPr marL="12700" algn="ctr" rtl="0" eaLnBrk="0"/>
              <a:r>
                <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投资与资源评估</a:t>
              </a:r>
              <a:endPar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48" name="textbox 2070"/>
          <p:cNvSpPr/>
          <p:nvPr/>
        </p:nvSpPr>
        <p:spPr>
          <a:xfrm>
            <a:off x="3182938" y="1891665"/>
            <a:ext cx="2225040" cy="153670"/>
          </a:xfrm>
          <a:prstGeom prst="rect">
            <a:avLst/>
          </a:prstGeom>
        </p:spPr>
        <p:txBody>
          <a:bodyPr vert="horz" wrap="square" lIns="0" tIns="0" rIns="0" bIns="0">
            <a:spAutoFit/>
          </a:bodyPr>
          <a:lstStyle/>
          <a:p>
            <a:pPr marL="12700" algn="ctr" rtl="0" eaLnBrk="0"/>
            <a:r>
              <a:rPr lang="zh-CN" sz="1000" b="1"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rPr>
              <a:t>核心聚焦：</a:t>
            </a:r>
            <a:r>
              <a:rPr lang="zh-CN" altLang="en-US" sz="10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rPr>
              <a:t>显价值、触市场</a:t>
            </a:r>
            <a:endParaRPr lang="zh-CN" altLang="en-US" sz="10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49" name="textbox 2070"/>
          <p:cNvSpPr/>
          <p:nvPr/>
        </p:nvSpPr>
        <p:spPr>
          <a:xfrm>
            <a:off x="3047048" y="2319020"/>
            <a:ext cx="2496820" cy="368935"/>
          </a:xfrm>
          <a:prstGeom prst="rect">
            <a:avLst/>
          </a:prstGeom>
        </p:spPr>
        <p:txBody>
          <a:bodyPr vert="horz" wrap="square" lIns="0" tIns="0" rIns="0" bIns="0">
            <a:spAutoFit/>
          </a:bodyPr>
          <a:lstStyle/>
          <a:p>
            <a:pPr marL="12700" algn="ctr" rtl="0" eaLnBrk="0"/>
            <a:r>
              <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实现产品的智能化升级</a:t>
            </a:r>
            <a:r>
              <a:rPr lang="en-US" altLang="zh-CN"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a:t>
            </a:r>
            <a:r>
              <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并构建以客户为中心的数字化触点，通过移动互联、数据分析等手段，实现精准营销、个性化服务与全程体验优化。</a:t>
            </a:r>
            <a:endPar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endParaRPr>
          </a:p>
        </p:txBody>
      </p:sp>
      <p:grpSp>
        <p:nvGrpSpPr>
          <p:cNvPr id="50" name="组合 49"/>
          <p:cNvGrpSpPr/>
          <p:nvPr/>
        </p:nvGrpSpPr>
        <p:grpSpPr>
          <a:xfrm>
            <a:off x="3209290" y="2115820"/>
            <a:ext cx="685165" cy="132080"/>
            <a:chOff x="537" y="3332"/>
            <a:chExt cx="1079" cy="208"/>
          </a:xfrm>
        </p:grpSpPr>
        <p:sp>
          <p:nvSpPr>
            <p:cNvPr id="51" name="圆角矩形 50"/>
            <p:cNvSpPr/>
            <p:nvPr/>
          </p:nvSpPr>
          <p:spPr>
            <a:xfrm>
              <a:off x="537" y="3332"/>
              <a:ext cx="1079" cy="208"/>
            </a:xfrm>
            <a:prstGeom prst="roundRect">
              <a:avLst/>
            </a:prstGeom>
            <a:solidFill>
              <a:schemeClr val="bg1">
                <a:alpha val="50000"/>
              </a:schemeClr>
            </a:solidFill>
            <a:ln w="6350">
              <a:solidFill>
                <a:schemeClr val="accent2">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 name="textbox 2070"/>
            <p:cNvSpPr/>
            <p:nvPr/>
          </p:nvSpPr>
          <p:spPr>
            <a:xfrm>
              <a:off x="548" y="3364"/>
              <a:ext cx="1057" cy="145"/>
            </a:xfrm>
            <a:prstGeom prst="rect">
              <a:avLst/>
            </a:prstGeom>
          </p:spPr>
          <p:txBody>
            <a:bodyPr vert="horz" wrap="square" lIns="0" tIns="0" rIns="0" bIns="0">
              <a:spAutoFit/>
            </a:bodyPr>
            <a:lstStyle/>
            <a:p>
              <a:pPr marL="12700" algn="ctr" rtl="0" eaLnBrk="0"/>
              <a:r>
                <a:rPr lang="zh-CN" altLang="en-US" sz="6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rPr>
                <a:t>智能产品</a:t>
              </a:r>
              <a:r>
                <a:rPr lang="en-US" altLang="zh-CN" sz="6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rPr>
                <a:t>/</a:t>
              </a:r>
              <a:r>
                <a:rPr lang="zh-CN" altLang="en-US" sz="6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rPr>
                <a:t>服务</a:t>
              </a:r>
              <a:endParaRPr lang="zh-CN" altLang="en-US" sz="6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53" name="组合 52"/>
          <p:cNvGrpSpPr/>
          <p:nvPr/>
        </p:nvGrpSpPr>
        <p:grpSpPr>
          <a:xfrm>
            <a:off x="3988435" y="2115820"/>
            <a:ext cx="561340" cy="132080"/>
            <a:chOff x="1741" y="3332"/>
            <a:chExt cx="884" cy="208"/>
          </a:xfrm>
        </p:grpSpPr>
        <p:sp>
          <p:nvSpPr>
            <p:cNvPr id="54" name="圆角矩形 53"/>
            <p:cNvSpPr/>
            <p:nvPr/>
          </p:nvSpPr>
          <p:spPr>
            <a:xfrm>
              <a:off x="1741" y="3332"/>
              <a:ext cx="884" cy="208"/>
            </a:xfrm>
            <a:prstGeom prst="roundRect">
              <a:avLst/>
            </a:prstGeom>
            <a:solidFill>
              <a:schemeClr val="bg1">
                <a:alpha val="50000"/>
              </a:schemeClr>
            </a:solidFill>
            <a:ln w="6350">
              <a:solidFill>
                <a:schemeClr val="accent2">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textbox 2070"/>
            <p:cNvSpPr/>
            <p:nvPr/>
          </p:nvSpPr>
          <p:spPr>
            <a:xfrm>
              <a:off x="1754" y="3364"/>
              <a:ext cx="858" cy="145"/>
            </a:xfrm>
            <a:prstGeom prst="rect">
              <a:avLst/>
            </a:prstGeom>
          </p:spPr>
          <p:txBody>
            <a:bodyPr vert="horz" wrap="square" lIns="0" tIns="0" rIns="0" bIns="0">
              <a:spAutoFit/>
            </a:bodyPr>
            <a:lstStyle/>
            <a:p>
              <a:pPr marL="12700" algn="ctr" rtl="0" eaLnBrk="0"/>
              <a:r>
                <a:rPr lang="zh-CN" altLang="en-US" sz="6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rPr>
                <a:t>数字化触点</a:t>
              </a:r>
              <a:endParaRPr lang="zh-CN" altLang="en-US" sz="6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56" name="组合 55"/>
          <p:cNvGrpSpPr/>
          <p:nvPr/>
        </p:nvGrpSpPr>
        <p:grpSpPr>
          <a:xfrm>
            <a:off x="4643755" y="2115820"/>
            <a:ext cx="683260" cy="132080"/>
            <a:chOff x="2795" y="3332"/>
            <a:chExt cx="1076" cy="208"/>
          </a:xfrm>
        </p:grpSpPr>
        <p:sp>
          <p:nvSpPr>
            <p:cNvPr id="57" name="圆角矩形 56"/>
            <p:cNvSpPr/>
            <p:nvPr/>
          </p:nvSpPr>
          <p:spPr>
            <a:xfrm>
              <a:off x="2795" y="3332"/>
              <a:ext cx="1075" cy="208"/>
            </a:xfrm>
            <a:prstGeom prst="roundRect">
              <a:avLst/>
            </a:prstGeom>
            <a:solidFill>
              <a:schemeClr val="bg1">
                <a:alpha val="50000"/>
              </a:schemeClr>
            </a:solidFill>
            <a:ln w="6350">
              <a:solidFill>
                <a:schemeClr val="accent2">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8" name="textbox 2070"/>
            <p:cNvSpPr/>
            <p:nvPr/>
          </p:nvSpPr>
          <p:spPr>
            <a:xfrm>
              <a:off x="2795" y="3364"/>
              <a:ext cx="1076" cy="145"/>
            </a:xfrm>
            <a:prstGeom prst="rect">
              <a:avLst/>
            </a:prstGeom>
          </p:spPr>
          <p:txBody>
            <a:bodyPr vert="horz" wrap="square" lIns="0" tIns="0" rIns="0" bIns="0">
              <a:spAutoFit/>
            </a:bodyPr>
            <a:lstStyle/>
            <a:p>
              <a:pPr marL="12700" algn="ctr" rtl="0" eaLnBrk="0"/>
              <a:r>
                <a:rPr lang="zh-CN" altLang="en-US" sz="6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rPr>
                <a:t>客户数据平台</a:t>
              </a:r>
              <a:endParaRPr lang="zh-CN" altLang="en-US" sz="600" kern="0" spc="140" dirty="0" err="1">
                <a:solidFill>
                  <a:schemeClr val="accent2">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59" name="textbox 2070"/>
          <p:cNvSpPr/>
          <p:nvPr/>
        </p:nvSpPr>
        <p:spPr>
          <a:xfrm>
            <a:off x="6006465" y="1891665"/>
            <a:ext cx="2225040" cy="153670"/>
          </a:xfrm>
          <a:prstGeom prst="rect">
            <a:avLst/>
          </a:prstGeom>
        </p:spPr>
        <p:txBody>
          <a:bodyPr vert="horz" wrap="square" lIns="0" tIns="0" rIns="0" bIns="0">
            <a:spAutoFit/>
          </a:bodyPr>
          <a:lstStyle/>
          <a:p>
            <a:pPr marL="12700" algn="ctr" rtl="0" eaLnBrk="0"/>
            <a:r>
              <a:rPr lang="zh-CN" sz="1000" b="1"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核心聚焦：</a:t>
            </a:r>
            <a:r>
              <a:rPr lang="zh-CN" altLang="en-US" sz="10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提效率、强内核</a:t>
            </a:r>
            <a:endParaRPr lang="zh-CN" altLang="en-US" sz="10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nvGrpSpPr>
          <p:cNvPr id="62" name="组合 61"/>
          <p:cNvGrpSpPr/>
          <p:nvPr/>
        </p:nvGrpSpPr>
        <p:grpSpPr>
          <a:xfrm>
            <a:off x="6026785" y="2115820"/>
            <a:ext cx="545465" cy="132080"/>
            <a:chOff x="752" y="3332"/>
            <a:chExt cx="859" cy="208"/>
          </a:xfrm>
        </p:grpSpPr>
        <p:sp>
          <p:nvSpPr>
            <p:cNvPr id="63" name="圆角矩形 62"/>
            <p:cNvSpPr/>
            <p:nvPr/>
          </p:nvSpPr>
          <p:spPr>
            <a:xfrm>
              <a:off x="752" y="3332"/>
              <a:ext cx="858" cy="208"/>
            </a:xfrm>
            <a:prstGeom prst="roundRect">
              <a:avLst/>
            </a:prstGeom>
            <a:solidFill>
              <a:schemeClr val="bg1">
                <a:alpha val="50000"/>
              </a:schemeClr>
            </a:solidFill>
            <a:ln w="6350">
              <a:solidFill>
                <a:schemeClr val="accent1">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4" name="textbox 2070"/>
            <p:cNvSpPr/>
            <p:nvPr/>
          </p:nvSpPr>
          <p:spPr>
            <a:xfrm>
              <a:off x="753" y="3364"/>
              <a:ext cx="858" cy="145"/>
            </a:xfrm>
            <a:prstGeom prst="rect">
              <a:avLst/>
            </a:prstGeom>
          </p:spPr>
          <p:txBody>
            <a:bodyPr vert="horz" wrap="square" lIns="0" tIns="0" rIns="0" bIns="0">
              <a:spAutoFit/>
            </a:bodyPr>
            <a:lstStyle/>
            <a:p>
              <a:pPr marL="12700" algn="ctr" rtl="0" eaLnBrk="0"/>
              <a:r>
                <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数据驱动</a:t>
              </a:r>
              <a:endPar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65" name="组合 64"/>
          <p:cNvGrpSpPr/>
          <p:nvPr/>
        </p:nvGrpSpPr>
        <p:grpSpPr>
          <a:xfrm>
            <a:off x="6666865" y="2115820"/>
            <a:ext cx="640080" cy="132080"/>
            <a:chOff x="1741" y="3332"/>
            <a:chExt cx="1008" cy="208"/>
          </a:xfrm>
        </p:grpSpPr>
        <p:sp>
          <p:nvSpPr>
            <p:cNvPr id="66" name="圆角矩形 65"/>
            <p:cNvSpPr/>
            <p:nvPr/>
          </p:nvSpPr>
          <p:spPr>
            <a:xfrm>
              <a:off x="1741" y="3332"/>
              <a:ext cx="1008" cy="208"/>
            </a:xfrm>
            <a:prstGeom prst="roundRect">
              <a:avLst/>
            </a:prstGeom>
            <a:solidFill>
              <a:schemeClr val="bg1">
                <a:alpha val="50000"/>
              </a:schemeClr>
            </a:solidFill>
            <a:ln w="6350">
              <a:solidFill>
                <a:schemeClr val="accent1">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7" name="textbox 2070"/>
            <p:cNvSpPr/>
            <p:nvPr/>
          </p:nvSpPr>
          <p:spPr>
            <a:xfrm>
              <a:off x="1754" y="3364"/>
              <a:ext cx="969" cy="145"/>
            </a:xfrm>
            <a:prstGeom prst="rect">
              <a:avLst/>
            </a:prstGeom>
          </p:spPr>
          <p:txBody>
            <a:bodyPr vert="horz" wrap="square" lIns="0" tIns="0" rIns="0" bIns="0">
              <a:spAutoFit/>
            </a:bodyPr>
            <a:lstStyle/>
            <a:p>
              <a:pPr marL="12700" algn="ctr" rtl="0" eaLnBrk="0"/>
              <a:r>
                <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运营指挥中心</a:t>
              </a:r>
              <a:endPar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68" name="组合 67"/>
          <p:cNvGrpSpPr/>
          <p:nvPr/>
        </p:nvGrpSpPr>
        <p:grpSpPr>
          <a:xfrm>
            <a:off x="7401560" y="2115820"/>
            <a:ext cx="737870" cy="132080"/>
            <a:chOff x="2752" y="3332"/>
            <a:chExt cx="1162" cy="208"/>
          </a:xfrm>
        </p:grpSpPr>
        <p:sp>
          <p:nvSpPr>
            <p:cNvPr id="69" name="圆角矩形 68"/>
            <p:cNvSpPr/>
            <p:nvPr/>
          </p:nvSpPr>
          <p:spPr>
            <a:xfrm>
              <a:off x="2752" y="3332"/>
              <a:ext cx="1162" cy="208"/>
            </a:xfrm>
            <a:prstGeom prst="roundRect">
              <a:avLst/>
            </a:prstGeom>
            <a:solidFill>
              <a:schemeClr val="bg1">
                <a:alpha val="50000"/>
              </a:schemeClr>
            </a:solidFill>
            <a:ln w="6350">
              <a:solidFill>
                <a:schemeClr val="accent1">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 name="textbox 2070"/>
            <p:cNvSpPr/>
            <p:nvPr/>
          </p:nvSpPr>
          <p:spPr>
            <a:xfrm>
              <a:off x="2795" y="3364"/>
              <a:ext cx="1076" cy="145"/>
            </a:xfrm>
            <a:prstGeom prst="rect">
              <a:avLst/>
            </a:prstGeom>
          </p:spPr>
          <p:txBody>
            <a:bodyPr vert="horz" wrap="square" lIns="0" tIns="0" rIns="0" bIns="0">
              <a:spAutoFit/>
            </a:bodyPr>
            <a:lstStyle/>
            <a:p>
              <a:pPr marL="12700" algn="ctr" rtl="0" eaLnBrk="0"/>
              <a:r>
                <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rPr>
                <a:t>全价值链路协同</a:t>
              </a:r>
              <a:endParaRPr lang="zh-CN" altLang="en-US" sz="600" kern="0" spc="140" dirty="0" err="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71" name="textbox 2070"/>
          <p:cNvSpPr/>
          <p:nvPr/>
        </p:nvSpPr>
        <p:spPr>
          <a:xfrm>
            <a:off x="5870575" y="2319020"/>
            <a:ext cx="2496820" cy="368935"/>
          </a:xfrm>
          <a:prstGeom prst="rect">
            <a:avLst/>
          </a:prstGeom>
        </p:spPr>
        <p:txBody>
          <a:bodyPr vert="horz" wrap="square" lIns="0" tIns="0" rIns="0" bIns="0">
            <a:spAutoFit/>
          </a:bodyPr>
          <a:lstStyle/>
          <a:p>
            <a:pPr marL="12700" algn="ctr" rtl="0" eaLnBrk="0"/>
            <a:r>
              <a:rPr lang="en-US" altLang="zh-CN"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 </a:t>
            </a:r>
            <a:r>
              <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构建企业级数据平台，深化数据治理，形成</a:t>
            </a:r>
            <a:r>
              <a:rPr lang="en-US" altLang="zh-CN"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a:t>
            </a:r>
            <a:r>
              <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数据驱动</a:t>
            </a:r>
            <a:r>
              <a:rPr lang="en-US" altLang="zh-CN"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a:t>
            </a:r>
            <a:r>
              <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a:t>
            </a:r>
            <a:r>
              <a:rPr lang="en-US" altLang="zh-CN"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 </a:t>
            </a:r>
            <a:r>
              <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利用云技术，实现财务、人力、协同办公等管理流程的自动化与精细化。</a:t>
            </a:r>
            <a:endPar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440" name="椭圆 439"/>
          <p:cNvSpPr/>
          <p:nvPr/>
        </p:nvSpPr>
        <p:spPr>
          <a:xfrm>
            <a:off x="9144000" y="2734310"/>
            <a:ext cx="2194560" cy="2186940"/>
          </a:xfrm>
          <a:prstGeom prst="ellips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a:latin typeface="微软雅黑" panose="020B0503020204020204" charset="-122"/>
                <a:ea typeface="微软雅黑" panose="020B0503020204020204" charset="-122"/>
                <a:cs typeface="微软雅黑" panose="020B0503020204020204" charset="-122"/>
                <a:sym typeface="+mn-ea"/>
              </a:rPr>
              <a:t>0000</a:t>
            </a:r>
            <a:endParaRPr lang="en-US" altLang="zh-CN" sz="2000">
              <a:latin typeface="微软雅黑" panose="020B0503020204020204" charset="-122"/>
              <a:ea typeface="微软雅黑" panose="020B0503020204020204" charset="-122"/>
              <a:cs typeface="微软雅黑" panose="020B0503020204020204" charset="-122"/>
              <a:sym typeface="+mn-ea"/>
            </a:endParaRPr>
          </a:p>
        </p:txBody>
      </p:sp>
      <p:grpSp>
        <p:nvGrpSpPr>
          <p:cNvPr id="441" name="组合 440"/>
          <p:cNvGrpSpPr/>
          <p:nvPr/>
        </p:nvGrpSpPr>
        <p:grpSpPr>
          <a:xfrm>
            <a:off x="9142095" y="2836545"/>
            <a:ext cx="2132330" cy="1969770"/>
            <a:chOff x="22571" y="8774"/>
            <a:chExt cx="4587" cy="4237"/>
          </a:xfrm>
        </p:grpSpPr>
        <p:sp>
          <p:nvSpPr>
            <p:cNvPr id="442" name="显眼包PPT4"/>
            <p:cNvSpPr/>
            <p:nvPr/>
          </p:nvSpPr>
          <p:spPr>
            <a:xfrm>
              <a:off x="22826" y="8774"/>
              <a:ext cx="4237" cy="4237"/>
            </a:xfrm>
            <a:prstGeom prst="ellipse">
              <a:avLst/>
            </a:prstGeom>
            <a:solidFill>
              <a:schemeClr val="bg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43" name="显眼包PPT4"/>
            <p:cNvSpPr/>
            <p:nvPr/>
          </p:nvSpPr>
          <p:spPr>
            <a:xfrm>
              <a:off x="22826" y="8774"/>
              <a:ext cx="4237" cy="4237"/>
            </a:xfrm>
            <a:prstGeom prst="ellipse">
              <a:avLst/>
            </a:prstGeom>
            <a:gradFill flip="none" rotWithShape="1">
              <a:gsLst>
                <a:gs pos="0">
                  <a:schemeClr val="accent5">
                    <a:lumMod val="60000"/>
                    <a:lumOff val="40000"/>
                    <a:alpha val="0"/>
                  </a:schemeClr>
                </a:gs>
                <a:gs pos="95000">
                  <a:schemeClr val="accent5">
                    <a:lumMod val="60000"/>
                    <a:lumOff val="40000"/>
                    <a:alpha val="32000"/>
                  </a:schemeClr>
                </a:gs>
              </a:gsLst>
              <a:path path="circle">
                <a:fillToRect l="50000" t="50000" r="50000" b="50000"/>
              </a:path>
              <a:tileRect/>
            </a:gra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grpSp>
          <p:nvGrpSpPr>
            <p:cNvPr id="444" name="显眼包PPT"/>
            <p:cNvGrpSpPr/>
            <p:nvPr/>
          </p:nvGrpSpPr>
          <p:grpSpPr>
            <a:xfrm rot="0">
              <a:off x="23210" y="9158"/>
              <a:ext cx="3470" cy="3470"/>
              <a:chOff x="4235490" y="1777449"/>
              <a:chExt cx="3721021" cy="3721021"/>
            </a:xfrm>
          </p:grpSpPr>
          <p:sp>
            <p:nvSpPr>
              <p:cNvPr id="445" name="显眼包PPT-1"/>
              <p:cNvSpPr/>
              <p:nvPr/>
            </p:nvSpPr>
            <p:spPr>
              <a:xfrm>
                <a:off x="4235490" y="1777449"/>
                <a:ext cx="3721021" cy="3721021"/>
              </a:xfrm>
              <a:prstGeom prst="arc">
                <a:avLst>
                  <a:gd name="adj1" fmla="val 15497049"/>
                  <a:gd name="adj2" fmla="val 16959083"/>
                </a:avLst>
              </a:prstGeom>
              <a:noFill/>
              <a:ln w="15875">
                <a:solidFill>
                  <a:schemeClr val="tx2"/>
                </a:solidFill>
                <a:prstDash val="sysDot"/>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46" name="显眼包PPT-2"/>
              <p:cNvSpPr/>
              <p:nvPr/>
            </p:nvSpPr>
            <p:spPr>
              <a:xfrm rot="3575644">
                <a:off x="4235490" y="1777449"/>
                <a:ext cx="3721021" cy="3721021"/>
              </a:xfrm>
              <a:prstGeom prst="arc">
                <a:avLst>
                  <a:gd name="adj1" fmla="val 15497049"/>
                  <a:gd name="adj2" fmla="val 16959083"/>
                </a:avLst>
              </a:prstGeom>
              <a:noFill/>
              <a:ln w="15875">
                <a:solidFill>
                  <a:schemeClr val="tx2"/>
                </a:solidFill>
                <a:prstDash val="sysDot"/>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47" name="显眼包PPT-3"/>
              <p:cNvSpPr/>
              <p:nvPr/>
            </p:nvSpPr>
            <p:spPr>
              <a:xfrm rot="7157820">
                <a:off x="4235490" y="1777449"/>
                <a:ext cx="3721021" cy="3721021"/>
              </a:xfrm>
              <a:prstGeom prst="arc">
                <a:avLst>
                  <a:gd name="adj1" fmla="val 15497049"/>
                  <a:gd name="adj2" fmla="val 16959083"/>
                </a:avLst>
              </a:prstGeom>
              <a:noFill/>
              <a:ln w="15875">
                <a:solidFill>
                  <a:schemeClr val="tx2"/>
                </a:solidFill>
                <a:prstDash val="sysDot"/>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48" name="显眼包PPT-4"/>
              <p:cNvSpPr/>
              <p:nvPr/>
            </p:nvSpPr>
            <p:spPr>
              <a:xfrm flipV="1">
                <a:off x="4235490" y="1777449"/>
                <a:ext cx="3721021" cy="3721021"/>
              </a:xfrm>
              <a:prstGeom prst="arc">
                <a:avLst>
                  <a:gd name="adj1" fmla="val 15497049"/>
                  <a:gd name="adj2" fmla="val 16959083"/>
                </a:avLst>
              </a:prstGeom>
              <a:noFill/>
              <a:ln w="15875">
                <a:solidFill>
                  <a:schemeClr val="tx2"/>
                </a:solidFill>
                <a:prstDash val="sysDot"/>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49" name="显眼包PPT-5"/>
              <p:cNvSpPr/>
              <p:nvPr/>
            </p:nvSpPr>
            <p:spPr>
              <a:xfrm rot="14442180" flipH="1">
                <a:off x="4235490" y="1777449"/>
                <a:ext cx="3721021" cy="3721021"/>
              </a:xfrm>
              <a:prstGeom prst="arc">
                <a:avLst>
                  <a:gd name="adj1" fmla="val 15497049"/>
                  <a:gd name="adj2" fmla="val 16959083"/>
                </a:avLst>
              </a:prstGeom>
              <a:noFill/>
              <a:ln w="15875">
                <a:solidFill>
                  <a:schemeClr val="tx2"/>
                </a:solidFill>
                <a:prstDash val="sysDot"/>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50" name="显眼包PPT-6"/>
              <p:cNvSpPr/>
              <p:nvPr/>
            </p:nvSpPr>
            <p:spPr>
              <a:xfrm rot="18024356" flipH="1">
                <a:off x="4235490" y="1777449"/>
                <a:ext cx="3721021" cy="3721021"/>
              </a:xfrm>
              <a:prstGeom prst="arc">
                <a:avLst>
                  <a:gd name="adj1" fmla="val 15497049"/>
                  <a:gd name="adj2" fmla="val 16959083"/>
                </a:avLst>
              </a:prstGeom>
              <a:noFill/>
              <a:ln w="15875">
                <a:solidFill>
                  <a:schemeClr val="tx2"/>
                </a:solidFill>
                <a:prstDash val="sysDot"/>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451" name="显眼包PPT6"/>
            <p:cNvSpPr/>
            <p:nvPr/>
          </p:nvSpPr>
          <p:spPr>
            <a:xfrm>
              <a:off x="23884" y="9832"/>
              <a:ext cx="2122" cy="2122"/>
            </a:xfrm>
            <a:prstGeom prst="ellipse">
              <a:avLst/>
            </a:prstGeom>
            <a:solidFill>
              <a:schemeClr val="bg1"/>
            </a:solidFill>
            <a:ln w="22225">
              <a:gradFill flip="none" rotWithShape="1">
                <a:gsLst>
                  <a:gs pos="0">
                    <a:schemeClr val="accent5"/>
                  </a:gs>
                  <a:gs pos="50000">
                    <a:schemeClr val="accent5">
                      <a:lumMod val="60000"/>
                      <a:lumOff val="40000"/>
                    </a:schemeClr>
                  </a:gs>
                  <a:gs pos="100000">
                    <a:schemeClr val="accent5"/>
                  </a:gs>
                </a:gsLst>
                <a:lin ang="2700000" scaled="1"/>
                <a:tileRect/>
              </a:gradFill>
            </a:ln>
            <a:effectLst>
              <a:outerShdw blurRad="330200" dist="25400" sx="102000" sy="102000" algn="ctr" rotWithShape="0">
                <a:schemeClr val="accent5">
                  <a:lumMod val="60000"/>
                  <a:lumOff val="40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grpSp>
          <p:nvGrpSpPr>
            <p:cNvPr id="452" name="显眼包PPT7"/>
            <p:cNvGrpSpPr/>
            <p:nvPr/>
          </p:nvGrpSpPr>
          <p:grpSpPr>
            <a:xfrm rot="0">
              <a:off x="23580" y="8873"/>
              <a:ext cx="934" cy="922"/>
              <a:chOff x="9219966" y="3643468"/>
              <a:chExt cx="573715" cy="557480"/>
            </a:xfrm>
            <a:effectLst/>
          </p:grpSpPr>
          <p:sp>
            <p:nvSpPr>
              <p:cNvPr id="453" name="显眼包PPT7-1"/>
              <p:cNvSpPr/>
              <p:nvPr/>
            </p:nvSpPr>
            <p:spPr>
              <a:xfrm>
                <a:off x="9227337" y="3643468"/>
                <a:ext cx="566344" cy="557480"/>
              </a:xfrm>
              <a:prstGeom prst="ellipse">
                <a:avLst/>
              </a:prstGeom>
              <a:gradFill flip="none" rotWithShape="1">
                <a:gsLst>
                  <a:gs pos="89000">
                    <a:schemeClr val="accent5"/>
                  </a:gs>
                  <a:gs pos="49000">
                    <a:schemeClr val="accent5">
                      <a:lumMod val="60000"/>
                      <a:lumOff val="40000"/>
                    </a:schemeClr>
                  </a:gs>
                  <a:gs pos="9000">
                    <a:schemeClr val="accent5">
                      <a:lumMod val="20000"/>
                      <a:lumOff val="80000"/>
                      <a:alpha val="3000"/>
                    </a:schemeClr>
                  </a:gs>
                </a:gsLst>
                <a:path path="circle">
                  <a:fillToRect r="100000" b="100000"/>
                </a:path>
                <a:tileRect l="-100000" t="-100000"/>
              </a:gradFill>
              <a:ln>
                <a:noFill/>
              </a:ln>
              <a:effectLst>
                <a:innerShdw blurRad="114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54" name="显眼包PPT7-2"/>
              <p:cNvSpPr/>
              <p:nvPr/>
            </p:nvSpPr>
            <p:spPr>
              <a:xfrm>
                <a:off x="9219966" y="3643468"/>
                <a:ext cx="566344" cy="557480"/>
              </a:xfrm>
              <a:prstGeom prst="ellipse">
                <a:avLst/>
              </a:prstGeom>
              <a:gradFill flip="none" rotWithShape="1">
                <a:gsLst>
                  <a:gs pos="0">
                    <a:schemeClr val="bg1"/>
                  </a:gs>
                  <a:gs pos="56000">
                    <a:schemeClr val="bg1">
                      <a:alpha val="0"/>
                    </a:schemeClr>
                  </a:gs>
                </a:gsLst>
                <a:path path="circle">
                  <a:fillToRect r="100000" b="100000"/>
                </a:path>
                <a:tileRect l="-100000" t="-100000"/>
              </a:gradFill>
              <a:ln>
                <a:noFill/>
              </a:ln>
              <a:effectLst>
                <a:innerShdw blurRad="368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协同</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服务</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p:txBody>
          </p:sp>
        </p:grpSp>
        <p:grpSp>
          <p:nvGrpSpPr>
            <p:cNvPr id="455" name="显眼包PPT"/>
            <p:cNvGrpSpPr/>
            <p:nvPr/>
          </p:nvGrpSpPr>
          <p:grpSpPr>
            <a:xfrm rot="0">
              <a:off x="23551" y="9327"/>
              <a:ext cx="2766" cy="1173"/>
              <a:chOff x="4600417" y="1952147"/>
              <a:chExt cx="2967760" cy="1257432"/>
            </a:xfrm>
          </p:grpSpPr>
          <p:sp>
            <p:nvSpPr>
              <p:cNvPr id="456" name="显眼包PPT-1"/>
              <p:cNvSpPr txBox="1"/>
              <p:nvPr/>
            </p:nvSpPr>
            <p:spPr>
              <a:xfrm>
                <a:off x="5768858" y="1952147"/>
                <a:ext cx="716427" cy="212370"/>
              </a:xfrm>
              <a:prstGeom prst="rect">
                <a:avLst/>
              </a:prstGeom>
              <a:noFill/>
            </p:spPr>
            <p:txBody>
              <a:bodyPr wrap="square" lIns="0" tIns="0" rIns="0" bIns="0" rtlCol="0">
                <a:spAutoFit/>
              </a:bodyPr>
              <a:lstStyle>
                <a:defPPr>
                  <a:defRPr lang="en-US"/>
                </a:defPPr>
                <a:lvl1pPr algn="ctr">
                  <a:defRPr sz="1400">
                    <a:solidFill>
                      <a:schemeClr val="accent1">
                        <a:lumMod val="60000"/>
                        <a:lumOff val="40000"/>
                      </a:schemeClr>
                    </a:solidFill>
                  </a:defRPr>
                </a:lvl1pPr>
              </a:lstStyle>
              <a:p>
                <a:pPr lvl="0" algn="ctr">
                  <a:buClrTx/>
                  <a:buSzTx/>
                  <a:buFontTx/>
                </a:pPr>
                <a:r>
                  <a:rPr lang="zh-CN" altLang="en-US" sz="600" dirty="0">
                    <a:solidFill>
                      <a:schemeClr val="tx2"/>
                    </a:solidFill>
                    <a:latin typeface="微软雅黑" panose="020B0503020204020204" charset="-122"/>
                    <a:ea typeface="微软雅黑" panose="020B0503020204020204" charset="-122"/>
                    <a:cs typeface="微软雅黑" panose="020B0503020204020204" charset="-122"/>
                    <a:sym typeface="+mn-ea"/>
                  </a:rPr>
                  <a:t>新趋势</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57" name="显眼包PPT-5"/>
              <p:cNvSpPr txBox="1"/>
              <p:nvPr/>
            </p:nvSpPr>
            <p:spPr>
              <a:xfrm rot="7238604" flipV="1">
                <a:off x="4368215" y="2711494"/>
                <a:ext cx="661655" cy="197251"/>
              </a:xfrm>
              <a:prstGeom prst="rect">
                <a:avLst/>
              </a:prstGeom>
              <a:noFill/>
            </p:spPr>
            <p:txBody>
              <a:bodyPr wrap="square" lIns="0" tIns="0" rIns="0" bIns="0" rtlCol="0">
                <a:spAutoFit/>
              </a:bodyPr>
              <a:lstStyle>
                <a:defPPr>
                  <a:defRPr lang="en-US"/>
                </a:defPPr>
                <a:lvl1pPr algn="ctr">
                  <a:defRPr sz="1400">
                    <a:solidFill>
                      <a:schemeClr val="accent1">
                        <a:lumMod val="60000"/>
                        <a:lumOff val="40000"/>
                      </a:schemeClr>
                    </a:solidFill>
                  </a:defRPr>
                </a:lvl1pPr>
              </a:lstStyle>
              <a:p>
                <a:pPr lvl="0" algn="ctr">
                  <a:buClrTx/>
                  <a:buSzTx/>
                  <a:buFontTx/>
                </a:pPr>
                <a:r>
                  <a:rPr lang="zh-CN" altLang="en-US" sz="600" dirty="0">
                    <a:solidFill>
                      <a:schemeClr val="tx2"/>
                    </a:solidFill>
                    <a:latin typeface="微软雅黑" panose="020B0503020204020204" charset="-122"/>
                    <a:ea typeface="微软雅黑" panose="020B0503020204020204" charset="-122"/>
                    <a:cs typeface="微软雅黑" panose="020B0503020204020204" charset="-122"/>
                    <a:sym typeface="+mn-ea"/>
                  </a:rPr>
                  <a:t>新挑战</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58" name="显眼包PPT-6"/>
              <p:cNvSpPr txBox="1"/>
              <p:nvPr/>
            </p:nvSpPr>
            <p:spPr>
              <a:xfrm rot="14302764" flipV="1">
                <a:off x="7115968" y="2757370"/>
                <a:ext cx="721998" cy="182420"/>
              </a:xfrm>
              <a:prstGeom prst="rect">
                <a:avLst/>
              </a:prstGeom>
              <a:noFill/>
            </p:spPr>
            <p:txBody>
              <a:bodyPr wrap="square" lIns="0" tIns="0" rIns="0" bIns="0" rtlCol="0">
                <a:spAutoFit/>
              </a:bodyPr>
              <a:lstStyle>
                <a:defPPr>
                  <a:defRPr lang="en-US"/>
                </a:defPPr>
                <a:lvl1pPr algn="ctr">
                  <a:defRPr sz="1400">
                    <a:solidFill>
                      <a:schemeClr val="accent1">
                        <a:lumMod val="60000"/>
                        <a:lumOff val="40000"/>
                      </a:schemeClr>
                    </a:solidFill>
                  </a:defRPr>
                </a:lvl1pPr>
              </a:lstStyle>
              <a:p>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新产品</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459" name="显眼包PPT25"/>
            <p:cNvSpPr/>
            <p:nvPr/>
          </p:nvSpPr>
          <p:spPr>
            <a:xfrm>
              <a:off x="23996" y="9944"/>
              <a:ext cx="1897" cy="1897"/>
            </a:xfrm>
            <a:custGeom>
              <a:avLst/>
              <a:gdLst>
                <a:gd name="connsiteX0" fmla="*/ 24479 w 1352550"/>
                <a:gd name="connsiteY0" fmla="*/ 820198 h 1352550"/>
                <a:gd name="connsiteX1" fmla="*/ 15144 w 1352550"/>
                <a:gd name="connsiteY1" fmla="*/ 822198 h 1352550"/>
                <a:gd name="connsiteX2" fmla="*/ 0 w 1352550"/>
                <a:gd name="connsiteY2" fmla="*/ 679799 h 1352550"/>
                <a:gd name="connsiteX3" fmla="*/ 15144 w 1352550"/>
                <a:gd name="connsiteY3" fmla="*/ 537401 h 1352550"/>
                <a:gd name="connsiteX4" fmla="*/ 24479 w 1352550"/>
                <a:gd name="connsiteY4" fmla="*/ 539401 h 1352550"/>
                <a:gd name="connsiteX5" fmla="*/ 9525 w 1352550"/>
                <a:gd name="connsiteY5" fmla="*/ 679799 h 1352550"/>
                <a:gd name="connsiteX6" fmla="*/ 24479 w 1352550"/>
                <a:gd name="connsiteY6" fmla="*/ 820198 h 1352550"/>
                <a:gd name="connsiteX7" fmla="*/ 1350073 w 1352550"/>
                <a:gd name="connsiteY7" fmla="*/ 679799 h 1352550"/>
                <a:gd name="connsiteX8" fmla="*/ 1335119 w 1352550"/>
                <a:gd name="connsiteY8" fmla="*/ 820198 h 1352550"/>
                <a:gd name="connsiteX9" fmla="*/ 1344453 w 1352550"/>
                <a:gd name="connsiteY9" fmla="*/ 822198 h 1352550"/>
                <a:gd name="connsiteX10" fmla="*/ 1359598 w 1352550"/>
                <a:gd name="connsiteY10" fmla="*/ 679799 h 1352550"/>
                <a:gd name="connsiteX11" fmla="*/ 1344453 w 1352550"/>
                <a:gd name="connsiteY11" fmla="*/ 537401 h 1352550"/>
                <a:gd name="connsiteX12" fmla="*/ 1335119 w 1352550"/>
                <a:gd name="connsiteY12" fmla="*/ 539401 h 1352550"/>
                <a:gd name="connsiteX13" fmla="*/ 1350073 w 1352550"/>
                <a:gd name="connsiteY13" fmla="*/ 679799 h 1352550"/>
                <a:gd name="connsiteX14" fmla="*/ 190881 w 1352550"/>
                <a:gd name="connsiteY14" fmla="*/ 222028 h 1352550"/>
                <a:gd name="connsiteX15" fmla="*/ 679799 w 1352550"/>
                <a:gd name="connsiteY15" fmla="*/ 9525 h 1352550"/>
                <a:gd name="connsiteX16" fmla="*/ 1168718 w 1352550"/>
                <a:gd name="connsiteY16" fmla="*/ 221933 h 1352550"/>
                <a:gd name="connsiteX17" fmla="*/ 1175671 w 1352550"/>
                <a:gd name="connsiteY17" fmla="*/ 215455 h 1352550"/>
                <a:gd name="connsiteX18" fmla="*/ 679799 w 1352550"/>
                <a:gd name="connsiteY18" fmla="*/ 0 h 1352550"/>
                <a:gd name="connsiteX19" fmla="*/ 183928 w 1352550"/>
                <a:gd name="connsiteY19" fmla="*/ 215455 h 1352550"/>
                <a:gd name="connsiteX20" fmla="*/ 190881 w 1352550"/>
                <a:gd name="connsiteY20" fmla="*/ 222028 h 1352550"/>
                <a:gd name="connsiteX21" fmla="*/ 1168718 w 1352550"/>
                <a:gd name="connsiteY21" fmla="*/ 1137571 h 1352550"/>
                <a:gd name="connsiteX22" fmla="*/ 679799 w 1352550"/>
                <a:gd name="connsiteY22" fmla="*/ 1349978 h 1352550"/>
                <a:gd name="connsiteX23" fmla="*/ 190881 w 1352550"/>
                <a:gd name="connsiteY23" fmla="*/ 1137476 h 1352550"/>
                <a:gd name="connsiteX24" fmla="*/ 183928 w 1352550"/>
                <a:gd name="connsiteY24" fmla="*/ 1143952 h 1352550"/>
                <a:gd name="connsiteX25" fmla="*/ 679799 w 1352550"/>
                <a:gd name="connsiteY25" fmla="*/ 1359408 h 1352550"/>
                <a:gd name="connsiteX26" fmla="*/ 1175671 w 1352550"/>
                <a:gd name="connsiteY26" fmla="*/ 1143952 h 1352550"/>
                <a:gd name="connsiteX27" fmla="*/ 1168718 w 1352550"/>
                <a:gd name="connsiteY27" fmla="*/ 1137571 h 135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2550" h="1352550">
                  <a:moveTo>
                    <a:pt x="24479" y="820198"/>
                  </a:moveTo>
                  <a:lnTo>
                    <a:pt x="15144" y="822198"/>
                  </a:lnTo>
                  <a:cubicBezTo>
                    <a:pt x="5334" y="776287"/>
                    <a:pt x="0" y="728663"/>
                    <a:pt x="0" y="679799"/>
                  </a:cubicBezTo>
                  <a:cubicBezTo>
                    <a:pt x="0" y="630936"/>
                    <a:pt x="5334" y="583311"/>
                    <a:pt x="15144" y="537401"/>
                  </a:cubicBezTo>
                  <a:lnTo>
                    <a:pt x="24479" y="539401"/>
                  </a:lnTo>
                  <a:cubicBezTo>
                    <a:pt x="14764" y="584740"/>
                    <a:pt x="9525" y="631698"/>
                    <a:pt x="9525" y="679799"/>
                  </a:cubicBezTo>
                  <a:cubicBezTo>
                    <a:pt x="9525" y="727901"/>
                    <a:pt x="14764" y="774859"/>
                    <a:pt x="24479" y="820198"/>
                  </a:cubicBezTo>
                  <a:close/>
                  <a:moveTo>
                    <a:pt x="1350073" y="679799"/>
                  </a:moveTo>
                  <a:cubicBezTo>
                    <a:pt x="1350073" y="727996"/>
                    <a:pt x="1344835" y="774859"/>
                    <a:pt x="1335119" y="820198"/>
                  </a:cubicBezTo>
                  <a:lnTo>
                    <a:pt x="1344453" y="822198"/>
                  </a:lnTo>
                  <a:cubicBezTo>
                    <a:pt x="1354264" y="776287"/>
                    <a:pt x="1359598" y="728663"/>
                    <a:pt x="1359598" y="679799"/>
                  </a:cubicBezTo>
                  <a:cubicBezTo>
                    <a:pt x="1359598" y="630936"/>
                    <a:pt x="1354264" y="583311"/>
                    <a:pt x="1344453" y="537401"/>
                  </a:cubicBezTo>
                  <a:lnTo>
                    <a:pt x="1335119" y="539401"/>
                  </a:lnTo>
                  <a:cubicBezTo>
                    <a:pt x="1344835" y="584644"/>
                    <a:pt x="1350073" y="631603"/>
                    <a:pt x="1350073" y="679799"/>
                  </a:cubicBezTo>
                  <a:close/>
                  <a:moveTo>
                    <a:pt x="190881" y="222028"/>
                  </a:moveTo>
                  <a:cubicBezTo>
                    <a:pt x="313277" y="91440"/>
                    <a:pt x="487109" y="9525"/>
                    <a:pt x="679799" y="9525"/>
                  </a:cubicBezTo>
                  <a:cubicBezTo>
                    <a:pt x="872490" y="9525"/>
                    <a:pt x="1046321" y="91345"/>
                    <a:pt x="1168718" y="221933"/>
                  </a:cubicBezTo>
                  <a:lnTo>
                    <a:pt x="1175671" y="215455"/>
                  </a:lnTo>
                  <a:cubicBezTo>
                    <a:pt x="1051560" y="82963"/>
                    <a:pt x="875252" y="0"/>
                    <a:pt x="679799" y="0"/>
                  </a:cubicBezTo>
                  <a:cubicBezTo>
                    <a:pt x="484346" y="0"/>
                    <a:pt x="308038" y="82963"/>
                    <a:pt x="183928" y="215455"/>
                  </a:cubicBezTo>
                  <a:lnTo>
                    <a:pt x="190881" y="222028"/>
                  </a:lnTo>
                  <a:close/>
                  <a:moveTo>
                    <a:pt x="1168718" y="1137571"/>
                  </a:moveTo>
                  <a:cubicBezTo>
                    <a:pt x="1046321" y="1268159"/>
                    <a:pt x="872490" y="1349978"/>
                    <a:pt x="679799" y="1349978"/>
                  </a:cubicBezTo>
                  <a:cubicBezTo>
                    <a:pt x="487109" y="1349978"/>
                    <a:pt x="313277" y="1268159"/>
                    <a:pt x="190881" y="1137476"/>
                  </a:cubicBezTo>
                  <a:lnTo>
                    <a:pt x="183928" y="1143952"/>
                  </a:lnTo>
                  <a:cubicBezTo>
                    <a:pt x="308038" y="1276445"/>
                    <a:pt x="484346" y="1359408"/>
                    <a:pt x="679799" y="1359408"/>
                  </a:cubicBezTo>
                  <a:cubicBezTo>
                    <a:pt x="875252" y="1359408"/>
                    <a:pt x="1051560" y="1276445"/>
                    <a:pt x="1175671" y="1143952"/>
                  </a:cubicBezTo>
                  <a:lnTo>
                    <a:pt x="1168718" y="1137571"/>
                  </a:lnTo>
                  <a:close/>
                </a:path>
              </a:pathLst>
            </a:custGeom>
            <a:solidFill>
              <a:schemeClr val="accent5"/>
            </a:solidFill>
            <a:ln w="9525" cap="flat">
              <a:noFill/>
              <a:prstDash val="solid"/>
              <a:miter/>
            </a:ln>
          </p:spPr>
          <p:txBody>
            <a:bodyPr rtlCol="0" anchor="ctr"/>
            <a:lstStyle/>
            <a:p>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60" name="显眼包PPT26-1"/>
            <p:cNvSpPr txBox="1"/>
            <p:nvPr/>
          </p:nvSpPr>
          <p:spPr>
            <a:xfrm>
              <a:off x="24083" y="10704"/>
              <a:ext cx="1724" cy="871"/>
            </a:xfrm>
            <a:prstGeom prst="rect">
              <a:avLst/>
            </a:prstGeom>
            <a:noFill/>
          </p:spPr>
          <p:txBody>
            <a:bodyPr wrap="square" lIns="0" tIns="0" rIns="0" bIns="0" rtlCol="0">
              <a:spAutoFit/>
            </a:bodyPr>
            <a:lstStyle/>
            <a:p>
              <a:pPr algn="ctr">
                <a:lnSpc>
                  <a:spcPct val="110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数字化</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生态</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pic>
          <p:nvPicPr>
            <p:cNvPr id="461" name="图片 460" descr="司库生态圈"/>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4725" y="10218"/>
              <a:ext cx="441" cy="441"/>
            </a:xfrm>
            <a:prstGeom prst="rect">
              <a:avLst/>
            </a:prstGeom>
          </p:spPr>
        </p:pic>
        <p:grpSp>
          <p:nvGrpSpPr>
            <p:cNvPr id="462" name="显眼包PPT7"/>
            <p:cNvGrpSpPr/>
            <p:nvPr/>
          </p:nvGrpSpPr>
          <p:grpSpPr>
            <a:xfrm rot="0">
              <a:off x="25376" y="8873"/>
              <a:ext cx="934" cy="922"/>
              <a:chOff x="9219966" y="3643468"/>
              <a:chExt cx="573715" cy="557480"/>
            </a:xfrm>
            <a:effectLst/>
          </p:grpSpPr>
          <p:sp>
            <p:nvSpPr>
              <p:cNvPr id="463" name="显眼包PPT7-1"/>
              <p:cNvSpPr/>
              <p:nvPr/>
            </p:nvSpPr>
            <p:spPr>
              <a:xfrm>
                <a:off x="9227337" y="3643468"/>
                <a:ext cx="566344" cy="557480"/>
              </a:xfrm>
              <a:prstGeom prst="ellipse">
                <a:avLst/>
              </a:prstGeom>
              <a:gradFill flip="none" rotWithShape="1">
                <a:gsLst>
                  <a:gs pos="89000">
                    <a:schemeClr val="accent5"/>
                  </a:gs>
                  <a:gs pos="49000">
                    <a:schemeClr val="accent5">
                      <a:lumMod val="60000"/>
                      <a:lumOff val="40000"/>
                    </a:schemeClr>
                  </a:gs>
                  <a:gs pos="9000">
                    <a:schemeClr val="accent5">
                      <a:lumMod val="20000"/>
                      <a:lumOff val="80000"/>
                      <a:alpha val="3000"/>
                    </a:schemeClr>
                  </a:gs>
                </a:gsLst>
                <a:path path="circle">
                  <a:fillToRect r="100000" b="100000"/>
                </a:path>
                <a:tileRect l="-100000" t="-100000"/>
              </a:gradFill>
              <a:ln>
                <a:noFill/>
              </a:ln>
              <a:effectLst>
                <a:innerShdw blurRad="114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64" name="显眼包PPT7-2"/>
              <p:cNvSpPr/>
              <p:nvPr/>
            </p:nvSpPr>
            <p:spPr>
              <a:xfrm>
                <a:off x="9219966" y="3643468"/>
                <a:ext cx="566344" cy="557480"/>
              </a:xfrm>
              <a:prstGeom prst="ellipse">
                <a:avLst/>
              </a:prstGeom>
              <a:gradFill flip="none" rotWithShape="1">
                <a:gsLst>
                  <a:gs pos="0">
                    <a:schemeClr val="bg1"/>
                  </a:gs>
                  <a:gs pos="56000">
                    <a:schemeClr val="bg1">
                      <a:alpha val="0"/>
                    </a:schemeClr>
                  </a:gs>
                </a:gsLst>
                <a:path path="circle">
                  <a:fillToRect r="100000" b="100000"/>
                </a:path>
                <a:tileRect l="-100000" t="-100000"/>
              </a:gradFill>
              <a:ln>
                <a:noFill/>
              </a:ln>
              <a:effectLst>
                <a:innerShdw blurRad="368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研发</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设计</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p:txBody>
          </p:sp>
        </p:grpSp>
        <p:grpSp>
          <p:nvGrpSpPr>
            <p:cNvPr id="465" name="显眼包PPT7"/>
            <p:cNvGrpSpPr/>
            <p:nvPr/>
          </p:nvGrpSpPr>
          <p:grpSpPr>
            <a:xfrm rot="0">
              <a:off x="26224" y="10423"/>
              <a:ext cx="934" cy="922"/>
              <a:chOff x="9219966" y="3643468"/>
              <a:chExt cx="573715" cy="557480"/>
            </a:xfrm>
            <a:effectLst/>
          </p:grpSpPr>
          <p:sp>
            <p:nvSpPr>
              <p:cNvPr id="466" name="显眼包PPT7-1"/>
              <p:cNvSpPr/>
              <p:nvPr/>
            </p:nvSpPr>
            <p:spPr>
              <a:xfrm>
                <a:off x="9227337" y="3643468"/>
                <a:ext cx="566344" cy="557480"/>
              </a:xfrm>
              <a:prstGeom prst="ellipse">
                <a:avLst/>
              </a:prstGeom>
              <a:gradFill flip="none" rotWithShape="1">
                <a:gsLst>
                  <a:gs pos="89000">
                    <a:schemeClr val="accent5"/>
                  </a:gs>
                  <a:gs pos="49000">
                    <a:schemeClr val="accent5">
                      <a:lumMod val="60000"/>
                      <a:lumOff val="40000"/>
                    </a:schemeClr>
                  </a:gs>
                  <a:gs pos="9000">
                    <a:schemeClr val="accent5">
                      <a:lumMod val="20000"/>
                      <a:lumOff val="80000"/>
                      <a:alpha val="3000"/>
                    </a:schemeClr>
                  </a:gs>
                </a:gsLst>
                <a:path path="circle">
                  <a:fillToRect r="100000" b="100000"/>
                </a:path>
                <a:tileRect l="-100000" t="-100000"/>
              </a:gradFill>
              <a:ln>
                <a:noFill/>
              </a:ln>
              <a:effectLst>
                <a:innerShdw blurRad="114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67" name="显眼包PPT7-2"/>
              <p:cNvSpPr/>
              <p:nvPr/>
            </p:nvSpPr>
            <p:spPr>
              <a:xfrm>
                <a:off x="9219966" y="3643468"/>
                <a:ext cx="566344" cy="557480"/>
              </a:xfrm>
              <a:prstGeom prst="ellipse">
                <a:avLst/>
              </a:prstGeom>
              <a:gradFill flip="none" rotWithShape="1">
                <a:gsLst>
                  <a:gs pos="0">
                    <a:schemeClr val="bg1"/>
                  </a:gs>
                  <a:gs pos="56000">
                    <a:schemeClr val="bg1">
                      <a:alpha val="0"/>
                    </a:schemeClr>
                  </a:gs>
                </a:gsLst>
                <a:path path="circle">
                  <a:fillToRect r="100000" b="100000"/>
                </a:path>
                <a:tileRect l="-100000" t="-100000"/>
              </a:gradFill>
              <a:ln>
                <a:noFill/>
              </a:ln>
              <a:effectLst>
                <a:innerShdw blurRad="368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数字</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营销</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p:txBody>
          </p:sp>
        </p:grpSp>
        <p:grpSp>
          <p:nvGrpSpPr>
            <p:cNvPr id="468" name="显眼包PPT7"/>
            <p:cNvGrpSpPr/>
            <p:nvPr/>
          </p:nvGrpSpPr>
          <p:grpSpPr>
            <a:xfrm rot="0">
              <a:off x="25414" y="11967"/>
              <a:ext cx="934" cy="922"/>
              <a:chOff x="9219966" y="3643468"/>
              <a:chExt cx="573715" cy="557480"/>
            </a:xfrm>
            <a:effectLst/>
          </p:grpSpPr>
          <p:sp>
            <p:nvSpPr>
              <p:cNvPr id="469" name="显眼包PPT7-1"/>
              <p:cNvSpPr/>
              <p:nvPr/>
            </p:nvSpPr>
            <p:spPr>
              <a:xfrm>
                <a:off x="9227337" y="3643468"/>
                <a:ext cx="566344" cy="557480"/>
              </a:xfrm>
              <a:prstGeom prst="ellipse">
                <a:avLst/>
              </a:prstGeom>
              <a:gradFill flip="none" rotWithShape="1">
                <a:gsLst>
                  <a:gs pos="89000">
                    <a:schemeClr val="accent5"/>
                  </a:gs>
                  <a:gs pos="49000">
                    <a:schemeClr val="accent5">
                      <a:lumMod val="60000"/>
                      <a:lumOff val="40000"/>
                    </a:schemeClr>
                  </a:gs>
                  <a:gs pos="9000">
                    <a:schemeClr val="accent5">
                      <a:lumMod val="20000"/>
                      <a:lumOff val="80000"/>
                      <a:alpha val="3000"/>
                    </a:schemeClr>
                  </a:gs>
                </a:gsLst>
                <a:path path="circle">
                  <a:fillToRect r="100000" b="100000"/>
                </a:path>
                <a:tileRect l="-100000" t="-100000"/>
              </a:gradFill>
              <a:ln>
                <a:noFill/>
              </a:ln>
              <a:effectLst>
                <a:innerShdw blurRad="114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70" name="显眼包PPT7-2"/>
              <p:cNvSpPr/>
              <p:nvPr/>
            </p:nvSpPr>
            <p:spPr>
              <a:xfrm>
                <a:off x="9219966" y="3643468"/>
                <a:ext cx="566344" cy="557480"/>
              </a:xfrm>
              <a:prstGeom prst="ellipse">
                <a:avLst/>
              </a:prstGeom>
              <a:gradFill flip="none" rotWithShape="1">
                <a:gsLst>
                  <a:gs pos="0">
                    <a:schemeClr val="bg1"/>
                  </a:gs>
                  <a:gs pos="56000">
                    <a:schemeClr val="bg1">
                      <a:alpha val="0"/>
                    </a:schemeClr>
                  </a:gs>
                </a:gsLst>
                <a:path path="circle">
                  <a:fillToRect r="100000" b="100000"/>
                </a:path>
                <a:tileRect l="-100000" t="-100000"/>
              </a:gradFill>
              <a:ln>
                <a:noFill/>
              </a:ln>
              <a:effectLst>
                <a:innerShdw blurRad="368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供应链</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网络</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p:txBody>
          </p:sp>
        </p:grpSp>
        <p:grpSp>
          <p:nvGrpSpPr>
            <p:cNvPr id="471" name="显眼包PPT7"/>
            <p:cNvGrpSpPr/>
            <p:nvPr/>
          </p:nvGrpSpPr>
          <p:grpSpPr>
            <a:xfrm rot="0">
              <a:off x="23580" y="12016"/>
              <a:ext cx="934" cy="922"/>
              <a:chOff x="9219966" y="3643468"/>
              <a:chExt cx="573715" cy="557480"/>
            </a:xfrm>
            <a:effectLst/>
          </p:grpSpPr>
          <p:sp>
            <p:nvSpPr>
              <p:cNvPr id="472" name="显眼包PPT7-1"/>
              <p:cNvSpPr/>
              <p:nvPr/>
            </p:nvSpPr>
            <p:spPr>
              <a:xfrm>
                <a:off x="9227337" y="3643468"/>
                <a:ext cx="566344" cy="557480"/>
              </a:xfrm>
              <a:prstGeom prst="ellipse">
                <a:avLst/>
              </a:prstGeom>
              <a:gradFill flip="none" rotWithShape="1">
                <a:gsLst>
                  <a:gs pos="89000">
                    <a:schemeClr val="accent5"/>
                  </a:gs>
                  <a:gs pos="49000">
                    <a:schemeClr val="accent5">
                      <a:lumMod val="60000"/>
                      <a:lumOff val="40000"/>
                    </a:schemeClr>
                  </a:gs>
                  <a:gs pos="9000">
                    <a:schemeClr val="accent5">
                      <a:lumMod val="20000"/>
                      <a:lumOff val="80000"/>
                      <a:alpha val="3000"/>
                    </a:schemeClr>
                  </a:gs>
                </a:gsLst>
                <a:path path="circle">
                  <a:fillToRect r="100000" b="100000"/>
                </a:path>
                <a:tileRect l="-100000" t="-100000"/>
              </a:gradFill>
              <a:ln>
                <a:noFill/>
              </a:ln>
              <a:effectLst>
                <a:innerShdw blurRad="114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73" name="显眼包PPT7-2"/>
              <p:cNvSpPr/>
              <p:nvPr/>
            </p:nvSpPr>
            <p:spPr>
              <a:xfrm>
                <a:off x="9219966" y="3643468"/>
                <a:ext cx="566344" cy="557480"/>
              </a:xfrm>
              <a:prstGeom prst="ellipse">
                <a:avLst/>
              </a:prstGeom>
              <a:gradFill flip="none" rotWithShape="1">
                <a:gsLst>
                  <a:gs pos="0">
                    <a:schemeClr val="bg1"/>
                  </a:gs>
                  <a:gs pos="56000">
                    <a:schemeClr val="bg1">
                      <a:alpha val="0"/>
                    </a:schemeClr>
                  </a:gs>
                </a:gsLst>
                <a:path path="circle">
                  <a:fillToRect r="100000" b="100000"/>
                </a:path>
                <a:tileRect l="-100000" t="-100000"/>
              </a:gradFill>
              <a:ln>
                <a:noFill/>
              </a:ln>
              <a:effectLst>
                <a:innerShdw blurRad="368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智能</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制造</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p:txBody>
          </p:sp>
        </p:grpSp>
        <p:grpSp>
          <p:nvGrpSpPr>
            <p:cNvPr id="474" name="显眼包PPT7"/>
            <p:cNvGrpSpPr/>
            <p:nvPr/>
          </p:nvGrpSpPr>
          <p:grpSpPr>
            <a:xfrm rot="0">
              <a:off x="22571" y="10370"/>
              <a:ext cx="934" cy="922"/>
              <a:chOff x="9219966" y="3643468"/>
              <a:chExt cx="573715" cy="557480"/>
            </a:xfrm>
            <a:effectLst/>
          </p:grpSpPr>
          <p:sp>
            <p:nvSpPr>
              <p:cNvPr id="475" name="显眼包PPT7-1"/>
              <p:cNvSpPr/>
              <p:nvPr/>
            </p:nvSpPr>
            <p:spPr>
              <a:xfrm>
                <a:off x="9227337" y="3643468"/>
                <a:ext cx="566344" cy="557480"/>
              </a:xfrm>
              <a:prstGeom prst="ellipse">
                <a:avLst/>
              </a:prstGeom>
              <a:gradFill flip="none" rotWithShape="1">
                <a:gsLst>
                  <a:gs pos="89000">
                    <a:schemeClr val="accent5"/>
                  </a:gs>
                  <a:gs pos="49000">
                    <a:schemeClr val="accent5">
                      <a:lumMod val="60000"/>
                      <a:lumOff val="40000"/>
                    </a:schemeClr>
                  </a:gs>
                  <a:gs pos="9000">
                    <a:schemeClr val="accent5">
                      <a:lumMod val="20000"/>
                      <a:lumOff val="80000"/>
                      <a:alpha val="3000"/>
                    </a:schemeClr>
                  </a:gs>
                </a:gsLst>
                <a:path path="circle">
                  <a:fillToRect r="100000" b="100000"/>
                </a:path>
                <a:tileRect l="-100000" t="-100000"/>
              </a:gradFill>
              <a:ln>
                <a:noFill/>
              </a:ln>
              <a:effectLst>
                <a:innerShdw blurRad="114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476" name="显眼包PPT7-2"/>
              <p:cNvSpPr/>
              <p:nvPr/>
            </p:nvSpPr>
            <p:spPr>
              <a:xfrm>
                <a:off x="9219966" y="3643468"/>
                <a:ext cx="566344" cy="557480"/>
              </a:xfrm>
              <a:prstGeom prst="ellipse">
                <a:avLst/>
              </a:prstGeom>
              <a:gradFill flip="none" rotWithShape="1">
                <a:gsLst>
                  <a:gs pos="0">
                    <a:schemeClr val="bg1"/>
                  </a:gs>
                  <a:gs pos="56000">
                    <a:schemeClr val="bg1">
                      <a:alpha val="0"/>
                    </a:schemeClr>
                  </a:gs>
                </a:gsLst>
                <a:path path="circle">
                  <a:fillToRect r="100000" b="100000"/>
                </a:path>
                <a:tileRect l="-100000" t="-100000"/>
              </a:gradFill>
              <a:ln>
                <a:noFill/>
              </a:ln>
              <a:effectLst>
                <a:innerShdw blurRad="3683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精细化</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a:p>
                <a:pPr algn="ctr"/>
                <a:r>
                  <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rPr>
                  <a:t>运营</a:t>
                </a:r>
                <a:endParaRPr lang="zh-CN" sz="800" b="1" dirty="0">
                  <a:solidFill>
                    <a:schemeClr val="bg1"/>
                  </a:solidFill>
                  <a:effectLst/>
                  <a:latin typeface="微软雅黑" panose="020B0503020204020204" charset="-122"/>
                  <a:ea typeface="微软雅黑" panose="020B0503020204020204" charset="-122"/>
                  <a:cs typeface="微软雅黑" panose="020B0503020204020204" charset="-122"/>
                  <a:sym typeface="+mj-ea"/>
                </a:endParaRPr>
              </a:p>
            </p:txBody>
          </p:sp>
        </p:grpSp>
        <p:sp>
          <p:nvSpPr>
            <p:cNvPr id="477" name="显眼包PPT-6"/>
            <p:cNvSpPr txBox="1"/>
            <p:nvPr/>
          </p:nvSpPr>
          <p:spPr>
            <a:xfrm rot="7162764" flipV="1">
              <a:off x="25910" y="11497"/>
              <a:ext cx="658" cy="198"/>
            </a:xfrm>
            <a:prstGeom prst="rect">
              <a:avLst/>
            </a:prstGeom>
            <a:noFill/>
          </p:spPr>
          <p:txBody>
            <a:bodyPr wrap="square" lIns="0" tIns="0" rIns="0" bIns="0" rtlCol="0">
              <a:spAutoFit/>
            </a:bodyPr>
            <a:lstStyle>
              <a:defPPr>
                <a:defRPr lang="en-US"/>
              </a:defPPr>
              <a:lvl1pPr algn="ctr">
                <a:defRPr sz="1400">
                  <a:solidFill>
                    <a:schemeClr val="accent1">
                      <a:lumMod val="60000"/>
                      <a:lumOff val="40000"/>
                    </a:schemeClr>
                  </a:solidFill>
                </a:defRPr>
              </a:lvl1pPr>
            </a:lstStyle>
            <a:p>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新模式</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78" name="显眼包PPT-6"/>
            <p:cNvSpPr txBox="1"/>
            <p:nvPr/>
          </p:nvSpPr>
          <p:spPr>
            <a:xfrm rot="10800000" flipV="1">
              <a:off x="24651" y="12269"/>
              <a:ext cx="658" cy="198"/>
            </a:xfrm>
            <a:prstGeom prst="rect">
              <a:avLst/>
            </a:prstGeom>
            <a:noFill/>
          </p:spPr>
          <p:txBody>
            <a:bodyPr wrap="square" lIns="0" tIns="0" rIns="0" bIns="0" rtlCol="0">
              <a:spAutoFit/>
            </a:bodyPr>
            <a:lstStyle>
              <a:defPPr>
                <a:defRPr lang="en-US"/>
              </a:defPPr>
              <a:lvl1pPr algn="ctr">
                <a:defRPr sz="1400">
                  <a:solidFill>
                    <a:schemeClr val="accent1">
                      <a:lumMod val="60000"/>
                      <a:lumOff val="40000"/>
                    </a:schemeClr>
                  </a:solidFill>
                </a:defRPr>
              </a:lvl1pPr>
            </a:lstStyle>
            <a:p>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新生态</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79" name="显眼包PPT-6"/>
            <p:cNvSpPr txBox="1"/>
            <p:nvPr/>
          </p:nvSpPr>
          <p:spPr>
            <a:xfrm rot="14280000" flipV="1">
              <a:off x="23350" y="11534"/>
              <a:ext cx="658" cy="198"/>
            </a:xfrm>
            <a:prstGeom prst="rect">
              <a:avLst/>
            </a:prstGeom>
            <a:noFill/>
          </p:spPr>
          <p:txBody>
            <a:bodyPr wrap="square" lIns="0" tIns="0" rIns="0" bIns="0" rtlCol="0">
              <a:spAutoFit/>
            </a:bodyPr>
            <a:lstStyle>
              <a:defPPr>
                <a:defRPr lang="en-US"/>
              </a:defPPr>
              <a:lvl1pPr algn="ctr">
                <a:defRPr sz="1400">
                  <a:solidFill>
                    <a:schemeClr val="accent1">
                      <a:lumMod val="60000"/>
                      <a:lumOff val="40000"/>
                    </a:schemeClr>
                  </a:solidFill>
                </a:defRPr>
              </a:lvl1pPr>
            </a:lstStyle>
            <a:p>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新机遇</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480" name="textbox 2070"/>
          <p:cNvSpPr/>
          <p:nvPr/>
        </p:nvSpPr>
        <p:spPr>
          <a:xfrm>
            <a:off x="9008110" y="1891665"/>
            <a:ext cx="2225040" cy="153670"/>
          </a:xfrm>
          <a:prstGeom prst="rect">
            <a:avLst/>
          </a:prstGeom>
        </p:spPr>
        <p:txBody>
          <a:bodyPr vert="horz" wrap="square" lIns="0" tIns="0" rIns="0" bIns="0">
            <a:spAutoFit/>
          </a:bodyPr>
          <a:lstStyle/>
          <a:p>
            <a:pPr marL="12700" algn="ctr" rtl="0" eaLnBrk="0"/>
            <a:r>
              <a:rPr lang="zh-CN" sz="1000" b="1" kern="0" spc="140" dirty="0" err="1">
                <a:solidFill>
                  <a:schemeClr val="accent5">
                    <a:alpha val="100000"/>
                  </a:schemeClr>
                </a:solidFill>
                <a:latin typeface="微软雅黑" panose="020B0503020204020204" charset="-122"/>
                <a:ea typeface="微软雅黑" panose="020B0503020204020204" charset="-122"/>
                <a:cs typeface="微软雅黑" panose="020B0503020204020204" charset="-122"/>
              </a:rPr>
              <a:t>核心聚焦：</a:t>
            </a:r>
            <a:r>
              <a:rPr lang="zh-CN" altLang="en-US" sz="1000" kern="0" spc="140" dirty="0" err="1">
                <a:solidFill>
                  <a:schemeClr val="accent5">
                    <a:alpha val="100000"/>
                  </a:schemeClr>
                </a:solidFill>
                <a:latin typeface="微软雅黑" panose="020B0503020204020204" charset="-122"/>
                <a:ea typeface="微软雅黑" panose="020B0503020204020204" charset="-122"/>
                <a:cs typeface="微软雅黑" panose="020B0503020204020204" charset="-122"/>
              </a:rPr>
              <a:t>拓边界、促共生</a:t>
            </a:r>
            <a:endParaRPr lang="zh-CN" altLang="en-US" sz="1000" kern="0" spc="140" dirty="0" err="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490" name="textbox 2070"/>
          <p:cNvSpPr/>
          <p:nvPr/>
        </p:nvSpPr>
        <p:spPr>
          <a:xfrm>
            <a:off x="8900795" y="2319020"/>
            <a:ext cx="2496820" cy="368935"/>
          </a:xfrm>
          <a:prstGeom prst="rect">
            <a:avLst/>
          </a:prstGeom>
        </p:spPr>
        <p:txBody>
          <a:bodyPr vert="horz" wrap="square" lIns="0" tIns="0" rIns="0" bIns="0">
            <a:spAutoFit/>
          </a:bodyPr>
          <a:lstStyle/>
          <a:p>
            <a:pPr marL="12700" algn="ctr" rtl="0" eaLnBrk="0"/>
            <a:r>
              <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rPr>
              <a:t>跳出企业边界，通过平台与数据连接上下游合作伙伴、同业乃至跨界伙伴，构建协同设计、共享制造、供应链金融等数字化生态。</a:t>
            </a:r>
            <a:endParaRPr lang="zh-CN" altLang="en-US" sz="800" kern="0" spc="140" dirty="0" err="1">
              <a:solidFill>
                <a:schemeClr val="tx2">
                  <a:alpha val="100000"/>
                </a:schemeClr>
              </a:solidFill>
              <a:latin typeface="微软雅黑" panose="020B0503020204020204" charset="-122"/>
              <a:ea typeface="微软雅黑" panose="020B0503020204020204" charset="-122"/>
              <a:cs typeface="微软雅黑" panose="020B0503020204020204" charset="-122"/>
            </a:endParaRPr>
          </a:p>
        </p:txBody>
      </p:sp>
      <p:grpSp>
        <p:nvGrpSpPr>
          <p:cNvPr id="491" name="组合 490"/>
          <p:cNvGrpSpPr/>
          <p:nvPr/>
        </p:nvGrpSpPr>
        <p:grpSpPr>
          <a:xfrm>
            <a:off x="9066530" y="2115820"/>
            <a:ext cx="641350" cy="132080"/>
            <a:chOff x="1741" y="3332"/>
            <a:chExt cx="1010" cy="208"/>
          </a:xfrm>
        </p:grpSpPr>
        <p:sp>
          <p:nvSpPr>
            <p:cNvPr id="492" name="圆角矩形 491"/>
            <p:cNvSpPr/>
            <p:nvPr/>
          </p:nvSpPr>
          <p:spPr>
            <a:xfrm>
              <a:off x="1741" y="3332"/>
              <a:ext cx="1008" cy="208"/>
            </a:xfrm>
            <a:prstGeom prst="roundRect">
              <a:avLst/>
            </a:prstGeom>
            <a:solidFill>
              <a:schemeClr val="bg1">
                <a:alpha val="50000"/>
              </a:schemeClr>
            </a:solidFill>
            <a:ln w="6350">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3" name="textbox 2070"/>
            <p:cNvSpPr/>
            <p:nvPr/>
          </p:nvSpPr>
          <p:spPr>
            <a:xfrm>
              <a:off x="1782" y="3359"/>
              <a:ext cx="969" cy="145"/>
            </a:xfrm>
            <a:prstGeom prst="rect">
              <a:avLst/>
            </a:prstGeom>
          </p:spPr>
          <p:txBody>
            <a:bodyPr vert="horz" wrap="square" lIns="0" tIns="0" rIns="0" bIns="0">
              <a:spAutoFit/>
            </a:bodyPr>
            <a:lstStyle/>
            <a:p>
              <a:pPr marL="12700" algn="ctr" rtl="0" eaLnBrk="0"/>
              <a:r>
                <a:rPr lang="zh-CN" altLang="en-US" sz="600" kern="0" spc="140" dirty="0" err="1">
                  <a:solidFill>
                    <a:schemeClr val="accent5">
                      <a:alpha val="100000"/>
                    </a:schemeClr>
                  </a:solidFill>
                  <a:latin typeface="微软雅黑" panose="020B0503020204020204" charset="-122"/>
                  <a:ea typeface="微软雅黑" panose="020B0503020204020204" charset="-122"/>
                  <a:cs typeface="微软雅黑" panose="020B0503020204020204" charset="-122"/>
                </a:rPr>
                <a:t>产品生态构建</a:t>
              </a:r>
              <a:endParaRPr lang="zh-CN" altLang="en-US" sz="600" kern="0" spc="140" dirty="0" err="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494" name="组合 493"/>
          <p:cNvGrpSpPr/>
          <p:nvPr/>
        </p:nvGrpSpPr>
        <p:grpSpPr>
          <a:xfrm>
            <a:off x="9799955" y="2115820"/>
            <a:ext cx="641350" cy="132080"/>
            <a:chOff x="1741" y="3332"/>
            <a:chExt cx="1010" cy="208"/>
          </a:xfrm>
        </p:grpSpPr>
        <p:sp>
          <p:nvSpPr>
            <p:cNvPr id="495" name="圆角矩形 494"/>
            <p:cNvSpPr/>
            <p:nvPr/>
          </p:nvSpPr>
          <p:spPr>
            <a:xfrm>
              <a:off x="1741" y="3332"/>
              <a:ext cx="1008" cy="208"/>
            </a:xfrm>
            <a:prstGeom prst="roundRect">
              <a:avLst/>
            </a:prstGeom>
            <a:solidFill>
              <a:schemeClr val="bg1">
                <a:alpha val="50000"/>
              </a:schemeClr>
            </a:solidFill>
            <a:ln w="6350">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6" name="textbox 2070"/>
            <p:cNvSpPr/>
            <p:nvPr/>
          </p:nvSpPr>
          <p:spPr>
            <a:xfrm>
              <a:off x="1782" y="3359"/>
              <a:ext cx="969" cy="145"/>
            </a:xfrm>
            <a:prstGeom prst="rect">
              <a:avLst/>
            </a:prstGeom>
          </p:spPr>
          <p:txBody>
            <a:bodyPr vert="horz" wrap="square" lIns="0" tIns="0" rIns="0" bIns="0">
              <a:spAutoFit/>
            </a:bodyPr>
            <a:lstStyle/>
            <a:p>
              <a:pPr marL="12700" algn="ctr" rtl="0" eaLnBrk="0"/>
              <a:r>
                <a:rPr lang="zh-CN" altLang="en-US" sz="600" kern="0" spc="140" dirty="0" err="1">
                  <a:solidFill>
                    <a:schemeClr val="accent5">
                      <a:alpha val="100000"/>
                    </a:schemeClr>
                  </a:solidFill>
                  <a:latin typeface="微软雅黑" panose="020B0503020204020204" charset="-122"/>
                  <a:ea typeface="微软雅黑" panose="020B0503020204020204" charset="-122"/>
                  <a:cs typeface="微软雅黑" panose="020B0503020204020204" charset="-122"/>
                </a:rPr>
                <a:t>商业模式颠覆</a:t>
              </a:r>
              <a:endParaRPr lang="zh-CN" altLang="en-US" sz="600" kern="0" spc="140" dirty="0" err="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497" name="组合 496"/>
          <p:cNvGrpSpPr/>
          <p:nvPr/>
        </p:nvGrpSpPr>
        <p:grpSpPr>
          <a:xfrm>
            <a:off x="10533380" y="2115820"/>
            <a:ext cx="641350" cy="132080"/>
            <a:chOff x="1741" y="3332"/>
            <a:chExt cx="1010" cy="208"/>
          </a:xfrm>
        </p:grpSpPr>
        <p:sp>
          <p:nvSpPr>
            <p:cNvPr id="498" name="圆角矩形 497"/>
            <p:cNvSpPr/>
            <p:nvPr/>
          </p:nvSpPr>
          <p:spPr>
            <a:xfrm>
              <a:off x="1741" y="3332"/>
              <a:ext cx="1008" cy="208"/>
            </a:xfrm>
            <a:prstGeom prst="roundRect">
              <a:avLst/>
            </a:prstGeom>
            <a:solidFill>
              <a:schemeClr val="bg1">
                <a:alpha val="50000"/>
              </a:schemeClr>
            </a:solidFill>
            <a:ln w="6350">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9" name="textbox 2070"/>
            <p:cNvSpPr/>
            <p:nvPr/>
          </p:nvSpPr>
          <p:spPr>
            <a:xfrm>
              <a:off x="1782" y="3359"/>
              <a:ext cx="969" cy="145"/>
            </a:xfrm>
            <a:prstGeom prst="rect">
              <a:avLst/>
            </a:prstGeom>
          </p:spPr>
          <p:txBody>
            <a:bodyPr vert="horz" wrap="square" lIns="0" tIns="0" rIns="0" bIns="0">
              <a:spAutoFit/>
            </a:bodyPr>
            <a:lstStyle/>
            <a:p>
              <a:pPr marL="12700" algn="ctr" rtl="0" eaLnBrk="0"/>
              <a:r>
                <a:rPr lang="zh-CN" altLang="en-US" sz="600" kern="0" spc="140" dirty="0" err="1">
                  <a:solidFill>
                    <a:schemeClr val="accent5">
                      <a:alpha val="100000"/>
                    </a:schemeClr>
                  </a:solidFill>
                  <a:latin typeface="微软雅黑" panose="020B0503020204020204" charset="-122"/>
                  <a:ea typeface="微软雅黑" panose="020B0503020204020204" charset="-122"/>
                  <a:cs typeface="微软雅黑" panose="020B0503020204020204" charset="-122"/>
                </a:rPr>
                <a:t>价值网络主导</a:t>
              </a:r>
              <a:endParaRPr lang="zh-CN" altLang="en-US" sz="600" kern="0" spc="140" dirty="0" err="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518" name="组合 517"/>
          <p:cNvGrpSpPr/>
          <p:nvPr/>
        </p:nvGrpSpPr>
        <p:grpSpPr>
          <a:xfrm>
            <a:off x="942975" y="5358130"/>
            <a:ext cx="405130" cy="405130"/>
            <a:chOff x="1741" y="8606"/>
            <a:chExt cx="638" cy="638"/>
          </a:xfrm>
        </p:grpSpPr>
        <p:sp>
          <p:nvSpPr>
            <p:cNvPr id="501" name="椭圆 500"/>
            <p:cNvSpPr/>
            <p:nvPr/>
          </p:nvSpPr>
          <p:spPr>
            <a:xfrm>
              <a:off x="1741" y="8606"/>
              <a:ext cx="639" cy="639"/>
            </a:xfrm>
            <a:prstGeom prst="ellipse">
              <a:avLst/>
            </a:prstGeom>
            <a:gradFill>
              <a:gsLst>
                <a:gs pos="100000">
                  <a:schemeClr val="accent1">
                    <a:lumMod val="60000"/>
                    <a:lumOff val="40000"/>
                  </a:schemeClr>
                </a:gs>
                <a:gs pos="0">
                  <a:schemeClr val="accent1"/>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06" name="图片 505" descr="物联网"/>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826" y="8691"/>
              <a:ext cx="469" cy="469"/>
            </a:xfrm>
            <a:prstGeom prst="rect">
              <a:avLst/>
            </a:prstGeom>
          </p:spPr>
        </p:pic>
      </p:grpSp>
      <p:sp>
        <p:nvSpPr>
          <p:cNvPr id="513" name="椭圆 512"/>
          <p:cNvSpPr/>
          <p:nvPr/>
        </p:nvSpPr>
        <p:spPr>
          <a:xfrm>
            <a:off x="7571105" y="5386070"/>
            <a:ext cx="405765" cy="405765"/>
          </a:xfrm>
          <a:prstGeom prst="ellipse">
            <a:avLst/>
          </a:prstGeom>
          <a:gradFill>
            <a:gsLst>
              <a:gs pos="100000">
                <a:schemeClr val="accent1">
                  <a:lumMod val="60000"/>
                  <a:lumOff val="40000"/>
                </a:schemeClr>
              </a:gs>
              <a:gs pos="0">
                <a:schemeClr val="accent1"/>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515" name="组合 514"/>
          <p:cNvGrpSpPr/>
          <p:nvPr/>
        </p:nvGrpSpPr>
        <p:grpSpPr>
          <a:xfrm>
            <a:off x="5982335" y="5358130"/>
            <a:ext cx="405130" cy="405130"/>
            <a:chOff x="9677" y="8606"/>
            <a:chExt cx="638" cy="638"/>
          </a:xfrm>
        </p:grpSpPr>
        <p:sp>
          <p:nvSpPr>
            <p:cNvPr id="511" name="椭圆 510"/>
            <p:cNvSpPr/>
            <p:nvPr/>
          </p:nvSpPr>
          <p:spPr>
            <a:xfrm>
              <a:off x="9677" y="8606"/>
              <a:ext cx="639" cy="639"/>
            </a:xfrm>
            <a:prstGeom prst="ellipse">
              <a:avLst/>
            </a:prstGeom>
            <a:gradFill>
              <a:gsLst>
                <a:gs pos="100000">
                  <a:schemeClr val="accent1">
                    <a:lumMod val="60000"/>
                    <a:lumOff val="40000"/>
                  </a:schemeClr>
                </a:gs>
                <a:gs pos="0">
                  <a:schemeClr val="accent1"/>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14" name="图片 513" descr="AI (1)"/>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803" y="8732"/>
              <a:ext cx="388" cy="388"/>
            </a:xfrm>
            <a:prstGeom prst="rect">
              <a:avLst/>
            </a:prstGeom>
          </p:spPr>
        </p:pic>
      </p:grpSp>
      <p:grpSp>
        <p:nvGrpSpPr>
          <p:cNvPr id="517" name="组合 516"/>
          <p:cNvGrpSpPr/>
          <p:nvPr/>
        </p:nvGrpSpPr>
        <p:grpSpPr>
          <a:xfrm>
            <a:off x="2614930" y="5358130"/>
            <a:ext cx="405130" cy="405130"/>
            <a:chOff x="4374" y="8606"/>
            <a:chExt cx="638" cy="638"/>
          </a:xfrm>
        </p:grpSpPr>
        <p:sp>
          <p:nvSpPr>
            <p:cNvPr id="509" name="椭圆 508"/>
            <p:cNvSpPr/>
            <p:nvPr/>
          </p:nvSpPr>
          <p:spPr>
            <a:xfrm>
              <a:off x="4374" y="8606"/>
              <a:ext cx="639" cy="639"/>
            </a:xfrm>
            <a:prstGeom prst="ellipse">
              <a:avLst/>
            </a:prstGeom>
            <a:gradFill>
              <a:gsLst>
                <a:gs pos="100000">
                  <a:schemeClr val="accent1">
                    <a:lumMod val="60000"/>
                    <a:lumOff val="40000"/>
                  </a:schemeClr>
                </a:gs>
                <a:gs pos="0">
                  <a:schemeClr val="accent1"/>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16" name="图片 515" descr="互联网"/>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424" y="8656"/>
              <a:ext cx="539" cy="539"/>
            </a:xfrm>
            <a:prstGeom prst="rect">
              <a:avLst/>
            </a:prstGeom>
          </p:spPr>
        </p:pic>
      </p:grpSp>
      <p:grpSp>
        <p:nvGrpSpPr>
          <p:cNvPr id="520" name="组合 519"/>
          <p:cNvGrpSpPr/>
          <p:nvPr/>
        </p:nvGrpSpPr>
        <p:grpSpPr>
          <a:xfrm>
            <a:off x="4280535" y="5365750"/>
            <a:ext cx="405130" cy="405130"/>
            <a:chOff x="6997" y="8618"/>
            <a:chExt cx="638" cy="638"/>
          </a:xfrm>
        </p:grpSpPr>
        <p:sp>
          <p:nvSpPr>
            <p:cNvPr id="510" name="椭圆 509"/>
            <p:cNvSpPr/>
            <p:nvPr/>
          </p:nvSpPr>
          <p:spPr>
            <a:xfrm>
              <a:off x="6997" y="8618"/>
              <a:ext cx="639" cy="639"/>
            </a:xfrm>
            <a:prstGeom prst="ellipse">
              <a:avLst/>
            </a:prstGeom>
            <a:gradFill>
              <a:gsLst>
                <a:gs pos="100000">
                  <a:schemeClr val="accent1">
                    <a:lumMod val="60000"/>
                    <a:lumOff val="40000"/>
                  </a:schemeClr>
                </a:gs>
                <a:gs pos="0">
                  <a:schemeClr val="accent1"/>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19" name="图片 518" descr="物联网 (1)"/>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7071" y="8692"/>
              <a:ext cx="492" cy="492"/>
            </a:xfrm>
            <a:prstGeom prst="rect">
              <a:avLst/>
            </a:prstGeom>
          </p:spPr>
        </p:pic>
      </p:grpSp>
      <p:pic>
        <p:nvPicPr>
          <p:cNvPr id="521" name="图片 520" descr="云计算-41"/>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657465" y="5479415"/>
            <a:ext cx="230505" cy="230505"/>
          </a:xfrm>
          <a:prstGeom prst="rect">
            <a:avLst/>
          </a:prstGeom>
        </p:spPr>
      </p:pic>
      <p:grpSp>
        <p:nvGrpSpPr>
          <p:cNvPr id="523" name="组合 522"/>
          <p:cNvGrpSpPr/>
          <p:nvPr/>
        </p:nvGrpSpPr>
        <p:grpSpPr>
          <a:xfrm>
            <a:off x="5147945" y="5244783"/>
            <a:ext cx="294640" cy="329565"/>
            <a:chOff x="10980" y="8069"/>
            <a:chExt cx="464" cy="519"/>
          </a:xfrm>
        </p:grpSpPr>
        <p:cxnSp>
          <p:nvCxnSpPr>
            <p:cNvPr id="524" name="直线箭头连接符 113"/>
            <p:cNvCxnSpPr/>
            <p:nvPr/>
          </p:nvCxnSpPr>
          <p:spPr>
            <a:xfrm flipV="1">
              <a:off x="10980" y="8370"/>
              <a:ext cx="0" cy="218"/>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25" name="直线箭头连接符 114"/>
            <p:cNvCxnSpPr/>
            <p:nvPr/>
          </p:nvCxnSpPr>
          <p:spPr>
            <a:xfrm flipV="1">
              <a:off x="11226" y="8069"/>
              <a:ext cx="0" cy="363"/>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26" name="直线箭头连接符 118"/>
            <p:cNvCxnSpPr/>
            <p:nvPr/>
          </p:nvCxnSpPr>
          <p:spPr>
            <a:xfrm flipV="1">
              <a:off x="11444" y="8225"/>
              <a:ext cx="0" cy="303"/>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grpSp>
      <p:grpSp>
        <p:nvGrpSpPr>
          <p:cNvPr id="527" name="组合 526"/>
          <p:cNvGrpSpPr/>
          <p:nvPr/>
        </p:nvGrpSpPr>
        <p:grpSpPr>
          <a:xfrm>
            <a:off x="3486785" y="5244783"/>
            <a:ext cx="294640" cy="329565"/>
            <a:chOff x="10980" y="8069"/>
            <a:chExt cx="464" cy="519"/>
          </a:xfrm>
        </p:grpSpPr>
        <p:cxnSp>
          <p:nvCxnSpPr>
            <p:cNvPr id="528" name="直线箭头连接符 113"/>
            <p:cNvCxnSpPr/>
            <p:nvPr/>
          </p:nvCxnSpPr>
          <p:spPr>
            <a:xfrm flipV="1">
              <a:off x="10980" y="8370"/>
              <a:ext cx="0" cy="218"/>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29" name="直线箭头连接符 114"/>
            <p:cNvCxnSpPr/>
            <p:nvPr/>
          </p:nvCxnSpPr>
          <p:spPr>
            <a:xfrm flipV="1">
              <a:off x="11226" y="8069"/>
              <a:ext cx="0" cy="363"/>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30" name="直线箭头连接符 118"/>
            <p:cNvCxnSpPr/>
            <p:nvPr/>
          </p:nvCxnSpPr>
          <p:spPr>
            <a:xfrm flipV="1">
              <a:off x="11444" y="8225"/>
              <a:ext cx="0" cy="303"/>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grpSp>
      <p:grpSp>
        <p:nvGrpSpPr>
          <p:cNvPr id="531" name="组合 530"/>
          <p:cNvGrpSpPr/>
          <p:nvPr/>
        </p:nvGrpSpPr>
        <p:grpSpPr>
          <a:xfrm>
            <a:off x="1825625" y="5244783"/>
            <a:ext cx="294640" cy="329565"/>
            <a:chOff x="10980" y="8069"/>
            <a:chExt cx="464" cy="519"/>
          </a:xfrm>
        </p:grpSpPr>
        <p:cxnSp>
          <p:nvCxnSpPr>
            <p:cNvPr id="532" name="直线箭头连接符 113"/>
            <p:cNvCxnSpPr/>
            <p:nvPr/>
          </p:nvCxnSpPr>
          <p:spPr>
            <a:xfrm flipV="1">
              <a:off x="10980" y="8370"/>
              <a:ext cx="0" cy="218"/>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33" name="直线箭头连接符 114"/>
            <p:cNvCxnSpPr/>
            <p:nvPr/>
          </p:nvCxnSpPr>
          <p:spPr>
            <a:xfrm flipV="1">
              <a:off x="11226" y="8069"/>
              <a:ext cx="0" cy="363"/>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34" name="直线箭头连接符 118"/>
            <p:cNvCxnSpPr/>
            <p:nvPr/>
          </p:nvCxnSpPr>
          <p:spPr>
            <a:xfrm flipV="1">
              <a:off x="11444" y="8225"/>
              <a:ext cx="0" cy="303"/>
            </a:xfrm>
            <a:prstGeom prst="straightConnector1">
              <a:avLst/>
            </a:prstGeom>
            <a:ln w="12700">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8764270" y="5259070"/>
            <a:ext cx="2705735" cy="1225550"/>
            <a:chOff x="14186" y="8349"/>
            <a:chExt cx="4261" cy="2074"/>
          </a:xfrm>
        </p:grpSpPr>
        <p:sp>
          <p:nvSpPr>
            <p:cNvPr id="364" name="五边形 363"/>
            <p:cNvSpPr/>
            <p:nvPr/>
          </p:nvSpPr>
          <p:spPr>
            <a:xfrm flipH="1">
              <a:off x="14186" y="8349"/>
              <a:ext cx="4261" cy="2074"/>
            </a:xfrm>
            <a:prstGeom prst="homePlate">
              <a:avLst>
                <a:gd name="adj" fmla="val 34210"/>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35" name="五边形 534"/>
            <p:cNvSpPr/>
            <p:nvPr/>
          </p:nvSpPr>
          <p:spPr>
            <a:xfrm flipH="1">
              <a:off x="14351" y="8459"/>
              <a:ext cx="3950" cy="1854"/>
            </a:xfrm>
            <a:prstGeom prst="homePlate">
              <a:avLst>
                <a:gd name="adj" fmla="val 3421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536" name="textbox 2070"/>
          <p:cNvSpPr/>
          <p:nvPr/>
        </p:nvSpPr>
        <p:spPr>
          <a:xfrm>
            <a:off x="9149080" y="5508625"/>
            <a:ext cx="2182495" cy="400050"/>
          </a:xfrm>
          <a:prstGeom prst="rect">
            <a:avLst/>
          </a:prstGeom>
        </p:spPr>
        <p:txBody>
          <a:bodyPr vert="horz" wrap="square" lIns="0" tIns="0" rIns="0" bIns="0">
            <a:spAutoFit/>
          </a:bodyPr>
          <a:lstStyle/>
          <a:p>
            <a:pPr marL="12700" algn="ctr" rtl="0" eaLnBrk="0"/>
            <a:r>
              <a:rPr lang="zh-CN" altLang="en-US" sz="1300" kern="0" spc="140" dirty="0" err="1">
                <a:solidFill>
                  <a:schemeClr val="tx2"/>
                </a:solidFill>
                <a:latin typeface="微软雅黑" panose="020B0503020204020204" charset="-122"/>
                <a:ea typeface="微软雅黑" panose="020B0503020204020204" charset="-122"/>
                <a:cs typeface="微软雅黑" panose="020B0503020204020204" charset="-122"/>
              </a:rPr>
              <a:t>以业务价值演进为核心的数字化转型</a:t>
            </a:r>
            <a:r>
              <a:rPr lang="zh-CN" altLang="en-US" sz="1300" b="1" kern="0" spc="140" dirty="0" err="1">
                <a:solidFill>
                  <a:schemeClr val="tx2"/>
                </a:solidFill>
                <a:latin typeface="微软雅黑" panose="020B0503020204020204" charset="-122"/>
                <a:ea typeface="微软雅黑" panose="020B0503020204020204" charset="-122"/>
                <a:cs typeface="微软雅黑" panose="020B0503020204020204" charset="-122"/>
              </a:rPr>
              <a:t>四部曲</a:t>
            </a:r>
            <a:endParaRPr lang="zh-CN" altLang="en-US" sz="1300" b="1" kern="0" spc="140"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7" name="textbox 2070"/>
          <p:cNvSpPr/>
          <p:nvPr/>
        </p:nvSpPr>
        <p:spPr>
          <a:xfrm>
            <a:off x="9149080" y="6001385"/>
            <a:ext cx="2182495" cy="215265"/>
          </a:xfrm>
          <a:prstGeom prst="rect">
            <a:avLst/>
          </a:prstGeom>
        </p:spPr>
        <p:txBody>
          <a:bodyPr vert="horz" wrap="square" lIns="0" tIns="0" rIns="0" bIns="0">
            <a:spAutoFit/>
          </a:bodyPr>
          <a:lstStyle/>
          <a:p>
            <a:pPr marL="12700" algn="l" rtl="0" eaLnBrk="0"/>
            <a:r>
              <a:rPr lang="zh-CN" altLang="en-US" sz="1000" b="1" kern="0" spc="140" dirty="0" err="1">
                <a:solidFill>
                  <a:schemeClr val="accent5"/>
                </a:solidFill>
                <a:latin typeface="微软雅黑" panose="020B0503020204020204" charset="-122"/>
                <a:ea typeface="微软雅黑" panose="020B0503020204020204" charset="-122"/>
                <a:cs typeface="微软雅黑" panose="020B0503020204020204" charset="-122"/>
              </a:rPr>
              <a:t>罗盘</a:t>
            </a:r>
            <a:r>
              <a:rPr lang="en-US" altLang="zh-CN" sz="1000" b="1" kern="0" spc="140" dirty="0" err="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000" b="1" kern="0" spc="140" dirty="0" err="1">
                <a:solidFill>
                  <a:schemeClr val="accent5"/>
                </a:solidFill>
                <a:latin typeface="微软雅黑" panose="020B0503020204020204" charset="-122"/>
                <a:ea typeface="微软雅黑" panose="020B0503020204020204" charset="-122"/>
                <a:cs typeface="微软雅黑" panose="020B0503020204020204" charset="-122"/>
              </a:rPr>
              <a:t>前哨</a:t>
            </a:r>
            <a:r>
              <a:rPr lang="en-US" altLang="zh-CN" sz="1000" b="1" kern="0" spc="140" dirty="0" err="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000" b="1" kern="0" spc="140" dirty="0" err="1">
                <a:solidFill>
                  <a:schemeClr val="accent5"/>
                </a:solidFill>
                <a:latin typeface="微软雅黑" panose="020B0503020204020204" charset="-122"/>
                <a:ea typeface="微软雅黑" panose="020B0503020204020204" charset="-122"/>
                <a:cs typeface="微软雅黑" panose="020B0503020204020204" charset="-122"/>
              </a:rPr>
              <a:t>引擎</a:t>
            </a:r>
            <a:r>
              <a:rPr lang="en-US" altLang="zh-CN" sz="1000" b="1" kern="0" spc="140" dirty="0" err="1">
                <a:solidFill>
                  <a:schemeClr val="accent5"/>
                </a:solidFill>
                <a:latin typeface="微软雅黑" panose="020B0503020204020204" charset="-122"/>
                <a:ea typeface="微软雅黑" panose="020B0503020204020204" charset="-122"/>
                <a:cs typeface="微软雅黑" panose="020B0503020204020204" charset="-122"/>
              </a:rPr>
              <a:t>=</a:t>
            </a:r>
            <a:r>
              <a:rPr lang="en-US" altLang="zh-CN" sz="1400" b="1" kern="0" spc="140" dirty="0" err="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400" b="1" kern="0" spc="140" dirty="0" err="1">
                <a:solidFill>
                  <a:schemeClr val="accent5"/>
                </a:solidFill>
                <a:latin typeface="微软雅黑" panose="020B0503020204020204" charset="-122"/>
                <a:ea typeface="微软雅黑" panose="020B0503020204020204" charset="-122"/>
                <a:cs typeface="微软雅黑" panose="020B0503020204020204" charset="-122"/>
              </a:rPr>
              <a:t>新大陆</a:t>
            </a:r>
            <a:r>
              <a:rPr lang="en-US" altLang="zh-CN" sz="1400" b="1" kern="0" spc="140" dirty="0" err="1">
                <a:solidFill>
                  <a:schemeClr val="accent5"/>
                </a:solidFill>
                <a:latin typeface="微软雅黑" panose="020B0503020204020204" charset="-122"/>
                <a:ea typeface="微软雅黑" panose="020B0503020204020204" charset="-122"/>
                <a:cs typeface="微软雅黑" panose="020B0503020204020204" charset="-122"/>
              </a:rPr>
              <a:t>”</a:t>
            </a:r>
            <a:endParaRPr lang="en-US" altLang="zh-CN" sz="1400" b="1" kern="0" spc="140" dirty="0" err="1">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10" name="图片 9"/>
            <p:cNvPicPr>
              <a:picLocks noChangeAspect="1"/>
            </p:cNvPicPr>
            <p:nvPr userDrawn="1"/>
          </p:nvPicPr>
          <p:blipFill>
            <a:blip r:embed="rId31"/>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fill="hold"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业务流程架构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产品研发项目</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总结复盘</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4" name="图片 10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1" name="Triangle"/>
          <p:cNvSpPr/>
          <p:nvPr/>
        </p:nvSpPr>
        <p:spPr>
          <a:xfrm rot="5400000">
            <a:off x="1036537" y="922623"/>
            <a:ext cx="3534287" cy="477368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gradFill>
            <a:gsLst>
              <a:gs pos="0">
                <a:schemeClr val="accent1">
                  <a:lumMod val="20000"/>
                  <a:lumOff val="80000"/>
                  <a:alpha val="0"/>
                </a:schemeClr>
              </a:gs>
              <a:gs pos="74000">
                <a:schemeClr val="accent1">
                  <a:lumMod val="20000"/>
                  <a:lumOff val="80000"/>
                  <a:alpha val="70000"/>
                </a:schemeClr>
              </a:gs>
            </a:gsLst>
            <a:lin ang="16200000"/>
          </a:gradFill>
          <a:ln w="12700">
            <a:miter lim="400000"/>
          </a:ln>
        </p:spPr>
        <p:txBody>
          <a:bodyPr lIns="0" tIns="0" rIns="0" bIns="0" anchor="ctr"/>
          <a:lstStyle/>
          <a:p>
            <a:endParaRPr sz="900">
              <a:latin typeface="微软雅黑" panose="020B0503020204020204" charset="-122"/>
              <a:ea typeface="微软雅黑" panose="020B0503020204020204" charset="-122"/>
              <a:cs typeface="微软雅黑" panose="020B0503020204020204" charset="-122"/>
            </a:endParaRPr>
          </a:p>
        </p:txBody>
      </p:sp>
      <p:sp>
        <p:nvSpPr>
          <p:cNvPr id="14" name="Line"/>
          <p:cNvSpPr/>
          <p:nvPr/>
        </p:nvSpPr>
        <p:spPr>
          <a:xfrm flipH="1" flipV="1">
            <a:off x="1774679" y="1992744"/>
            <a:ext cx="1906823" cy="752916"/>
          </a:xfrm>
          <a:prstGeom prst="line">
            <a:avLst/>
          </a:prstGeom>
          <a:ln w="25400">
            <a:solidFill>
              <a:schemeClr val="accent1"/>
            </a:solidFill>
            <a:custDash>
              <a:ds d="200000" sp="200000"/>
            </a:custDash>
            <a:miter lim="400000"/>
            <a:tailEnd type="triangle"/>
          </a:ln>
        </p:spPr>
        <p:txBody>
          <a:bodyPr lIns="22859" tIns="22859" rIns="22859" bIns="22859"/>
          <a:lstStyle/>
          <a:p>
            <a:endParaRPr sz="900">
              <a:cs typeface="微软雅黑" panose="020B0503020204020204" charset="-122"/>
            </a:endParaRPr>
          </a:p>
        </p:txBody>
      </p:sp>
      <p:sp>
        <p:nvSpPr>
          <p:cNvPr id="15" name="Line"/>
          <p:cNvSpPr/>
          <p:nvPr/>
        </p:nvSpPr>
        <p:spPr>
          <a:xfrm flipH="1" flipV="1">
            <a:off x="1827233" y="2838353"/>
            <a:ext cx="1685380" cy="209728"/>
          </a:xfrm>
          <a:prstGeom prst="line">
            <a:avLst/>
          </a:prstGeom>
          <a:ln w="25400">
            <a:solidFill>
              <a:schemeClr val="accent1"/>
            </a:solidFill>
            <a:custDash>
              <a:ds d="200000" sp="200000"/>
            </a:custDash>
            <a:miter lim="400000"/>
            <a:tailEnd type="triangle"/>
          </a:ln>
        </p:spPr>
        <p:txBody>
          <a:bodyPr lIns="22859" tIns="22859" rIns="22859" bIns="22859"/>
          <a:lstStyle/>
          <a:p>
            <a:endParaRPr sz="900">
              <a:cs typeface="微软雅黑" panose="020B0503020204020204" charset="-122"/>
            </a:endParaRPr>
          </a:p>
        </p:txBody>
      </p:sp>
      <p:sp>
        <p:nvSpPr>
          <p:cNvPr id="16" name="Line"/>
          <p:cNvSpPr/>
          <p:nvPr/>
        </p:nvSpPr>
        <p:spPr>
          <a:xfrm flipH="1">
            <a:off x="1820780" y="3496073"/>
            <a:ext cx="1698771" cy="209125"/>
          </a:xfrm>
          <a:prstGeom prst="line">
            <a:avLst/>
          </a:prstGeom>
          <a:ln w="25400">
            <a:solidFill>
              <a:schemeClr val="accent1"/>
            </a:solidFill>
            <a:custDash>
              <a:ds d="200000" sp="200000"/>
            </a:custDash>
            <a:miter lim="400000"/>
            <a:tailEnd type="triangle"/>
          </a:ln>
        </p:spPr>
        <p:txBody>
          <a:bodyPr lIns="22859" tIns="22859" rIns="22859" bIns="22859"/>
          <a:lstStyle/>
          <a:p>
            <a:endParaRPr sz="900">
              <a:cs typeface="微软雅黑" panose="020B0503020204020204" charset="-122"/>
            </a:endParaRPr>
          </a:p>
        </p:txBody>
      </p:sp>
      <p:sp>
        <p:nvSpPr>
          <p:cNvPr id="17" name="Line"/>
          <p:cNvSpPr/>
          <p:nvPr/>
        </p:nvSpPr>
        <p:spPr>
          <a:xfrm flipH="1">
            <a:off x="1801422" y="3857650"/>
            <a:ext cx="1919946" cy="727298"/>
          </a:xfrm>
          <a:prstGeom prst="line">
            <a:avLst/>
          </a:prstGeom>
          <a:ln w="25400">
            <a:solidFill>
              <a:schemeClr val="accent1"/>
            </a:solidFill>
            <a:custDash>
              <a:ds d="200000" sp="200000"/>
            </a:custDash>
            <a:miter lim="400000"/>
            <a:tailEnd type="triangle"/>
          </a:ln>
        </p:spPr>
        <p:txBody>
          <a:bodyPr lIns="22859" tIns="22859" rIns="22859" bIns="22859"/>
          <a:lstStyle/>
          <a:p>
            <a:endParaRPr sz="900">
              <a:cs typeface="微软雅黑" panose="020B0503020204020204" charset="-122"/>
            </a:endParaRPr>
          </a:p>
        </p:txBody>
      </p:sp>
      <p:grpSp>
        <p:nvGrpSpPr>
          <p:cNvPr id="156" name="组合 155"/>
          <p:cNvGrpSpPr/>
          <p:nvPr/>
        </p:nvGrpSpPr>
        <p:grpSpPr>
          <a:xfrm>
            <a:off x="866140" y="4309183"/>
            <a:ext cx="729054" cy="728980"/>
            <a:chOff x="884" y="6433"/>
            <a:chExt cx="1483" cy="1483"/>
          </a:xfrm>
        </p:grpSpPr>
        <p:sp>
          <p:nvSpPr>
            <p:cNvPr id="36" name="Circle"/>
            <p:cNvSpPr/>
            <p:nvPr/>
          </p:nvSpPr>
          <p:spPr>
            <a:xfrm>
              <a:off x="884" y="6433"/>
              <a:ext cx="1483" cy="1483"/>
            </a:xfrm>
            <a:prstGeom prst="ellipse">
              <a:avLst/>
            </a:prstGeom>
            <a:solidFill>
              <a:schemeClr val="accent1">
                <a:lumMod val="20000"/>
                <a:lumOff val="80000"/>
              </a:schemeClr>
            </a:solidFill>
            <a:ln w="12700" cap="flat">
              <a:solidFill>
                <a:schemeClr val="accent1">
                  <a:lumMod val="60000"/>
                  <a:lumOff val="40000"/>
                  <a:alpha val="50000"/>
                </a:schemeClr>
              </a:solidFill>
              <a:miter lim="400000"/>
            </a:ln>
            <a:effectLst/>
          </p:spPr>
          <p:txBody>
            <a:bodyPr wrap="square" lIns="0" tIns="0" rIns="0" bIns="0" numCol="1" anchor="ctr">
              <a:noAutofit/>
            </a:bodyPr>
            <a:lstStyle/>
            <a:p>
              <a:pPr lvl="0" algn="ctr">
                <a:buClrTx/>
                <a:buSzTx/>
                <a:buFontTx/>
              </a:pPr>
              <a:endParaRPr sz="9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45" y="6811"/>
              <a:ext cx="1162" cy="729"/>
            </a:xfrm>
            <a:prstGeom prst="rect">
              <a:avLst/>
            </a:prstGeom>
            <a:ln w="12700">
              <a:miter lim="400000"/>
            </a:ln>
          </p:spPr>
          <p:txBody>
            <a:bodyPr lIns="25400" tIns="25400" rIns="25400" bIns="25400">
              <a:spAutoFit/>
            </a:bodyPr>
            <a:lstStyle>
              <a:lvl1pPr>
                <a:defRPr sz="2200">
                  <a:solidFill>
                    <a:srgbClr val="F7F5F6"/>
                  </a:solidFill>
                  <a:latin typeface="Barlow Medium" panose="00000600000000000000"/>
                  <a:ea typeface="Barlow Medium" panose="00000600000000000000"/>
                  <a:cs typeface="Barlow Medium" panose="00000600000000000000"/>
                  <a:sym typeface="Barlow Medium" panose="00000600000000000000"/>
                </a:defRPr>
              </a:lvl1pPr>
            </a:lstStyle>
            <a:p>
              <a:pPr lvl="0" algn="ctr">
                <a:buClrTx/>
                <a:buSzTx/>
                <a:buFontTx/>
              </a:pPr>
              <a:r>
                <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rPr>
                <a:t>营销</a:t>
              </a:r>
              <a:endPar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rPr>
                <a:t>团队</a:t>
              </a:r>
              <a:endPar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4" name="组合 23"/>
          <p:cNvGrpSpPr/>
          <p:nvPr/>
        </p:nvGrpSpPr>
        <p:grpSpPr>
          <a:xfrm>
            <a:off x="2163041" y="2027027"/>
            <a:ext cx="7093330" cy="2477726"/>
            <a:chOff x="2252470" y="2221682"/>
            <a:chExt cx="6902712" cy="2411143"/>
          </a:xfrm>
        </p:grpSpPr>
        <p:sp>
          <p:nvSpPr>
            <p:cNvPr id="23" name="Freeform: Shape 59"/>
            <p:cNvSpPr/>
            <p:nvPr/>
          </p:nvSpPr>
          <p:spPr>
            <a:xfrm>
              <a:off x="7554426" y="2228666"/>
              <a:ext cx="1333056" cy="2404159"/>
            </a:xfrm>
            <a:custGeom>
              <a:avLst/>
              <a:gdLst>
                <a:gd name="connsiteX0" fmla="*/ 347663 w 1090612"/>
                <a:gd name="connsiteY0" fmla="*/ 1963103 h 1966912"/>
                <a:gd name="connsiteX1" fmla="*/ 315277 w 1090612"/>
                <a:gd name="connsiteY1" fmla="*/ 1966913 h 1966912"/>
                <a:gd name="connsiteX2" fmla="*/ 0 w 1090612"/>
                <a:gd name="connsiteY2" fmla="*/ 1966913 h 1966912"/>
                <a:gd name="connsiteX3" fmla="*/ 17145 w 1090612"/>
                <a:gd name="connsiteY3" fmla="*/ 1964055 h 1966912"/>
                <a:gd name="connsiteX4" fmla="*/ 768668 w 1090612"/>
                <a:gd name="connsiteY4" fmla="*/ 983933 h 1966912"/>
                <a:gd name="connsiteX5" fmla="*/ 25717 w 1090612"/>
                <a:gd name="connsiteY5" fmla="*/ 3810 h 1966912"/>
                <a:gd name="connsiteX6" fmla="*/ 208597 w 1090612"/>
                <a:gd name="connsiteY6" fmla="*/ 3810 h 1966912"/>
                <a:gd name="connsiteX7" fmla="*/ 278130 w 1090612"/>
                <a:gd name="connsiteY7" fmla="*/ 0 h 1966912"/>
                <a:gd name="connsiteX8" fmla="*/ 1090613 w 1090612"/>
                <a:gd name="connsiteY8" fmla="*/ 982980 h 1966912"/>
                <a:gd name="connsiteX9" fmla="*/ 347663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347663" y="1963103"/>
                  </a:moveTo>
                  <a:cubicBezTo>
                    <a:pt x="337185" y="1965008"/>
                    <a:pt x="326707" y="1966913"/>
                    <a:pt x="315277" y="1966913"/>
                  </a:cubicBezTo>
                  <a:cubicBezTo>
                    <a:pt x="204788" y="1966913"/>
                    <a:pt x="0" y="1966913"/>
                    <a:pt x="0" y="1966913"/>
                  </a:cubicBezTo>
                  <a:cubicBezTo>
                    <a:pt x="5715" y="1965960"/>
                    <a:pt x="11430" y="1965008"/>
                    <a:pt x="17145" y="1964055"/>
                  </a:cubicBezTo>
                  <a:cubicBezTo>
                    <a:pt x="437197" y="1925955"/>
                    <a:pt x="768668" y="1501140"/>
                    <a:pt x="768668" y="983933"/>
                  </a:cubicBezTo>
                  <a:cubicBezTo>
                    <a:pt x="768668" y="469583"/>
                    <a:pt x="441960" y="47625"/>
                    <a:pt x="25717" y="3810"/>
                  </a:cubicBezTo>
                  <a:cubicBezTo>
                    <a:pt x="63817" y="3810"/>
                    <a:pt x="137160" y="3810"/>
                    <a:pt x="208597" y="3810"/>
                  </a:cubicBezTo>
                  <a:cubicBezTo>
                    <a:pt x="231457" y="1905"/>
                    <a:pt x="255270" y="0"/>
                    <a:pt x="278130" y="0"/>
                  </a:cubicBezTo>
                  <a:cubicBezTo>
                    <a:pt x="726757" y="0"/>
                    <a:pt x="1090613" y="440055"/>
                    <a:pt x="1090613" y="982980"/>
                  </a:cubicBezTo>
                  <a:cubicBezTo>
                    <a:pt x="1090613" y="1498283"/>
                    <a:pt x="763905" y="1920240"/>
                    <a:pt x="347663" y="1963103"/>
                  </a:cubicBez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a:latin typeface="微软雅黑" panose="020B0503020204020204" charset="-122"/>
                <a:ea typeface="微软雅黑" panose="020B0503020204020204" charset="-122"/>
                <a:cs typeface="微软雅黑" panose="020B0503020204020204" charset="-122"/>
                <a:sym typeface="+mn-ea"/>
              </a:endParaRPr>
            </a:p>
          </p:txBody>
        </p:sp>
        <p:sp>
          <p:nvSpPr>
            <p:cNvPr id="25" name="Freeform: Shape 51"/>
            <p:cNvSpPr/>
            <p:nvPr/>
          </p:nvSpPr>
          <p:spPr>
            <a:xfrm>
              <a:off x="3235089" y="2228666"/>
              <a:ext cx="1333056" cy="2404159"/>
            </a:xfrm>
            <a:custGeom>
              <a:avLst/>
              <a:gdLst>
                <a:gd name="connsiteX0" fmla="*/ 347663 w 1090612"/>
                <a:gd name="connsiteY0" fmla="*/ 1963103 h 1966912"/>
                <a:gd name="connsiteX1" fmla="*/ 315278 w 1090612"/>
                <a:gd name="connsiteY1" fmla="*/ 1966913 h 1966912"/>
                <a:gd name="connsiteX2" fmla="*/ 0 w 1090612"/>
                <a:gd name="connsiteY2" fmla="*/ 1966913 h 1966912"/>
                <a:gd name="connsiteX3" fmla="*/ 17145 w 1090612"/>
                <a:gd name="connsiteY3" fmla="*/ 1964055 h 1966912"/>
                <a:gd name="connsiteX4" fmla="*/ 768668 w 1090612"/>
                <a:gd name="connsiteY4" fmla="*/ 983933 h 1966912"/>
                <a:gd name="connsiteX5" fmla="*/ 25718 w 1090612"/>
                <a:gd name="connsiteY5" fmla="*/ 3810 h 1966912"/>
                <a:gd name="connsiteX6" fmla="*/ 208598 w 1090612"/>
                <a:gd name="connsiteY6" fmla="*/ 3810 h 1966912"/>
                <a:gd name="connsiteX7" fmla="*/ 278130 w 1090612"/>
                <a:gd name="connsiteY7" fmla="*/ 0 h 1966912"/>
                <a:gd name="connsiteX8" fmla="*/ 1090613 w 1090612"/>
                <a:gd name="connsiteY8" fmla="*/ 982980 h 1966912"/>
                <a:gd name="connsiteX9" fmla="*/ 347663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347663" y="1963103"/>
                  </a:moveTo>
                  <a:cubicBezTo>
                    <a:pt x="337185" y="1965008"/>
                    <a:pt x="326708" y="1966913"/>
                    <a:pt x="315278" y="1966913"/>
                  </a:cubicBezTo>
                  <a:cubicBezTo>
                    <a:pt x="204788" y="1966913"/>
                    <a:pt x="0" y="1966913"/>
                    <a:pt x="0" y="1966913"/>
                  </a:cubicBezTo>
                  <a:cubicBezTo>
                    <a:pt x="5715" y="1965960"/>
                    <a:pt x="11430" y="1965008"/>
                    <a:pt x="17145" y="1964055"/>
                  </a:cubicBezTo>
                  <a:cubicBezTo>
                    <a:pt x="437198" y="1925955"/>
                    <a:pt x="768668" y="1501140"/>
                    <a:pt x="768668" y="983933"/>
                  </a:cubicBezTo>
                  <a:cubicBezTo>
                    <a:pt x="768668" y="469583"/>
                    <a:pt x="441960" y="47625"/>
                    <a:pt x="25718" y="3810"/>
                  </a:cubicBezTo>
                  <a:cubicBezTo>
                    <a:pt x="63818" y="3810"/>
                    <a:pt x="137160" y="3810"/>
                    <a:pt x="208598" y="3810"/>
                  </a:cubicBezTo>
                  <a:cubicBezTo>
                    <a:pt x="231458" y="1905"/>
                    <a:pt x="255270" y="0"/>
                    <a:pt x="278130" y="0"/>
                  </a:cubicBezTo>
                  <a:cubicBezTo>
                    <a:pt x="726758" y="0"/>
                    <a:pt x="1090613" y="440055"/>
                    <a:pt x="1090613" y="982980"/>
                  </a:cubicBezTo>
                  <a:cubicBezTo>
                    <a:pt x="1090613" y="1498283"/>
                    <a:pt x="763905" y="1920240"/>
                    <a:pt x="347663" y="1963103"/>
                  </a:cubicBezTo>
                  <a:close/>
                </a:path>
              </a:pathLst>
            </a:cu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a:latin typeface="微软雅黑" panose="020B0503020204020204" charset="-122"/>
                <a:ea typeface="微软雅黑" panose="020B0503020204020204" charset="-122"/>
                <a:cs typeface="微软雅黑" panose="020B0503020204020204" charset="-122"/>
                <a:sym typeface="+mn-ea"/>
              </a:endParaRPr>
            </a:p>
          </p:txBody>
        </p:sp>
        <p:sp>
          <p:nvSpPr>
            <p:cNvPr id="26" name="Freeform: Shape 56"/>
            <p:cNvSpPr/>
            <p:nvPr/>
          </p:nvSpPr>
          <p:spPr>
            <a:xfrm>
              <a:off x="6188017" y="2221682"/>
              <a:ext cx="1333056" cy="2404159"/>
            </a:xfrm>
            <a:custGeom>
              <a:avLst/>
              <a:gdLst>
                <a:gd name="connsiteX0" fmla="*/ 347663 w 1090612"/>
                <a:gd name="connsiteY0" fmla="*/ 1963103 h 1966912"/>
                <a:gd name="connsiteX1" fmla="*/ 315278 w 1090612"/>
                <a:gd name="connsiteY1" fmla="*/ 1966913 h 1966912"/>
                <a:gd name="connsiteX2" fmla="*/ 0 w 1090612"/>
                <a:gd name="connsiteY2" fmla="*/ 1966913 h 1966912"/>
                <a:gd name="connsiteX3" fmla="*/ 17145 w 1090612"/>
                <a:gd name="connsiteY3" fmla="*/ 1964055 h 1966912"/>
                <a:gd name="connsiteX4" fmla="*/ 768668 w 1090612"/>
                <a:gd name="connsiteY4" fmla="*/ 983933 h 1966912"/>
                <a:gd name="connsiteX5" fmla="*/ 25718 w 1090612"/>
                <a:gd name="connsiteY5" fmla="*/ 3810 h 1966912"/>
                <a:gd name="connsiteX6" fmla="*/ 208597 w 1090612"/>
                <a:gd name="connsiteY6" fmla="*/ 3810 h 1966912"/>
                <a:gd name="connsiteX7" fmla="*/ 278130 w 1090612"/>
                <a:gd name="connsiteY7" fmla="*/ 0 h 1966912"/>
                <a:gd name="connsiteX8" fmla="*/ 1090613 w 1090612"/>
                <a:gd name="connsiteY8" fmla="*/ 982980 h 1966912"/>
                <a:gd name="connsiteX9" fmla="*/ 347663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347663" y="1963103"/>
                  </a:moveTo>
                  <a:cubicBezTo>
                    <a:pt x="337185" y="1965008"/>
                    <a:pt x="326708" y="1966913"/>
                    <a:pt x="315278" y="1966913"/>
                  </a:cubicBezTo>
                  <a:cubicBezTo>
                    <a:pt x="204788" y="1966913"/>
                    <a:pt x="0" y="1966913"/>
                    <a:pt x="0" y="1966913"/>
                  </a:cubicBezTo>
                  <a:cubicBezTo>
                    <a:pt x="5715" y="1965960"/>
                    <a:pt x="11430" y="1965008"/>
                    <a:pt x="17145" y="1964055"/>
                  </a:cubicBezTo>
                  <a:cubicBezTo>
                    <a:pt x="437197" y="1925955"/>
                    <a:pt x="768668" y="1501140"/>
                    <a:pt x="768668" y="983933"/>
                  </a:cubicBezTo>
                  <a:cubicBezTo>
                    <a:pt x="768668" y="469583"/>
                    <a:pt x="441960" y="47625"/>
                    <a:pt x="25718" y="3810"/>
                  </a:cubicBezTo>
                  <a:cubicBezTo>
                    <a:pt x="63818" y="3810"/>
                    <a:pt x="137160" y="3810"/>
                    <a:pt x="208597" y="3810"/>
                  </a:cubicBezTo>
                  <a:cubicBezTo>
                    <a:pt x="231458" y="1905"/>
                    <a:pt x="255270" y="0"/>
                    <a:pt x="278130" y="0"/>
                  </a:cubicBezTo>
                  <a:cubicBezTo>
                    <a:pt x="726758" y="0"/>
                    <a:pt x="1090613" y="440055"/>
                    <a:pt x="1090613" y="982980"/>
                  </a:cubicBezTo>
                  <a:cubicBezTo>
                    <a:pt x="1090613" y="1498283"/>
                    <a:pt x="763905" y="1920240"/>
                    <a:pt x="347663" y="1963103"/>
                  </a:cubicBezTo>
                  <a:close/>
                </a:path>
              </a:pathLst>
            </a:cu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a:latin typeface="微软雅黑" panose="020B0503020204020204" charset="-122"/>
                <a:ea typeface="微软雅黑" panose="020B0503020204020204" charset="-122"/>
                <a:cs typeface="微软雅黑" panose="020B0503020204020204" charset="-122"/>
                <a:sym typeface="+mn-ea"/>
              </a:endParaRPr>
            </a:p>
          </p:txBody>
        </p:sp>
        <p:sp>
          <p:nvSpPr>
            <p:cNvPr id="31" name="Freeform: Shape 53"/>
            <p:cNvSpPr/>
            <p:nvPr/>
          </p:nvSpPr>
          <p:spPr>
            <a:xfrm>
              <a:off x="4702033" y="2228666"/>
              <a:ext cx="1333056" cy="2404159"/>
            </a:xfrm>
            <a:custGeom>
              <a:avLst/>
              <a:gdLst>
                <a:gd name="connsiteX0" fmla="*/ 347663 w 1090612"/>
                <a:gd name="connsiteY0" fmla="*/ 1963103 h 1966912"/>
                <a:gd name="connsiteX1" fmla="*/ 315278 w 1090612"/>
                <a:gd name="connsiteY1" fmla="*/ 1966913 h 1966912"/>
                <a:gd name="connsiteX2" fmla="*/ 0 w 1090612"/>
                <a:gd name="connsiteY2" fmla="*/ 1966913 h 1966912"/>
                <a:gd name="connsiteX3" fmla="*/ 17145 w 1090612"/>
                <a:gd name="connsiteY3" fmla="*/ 1964055 h 1966912"/>
                <a:gd name="connsiteX4" fmla="*/ 768668 w 1090612"/>
                <a:gd name="connsiteY4" fmla="*/ 983933 h 1966912"/>
                <a:gd name="connsiteX5" fmla="*/ 25717 w 1090612"/>
                <a:gd name="connsiteY5" fmla="*/ 3810 h 1966912"/>
                <a:gd name="connsiteX6" fmla="*/ 208598 w 1090612"/>
                <a:gd name="connsiteY6" fmla="*/ 3810 h 1966912"/>
                <a:gd name="connsiteX7" fmla="*/ 278130 w 1090612"/>
                <a:gd name="connsiteY7" fmla="*/ 0 h 1966912"/>
                <a:gd name="connsiteX8" fmla="*/ 1090613 w 1090612"/>
                <a:gd name="connsiteY8" fmla="*/ 982980 h 1966912"/>
                <a:gd name="connsiteX9" fmla="*/ 347663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347663" y="1963103"/>
                  </a:moveTo>
                  <a:cubicBezTo>
                    <a:pt x="337185" y="1965008"/>
                    <a:pt x="326708" y="1966913"/>
                    <a:pt x="315278" y="1966913"/>
                  </a:cubicBezTo>
                  <a:cubicBezTo>
                    <a:pt x="204788" y="1966913"/>
                    <a:pt x="0" y="1966913"/>
                    <a:pt x="0" y="1966913"/>
                  </a:cubicBezTo>
                  <a:cubicBezTo>
                    <a:pt x="5715" y="1965960"/>
                    <a:pt x="11430" y="1965008"/>
                    <a:pt x="17145" y="1964055"/>
                  </a:cubicBezTo>
                  <a:cubicBezTo>
                    <a:pt x="437198" y="1925955"/>
                    <a:pt x="768668" y="1501140"/>
                    <a:pt x="768668" y="983933"/>
                  </a:cubicBezTo>
                  <a:cubicBezTo>
                    <a:pt x="768668" y="469583"/>
                    <a:pt x="441960" y="47625"/>
                    <a:pt x="25717" y="3810"/>
                  </a:cubicBezTo>
                  <a:cubicBezTo>
                    <a:pt x="63817" y="3810"/>
                    <a:pt x="137160" y="3810"/>
                    <a:pt x="208598" y="3810"/>
                  </a:cubicBezTo>
                  <a:cubicBezTo>
                    <a:pt x="231458" y="1905"/>
                    <a:pt x="255270" y="0"/>
                    <a:pt x="278130" y="0"/>
                  </a:cubicBezTo>
                  <a:cubicBezTo>
                    <a:pt x="726758" y="0"/>
                    <a:pt x="1090613" y="440055"/>
                    <a:pt x="1090613" y="982980"/>
                  </a:cubicBezTo>
                  <a:cubicBezTo>
                    <a:pt x="1090613" y="1498283"/>
                    <a:pt x="763905" y="1920240"/>
                    <a:pt x="347663" y="1963103"/>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32" name="Arrow"/>
            <p:cNvSpPr/>
            <p:nvPr/>
          </p:nvSpPr>
          <p:spPr>
            <a:xfrm>
              <a:off x="2546620" y="2905312"/>
              <a:ext cx="6608562" cy="1056689"/>
            </a:xfrm>
            <a:prstGeom prst="rightArrow">
              <a:avLst>
                <a:gd name="adj1" fmla="val 58103"/>
                <a:gd name="adj2" fmla="val 94586"/>
              </a:avLst>
            </a:prstGeom>
            <a:gradFill>
              <a:gsLst>
                <a:gs pos="0">
                  <a:schemeClr val="accent1">
                    <a:lumMod val="40000"/>
                    <a:lumOff val="60000"/>
                  </a:schemeClr>
                </a:gs>
                <a:gs pos="77000">
                  <a:schemeClr val="accent1">
                    <a:lumMod val="60000"/>
                    <a:lumOff val="40000"/>
                  </a:schemeClr>
                </a:gs>
              </a:gsLst>
              <a:lin ang="2700000" scaled="0"/>
            </a:gradFill>
            <a:ln>
              <a:noFill/>
            </a:ln>
            <a:effectLst>
              <a:outerShdw blurRad="876300" dist="673100" dir="8100000" sx="95000" sy="95000" algn="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微软雅黑" panose="020B0503020204020204" charset="-122"/>
                <a:ea typeface="微软雅黑" panose="020B0503020204020204" charset="-122"/>
                <a:cs typeface="微软雅黑" panose="020B0503020204020204" charset="-122"/>
              </a:endParaRPr>
            </a:p>
          </p:txBody>
        </p:sp>
        <p:sp>
          <p:nvSpPr>
            <p:cNvPr id="35" name="Freeform: Shape 89"/>
            <p:cNvSpPr/>
            <p:nvPr/>
          </p:nvSpPr>
          <p:spPr>
            <a:xfrm>
              <a:off x="5204986" y="2228666"/>
              <a:ext cx="1333056" cy="2404159"/>
            </a:xfrm>
            <a:custGeom>
              <a:avLst/>
              <a:gdLst>
                <a:gd name="connsiteX0" fmla="*/ 742950 w 1090612"/>
                <a:gd name="connsiteY0" fmla="*/ 1963103 h 1966912"/>
                <a:gd name="connsiteX1" fmla="*/ 775335 w 1090612"/>
                <a:gd name="connsiteY1" fmla="*/ 1966913 h 1966912"/>
                <a:gd name="connsiteX2" fmla="*/ 1090613 w 1090612"/>
                <a:gd name="connsiteY2" fmla="*/ 1966913 h 1966912"/>
                <a:gd name="connsiteX3" fmla="*/ 1073468 w 1090612"/>
                <a:gd name="connsiteY3" fmla="*/ 1964055 h 1966912"/>
                <a:gd name="connsiteX4" fmla="*/ 321945 w 1090612"/>
                <a:gd name="connsiteY4" fmla="*/ 983933 h 1966912"/>
                <a:gd name="connsiteX5" fmla="*/ 1064895 w 1090612"/>
                <a:gd name="connsiteY5" fmla="*/ 3810 h 1966912"/>
                <a:gd name="connsiteX6" fmla="*/ 882015 w 1090612"/>
                <a:gd name="connsiteY6" fmla="*/ 3810 h 1966912"/>
                <a:gd name="connsiteX7" fmla="*/ 812483 w 1090612"/>
                <a:gd name="connsiteY7" fmla="*/ 0 h 1966912"/>
                <a:gd name="connsiteX8" fmla="*/ 0 w 1090612"/>
                <a:gd name="connsiteY8" fmla="*/ 982980 h 1966912"/>
                <a:gd name="connsiteX9" fmla="*/ 742950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742950" y="1963103"/>
                  </a:moveTo>
                  <a:cubicBezTo>
                    <a:pt x="753428" y="1965008"/>
                    <a:pt x="763905" y="1966913"/>
                    <a:pt x="775335" y="1966913"/>
                  </a:cubicBezTo>
                  <a:cubicBezTo>
                    <a:pt x="885825" y="1966913"/>
                    <a:pt x="1090613" y="1966913"/>
                    <a:pt x="1090613" y="1966913"/>
                  </a:cubicBezTo>
                  <a:cubicBezTo>
                    <a:pt x="1084898" y="1965960"/>
                    <a:pt x="1079183" y="1965008"/>
                    <a:pt x="1073468" y="1964055"/>
                  </a:cubicBezTo>
                  <a:cubicBezTo>
                    <a:pt x="653415" y="1925955"/>
                    <a:pt x="321945" y="1501140"/>
                    <a:pt x="321945" y="983933"/>
                  </a:cubicBezTo>
                  <a:cubicBezTo>
                    <a:pt x="321945" y="469583"/>
                    <a:pt x="648653" y="47625"/>
                    <a:pt x="1064895" y="3810"/>
                  </a:cubicBezTo>
                  <a:cubicBezTo>
                    <a:pt x="1026795" y="3810"/>
                    <a:pt x="953453" y="3810"/>
                    <a:pt x="882015" y="3810"/>
                  </a:cubicBezTo>
                  <a:cubicBezTo>
                    <a:pt x="859155" y="1905"/>
                    <a:pt x="835343" y="0"/>
                    <a:pt x="812483" y="0"/>
                  </a:cubicBezTo>
                  <a:cubicBezTo>
                    <a:pt x="363855" y="0"/>
                    <a:pt x="0" y="440055"/>
                    <a:pt x="0" y="982980"/>
                  </a:cubicBezTo>
                  <a:cubicBezTo>
                    <a:pt x="0" y="1498283"/>
                    <a:pt x="326708" y="1920240"/>
                    <a:pt x="742950" y="1963103"/>
                  </a:cubicBezTo>
                  <a:close/>
                </a:path>
              </a:pathLst>
            </a:custGeom>
            <a:gradFill>
              <a:gsLst>
                <a:gs pos="0">
                  <a:schemeClr val="accent1">
                    <a:lumMod val="60000"/>
                    <a:lumOff val="40000"/>
                  </a:schemeClr>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a:latin typeface="微软雅黑" panose="020B0503020204020204" charset="-122"/>
                <a:ea typeface="微软雅黑" panose="020B0503020204020204" charset="-122"/>
                <a:cs typeface="微软雅黑" panose="020B0503020204020204" charset="-122"/>
                <a:sym typeface="+mn-ea"/>
              </a:endParaRPr>
            </a:p>
          </p:txBody>
        </p:sp>
        <p:sp>
          <p:nvSpPr>
            <p:cNvPr id="60" name="Freeform: Shape 92"/>
            <p:cNvSpPr/>
            <p:nvPr/>
          </p:nvSpPr>
          <p:spPr>
            <a:xfrm>
              <a:off x="3752012" y="2228666"/>
              <a:ext cx="1333056" cy="2404159"/>
            </a:xfrm>
            <a:custGeom>
              <a:avLst/>
              <a:gdLst>
                <a:gd name="connsiteX0" fmla="*/ 742950 w 1090612"/>
                <a:gd name="connsiteY0" fmla="*/ 1963103 h 1966912"/>
                <a:gd name="connsiteX1" fmla="*/ 775335 w 1090612"/>
                <a:gd name="connsiteY1" fmla="*/ 1966913 h 1966912"/>
                <a:gd name="connsiteX2" fmla="*/ 1090613 w 1090612"/>
                <a:gd name="connsiteY2" fmla="*/ 1966913 h 1966912"/>
                <a:gd name="connsiteX3" fmla="*/ 1073468 w 1090612"/>
                <a:gd name="connsiteY3" fmla="*/ 1964055 h 1966912"/>
                <a:gd name="connsiteX4" fmla="*/ 321945 w 1090612"/>
                <a:gd name="connsiteY4" fmla="*/ 983933 h 1966912"/>
                <a:gd name="connsiteX5" fmla="*/ 1064895 w 1090612"/>
                <a:gd name="connsiteY5" fmla="*/ 3810 h 1966912"/>
                <a:gd name="connsiteX6" fmla="*/ 882015 w 1090612"/>
                <a:gd name="connsiteY6" fmla="*/ 3810 h 1966912"/>
                <a:gd name="connsiteX7" fmla="*/ 812483 w 1090612"/>
                <a:gd name="connsiteY7" fmla="*/ 0 h 1966912"/>
                <a:gd name="connsiteX8" fmla="*/ 0 w 1090612"/>
                <a:gd name="connsiteY8" fmla="*/ 982980 h 1966912"/>
                <a:gd name="connsiteX9" fmla="*/ 742950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742950" y="1963103"/>
                  </a:moveTo>
                  <a:cubicBezTo>
                    <a:pt x="753428" y="1965008"/>
                    <a:pt x="763905" y="1966913"/>
                    <a:pt x="775335" y="1966913"/>
                  </a:cubicBezTo>
                  <a:cubicBezTo>
                    <a:pt x="885825" y="1966913"/>
                    <a:pt x="1090613" y="1966913"/>
                    <a:pt x="1090613" y="1966913"/>
                  </a:cubicBezTo>
                  <a:cubicBezTo>
                    <a:pt x="1084898" y="1965960"/>
                    <a:pt x="1079183" y="1965008"/>
                    <a:pt x="1073468" y="1964055"/>
                  </a:cubicBezTo>
                  <a:cubicBezTo>
                    <a:pt x="653415" y="1925955"/>
                    <a:pt x="321945" y="1501140"/>
                    <a:pt x="321945" y="983933"/>
                  </a:cubicBezTo>
                  <a:cubicBezTo>
                    <a:pt x="321945" y="469583"/>
                    <a:pt x="648653" y="47625"/>
                    <a:pt x="1064895" y="3810"/>
                  </a:cubicBezTo>
                  <a:cubicBezTo>
                    <a:pt x="1026795" y="3810"/>
                    <a:pt x="953453" y="3810"/>
                    <a:pt x="882015" y="3810"/>
                  </a:cubicBezTo>
                  <a:cubicBezTo>
                    <a:pt x="859155" y="1905"/>
                    <a:pt x="835343" y="0"/>
                    <a:pt x="812483" y="0"/>
                  </a:cubicBezTo>
                  <a:cubicBezTo>
                    <a:pt x="363855" y="0"/>
                    <a:pt x="0" y="440055"/>
                    <a:pt x="0" y="982980"/>
                  </a:cubicBezTo>
                  <a:cubicBezTo>
                    <a:pt x="0" y="1498283"/>
                    <a:pt x="326708" y="1920240"/>
                    <a:pt x="742950" y="1963103"/>
                  </a:cubicBezTo>
                  <a:close/>
                </a:path>
              </a:pathLst>
            </a:custGeom>
            <a:gradFill>
              <a:gsLst>
                <a:gs pos="0">
                  <a:schemeClr val="accent5">
                    <a:lumMod val="60000"/>
                    <a:lumOff val="40000"/>
                  </a:schemeClr>
                </a:gs>
                <a:gs pos="100000">
                  <a:schemeClr val="accent5"/>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latin typeface="微软雅黑" panose="020B0503020204020204" charset="-122"/>
                <a:ea typeface="微软雅黑" panose="020B0503020204020204" charset="-122"/>
                <a:cs typeface="微软雅黑" panose="020B0503020204020204" charset="-122"/>
              </a:endParaRPr>
            </a:p>
          </p:txBody>
        </p:sp>
        <p:sp>
          <p:nvSpPr>
            <p:cNvPr id="72" name="Freeform: Shape 95"/>
            <p:cNvSpPr/>
            <p:nvPr/>
          </p:nvSpPr>
          <p:spPr>
            <a:xfrm>
              <a:off x="2252470" y="2228666"/>
              <a:ext cx="1333056" cy="2404159"/>
            </a:xfrm>
            <a:custGeom>
              <a:avLst/>
              <a:gdLst>
                <a:gd name="connsiteX0" fmla="*/ 742950 w 1090612"/>
                <a:gd name="connsiteY0" fmla="*/ 1963103 h 1966912"/>
                <a:gd name="connsiteX1" fmla="*/ 775335 w 1090612"/>
                <a:gd name="connsiteY1" fmla="*/ 1966913 h 1966912"/>
                <a:gd name="connsiteX2" fmla="*/ 1090613 w 1090612"/>
                <a:gd name="connsiteY2" fmla="*/ 1966913 h 1966912"/>
                <a:gd name="connsiteX3" fmla="*/ 1073468 w 1090612"/>
                <a:gd name="connsiteY3" fmla="*/ 1964055 h 1966912"/>
                <a:gd name="connsiteX4" fmla="*/ 321945 w 1090612"/>
                <a:gd name="connsiteY4" fmla="*/ 983933 h 1966912"/>
                <a:gd name="connsiteX5" fmla="*/ 1064895 w 1090612"/>
                <a:gd name="connsiteY5" fmla="*/ 3810 h 1966912"/>
                <a:gd name="connsiteX6" fmla="*/ 882015 w 1090612"/>
                <a:gd name="connsiteY6" fmla="*/ 3810 h 1966912"/>
                <a:gd name="connsiteX7" fmla="*/ 812483 w 1090612"/>
                <a:gd name="connsiteY7" fmla="*/ 0 h 1966912"/>
                <a:gd name="connsiteX8" fmla="*/ 0 w 1090612"/>
                <a:gd name="connsiteY8" fmla="*/ 982980 h 1966912"/>
                <a:gd name="connsiteX9" fmla="*/ 742950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742950" y="1963103"/>
                  </a:moveTo>
                  <a:cubicBezTo>
                    <a:pt x="753428" y="1965008"/>
                    <a:pt x="763905" y="1966913"/>
                    <a:pt x="775335" y="1966913"/>
                  </a:cubicBezTo>
                  <a:cubicBezTo>
                    <a:pt x="885825" y="1966913"/>
                    <a:pt x="1090613" y="1966913"/>
                    <a:pt x="1090613" y="1966913"/>
                  </a:cubicBezTo>
                  <a:cubicBezTo>
                    <a:pt x="1084898" y="1965960"/>
                    <a:pt x="1079183" y="1965008"/>
                    <a:pt x="1073468" y="1964055"/>
                  </a:cubicBezTo>
                  <a:cubicBezTo>
                    <a:pt x="653415" y="1925955"/>
                    <a:pt x="321945" y="1501140"/>
                    <a:pt x="321945" y="983933"/>
                  </a:cubicBezTo>
                  <a:cubicBezTo>
                    <a:pt x="321945" y="469583"/>
                    <a:pt x="648653" y="47625"/>
                    <a:pt x="1064895" y="3810"/>
                  </a:cubicBezTo>
                  <a:cubicBezTo>
                    <a:pt x="1026795" y="3810"/>
                    <a:pt x="953453" y="3810"/>
                    <a:pt x="882015" y="3810"/>
                  </a:cubicBezTo>
                  <a:cubicBezTo>
                    <a:pt x="859155" y="1905"/>
                    <a:pt x="835343" y="0"/>
                    <a:pt x="812483" y="0"/>
                  </a:cubicBezTo>
                  <a:cubicBezTo>
                    <a:pt x="363855" y="0"/>
                    <a:pt x="0" y="440055"/>
                    <a:pt x="0" y="982980"/>
                  </a:cubicBezTo>
                  <a:cubicBezTo>
                    <a:pt x="0" y="1498283"/>
                    <a:pt x="326708" y="1920240"/>
                    <a:pt x="742950" y="1963103"/>
                  </a:cubicBezTo>
                  <a:close/>
                </a:path>
              </a:pathLst>
            </a:custGeom>
            <a:gradFill>
              <a:gsLst>
                <a:gs pos="0">
                  <a:schemeClr val="accent1">
                    <a:lumMod val="60000"/>
                    <a:lumOff val="40000"/>
                  </a:schemeClr>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latin typeface="微软雅黑" panose="020B0503020204020204" charset="-122"/>
                <a:ea typeface="微软雅黑" panose="020B0503020204020204" charset="-122"/>
                <a:cs typeface="微软雅黑" panose="020B0503020204020204" charset="-122"/>
              </a:endParaRPr>
            </a:p>
          </p:txBody>
        </p:sp>
        <p:sp>
          <p:nvSpPr>
            <p:cNvPr id="73" name="Freeform: Shape 98"/>
            <p:cNvSpPr/>
            <p:nvPr/>
          </p:nvSpPr>
          <p:spPr>
            <a:xfrm>
              <a:off x="6604749" y="2225174"/>
              <a:ext cx="1333056" cy="2404159"/>
            </a:xfrm>
            <a:custGeom>
              <a:avLst/>
              <a:gdLst>
                <a:gd name="connsiteX0" fmla="*/ 742950 w 1090612"/>
                <a:gd name="connsiteY0" fmla="*/ 1963103 h 1966912"/>
                <a:gd name="connsiteX1" fmla="*/ 775335 w 1090612"/>
                <a:gd name="connsiteY1" fmla="*/ 1966913 h 1966912"/>
                <a:gd name="connsiteX2" fmla="*/ 1090613 w 1090612"/>
                <a:gd name="connsiteY2" fmla="*/ 1966913 h 1966912"/>
                <a:gd name="connsiteX3" fmla="*/ 1073468 w 1090612"/>
                <a:gd name="connsiteY3" fmla="*/ 1964055 h 1966912"/>
                <a:gd name="connsiteX4" fmla="*/ 321945 w 1090612"/>
                <a:gd name="connsiteY4" fmla="*/ 983933 h 1966912"/>
                <a:gd name="connsiteX5" fmla="*/ 1064895 w 1090612"/>
                <a:gd name="connsiteY5" fmla="*/ 3810 h 1966912"/>
                <a:gd name="connsiteX6" fmla="*/ 882015 w 1090612"/>
                <a:gd name="connsiteY6" fmla="*/ 3810 h 1966912"/>
                <a:gd name="connsiteX7" fmla="*/ 812483 w 1090612"/>
                <a:gd name="connsiteY7" fmla="*/ 0 h 1966912"/>
                <a:gd name="connsiteX8" fmla="*/ 0 w 1090612"/>
                <a:gd name="connsiteY8" fmla="*/ 982980 h 1966912"/>
                <a:gd name="connsiteX9" fmla="*/ 742950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742950" y="1963103"/>
                  </a:moveTo>
                  <a:cubicBezTo>
                    <a:pt x="753428" y="1965008"/>
                    <a:pt x="763905" y="1966913"/>
                    <a:pt x="775335" y="1966913"/>
                  </a:cubicBezTo>
                  <a:cubicBezTo>
                    <a:pt x="885825" y="1966913"/>
                    <a:pt x="1090613" y="1966913"/>
                    <a:pt x="1090613" y="1966913"/>
                  </a:cubicBezTo>
                  <a:cubicBezTo>
                    <a:pt x="1084898" y="1965960"/>
                    <a:pt x="1079183" y="1965008"/>
                    <a:pt x="1073468" y="1964055"/>
                  </a:cubicBezTo>
                  <a:cubicBezTo>
                    <a:pt x="653415" y="1925955"/>
                    <a:pt x="321945" y="1501140"/>
                    <a:pt x="321945" y="983933"/>
                  </a:cubicBezTo>
                  <a:cubicBezTo>
                    <a:pt x="321945" y="469583"/>
                    <a:pt x="648653" y="47625"/>
                    <a:pt x="1064895" y="3810"/>
                  </a:cubicBezTo>
                  <a:cubicBezTo>
                    <a:pt x="1026795" y="3810"/>
                    <a:pt x="953453" y="3810"/>
                    <a:pt x="882015" y="3810"/>
                  </a:cubicBezTo>
                  <a:cubicBezTo>
                    <a:pt x="859155" y="1905"/>
                    <a:pt x="835343" y="0"/>
                    <a:pt x="812483" y="0"/>
                  </a:cubicBezTo>
                  <a:cubicBezTo>
                    <a:pt x="363855" y="0"/>
                    <a:pt x="0" y="440055"/>
                    <a:pt x="0" y="982980"/>
                  </a:cubicBezTo>
                  <a:cubicBezTo>
                    <a:pt x="0" y="1498283"/>
                    <a:pt x="326708" y="1920240"/>
                    <a:pt x="742950" y="1963103"/>
                  </a:cubicBezTo>
                  <a:close/>
                </a:path>
              </a:pathLst>
            </a:custGeom>
            <a:gradFill>
              <a:gsLst>
                <a:gs pos="0">
                  <a:schemeClr val="accent5">
                    <a:lumMod val="60000"/>
                    <a:lumOff val="40000"/>
                  </a:schemeClr>
                </a:gs>
                <a:gs pos="100000">
                  <a:schemeClr val="accent5"/>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dirty="0">
                <a:latin typeface="微软雅黑" panose="020B0503020204020204" charset="-122"/>
                <a:ea typeface="微软雅黑" panose="020B0503020204020204" charset="-122"/>
                <a:cs typeface="微软雅黑" panose="020B0503020204020204" charset="-122"/>
                <a:sym typeface="+mn-ea"/>
              </a:endParaRPr>
            </a:p>
          </p:txBody>
        </p:sp>
      </p:grpSp>
      <p:sp>
        <p:nvSpPr>
          <p:cNvPr id="128" name="椭圆 127"/>
          <p:cNvSpPr/>
          <p:nvPr/>
        </p:nvSpPr>
        <p:spPr>
          <a:xfrm>
            <a:off x="3921629" y="3090327"/>
            <a:ext cx="359417" cy="359417"/>
          </a:xfrm>
          <a:prstGeom prst="ellipse">
            <a:avLst/>
          </a:prstGeom>
          <a:solidFill>
            <a:schemeClr val="bg1"/>
          </a:solidFill>
          <a:ln w="254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29" name="椭圆 128"/>
          <p:cNvSpPr/>
          <p:nvPr/>
        </p:nvSpPr>
        <p:spPr>
          <a:xfrm>
            <a:off x="5416294" y="3090327"/>
            <a:ext cx="359417" cy="35941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30" name="椭圆 129"/>
          <p:cNvSpPr/>
          <p:nvPr/>
        </p:nvSpPr>
        <p:spPr>
          <a:xfrm>
            <a:off x="6910959" y="3090327"/>
            <a:ext cx="359417" cy="359417"/>
          </a:xfrm>
          <a:prstGeom prst="ellipse">
            <a:avLst/>
          </a:prstGeom>
          <a:solidFill>
            <a:schemeClr val="bg1"/>
          </a:solidFill>
          <a:ln w="254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31" name="椭圆 130"/>
          <p:cNvSpPr/>
          <p:nvPr/>
        </p:nvSpPr>
        <p:spPr>
          <a:xfrm>
            <a:off x="2323181" y="3090327"/>
            <a:ext cx="359417" cy="35941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42" name="Google Shape;1928;p36"/>
          <p:cNvSpPr/>
          <p:nvPr/>
        </p:nvSpPr>
        <p:spPr>
          <a:xfrm>
            <a:off x="2682875" y="3151505"/>
            <a:ext cx="683260" cy="23622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1"/>
              </a:buClr>
              <a:buSzPts val="900"/>
            </a:pP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市场定位</a:t>
            </a:r>
            <a:endPar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4" name="Venn diagram"/>
          <p:cNvSpPr txBox="1"/>
          <p:nvPr/>
        </p:nvSpPr>
        <p:spPr>
          <a:xfrm>
            <a:off x="7892565" y="3141810"/>
            <a:ext cx="1352075" cy="23495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ctr"/>
            <a:r>
              <a:rPr lang="zh-CN" sz="1200" dirty="0">
                <a:solidFill>
                  <a:schemeClr val="bg1"/>
                </a:solidFill>
                <a:latin typeface="微软雅黑" panose="020B0503020204020204" charset="-122"/>
                <a:ea typeface="微软雅黑" panose="020B0503020204020204" charset="-122"/>
                <a:cs typeface="微软雅黑" panose="020B0503020204020204" charset="-122"/>
              </a:rPr>
              <a:t>项目四阶段</a:t>
            </a:r>
            <a:endParaRPr 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1" name="Google Shape;1928;p36"/>
          <p:cNvSpPr/>
          <p:nvPr/>
        </p:nvSpPr>
        <p:spPr>
          <a:xfrm>
            <a:off x="4331970" y="3151505"/>
            <a:ext cx="683260" cy="23622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1"/>
              </a:buClr>
              <a:buSzPts val="900"/>
            </a:pP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产品研发</a:t>
            </a:r>
            <a:endPar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2" name="Google Shape;1928;p36"/>
          <p:cNvSpPr/>
          <p:nvPr/>
        </p:nvSpPr>
        <p:spPr>
          <a:xfrm>
            <a:off x="5838190" y="3157220"/>
            <a:ext cx="683260" cy="23622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1"/>
              </a:buClr>
              <a:buSzPts val="900"/>
            </a:pP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宣传推广</a:t>
            </a:r>
            <a:endPar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3" name="Google Shape;1928;p36"/>
          <p:cNvSpPr/>
          <p:nvPr/>
        </p:nvSpPr>
        <p:spPr>
          <a:xfrm>
            <a:off x="7390130" y="3155950"/>
            <a:ext cx="683260" cy="23622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1"/>
              </a:buClr>
              <a:buSzPts val="900"/>
            </a:pP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推广反馈</a:t>
            </a:r>
            <a:endPar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57" name="组合 156"/>
          <p:cNvGrpSpPr/>
          <p:nvPr/>
        </p:nvGrpSpPr>
        <p:grpSpPr>
          <a:xfrm>
            <a:off x="866140" y="1443990"/>
            <a:ext cx="729054" cy="729053"/>
            <a:chOff x="884" y="6433"/>
            <a:chExt cx="1483" cy="1483"/>
          </a:xfrm>
        </p:grpSpPr>
        <p:sp>
          <p:nvSpPr>
            <p:cNvPr id="158" name="Circle"/>
            <p:cNvSpPr/>
            <p:nvPr/>
          </p:nvSpPr>
          <p:spPr>
            <a:xfrm>
              <a:off x="884" y="6433"/>
              <a:ext cx="1483" cy="1483"/>
            </a:xfrm>
            <a:prstGeom prst="ellipse">
              <a:avLst/>
            </a:prstGeom>
            <a:solidFill>
              <a:schemeClr val="accent1">
                <a:lumMod val="20000"/>
                <a:lumOff val="80000"/>
              </a:schemeClr>
            </a:solidFill>
            <a:ln w="12700" cap="flat">
              <a:solidFill>
                <a:schemeClr val="accent1">
                  <a:lumMod val="60000"/>
                  <a:lumOff val="40000"/>
                  <a:alpha val="50000"/>
                </a:schemeClr>
              </a:solidFill>
              <a:miter lim="400000"/>
            </a:ln>
            <a:effectLst/>
          </p:spPr>
          <p:txBody>
            <a:bodyPr wrap="square" lIns="0" tIns="0" rIns="0" bIns="0" numCol="1" anchor="ctr">
              <a:noAutofit/>
            </a:bodyPr>
            <a:lstStyle/>
            <a:p>
              <a:pPr lvl="0" algn="ctr">
                <a:buClrTx/>
                <a:buSzTx/>
                <a:buFontTx/>
              </a:pPr>
              <a:endParaRPr sz="9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5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45" y="6811"/>
              <a:ext cx="1162" cy="729"/>
            </a:xfrm>
            <a:prstGeom prst="rect">
              <a:avLst/>
            </a:prstGeom>
            <a:ln w="12700">
              <a:miter lim="400000"/>
            </a:ln>
          </p:spPr>
          <p:txBody>
            <a:bodyPr lIns="25400" tIns="25400" rIns="25400" bIns="25400">
              <a:spAutoFit/>
            </a:bodyPr>
            <a:lstStyle>
              <a:lvl1pPr>
                <a:defRPr sz="2200">
                  <a:solidFill>
                    <a:srgbClr val="F7F5F6"/>
                  </a:solidFill>
                  <a:latin typeface="Barlow Medium" panose="00000600000000000000"/>
                  <a:ea typeface="Barlow Medium" panose="00000600000000000000"/>
                  <a:cs typeface="Barlow Medium" panose="00000600000000000000"/>
                  <a:sym typeface="Barlow Medium" panose="00000600000000000000"/>
                </a:defRPr>
              </a:lvl1pPr>
            </a:lstStyle>
            <a:p>
              <a:pPr lvl="0" algn="ctr">
                <a:buClrTx/>
                <a:buSzTx/>
                <a:buFontTx/>
              </a:pPr>
              <a:r>
                <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rPr>
                <a:t>调研</a:t>
              </a:r>
              <a:endPar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rPr>
                <a:t>团队</a:t>
              </a:r>
              <a:endPar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60" name="组合 159"/>
          <p:cNvGrpSpPr/>
          <p:nvPr/>
        </p:nvGrpSpPr>
        <p:grpSpPr>
          <a:xfrm>
            <a:off x="866140" y="2399103"/>
            <a:ext cx="729054" cy="728980"/>
            <a:chOff x="884" y="6433"/>
            <a:chExt cx="1483" cy="1483"/>
          </a:xfrm>
        </p:grpSpPr>
        <p:sp>
          <p:nvSpPr>
            <p:cNvPr id="161" name="Circle"/>
            <p:cNvSpPr/>
            <p:nvPr/>
          </p:nvSpPr>
          <p:spPr>
            <a:xfrm>
              <a:off x="884" y="6433"/>
              <a:ext cx="1483" cy="1483"/>
            </a:xfrm>
            <a:prstGeom prst="ellipse">
              <a:avLst/>
            </a:prstGeom>
            <a:solidFill>
              <a:schemeClr val="accent5">
                <a:lumMod val="20000"/>
                <a:lumOff val="80000"/>
              </a:schemeClr>
            </a:solidFill>
            <a:ln w="12700" cap="flat">
              <a:solidFill>
                <a:schemeClr val="accent5">
                  <a:lumMod val="60000"/>
                  <a:lumOff val="40000"/>
                  <a:alpha val="50000"/>
                </a:schemeClr>
              </a:solidFill>
              <a:miter lim="400000"/>
            </a:ln>
            <a:effectLst/>
          </p:spPr>
          <p:txBody>
            <a:bodyPr wrap="square" lIns="0" tIns="0" rIns="0" bIns="0" numCol="1" anchor="ctr">
              <a:noAutofit/>
            </a:bodyPr>
            <a:lstStyle/>
            <a:p>
              <a:pPr lvl="0" algn="ctr">
                <a:buClrTx/>
                <a:buSzTx/>
                <a:buFontTx/>
              </a:pPr>
              <a:endParaRPr sz="9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6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45" y="6811"/>
              <a:ext cx="1162" cy="729"/>
            </a:xfrm>
            <a:prstGeom prst="rect">
              <a:avLst/>
            </a:prstGeom>
            <a:ln w="12700">
              <a:miter lim="400000"/>
            </a:ln>
          </p:spPr>
          <p:txBody>
            <a:bodyPr lIns="25400" tIns="25400" rIns="25400" bIns="25400">
              <a:spAutoFit/>
            </a:bodyPr>
            <a:lstStyle>
              <a:lvl1pPr>
                <a:defRPr sz="2200">
                  <a:solidFill>
                    <a:srgbClr val="F7F5F6"/>
                  </a:solidFill>
                  <a:latin typeface="Barlow Medium" panose="00000600000000000000"/>
                  <a:ea typeface="Barlow Medium" panose="00000600000000000000"/>
                  <a:cs typeface="Barlow Medium" panose="00000600000000000000"/>
                  <a:sym typeface="Barlow Medium" panose="00000600000000000000"/>
                </a:defRPr>
              </a:lvl1pPr>
            </a:lstStyle>
            <a:p>
              <a:pPr lvl="0" algn="ctr">
                <a:buClrTx/>
                <a:buSzTx/>
                <a:buFontTx/>
              </a:pPr>
              <a:r>
                <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rPr>
                <a:t>产品</a:t>
              </a:r>
              <a:endPar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rPr>
                <a:t>中心</a:t>
              </a:r>
              <a:endPar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63" name="组合 162"/>
          <p:cNvGrpSpPr/>
          <p:nvPr/>
        </p:nvGrpSpPr>
        <p:grpSpPr>
          <a:xfrm>
            <a:off x="866140" y="3354143"/>
            <a:ext cx="729054" cy="728980"/>
            <a:chOff x="884" y="6433"/>
            <a:chExt cx="1483" cy="1483"/>
          </a:xfrm>
        </p:grpSpPr>
        <p:sp>
          <p:nvSpPr>
            <p:cNvPr id="164" name="Circle"/>
            <p:cNvSpPr/>
            <p:nvPr/>
          </p:nvSpPr>
          <p:spPr>
            <a:xfrm>
              <a:off x="884" y="6433"/>
              <a:ext cx="1483" cy="1483"/>
            </a:xfrm>
            <a:prstGeom prst="ellipse">
              <a:avLst/>
            </a:prstGeom>
            <a:solidFill>
              <a:schemeClr val="accent5">
                <a:lumMod val="20000"/>
                <a:lumOff val="80000"/>
              </a:schemeClr>
            </a:solidFill>
            <a:ln w="12700" cap="flat">
              <a:solidFill>
                <a:schemeClr val="accent5">
                  <a:lumMod val="60000"/>
                  <a:lumOff val="40000"/>
                  <a:alpha val="50000"/>
                </a:schemeClr>
              </a:solidFill>
              <a:miter lim="400000"/>
            </a:ln>
            <a:effectLst/>
          </p:spPr>
          <p:txBody>
            <a:bodyPr wrap="square" lIns="0" tIns="0" rIns="0" bIns="0" numCol="1" anchor="ctr">
              <a:noAutofit/>
            </a:bodyPr>
            <a:lstStyle/>
            <a:p>
              <a:pPr lvl="0" algn="ctr">
                <a:buClrTx/>
                <a:buSzTx/>
                <a:buFontTx/>
              </a:pPr>
              <a:endParaRPr sz="9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6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45" y="6811"/>
              <a:ext cx="1162" cy="729"/>
            </a:xfrm>
            <a:prstGeom prst="rect">
              <a:avLst/>
            </a:prstGeom>
            <a:ln w="12700">
              <a:miter lim="400000"/>
            </a:ln>
          </p:spPr>
          <p:txBody>
            <a:bodyPr lIns="25400" tIns="25400" rIns="25400" bIns="25400">
              <a:spAutoFit/>
            </a:bodyPr>
            <a:lstStyle>
              <a:lvl1pPr>
                <a:defRPr sz="2200">
                  <a:solidFill>
                    <a:srgbClr val="F7F5F6"/>
                  </a:solidFill>
                  <a:latin typeface="Barlow Medium" panose="00000600000000000000"/>
                  <a:ea typeface="Barlow Medium" panose="00000600000000000000"/>
                  <a:cs typeface="Barlow Medium" panose="00000600000000000000"/>
                  <a:sym typeface="Barlow Medium" panose="00000600000000000000"/>
                </a:defRPr>
              </a:lvl1pPr>
            </a:lstStyle>
            <a:p>
              <a:pPr lvl="0" algn="ctr">
                <a:buClrTx/>
                <a:buSzTx/>
                <a:buFontTx/>
              </a:pPr>
              <a:r>
                <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rPr>
                <a:t>研发</a:t>
              </a:r>
              <a:endPar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rPr>
                <a:t>中心</a:t>
              </a:r>
              <a:endParaRPr lang="zh-CN" altLang="en-US" sz="10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sp>
        <p:nvSpPr>
          <p:cNvPr id="167" name="熊大的PPT宝库14"/>
          <p:cNvSpPr/>
          <p:nvPr/>
        </p:nvSpPr>
        <p:spPr>
          <a:xfrm rot="10800000">
            <a:off x="9102090" y="2172970"/>
            <a:ext cx="2403475" cy="1069975"/>
          </a:xfrm>
          <a:prstGeom prst="homePlate">
            <a:avLst>
              <a:gd name="adj" fmla="val 59845"/>
            </a:avLst>
          </a:prstGeom>
          <a:gradFill>
            <a:gsLst>
              <a:gs pos="0">
                <a:schemeClr val="accent5">
                  <a:lumMod val="20000"/>
                  <a:lumOff val="80000"/>
                  <a:alpha val="40000"/>
                </a:schemeClr>
              </a:gs>
              <a:gs pos="100000">
                <a:schemeClr val="accent5">
                  <a:lumMod val="20000"/>
                  <a:lumOff val="80000"/>
                  <a:alpha val="0"/>
                </a:schemeClr>
              </a:gs>
            </a:gsLst>
            <a:lin ang="10800000" scaled="0"/>
          </a:gradFill>
          <a:ln w="1270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8" name="熊大的PPT宝库16"/>
          <p:cNvSpPr/>
          <p:nvPr/>
        </p:nvSpPr>
        <p:spPr>
          <a:xfrm rot="10800000">
            <a:off x="9102090" y="3375025"/>
            <a:ext cx="2403475" cy="1069975"/>
          </a:xfrm>
          <a:prstGeom prst="homePlate">
            <a:avLst>
              <a:gd name="adj" fmla="val 59845"/>
            </a:avLst>
          </a:prstGeom>
          <a:gradFill>
            <a:gsLst>
              <a:gs pos="0">
                <a:schemeClr val="accent1">
                  <a:lumMod val="20000"/>
                  <a:lumOff val="80000"/>
                  <a:alpha val="20000"/>
                </a:schemeClr>
              </a:gs>
              <a:gs pos="100000">
                <a:schemeClr val="accent1">
                  <a:lumMod val="20000"/>
                  <a:lumOff val="80000"/>
                  <a:alpha val="0"/>
                </a:schemeClr>
              </a:gs>
            </a:gsLst>
            <a:lin ang="10800000" scaled="0"/>
          </a:gradFill>
          <a:ln w="12700" cap="flat" cmpd="sng" algn="ctr">
            <a:solidFill>
              <a:schemeClr val="accent1"/>
            </a:solidFill>
            <a:prstDash val="solid"/>
            <a:miter lim="800000"/>
          </a:ln>
          <a:effectLst/>
        </p:spPr>
        <p:txBody>
          <a:bodyPr rtlCol="0" anchor="ctr">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169" name="@显眼包PPT1"/>
          <p:cNvGrpSpPr/>
          <p:nvPr/>
        </p:nvGrpSpPr>
        <p:grpSpPr>
          <a:xfrm>
            <a:off x="316547" y="5187518"/>
            <a:ext cx="11522075" cy="474980"/>
            <a:chOff x="334962" y="5996408"/>
            <a:chExt cx="11522075" cy="474980"/>
          </a:xfrm>
        </p:grpSpPr>
        <p:sp>
          <p:nvSpPr>
            <p:cNvPr id="170" name="@显眼包PPT1-1"/>
            <p:cNvSpPr/>
            <p:nvPr/>
          </p:nvSpPr>
          <p:spPr>
            <a:xfrm>
              <a:off x="334962" y="5996408"/>
              <a:ext cx="11522075" cy="330360"/>
            </a:xfrm>
            <a:prstGeom prst="trapezoid">
              <a:avLst>
                <a:gd name="adj" fmla="val 152137"/>
              </a:avLst>
            </a:prstGeom>
            <a:gradFill flip="none" rotWithShape="1">
              <a:gsLst>
                <a:gs pos="0">
                  <a:schemeClr val="accent1">
                    <a:lumMod val="40000"/>
                    <a:lumOff val="60000"/>
                    <a:alpha val="0"/>
                  </a:schemeClr>
                </a:gs>
                <a:gs pos="100000">
                  <a:schemeClr val="accent1">
                    <a:lumMod val="40000"/>
                    <a:lumOff val="60000"/>
                    <a:alpha val="41000"/>
                  </a:schemeClr>
                </a:gs>
              </a:gsLst>
              <a:lin ang="5400000" scaled="1"/>
              <a:tileRect/>
            </a:gradFill>
            <a:ln>
              <a:gradFill>
                <a:gsLst>
                  <a:gs pos="0">
                    <a:schemeClr val="accent1">
                      <a:lumMod val="60000"/>
                      <a:lumOff val="40000"/>
                      <a:alpha val="0"/>
                    </a:schemeClr>
                  </a:gs>
                  <a:gs pos="100000">
                    <a:schemeClr val="accent1">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1" name="@显眼包PPT1-2"/>
            <p:cNvSpPr/>
            <p:nvPr/>
          </p:nvSpPr>
          <p:spPr>
            <a:xfrm>
              <a:off x="334962" y="6326608"/>
              <a:ext cx="11522075" cy="144780"/>
            </a:xfrm>
            <a:prstGeom prst="rect">
              <a:avLst/>
            </a:prstGeom>
            <a:gradFill flip="none" rotWithShape="1">
              <a:gsLst>
                <a:gs pos="0">
                  <a:schemeClr val="accent1">
                    <a:lumMod val="60000"/>
                    <a:lumOff val="40000"/>
                  </a:schemeClr>
                </a:gs>
                <a:gs pos="97273">
                  <a:schemeClr val="accent1">
                    <a:lumMod val="60000"/>
                    <a:lumOff val="40000"/>
                  </a:schemeClr>
                </a:gs>
                <a:gs pos="50000">
                  <a:schemeClr val="accent1"/>
                </a:gs>
              </a:gsLst>
              <a:lin ang="0" scaled="1"/>
              <a:tileRect/>
            </a:gradFill>
            <a:ln>
              <a:noFill/>
            </a:ln>
            <a:effectLst>
              <a:reflection blurRad="50800" stA="41000" endPos="38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89" name="组合 188"/>
          <p:cNvGrpSpPr/>
          <p:nvPr/>
        </p:nvGrpSpPr>
        <p:grpSpPr>
          <a:xfrm>
            <a:off x="3779520" y="1043305"/>
            <a:ext cx="1986280" cy="670560"/>
            <a:chOff x="5952" y="1841"/>
            <a:chExt cx="3128" cy="1056"/>
          </a:xfrm>
        </p:grpSpPr>
        <p:sp>
          <p:nvSpPr>
            <p:cNvPr id="187" name="矩形 186"/>
            <p:cNvSpPr/>
            <p:nvPr/>
          </p:nvSpPr>
          <p:spPr>
            <a:xfrm>
              <a:off x="5952" y="1841"/>
              <a:ext cx="3112" cy="1056"/>
            </a:xfrm>
            <a:prstGeom prst="rect">
              <a:avLst/>
            </a:prstGeom>
            <a:solidFill>
              <a:schemeClr val="accent5">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15" name="Google Shape;1933;p36"/>
            <p:cNvSpPr/>
            <p:nvPr/>
          </p:nvSpPr>
          <p:spPr>
            <a:xfrm>
              <a:off x="6058" y="2021"/>
              <a:ext cx="2791" cy="73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900" dirty="0">
                  <a:solidFill>
                    <a:schemeClr val="tx2"/>
                  </a:solidFill>
                  <a:cs typeface="微软雅黑" panose="020B0503020204020204" charset="-122"/>
                  <a:sym typeface="+mn-ea"/>
                </a:rPr>
                <a:t>以用户需求为标尺，攻克 [技术难点] 等挑战，将 [需求案例] 转化为实用功能，生产环节严守质量</a:t>
              </a:r>
              <a:endParaRPr lang="zh-CN" altLang="en-US" sz="900" dirty="0">
                <a:solidFill>
                  <a:schemeClr val="tx2"/>
                </a:solidFill>
                <a:cs typeface="微软雅黑" panose="020B0503020204020204" charset="-122"/>
                <a:sym typeface="+mn-ea"/>
              </a:endParaRPr>
            </a:p>
          </p:txBody>
        </p:sp>
        <p:cxnSp>
          <p:nvCxnSpPr>
            <p:cNvPr id="188" name="直接连接符 187"/>
            <p:cNvCxnSpPr/>
            <p:nvPr/>
          </p:nvCxnSpPr>
          <p:spPr>
            <a:xfrm>
              <a:off x="5952" y="2881"/>
              <a:ext cx="3128" cy="0"/>
            </a:xfrm>
            <a:prstGeom prst="line">
              <a:avLst/>
            </a:prstGeom>
            <a:ln w="25400">
              <a:solidFill>
                <a:schemeClr val="accent5"/>
              </a:solidFill>
            </a:ln>
          </p:spPr>
          <p:style>
            <a:lnRef idx="2">
              <a:schemeClr val="accent1"/>
            </a:lnRef>
            <a:fillRef idx="0">
              <a:srgbClr val="FFFFFF"/>
            </a:fillRef>
            <a:effectRef idx="0">
              <a:srgbClr val="FFFFFF"/>
            </a:effectRef>
            <a:fontRef idx="minor">
              <a:schemeClr val="tx1"/>
            </a:fontRef>
          </p:style>
        </p:cxnSp>
      </p:grpSp>
      <p:cxnSp>
        <p:nvCxnSpPr>
          <p:cNvPr id="190" name="直接连接符 189"/>
          <p:cNvCxnSpPr/>
          <p:nvPr/>
        </p:nvCxnSpPr>
        <p:spPr>
          <a:xfrm flipH="1">
            <a:off x="4724400" y="1697355"/>
            <a:ext cx="76200" cy="336550"/>
          </a:xfrm>
          <a:prstGeom prst="line">
            <a:avLst/>
          </a:prstGeom>
          <a:ln>
            <a:solidFill>
              <a:schemeClr val="accent5"/>
            </a:solidFill>
            <a:prstDash val="dash"/>
          </a:ln>
        </p:spPr>
        <p:style>
          <a:lnRef idx="2">
            <a:schemeClr val="accent1"/>
          </a:lnRef>
          <a:fillRef idx="0">
            <a:srgbClr val="FFFFFF"/>
          </a:fillRef>
          <a:effectRef idx="0">
            <a:srgbClr val="FFFFFF"/>
          </a:effectRef>
          <a:fontRef idx="minor">
            <a:schemeClr val="tx1"/>
          </a:fontRef>
        </p:style>
      </p:cxnSp>
      <p:sp>
        <p:nvSpPr>
          <p:cNvPr id="191" name="Google Shape;1933;p36"/>
          <p:cNvSpPr/>
          <p:nvPr/>
        </p:nvSpPr>
        <p:spPr>
          <a:xfrm>
            <a:off x="3996690" y="1744980"/>
            <a:ext cx="800100" cy="17970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1000" b="1" dirty="0">
                <a:solidFill>
                  <a:schemeClr val="accent5"/>
                </a:solidFill>
                <a:cs typeface="微软雅黑" panose="020B0503020204020204" charset="-122"/>
                <a:sym typeface="+mn-ea"/>
              </a:rPr>
              <a:t>第②环节</a:t>
            </a:r>
            <a:endParaRPr lang="zh-CN" altLang="en-US" sz="1000" b="1" dirty="0">
              <a:solidFill>
                <a:schemeClr val="accent5"/>
              </a:solidFill>
              <a:cs typeface="微软雅黑" panose="020B0503020204020204" charset="-122"/>
              <a:sym typeface="+mn-ea"/>
            </a:endParaRPr>
          </a:p>
        </p:txBody>
      </p:sp>
      <p:grpSp>
        <p:nvGrpSpPr>
          <p:cNvPr id="192" name="组合 191"/>
          <p:cNvGrpSpPr/>
          <p:nvPr/>
        </p:nvGrpSpPr>
        <p:grpSpPr>
          <a:xfrm>
            <a:off x="6635750" y="1074420"/>
            <a:ext cx="1986280" cy="670560"/>
            <a:chOff x="5952" y="1841"/>
            <a:chExt cx="3128" cy="1056"/>
          </a:xfrm>
        </p:grpSpPr>
        <p:sp>
          <p:nvSpPr>
            <p:cNvPr id="193" name="矩形 192"/>
            <p:cNvSpPr/>
            <p:nvPr/>
          </p:nvSpPr>
          <p:spPr>
            <a:xfrm>
              <a:off x="5952" y="1841"/>
              <a:ext cx="3112" cy="1056"/>
            </a:xfrm>
            <a:prstGeom prst="rect">
              <a:avLst/>
            </a:prstGeom>
            <a:solidFill>
              <a:schemeClr val="accent5">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94" name="Google Shape;1933;p36"/>
            <p:cNvSpPr/>
            <p:nvPr/>
          </p:nvSpPr>
          <p:spPr>
            <a:xfrm>
              <a:off x="6058" y="2021"/>
              <a:ext cx="2930" cy="73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900" dirty="0">
                  <a:solidFill>
                    <a:schemeClr val="tx2"/>
                  </a:solidFill>
                  <a:cs typeface="微软雅黑" panose="020B0503020204020204" charset="-122"/>
                  <a:sym typeface="+mn-ea"/>
                </a:rPr>
                <a:t>通过</a:t>
              </a:r>
              <a:r>
                <a:rPr lang="en-US" altLang="zh-CN" sz="900" dirty="0">
                  <a:solidFill>
                    <a:schemeClr val="tx2"/>
                  </a:solidFill>
                  <a:cs typeface="微软雅黑" panose="020B0503020204020204" charset="-122"/>
                  <a:sym typeface="+mn-ea"/>
                </a:rPr>
                <a:t> [</a:t>
              </a:r>
              <a:r>
                <a:rPr lang="zh-CN" altLang="en-US" sz="900" dirty="0">
                  <a:solidFill>
                    <a:schemeClr val="tx2"/>
                  </a:solidFill>
                  <a:cs typeface="微软雅黑" panose="020B0503020204020204" charset="-122"/>
                  <a:sym typeface="+mn-ea"/>
                </a:rPr>
                <a:t>反馈渠道</a:t>
              </a:r>
              <a:r>
                <a:rPr lang="en-US" altLang="zh-CN" sz="900" dirty="0">
                  <a:solidFill>
                    <a:schemeClr val="tx2"/>
                  </a:solidFill>
                  <a:cs typeface="微软雅黑" panose="020B0503020204020204" charset="-122"/>
                  <a:sym typeface="+mn-ea"/>
                </a:rPr>
                <a:t>] </a:t>
              </a:r>
              <a:r>
                <a:rPr lang="zh-CN" altLang="en-US" sz="900" dirty="0">
                  <a:solidFill>
                    <a:schemeClr val="tx2"/>
                  </a:solidFill>
                  <a:cs typeface="微软雅黑" panose="020B0503020204020204" charset="-122"/>
                  <a:sym typeface="+mn-ea"/>
                </a:rPr>
                <a:t>倾听用户声音，针对</a:t>
              </a:r>
              <a:r>
                <a:rPr lang="en-US" altLang="zh-CN" sz="900" dirty="0">
                  <a:solidFill>
                    <a:schemeClr val="tx2"/>
                  </a:solidFill>
                  <a:cs typeface="微软雅黑" panose="020B0503020204020204" charset="-122"/>
                  <a:sym typeface="+mn-ea"/>
                </a:rPr>
                <a:t> [</a:t>
              </a:r>
              <a:r>
                <a:rPr lang="zh-CN" altLang="en-US" sz="900" dirty="0">
                  <a:solidFill>
                    <a:schemeClr val="tx2"/>
                  </a:solidFill>
                  <a:cs typeface="微软雅黑" panose="020B0503020204020204" charset="-122"/>
                  <a:sym typeface="+mn-ea"/>
                </a:rPr>
                <a:t>案例</a:t>
              </a:r>
              <a:r>
                <a:rPr lang="en-US" altLang="zh-CN" sz="900" dirty="0">
                  <a:solidFill>
                    <a:schemeClr val="tx2"/>
                  </a:solidFill>
                  <a:cs typeface="微软雅黑" panose="020B0503020204020204" charset="-122"/>
                  <a:sym typeface="+mn-ea"/>
                </a:rPr>
                <a:t>] </a:t>
              </a:r>
              <a:r>
                <a:rPr lang="zh-CN" altLang="en-US" sz="900" dirty="0">
                  <a:solidFill>
                    <a:schemeClr val="tx2"/>
                  </a:solidFill>
                  <a:cs typeface="微软雅黑" panose="020B0503020204020204" charset="-122"/>
                  <a:sym typeface="+mn-ea"/>
                </a:rPr>
                <a:t>快速迭代，让产品随用户需求</a:t>
              </a:r>
              <a:r>
                <a:rPr lang="en-US" altLang="zh-CN" sz="900" dirty="0">
                  <a:solidFill>
                    <a:schemeClr val="tx2"/>
                  </a:solidFill>
                  <a:cs typeface="微软雅黑" panose="020B0503020204020204" charset="-122"/>
                  <a:sym typeface="+mn-ea"/>
                </a:rPr>
                <a:t>‘</a:t>
              </a:r>
              <a:r>
                <a:rPr lang="zh-CN" altLang="en-US" sz="900" dirty="0">
                  <a:solidFill>
                    <a:schemeClr val="tx2"/>
                  </a:solidFill>
                  <a:cs typeface="微软雅黑" panose="020B0503020204020204" charset="-122"/>
                  <a:sym typeface="+mn-ea"/>
                </a:rPr>
                <a:t>成长</a:t>
              </a:r>
              <a:r>
                <a:rPr lang="en-US" altLang="zh-CN" sz="900" dirty="0">
                  <a:solidFill>
                    <a:schemeClr val="tx2"/>
                  </a:solidFill>
                  <a:cs typeface="微软雅黑" panose="020B0503020204020204" charset="-122"/>
                  <a:sym typeface="+mn-ea"/>
                </a:rPr>
                <a:t>’</a:t>
              </a:r>
              <a:r>
                <a:rPr lang="zh-CN" altLang="en-US" sz="900" dirty="0">
                  <a:solidFill>
                    <a:schemeClr val="tx2"/>
                  </a:solidFill>
                  <a:cs typeface="微软雅黑" panose="020B0503020204020204" charset="-122"/>
                  <a:sym typeface="+mn-ea"/>
                </a:rPr>
                <a:t>，保持市场竞争力</a:t>
              </a:r>
              <a:endParaRPr lang="zh-CN" altLang="en-US" sz="900" dirty="0">
                <a:solidFill>
                  <a:schemeClr val="tx2"/>
                </a:solidFill>
                <a:cs typeface="微软雅黑" panose="020B0503020204020204" charset="-122"/>
                <a:sym typeface="+mn-ea"/>
              </a:endParaRPr>
            </a:p>
          </p:txBody>
        </p:sp>
        <p:cxnSp>
          <p:nvCxnSpPr>
            <p:cNvPr id="195" name="直接连接符 194"/>
            <p:cNvCxnSpPr/>
            <p:nvPr/>
          </p:nvCxnSpPr>
          <p:spPr>
            <a:xfrm>
              <a:off x="5952" y="2881"/>
              <a:ext cx="3128" cy="0"/>
            </a:xfrm>
            <a:prstGeom prst="line">
              <a:avLst/>
            </a:prstGeom>
            <a:ln w="25400">
              <a:solidFill>
                <a:schemeClr val="accent5"/>
              </a:solidFill>
            </a:ln>
          </p:spPr>
          <p:style>
            <a:lnRef idx="2">
              <a:schemeClr val="accent1"/>
            </a:lnRef>
            <a:fillRef idx="0">
              <a:srgbClr val="FFFFFF"/>
            </a:fillRef>
            <a:effectRef idx="0">
              <a:srgbClr val="FFFFFF"/>
            </a:effectRef>
            <a:fontRef idx="minor">
              <a:schemeClr val="tx1"/>
            </a:fontRef>
          </p:style>
        </p:cxnSp>
      </p:grpSp>
      <p:cxnSp>
        <p:nvCxnSpPr>
          <p:cNvPr id="196" name="直接连接符 195"/>
          <p:cNvCxnSpPr/>
          <p:nvPr/>
        </p:nvCxnSpPr>
        <p:spPr>
          <a:xfrm>
            <a:off x="7399020" y="1745615"/>
            <a:ext cx="181610" cy="319405"/>
          </a:xfrm>
          <a:prstGeom prst="line">
            <a:avLst/>
          </a:prstGeom>
          <a:ln>
            <a:solidFill>
              <a:schemeClr val="accent5"/>
            </a:solidFill>
            <a:prstDash val="dash"/>
          </a:ln>
        </p:spPr>
        <p:style>
          <a:lnRef idx="2">
            <a:schemeClr val="accent1"/>
          </a:lnRef>
          <a:fillRef idx="0">
            <a:srgbClr val="FFFFFF"/>
          </a:fillRef>
          <a:effectRef idx="0">
            <a:srgbClr val="FFFFFF"/>
          </a:effectRef>
          <a:fontRef idx="minor">
            <a:schemeClr val="tx1"/>
          </a:fontRef>
        </p:style>
      </p:cxnSp>
      <p:sp>
        <p:nvSpPr>
          <p:cNvPr id="197" name="Google Shape;1933;p36"/>
          <p:cNvSpPr/>
          <p:nvPr/>
        </p:nvSpPr>
        <p:spPr>
          <a:xfrm>
            <a:off x="7576820" y="1783715"/>
            <a:ext cx="800100" cy="17970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1000" b="1" dirty="0">
                <a:solidFill>
                  <a:schemeClr val="accent5"/>
                </a:solidFill>
                <a:cs typeface="微软雅黑" panose="020B0503020204020204" charset="-122"/>
                <a:sym typeface="+mn-ea"/>
              </a:rPr>
              <a:t>第④环节</a:t>
            </a:r>
            <a:endParaRPr lang="zh-CN" altLang="en-US" sz="1000" b="1" dirty="0">
              <a:solidFill>
                <a:schemeClr val="accent5"/>
              </a:solidFill>
              <a:cs typeface="微软雅黑" panose="020B0503020204020204" charset="-122"/>
              <a:sym typeface="+mn-ea"/>
            </a:endParaRPr>
          </a:p>
        </p:txBody>
      </p:sp>
      <p:grpSp>
        <p:nvGrpSpPr>
          <p:cNvPr id="198" name="组合 197"/>
          <p:cNvGrpSpPr/>
          <p:nvPr/>
        </p:nvGrpSpPr>
        <p:grpSpPr>
          <a:xfrm flipH="1" flipV="1">
            <a:off x="3210560" y="4701540"/>
            <a:ext cx="1986280" cy="670560"/>
            <a:chOff x="5952" y="1841"/>
            <a:chExt cx="3128" cy="1056"/>
          </a:xfrm>
        </p:grpSpPr>
        <p:sp>
          <p:nvSpPr>
            <p:cNvPr id="199" name="矩形 198"/>
            <p:cNvSpPr/>
            <p:nvPr/>
          </p:nvSpPr>
          <p:spPr>
            <a:xfrm>
              <a:off x="5952" y="1841"/>
              <a:ext cx="3112" cy="1056"/>
            </a:xfrm>
            <a:prstGeom prst="rect">
              <a:avLst/>
            </a:prstGeom>
            <a:solidFill>
              <a:schemeClr val="accent1">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201" name="直接连接符 200"/>
            <p:cNvCxnSpPr/>
            <p:nvPr/>
          </p:nvCxnSpPr>
          <p:spPr>
            <a:xfrm>
              <a:off x="5952" y="2881"/>
              <a:ext cx="3128" cy="0"/>
            </a:xfrm>
            <a:prstGeom prst="line">
              <a:avLst/>
            </a:prstGeom>
            <a:ln w="25400">
              <a:solidFill>
                <a:schemeClr val="accent1"/>
              </a:solidFill>
            </a:ln>
          </p:spPr>
          <p:style>
            <a:lnRef idx="2">
              <a:schemeClr val="accent1"/>
            </a:lnRef>
            <a:fillRef idx="0">
              <a:srgbClr val="FFFFFF"/>
            </a:fillRef>
            <a:effectRef idx="0">
              <a:srgbClr val="FFFFFF"/>
            </a:effectRef>
            <a:fontRef idx="minor">
              <a:schemeClr val="tx1"/>
            </a:fontRef>
          </p:style>
        </p:cxnSp>
      </p:grpSp>
      <p:cxnSp>
        <p:nvCxnSpPr>
          <p:cNvPr id="203" name="直接连接符 202"/>
          <p:cNvCxnSpPr/>
          <p:nvPr/>
        </p:nvCxnSpPr>
        <p:spPr>
          <a:xfrm>
            <a:off x="3728720" y="4464050"/>
            <a:ext cx="118110" cy="247650"/>
          </a:xfrm>
          <a:prstGeom prst="line">
            <a:avLst/>
          </a:prstGeom>
          <a:ln>
            <a:solidFill>
              <a:schemeClr val="accent1"/>
            </a:solidFill>
            <a:prstDash val="dash"/>
          </a:ln>
        </p:spPr>
        <p:style>
          <a:lnRef idx="2">
            <a:schemeClr val="accent1"/>
          </a:lnRef>
          <a:fillRef idx="0">
            <a:srgbClr val="FFFFFF"/>
          </a:fillRef>
          <a:effectRef idx="0">
            <a:srgbClr val="FFFFFF"/>
          </a:effectRef>
          <a:fontRef idx="minor">
            <a:schemeClr val="tx1"/>
          </a:fontRef>
        </p:style>
      </p:cxnSp>
      <p:sp>
        <p:nvSpPr>
          <p:cNvPr id="204" name="Google Shape;1933;p36"/>
          <p:cNvSpPr/>
          <p:nvPr/>
        </p:nvSpPr>
        <p:spPr>
          <a:xfrm>
            <a:off x="3366135" y="4803775"/>
            <a:ext cx="1663700" cy="46545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2"/>
              </a:buClr>
              <a:buSzPts val="800"/>
            </a:pPr>
            <a:r>
              <a:rPr lang="zh-CN" altLang="en-US" sz="900" dirty="0">
                <a:solidFill>
                  <a:schemeClr val="tx2"/>
                </a:solidFill>
                <a:cs typeface="微软雅黑" panose="020B0503020204020204" charset="-122"/>
                <a:sym typeface="+mn-ea"/>
              </a:rPr>
              <a:t>调研部门深度挖掘市场空白，研发中心聚焦技术可行性，营销团队锚定目标人群，三方合力</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205" name="组合 204"/>
          <p:cNvGrpSpPr/>
          <p:nvPr/>
        </p:nvGrpSpPr>
        <p:grpSpPr>
          <a:xfrm flipH="1" flipV="1">
            <a:off x="6330315" y="4701540"/>
            <a:ext cx="1986280" cy="670560"/>
            <a:chOff x="5952" y="1841"/>
            <a:chExt cx="3128" cy="1056"/>
          </a:xfrm>
        </p:grpSpPr>
        <p:sp>
          <p:nvSpPr>
            <p:cNvPr id="206" name="矩形 205"/>
            <p:cNvSpPr/>
            <p:nvPr/>
          </p:nvSpPr>
          <p:spPr>
            <a:xfrm>
              <a:off x="5952" y="1841"/>
              <a:ext cx="3112" cy="1056"/>
            </a:xfrm>
            <a:prstGeom prst="rect">
              <a:avLst/>
            </a:prstGeom>
            <a:solidFill>
              <a:schemeClr val="accent1">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207" name="直接连接符 206"/>
            <p:cNvCxnSpPr/>
            <p:nvPr/>
          </p:nvCxnSpPr>
          <p:spPr>
            <a:xfrm>
              <a:off x="5952" y="2881"/>
              <a:ext cx="3128" cy="0"/>
            </a:xfrm>
            <a:prstGeom prst="line">
              <a:avLst/>
            </a:prstGeom>
            <a:ln w="25400">
              <a:solidFill>
                <a:schemeClr val="accent1"/>
              </a:solidFill>
            </a:ln>
          </p:spPr>
          <p:style>
            <a:lnRef idx="2">
              <a:schemeClr val="accent1"/>
            </a:lnRef>
            <a:fillRef idx="0">
              <a:srgbClr val="FFFFFF"/>
            </a:fillRef>
            <a:effectRef idx="0">
              <a:srgbClr val="FFFFFF"/>
            </a:effectRef>
            <a:fontRef idx="minor">
              <a:schemeClr val="tx1"/>
            </a:fontRef>
          </p:style>
        </p:cxnSp>
      </p:grpSp>
      <p:sp>
        <p:nvSpPr>
          <p:cNvPr id="208" name="Google Shape;1933;p36"/>
          <p:cNvSpPr/>
          <p:nvPr/>
        </p:nvSpPr>
        <p:spPr>
          <a:xfrm>
            <a:off x="6438265" y="4803775"/>
            <a:ext cx="1772285" cy="46545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900" dirty="0">
                <a:solidFill>
                  <a:schemeClr val="tx2"/>
                </a:solidFill>
                <a:cs typeface="微软雅黑" panose="020B0503020204020204" charset="-122"/>
                <a:sym typeface="+mn-ea"/>
              </a:rPr>
              <a:t>联动</a:t>
            </a:r>
            <a:r>
              <a:rPr lang="en-US" altLang="zh-CN" sz="900" dirty="0">
                <a:solidFill>
                  <a:schemeClr val="tx2"/>
                </a:solidFill>
                <a:cs typeface="微软雅黑" panose="020B0503020204020204" charset="-122"/>
                <a:sym typeface="+mn-ea"/>
              </a:rPr>
              <a:t> [</a:t>
            </a:r>
            <a:r>
              <a:rPr lang="zh-CN" altLang="en-US" sz="900" dirty="0">
                <a:solidFill>
                  <a:schemeClr val="tx2"/>
                </a:solidFill>
                <a:cs typeface="微软雅黑" panose="020B0503020204020204" charset="-122"/>
                <a:sym typeface="+mn-ea"/>
              </a:rPr>
              <a:t>推广渠道</a:t>
            </a:r>
            <a:r>
              <a:rPr lang="en-US" altLang="zh-CN" sz="900" dirty="0">
                <a:solidFill>
                  <a:schemeClr val="tx2"/>
                </a:solidFill>
                <a:cs typeface="微软雅黑" panose="020B0503020204020204" charset="-122"/>
                <a:sym typeface="+mn-ea"/>
              </a:rPr>
              <a:t>]</a:t>
            </a:r>
            <a:r>
              <a:rPr lang="zh-CN" altLang="en-US" sz="900" dirty="0">
                <a:solidFill>
                  <a:schemeClr val="tx2"/>
                </a:solidFill>
                <a:cs typeface="微软雅黑" panose="020B0503020204020204" charset="-122"/>
                <a:sym typeface="+mn-ea"/>
              </a:rPr>
              <a:t>，以</a:t>
            </a:r>
            <a:r>
              <a:rPr lang="en-US" altLang="zh-CN" sz="900" dirty="0">
                <a:solidFill>
                  <a:schemeClr val="tx2"/>
                </a:solidFill>
                <a:cs typeface="微软雅黑" panose="020B0503020204020204" charset="-122"/>
                <a:sym typeface="+mn-ea"/>
              </a:rPr>
              <a:t> [</a:t>
            </a:r>
            <a:r>
              <a:rPr lang="zh-CN" altLang="en-US" sz="900" dirty="0">
                <a:solidFill>
                  <a:schemeClr val="tx2"/>
                </a:solidFill>
                <a:cs typeface="微软雅黑" panose="020B0503020204020204" charset="-122"/>
                <a:sym typeface="+mn-ea"/>
              </a:rPr>
              <a:t>营销活动</a:t>
            </a:r>
            <a:r>
              <a:rPr lang="en-US" altLang="zh-CN" sz="900" dirty="0">
                <a:solidFill>
                  <a:schemeClr val="tx2"/>
                </a:solidFill>
                <a:cs typeface="微软雅黑" panose="020B0503020204020204" charset="-122"/>
                <a:sym typeface="+mn-ea"/>
              </a:rPr>
              <a:t>] </a:t>
            </a:r>
            <a:r>
              <a:rPr lang="zh-CN" altLang="en-US" sz="900" dirty="0">
                <a:solidFill>
                  <a:schemeClr val="tx2"/>
                </a:solidFill>
                <a:cs typeface="微软雅黑" panose="020B0503020204020204" charset="-122"/>
                <a:sym typeface="+mn-ea"/>
              </a:rPr>
              <a:t>为抓手，短期内实现</a:t>
            </a:r>
            <a:r>
              <a:rPr lang="en-US" altLang="zh-CN" sz="900" dirty="0">
                <a:solidFill>
                  <a:schemeClr val="tx2"/>
                </a:solidFill>
                <a:cs typeface="微软雅黑" panose="020B0503020204020204" charset="-122"/>
                <a:sym typeface="+mn-ea"/>
              </a:rPr>
              <a:t> [</a:t>
            </a:r>
            <a:r>
              <a:rPr lang="zh-CN" altLang="en-US" sz="900" dirty="0">
                <a:solidFill>
                  <a:schemeClr val="tx2"/>
                </a:solidFill>
                <a:cs typeface="微软雅黑" panose="020B0503020204020204" charset="-122"/>
                <a:sym typeface="+mn-ea"/>
              </a:rPr>
              <a:t>数据</a:t>
            </a:r>
            <a:r>
              <a:rPr lang="en-US" altLang="zh-CN" sz="900" dirty="0">
                <a:solidFill>
                  <a:schemeClr val="tx2"/>
                </a:solidFill>
                <a:cs typeface="微软雅黑" panose="020B0503020204020204" charset="-122"/>
                <a:sym typeface="+mn-ea"/>
              </a:rPr>
              <a:t>] </a:t>
            </a:r>
            <a:r>
              <a:rPr lang="zh-CN" altLang="en-US" sz="900" dirty="0">
                <a:solidFill>
                  <a:schemeClr val="tx2"/>
                </a:solidFill>
                <a:cs typeface="微软雅黑" panose="020B0503020204020204" charset="-122"/>
                <a:sym typeface="+mn-ea"/>
              </a:rPr>
              <a:t>曝光与转化，让产品快速</a:t>
            </a:r>
            <a:r>
              <a:rPr lang="en-US" altLang="zh-CN" sz="900" dirty="0">
                <a:solidFill>
                  <a:schemeClr val="tx2"/>
                </a:solidFill>
                <a:cs typeface="微软雅黑" panose="020B0503020204020204" charset="-122"/>
                <a:sym typeface="+mn-ea"/>
              </a:rPr>
              <a:t>‘</a:t>
            </a:r>
            <a:r>
              <a:rPr lang="zh-CN" altLang="en-US" sz="900" dirty="0">
                <a:solidFill>
                  <a:schemeClr val="tx2"/>
                </a:solidFill>
                <a:cs typeface="微软雅黑" panose="020B0503020204020204" charset="-122"/>
                <a:sym typeface="+mn-ea"/>
              </a:rPr>
              <a:t>出圈</a:t>
            </a:r>
            <a:r>
              <a:rPr lang="en-US" altLang="zh-CN" sz="900" dirty="0">
                <a:solidFill>
                  <a:schemeClr val="tx2"/>
                </a:solidFill>
                <a:cs typeface="微软雅黑" panose="020B0503020204020204" charset="-122"/>
                <a:sym typeface="+mn-ea"/>
              </a:rPr>
              <a:t>’</a:t>
            </a:r>
            <a:endParaRPr lang="en-US" altLang="zh-CN" sz="900" dirty="0">
              <a:solidFill>
                <a:schemeClr val="tx2"/>
              </a:solidFill>
              <a:cs typeface="微软雅黑" panose="020B0503020204020204" charset="-122"/>
              <a:sym typeface="+mn-ea"/>
            </a:endParaRPr>
          </a:p>
        </p:txBody>
      </p:sp>
      <p:cxnSp>
        <p:nvCxnSpPr>
          <p:cNvPr id="209" name="直接连接符 208"/>
          <p:cNvCxnSpPr/>
          <p:nvPr/>
        </p:nvCxnSpPr>
        <p:spPr>
          <a:xfrm>
            <a:off x="6955155" y="4410710"/>
            <a:ext cx="134620" cy="281940"/>
          </a:xfrm>
          <a:prstGeom prst="line">
            <a:avLst/>
          </a:prstGeom>
          <a:ln>
            <a:solidFill>
              <a:schemeClr val="accent1"/>
            </a:solidFill>
            <a:prstDash val="dash"/>
          </a:ln>
        </p:spPr>
        <p:style>
          <a:lnRef idx="2">
            <a:schemeClr val="accent1"/>
          </a:lnRef>
          <a:fillRef idx="0">
            <a:srgbClr val="FFFFFF"/>
          </a:fillRef>
          <a:effectRef idx="0">
            <a:srgbClr val="FFFFFF"/>
          </a:effectRef>
          <a:fontRef idx="minor">
            <a:schemeClr val="tx1"/>
          </a:fontRef>
        </p:style>
      </p:cxnSp>
      <p:sp>
        <p:nvSpPr>
          <p:cNvPr id="210" name="Google Shape;1933;p36"/>
          <p:cNvSpPr/>
          <p:nvPr/>
        </p:nvSpPr>
        <p:spPr>
          <a:xfrm>
            <a:off x="3742690" y="4464050"/>
            <a:ext cx="800100" cy="17970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1000" b="1" dirty="0">
                <a:solidFill>
                  <a:schemeClr val="accent1"/>
                </a:solidFill>
                <a:cs typeface="微软雅黑" panose="020B0503020204020204" charset="-122"/>
                <a:sym typeface="+mn-ea"/>
              </a:rPr>
              <a:t>第①环节</a:t>
            </a:r>
            <a:endParaRPr lang="zh-CN" altLang="en-US" sz="1000" b="1" dirty="0">
              <a:solidFill>
                <a:schemeClr val="accent1"/>
              </a:solidFill>
              <a:cs typeface="微软雅黑" panose="020B0503020204020204" charset="-122"/>
              <a:sym typeface="+mn-ea"/>
            </a:endParaRPr>
          </a:p>
        </p:txBody>
      </p:sp>
      <p:sp>
        <p:nvSpPr>
          <p:cNvPr id="211" name="Google Shape;1933;p36"/>
          <p:cNvSpPr/>
          <p:nvPr/>
        </p:nvSpPr>
        <p:spPr>
          <a:xfrm>
            <a:off x="6986905" y="4479925"/>
            <a:ext cx="800100" cy="17970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1000" b="1" dirty="0">
                <a:solidFill>
                  <a:schemeClr val="accent1"/>
                </a:solidFill>
                <a:cs typeface="微软雅黑" panose="020B0503020204020204" charset="-122"/>
                <a:sym typeface="+mn-ea"/>
              </a:rPr>
              <a:t>第③环节</a:t>
            </a:r>
            <a:endParaRPr lang="zh-CN" altLang="en-US" sz="1000" b="1" dirty="0">
              <a:solidFill>
                <a:schemeClr val="accent1"/>
              </a:solidFill>
              <a:cs typeface="微软雅黑" panose="020B0503020204020204" charset="-122"/>
              <a:sym typeface="+mn-ea"/>
            </a:endParaRPr>
          </a:p>
        </p:txBody>
      </p:sp>
      <p:grpSp>
        <p:nvGrpSpPr>
          <p:cNvPr id="229" name="组合 228"/>
          <p:cNvGrpSpPr/>
          <p:nvPr/>
        </p:nvGrpSpPr>
        <p:grpSpPr>
          <a:xfrm>
            <a:off x="319405" y="5749925"/>
            <a:ext cx="3505200" cy="911860"/>
            <a:chOff x="503" y="9055"/>
            <a:chExt cx="5520" cy="1436"/>
          </a:xfrm>
        </p:grpSpPr>
        <p:sp>
          <p:nvSpPr>
            <p:cNvPr id="173" name="矩形 172"/>
            <p:cNvSpPr/>
            <p:nvPr/>
          </p:nvSpPr>
          <p:spPr>
            <a:xfrm>
              <a:off x="503" y="9055"/>
              <a:ext cx="5520" cy="1437"/>
            </a:xfrm>
            <a:prstGeom prst="rect">
              <a:avLst/>
            </a:prstGeom>
            <a:gradFill flip="none" rotWithShape="1">
              <a:gsLst>
                <a:gs pos="95000">
                  <a:schemeClr val="accent1">
                    <a:lumMod val="60000"/>
                    <a:lumOff val="40000"/>
                  </a:schemeClr>
                </a:gs>
                <a:gs pos="0">
                  <a:schemeClr val="accent1">
                    <a:lumMod val="60000"/>
                    <a:lumOff val="40000"/>
                  </a:schemeClr>
                </a:gs>
                <a:gs pos="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4" name="文本框 173"/>
            <p:cNvSpPr txBox="1"/>
            <p:nvPr/>
          </p:nvSpPr>
          <p:spPr>
            <a:xfrm>
              <a:off x="692" y="9671"/>
              <a:ext cx="5142" cy="749"/>
            </a:xfrm>
            <a:prstGeom prst="rect">
              <a:avLst/>
            </a:prstGeom>
            <a:noFill/>
          </p:spPr>
          <p:txBody>
            <a:bodyPr wrap="square">
              <a:spAutoFit/>
            </a:bodyPr>
            <a:lstStyle/>
            <a:p>
              <a:pPr algn="ctr">
                <a:lnSpc>
                  <a:spcPct val="125000"/>
                </a:lnSpc>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通过市场调研和销售数据分析，明确新产品的目标用户和市场定位，确保产品研发方向与需求匹配。</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14" name="组合 213"/>
            <p:cNvGrpSpPr/>
            <p:nvPr/>
          </p:nvGrpSpPr>
          <p:grpSpPr>
            <a:xfrm>
              <a:off x="1392" y="9111"/>
              <a:ext cx="3742" cy="568"/>
              <a:chOff x="1378" y="9166"/>
              <a:chExt cx="3742" cy="568"/>
            </a:xfrm>
          </p:grpSpPr>
          <p:sp>
            <p:nvSpPr>
              <p:cNvPr id="175" name="圆角矩形 174"/>
              <p:cNvSpPr/>
              <p:nvPr/>
            </p:nvSpPr>
            <p:spPr>
              <a:xfrm>
                <a:off x="1484" y="9250"/>
                <a:ext cx="3532" cy="464"/>
              </a:xfrm>
              <a:prstGeom prst="roundRect">
                <a:avLst/>
              </a:prstGeom>
              <a:solidFill>
                <a:schemeClr val="accent1">
                  <a:lumMod val="20000"/>
                  <a:lumOff val="80000"/>
                  <a:alpha val="7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13" name="文本框 212"/>
              <p:cNvSpPr txBox="1"/>
              <p:nvPr/>
            </p:nvSpPr>
            <p:spPr>
              <a:xfrm>
                <a:off x="1378" y="9166"/>
                <a:ext cx="3743" cy="568"/>
              </a:xfrm>
              <a:prstGeom prst="rect">
                <a:avLst/>
              </a:prstGeom>
              <a:noFill/>
            </p:spPr>
            <p:txBody>
              <a:bodyPr wrap="square">
                <a:spAutoFit/>
              </a:bodyPr>
              <a:lstStyle/>
              <a:p>
                <a:pPr algn="ctr">
                  <a:lnSpc>
                    <a:spcPct val="125000"/>
                  </a:lnSpc>
                </a:pP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精准市场定位与用户细分</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grpSp>
        <p:nvGrpSpPr>
          <p:cNvPr id="220" name="组合 219"/>
          <p:cNvGrpSpPr/>
          <p:nvPr/>
        </p:nvGrpSpPr>
        <p:grpSpPr>
          <a:xfrm>
            <a:off x="4044950" y="5749925"/>
            <a:ext cx="3740150" cy="912495"/>
            <a:chOff x="6593" y="9055"/>
            <a:chExt cx="5890" cy="1437"/>
          </a:xfrm>
        </p:grpSpPr>
        <p:sp>
          <p:nvSpPr>
            <p:cNvPr id="216" name="矩形 215"/>
            <p:cNvSpPr/>
            <p:nvPr/>
          </p:nvSpPr>
          <p:spPr>
            <a:xfrm>
              <a:off x="6593" y="9055"/>
              <a:ext cx="5890" cy="1437"/>
            </a:xfrm>
            <a:prstGeom prst="rect">
              <a:avLst/>
            </a:prstGeom>
            <a:gradFill flip="none" rotWithShape="1">
              <a:gsLst>
                <a:gs pos="95000">
                  <a:schemeClr val="accent1">
                    <a:lumMod val="60000"/>
                    <a:lumOff val="40000"/>
                  </a:schemeClr>
                </a:gs>
                <a:gs pos="0">
                  <a:schemeClr val="accent1">
                    <a:lumMod val="60000"/>
                    <a:lumOff val="40000"/>
                  </a:schemeClr>
                </a:gs>
                <a:gs pos="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17" name="文本框 216"/>
            <p:cNvSpPr txBox="1"/>
            <p:nvPr/>
          </p:nvSpPr>
          <p:spPr>
            <a:xfrm>
              <a:off x="6967" y="9671"/>
              <a:ext cx="5142" cy="821"/>
            </a:xfrm>
            <a:prstGeom prst="rect">
              <a:avLst/>
            </a:prstGeom>
            <a:noFill/>
          </p:spPr>
          <p:txBody>
            <a:bodyPr wrap="square">
              <a:noAutofit/>
            </a:bodyPr>
            <a:lstStyle/>
            <a:p>
              <a:pPr lvl="0" algn="ctr">
                <a:lnSpc>
                  <a:spcPct val="125000"/>
                </a:lnSpc>
                <a:buClrTx/>
                <a:buSzTx/>
                <a:buFontTx/>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利用用户反馈和销售数据，不断调整产品功能和市场策略，实现迭代改进，提升用户满意度和市场份额。</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18" name="圆角矩形 217"/>
            <p:cNvSpPr/>
            <p:nvPr/>
          </p:nvSpPr>
          <p:spPr>
            <a:xfrm>
              <a:off x="7703" y="9195"/>
              <a:ext cx="3732" cy="464"/>
            </a:xfrm>
            <a:prstGeom prst="roundRect">
              <a:avLst/>
            </a:prstGeom>
            <a:solidFill>
              <a:schemeClr val="accent1">
                <a:lumMod val="20000"/>
                <a:lumOff val="80000"/>
                <a:alpha val="7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19" name="文本框 218"/>
            <p:cNvSpPr txBox="1"/>
            <p:nvPr/>
          </p:nvSpPr>
          <p:spPr>
            <a:xfrm>
              <a:off x="7667" y="9111"/>
              <a:ext cx="3743" cy="568"/>
            </a:xfrm>
            <a:prstGeom prst="rect">
              <a:avLst/>
            </a:prstGeom>
            <a:noFill/>
          </p:spPr>
          <p:txBody>
            <a:bodyPr wrap="square">
              <a:spAutoFit/>
            </a:bodyPr>
            <a:lstStyle/>
            <a:p>
              <a:pPr algn="ctr">
                <a:lnSpc>
                  <a:spcPct val="125000"/>
                </a:lnSpc>
              </a:pP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数据驱动的持续优化</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228" name="组合 227"/>
          <p:cNvGrpSpPr/>
          <p:nvPr/>
        </p:nvGrpSpPr>
        <p:grpSpPr>
          <a:xfrm>
            <a:off x="8005445" y="5749925"/>
            <a:ext cx="3816350" cy="912495"/>
            <a:chOff x="12607" y="9055"/>
            <a:chExt cx="6010" cy="1437"/>
          </a:xfrm>
        </p:grpSpPr>
        <p:sp>
          <p:nvSpPr>
            <p:cNvPr id="223" name="矩形 222"/>
            <p:cNvSpPr/>
            <p:nvPr/>
          </p:nvSpPr>
          <p:spPr>
            <a:xfrm>
              <a:off x="12607" y="9055"/>
              <a:ext cx="6010" cy="1437"/>
            </a:xfrm>
            <a:prstGeom prst="rect">
              <a:avLst/>
            </a:prstGeom>
            <a:gradFill flip="none" rotWithShape="1">
              <a:gsLst>
                <a:gs pos="95000">
                  <a:schemeClr val="accent1">
                    <a:lumMod val="60000"/>
                    <a:lumOff val="40000"/>
                  </a:schemeClr>
                </a:gs>
                <a:gs pos="0">
                  <a:schemeClr val="accent1">
                    <a:lumMod val="60000"/>
                    <a:lumOff val="40000"/>
                  </a:schemeClr>
                </a:gs>
                <a:gs pos="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4" name="文本框 223"/>
            <p:cNvSpPr txBox="1"/>
            <p:nvPr/>
          </p:nvSpPr>
          <p:spPr>
            <a:xfrm>
              <a:off x="12804" y="9671"/>
              <a:ext cx="5662" cy="507"/>
            </a:xfrm>
            <a:prstGeom prst="rect">
              <a:avLst/>
            </a:prstGeom>
            <a:noFill/>
          </p:spPr>
          <p:txBody>
            <a:bodyPr wrap="square">
              <a:noAutofit/>
            </a:bodyPr>
            <a:lstStyle/>
            <a:p>
              <a:pPr lvl="0" algn="ctr">
                <a:lnSpc>
                  <a:spcPct val="125000"/>
                </a:lnSpc>
                <a:buClrTx/>
                <a:buSzTx/>
                <a:buFontTx/>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制定科学的推广计划，结合用户调查和销售数据监测，及时评估效果并调整，最终实现营业额、用户满意度等的增长。</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nvGrpSpPr>
            <p:cNvPr id="225" name="组合 224"/>
            <p:cNvGrpSpPr/>
            <p:nvPr/>
          </p:nvGrpSpPr>
          <p:grpSpPr>
            <a:xfrm>
              <a:off x="13903" y="9067"/>
              <a:ext cx="3743" cy="568"/>
              <a:chOff x="13986" y="9067"/>
              <a:chExt cx="3743" cy="568"/>
            </a:xfrm>
          </p:grpSpPr>
          <p:sp>
            <p:nvSpPr>
              <p:cNvPr id="226" name="圆角矩形 225"/>
              <p:cNvSpPr/>
              <p:nvPr/>
            </p:nvSpPr>
            <p:spPr>
              <a:xfrm>
                <a:off x="14101" y="9163"/>
                <a:ext cx="3514" cy="464"/>
              </a:xfrm>
              <a:prstGeom prst="roundRect">
                <a:avLst/>
              </a:prstGeom>
              <a:solidFill>
                <a:schemeClr val="accent1">
                  <a:lumMod val="20000"/>
                  <a:lumOff val="80000"/>
                  <a:alpha val="7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27" name="文本框 226"/>
              <p:cNvSpPr txBox="1"/>
              <p:nvPr/>
            </p:nvSpPr>
            <p:spPr>
              <a:xfrm>
                <a:off x="13986" y="9067"/>
                <a:ext cx="3743" cy="568"/>
              </a:xfrm>
              <a:prstGeom prst="rect">
                <a:avLst/>
              </a:prstGeom>
              <a:noFill/>
            </p:spPr>
            <p:txBody>
              <a:bodyPr wrap="square">
                <a:spAutoFit/>
              </a:bodyPr>
              <a:lstStyle/>
              <a:p>
                <a:pPr algn="ctr">
                  <a:lnSpc>
                    <a:spcPct val="125000"/>
                  </a:lnSpc>
                </a:pP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有效的市场推广与监测</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sp>
        <p:nvSpPr>
          <p:cNvPr id="233" name="Google Shape;1933;p36"/>
          <p:cNvSpPr/>
          <p:nvPr/>
        </p:nvSpPr>
        <p:spPr>
          <a:xfrm>
            <a:off x="9778365" y="1885315"/>
            <a:ext cx="1670685" cy="17970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1000" b="1" dirty="0">
                <a:solidFill>
                  <a:schemeClr val="accent5"/>
                </a:solidFill>
                <a:cs typeface="微软雅黑" panose="020B0503020204020204" charset="-122"/>
                <a:sym typeface="+mn-ea"/>
              </a:rPr>
              <a:t>痛点一：市场定位不精准</a:t>
            </a:r>
            <a:endParaRPr lang="zh-CN" altLang="en-US" sz="1000" b="1" dirty="0">
              <a:solidFill>
                <a:schemeClr val="accent5"/>
              </a:solidFill>
              <a:cs typeface="微软雅黑" panose="020B0503020204020204" charset="-122"/>
              <a:sym typeface="+mn-ea"/>
            </a:endParaRPr>
          </a:p>
        </p:txBody>
      </p:sp>
      <p:sp>
        <p:nvSpPr>
          <p:cNvPr id="234" name="Google Shape;1933;p36"/>
          <p:cNvSpPr/>
          <p:nvPr/>
        </p:nvSpPr>
        <p:spPr>
          <a:xfrm>
            <a:off x="9674860" y="2319020"/>
            <a:ext cx="1774190" cy="70104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1100" dirty="0">
                <a:solidFill>
                  <a:schemeClr val="tx2"/>
                </a:solidFill>
                <a:cs typeface="微软雅黑" panose="020B0503020204020204" charset="-122"/>
                <a:sym typeface="+mn-ea"/>
              </a:rPr>
              <a:t>初期可能缺乏对目标用户和市场的深入调研，导致产品研发与市场需求脱节，影响后续推广效果。</a:t>
            </a:r>
            <a:endParaRPr lang="zh-CN" altLang="en-US" sz="1100" dirty="0">
              <a:solidFill>
                <a:schemeClr val="tx2"/>
              </a:solidFill>
              <a:cs typeface="微软雅黑" panose="020B0503020204020204" charset="-122"/>
              <a:sym typeface="+mn-ea"/>
            </a:endParaRPr>
          </a:p>
        </p:txBody>
      </p:sp>
      <p:sp>
        <p:nvSpPr>
          <p:cNvPr id="235" name="Google Shape;1933;p36"/>
          <p:cNvSpPr/>
          <p:nvPr/>
        </p:nvSpPr>
        <p:spPr>
          <a:xfrm>
            <a:off x="9778365" y="4531995"/>
            <a:ext cx="1670685" cy="17970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1000" b="1" dirty="0">
                <a:solidFill>
                  <a:schemeClr val="accent1"/>
                </a:solidFill>
                <a:cs typeface="微软雅黑" panose="020B0503020204020204" charset="-122"/>
                <a:sym typeface="+mn-ea"/>
              </a:rPr>
              <a:t>痛点二：推广策略效果不佳</a:t>
            </a:r>
            <a:endParaRPr lang="zh-CN" altLang="en-US" sz="1000" b="1" dirty="0">
              <a:solidFill>
                <a:schemeClr val="accent1"/>
              </a:solidFill>
              <a:cs typeface="微软雅黑" panose="020B0503020204020204" charset="-122"/>
              <a:sym typeface="+mn-ea"/>
            </a:endParaRPr>
          </a:p>
        </p:txBody>
      </p:sp>
      <p:sp>
        <p:nvSpPr>
          <p:cNvPr id="236" name="Google Shape;1933;p36"/>
          <p:cNvSpPr/>
          <p:nvPr/>
        </p:nvSpPr>
        <p:spPr>
          <a:xfrm>
            <a:off x="9674860" y="3580130"/>
            <a:ext cx="1774190" cy="70104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lvl="0" algn="ctr">
              <a:buClr>
                <a:schemeClr val="dk2"/>
              </a:buClr>
              <a:buSzPts val="800"/>
              <a:buFontTx/>
            </a:pPr>
            <a:r>
              <a:rPr lang="zh-CN" altLang="en-US" sz="1100" dirty="0">
                <a:solidFill>
                  <a:schemeClr val="tx2"/>
                </a:solidFill>
                <a:cs typeface="微软雅黑" panose="020B0503020204020204" charset="-122"/>
                <a:sym typeface="+mn-ea"/>
              </a:rPr>
              <a:t>营销推广可能缺乏针对性，用户对新产品的认知度和接受度较低，初期销售表现不理想。</a:t>
            </a:r>
            <a:endParaRPr lang="zh-CN" altLang="en-US" sz="1100" dirty="0">
              <a:solidFill>
                <a:schemeClr val="tx2"/>
              </a:solidFill>
              <a:cs typeface="微软雅黑" panose="020B0503020204020204" charset="-122"/>
              <a:sym typeface="+mn-ea"/>
            </a:endParaRPr>
          </a:p>
        </p:txBody>
      </p:sp>
      <p:grpSp>
        <p:nvGrpSpPr>
          <p:cNvPr id="335" name="组合 334"/>
          <p:cNvGrpSpPr/>
          <p:nvPr/>
        </p:nvGrpSpPr>
        <p:grpSpPr>
          <a:xfrm flipH="1">
            <a:off x="8699500" y="4558665"/>
            <a:ext cx="1317625" cy="757555"/>
            <a:chOff x="5030" y="6194"/>
            <a:chExt cx="2075" cy="1193"/>
          </a:xfrm>
        </p:grpSpPr>
        <p:cxnSp>
          <p:nvCxnSpPr>
            <p:cNvPr id="336" name="直接连接符 335"/>
            <p:cNvCxnSpPr/>
            <p:nvPr/>
          </p:nvCxnSpPr>
          <p:spPr>
            <a:xfrm>
              <a:off x="5030" y="6763"/>
              <a:ext cx="0" cy="624"/>
            </a:xfrm>
            <a:prstGeom prst="line">
              <a:avLst/>
            </a:prstGeom>
            <a:ln w="19050" cap="rnd">
              <a:gradFill>
                <a:gsLst>
                  <a:gs pos="0">
                    <a:schemeClr val="accent1">
                      <a:lumMod val="60000"/>
                      <a:lumOff val="40000"/>
                    </a:schemeClr>
                  </a:gs>
                  <a:gs pos="100000">
                    <a:schemeClr val="accent1">
                      <a:lumMod val="60000"/>
                      <a:lumOff val="40000"/>
                      <a:alpha val="0"/>
                    </a:schemeClr>
                  </a:gs>
                </a:gsLst>
                <a:lin ang="5400000" scaled="1"/>
              </a:gradFill>
              <a:headEnd type="triangle"/>
              <a:tailEnd type="none"/>
            </a:ln>
          </p:spPr>
          <p:style>
            <a:lnRef idx="1">
              <a:srgbClr val="3045A6"/>
            </a:lnRef>
            <a:fillRef idx="0">
              <a:srgbClr val="3045A6"/>
            </a:fillRef>
            <a:effectRef idx="0">
              <a:srgbClr val="3045A6"/>
            </a:effectRef>
            <a:fontRef idx="minor">
              <a:srgbClr val="FFFFFF"/>
            </a:fontRef>
          </p:style>
        </p:cxnSp>
        <p:cxnSp>
          <p:nvCxnSpPr>
            <p:cNvPr id="337" name="直接连接符 336"/>
            <p:cNvCxnSpPr/>
            <p:nvPr/>
          </p:nvCxnSpPr>
          <p:spPr>
            <a:xfrm>
              <a:off x="6085" y="6420"/>
              <a:ext cx="0" cy="624"/>
            </a:xfrm>
            <a:prstGeom prst="line">
              <a:avLst/>
            </a:prstGeom>
            <a:ln w="19050" cap="rnd">
              <a:gradFill>
                <a:gsLst>
                  <a:gs pos="0">
                    <a:schemeClr val="accent1">
                      <a:lumMod val="60000"/>
                      <a:lumOff val="40000"/>
                    </a:schemeClr>
                  </a:gs>
                  <a:gs pos="100000">
                    <a:schemeClr val="accent1">
                      <a:lumMod val="60000"/>
                      <a:lumOff val="40000"/>
                      <a:alpha val="0"/>
                    </a:schemeClr>
                  </a:gs>
                </a:gsLst>
                <a:lin ang="5400000" scaled="1"/>
              </a:gradFill>
              <a:headEnd type="triangle"/>
              <a:tailEnd type="none"/>
            </a:ln>
          </p:spPr>
          <p:style>
            <a:lnRef idx="1">
              <a:srgbClr val="3045A6"/>
            </a:lnRef>
            <a:fillRef idx="0">
              <a:srgbClr val="3045A6"/>
            </a:fillRef>
            <a:effectRef idx="0">
              <a:srgbClr val="3045A6"/>
            </a:effectRef>
            <a:fontRef idx="minor">
              <a:srgbClr val="FFFFFF"/>
            </a:fontRef>
          </p:style>
        </p:cxnSp>
        <p:cxnSp>
          <p:nvCxnSpPr>
            <p:cNvPr id="338" name="直接连接符 337"/>
            <p:cNvCxnSpPr/>
            <p:nvPr/>
          </p:nvCxnSpPr>
          <p:spPr>
            <a:xfrm>
              <a:off x="7105" y="6194"/>
              <a:ext cx="0" cy="624"/>
            </a:xfrm>
            <a:prstGeom prst="line">
              <a:avLst/>
            </a:prstGeom>
            <a:ln w="19050" cap="rnd">
              <a:gradFill>
                <a:gsLst>
                  <a:gs pos="0">
                    <a:schemeClr val="accent1">
                      <a:lumMod val="60000"/>
                      <a:lumOff val="40000"/>
                    </a:schemeClr>
                  </a:gs>
                  <a:gs pos="100000">
                    <a:schemeClr val="accent1">
                      <a:lumMod val="60000"/>
                      <a:lumOff val="40000"/>
                      <a:alpha val="0"/>
                    </a:schemeClr>
                  </a:gs>
                </a:gsLst>
                <a:lin ang="5400000" scaled="1"/>
              </a:gradFill>
              <a:headEnd type="triangle"/>
              <a:tailEnd type="none"/>
            </a:ln>
          </p:spPr>
          <p:style>
            <a:lnRef idx="1">
              <a:srgbClr val="3045A6"/>
            </a:lnRef>
            <a:fillRef idx="0">
              <a:srgbClr val="3045A6"/>
            </a:fillRef>
            <a:effectRef idx="0">
              <a:srgbClr val="3045A6"/>
            </a:effectRef>
            <a:fontRef idx="minor">
              <a:srgbClr val="FFFFFF"/>
            </a:fontRef>
          </p:style>
        </p:cxnSp>
      </p:grpSp>
      <p:grpSp>
        <p:nvGrpSpPr>
          <p:cNvPr id="237" name="组合 236"/>
          <p:cNvGrpSpPr/>
          <p:nvPr/>
        </p:nvGrpSpPr>
        <p:grpSpPr>
          <a:xfrm>
            <a:off x="1653540" y="4660265"/>
            <a:ext cx="1317625" cy="757555"/>
            <a:chOff x="5030" y="6194"/>
            <a:chExt cx="2075" cy="1193"/>
          </a:xfrm>
        </p:grpSpPr>
        <p:cxnSp>
          <p:nvCxnSpPr>
            <p:cNvPr id="238" name="直接连接符 237"/>
            <p:cNvCxnSpPr/>
            <p:nvPr/>
          </p:nvCxnSpPr>
          <p:spPr>
            <a:xfrm>
              <a:off x="5030" y="6763"/>
              <a:ext cx="0" cy="624"/>
            </a:xfrm>
            <a:prstGeom prst="line">
              <a:avLst/>
            </a:prstGeom>
            <a:ln w="19050" cap="rnd">
              <a:gradFill>
                <a:gsLst>
                  <a:gs pos="0">
                    <a:schemeClr val="accent1">
                      <a:lumMod val="60000"/>
                      <a:lumOff val="40000"/>
                    </a:schemeClr>
                  </a:gs>
                  <a:gs pos="100000">
                    <a:schemeClr val="accent1">
                      <a:lumMod val="60000"/>
                      <a:lumOff val="40000"/>
                      <a:alpha val="0"/>
                    </a:schemeClr>
                  </a:gs>
                </a:gsLst>
                <a:lin ang="5400000" scaled="1"/>
              </a:gradFill>
              <a:headEnd type="triangle"/>
              <a:tailEnd type="none"/>
            </a:ln>
          </p:spPr>
          <p:style>
            <a:lnRef idx="1">
              <a:srgbClr val="3045A6"/>
            </a:lnRef>
            <a:fillRef idx="0">
              <a:srgbClr val="3045A6"/>
            </a:fillRef>
            <a:effectRef idx="0">
              <a:srgbClr val="3045A6"/>
            </a:effectRef>
            <a:fontRef idx="minor">
              <a:srgbClr val="FFFFFF"/>
            </a:fontRef>
          </p:style>
        </p:cxnSp>
        <p:cxnSp>
          <p:nvCxnSpPr>
            <p:cNvPr id="239" name="直接连接符 238"/>
            <p:cNvCxnSpPr/>
            <p:nvPr/>
          </p:nvCxnSpPr>
          <p:spPr>
            <a:xfrm>
              <a:off x="6085" y="6420"/>
              <a:ext cx="0" cy="624"/>
            </a:xfrm>
            <a:prstGeom prst="line">
              <a:avLst/>
            </a:prstGeom>
            <a:ln w="19050" cap="rnd">
              <a:gradFill>
                <a:gsLst>
                  <a:gs pos="0">
                    <a:schemeClr val="accent1">
                      <a:lumMod val="60000"/>
                      <a:lumOff val="40000"/>
                    </a:schemeClr>
                  </a:gs>
                  <a:gs pos="100000">
                    <a:schemeClr val="accent1">
                      <a:lumMod val="60000"/>
                      <a:lumOff val="40000"/>
                      <a:alpha val="0"/>
                    </a:schemeClr>
                  </a:gs>
                </a:gsLst>
                <a:lin ang="5400000" scaled="1"/>
              </a:gradFill>
              <a:headEnd type="triangle"/>
              <a:tailEnd type="none"/>
            </a:ln>
          </p:spPr>
          <p:style>
            <a:lnRef idx="1">
              <a:srgbClr val="3045A6"/>
            </a:lnRef>
            <a:fillRef idx="0">
              <a:srgbClr val="3045A6"/>
            </a:fillRef>
            <a:effectRef idx="0">
              <a:srgbClr val="3045A6"/>
            </a:effectRef>
            <a:fontRef idx="minor">
              <a:srgbClr val="FFFFFF"/>
            </a:fontRef>
          </p:style>
        </p:cxnSp>
        <p:cxnSp>
          <p:nvCxnSpPr>
            <p:cNvPr id="240" name="直接连接符 239"/>
            <p:cNvCxnSpPr/>
            <p:nvPr/>
          </p:nvCxnSpPr>
          <p:spPr>
            <a:xfrm>
              <a:off x="7105" y="6194"/>
              <a:ext cx="0" cy="624"/>
            </a:xfrm>
            <a:prstGeom prst="line">
              <a:avLst/>
            </a:prstGeom>
            <a:ln w="19050" cap="rnd">
              <a:gradFill>
                <a:gsLst>
                  <a:gs pos="0">
                    <a:schemeClr val="accent1">
                      <a:lumMod val="60000"/>
                      <a:lumOff val="40000"/>
                    </a:schemeClr>
                  </a:gs>
                  <a:gs pos="100000">
                    <a:schemeClr val="accent1">
                      <a:lumMod val="60000"/>
                      <a:lumOff val="40000"/>
                      <a:alpha val="0"/>
                    </a:schemeClr>
                  </a:gs>
                </a:gsLst>
                <a:lin ang="5400000" scaled="1"/>
              </a:gradFill>
              <a:headEnd type="triangle"/>
              <a:tailEnd type="none"/>
            </a:ln>
          </p:spPr>
          <p:style>
            <a:lnRef idx="1">
              <a:srgbClr val="3045A6"/>
            </a:lnRef>
            <a:fillRef idx="0">
              <a:srgbClr val="3045A6"/>
            </a:fillRef>
            <a:effectRef idx="0">
              <a:srgbClr val="3045A6"/>
            </a:effectRef>
            <a:fontRef idx="minor">
              <a:srgbClr val="FFFFFF"/>
            </a:fontRef>
          </p:style>
        </p:cxnSp>
      </p:grpSp>
      <p:pic>
        <p:nvPicPr>
          <p:cNvPr id="250" name="图片 249" descr="调查"/>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55850" y="3129915"/>
            <a:ext cx="260350" cy="260350"/>
          </a:xfrm>
          <a:prstGeom prst="rect">
            <a:avLst/>
          </a:prstGeom>
        </p:spPr>
      </p:pic>
      <p:pic>
        <p:nvPicPr>
          <p:cNvPr id="251" name="图片 250" descr="意见反馈-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97700" y="3168650"/>
            <a:ext cx="185420" cy="185420"/>
          </a:xfrm>
          <a:prstGeom prst="rect">
            <a:avLst/>
          </a:prstGeom>
        </p:spPr>
      </p:pic>
      <p:pic>
        <p:nvPicPr>
          <p:cNvPr id="252" name="图片 251" descr="自助推广"/>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5130" y="3175635"/>
            <a:ext cx="207010" cy="207010"/>
          </a:xfrm>
          <a:prstGeom prst="rect">
            <a:avLst/>
          </a:prstGeom>
        </p:spPr>
      </p:pic>
      <p:pic>
        <p:nvPicPr>
          <p:cNvPr id="253" name="图片 252" descr="设计研发"/>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05580" y="3168650"/>
            <a:ext cx="192405" cy="192405"/>
          </a:xfrm>
          <a:prstGeom prst="rect">
            <a:avLst/>
          </a:prstGeom>
        </p:spPr>
      </p:pic>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11"/>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fill="hold"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营销路径方法论框架</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任意多边形 1"/>
          <p:cNvSpPr/>
          <p:nvPr/>
        </p:nvSpPr>
        <p:spPr>
          <a:xfrm>
            <a:off x="1614170" y="1601470"/>
            <a:ext cx="9201150" cy="4366895"/>
          </a:xfrm>
          <a:custGeom>
            <a:avLst/>
            <a:gdLst>
              <a:gd name="adj" fmla="val 669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4490" h="6419">
                <a:moveTo>
                  <a:pt x="0" y="430"/>
                </a:moveTo>
                <a:cubicBezTo>
                  <a:pt x="-10" y="197"/>
                  <a:pt x="206" y="5"/>
                  <a:pt x="403" y="1"/>
                </a:cubicBezTo>
                <a:cubicBezTo>
                  <a:pt x="454" y="40"/>
                  <a:pt x="1503" y="465"/>
                  <a:pt x="1562" y="465"/>
                </a:cubicBezTo>
                <a:lnTo>
                  <a:pt x="1764" y="532"/>
                </a:lnTo>
                <a:lnTo>
                  <a:pt x="1969" y="597"/>
                </a:lnTo>
                <a:lnTo>
                  <a:pt x="2177" y="659"/>
                </a:lnTo>
                <a:lnTo>
                  <a:pt x="2388" y="719"/>
                </a:lnTo>
                <a:lnTo>
                  <a:pt x="2603" y="776"/>
                </a:lnTo>
                <a:lnTo>
                  <a:pt x="2821" y="831"/>
                </a:lnTo>
                <a:lnTo>
                  <a:pt x="3041" y="883"/>
                </a:lnTo>
                <a:lnTo>
                  <a:pt x="3265" y="932"/>
                </a:lnTo>
                <a:lnTo>
                  <a:pt x="3492" y="979"/>
                </a:lnTo>
                <a:lnTo>
                  <a:pt x="3721" y="1023"/>
                </a:lnTo>
                <a:lnTo>
                  <a:pt x="3953" y="1064"/>
                </a:lnTo>
                <a:lnTo>
                  <a:pt x="4188" y="1103"/>
                </a:lnTo>
                <a:lnTo>
                  <a:pt x="4425" y="1138"/>
                </a:lnTo>
                <a:lnTo>
                  <a:pt x="4665" y="1171"/>
                </a:lnTo>
                <a:lnTo>
                  <a:pt x="4907" y="1201"/>
                </a:lnTo>
                <a:lnTo>
                  <a:pt x="5151" y="1228"/>
                </a:lnTo>
                <a:lnTo>
                  <a:pt x="5398" y="1252"/>
                </a:lnTo>
                <a:lnTo>
                  <a:pt x="5647" y="1272"/>
                </a:lnTo>
                <a:lnTo>
                  <a:pt x="5898" y="1290"/>
                </a:lnTo>
                <a:lnTo>
                  <a:pt x="6151" y="1305"/>
                </a:lnTo>
                <a:lnTo>
                  <a:pt x="6405" y="1316"/>
                </a:lnTo>
                <a:lnTo>
                  <a:pt x="6662" y="1324"/>
                </a:lnTo>
                <a:lnTo>
                  <a:pt x="6920" y="1329"/>
                </a:lnTo>
                <a:lnTo>
                  <a:pt x="7180" y="1331"/>
                </a:lnTo>
                <a:lnTo>
                  <a:pt x="7440" y="1329"/>
                </a:lnTo>
                <a:lnTo>
                  <a:pt x="7698" y="1324"/>
                </a:lnTo>
                <a:lnTo>
                  <a:pt x="7955" y="1316"/>
                </a:lnTo>
                <a:lnTo>
                  <a:pt x="8209" y="1305"/>
                </a:lnTo>
                <a:lnTo>
                  <a:pt x="8462" y="1290"/>
                </a:lnTo>
                <a:lnTo>
                  <a:pt x="8713" y="1272"/>
                </a:lnTo>
                <a:lnTo>
                  <a:pt x="8962" y="1252"/>
                </a:lnTo>
                <a:lnTo>
                  <a:pt x="9209" y="1228"/>
                </a:lnTo>
                <a:lnTo>
                  <a:pt x="9453" y="1201"/>
                </a:lnTo>
                <a:lnTo>
                  <a:pt x="9695" y="1171"/>
                </a:lnTo>
                <a:lnTo>
                  <a:pt x="9935" y="1138"/>
                </a:lnTo>
                <a:lnTo>
                  <a:pt x="10172" y="1103"/>
                </a:lnTo>
                <a:lnTo>
                  <a:pt x="10407" y="1064"/>
                </a:lnTo>
                <a:lnTo>
                  <a:pt x="10639" y="1023"/>
                </a:lnTo>
                <a:lnTo>
                  <a:pt x="10868" y="979"/>
                </a:lnTo>
                <a:lnTo>
                  <a:pt x="11095" y="932"/>
                </a:lnTo>
                <a:lnTo>
                  <a:pt x="11319" y="883"/>
                </a:lnTo>
                <a:lnTo>
                  <a:pt x="11539" y="831"/>
                </a:lnTo>
                <a:lnTo>
                  <a:pt x="11757" y="776"/>
                </a:lnTo>
                <a:lnTo>
                  <a:pt x="11972" y="719"/>
                </a:lnTo>
                <a:lnTo>
                  <a:pt x="12183" y="659"/>
                </a:lnTo>
                <a:lnTo>
                  <a:pt x="12391" y="597"/>
                </a:lnTo>
                <a:lnTo>
                  <a:pt x="12596" y="532"/>
                </a:lnTo>
                <a:lnTo>
                  <a:pt x="12798" y="465"/>
                </a:lnTo>
                <a:cubicBezTo>
                  <a:pt x="13222" y="335"/>
                  <a:pt x="14097" y="-57"/>
                  <a:pt x="13958" y="0"/>
                </a:cubicBezTo>
                <a:lnTo>
                  <a:pt x="14060" y="0"/>
                </a:lnTo>
                <a:cubicBezTo>
                  <a:pt x="14302" y="-7"/>
                  <a:pt x="14496" y="213"/>
                  <a:pt x="14490" y="430"/>
                </a:cubicBezTo>
                <a:lnTo>
                  <a:pt x="14490" y="5983"/>
                </a:lnTo>
                <a:cubicBezTo>
                  <a:pt x="14497" y="6225"/>
                  <a:pt x="14277" y="6419"/>
                  <a:pt x="14060" y="6413"/>
                </a:cubicBezTo>
                <a:lnTo>
                  <a:pt x="430" y="6413"/>
                </a:lnTo>
                <a:cubicBezTo>
                  <a:pt x="188" y="6420"/>
                  <a:pt x="-6" y="6200"/>
                  <a:pt x="0" y="5983"/>
                </a:cubicBezTo>
                <a:lnTo>
                  <a:pt x="0" y="430"/>
                </a:lnTo>
                <a:close/>
              </a:path>
            </a:pathLst>
          </a:custGeom>
          <a:solidFill>
            <a:schemeClr val="accent1">
              <a:lumMod val="20000"/>
              <a:lumOff val="80000"/>
              <a:alpha val="20000"/>
            </a:schemeClr>
          </a:solidFill>
          <a:ln>
            <a:solidFill>
              <a:schemeClr val="accent1">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任意多边形 3"/>
          <p:cNvSpPr/>
          <p:nvPr/>
        </p:nvSpPr>
        <p:spPr>
          <a:xfrm>
            <a:off x="1031875" y="2230120"/>
            <a:ext cx="582295" cy="3060065"/>
          </a:xfrm>
          <a:custGeom>
            <a:avLst/>
            <a:gdLst>
              <a:gd name="adj" fmla="val 38575"/>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97" h="4820">
                <a:moveTo>
                  <a:pt x="0" y="780"/>
                </a:moveTo>
                <a:cubicBezTo>
                  <a:pt x="-13" y="342"/>
                  <a:pt x="387" y="-11"/>
                  <a:pt x="780" y="0"/>
                </a:cubicBezTo>
                <a:lnTo>
                  <a:pt x="897" y="0"/>
                </a:lnTo>
                <a:lnTo>
                  <a:pt x="897" y="4819"/>
                </a:lnTo>
                <a:lnTo>
                  <a:pt x="780" y="4819"/>
                </a:lnTo>
                <a:cubicBezTo>
                  <a:pt x="342" y="4832"/>
                  <a:pt x="-11" y="4432"/>
                  <a:pt x="0" y="4039"/>
                </a:cubicBezTo>
                <a:lnTo>
                  <a:pt x="0" y="780"/>
                </a:lnTo>
                <a:close/>
              </a:path>
            </a:pathLst>
          </a:custGeom>
          <a:gradFill>
            <a:gsLst>
              <a:gs pos="0">
                <a:schemeClr val="accent1"/>
              </a:gs>
              <a:gs pos="100000">
                <a:schemeClr val="accent1">
                  <a:lumMod val="60000"/>
                  <a:lumOff val="4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r>
              <a:rPr lang="zh-CN" altLang="en-US" sz="2300" b="1">
                <a:latin typeface="微软雅黑" panose="020B0503020204020204" charset="-122"/>
                <a:ea typeface="微软雅黑" panose="020B0503020204020204" charset="-122"/>
                <a:cs typeface="微软雅黑" panose="020B0503020204020204" charset="-122"/>
              </a:rPr>
              <a:t>流量</a:t>
            </a:r>
            <a:endParaRPr lang="zh-CN" altLang="en-US" sz="2300" b="1">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flipH="1">
            <a:off x="10815320" y="2230120"/>
            <a:ext cx="569595" cy="3060065"/>
          </a:xfrm>
          <a:custGeom>
            <a:avLst/>
            <a:gdLst>
              <a:gd name="adj" fmla="val 38575"/>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97" h="4820">
                <a:moveTo>
                  <a:pt x="0" y="780"/>
                </a:moveTo>
                <a:cubicBezTo>
                  <a:pt x="-13" y="342"/>
                  <a:pt x="387" y="-11"/>
                  <a:pt x="780" y="0"/>
                </a:cubicBezTo>
                <a:lnTo>
                  <a:pt x="897" y="0"/>
                </a:lnTo>
                <a:lnTo>
                  <a:pt x="897" y="4819"/>
                </a:lnTo>
                <a:lnTo>
                  <a:pt x="780" y="4819"/>
                </a:lnTo>
                <a:cubicBezTo>
                  <a:pt x="342" y="4832"/>
                  <a:pt x="-11" y="4432"/>
                  <a:pt x="0" y="4039"/>
                </a:cubicBezTo>
                <a:lnTo>
                  <a:pt x="0" y="780"/>
                </a:lnTo>
                <a:close/>
              </a:path>
            </a:pathLst>
          </a:custGeom>
          <a:gradFill>
            <a:gsLst>
              <a:gs pos="0">
                <a:schemeClr val="accent1"/>
              </a:gs>
              <a:gs pos="100000">
                <a:schemeClr val="accent1">
                  <a:lumMod val="60000"/>
                  <a:lumOff val="4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2300" b="1">
                <a:latin typeface="微软雅黑" panose="020B0503020204020204" charset="-122"/>
                <a:ea typeface="微软雅黑" panose="020B0503020204020204" charset="-122"/>
                <a:cs typeface="微软雅黑" panose="020B0503020204020204" charset="-122"/>
                <a:sym typeface="+mn-ea"/>
              </a:rPr>
              <a:t>生意</a:t>
            </a:r>
            <a:endParaRPr lang="zh-CN" altLang="en-US" sz="2300" b="1">
              <a:latin typeface="微软雅黑" panose="020B0503020204020204" charset="-122"/>
              <a:ea typeface="微软雅黑" panose="020B0503020204020204" charset="-122"/>
              <a:cs typeface="微软雅黑" panose="020B0503020204020204" charset="-122"/>
              <a:sym typeface="+mn-ea"/>
            </a:endParaRPr>
          </a:p>
        </p:txBody>
      </p:sp>
      <p:sp>
        <p:nvSpPr>
          <p:cNvPr id="8" name="任意多边形 7"/>
          <p:cNvSpPr/>
          <p:nvPr/>
        </p:nvSpPr>
        <p:spPr>
          <a:xfrm>
            <a:off x="2242531" y="1495425"/>
            <a:ext cx="7903153" cy="79629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2446" h="1254">
                <a:moveTo>
                  <a:pt x="12446" y="0"/>
                </a:moveTo>
                <a:cubicBezTo>
                  <a:pt x="12244" y="125"/>
                  <a:pt x="10851" y="643"/>
                  <a:pt x="10552" y="693"/>
                </a:cubicBezTo>
                <a:lnTo>
                  <a:pt x="10347" y="748"/>
                </a:lnTo>
                <a:lnTo>
                  <a:pt x="10138" y="801"/>
                </a:lnTo>
                <a:lnTo>
                  <a:pt x="9926" y="851"/>
                </a:lnTo>
                <a:lnTo>
                  <a:pt x="9712" y="898"/>
                </a:lnTo>
                <a:lnTo>
                  <a:pt x="9495" y="943"/>
                </a:lnTo>
                <a:lnTo>
                  <a:pt x="9275" y="984"/>
                </a:lnTo>
                <a:lnTo>
                  <a:pt x="9053" y="1023"/>
                </a:lnTo>
                <a:lnTo>
                  <a:pt x="8829" y="1059"/>
                </a:lnTo>
                <a:lnTo>
                  <a:pt x="8602" y="1092"/>
                </a:lnTo>
                <a:lnTo>
                  <a:pt x="8373" y="1123"/>
                </a:lnTo>
                <a:lnTo>
                  <a:pt x="8142" y="1150"/>
                </a:lnTo>
                <a:lnTo>
                  <a:pt x="7908" y="1174"/>
                </a:lnTo>
                <a:lnTo>
                  <a:pt x="7673" y="1195"/>
                </a:lnTo>
                <a:lnTo>
                  <a:pt x="7436" y="1213"/>
                </a:lnTo>
                <a:lnTo>
                  <a:pt x="7197" y="1227"/>
                </a:lnTo>
                <a:lnTo>
                  <a:pt x="6956" y="1239"/>
                </a:lnTo>
                <a:lnTo>
                  <a:pt x="6713" y="1247"/>
                </a:lnTo>
                <a:lnTo>
                  <a:pt x="6469" y="1252"/>
                </a:lnTo>
                <a:lnTo>
                  <a:pt x="6223" y="1254"/>
                </a:lnTo>
                <a:lnTo>
                  <a:pt x="5977" y="1252"/>
                </a:lnTo>
                <a:lnTo>
                  <a:pt x="5733" y="1247"/>
                </a:lnTo>
                <a:lnTo>
                  <a:pt x="5490" y="1239"/>
                </a:lnTo>
                <a:lnTo>
                  <a:pt x="5249" y="1227"/>
                </a:lnTo>
                <a:lnTo>
                  <a:pt x="5010" y="1213"/>
                </a:lnTo>
                <a:lnTo>
                  <a:pt x="4773" y="1195"/>
                </a:lnTo>
                <a:lnTo>
                  <a:pt x="4538" y="1174"/>
                </a:lnTo>
                <a:lnTo>
                  <a:pt x="4304" y="1150"/>
                </a:lnTo>
                <a:lnTo>
                  <a:pt x="4073" y="1123"/>
                </a:lnTo>
                <a:lnTo>
                  <a:pt x="3844" y="1092"/>
                </a:lnTo>
                <a:lnTo>
                  <a:pt x="3617" y="1059"/>
                </a:lnTo>
                <a:lnTo>
                  <a:pt x="3393" y="1023"/>
                </a:lnTo>
                <a:lnTo>
                  <a:pt x="3171" y="984"/>
                </a:lnTo>
                <a:lnTo>
                  <a:pt x="2951" y="943"/>
                </a:lnTo>
                <a:lnTo>
                  <a:pt x="2734" y="898"/>
                </a:lnTo>
                <a:lnTo>
                  <a:pt x="2520" y="851"/>
                </a:lnTo>
                <a:lnTo>
                  <a:pt x="2308" y="801"/>
                </a:lnTo>
                <a:lnTo>
                  <a:pt x="2099" y="748"/>
                </a:lnTo>
                <a:lnTo>
                  <a:pt x="1893" y="693"/>
                </a:lnTo>
                <a:cubicBezTo>
                  <a:pt x="1226" y="541"/>
                  <a:pt x="-12" y="10"/>
                  <a:pt x="0" y="0"/>
                </a:cubicBezTo>
                <a:lnTo>
                  <a:pt x="12446" y="0"/>
                </a:lnTo>
                <a:close/>
              </a:path>
            </a:pathLst>
          </a:custGeom>
          <a:noFill/>
          <a:ln>
            <a:gradFill>
              <a:gsLst>
                <a:gs pos="0">
                  <a:schemeClr val="accent1">
                    <a:lumMod val="60000"/>
                    <a:lumOff val="40000"/>
                    <a:alpha val="0"/>
                  </a:schemeClr>
                </a:gs>
                <a:gs pos="100000">
                  <a:schemeClr val="accent1">
                    <a:lumMod val="60000"/>
                    <a:lumOff val="40000"/>
                  </a:schemeClr>
                </a:gs>
              </a:gsLst>
              <a:lin ang="5400000" scaled="1"/>
            </a:gra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3" name="组合 12"/>
          <p:cNvGrpSpPr/>
          <p:nvPr/>
        </p:nvGrpSpPr>
        <p:grpSpPr>
          <a:xfrm>
            <a:off x="2923858" y="2698750"/>
            <a:ext cx="1031240" cy="1031240"/>
            <a:chOff x="4633" y="4642"/>
            <a:chExt cx="1624" cy="1624"/>
          </a:xfrm>
        </p:grpSpPr>
        <p:sp>
          <p:nvSpPr>
            <p:cNvPr id="11" name="椭圆 10"/>
            <p:cNvSpPr/>
            <p:nvPr/>
          </p:nvSpPr>
          <p:spPr>
            <a:xfrm>
              <a:off x="4691" y="4700"/>
              <a:ext cx="1508" cy="1508"/>
            </a:xfrm>
            <a:prstGeom prst="ellipse">
              <a:avLst/>
            </a:prstGeom>
            <a:gradFill>
              <a:gsLst>
                <a:gs pos="0">
                  <a:schemeClr val="accent1">
                    <a:lumMod val="60000"/>
                    <a:lumOff val="40000"/>
                  </a:schemeClr>
                </a:gs>
                <a:gs pos="100000">
                  <a:schemeClr val="accent1"/>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latin typeface="微软雅黑" panose="020B0503020204020204" charset="-122"/>
                  <a:ea typeface="微软雅黑" panose="020B0503020204020204" charset="-122"/>
                  <a:cs typeface="微软雅黑" panose="020B0503020204020204" charset="-122"/>
                </a:rPr>
                <a:t>扩圈</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2" name="椭圆 11"/>
            <p:cNvSpPr/>
            <p:nvPr/>
          </p:nvSpPr>
          <p:spPr>
            <a:xfrm>
              <a:off x="4633" y="4642"/>
              <a:ext cx="1624" cy="1624"/>
            </a:xfrm>
            <a:prstGeom prst="ellipse">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14" name="组合 13"/>
          <p:cNvGrpSpPr/>
          <p:nvPr/>
        </p:nvGrpSpPr>
        <p:grpSpPr>
          <a:xfrm>
            <a:off x="5681028" y="2661920"/>
            <a:ext cx="1031240" cy="1031240"/>
            <a:chOff x="4633" y="4642"/>
            <a:chExt cx="1624" cy="1624"/>
          </a:xfrm>
        </p:grpSpPr>
        <p:sp>
          <p:nvSpPr>
            <p:cNvPr id="15" name="椭圆 14"/>
            <p:cNvSpPr/>
            <p:nvPr/>
          </p:nvSpPr>
          <p:spPr>
            <a:xfrm>
              <a:off x="4691" y="4700"/>
              <a:ext cx="1508" cy="1508"/>
            </a:xfrm>
            <a:prstGeom prst="ellipse">
              <a:avLst/>
            </a:prstGeom>
            <a:gradFill>
              <a:gsLst>
                <a:gs pos="0">
                  <a:schemeClr val="accent5">
                    <a:lumMod val="60000"/>
                    <a:lumOff val="40000"/>
                  </a:schemeClr>
                </a:gs>
                <a:gs pos="100000">
                  <a:schemeClr val="accent5"/>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cs typeface="微软雅黑" panose="020B0503020204020204" charset="-122"/>
                </a:rPr>
                <a:t>连接</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18" name="椭圆 17"/>
            <p:cNvSpPr/>
            <p:nvPr/>
          </p:nvSpPr>
          <p:spPr>
            <a:xfrm>
              <a:off x="4633" y="4642"/>
              <a:ext cx="1624" cy="1624"/>
            </a:xfrm>
            <a:prstGeom prst="ellipse">
              <a:avLst/>
            </a:prstGeom>
            <a:noFill/>
            <a:ln>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19" name="组合 18"/>
          <p:cNvGrpSpPr/>
          <p:nvPr/>
        </p:nvGrpSpPr>
        <p:grpSpPr>
          <a:xfrm>
            <a:off x="8466773" y="2698750"/>
            <a:ext cx="1031240" cy="1031240"/>
            <a:chOff x="4633" y="4642"/>
            <a:chExt cx="1624" cy="1624"/>
          </a:xfrm>
        </p:grpSpPr>
        <p:sp>
          <p:nvSpPr>
            <p:cNvPr id="20" name="椭圆 19"/>
            <p:cNvSpPr/>
            <p:nvPr/>
          </p:nvSpPr>
          <p:spPr>
            <a:xfrm>
              <a:off x="4691" y="4700"/>
              <a:ext cx="1508" cy="1508"/>
            </a:xfrm>
            <a:prstGeom prst="ellipse">
              <a:avLst/>
            </a:prstGeom>
            <a:gradFill>
              <a:gsLst>
                <a:gs pos="0">
                  <a:schemeClr val="accent1">
                    <a:lumMod val="60000"/>
                    <a:lumOff val="40000"/>
                  </a:schemeClr>
                </a:gs>
                <a:gs pos="100000">
                  <a:schemeClr val="accent1"/>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latin typeface="微软雅黑" panose="020B0503020204020204" charset="-122"/>
                  <a:ea typeface="微软雅黑" panose="020B0503020204020204" charset="-122"/>
                  <a:cs typeface="微软雅黑" panose="020B0503020204020204" charset="-122"/>
                </a:rPr>
                <a:t>转化复购</a:t>
              </a:r>
              <a:endParaRPr lang="zh-CN" altLang="en-US">
                <a:latin typeface="微软雅黑" panose="020B0503020204020204" charset="-122"/>
                <a:ea typeface="微软雅黑" panose="020B0503020204020204" charset="-122"/>
                <a:cs typeface="微软雅黑" panose="020B0503020204020204" charset="-122"/>
              </a:endParaRPr>
            </a:p>
          </p:txBody>
        </p:sp>
        <p:sp>
          <p:nvSpPr>
            <p:cNvPr id="21" name="椭圆 20"/>
            <p:cNvSpPr/>
            <p:nvPr/>
          </p:nvSpPr>
          <p:spPr>
            <a:xfrm>
              <a:off x="4633" y="4642"/>
              <a:ext cx="1624" cy="1624"/>
            </a:xfrm>
            <a:prstGeom prst="ellipse">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248" name="紫荆的职场Point99-4"/>
          <p:cNvSpPr/>
          <p:nvPr/>
        </p:nvSpPr>
        <p:spPr>
          <a:xfrm rot="5400000" flipH="1">
            <a:off x="4575175" y="2813050"/>
            <a:ext cx="647700" cy="7334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lumMod val="60000"/>
                  <a:lumOff val="40000"/>
                  <a:alpha val="0"/>
                </a:schemeClr>
              </a:gs>
              <a:gs pos="100000">
                <a:schemeClr val="accent5">
                  <a:lumMod val="60000"/>
                  <a:lumOff val="40000"/>
                </a:schemeClr>
              </a:gs>
            </a:gsLst>
            <a:lin ang="16200000" scaled="1"/>
            <a:tileRect/>
          </a:gradFill>
          <a:ln w="6350" cap="flat" cmpd="sng" algn="ctr">
            <a:noFill/>
            <a:prstDash val="lgDash"/>
            <a:miter lim="800000"/>
          </a:ln>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 name="紫荆的职场Point99-4"/>
          <p:cNvSpPr/>
          <p:nvPr/>
        </p:nvSpPr>
        <p:spPr>
          <a:xfrm rot="5400000" flipH="1">
            <a:off x="7241540" y="2847340"/>
            <a:ext cx="647700" cy="7334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lumMod val="60000"/>
                  <a:lumOff val="40000"/>
                  <a:alpha val="0"/>
                </a:schemeClr>
              </a:gs>
              <a:gs pos="100000">
                <a:schemeClr val="accent5">
                  <a:lumMod val="60000"/>
                  <a:lumOff val="40000"/>
                </a:schemeClr>
              </a:gs>
            </a:gsLst>
            <a:lin ang="16200000" scaled="1"/>
            <a:tileRect/>
          </a:gradFill>
          <a:ln w="6350" cap="flat" cmpd="sng" algn="ctr">
            <a:noFill/>
            <a:prstDash val="lgDash"/>
            <a:miter lim="800000"/>
          </a:ln>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26" name="组合 25"/>
          <p:cNvGrpSpPr/>
          <p:nvPr/>
        </p:nvGrpSpPr>
        <p:grpSpPr>
          <a:xfrm>
            <a:off x="2768283" y="4082415"/>
            <a:ext cx="1342390" cy="339725"/>
            <a:chOff x="4288" y="6821"/>
            <a:chExt cx="2114" cy="535"/>
          </a:xfrm>
        </p:grpSpPr>
        <p:sp>
          <p:nvSpPr>
            <p:cNvPr id="22" name="圆角矩形 21"/>
            <p:cNvSpPr/>
            <p:nvPr/>
          </p:nvSpPr>
          <p:spPr>
            <a:xfrm>
              <a:off x="4288" y="6821"/>
              <a:ext cx="2114" cy="535"/>
            </a:xfrm>
            <a:prstGeom prst="roundRect">
              <a:avLst>
                <a:gd name="adj" fmla="val 50000"/>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 name="椭圆 22"/>
            <p:cNvSpPr/>
            <p:nvPr/>
          </p:nvSpPr>
          <p:spPr>
            <a:xfrm>
              <a:off x="4348" y="6884"/>
              <a:ext cx="409" cy="409"/>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b="1">
                  <a:latin typeface="微软雅黑" panose="020B0503020204020204" charset="-122"/>
                  <a:ea typeface="微软雅黑" panose="020B0503020204020204" charset="-122"/>
                  <a:cs typeface="微软雅黑" panose="020B0503020204020204" charset="-122"/>
                </a:rPr>
                <a:t>1</a:t>
              </a:r>
              <a:endParaRPr lang="en-US" altLang="zh-CN" sz="1200" b="1">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4805" y="6837"/>
              <a:ext cx="1557" cy="483"/>
            </a:xfrm>
            <a:prstGeom prst="rect">
              <a:avLst/>
            </a:prstGeom>
            <a:noFill/>
          </p:spPr>
          <p:txBody>
            <a:bodyPr wrap="square" rtlCol="0">
              <a:spAutoFit/>
            </a:bodyPr>
            <a:p>
              <a:r>
                <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人</a:t>
              </a:r>
              <a:r>
                <a:rPr lang="en-US" altLang="zh-CN"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流量</a:t>
              </a:r>
              <a:endPar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27" name="文本框 26"/>
          <p:cNvSpPr txBox="1"/>
          <p:nvPr/>
        </p:nvSpPr>
        <p:spPr>
          <a:xfrm>
            <a:off x="2621598" y="4490085"/>
            <a:ext cx="1635760" cy="460375"/>
          </a:xfrm>
          <a:prstGeom prst="rect">
            <a:avLst/>
          </a:prstGeom>
          <a:noFill/>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潜客圈定，</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达人矩阵，精准投放，流量裂变。</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2695575" y="6338570"/>
            <a:ext cx="1487805" cy="306705"/>
          </a:xfrm>
          <a:prstGeom prst="rect">
            <a:avLst/>
          </a:prstGeom>
          <a:noFill/>
        </p:spPr>
        <p:txBody>
          <a:bodyPr wrap="square" rtlCol="0">
            <a:spAutoFit/>
          </a:bodyPr>
          <a:p>
            <a:pPr algn="ct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浅层用户触达</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6" name="紫荆的职场Point99-4"/>
          <p:cNvSpPr/>
          <p:nvPr/>
        </p:nvSpPr>
        <p:spPr>
          <a:xfrm rot="10800000" flipH="1">
            <a:off x="3260090" y="5850255"/>
            <a:ext cx="358775" cy="40703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w="6350" cap="flat" cmpd="sng" algn="ctr">
            <a:noFill/>
            <a:prstDash val="lgDash"/>
            <a:miter lim="800000"/>
          </a:ln>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上下箭头 36"/>
          <p:cNvSpPr/>
          <p:nvPr/>
        </p:nvSpPr>
        <p:spPr>
          <a:xfrm>
            <a:off x="3374390" y="3785870"/>
            <a:ext cx="130175" cy="238125"/>
          </a:xfrm>
          <a:prstGeom prst="upDownArrow">
            <a:avLst/>
          </a:prstGeom>
          <a:solidFill>
            <a:schemeClr val="accent1">
              <a:lumMod val="60000"/>
              <a:lumOff val="40000"/>
            </a:schemeClr>
          </a:solidFill>
          <a:ln w="6350" cap="flat" cmpd="sng" algn="ctr">
            <a:noFill/>
            <a:prstDash val="lgDash"/>
            <a:miter lim="800000"/>
          </a:ln>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38" name="组合 37"/>
          <p:cNvGrpSpPr/>
          <p:nvPr/>
        </p:nvGrpSpPr>
        <p:grpSpPr>
          <a:xfrm>
            <a:off x="5525453" y="4082415"/>
            <a:ext cx="1342390" cy="339725"/>
            <a:chOff x="4288" y="6821"/>
            <a:chExt cx="2114" cy="535"/>
          </a:xfrm>
        </p:grpSpPr>
        <p:sp>
          <p:nvSpPr>
            <p:cNvPr id="39" name="圆角矩形 38"/>
            <p:cNvSpPr/>
            <p:nvPr/>
          </p:nvSpPr>
          <p:spPr>
            <a:xfrm>
              <a:off x="4288" y="6821"/>
              <a:ext cx="2114" cy="535"/>
            </a:xfrm>
            <a:prstGeom prst="roundRect">
              <a:avLst>
                <a:gd name="adj" fmla="val 50000"/>
              </a:avLst>
            </a:prstGeom>
            <a:noFill/>
            <a:ln>
              <a:solidFill>
                <a:schemeClr val="accent5">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0" name="椭圆 39"/>
            <p:cNvSpPr/>
            <p:nvPr/>
          </p:nvSpPr>
          <p:spPr>
            <a:xfrm>
              <a:off x="4348" y="6884"/>
              <a:ext cx="409" cy="409"/>
            </a:xfrm>
            <a:prstGeom prst="ellipse">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b="1">
                  <a:latin typeface="微软雅黑" panose="020B0503020204020204" charset="-122"/>
                  <a:ea typeface="微软雅黑" panose="020B0503020204020204" charset="-122"/>
                  <a:cs typeface="微软雅黑" panose="020B0503020204020204" charset="-122"/>
                </a:rPr>
                <a:t>2</a:t>
              </a:r>
              <a:endParaRPr lang="en-US" altLang="zh-CN" sz="1200" b="1">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4845" y="6821"/>
              <a:ext cx="1557" cy="483"/>
            </a:xfrm>
            <a:prstGeom prst="rect">
              <a:avLst/>
            </a:prstGeom>
            <a:noFill/>
          </p:spPr>
          <p:txBody>
            <a:bodyPr wrap="square" rtlCol="0">
              <a:spAutoFit/>
            </a:bodyPr>
            <a:p>
              <a:r>
                <a:rPr lang="zh-CN" altLang="en-US" sz="14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人</a:t>
              </a:r>
              <a:r>
                <a:rPr lang="en-US" altLang="zh-CN" sz="14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4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内容</a:t>
              </a:r>
              <a:endParaRPr lang="zh-CN" altLang="en-US" sz="14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42" name="文本框 41"/>
          <p:cNvSpPr txBox="1"/>
          <p:nvPr/>
        </p:nvSpPr>
        <p:spPr>
          <a:xfrm>
            <a:off x="5335270" y="4490085"/>
            <a:ext cx="1754505" cy="460375"/>
          </a:xfrm>
          <a:prstGeom prst="rect">
            <a:avLst/>
          </a:prstGeom>
          <a:noFill/>
        </p:spPr>
        <p:txBody>
          <a:bodyPr wrap="square" rtlCol="0">
            <a:spAutoFit/>
          </a:bodyPr>
          <a:p>
            <a:pPr algn="ctr"/>
            <a:r>
              <a:rPr lang="en-US" altLang="zh-CN" sz="1200">
                <a:solidFill>
                  <a:schemeClr val="tx2"/>
                </a:solidFill>
                <a:latin typeface="微软雅黑" panose="020B0503020204020204" charset="-122"/>
                <a:ea typeface="微软雅黑" panose="020B0503020204020204" charset="-122"/>
                <a:cs typeface="微软雅黑" panose="020B0503020204020204" charset="-122"/>
              </a:rPr>
              <a:t>IP</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场景化叙事，短内容</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长内容，</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UGC</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建设</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5452745" y="6353810"/>
            <a:ext cx="1487805" cy="306705"/>
          </a:xfrm>
          <a:prstGeom prst="rect">
            <a:avLst/>
          </a:prstGeom>
          <a:noFill/>
        </p:spPr>
        <p:txBody>
          <a:bodyPr wrap="square" rtlCol="0">
            <a:spAutoFit/>
          </a:bodyPr>
          <a:p>
            <a:pPr algn="ctr"/>
            <a:r>
              <a:rPr lang="zh-CN" sz="1400" b="1">
                <a:solidFill>
                  <a:schemeClr val="accent5"/>
                </a:solidFill>
                <a:latin typeface="微软雅黑" panose="020B0503020204020204" charset="-122"/>
                <a:ea typeface="微软雅黑" panose="020B0503020204020204" charset="-122"/>
                <a:cs typeface="微软雅黑" panose="020B0503020204020204" charset="-122"/>
              </a:rPr>
              <a:t>深度用户交互</a:t>
            </a:r>
            <a:endParaRPr lang="zh-CN" sz="14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5" name="上下箭头 44"/>
          <p:cNvSpPr/>
          <p:nvPr/>
        </p:nvSpPr>
        <p:spPr>
          <a:xfrm>
            <a:off x="6131560" y="3785870"/>
            <a:ext cx="130175" cy="238125"/>
          </a:xfrm>
          <a:prstGeom prst="upDownArrow">
            <a:avLst/>
          </a:prstGeom>
          <a:solidFill>
            <a:schemeClr val="accent5">
              <a:lumMod val="60000"/>
              <a:lumOff val="40000"/>
            </a:schemeClr>
          </a:solidFill>
          <a:ln w="6350" cap="flat" cmpd="sng" algn="ctr">
            <a:noFill/>
            <a:prstDash val="lgDash"/>
            <a:miter lim="800000"/>
          </a:ln>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54" name="组合 53"/>
          <p:cNvGrpSpPr/>
          <p:nvPr/>
        </p:nvGrpSpPr>
        <p:grpSpPr>
          <a:xfrm>
            <a:off x="8311198" y="4067175"/>
            <a:ext cx="1342390" cy="339725"/>
            <a:chOff x="4288" y="6821"/>
            <a:chExt cx="2114" cy="535"/>
          </a:xfrm>
        </p:grpSpPr>
        <p:sp>
          <p:nvSpPr>
            <p:cNvPr id="55" name="圆角矩形 54"/>
            <p:cNvSpPr/>
            <p:nvPr/>
          </p:nvSpPr>
          <p:spPr>
            <a:xfrm>
              <a:off x="4288" y="6821"/>
              <a:ext cx="2114" cy="535"/>
            </a:xfrm>
            <a:prstGeom prst="roundRect">
              <a:avLst>
                <a:gd name="adj" fmla="val 50000"/>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6" name="椭圆 55"/>
            <p:cNvSpPr/>
            <p:nvPr/>
          </p:nvSpPr>
          <p:spPr>
            <a:xfrm>
              <a:off x="4348" y="6884"/>
              <a:ext cx="409" cy="409"/>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b="1">
                  <a:latin typeface="微软雅黑" panose="020B0503020204020204" charset="-122"/>
                  <a:ea typeface="微软雅黑" panose="020B0503020204020204" charset="-122"/>
                  <a:cs typeface="微软雅黑" panose="020B0503020204020204" charset="-122"/>
                </a:rPr>
                <a:t>3</a:t>
              </a:r>
              <a:endParaRPr lang="en-US" altLang="zh-CN" sz="1200" b="1">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4729" y="6853"/>
              <a:ext cx="1557" cy="483"/>
            </a:xfrm>
            <a:prstGeom prst="rect">
              <a:avLst/>
            </a:prstGeom>
            <a:noFill/>
          </p:spPr>
          <p:txBody>
            <a:bodyPr wrap="square" rtlCol="0">
              <a:spAutoFit/>
            </a:bodyPr>
            <a:p>
              <a:pPr algn="ctr"/>
              <a:r>
                <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人</a:t>
              </a:r>
              <a:r>
                <a:rPr lang="en-US" altLang="zh-CN"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经营</a:t>
              </a:r>
              <a:endPar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58" name="文本框 57"/>
          <p:cNvSpPr txBox="1"/>
          <p:nvPr/>
        </p:nvSpPr>
        <p:spPr>
          <a:xfrm>
            <a:off x="8164513" y="4474845"/>
            <a:ext cx="1635760" cy="460375"/>
          </a:xfrm>
          <a:prstGeom prst="rect">
            <a:avLst/>
          </a:prstGeom>
          <a:noFill/>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由人背书，引到销售将人汇聚，长效经营</a:t>
            </a:r>
            <a:endParaRPr lang="zh-CN" alt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nvSpPr>
        <p:spPr>
          <a:xfrm>
            <a:off x="8238490" y="6338570"/>
            <a:ext cx="1487805" cy="306705"/>
          </a:xfrm>
          <a:prstGeom prst="rect">
            <a:avLst/>
          </a:prstGeom>
          <a:noFill/>
        </p:spPr>
        <p:txBody>
          <a:bodyPr wrap="square" rtlCol="0">
            <a:spAutoFit/>
          </a:bodyPr>
          <a:p>
            <a:pPr lvl="0" algn="ctr">
              <a:buClrTx/>
              <a:buSzTx/>
              <a:buFontTx/>
            </a:pP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深度信任联结</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1" name="上下箭头 60"/>
          <p:cNvSpPr/>
          <p:nvPr/>
        </p:nvSpPr>
        <p:spPr>
          <a:xfrm>
            <a:off x="8917305" y="3770630"/>
            <a:ext cx="130175" cy="238125"/>
          </a:xfrm>
          <a:prstGeom prst="upDownArrow">
            <a:avLst/>
          </a:prstGeom>
          <a:solidFill>
            <a:schemeClr val="accent1">
              <a:lumMod val="60000"/>
              <a:lumOff val="40000"/>
            </a:schemeClr>
          </a:solidFill>
          <a:ln w="6350" cap="flat" cmpd="sng" algn="ctr">
            <a:noFill/>
            <a:prstDash val="lgDash"/>
            <a:miter lim="800000"/>
          </a:ln>
          <a:effectLst/>
        </p:spPr>
        <p:txBody>
          <a:bodyPr wrap="square" rtlCol="0" anchor="ctr">
            <a:noAutofit/>
          </a:bodyPr>
          <a:p>
            <a:pPr lvl="0" algn="ctr">
              <a:spcBef>
                <a:spcPts val="0"/>
              </a:spcBef>
              <a:spcAft>
                <a:spcPts val="0"/>
              </a:spcAft>
              <a:buClrTx/>
              <a:buSzTx/>
              <a:buFontTx/>
              <a:defRPr/>
            </a:pPr>
            <a:r>
              <a:rPr lang="en-US" altLang="zh-CN"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 </a:t>
            </a:r>
            <a:r>
              <a:rPr lang="en-US" altLang="zh-CN"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 </a:t>
            </a:r>
            <a:endParaRPr lang="en-US" altLang="zh-CN"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3" name="矩形 62"/>
          <p:cNvSpPr/>
          <p:nvPr/>
        </p:nvSpPr>
        <p:spPr>
          <a:xfrm rot="840000">
            <a:off x="4283075" y="2007870"/>
            <a:ext cx="393700" cy="2730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4" name="紫荆的职场Point99-4"/>
          <p:cNvSpPr/>
          <p:nvPr/>
        </p:nvSpPr>
        <p:spPr>
          <a:xfrm rot="5880000" flipH="1">
            <a:off x="4371975" y="2019300"/>
            <a:ext cx="219710" cy="24892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w="6350" cap="flat" cmpd="sng" algn="ctr">
            <a:noFill/>
            <a:prstDash val="lgDash"/>
            <a:miter lim="800000"/>
          </a:ln>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5" name="矩形 64"/>
          <p:cNvSpPr/>
          <p:nvPr/>
        </p:nvSpPr>
        <p:spPr>
          <a:xfrm rot="20700000">
            <a:off x="7844790" y="1975485"/>
            <a:ext cx="393700" cy="2730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6" name="紫荆的职场Point99-4"/>
          <p:cNvSpPr/>
          <p:nvPr/>
        </p:nvSpPr>
        <p:spPr>
          <a:xfrm rot="4140000" flipH="1">
            <a:off x="7933690" y="1986915"/>
            <a:ext cx="219710" cy="24892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w="6350" cap="flat" cmpd="sng" algn="ctr">
            <a:noFill/>
            <a:prstDash val="lgDash"/>
            <a:miter lim="800000"/>
          </a:ln>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7" name="文本框 66"/>
          <p:cNvSpPr txBox="1"/>
          <p:nvPr/>
        </p:nvSpPr>
        <p:spPr>
          <a:xfrm rot="1080000">
            <a:off x="2358708" y="1511935"/>
            <a:ext cx="1487805" cy="306705"/>
          </a:xfrm>
          <a:prstGeom prst="rect">
            <a:avLst/>
          </a:prstGeom>
          <a:noFill/>
        </p:spPr>
        <p:txBody>
          <a:bodyPr wrap="square" rtlCol="0">
            <a:spAutoFit/>
          </a:bodyPr>
          <a:p>
            <a:pPr algn="ctr"/>
            <a:r>
              <a:rPr lang="zh-CN" sz="1400">
                <a:solidFill>
                  <a:schemeClr val="accent1"/>
                </a:solidFill>
                <a:latin typeface="微软雅黑" panose="020B0503020204020204" charset="-122"/>
                <a:ea typeface="微软雅黑" panose="020B0503020204020204" charset="-122"/>
                <a:cs typeface="微软雅黑" panose="020B0503020204020204" charset="-122"/>
              </a:rPr>
              <a:t>曝光触达</a:t>
            </a:r>
            <a:endParaRPr lang="zh-CN"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8" name="文本框 67"/>
          <p:cNvSpPr txBox="1"/>
          <p:nvPr/>
        </p:nvSpPr>
        <p:spPr>
          <a:xfrm rot="20520000">
            <a:off x="8673148" y="1435100"/>
            <a:ext cx="1487805" cy="306705"/>
          </a:xfrm>
          <a:prstGeom prst="rect">
            <a:avLst/>
          </a:prstGeom>
          <a:noFill/>
        </p:spPr>
        <p:txBody>
          <a:bodyPr wrap="square" rtlCol="0">
            <a:spAutoFit/>
          </a:bodyPr>
          <a:p>
            <a:pPr algn="ctr"/>
            <a:r>
              <a:rPr lang="zh-CN" sz="1400">
                <a:solidFill>
                  <a:schemeClr val="accent1"/>
                </a:solidFill>
                <a:latin typeface="微软雅黑" panose="020B0503020204020204" charset="-122"/>
                <a:ea typeface="微软雅黑" panose="020B0503020204020204" charset="-122"/>
                <a:cs typeface="微软雅黑" panose="020B0503020204020204" charset="-122"/>
              </a:rPr>
              <a:t>销售转化</a:t>
            </a:r>
            <a:endParaRPr lang="zh-CN"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9" name="文本框 68"/>
          <p:cNvSpPr txBox="1"/>
          <p:nvPr/>
        </p:nvSpPr>
        <p:spPr>
          <a:xfrm>
            <a:off x="5522278" y="1923415"/>
            <a:ext cx="1487805" cy="306705"/>
          </a:xfrm>
          <a:prstGeom prst="rect">
            <a:avLst/>
          </a:prstGeom>
          <a:noFill/>
        </p:spPr>
        <p:txBody>
          <a:bodyPr wrap="square" rtlCol="0">
            <a:spAutoFit/>
          </a:bodyPr>
          <a:p>
            <a:pPr algn="ctr"/>
            <a:r>
              <a:rPr lang="zh-CN" sz="1400">
                <a:solidFill>
                  <a:schemeClr val="accent1"/>
                </a:solidFill>
                <a:latin typeface="微软雅黑" panose="020B0503020204020204" charset="-122"/>
                <a:ea typeface="微软雅黑" panose="020B0503020204020204" charset="-122"/>
                <a:cs typeface="微软雅黑" panose="020B0503020204020204" charset="-122"/>
              </a:rPr>
              <a:t>心智绑定</a:t>
            </a:r>
            <a:endParaRPr lang="zh-CN"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1" name="圆角矩形 70"/>
          <p:cNvSpPr/>
          <p:nvPr/>
        </p:nvSpPr>
        <p:spPr>
          <a:xfrm>
            <a:off x="3973830" y="1186815"/>
            <a:ext cx="4415155" cy="504825"/>
          </a:xfrm>
          <a:prstGeom prst="roundRect">
            <a:avLst/>
          </a:prstGeom>
          <a:gradFill>
            <a:gsLst>
              <a:gs pos="0">
                <a:schemeClr val="accent1"/>
              </a:gs>
              <a:gs pos="100000">
                <a:schemeClr val="accent1">
                  <a:lumMod val="60000"/>
                  <a:lumOff val="4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b="1">
                <a:latin typeface="微软雅黑" panose="020B0503020204020204" charset="-122"/>
                <a:ea typeface="微软雅黑" panose="020B0503020204020204" charset="-122"/>
                <a:cs typeface="微软雅黑" panose="020B0503020204020204" charset="-122"/>
                <a:sym typeface="+mn-ea"/>
              </a:rPr>
              <a:t>把握人的价值，打通营销全路径</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75" name="圆角矩形 74"/>
          <p:cNvSpPr/>
          <p:nvPr/>
        </p:nvSpPr>
        <p:spPr>
          <a:xfrm>
            <a:off x="2345055" y="5239385"/>
            <a:ext cx="2188845" cy="526415"/>
          </a:xfrm>
          <a:prstGeom prst="roundRect">
            <a:avLst>
              <a:gd name="adj" fmla="val 26296"/>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2426018" y="5290185"/>
            <a:ext cx="2026920" cy="429895"/>
          </a:xfrm>
          <a:prstGeom prst="rect">
            <a:avLst/>
          </a:prstGeom>
          <a:noFill/>
        </p:spPr>
        <p:txBody>
          <a:bodyPr wrap="square" rtlCol="0">
            <a:spAutoFit/>
          </a:bodyPr>
          <a:p>
            <a:pPr algn="l"/>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流量承接与优化。</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动态调整落地页内容，实时优化投放策略。</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a:off x="3032125" y="4808220"/>
            <a:ext cx="814705" cy="475615"/>
          </a:xfrm>
          <a:prstGeom prst="rect">
            <a:avLst/>
          </a:prstGeom>
          <a:noFill/>
        </p:spPr>
        <p:txBody>
          <a:bodyPr wrap="square" rtlCol="0">
            <a:spAutoFit/>
          </a:bodyPr>
          <a:p>
            <a:pPr algn="ctr"/>
            <a:r>
              <a:rPr lang="zh-CN" sz="25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endParaRPr lang="zh-CN" sz="25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0" name="圆角矩形 79"/>
          <p:cNvSpPr/>
          <p:nvPr/>
        </p:nvSpPr>
        <p:spPr>
          <a:xfrm>
            <a:off x="5102225" y="5283835"/>
            <a:ext cx="2188845" cy="526415"/>
          </a:xfrm>
          <a:prstGeom prst="roundRect">
            <a:avLst>
              <a:gd name="adj" fmla="val 26296"/>
            </a:avLst>
          </a:prstGeom>
          <a:noFill/>
          <a:ln>
            <a:solidFill>
              <a:schemeClr val="accent5">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5183188" y="5340985"/>
            <a:ext cx="2026920" cy="429895"/>
          </a:xfrm>
          <a:prstGeom prst="rect">
            <a:avLst/>
          </a:prstGeom>
          <a:noFill/>
        </p:spPr>
        <p:txBody>
          <a:bodyPr wrap="square" rtlCol="0">
            <a:spAutoFit/>
          </a:bodyPr>
          <a:p>
            <a:pPr algn="l"/>
            <a:r>
              <a:rPr lang="zh-CN" altLang="en-US"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心智强化与互动深化。</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社群运营，情感化触点。</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5789295" y="4859020"/>
            <a:ext cx="814705" cy="475615"/>
          </a:xfrm>
          <a:prstGeom prst="rect">
            <a:avLst/>
          </a:prstGeom>
          <a:noFill/>
        </p:spPr>
        <p:txBody>
          <a:bodyPr wrap="square" rtlCol="0">
            <a:spAutoFit/>
          </a:bodyPr>
          <a:p>
            <a:pPr lvl="0" algn="ctr">
              <a:buClrTx/>
              <a:buSzTx/>
              <a:buFontTx/>
            </a:pPr>
            <a:r>
              <a:rPr lang="zh-CN" sz="25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rPr>
              <a:t>＋</a:t>
            </a:r>
            <a:endParaRPr lang="zh-CN" sz="25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83" name="紫荆的职场Point99-4"/>
          <p:cNvSpPr/>
          <p:nvPr/>
        </p:nvSpPr>
        <p:spPr>
          <a:xfrm rot="10800000" flipH="1">
            <a:off x="6017260" y="5850255"/>
            <a:ext cx="358775" cy="40703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lumMod val="60000"/>
                  <a:lumOff val="40000"/>
                  <a:alpha val="0"/>
                </a:schemeClr>
              </a:gs>
              <a:gs pos="100000">
                <a:schemeClr val="accent5">
                  <a:lumMod val="60000"/>
                  <a:lumOff val="40000"/>
                </a:schemeClr>
              </a:gs>
            </a:gsLst>
            <a:lin ang="16200000" scaled="1"/>
            <a:tileRect/>
          </a:gradFill>
          <a:ln w="6350" cap="flat" cmpd="sng" algn="ctr">
            <a:noFill/>
            <a:prstDash val="lgDash"/>
            <a:miter lim="800000"/>
          </a:ln>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4" name="圆角矩形 83"/>
          <p:cNvSpPr/>
          <p:nvPr/>
        </p:nvSpPr>
        <p:spPr>
          <a:xfrm>
            <a:off x="7887970" y="5290185"/>
            <a:ext cx="2188845" cy="526415"/>
          </a:xfrm>
          <a:prstGeom prst="roundRect">
            <a:avLst>
              <a:gd name="adj" fmla="val 26296"/>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7968933" y="5347335"/>
            <a:ext cx="2026920" cy="429895"/>
          </a:xfrm>
          <a:prstGeom prst="rect">
            <a:avLst/>
          </a:prstGeom>
          <a:noFill/>
        </p:spPr>
        <p:txBody>
          <a:bodyPr wrap="square" rtlCol="0">
            <a:spAutoFit/>
          </a:bodyPr>
          <a:p>
            <a:pPr algn="l"/>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长效经营与复购激活。</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数据驱动复购，会员生态闭环。</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a:off x="8575040" y="4865370"/>
            <a:ext cx="814705" cy="475615"/>
          </a:xfrm>
          <a:prstGeom prst="rect">
            <a:avLst/>
          </a:prstGeom>
          <a:noFill/>
        </p:spPr>
        <p:txBody>
          <a:bodyPr wrap="square" rtlCol="0">
            <a:spAutoFit/>
          </a:bodyPr>
          <a:p>
            <a:pPr lvl="0" algn="ctr">
              <a:buClrTx/>
              <a:buSzTx/>
              <a:buFontTx/>
            </a:pPr>
            <a:r>
              <a:rPr lang="zh-CN" sz="25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a:t>
            </a:r>
            <a:endParaRPr lang="zh-CN" sz="25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87" name="紫荆的职场Point99-4"/>
          <p:cNvSpPr/>
          <p:nvPr/>
        </p:nvSpPr>
        <p:spPr>
          <a:xfrm rot="10800000" flipH="1">
            <a:off x="8803005" y="5882005"/>
            <a:ext cx="358775" cy="40703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w="6350" cap="flat" cmpd="sng" algn="ctr">
            <a:noFill/>
            <a:prstDash val="lgDash"/>
            <a:miter lim="800000"/>
          </a:ln>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6" name="文本框 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61975" y="1002030"/>
            <a:ext cx="11172825" cy="753745"/>
          </a:xfrm>
          <a:prstGeom prst="rect">
            <a:avLst/>
          </a:prstGeom>
          <a:solidFill>
            <a:schemeClr val="accent1">
              <a:lumMod val="20000"/>
              <a:lumOff val="80000"/>
              <a:alpha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2" name="菱形 121"/>
          <p:cNvSpPr/>
          <p:nvPr/>
        </p:nvSpPr>
        <p:spPr>
          <a:xfrm rot="5400000">
            <a:off x="8308340" y="1920240"/>
            <a:ext cx="249555" cy="335915"/>
          </a:xfrm>
          <a:prstGeom prst="diamond">
            <a:avLst/>
          </a:prstGeom>
          <a:gradFill>
            <a:gsLst>
              <a:gs pos="0">
                <a:schemeClr val="accent5"/>
              </a:gs>
              <a:gs pos="50000">
                <a:schemeClr val="accent5">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私域内容运营核心流程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6" name="文本框 5"/>
          <p:cNvSpPr txBox="1"/>
          <p:nvPr/>
        </p:nvSpPr>
        <p:spPr>
          <a:xfrm>
            <a:off x="726440" y="1117600"/>
            <a:ext cx="10932160" cy="521970"/>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私域的内容形态多样，</a:t>
            </a: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我们以</a:t>
            </a:r>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柚子街</a:t>
            </a:r>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产品为例</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，围绕内容打造体系化的女性健康与生活方式服务，构建营销内容、核心内容和高净值内容的三层矩阵，通过品牌展示、认知加深、价值提升的层层递进，实现用户价值与产品利益的双向增长。</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 name="右箭头 28"/>
          <p:cNvSpPr/>
          <p:nvPr/>
        </p:nvSpPr>
        <p:spPr>
          <a:xfrm>
            <a:off x="2672715" y="3519805"/>
            <a:ext cx="400050" cy="285750"/>
          </a:xfrm>
          <a:prstGeom prst="rightArrow">
            <a:avLst/>
          </a:prstGeom>
          <a:gradFill>
            <a:gsLst>
              <a:gs pos="100000">
                <a:schemeClr val="accent1">
                  <a:lumMod val="60000"/>
                  <a:lumOff val="40000"/>
                </a:schemeClr>
              </a:gs>
              <a:gs pos="0">
                <a:schemeClr val="accent1">
                  <a:lumMod val="60000"/>
                  <a:lumOff val="4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0" name="右箭头 29"/>
          <p:cNvSpPr/>
          <p:nvPr/>
        </p:nvSpPr>
        <p:spPr>
          <a:xfrm>
            <a:off x="2672715" y="4272280"/>
            <a:ext cx="400050" cy="285750"/>
          </a:xfrm>
          <a:prstGeom prst="rightArrow">
            <a:avLst/>
          </a:prstGeom>
          <a:gradFill>
            <a:gsLst>
              <a:gs pos="100000">
                <a:schemeClr val="accent1">
                  <a:lumMod val="60000"/>
                  <a:lumOff val="40000"/>
                </a:schemeClr>
              </a:gs>
              <a:gs pos="0">
                <a:schemeClr val="accent1">
                  <a:lumMod val="60000"/>
                  <a:lumOff val="4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1" name="右箭头 30"/>
          <p:cNvSpPr/>
          <p:nvPr/>
        </p:nvSpPr>
        <p:spPr>
          <a:xfrm>
            <a:off x="2672715" y="5024755"/>
            <a:ext cx="400050" cy="285750"/>
          </a:xfrm>
          <a:prstGeom prst="rightArrow">
            <a:avLst/>
          </a:prstGeom>
          <a:gradFill>
            <a:gsLst>
              <a:gs pos="100000">
                <a:schemeClr val="accent1">
                  <a:lumMod val="60000"/>
                  <a:lumOff val="40000"/>
                </a:schemeClr>
              </a:gs>
              <a:gs pos="0">
                <a:schemeClr val="accent1">
                  <a:lumMod val="60000"/>
                  <a:lumOff val="4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2" name="右箭头 31"/>
          <p:cNvSpPr/>
          <p:nvPr/>
        </p:nvSpPr>
        <p:spPr>
          <a:xfrm>
            <a:off x="5092065" y="3519805"/>
            <a:ext cx="400050" cy="285750"/>
          </a:xfrm>
          <a:prstGeom prst="rightArrow">
            <a:avLst/>
          </a:prstGeom>
          <a:gradFill>
            <a:gsLst>
              <a:gs pos="100000">
                <a:schemeClr val="accent1">
                  <a:lumMod val="60000"/>
                  <a:lumOff val="40000"/>
                </a:schemeClr>
              </a:gs>
              <a:gs pos="0">
                <a:schemeClr val="accent1">
                  <a:lumMod val="60000"/>
                  <a:lumOff val="4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3" name="右箭头 32"/>
          <p:cNvSpPr/>
          <p:nvPr/>
        </p:nvSpPr>
        <p:spPr>
          <a:xfrm>
            <a:off x="5092065" y="4272280"/>
            <a:ext cx="400050" cy="285750"/>
          </a:xfrm>
          <a:prstGeom prst="rightArrow">
            <a:avLst/>
          </a:prstGeom>
          <a:gradFill>
            <a:gsLst>
              <a:gs pos="100000">
                <a:schemeClr val="accent1">
                  <a:lumMod val="60000"/>
                  <a:lumOff val="40000"/>
                </a:schemeClr>
              </a:gs>
              <a:gs pos="0">
                <a:schemeClr val="accent1">
                  <a:lumMod val="60000"/>
                  <a:lumOff val="4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4" name="右箭头 33"/>
          <p:cNvSpPr/>
          <p:nvPr/>
        </p:nvSpPr>
        <p:spPr>
          <a:xfrm>
            <a:off x="5092065" y="5024755"/>
            <a:ext cx="400050" cy="285750"/>
          </a:xfrm>
          <a:prstGeom prst="rightArrow">
            <a:avLst/>
          </a:prstGeom>
          <a:gradFill>
            <a:gsLst>
              <a:gs pos="100000">
                <a:schemeClr val="accent1">
                  <a:lumMod val="60000"/>
                  <a:lumOff val="40000"/>
                </a:schemeClr>
              </a:gs>
              <a:gs pos="0">
                <a:schemeClr val="accent1">
                  <a:lumMod val="60000"/>
                  <a:lumOff val="4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4" name="文本框 73"/>
          <p:cNvSpPr txBox="1"/>
          <p:nvPr/>
        </p:nvSpPr>
        <p:spPr>
          <a:xfrm>
            <a:off x="1198880" y="1963420"/>
            <a:ext cx="3444875" cy="337185"/>
          </a:xfrm>
          <a:prstGeom prst="rect">
            <a:avLst/>
          </a:prstGeom>
          <a:noFill/>
        </p:spPr>
        <p:txBody>
          <a:bodyPr wrap="square" rtlCol="0">
            <a:spAutoFit/>
          </a:bodyPr>
          <a:p>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构建私域内容矩阵，分层渗透用户</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6" name="文本框 75"/>
          <p:cNvSpPr txBox="1"/>
          <p:nvPr/>
        </p:nvSpPr>
        <p:spPr>
          <a:xfrm>
            <a:off x="8671560" y="1963420"/>
            <a:ext cx="3444875" cy="337185"/>
          </a:xfrm>
          <a:prstGeom prst="rect">
            <a:avLst/>
          </a:prstGeom>
          <a:noFill/>
        </p:spPr>
        <p:txBody>
          <a:bodyPr wrap="square" rtlCol="0">
            <a:spAutoFit/>
          </a:bodyPr>
          <a:p>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内容产品化，传递整体价值</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93" name="组合 92"/>
          <p:cNvGrpSpPr/>
          <p:nvPr/>
        </p:nvGrpSpPr>
        <p:grpSpPr>
          <a:xfrm rot="5400000">
            <a:off x="666750" y="1866583"/>
            <a:ext cx="248920" cy="442595"/>
            <a:chOff x="3859" y="6875"/>
            <a:chExt cx="392" cy="697"/>
          </a:xfrm>
        </p:grpSpPr>
        <p:sp>
          <p:nvSpPr>
            <p:cNvPr id="124" name="菱形 123"/>
            <p:cNvSpPr/>
            <p:nvPr/>
          </p:nvSpPr>
          <p:spPr>
            <a:xfrm>
              <a:off x="3859" y="6875"/>
              <a:ext cx="393" cy="529"/>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25" name="菱形 124"/>
            <p:cNvSpPr/>
            <p:nvPr/>
          </p:nvSpPr>
          <p:spPr>
            <a:xfrm>
              <a:off x="3859" y="7044"/>
              <a:ext cx="393" cy="529"/>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89" name="菱形 88"/>
          <p:cNvSpPr/>
          <p:nvPr/>
        </p:nvSpPr>
        <p:spPr>
          <a:xfrm rot="5400000">
            <a:off x="8092440" y="1920240"/>
            <a:ext cx="249555" cy="335915"/>
          </a:xfrm>
          <a:prstGeom prst="diamond">
            <a:avLst/>
          </a:prstGeom>
          <a:gradFill>
            <a:gsLst>
              <a:gs pos="0">
                <a:schemeClr val="accent5"/>
              </a:gs>
              <a:gs pos="50000">
                <a:schemeClr val="accent5">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0" name="菱形 89"/>
          <p:cNvSpPr/>
          <p:nvPr/>
        </p:nvSpPr>
        <p:spPr>
          <a:xfrm rot="5400000">
            <a:off x="834708" y="1920240"/>
            <a:ext cx="249555" cy="335915"/>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726440" y="2389505"/>
            <a:ext cx="1873250" cy="4051300"/>
          </a:xfrm>
          <a:prstGeom prst="rect">
            <a:avLst/>
          </a:prstGeom>
          <a:solidFill>
            <a:schemeClr val="accent1">
              <a:lumMod val="20000"/>
              <a:lumOff val="80000"/>
              <a:alpha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5" name="矩形 34"/>
          <p:cNvSpPr/>
          <p:nvPr/>
        </p:nvSpPr>
        <p:spPr>
          <a:xfrm>
            <a:off x="869315" y="2484120"/>
            <a:ext cx="1551305" cy="391160"/>
          </a:xfrm>
          <a:prstGeom prst="rect">
            <a:avLst/>
          </a:prstGeom>
          <a:gradFill>
            <a:gsLst>
              <a:gs pos="8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cs typeface="微软雅黑" panose="020B0503020204020204" charset="-122"/>
              </a:rPr>
              <a:t>营销内容</a:t>
            </a:r>
            <a:endParaRPr lang="zh-CN" altLang="en-US" sz="1600" b="1">
              <a:cs typeface="微软雅黑" panose="020B0503020204020204" charset="-122"/>
            </a:endParaRPr>
          </a:p>
        </p:txBody>
      </p:sp>
      <p:sp>
        <p:nvSpPr>
          <p:cNvPr id="47" name="矩形 46"/>
          <p:cNvSpPr/>
          <p:nvPr/>
        </p:nvSpPr>
        <p:spPr>
          <a:xfrm>
            <a:off x="869315" y="2898775"/>
            <a:ext cx="1558925" cy="52451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0" name="矩形 49"/>
          <p:cNvSpPr/>
          <p:nvPr/>
        </p:nvSpPr>
        <p:spPr>
          <a:xfrm>
            <a:off x="921385" y="481393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accent1"/>
                </a:solidFill>
                <a:cs typeface="微软雅黑" panose="020B0503020204020204" charset="-122"/>
              </a:rPr>
              <a:t>日常推送</a:t>
            </a:r>
            <a:endParaRPr lang="zh-CN" altLang="en-US" sz="1200">
              <a:solidFill>
                <a:schemeClr val="accent1"/>
              </a:solidFill>
              <a:cs typeface="微软雅黑" panose="020B0503020204020204" charset="-122"/>
            </a:endParaRPr>
          </a:p>
        </p:txBody>
      </p:sp>
      <p:sp>
        <p:nvSpPr>
          <p:cNvPr id="91" name="文本框 90"/>
          <p:cNvSpPr txBox="1"/>
          <p:nvPr/>
        </p:nvSpPr>
        <p:spPr>
          <a:xfrm>
            <a:off x="869315" y="2919730"/>
            <a:ext cx="1579245" cy="460375"/>
          </a:xfrm>
          <a:prstGeom prst="rect">
            <a:avLst/>
          </a:prstGeom>
          <a:noFill/>
        </p:spPr>
        <p:txBody>
          <a:bodyPr wrap="square" rtlCol="0">
            <a:spAutoFit/>
          </a:bodyPr>
          <a:p>
            <a:pPr marL="228600" indent="-228600">
              <a:buFont typeface="Wingdings" panose="05000000000000000000" charset="0"/>
              <a:buChar char="Ø"/>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公域场景为主</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buFont typeface="Wingdings" panose="05000000000000000000" charset="0"/>
              <a:buChar char="Ø"/>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高频、短平快</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nvSpPr>
        <p:spPr>
          <a:xfrm>
            <a:off x="822960" y="3758565"/>
            <a:ext cx="304800" cy="829945"/>
          </a:xfrm>
          <a:prstGeom prst="rect">
            <a:avLst/>
          </a:prstGeom>
          <a:noFill/>
        </p:spPr>
        <p:txBody>
          <a:bodyPr wrap="square" rtlCol="0" anchor="ctr" anchorCtr="0">
            <a:spAutoFit/>
          </a:bodyPr>
          <a:p>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品牌展示</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94" name="文本框 93"/>
          <p:cNvSpPr txBox="1"/>
          <p:nvPr/>
        </p:nvSpPr>
        <p:spPr>
          <a:xfrm>
            <a:off x="1127760" y="3573780"/>
            <a:ext cx="1286510" cy="1198880"/>
          </a:xfrm>
          <a:prstGeom prst="rect">
            <a:avLst/>
          </a:prstGeom>
          <a:noFill/>
        </p:spPr>
        <p:txBody>
          <a:bodyPr wrap="square" rtlCol="0">
            <a:spAutoFit/>
          </a:bodyPr>
          <a:p>
            <a:pPr indent="0">
              <a:buFont typeface="微软雅黑" panose="020B0503020204020204" charset="-122"/>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向最广泛的用户群体介绍女性健康管理工具、母婴用品及社区服务，提高品牌曝光。</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5" name="矩形 94"/>
          <p:cNvSpPr/>
          <p:nvPr/>
        </p:nvSpPr>
        <p:spPr>
          <a:xfrm>
            <a:off x="921385" y="521398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经期提醒</a:t>
            </a:r>
            <a:endParaRPr lang="zh-CN" altLang="en-US" sz="1200">
              <a:solidFill>
                <a:schemeClr val="accent1"/>
              </a:solidFill>
              <a:cs typeface="微软雅黑" panose="020B0503020204020204" charset="-122"/>
              <a:sym typeface="+mn-ea"/>
            </a:endParaRPr>
          </a:p>
        </p:txBody>
      </p:sp>
      <p:sp>
        <p:nvSpPr>
          <p:cNvPr id="96" name="矩形 95"/>
          <p:cNvSpPr/>
          <p:nvPr/>
        </p:nvSpPr>
        <p:spPr>
          <a:xfrm>
            <a:off x="921385" y="561403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母婴商品折扣</a:t>
            </a:r>
            <a:endParaRPr lang="zh-CN" altLang="en-US" sz="1200">
              <a:solidFill>
                <a:schemeClr val="accent1"/>
              </a:solidFill>
              <a:cs typeface="微软雅黑" panose="020B0503020204020204" charset="-122"/>
              <a:sym typeface="+mn-ea"/>
            </a:endParaRPr>
          </a:p>
        </p:txBody>
      </p:sp>
      <p:sp>
        <p:nvSpPr>
          <p:cNvPr id="97" name="矩形 96"/>
          <p:cNvSpPr/>
          <p:nvPr/>
        </p:nvSpPr>
        <p:spPr>
          <a:xfrm>
            <a:off x="921385" y="601408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健康顾问咨询</a:t>
            </a:r>
            <a:endParaRPr lang="zh-CN" altLang="en-US" sz="1200">
              <a:solidFill>
                <a:schemeClr val="accent1"/>
              </a:solidFill>
              <a:cs typeface="微软雅黑" panose="020B0503020204020204" charset="-122"/>
              <a:sym typeface="+mn-ea"/>
            </a:endParaRPr>
          </a:p>
        </p:txBody>
      </p:sp>
      <p:sp>
        <p:nvSpPr>
          <p:cNvPr id="100" name="矩形 99"/>
          <p:cNvSpPr/>
          <p:nvPr/>
        </p:nvSpPr>
        <p:spPr>
          <a:xfrm>
            <a:off x="3139440" y="2393315"/>
            <a:ext cx="1873250" cy="4051300"/>
          </a:xfrm>
          <a:prstGeom prst="rect">
            <a:avLst/>
          </a:prstGeom>
          <a:solidFill>
            <a:schemeClr val="accent1">
              <a:lumMod val="20000"/>
              <a:lumOff val="80000"/>
              <a:alpha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1" name="矩形 100"/>
          <p:cNvSpPr/>
          <p:nvPr/>
        </p:nvSpPr>
        <p:spPr>
          <a:xfrm>
            <a:off x="3282315" y="2487930"/>
            <a:ext cx="1551305" cy="391160"/>
          </a:xfrm>
          <a:prstGeom prst="rect">
            <a:avLst/>
          </a:prstGeom>
          <a:gradFill>
            <a:gsLst>
              <a:gs pos="8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cs typeface="微软雅黑" panose="020B0503020204020204" charset="-122"/>
                <a:sym typeface="+mn-ea"/>
              </a:rPr>
              <a:t>核心内容</a:t>
            </a:r>
            <a:endParaRPr lang="zh-CN" altLang="en-US" sz="1600" b="1">
              <a:cs typeface="微软雅黑" panose="020B0503020204020204" charset="-122"/>
              <a:sym typeface="+mn-ea"/>
            </a:endParaRPr>
          </a:p>
        </p:txBody>
      </p:sp>
      <p:sp>
        <p:nvSpPr>
          <p:cNvPr id="102" name="矩形 101"/>
          <p:cNvSpPr/>
          <p:nvPr/>
        </p:nvSpPr>
        <p:spPr>
          <a:xfrm>
            <a:off x="3282315" y="2902585"/>
            <a:ext cx="1558925" cy="52451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03" name="矩形 102"/>
          <p:cNvSpPr/>
          <p:nvPr/>
        </p:nvSpPr>
        <p:spPr>
          <a:xfrm>
            <a:off x="3334385" y="481774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孕期知识直播</a:t>
            </a:r>
            <a:endParaRPr lang="zh-CN" altLang="en-US" sz="1200">
              <a:solidFill>
                <a:schemeClr val="accent1"/>
              </a:solidFill>
              <a:cs typeface="微软雅黑" panose="020B0503020204020204" charset="-122"/>
              <a:sym typeface="+mn-ea"/>
            </a:endParaRPr>
          </a:p>
        </p:txBody>
      </p:sp>
      <p:sp>
        <p:nvSpPr>
          <p:cNvPr id="104" name="文本框 103"/>
          <p:cNvSpPr txBox="1"/>
          <p:nvPr/>
        </p:nvSpPr>
        <p:spPr>
          <a:xfrm>
            <a:off x="3282315" y="2923540"/>
            <a:ext cx="1579245" cy="460375"/>
          </a:xfrm>
          <a:prstGeom prst="rect">
            <a:avLst/>
          </a:prstGeom>
          <a:noFill/>
        </p:spPr>
        <p:txBody>
          <a:bodyPr wrap="square" rtlCol="0">
            <a:spAutoFit/>
          </a:bodyPr>
          <a:p>
            <a:pPr marL="228600" indent="-228600">
              <a:buFont typeface="Wingdings" panose="05000000000000000000" charset="0"/>
              <a:buChar char="Ø"/>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公域</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私域场景</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buFont typeface="Wingdings" panose="05000000000000000000" charset="0"/>
              <a:buChar char="Ø"/>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中频、轻知识</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5" name="文本框 104"/>
          <p:cNvSpPr txBox="1"/>
          <p:nvPr/>
        </p:nvSpPr>
        <p:spPr>
          <a:xfrm>
            <a:off x="3235960" y="3670935"/>
            <a:ext cx="304800" cy="829945"/>
          </a:xfrm>
          <a:prstGeom prst="rect">
            <a:avLst/>
          </a:prstGeom>
          <a:noFill/>
        </p:spPr>
        <p:txBody>
          <a:bodyPr wrap="square" rtlCol="0" anchor="ctr" anchorCtr="0">
            <a:spAutoFit/>
          </a:bodyPr>
          <a:p>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认知加深</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6" name="文本框 105"/>
          <p:cNvSpPr txBox="1"/>
          <p:nvPr/>
        </p:nvSpPr>
        <p:spPr>
          <a:xfrm>
            <a:off x="3540760" y="3578225"/>
            <a:ext cx="1286510" cy="1014730"/>
          </a:xfrm>
          <a:prstGeom prst="rect">
            <a:avLst/>
          </a:prstGeom>
          <a:noFill/>
        </p:spPr>
        <p:txBody>
          <a:bodyPr wrap="square" rtlCol="0">
            <a:spAutoFit/>
          </a:bodyPr>
          <a:p>
            <a:pPr indent="0">
              <a:buFont typeface="微软雅黑" panose="020B0503020204020204" charset="-122"/>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围绕女性健康知识、育儿经验分享，通过渠道互动加深用户对品牌专业度的认知。</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7" name="矩形 106"/>
          <p:cNvSpPr/>
          <p:nvPr/>
        </p:nvSpPr>
        <p:spPr>
          <a:xfrm>
            <a:off x="3334385" y="521779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产后恢复直播</a:t>
            </a:r>
            <a:endParaRPr lang="zh-CN" altLang="en-US" sz="1200">
              <a:solidFill>
                <a:schemeClr val="accent1"/>
              </a:solidFill>
              <a:cs typeface="微软雅黑" panose="020B0503020204020204" charset="-122"/>
              <a:sym typeface="+mn-ea"/>
            </a:endParaRPr>
          </a:p>
        </p:txBody>
      </p:sp>
      <p:sp>
        <p:nvSpPr>
          <p:cNvPr id="108" name="矩形 107"/>
          <p:cNvSpPr/>
          <p:nvPr/>
        </p:nvSpPr>
        <p:spPr>
          <a:xfrm>
            <a:off x="3334385" y="561784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好物测评专栏</a:t>
            </a:r>
            <a:endParaRPr lang="zh-CN" altLang="en-US" sz="1200">
              <a:solidFill>
                <a:schemeClr val="accent1"/>
              </a:solidFill>
              <a:cs typeface="微软雅黑" panose="020B0503020204020204" charset="-122"/>
              <a:sym typeface="+mn-ea"/>
            </a:endParaRPr>
          </a:p>
        </p:txBody>
      </p:sp>
      <p:sp>
        <p:nvSpPr>
          <p:cNvPr id="109" name="矩形 108"/>
          <p:cNvSpPr/>
          <p:nvPr/>
        </p:nvSpPr>
        <p:spPr>
          <a:xfrm>
            <a:off x="3334385" y="601789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新手妈妈知识库</a:t>
            </a:r>
            <a:endParaRPr lang="zh-CN" altLang="en-US" sz="1200">
              <a:solidFill>
                <a:schemeClr val="accent1"/>
              </a:solidFill>
              <a:cs typeface="微软雅黑" panose="020B0503020204020204" charset="-122"/>
              <a:sym typeface="+mn-ea"/>
            </a:endParaRPr>
          </a:p>
        </p:txBody>
      </p:sp>
      <p:sp>
        <p:nvSpPr>
          <p:cNvPr id="111" name="矩形 110"/>
          <p:cNvSpPr/>
          <p:nvPr/>
        </p:nvSpPr>
        <p:spPr>
          <a:xfrm>
            <a:off x="5609590" y="2389505"/>
            <a:ext cx="1873250" cy="4051300"/>
          </a:xfrm>
          <a:prstGeom prst="rect">
            <a:avLst/>
          </a:prstGeom>
          <a:solidFill>
            <a:schemeClr val="accent1">
              <a:lumMod val="20000"/>
              <a:lumOff val="80000"/>
              <a:alpha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2" name="矩形 111"/>
          <p:cNvSpPr/>
          <p:nvPr/>
        </p:nvSpPr>
        <p:spPr>
          <a:xfrm>
            <a:off x="5752465" y="2484120"/>
            <a:ext cx="1551305" cy="391160"/>
          </a:xfrm>
          <a:prstGeom prst="rect">
            <a:avLst/>
          </a:prstGeom>
          <a:gradFill>
            <a:gsLst>
              <a:gs pos="8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cs typeface="微软雅黑" panose="020B0503020204020204" charset="-122"/>
                <a:sym typeface="+mn-ea"/>
              </a:rPr>
              <a:t>高净值内容</a:t>
            </a:r>
            <a:endParaRPr lang="zh-CN" altLang="en-US" sz="1600" b="1">
              <a:cs typeface="微软雅黑" panose="020B0503020204020204" charset="-122"/>
              <a:sym typeface="+mn-ea"/>
            </a:endParaRPr>
          </a:p>
        </p:txBody>
      </p:sp>
      <p:sp>
        <p:nvSpPr>
          <p:cNvPr id="113" name="矩形 112"/>
          <p:cNvSpPr/>
          <p:nvPr/>
        </p:nvSpPr>
        <p:spPr>
          <a:xfrm>
            <a:off x="5752465" y="2898775"/>
            <a:ext cx="1558925" cy="52451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14" name="矩形 113"/>
          <p:cNvSpPr/>
          <p:nvPr/>
        </p:nvSpPr>
        <p:spPr>
          <a:xfrm>
            <a:off x="5804535" y="481393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主题分享会</a:t>
            </a:r>
            <a:endParaRPr lang="zh-CN" altLang="en-US" sz="1200">
              <a:solidFill>
                <a:schemeClr val="accent1"/>
              </a:solidFill>
              <a:cs typeface="微软雅黑" panose="020B0503020204020204" charset="-122"/>
              <a:sym typeface="+mn-ea"/>
            </a:endParaRPr>
          </a:p>
        </p:txBody>
      </p:sp>
      <p:sp>
        <p:nvSpPr>
          <p:cNvPr id="115" name="文本框 114"/>
          <p:cNvSpPr txBox="1"/>
          <p:nvPr/>
        </p:nvSpPr>
        <p:spPr>
          <a:xfrm>
            <a:off x="5752465" y="2919730"/>
            <a:ext cx="1579245" cy="460375"/>
          </a:xfrm>
          <a:prstGeom prst="rect">
            <a:avLst/>
          </a:prstGeom>
          <a:noFill/>
        </p:spPr>
        <p:txBody>
          <a:bodyPr wrap="square" rtlCol="0">
            <a:spAutoFit/>
          </a:bodyPr>
          <a:p>
            <a:pPr marL="228600" indent="-228600">
              <a:buFont typeface="Wingdings" panose="05000000000000000000" charset="0"/>
              <a:buChar char="Ø"/>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私域场景</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buFont typeface="Wingdings" panose="05000000000000000000" charset="0"/>
              <a:buChar char="Ø"/>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低频、系统性</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6" name="文本框 115"/>
          <p:cNvSpPr txBox="1"/>
          <p:nvPr/>
        </p:nvSpPr>
        <p:spPr>
          <a:xfrm>
            <a:off x="5706110" y="3712845"/>
            <a:ext cx="304800" cy="829945"/>
          </a:xfrm>
          <a:prstGeom prst="rect">
            <a:avLst/>
          </a:prstGeom>
          <a:noFill/>
        </p:spPr>
        <p:txBody>
          <a:bodyPr wrap="square" rtlCol="0" anchor="ctr" anchorCtr="0">
            <a:spAutoFit/>
          </a:bodyPr>
          <a:p>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价值提升</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17" name="文本框 116"/>
          <p:cNvSpPr txBox="1"/>
          <p:nvPr/>
        </p:nvSpPr>
        <p:spPr>
          <a:xfrm>
            <a:off x="6010910" y="3528060"/>
            <a:ext cx="1286510" cy="1198880"/>
          </a:xfrm>
          <a:prstGeom prst="rect">
            <a:avLst/>
          </a:prstGeom>
          <a:noFill/>
        </p:spPr>
        <p:txBody>
          <a:bodyPr wrap="square" rtlCol="0">
            <a:spAutoFit/>
          </a:bodyPr>
          <a:p>
            <a:pPr indent="0">
              <a:buFont typeface="微软雅黑" panose="020B0503020204020204" charset="-122"/>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利用高净值内容与核心用户群体（如备孕女性、母婴达人）建立稳固联系，提升品牌价值。</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p:nvPr/>
        </p:nvSpPr>
        <p:spPr>
          <a:xfrm>
            <a:off x="5804535" y="521398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妈妈副业创收坊</a:t>
            </a:r>
            <a:endParaRPr lang="zh-CN" altLang="en-US" sz="1200">
              <a:solidFill>
                <a:schemeClr val="accent1"/>
              </a:solidFill>
              <a:cs typeface="微软雅黑" panose="020B0503020204020204" charset="-122"/>
              <a:sym typeface="+mn-ea"/>
            </a:endParaRPr>
          </a:p>
        </p:txBody>
      </p:sp>
      <p:sp>
        <p:nvSpPr>
          <p:cNvPr id="119" name="矩形 118"/>
          <p:cNvSpPr/>
          <p:nvPr/>
        </p:nvSpPr>
        <p:spPr>
          <a:xfrm>
            <a:off x="5804535" y="561403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科学育儿训练营</a:t>
            </a:r>
            <a:endParaRPr lang="zh-CN" altLang="en-US" sz="1200">
              <a:solidFill>
                <a:schemeClr val="accent1"/>
              </a:solidFill>
              <a:cs typeface="微软雅黑" panose="020B0503020204020204" charset="-122"/>
              <a:sym typeface="+mn-ea"/>
            </a:endParaRPr>
          </a:p>
        </p:txBody>
      </p:sp>
      <p:sp>
        <p:nvSpPr>
          <p:cNvPr id="120" name="矩形 119"/>
          <p:cNvSpPr/>
          <p:nvPr/>
        </p:nvSpPr>
        <p:spPr>
          <a:xfrm>
            <a:off x="5804535" y="6014085"/>
            <a:ext cx="1506855" cy="33464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亲子沟通实战营</a:t>
            </a:r>
            <a:endParaRPr lang="zh-CN" altLang="en-US" sz="1200">
              <a:solidFill>
                <a:schemeClr val="accent1"/>
              </a:solidFill>
              <a:cs typeface="微软雅黑" panose="020B0503020204020204" charset="-122"/>
              <a:sym typeface="+mn-ea"/>
            </a:endParaRPr>
          </a:p>
        </p:txBody>
      </p:sp>
      <p:sp>
        <p:nvSpPr>
          <p:cNvPr id="121" name="菱形 120"/>
          <p:cNvSpPr/>
          <p:nvPr/>
        </p:nvSpPr>
        <p:spPr>
          <a:xfrm rot="5400000">
            <a:off x="8203565" y="1920240"/>
            <a:ext cx="249555" cy="335915"/>
          </a:xfrm>
          <a:prstGeom prst="diamond">
            <a:avLst/>
          </a:prstGeom>
          <a:gradFill>
            <a:gsLst>
              <a:gs pos="0">
                <a:schemeClr val="accent5"/>
              </a:gs>
              <a:gs pos="50000">
                <a:schemeClr val="accent5">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nvGrpSpPr>
          <p:cNvPr id="128" name="组合 127"/>
          <p:cNvGrpSpPr/>
          <p:nvPr/>
        </p:nvGrpSpPr>
        <p:grpSpPr>
          <a:xfrm>
            <a:off x="8265795" y="2516505"/>
            <a:ext cx="3702685" cy="1243330"/>
            <a:chOff x="12713" y="3595"/>
            <a:chExt cx="5831" cy="1958"/>
          </a:xfrm>
        </p:grpSpPr>
        <p:sp>
          <p:nvSpPr>
            <p:cNvPr id="53" name="矩形 52"/>
            <p:cNvSpPr/>
            <p:nvPr/>
          </p:nvSpPr>
          <p:spPr>
            <a:xfrm>
              <a:off x="12881" y="3595"/>
              <a:ext cx="257" cy="616"/>
            </a:xfrm>
            <a:prstGeom prst="rect">
              <a:avLst/>
            </a:prstGeom>
            <a:gradFill>
              <a:gsLst>
                <a:gs pos="100000">
                  <a:schemeClr val="accent5"/>
                </a:gs>
                <a:gs pos="0">
                  <a:schemeClr val="accent5">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0" name="矩形 59"/>
            <p:cNvSpPr/>
            <p:nvPr/>
          </p:nvSpPr>
          <p:spPr>
            <a:xfrm>
              <a:off x="13195" y="3595"/>
              <a:ext cx="2380" cy="616"/>
            </a:xfrm>
            <a:prstGeom prst="rect">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solidFill>
                    <a:schemeClr val="tx2"/>
                  </a:solidFill>
                  <a:cs typeface="微软雅黑" panose="020B0503020204020204" charset="-122"/>
                </a:rPr>
                <a:t>内容生产</a:t>
              </a:r>
              <a:endParaRPr lang="zh-CN" altLang="en-US" sz="1400" b="1">
                <a:solidFill>
                  <a:schemeClr val="tx2"/>
                </a:solidFill>
                <a:cs typeface="微软雅黑" panose="020B0503020204020204" charset="-122"/>
              </a:endParaRPr>
            </a:p>
          </p:txBody>
        </p:sp>
        <p:sp>
          <p:nvSpPr>
            <p:cNvPr id="123" name="文本框 122"/>
            <p:cNvSpPr txBox="1"/>
            <p:nvPr/>
          </p:nvSpPr>
          <p:spPr>
            <a:xfrm>
              <a:off x="12713" y="4425"/>
              <a:ext cx="5831" cy="1128"/>
            </a:xfrm>
            <a:prstGeom prst="rect">
              <a:avLst/>
            </a:prstGeom>
            <a:noFill/>
          </p:spPr>
          <p:txBody>
            <a:bodyPr wrap="square" rtlCol="0">
              <a:noAutofit/>
            </a:bodyPr>
            <a:p>
              <a:pPr indent="0">
                <a:buFont typeface="微软雅黑" panose="020B0503020204020204" charset="-122"/>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打造付费会员专属内容（如《女性健康年度指南》），通过边生产边更新的方式，提高内容时效性。</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indent="0">
                <a:buFont typeface="微软雅黑" panose="020B0503020204020204" charset="-122"/>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场景：</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付费会员健康指南</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29" name="组合 128"/>
          <p:cNvGrpSpPr/>
          <p:nvPr/>
        </p:nvGrpSpPr>
        <p:grpSpPr>
          <a:xfrm>
            <a:off x="8353425" y="3937000"/>
            <a:ext cx="3562985" cy="1205865"/>
            <a:chOff x="12851" y="5757"/>
            <a:chExt cx="5611" cy="1899"/>
          </a:xfrm>
        </p:grpSpPr>
        <p:sp>
          <p:nvSpPr>
            <p:cNvPr id="62" name="矩形 61"/>
            <p:cNvSpPr/>
            <p:nvPr/>
          </p:nvSpPr>
          <p:spPr>
            <a:xfrm>
              <a:off x="12881" y="5757"/>
              <a:ext cx="257" cy="616"/>
            </a:xfrm>
            <a:prstGeom prst="rect">
              <a:avLst/>
            </a:prstGeom>
            <a:gradFill>
              <a:gsLst>
                <a:gs pos="100000">
                  <a:schemeClr val="accent5"/>
                </a:gs>
                <a:gs pos="0">
                  <a:schemeClr val="accent5">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0" name="矩形 69"/>
            <p:cNvSpPr/>
            <p:nvPr/>
          </p:nvSpPr>
          <p:spPr>
            <a:xfrm>
              <a:off x="13195" y="5757"/>
              <a:ext cx="2380" cy="616"/>
            </a:xfrm>
            <a:prstGeom prst="rect">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tx2"/>
                  </a:solidFill>
                  <a:cs typeface="微软雅黑" panose="020B0503020204020204" charset="-122"/>
                  <a:sym typeface="+mn-ea"/>
                </a:rPr>
                <a:t>用户服务</a:t>
              </a:r>
              <a:endParaRPr lang="zh-CN" altLang="en-US" sz="1400" b="1">
                <a:solidFill>
                  <a:schemeClr val="tx2"/>
                </a:solidFill>
                <a:cs typeface="微软雅黑" panose="020B0503020204020204" charset="-122"/>
                <a:sym typeface="+mn-ea"/>
              </a:endParaRPr>
            </a:p>
          </p:txBody>
        </p:sp>
        <p:sp>
          <p:nvSpPr>
            <p:cNvPr id="126" name="文本框 125"/>
            <p:cNvSpPr txBox="1"/>
            <p:nvPr/>
          </p:nvSpPr>
          <p:spPr>
            <a:xfrm>
              <a:off x="12851" y="6528"/>
              <a:ext cx="5611" cy="1128"/>
            </a:xfrm>
            <a:prstGeom prst="rect">
              <a:avLst/>
            </a:prstGeom>
            <a:noFill/>
          </p:spPr>
          <p:txBody>
            <a:bodyPr wrap="square" rtlCol="0">
              <a:noAutofit/>
            </a:bodyPr>
            <a:p>
              <a:pPr indent="0">
                <a:buFont typeface="微软雅黑" panose="020B0503020204020204" charset="-122"/>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利用社区打卡、育儿知识测试等助学服务，强化用户粘性与内容交付质量。</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indent="0">
                <a:buFont typeface="微软雅黑" panose="020B0503020204020204" charset="-122"/>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场景：</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育儿知识闯关测试</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30" name="组合 129"/>
          <p:cNvGrpSpPr/>
          <p:nvPr/>
        </p:nvGrpSpPr>
        <p:grpSpPr>
          <a:xfrm>
            <a:off x="8243570" y="5302250"/>
            <a:ext cx="3672840" cy="1194435"/>
            <a:chOff x="12718" y="7982"/>
            <a:chExt cx="5784" cy="1881"/>
          </a:xfrm>
        </p:grpSpPr>
        <p:sp>
          <p:nvSpPr>
            <p:cNvPr id="72" name="矩形 71"/>
            <p:cNvSpPr/>
            <p:nvPr/>
          </p:nvSpPr>
          <p:spPr>
            <a:xfrm>
              <a:off x="12891" y="7982"/>
              <a:ext cx="257" cy="616"/>
            </a:xfrm>
            <a:prstGeom prst="rect">
              <a:avLst/>
            </a:prstGeom>
            <a:gradFill>
              <a:gsLst>
                <a:gs pos="100000">
                  <a:schemeClr val="accent5"/>
                </a:gs>
                <a:gs pos="0">
                  <a:schemeClr val="accent5">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3" name="矩形 72"/>
            <p:cNvSpPr/>
            <p:nvPr/>
          </p:nvSpPr>
          <p:spPr>
            <a:xfrm>
              <a:off x="13205" y="7982"/>
              <a:ext cx="2380" cy="616"/>
            </a:xfrm>
            <a:prstGeom prst="rect">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tx2"/>
                  </a:solidFill>
                  <a:cs typeface="微软雅黑" panose="020B0503020204020204" charset="-122"/>
                  <a:sym typeface="+mn-ea"/>
                </a:rPr>
                <a:t>互动体验</a:t>
              </a:r>
              <a:endParaRPr lang="zh-CN" altLang="en-US" sz="1400" b="1">
                <a:solidFill>
                  <a:schemeClr val="tx2"/>
                </a:solidFill>
                <a:cs typeface="微软雅黑" panose="020B0503020204020204" charset="-122"/>
                <a:sym typeface="+mn-ea"/>
              </a:endParaRPr>
            </a:p>
          </p:txBody>
        </p:sp>
        <p:sp>
          <p:nvSpPr>
            <p:cNvPr id="127" name="文本框 126"/>
            <p:cNvSpPr txBox="1"/>
            <p:nvPr/>
          </p:nvSpPr>
          <p:spPr>
            <a:xfrm>
              <a:off x="12718" y="8735"/>
              <a:ext cx="5784" cy="1128"/>
            </a:xfrm>
            <a:prstGeom prst="rect">
              <a:avLst/>
            </a:prstGeom>
            <a:noFill/>
          </p:spPr>
          <p:txBody>
            <a:bodyPr wrap="square" rtlCol="0">
              <a:noAutofit/>
            </a:bodyPr>
            <a:p>
              <a:pPr indent="0">
                <a:buFont typeface="微软雅黑" panose="020B0503020204020204" charset="-122"/>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通过线上妈妈社群</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线下亲子活动，让核心用户（如育儿专家用户）成为内容共创者，实现价值裂变。</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indent="0">
                <a:buFont typeface="微软雅黑" panose="020B0503020204020204" charset="-122"/>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场景：</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社群达人妈妈</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grpSp>
      <p:cxnSp>
        <p:nvCxnSpPr>
          <p:cNvPr id="131" name="肘形连接符 130"/>
          <p:cNvCxnSpPr/>
          <p:nvPr/>
        </p:nvCxnSpPr>
        <p:spPr>
          <a:xfrm rot="10800000" flipV="1">
            <a:off x="8354695" y="2711450"/>
            <a:ext cx="17780" cy="1306195"/>
          </a:xfrm>
          <a:prstGeom prst="bentConnector3">
            <a:avLst>
              <a:gd name="adj1" fmla="val 1439286"/>
            </a:avLst>
          </a:prstGeom>
          <a:ln>
            <a:solidFill>
              <a:schemeClr val="accent5"/>
            </a:solidFill>
            <a:tailEnd type="arrow"/>
          </a:ln>
        </p:spPr>
        <p:style>
          <a:lnRef idx="2">
            <a:schemeClr val="accent1"/>
          </a:lnRef>
          <a:fillRef idx="0">
            <a:srgbClr val="FFFFFF"/>
          </a:fillRef>
          <a:effectRef idx="0">
            <a:srgbClr val="FFFFFF"/>
          </a:effectRef>
          <a:fontRef idx="minor">
            <a:schemeClr val="tx1"/>
          </a:fontRef>
        </p:style>
      </p:cxnSp>
      <p:cxnSp>
        <p:nvCxnSpPr>
          <p:cNvPr id="132" name="肘形连接符 131"/>
          <p:cNvCxnSpPr/>
          <p:nvPr/>
        </p:nvCxnSpPr>
        <p:spPr>
          <a:xfrm rot="10800000" flipH="1" flipV="1">
            <a:off x="8336280" y="4254500"/>
            <a:ext cx="26035" cy="1242695"/>
          </a:xfrm>
          <a:prstGeom prst="bentConnector3">
            <a:avLst>
              <a:gd name="adj1" fmla="val -914634"/>
            </a:avLst>
          </a:prstGeom>
          <a:ln>
            <a:solidFill>
              <a:schemeClr val="accent5"/>
            </a:solidFill>
            <a:tailEnd type="arrow"/>
          </a:ln>
        </p:spPr>
        <p:style>
          <a:lnRef idx="2">
            <a:schemeClr val="accent1"/>
          </a:lnRef>
          <a:fillRef idx="0">
            <a:srgbClr val="FFFFFF"/>
          </a:fillRef>
          <a:effectRef idx="0">
            <a:srgbClr val="FFFFFF"/>
          </a:effectRef>
          <a:fontRef idx="minor">
            <a:schemeClr val="tx1"/>
          </a:fontRef>
        </p:style>
      </p:cxn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635000" y="1061720"/>
            <a:ext cx="10861040" cy="908685"/>
          </a:xfrm>
          <a:prstGeom prst="rect">
            <a:avLst/>
          </a:prstGeom>
          <a:gradFill>
            <a:gsLst>
              <a:gs pos="0">
                <a:schemeClr val="accent5">
                  <a:lumMod val="20000"/>
                  <a:lumOff val="80000"/>
                  <a:alpha val="70000"/>
                </a:schemeClr>
              </a:gs>
              <a:gs pos="100000">
                <a:schemeClr val="accent5">
                  <a:lumMod val="20000"/>
                  <a:lumOff val="80000"/>
                  <a:alpha val="0"/>
                </a:schemeClr>
              </a:gs>
            </a:gsLst>
            <a:lin ang="5400000" scaled="0"/>
          </a:gra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客户引流传播路径图</a:t>
            </a:r>
            <a:r>
              <a:rPr sz="2500">
                <a:solidFill>
                  <a:schemeClr val="tx2"/>
                </a:solidFill>
                <a:effectLst/>
                <a:latin typeface="微软雅黑" panose="020B0503020204020204" charset="-122"/>
                <a:ea typeface="微软雅黑" panose="020B0503020204020204" charset="-122"/>
                <a:cs typeface="微软雅黑" panose="020B0503020204020204" charset="-122"/>
              </a:rPr>
              <a:t> </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7" name="组合 6"/>
          <p:cNvGrpSpPr/>
          <p:nvPr>
            <p:custDataLst>
              <p:tags r:id="rId3"/>
            </p:custDataLst>
          </p:nvPr>
        </p:nvGrpSpPr>
        <p:grpSpPr>
          <a:xfrm>
            <a:off x="949325" y="1291590"/>
            <a:ext cx="1498600" cy="530860"/>
            <a:chOff x="1219" y="1552"/>
            <a:chExt cx="2360" cy="836"/>
          </a:xfrm>
        </p:grpSpPr>
        <p:sp>
          <p:nvSpPr>
            <p:cNvPr id="4" name="文本框 3"/>
            <p:cNvSpPr txBox="1"/>
            <p:nvPr>
              <p:custDataLst>
                <p:tags r:id="rId4"/>
              </p:custDataLst>
            </p:nvPr>
          </p:nvSpPr>
          <p:spPr>
            <a:xfrm>
              <a:off x="1599" y="1552"/>
              <a:ext cx="1600" cy="483"/>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引流</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5"/>
              </p:custDataLst>
            </p:nvPr>
          </p:nvSpPr>
          <p:spPr>
            <a:xfrm>
              <a:off x="1219" y="1905"/>
              <a:ext cx="2360" cy="483"/>
            </a:xfrm>
            <a:prstGeom prst="rect">
              <a:avLst/>
            </a:prstGeom>
            <a:noFill/>
          </p:spPr>
          <p:txBody>
            <a:bodyPr wrap="square" rtlCol="0">
              <a:spAutoFit/>
            </a:bodyPr>
            <a:p>
              <a:pPr algn="ctr"/>
              <a:r>
                <a:rPr lang="en-US" altLang="zh-CN" sz="1400" b="1">
                  <a:solidFill>
                    <a:schemeClr val="tx2"/>
                  </a:solidFill>
                  <a:latin typeface="微软雅黑" panose="020B0503020204020204" charset="-122"/>
                  <a:ea typeface="微软雅黑" panose="020B0503020204020204" charset="-122"/>
                  <a:cs typeface="微软雅黑" panose="020B0503020204020204" charset="-122"/>
                </a:rPr>
                <a:t>Acquisition</a:t>
              </a:r>
              <a:endParaRPr lang="en-US" altLang="zh-CN" sz="1400" b="1">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8" name="组合 7"/>
          <p:cNvGrpSpPr/>
          <p:nvPr>
            <p:custDataLst>
              <p:tags r:id="rId6"/>
            </p:custDataLst>
          </p:nvPr>
        </p:nvGrpSpPr>
        <p:grpSpPr>
          <a:xfrm>
            <a:off x="3110230" y="1291590"/>
            <a:ext cx="1498600" cy="530860"/>
            <a:chOff x="1219" y="1552"/>
            <a:chExt cx="2360" cy="836"/>
          </a:xfrm>
        </p:grpSpPr>
        <p:sp>
          <p:nvSpPr>
            <p:cNvPr id="9" name="文本框 8"/>
            <p:cNvSpPr txBox="1"/>
            <p:nvPr>
              <p:custDataLst>
                <p:tags r:id="rId7"/>
              </p:custDataLst>
            </p:nvPr>
          </p:nvSpPr>
          <p:spPr>
            <a:xfrm>
              <a:off x="1599" y="1552"/>
              <a:ext cx="1600" cy="483"/>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激活</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custDataLst>
                <p:tags r:id="rId8"/>
              </p:custDataLst>
            </p:nvPr>
          </p:nvSpPr>
          <p:spPr>
            <a:xfrm>
              <a:off x="1219" y="1905"/>
              <a:ext cx="2360" cy="483"/>
            </a:xfrm>
            <a:prstGeom prst="rect">
              <a:avLst/>
            </a:prstGeom>
            <a:noFill/>
          </p:spPr>
          <p:txBody>
            <a:bodyPr wrap="square" rtlCol="0">
              <a:spAutoFit/>
            </a:bodyPr>
            <a:p>
              <a:pPr algn="ctr"/>
              <a:r>
                <a:rPr lang="en-US" altLang="zh-CN" sz="1400" b="1">
                  <a:solidFill>
                    <a:schemeClr val="tx2"/>
                  </a:solidFill>
                  <a:latin typeface="微软雅黑" panose="020B0503020204020204" charset="-122"/>
                  <a:ea typeface="微软雅黑" panose="020B0503020204020204" charset="-122"/>
                  <a:cs typeface="微软雅黑" panose="020B0503020204020204" charset="-122"/>
                </a:rPr>
                <a:t>Active</a:t>
              </a:r>
              <a:endParaRPr lang="en-US" altLang="zh-CN" sz="1400" b="1">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2" name="组合 11"/>
          <p:cNvGrpSpPr/>
          <p:nvPr>
            <p:custDataLst>
              <p:tags r:id="rId9"/>
            </p:custDataLst>
          </p:nvPr>
        </p:nvGrpSpPr>
        <p:grpSpPr>
          <a:xfrm>
            <a:off x="5271135" y="1291590"/>
            <a:ext cx="1498600" cy="530860"/>
            <a:chOff x="1219" y="1552"/>
            <a:chExt cx="2360" cy="836"/>
          </a:xfrm>
        </p:grpSpPr>
        <p:sp>
          <p:nvSpPr>
            <p:cNvPr id="13" name="文本框 12"/>
            <p:cNvSpPr txBox="1"/>
            <p:nvPr>
              <p:custDataLst>
                <p:tags r:id="rId10"/>
              </p:custDataLst>
            </p:nvPr>
          </p:nvSpPr>
          <p:spPr>
            <a:xfrm>
              <a:off x="1599" y="1552"/>
              <a:ext cx="1600" cy="483"/>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留存</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custDataLst>
                <p:tags r:id="rId11"/>
              </p:custDataLst>
            </p:nvPr>
          </p:nvSpPr>
          <p:spPr>
            <a:xfrm>
              <a:off x="1219" y="1905"/>
              <a:ext cx="2360" cy="483"/>
            </a:xfrm>
            <a:prstGeom prst="rect">
              <a:avLst/>
            </a:prstGeom>
            <a:noFill/>
          </p:spPr>
          <p:txBody>
            <a:bodyPr wrap="square" rtlCol="0">
              <a:spAutoFit/>
            </a:bodyPr>
            <a:p>
              <a:pPr algn="ctr"/>
              <a:r>
                <a:rPr lang="en-US" altLang="zh-CN" sz="1400" b="1">
                  <a:solidFill>
                    <a:schemeClr val="tx2"/>
                  </a:solidFill>
                  <a:latin typeface="微软雅黑" panose="020B0503020204020204" charset="-122"/>
                  <a:ea typeface="微软雅黑" panose="020B0503020204020204" charset="-122"/>
                  <a:cs typeface="微软雅黑" panose="020B0503020204020204" charset="-122"/>
                </a:rPr>
                <a:t>Retention</a:t>
              </a:r>
              <a:endParaRPr lang="en-US" altLang="zh-CN" sz="1400" b="1">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7" name="组合 16"/>
          <p:cNvGrpSpPr/>
          <p:nvPr>
            <p:custDataLst>
              <p:tags r:id="rId12"/>
            </p:custDataLst>
          </p:nvPr>
        </p:nvGrpSpPr>
        <p:grpSpPr>
          <a:xfrm>
            <a:off x="7432040" y="1291590"/>
            <a:ext cx="1498600" cy="530860"/>
            <a:chOff x="1219" y="1552"/>
            <a:chExt cx="2360" cy="836"/>
          </a:xfrm>
        </p:grpSpPr>
        <p:sp>
          <p:nvSpPr>
            <p:cNvPr id="18" name="文本框 17"/>
            <p:cNvSpPr txBox="1"/>
            <p:nvPr>
              <p:custDataLst>
                <p:tags r:id="rId13"/>
              </p:custDataLst>
            </p:nvPr>
          </p:nvSpPr>
          <p:spPr>
            <a:xfrm>
              <a:off x="1599" y="1552"/>
              <a:ext cx="1600" cy="483"/>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收入</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custDataLst>
                <p:tags r:id="rId14"/>
              </p:custDataLst>
            </p:nvPr>
          </p:nvSpPr>
          <p:spPr>
            <a:xfrm>
              <a:off x="1219" y="1905"/>
              <a:ext cx="2360" cy="483"/>
            </a:xfrm>
            <a:prstGeom prst="rect">
              <a:avLst/>
            </a:prstGeom>
            <a:noFill/>
          </p:spPr>
          <p:txBody>
            <a:bodyPr wrap="square" rtlCol="0">
              <a:spAutoFit/>
            </a:bodyPr>
            <a:p>
              <a:pPr algn="ctr"/>
              <a:r>
                <a:rPr lang="en-US" altLang="zh-CN" sz="1400" b="1">
                  <a:solidFill>
                    <a:schemeClr val="tx2"/>
                  </a:solidFill>
                  <a:latin typeface="微软雅黑" panose="020B0503020204020204" charset="-122"/>
                  <a:ea typeface="微软雅黑" panose="020B0503020204020204" charset="-122"/>
                  <a:cs typeface="微软雅黑" panose="020B0503020204020204" charset="-122"/>
                </a:rPr>
                <a:t>Revenue</a:t>
              </a:r>
              <a:endParaRPr lang="en-US" altLang="zh-CN" sz="1400" b="1">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20" name="组合 19"/>
          <p:cNvGrpSpPr/>
          <p:nvPr>
            <p:custDataLst>
              <p:tags r:id="rId15"/>
            </p:custDataLst>
          </p:nvPr>
        </p:nvGrpSpPr>
        <p:grpSpPr>
          <a:xfrm>
            <a:off x="9592945" y="1291590"/>
            <a:ext cx="1498600" cy="530860"/>
            <a:chOff x="1219" y="1552"/>
            <a:chExt cx="2360" cy="836"/>
          </a:xfrm>
        </p:grpSpPr>
        <p:sp>
          <p:nvSpPr>
            <p:cNvPr id="21" name="文本框 20"/>
            <p:cNvSpPr txBox="1"/>
            <p:nvPr>
              <p:custDataLst>
                <p:tags r:id="rId16"/>
              </p:custDataLst>
            </p:nvPr>
          </p:nvSpPr>
          <p:spPr>
            <a:xfrm>
              <a:off x="1599" y="1552"/>
              <a:ext cx="1600" cy="483"/>
            </a:xfrm>
            <a:prstGeom prst="rect">
              <a:avLst/>
            </a:prstGeom>
            <a:noFill/>
          </p:spPr>
          <p:txBody>
            <a:bodyPr wrap="square" rtlCol="0">
              <a:spAutoFit/>
            </a:bodyPr>
            <a:p>
              <a:pPr algn="ct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传播</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7"/>
              </p:custDataLst>
            </p:nvPr>
          </p:nvSpPr>
          <p:spPr>
            <a:xfrm>
              <a:off x="1219" y="1905"/>
              <a:ext cx="2360" cy="483"/>
            </a:xfrm>
            <a:prstGeom prst="rect">
              <a:avLst/>
            </a:prstGeom>
            <a:noFill/>
          </p:spPr>
          <p:txBody>
            <a:bodyPr wrap="square" rtlCol="0">
              <a:spAutoFit/>
            </a:bodyPr>
            <a:p>
              <a:pPr algn="ctr"/>
              <a:r>
                <a:rPr lang="en-US" altLang="zh-CN" sz="1400" b="1">
                  <a:solidFill>
                    <a:schemeClr val="tx2"/>
                  </a:solidFill>
                  <a:latin typeface="微软雅黑" panose="020B0503020204020204" charset="-122"/>
                  <a:ea typeface="微软雅黑" panose="020B0503020204020204" charset="-122"/>
                  <a:cs typeface="微软雅黑" panose="020B0503020204020204" charset="-122"/>
                </a:rPr>
                <a:t>Referral</a:t>
              </a:r>
              <a:endParaRPr lang="en-US" altLang="zh-CN" sz="1400" b="1">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29" name="组合 28"/>
          <p:cNvGrpSpPr/>
          <p:nvPr>
            <p:custDataLst>
              <p:tags r:id="rId18"/>
            </p:custDataLst>
          </p:nvPr>
        </p:nvGrpSpPr>
        <p:grpSpPr>
          <a:xfrm>
            <a:off x="2165350" y="1421130"/>
            <a:ext cx="916940" cy="185420"/>
            <a:chOff x="6145" y="2623"/>
            <a:chExt cx="1444" cy="292"/>
          </a:xfrm>
          <a:gradFill>
            <a:gsLst>
              <a:gs pos="0">
                <a:schemeClr val="accent5">
                  <a:lumMod val="60000"/>
                  <a:lumOff val="40000"/>
                </a:schemeClr>
              </a:gs>
              <a:gs pos="100000">
                <a:schemeClr val="accent5">
                  <a:lumMod val="60000"/>
                  <a:lumOff val="40000"/>
                  <a:alpha val="10000"/>
                </a:schemeClr>
              </a:gs>
            </a:gsLst>
            <a:lin ang="10800000" scaled="0"/>
          </a:gradFill>
        </p:grpSpPr>
        <p:sp>
          <p:nvSpPr>
            <p:cNvPr id="30" name="燕尾形 29"/>
            <p:cNvSpPr/>
            <p:nvPr>
              <p:custDataLst>
                <p:tags r:id="rId19"/>
              </p:custDataLst>
            </p:nvPr>
          </p:nvSpPr>
          <p:spPr>
            <a:xfrm>
              <a:off x="6879" y="2623"/>
              <a:ext cx="710"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1" name="燕尾形 30"/>
            <p:cNvSpPr/>
            <p:nvPr>
              <p:custDataLst>
                <p:tags r:id="rId20"/>
              </p:custDataLst>
            </p:nvPr>
          </p:nvSpPr>
          <p:spPr>
            <a:xfrm>
              <a:off x="6425" y="2623"/>
              <a:ext cx="417"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2" name="燕尾形 31"/>
            <p:cNvSpPr/>
            <p:nvPr>
              <p:custDataLst>
                <p:tags r:id="rId21"/>
              </p:custDataLst>
            </p:nvPr>
          </p:nvSpPr>
          <p:spPr>
            <a:xfrm>
              <a:off x="6145" y="2623"/>
              <a:ext cx="273"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46" name="梯形 45"/>
          <p:cNvSpPr/>
          <p:nvPr/>
        </p:nvSpPr>
        <p:spPr>
          <a:xfrm flipV="1">
            <a:off x="570230" y="5408295"/>
            <a:ext cx="10925175" cy="970915"/>
          </a:xfrm>
          <a:prstGeom prst="trapezoid">
            <a:avLst>
              <a:gd name="adj" fmla="val 77590"/>
            </a:avLst>
          </a:prstGeom>
          <a:gradFill>
            <a:gsLst>
              <a:gs pos="0">
                <a:schemeClr val="accent1">
                  <a:lumMod val="20000"/>
                  <a:lumOff val="80000"/>
                </a:schemeClr>
              </a:gs>
              <a:gs pos="100000">
                <a:schemeClr val="accent1">
                  <a:lumMod val="20000"/>
                  <a:lumOff val="80000"/>
                  <a:alpha val="0"/>
                </a:schemeClr>
              </a:gs>
            </a:gsLst>
            <a:lin ang="5400000" scaled="0"/>
          </a:gradFill>
          <a:ln>
            <a:gradFill>
              <a:gsLst>
                <a:gs pos="0">
                  <a:schemeClr val="accent1"/>
                </a:gs>
                <a:gs pos="94000">
                  <a:schemeClr val="accent1">
                    <a:alpha val="0"/>
                  </a:schemeClr>
                </a:gs>
              </a:gsLst>
              <a:lin ang="5400000" scaled="1"/>
            </a:gra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60" name="梯形 159"/>
          <p:cNvSpPr/>
          <p:nvPr/>
        </p:nvSpPr>
        <p:spPr>
          <a:xfrm rot="5400000">
            <a:off x="905510" y="1795145"/>
            <a:ext cx="3350895" cy="3891915"/>
          </a:xfrm>
          <a:prstGeom prst="trapezoid">
            <a:avLst>
              <a:gd name="adj" fmla="val 33030"/>
            </a:avLst>
          </a:prstGeom>
          <a:gradFill>
            <a:gsLst>
              <a:gs pos="100000">
                <a:schemeClr val="accent1">
                  <a:lumMod val="60000"/>
                  <a:lumOff val="40000"/>
                  <a:alpha val="20000"/>
                </a:schemeClr>
              </a:gs>
              <a:gs pos="0">
                <a:schemeClr val="accent1">
                  <a:lumMod val="60000"/>
                  <a:lumOff val="4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7" name="梯形 46"/>
          <p:cNvSpPr/>
          <p:nvPr/>
        </p:nvSpPr>
        <p:spPr>
          <a:xfrm rot="16200000" flipH="1">
            <a:off x="8180705" y="1949450"/>
            <a:ext cx="3098165" cy="3531870"/>
          </a:xfrm>
          <a:prstGeom prst="trapezoid">
            <a:avLst>
              <a:gd name="adj" fmla="val 30364"/>
            </a:avLst>
          </a:prstGeom>
          <a:gradFill>
            <a:gsLst>
              <a:gs pos="100000">
                <a:schemeClr val="accent1">
                  <a:lumMod val="60000"/>
                  <a:lumOff val="40000"/>
                  <a:alpha val="20000"/>
                </a:schemeClr>
              </a:gs>
              <a:gs pos="0">
                <a:schemeClr val="accent1">
                  <a:lumMod val="60000"/>
                  <a:lumOff val="4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8" name="圆角矩形 47"/>
          <p:cNvSpPr/>
          <p:nvPr/>
        </p:nvSpPr>
        <p:spPr>
          <a:xfrm>
            <a:off x="3288030" y="5498465"/>
            <a:ext cx="1242695" cy="337185"/>
          </a:xfrm>
          <a:prstGeom prst="roundRect">
            <a:avLst/>
          </a:prstGeom>
          <a:solidFill>
            <a:schemeClr val="bg1"/>
          </a:solidFill>
          <a:ln w="19050"/>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accent1"/>
                </a:solidFill>
                <a:latin typeface="微软雅黑" panose="020B0503020204020204" charset="-122"/>
                <a:ea typeface="微软雅黑" panose="020B0503020204020204" charset="-122"/>
                <a:cs typeface="微软雅黑" panose="020B0503020204020204" charset="-122"/>
              </a:rPr>
              <a:t>汇集数据</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9" name="圆角矩形 48"/>
          <p:cNvSpPr/>
          <p:nvPr/>
        </p:nvSpPr>
        <p:spPr>
          <a:xfrm>
            <a:off x="4820285" y="5498465"/>
            <a:ext cx="1242695" cy="337185"/>
          </a:xfrm>
          <a:prstGeom prst="roundRect">
            <a:avLst/>
          </a:prstGeom>
          <a:solidFill>
            <a:schemeClr val="bg1"/>
          </a:solidFill>
          <a:ln w="19050"/>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accent1"/>
                </a:solidFill>
                <a:latin typeface="微软雅黑" panose="020B0503020204020204" charset="-122"/>
                <a:ea typeface="微软雅黑" panose="020B0503020204020204" charset="-122"/>
                <a:cs typeface="微软雅黑" panose="020B0503020204020204" charset="-122"/>
                <a:sym typeface="+mn-ea"/>
              </a:rPr>
              <a:t>用户分析</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50" name="圆角矩形 49"/>
          <p:cNvSpPr/>
          <p:nvPr/>
        </p:nvSpPr>
        <p:spPr>
          <a:xfrm>
            <a:off x="6352540" y="5497830"/>
            <a:ext cx="1242695" cy="337820"/>
          </a:xfrm>
          <a:prstGeom prst="roundRect">
            <a:avLst/>
          </a:prstGeom>
          <a:solidFill>
            <a:schemeClr val="bg1"/>
          </a:solidFill>
          <a:ln w="19050"/>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accent1"/>
                </a:solidFill>
                <a:latin typeface="微软雅黑" panose="020B0503020204020204" charset="-122"/>
                <a:ea typeface="微软雅黑" panose="020B0503020204020204" charset="-122"/>
                <a:cs typeface="微软雅黑" panose="020B0503020204020204" charset="-122"/>
                <a:sym typeface="+mn-ea"/>
              </a:rPr>
              <a:t>数智决策</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51" name="圆角矩形 50"/>
          <p:cNvSpPr/>
          <p:nvPr/>
        </p:nvSpPr>
        <p:spPr>
          <a:xfrm>
            <a:off x="7884795" y="5498465"/>
            <a:ext cx="1242695" cy="337185"/>
          </a:xfrm>
          <a:prstGeom prst="roundRect">
            <a:avLst/>
          </a:prstGeom>
          <a:solidFill>
            <a:schemeClr val="bg1"/>
          </a:solidFill>
          <a:ln w="19050"/>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accent1"/>
                </a:solidFill>
                <a:latin typeface="微软雅黑" panose="020B0503020204020204" charset="-122"/>
                <a:ea typeface="微软雅黑" panose="020B0503020204020204" charset="-122"/>
                <a:cs typeface="微软雅黑" panose="020B0503020204020204" charset="-122"/>
                <a:sym typeface="+mn-ea"/>
              </a:rPr>
              <a:t>统一运营</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52" name="圆角矩形 51"/>
          <p:cNvSpPr/>
          <p:nvPr/>
        </p:nvSpPr>
        <p:spPr>
          <a:xfrm>
            <a:off x="9417050" y="5498465"/>
            <a:ext cx="1242695" cy="337185"/>
          </a:xfrm>
          <a:prstGeom prst="roundRect">
            <a:avLst/>
          </a:prstGeom>
          <a:solidFill>
            <a:schemeClr val="bg1"/>
          </a:solidFill>
          <a:ln w="19050"/>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accent1"/>
                </a:solidFill>
                <a:latin typeface="微软雅黑" panose="020B0503020204020204" charset="-122"/>
                <a:ea typeface="微软雅黑" panose="020B0503020204020204" charset="-122"/>
                <a:cs typeface="微软雅黑" panose="020B0503020204020204" charset="-122"/>
                <a:sym typeface="+mn-ea"/>
              </a:rPr>
              <a:t>多点管理</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53" name="左中括号 52"/>
          <p:cNvSpPr/>
          <p:nvPr/>
        </p:nvSpPr>
        <p:spPr>
          <a:xfrm rot="16200000" flipV="1">
            <a:off x="4988560" y="4206875"/>
            <a:ext cx="120650" cy="3521710"/>
          </a:xfrm>
          <a:prstGeom prst="leftBracket">
            <a:avLst>
              <a:gd name="adj" fmla="val 76842"/>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4" name="左中括号 53"/>
          <p:cNvSpPr/>
          <p:nvPr/>
        </p:nvSpPr>
        <p:spPr>
          <a:xfrm rot="16200000" flipV="1">
            <a:off x="8786495" y="4213225"/>
            <a:ext cx="120650" cy="3521710"/>
          </a:xfrm>
          <a:prstGeom prst="leftBracket">
            <a:avLst>
              <a:gd name="adj" fmla="val 76842"/>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5" name="平行四边形 54"/>
          <p:cNvSpPr/>
          <p:nvPr/>
        </p:nvSpPr>
        <p:spPr>
          <a:xfrm>
            <a:off x="1691640" y="5549265"/>
            <a:ext cx="1277620" cy="485140"/>
          </a:xfrm>
          <a:prstGeom prst="parallelogram">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8" name="任意多边形 57"/>
          <p:cNvSpPr/>
          <p:nvPr/>
        </p:nvSpPr>
        <p:spPr>
          <a:xfrm rot="240000">
            <a:off x="1948815" y="2305050"/>
            <a:ext cx="2494915" cy="692150"/>
          </a:xfrm>
          <a:custGeom>
            <a:avLst/>
            <a:gdLst>
              <a:gd name="connisteX0" fmla="*/ 0 w 2533650"/>
              <a:gd name="connsiteY0" fmla="*/ 0 h 692150"/>
              <a:gd name="connisteX1" fmla="*/ 1479550 w 2533650"/>
              <a:gd name="connsiteY1" fmla="*/ 463550 h 692150"/>
              <a:gd name="connisteX2" fmla="*/ 2533650 w 2533650"/>
              <a:gd name="connsiteY2" fmla="*/ 692150 h 692150"/>
            </a:gdLst>
            <a:ahLst/>
            <a:cxnLst>
              <a:cxn ang="0">
                <a:pos x="connisteX0" y="connsiteY0"/>
              </a:cxn>
              <a:cxn ang="0">
                <a:pos x="connisteX1" y="connsiteY1"/>
              </a:cxn>
              <a:cxn ang="0">
                <a:pos x="connisteX2" y="connsiteY2"/>
              </a:cxn>
            </a:cxnLst>
            <a:rect l="l" t="t" r="r" b="b"/>
            <a:pathLst>
              <a:path w="2533650" h="692150">
                <a:moveTo>
                  <a:pt x="0" y="0"/>
                </a:moveTo>
                <a:cubicBezTo>
                  <a:pt x="274955" y="88265"/>
                  <a:pt x="972820" y="325120"/>
                  <a:pt x="1479550" y="463550"/>
                </a:cubicBezTo>
                <a:cubicBezTo>
                  <a:pt x="1986280" y="601980"/>
                  <a:pt x="2352675" y="655955"/>
                  <a:pt x="2533650" y="692150"/>
                </a:cubicBezTo>
              </a:path>
            </a:pathLst>
          </a:custGeom>
          <a:noFill/>
          <a:ln w="25400">
            <a:gradFill>
              <a:gsLst>
                <a:gs pos="0">
                  <a:schemeClr val="accent1">
                    <a:lumMod val="60000"/>
                    <a:lumOff val="40000"/>
                    <a:alpha val="0"/>
                  </a:schemeClr>
                </a:gs>
                <a:gs pos="100000">
                  <a:schemeClr val="accent1">
                    <a:lumMod val="60000"/>
                    <a:lumOff val="40000"/>
                  </a:schemeClr>
                </a:gs>
              </a:gsLst>
              <a:lin ang="5400000" scaled="1"/>
            </a:gradFill>
            <a:headEnd type="none"/>
            <a:tailEnd type="triangle" w="lg" len="med"/>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9" name="任意多边形 58"/>
          <p:cNvSpPr/>
          <p:nvPr/>
        </p:nvSpPr>
        <p:spPr>
          <a:xfrm rot="21420000" flipV="1">
            <a:off x="2056765" y="4455160"/>
            <a:ext cx="2453640" cy="692150"/>
          </a:xfrm>
          <a:custGeom>
            <a:avLst/>
            <a:gdLst>
              <a:gd name="connisteX0" fmla="*/ 0 w 2533650"/>
              <a:gd name="connsiteY0" fmla="*/ 0 h 692150"/>
              <a:gd name="connisteX1" fmla="*/ 1479550 w 2533650"/>
              <a:gd name="connsiteY1" fmla="*/ 463550 h 692150"/>
              <a:gd name="connisteX2" fmla="*/ 2533650 w 2533650"/>
              <a:gd name="connsiteY2" fmla="*/ 692150 h 692150"/>
            </a:gdLst>
            <a:ahLst/>
            <a:cxnLst>
              <a:cxn ang="0">
                <a:pos x="connisteX0" y="connsiteY0"/>
              </a:cxn>
              <a:cxn ang="0">
                <a:pos x="connisteX1" y="connsiteY1"/>
              </a:cxn>
              <a:cxn ang="0">
                <a:pos x="connisteX2" y="connsiteY2"/>
              </a:cxn>
            </a:cxnLst>
            <a:rect l="l" t="t" r="r" b="b"/>
            <a:pathLst>
              <a:path w="2533650" h="692150">
                <a:moveTo>
                  <a:pt x="0" y="0"/>
                </a:moveTo>
                <a:cubicBezTo>
                  <a:pt x="274955" y="88265"/>
                  <a:pt x="972820" y="325120"/>
                  <a:pt x="1479550" y="463550"/>
                </a:cubicBezTo>
                <a:cubicBezTo>
                  <a:pt x="1986280" y="601980"/>
                  <a:pt x="2352675" y="655955"/>
                  <a:pt x="2533650" y="692150"/>
                </a:cubicBezTo>
              </a:path>
            </a:pathLst>
          </a:custGeom>
          <a:noFill/>
          <a:ln w="25400">
            <a:gradFill>
              <a:gsLst>
                <a:gs pos="0">
                  <a:schemeClr val="accent1">
                    <a:lumMod val="60000"/>
                    <a:lumOff val="40000"/>
                    <a:alpha val="0"/>
                  </a:schemeClr>
                </a:gs>
                <a:gs pos="100000">
                  <a:schemeClr val="accent1">
                    <a:lumMod val="60000"/>
                    <a:lumOff val="40000"/>
                  </a:schemeClr>
                </a:gs>
              </a:gsLst>
              <a:lin ang="5400000" scaled="1"/>
            </a:gradFill>
            <a:headEnd type="none"/>
            <a:tailEnd type="triangle" w="lg" len="med"/>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0" name="任意多边形 59"/>
          <p:cNvSpPr/>
          <p:nvPr/>
        </p:nvSpPr>
        <p:spPr>
          <a:xfrm flipH="1" flipV="1">
            <a:off x="7964170" y="4406265"/>
            <a:ext cx="2533650" cy="692150"/>
          </a:xfrm>
          <a:custGeom>
            <a:avLst/>
            <a:gdLst>
              <a:gd name="connisteX0" fmla="*/ 0 w 2533650"/>
              <a:gd name="connsiteY0" fmla="*/ 0 h 692150"/>
              <a:gd name="connisteX1" fmla="*/ 1479550 w 2533650"/>
              <a:gd name="connsiteY1" fmla="*/ 463550 h 692150"/>
              <a:gd name="connisteX2" fmla="*/ 2533650 w 2533650"/>
              <a:gd name="connsiteY2" fmla="*/ 692150 h 692150"/>
            </a:gdLst>
            <a:ahLst/>
            <a:cxnLst>
              <a:cxn ang="0">
                <a:pos x="connisteX0" y="connsiteY0"/>
              </a:cxn>
              <a:cxn ang="0">
                <a:pos x="connisteX1" y="connsiteY1"/>
              </a:cxn>
              <a:cxn ang="0">
                <a:pos x="connisteX2" y="connsiteY2"/>
              </a:cxn>
            </a:cxnLst>
            <a:rect l="l" t="t" r="r" b="b"/>
            <a:pathLst>
              <a:path w="2533650" h="692150">
                <a:moveTo>
                  <a:pt x="0" y="0"/>
                </a:moveTo>
                <a:cubicBezTo>
                  <a:pt x="274955" y="88265"/>
                  <a:pt x="972820" y="325120"/>
                  <a:pt x="1479550" y="463550"/>
                </a:cubicBezTo>
                <a:cubicBezTo>
                  <a:pt x="1986280" y="601980"/>
                  <a:pt x="2352675" y="655955"/>
                  <a:pt x="2533650" y="692150"/>
                </a:cubicBezTo>
              </a:path>
            </a:pathLst>
          </a:custGeom>
          <a:noFill/>
          <a:ln w="25400">
            <a:gradFill>
              <a:gsLst>
                <a:gs pos="100000">
                  <a:schemeClr val="accent1">
                    <a:lumMod val="60000"/>
                    <a:lumOff val="40000"/>
                    <a:alpha val="0"/>
                  </a:schemeClr>
                </a:gs>
                <a:gs pos="0">
                  <a:schemeClr val="accent1">
                    <a:lumMod val="60000"/>
                    <a:lumOff val="40000"/>
                  </a:schemeClr>
                </a:gs>
              </a:gsLst>
              <a:lin ang="5400000" scaled="1"/>
            </a:gradFill>
            <a:headEnd type="triangle"/>
            <a:tailEnd type="none"/>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1" name="任意多边形 60"/>
          <p:cNvSpPr/>
          <p:nvPr/>
        </p:nvSpPr>
        <p:spPr>
          <a:xfrm flipH="1">
            <a:off x="8028305" y="2310765"/>
            <a:ext cx="2533650" cy="692150"/>
          </a:xfrm>
          <a:custGeom>
            <a:avLst/>
            <a:gdLst>
              <a:gd name="connisteX0" fmla="*/ 0 w 2533650"/>
              <a:gd name="connsiteY0" fmla="*/ 0 h 692150"/>
              <a:gd name="connisteX1" fmla="*/ 1479550 w 2533650"/>
              <a:gd name="connsiteY1" fmla="*/ 463550 h 692150"/>
              <a:gd name="connisteX2" fmla="*/ 2533650 w 2533650"/>
              <a:gd name="connsiteY2" fmla="*/ 692150 h 692150"/>
            </a:gdLst>
            <a:ahLst/>
            <a:cxnLst>
              <a:cxn ang="0">
                <a:pos x="connisteX0" y="connsiteY0"/>
              </a:cxn>
              <a:cxn ang="0">
                <a:pos x="connisteX1" y="connsiteY1"/>
              </a:cxn>
              <a:cxn ang="0">
                <a:pos x="connisteX2" y="connsiteY2"/>
              </a:cxn>
            </a:cxnLst>
            <a:rect l="l" t="t" r="r" b="b"/>
            <a:pathLst>
              <a:path w="2533650" h="692150">
                <a:moveTo>
                  <a:pt x="0" y="0"/>
                </a:moveTo>
                <a:cubicBezTo>
                  <a:pt x="274955" y="88265"/>
                  <a:pt x="972820" y="325120"/>
                  <a:pt x="1479550" y="463550"/>
                </a:cubicBezTo>
                <a:cubicBezTo>
                  <a:pt x="1986280" y="601980"/>
                  <a:pt x="2352675" y="655955"/>
                  <a:pt x="2533650" y="692150"/>
                </a:cubicBezTo>
              </a:path>
            </a:pathLst>
          </a:custGeom>
          <a:noFill/>
          <a:ln w="25400">
            <a:gradFill>
              <a:gsLst>
                <a:gs pos="100000">
                  <a:schemeClr val="accent1">
                    <a:lumMod val="60000"/>
                    <a:lumOff val="40000"/>
                    <a:alpha val="0"/>
                  </a:schemeClr>
                </a:gs>
                <a:gs pos="0">
                  <a:schemeClr val="accent1">
                    <a:lumMod val="60000"/>
                    <a:lumOff val="40000"/>
                  </a:schemeClr>
                </a:gs>
              </a:gsLst>
              <a:lin ang="5400000" scaled="1"/>
            </a:gradFill>
            <a:headEnd type="triangle"/>
            <a:tailEnd type="none"/>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3" name="圆角矩形 62"/>
          <p:cNvSpPr/>
          <p:nvPr/>
        </p:nvSpPr>
        <p:spPr>
          <a:xfrm>
            <a:off x="4543425" y="2747645"/>
            <a:ext cx="3340735" cy="2089150"/>
          </a:xfrm>
          <a:prstGeom prst="roundRect">
            <a:avLst>
              <a:gd name="adj" fmla="val 10273"/>
            </a:avLst>
          </a:prstGeom>
          <a:solidFill>
            <a:schemeClr val="accent5">
              <a:lumMod val="20000"/>
              <a:lumOff val="80000"/>
              <a:alpha val="50000"/>
            </a:schemeClr>
          </a:solidFill>
          <a:ln w="19050">
            <a:solidFill>
              <a:schemeClr val="accent5">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74" name="任意多边形 73"/>
          <p:cNvSpPr/>
          <p:nvPr/>
        </p:nvSpPr>
        <p:spPr>
          <a:xfrm>
            <a:off x="4766665" y="3121279"/>
            <a:ext cx="1273416" cy="404720"/>
          </a:xfrm>
          <a:custGeom>
            <a:avLst/>
            <a:gdLst>
              <a:gd name="adj1" fmla="val 10800000"/>
              <a:gd name="adj2" fmla="val 0"/>
              <a:gd name="adj3" fmla="val 25000"/>
              <a:gd name="stAng" fmla="pin 0 adj1 21599999"/>
              <a:gd name="istAng" fmla="pin 0 adj2 21599999"/>
              <a:gd name="a3" fmla="pin 0 adj3 50000"/>
              <a:gd name="sw11" fmla="+- istAng 0 stAng"/>
              <a:gd name="sw12" fmla="+- sw11 21600000 0"/>
              <a:gd name="swAng" fmla="?: sw11 sw11 sw12"/>
              <a:gd name="iswAng" fmla="+- 0 0 swAng"/>
              <a:gd name="wt1" fmla="sin wd2 stAng"/>
              <a:gd name="ht1" fmla="cos hd2 stAng"/>
              <a:gd name="wt3" fmla="sin wd2 istAng"/>
              <a:gd name="ht3" fmla="cos hd2 istAng"/>
              <a:gd name="dx1" fmla="cat2 wd2 ht1 wt1"/>
              <a:gd name="dy1" fmla="sat2 hd2 ht1 wt1"/>
              <a:gd name="dx3" fmla="cat2 wd2 ht3 wt3"/>
              <a:gd name="dy3" fmla="sat2 hd2 ht3 wt3"/>
              <a:gd name="x1" fmla="+- hc dx1 0"/>
              <a:gd name="y1" fmla="+- vc dy1 0"/>
              <a:gd name="x3" fmla="+- hc dx3 0"/>
              <a:gd name="y3" fmla="+- vc dy3 0"/>
              <a:gd name="dr" fmla="*/ ss a3 100000"/>
              <a:gd name="iwd2" fmla="+- wd2 0 dr"/>
              <a:gd name="ihd2" fmla="+- hd2 0 dr"/>
              <a:gd name="wt2" fmla="sin iwd2 istAng"/>
              <a:gd name="ht2" fmla="cos ihd2 istAng"/>
              <a:gd name="wt4" fmla="sin iwd2 stAng"/>
              <a:gd name="ht4" fmla="cos ihd2 stAng"/>
              <a:gd name="dx2" fmla="cat2 iwd2 ht2 wt2"/>
              <a:gd name="dy2" fmla="sat2 ihd2 ht2 wt2"/>
              <a:gd name="dx4" fmla="cat2 iwd2 ht4 wt4"/>
              <a:gd name="dy4" fmla="sat2 ihd2 ht4 wt4"/>
              <a:gd name="x2" fmla="+- hc dx2 0"/>
              <a:gd name="y2" fmla="+- vc dy2 0"/>
              <a:gd name="x4" fmla="+- hc dx4 0"/>
              <a:gd name="y4" fmla="+- vc dy4 0"/>
              <a:gd name="sw0" fmla="+- 21600000 0 stAng"/>
              <a:gd name="da1" fmla="+- swAng 0 sw0"/>
              <a:gd name="g1" fmla="max x1 x2"/>
              <a:gd name="g2" fmla="max x3 x4"/>
              <a:gd name="g3" fmla="max g1 g2"/>
              <a:gd name="ir" fmla="?: da1 r g3"/>
              <a:gd name="sw1" fmla="+- cd4 0 stAng"/>
              <a:gd name="sw2" fmla="+- 27000000 0 stAng"/>
              <a:gd name="sw3" fmla="?: sw1 sw1 sw2"/>
              <a:gd name="da2" fmla="+- swAng 0 sw3"/>
              <a:gd name="g5" fmla="max y1 y2"/>
              <a:gd name="g6" fmla="max y3 y4"/>
              <a:gd name="g7" fmla="max g5 g6"/>
              <a:gd name="ib" fmla="?: da2 b g7"/>
              <a:gd name="sw4" fmla="+- cd2 0 stAng"/>
              <a:gd name="sw5" fmla="+- 32400000 0 stAng"/>
              <a:gd name="sw6" fmla="?: sw4 sw4 sw5"/>
              <a:gd name="da3" fmla="+- swAng 0 sw6"/>
              <a:gd name="g9" fmla="min x1 x2"/>
              <a:gd name="g10" fmla="min x3 x4"/>
              <a:gd name="g11" fmla="min g9 g10"/>
              <a:gd name="il" fmla="?: da3 l g11"/>
              <a:gd name="sw7" fmla="+- 3 0 stAng"/>
              <a:gd name="sw8" fmla="+- 37800000 0 stAng"/>
              <a:gd name="sw9" fmla="?: sw7 sw7 sw8"/>
              <a:gd name="da4" fmla="+- swAng 0 sw9"/>
              <a:gd name="g13" fmla="min y1 y2"/>
              <a:gd name="g14" fmla="min y3 y4"/>
              <a:gd name="g15" fmla="min g13 g14"/>
              <a:gd name="it" fmla="?: da4 t g15"/>
              <a:gd name="x5" fmla="+/ x1 x4 2"/>
              <a:gd name="y5" fmla="+/ y1 y4 2"/>
              <a:gd name="x6" fmla="+/ x3 x2 2"/>
              <a:gd name="y6" fmla="+/ y3 y2 2"/>
              <a:gd name="cang1" fmla="+- stAng 0 cd4"/>
              <a:gd name="cang2" fmla="+- istAng cd4 0"/>
              <a:gd name="cang3" fmla="+/ cang1 cang2 2"/>
            </a:gdLst>
            <a:ahLst/>
            <a:cxnLst>
              <a:cxn ang="cang1">
                <a:pos x="x5" y="y5"/>
              </a:cxn>
              <a:cxn ang="cang2">
                <a:pos x="x6" y="y6"/>
              </a:cxn>
              <a:cxn ang="cang3">
                <a:pos x="hc" y="vc"/>
              </a:cxn>
            </a:cxnLst>
            <a:rect l="l" t="t" r="r" b="b"/>
            <a:pathLst>
              <a:path w="2005" h="637">
                <a:moveTo>
                  <a:pt x="0" y="270"/>
                </a:moveTo>
                <a:cubicBezTo>
                  <a:pt x="227" y="109"/>
                  <a:pt x="671" y="-10"/>
                  <a:pt x="937" y="1"/>
                </a:cubicBezTo>
                <a:lnTo>
                  <a:pt x="973" y="2"/>
                </a:lnTo>
                <a:lnTo>
                  <a:pt x="992" y="1"/>
                </a:lnTo>
                <a:lnTo>
                  <a:pt x="1011" y="0"/>
                </a:lnTo>
                <a:lnTo>
                  <a:pt x="1030" y="0"/>
                </a:lnTo>
                <a:cubicBezTo>
                  <a:pt x="1416" y="-5"/>
                  <a:pt x="1874" y="196"/>
                  <a:pt x="2005" y="307"/>
                </a:cubicBezTo>
                <a:lnTo>
                  <a:pt x="1532" y="637"/>
                </a:lnTo>
                <a:cubicBezTo>
                  <a:pt x="1417" y="579"/>
                  <a:pt x="1140" y="530"/>
                  <a:pt x="996" y="533"/>
                </a:cubicBezTo>
                <a:lnTo>
                  <a:pt x="988" y="533"/>
                </a:lnTo>
                <a:lnTo>
                  <a:pt x="980" y="533"/>
                </a:lnTo>
                <a:lnTo>
                  <a:pt x="973" y="533"/>
                </a:lnTo>
                <a:lnTo>
                  <a:pt x="948" y="533"/>
                </a:lnTo>
                <a:cubicBezTo>
                  <a:pt x="770" y="524"/>
                  <a:pt x="517" y="592"/>
                  <a:pt x="451" y="622"/>
                </a:cubicBezTo>
                <a:lnTo>
                  <a:pt x="0" y="270"/>
                </a:lnTo>
                <a:close/>
              </a:path>
            </a:pathLst>
          </a:custGeom>
          <a:solidFill>
            <a:schemeClr val="accent5">
              <a:lumMod val="60000"/>
              <a:lumOff val="40000"/>
            </a:schemeClr>
          </a:solidFill>
          <a:ln>
            <a:solidFill>
              <a:schemeClr val="bg1">
                <a:alpha val="70000"/>
              </a:schemeClr>
            </a:solidFill>
            <a:prstDash val="solid"/>
          </a:ln>
          <a:effectLst>
            <a:outerShdw blurRad="50800" dist="38100" dir="2700000" algn="tl" rotWithShape="0">
              <a:schemeClr val="accent5">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bg1"/>
                </a:solidFill>
                <a:latin typeface="微软雅黑" panose="020B0503020204020204" charset="-122"/>
                <a:ea typeface="微软雅黑" panose="020B0503020204020204" charset="-122"/>
                <a:cs typeface="微软雅黑" panose="020B0503020204020204" charset="-122"/>
                <a:sym typeface="+mn-ea"/>
              </a:rPr>
              <a:t>外部</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8" name="任意多边形 77"/>
          <p:cNvSpPr/>
          <p:nvPr/>
        </p:nvSpPr>
        <p:spPr>
          <a:xfrm>
            <a:off x="6422745" y="3138424"/>
            <a:ext cx="1273416" cy="404720"/>
          </a:xfrm>
          <a:custGeom>
            <a:avLst/>
            <a:gdLst>
              <a:gd name="adj1" fmla="val 10800000"/>
              <a:gd name="adj2" fmla="val 0"/>
              <a:gd name="adj3" fmla="val 25000"/>
              <a:gd name="stAng" fmla="pin 0 adj1 21599999"/>
              <a:gd name="istAng" fmla="pin 0 adj2 21599999"/>
              <a:gd name="a3" fmla="pin 0 adj3 50000"/>
              <a:gd name="sw11" fmla="+- istAng 0 stAng"/>
              <a:gd name="sw12" fmla="+- sw11 21600000 0"/>
              <a:gd name="swAng" fmla="?: sw11 sw11 sw12"/>
              <a:gd name="iswAng" fmla="+- 0 0 swAng"/>
              <a:gd name="wt1" fmla="sin wd2 stAng"/>
              <a:gd name="ht1" fmla="cos hd2 stAng"/>
              <a:gd name="wt3" fmla="sin wd2 istAng"/>
              <a:gd name="ht3" fmla="cos hd2 istAng"/>
              <a:gd name="dx1" fmla="cat2 wd2 ht1 wt1"/>
              <a:gd name="dy1" fmla="sat2 hd2 ht1 wt1"/>
              <a:gd name="dx3" fmla="cat2 wd2 ht3 wt3"/>
              <a:gd name="dy3" fmla="sat2 hd2 ht3 wt3"/>
              <a:gd name="x1" fmla="+- hc dx1 0"/>
              <a:gd name="y1" fmla="+- vc dy1 0"/>
              <a:gd name="x3" fmla="+- hc dx3 0"/>
              <a:gd name="y3" fmla="+- vc dy3 0"/>
              <a:gd name="dr" fmla="*/ ss a3 100000"/>
              <a:gd name="iwd2" fmla="+- wd2 0 dr"/>
              <a:gd name="ihd2" fmla="+- hd2 0 dr"/>
              <a:gd name="wt2" fmla="sin iwd2 istAng"/>
              <a:gd name="ht2" fmla="cos ihd2 istAng"/>
              <a:gd name="wt4" fmla="sin iwd2 stAng"/>
              <a:gd name="ht4" fmla="cos ihd2 stAng"/>
              <a:gd name="dx2" fmla="cat2 iwd2 ht2 wt2"/>
              <a:gd name="dy2" fmla="sat2 ihd2 ht2 wt2"/>
              <a:gd name="dx4" fmla="cat2 iwd2 ht4 wt4"/>
              <a:gd name="dy4" fmla="sat2 ihd2 ht4 wt4"/>
              <a:gd name="x2" fmla="+- hc dx2 0"/>
              <a:gd name="y2" fmla="+- vc dy2 0"/>
              <a:gd name="x4" fmla="+- hc dx4 0"/>
              <a:gd name="y4" fmla="+- vc dy4 0"/>
              <a:gd name="sw0" fmla="+- 21600000 0 stAng"/>
              <a:gd name="da1" fmla="+- swAng 0 sw0"/>
              <a:gd name="g1" fmla="max x1 x2"/>
              <a:gd name="g2" fmla="max x3 x4"/>
              <a:gd name="g3" fmla="max g1 g2"/>
              <a:gd name="ir" fmla="?: da1 r g3"/>
              <a:gd name="sw1" fmla="+- cd4 0 stAng"/>
              <a:gd name="sw2" fmla="+- 27000000 0 stAng"/>
              <a:gd name="sw3" fmla="?: sw1 sw1 sw2"/>
              <a:gd name="da2" fmla="+- swAng 0 sw3"/>
              <a:gd name="g5" fmla="max y1 y2"/>
              <a:gd name="g6" fmla="max y3 y4"/>
              <a:gd name="g7" fmla="max g5 g6"/>
              <a:gd name="ib" fmla="?: da2 b g7"/>
              <a:gd name="sw4" fmla="+- cd2 0 stAng"/>
              <a:gd name="sw5" fmla="+- 32400000 0 stAng"/>
              <a:gd name="sw6" fmla="?: sw4 sw4 sw5"/>
              <a:gd name="da3" fmla="+- swAng 0 sw6"/>
              <a:gd name="g9" fmla="min x1 x2"/>
              <a:gd name="g10" fmla="min x3 x4"/>
              <a:gd name="g11" fmla="min g9 g10"/>
              <a:gd name="il" fmla="?: da3 l g11"/>
              <a:gd name="sw7" fmla="+- 3 0 stAng"/>
              <a:gd name="sw8" fmla="+- 37800000 0 stAng"/>
              <a:gd name="sw9" fmla="?: sw7 sw7 sw8"/>
              <a:gd name="da4" fmla="+- swAng 0 sw9"/>
              <a:gd name="g13" fmla="min y1 y2"/>
              <a:gd name="g14" fmla="min y3 y4"/>
              <a:gd name="g15" fmla="min g13 g14"/>
              <a:gd name="it" fmla="?: da4 t g15"/>
              <a:gd name="x5" fmla="+/ x1 x4 2"/>
              <a:gd name="y5" fmla="+/ y1 y4 2"/>
              <a:gd name="x6" fmla="+/ x3 x2 2"/>
              <a:gd name="y6" fmla="+/ y3 y2 2"/>
              <a:gd name="cang1" fmla="+- stAng 0 cd4"/>
              <a:gd name="cang2" fmla="+- istAng cd4 0"/>
              <a:gd name="cang3" fmla="+/ cang1 cang2 2"/>
            </a:gdLst>
            <a:ahLst/>
            <a:cxnLst>
              <a:cxn ang="cang1">
                <a:pos x="x5" y="y5"/>
              </a:cxn>
              <a:cxn ang="cang2">
                <a:pos x="x6" y="y6"/>
              </a:cxn>
              <a:cxn ang="cang3">
                <a:pos x="hc" y="vc"/>
              </a:cxn>
            </a:cxnLst>
            <a:rect l="l" t="t" r="r" b="b"/>
            <a:pathLst>
              <a:path w="2005" h="637">
                <a:moveTo>
                  <a:pt x="0" y="270"/>
                </a:moveTo>
                <a:cubicBezTo>
                  <a:pt x="227" y="109"/>
                  <a:pt x="671" y="-10"/>
                  <a:pt x="937" y="1"/>
                </a:cubicBezTo>
                <a:lnTo>
                  <a:pt x="973" y="2"/>
                </a:lnTo>
                <a:lnTo>
                  <a:pt x="992" y="1"/>
                </a:lnTo>
                <a:lnTo>
                  <a:pt x="1011" y="0"/>
                </a:lnTo>
                <a:lnTo>
                  <a:pt x="1030" y="0"/>
                </a:lnTo>
                <a:cubicBezTo>
                  <a:pt x="1416" y="-5"/>
                  <a:pt x="1874" y="196"/>
                  <a:pt x="2005" y="307"/>
                </a:cubicBezTo>
                <a:lnTo>
                  <a:pt x="1532" y="637"/>
                </a:lnTo>
                <a:cubicBezTo>
                  <a:pt x="1417" y="579"/>
                  <a:pt x="1140" y="530"/>
                  <a:pt x="996" y="533"/>
                </a:cubicBezTo>
                <a:lnTo>
                  <a:pt x="988" y="533"/>
                </a:lnTo>
                <a:lnTo>
                  <a:pt x="980" y="533"/>
                </a:lnTo>
                <a:lnTo>
                  <a:pt x="973" y="533"/>
                </a:lnTo>
                <a:lnTo>
                  <a:pt x="948" y="533"/>
                </a:lnTo>
                <a:cubicBezTo>
                  <a:pt x="770" y="524"/>
                  <a:pt x="517" y="592"/>
                  <a:pt x="451" y="622"/>
                </a:cubicBezTo>
                <a:lnTo>
                  <a:pt x="0" y="270"/>
                </a:lnTo>
                <a:close/>
              </a:path>
            </a:pathLst>
          </a:custGeom>
          <a:solidFill>
            <a:schemeClr val="accent5">
              <a:lumMod val="60000"/>
              <a:lumOff val="40000"/>
            </a:schemeClr>
          </a:solidFill>
          <a:ln>
            <a:solidFill>
              <a:schemeClr val="bg1">
                <a:alpha val="70000"/>
              </a:schemeClr>
            </a:solidFill>
            <a:prstDash val="solid"/>
          </a:ln>
          <a:effectLst>
            <a:outerShdw blurRad="50800" dist="38100" dir="2700000" algn="tl" rotWithShape="0">
              <a:schemeClr val="accent5">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bg1"/>
                </a:solidFill>
                <a:latin typeface="微软雅黑" panose="020B0503020204020204" charset="-122"/>
                <a:ea typeface="微软雅黑" panose="020B0503020204020204" charset="-122"/>
                <a:cs typeface="微软雅黑" panose="020B0503020204020204" charset="-122"/>
                <a:sym typeface="+mn-ea"/>
              </a:rPr>
              <a:t>内部</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9" name="椭圆 78"/>
          <p:cNvSpPr/>
          <p:nvPr/>
        </p:nvSpPr>
        <p:spPr>
          <a:xfrm>
            <a:off x="2930525" y="2925128"/>
            <a:ext cx="717550" cy="71755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0" name="椭圆 79"/>
          <p:cNvSpPr/>
          <p:nvPr/>
        </p:nvSpPr>
        <p:spPr>
          <a:xfrm>
            <a:off x="2844800" y="2858135"/>
            <a:ext cx="851535" cy="851535"/>
          </a:xfrm>
          <a:prstGeom prst="ellipse">
            <a:avLst/>
          </a:prstGeom>
          <a:noFill/>
          <a:ln>
            <a:solidFill>
              <a:schemeClr val="accent1">
                <a:lumMod val="60000"/>
                <a:lumOff val="40000"/>
              </a:schemeClr>
            </a:solidFill>
            <a:prstDash val="dash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1" name="椭圆 80"/>
          <p:cNvSpPr/>
          <p:nvPr/>
        </p:nvSpPr>
        <p:spPr>
          <a:xfrm>
            <a:off x="1419225" y="2925128"/>
            <a:ext cx="717550" cy="71755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2" name="椭圆 81"/>
          <p:cNvSpPr/>
          <p:nvPr/>
        </p:nvSpPr>
        <p:spPr>
          <a:xfrm>
            <a:off x="1355725" y="2858135"/>
            <a:ext cx="851535" cy="851535"/>
          </a:xfrm>
          <a:prstGeom prst="ellipse">
            <a:avLst/>
          </a:prstGeom>
          <a:noFill/>
          <a:ln>
            <a:solidFill>
              <a:schemeClr val="accent1">
                <a:lumMod val="60000"/>
                <a:lumOff val="40000"/>
              </a:schemeClr>
            </a:solidFill>
            <a:prstDash val="dash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4" name="平行四边形 83"/>
          <p:cNvSpPr/>
          <p:nvPr/>
        </p:nvSpPr>
        <p:spPr>
          <a:xfrm>
            <a:off x="915670" y="3662680"/>
            <a:ext cx="1454785" cy="974090"/>
          </a:xfrm>
          <a:prstGeom prst="parallelogram">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5" name="平行四边形 84"/>
          <p:cNvSpPr/>
          <p:nvPr/>
        </p:nvSpPr>
        <p:spPr>
          <a:xfrm flipV="1">
            <a:off x="8515350" y="3797300"/>
            <a:ext cx="1270000" cy="753110"/>
          </a:xfrm>
          <a:prstGeom prst="parallelogram">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7" name="椭圆 86"/>
          <p:cNvSpPr/>
          <p:nvPr/>
        </p:nvSpPr>
        <p:spPr>
          <a:xfrm>
            <a:off x="8669973" y="3052128"/>
            <a:ext cx="717550" cy="71755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8" name="椭圆 87"/>
          <p:cNvSpPr/>
          <p:nvPr/>
        </p:nvSpPr>
        <p:spPr>
          <a:xfrm>
            <a:off x="8602980" y="2985135"/>
            <a:ext cx="851535" cy="851535"/>
          </a:xfrm>
          <a:prstGeom prst="ellipse">
            <a:avLst/>
          </a:prstGeom>
          <a:noFill/>
          <a:ln>
            <a:solidFill>
              <a:schemeClr val="accent1">
                <a:lumMod val="60000"/>
                <a:lumOff val="40000"/>
              </a:schemeClr>
            </a:solidFill>
            <a:prstDash val="dash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9" name="椭圆 88"/>
          <p:cNvSpPr/>
          <p:nvPr/>
        </p:nvSpPr>
        <p:spPr>
          <a:xfrm>
            <a:off x="10284778" y="3018473"/>
            <a:ext cx="717550" cy="71755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90" name="椭圆 89"/>
          <p:cNvSpPr/>
          <p:nvPr/>
        </p:nvSpPr>
        <p:spPr>
          <a:xfrm>
            <a:off x="10217785" y="2951480"/>
            <a:ext cx="851535" cy="851535"/>
          </a:xfrm>
          <a:prstGeom prst="ellipse">
            <a:avLst/>
          </a:prstGeom>
          <a:noFill/>
          <a:ln>
            <a:solidFill>
              <a:schemeClr val="accent1">
                <a:lumMod val="60000"/>
                <a:lumOff val="40000"/>
              </a:schemeClr>
            </a:solidFill>
            <a:prstDash val="dash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91" name="文本框 90"/>
          <p:cNvSpPr txBox="1"/>
          <p:nvPr/>
        </p:nvSpPr>
        <p:spPr>
          <a:xfrm>
            <a:off x="5935345" y="3157855"/>
            <a:ext cx="619125" cy="368300"/>
          </a:xfrm>
          <a:prstGeom prst="rect">
            <a:avLst/>
          </a:prstGeom>
          <a:noFill/>
        </p:spPr>
        <p:txBody>
          <a:bodyPr wrap="square" rtlCol="0">
            <a:spAutoFit/>
          </a:bodyPr>
          <a:p>
            <a:pPr algn="ctr"/>
            <a:r>
              <a:rPr lang="zh-CN" altLang="en-US" b="1">
                <a:solidFill>
                  <a:schemeClr val="accent5">
                    <a:lumMod val="60000"/>
                    <a:lumOff val="40000"/>
                    <a:alpha val="50000"/>
                  </a:schemeClr>
                </a:solidFill>
                <a:latin typeface="微软雅黑" panose="020B0503020204020204" charset="-122"/>
                <a:ea typeface="微软雅黑" panose="020B0503020204020204" charset="-122"/>
                <a:cs typeface="微软雅黑" panose="020B0503020204020204" charset="-122"/>
              </a:rPr>
              <a:t>＋</a:t>
            </a:r>
            <a:endParaRPr lang="zh-CN" altLang="en-US" b="1">
              <a:solidFill>
                <a:schemeClr val="accent5">
                  <a:lumMod val="60000"/>
                  <a:lumOff val="40000"/>
                  <a:alpha val="50000"/>
                </a:schemeClr>
              </a:solidFill>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nvSpPr>
        <p:spPr>
          <a:xfrm>
            <a:off x="4578985" y="3679190"/>
            <a:ext cx="1617980" cy="829945"/>
          </a:xfrm>
          <a:prstGeom prst="rect">
            <a:avLst/>
          </a:prstGeom>
          <a:noFill/>
        </p:spPr>
        <p:txBody>
          <a:bodyPr wrap="square" rtlCol="0">
            <a:spAutoFit/>
          </a:bodyPr>
          <a:p>
            <a:pPr marL="171450" indent="-171450">
              <a:buFont typeface="微软雅黑" panose="020B0503020204020204" charset="-122"/>
              <a:buChar char="•"/>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例：企业微信等；</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微软雅黑" panose="020B0503020204020204" charset="-122"/>
              <a:buChar char="•"/>
            </a:pPr>
            <a:r>
              <a:rPr lang="zh-CN" altLang="en-US"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特征：</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灵活可延展、已配套成熟应用模块、赋能经销商。</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3" name="文本框 92"/>
          <p:cNvSpPr txBox="1"/>
          <p:nvPr/>
        </p:nvSpPr>
        <p:spPr>
          <a:xfrm>
            <a:off x="6276975" y="3679190"/>
            <a:ext cx="1617980" cy="829945"/>
          </a:xfrm>
          <a:prstGeom prst="rect">
            <a:avLst/>
          </a:prstGeom>
          <a:noFill/>
        </p:spPr>
        <p:txBody>
          <a:bodyPr wrap="square" rtlCol="0">
            <a:spAutoFit/>
          </a:bodyPr>
          <a:p>
            <a:pPr marL="171450" indent="-171450">
              <a:buFont typeface="微软雅黑" panose="020B0503020204020204" charset="-122"/>
              <a:buChar char="•"/>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例：自建</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APP</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等；</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微软雅黑" panose="020B0503020204020204" charset="-122"/>
              <a:buChar char="•"/>
            </a:pPr>
            <a:r>
              <a:rPr lang="zh-CN" altLang="en-US"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特征：</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针对企业的定制化场景，可直接连接内部中台。</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94" name="直接连接符 93"/>
          <p:cNvCxnSpPr/>
          <p:nvPr/>
        </p:nvCxnSpPr>
        <p:spPr>
          <a:xfrm>
            <a:off x="6245225" y="3668395"/>
            <a:ext cx="0" cy="967740"/>
          </a:xfrm>
          <a:prstGeom prst="line">
            <a:avLst/>
          </a:prstGeom>
          <a:ln>
            <a:solidFill>
              <a:schemeClr val="tx2">
                <a:alpha val="50000"/>
              </a:schemeClr>
            </a:solidFill>
            <a:prstDash val="sysDash"/>
          </a:ln>
        </p:spPr>
        <p:style>
          <a:lnRef idx="2">
            <a:schemeClr val="accent1"/>
          </a:lnRef>
          <a:fillRef idx="0">
            <a:srgbClr val="FFFFFF"/>
          </a:fillRef>
          <a:effectRef idx="0">
            <a:srgbClr val="FFFFFF"/>
          </a:effectRef>
          <a:fontRef idx="minor">
            <a:schemeClr val="tx1"/>
          </a:fontRef>
        </p:style>
      </p:cxnSp>
      <p:sp>
        <p:nvSpPr>
          <p:cNvPr id="95" name="文本框 94"/>
          <p:cNvSpPr txBox="1"/>
          <p:nvPr>
            <p:custDataLst>
              <p:tags r:id="rId22"/>
            </p:custDataLst>
          </p:nvPr>
        </p:nvSpPr>
        <p:spPr>
          <a:xfrm>
            <a:off x="1370965" y="3130551"/>
            <a:ext cx="814070" cy="306705"/>
          </a:xfrm>
          <a:prstGeom prst="rect">
            <a:avLst/>
          </a:prstGeom>
          <a:noFill/>
        </p:spPr>
        <p:txBody>
          <a:bodyPr wrap="square" rtlCol="0">
            <a:spAutoFit/>
          </a:bodyPr>
          <a:p>
            <a:pPr lvl="0" algn="ctr">
              <a:buClrTx/>
              <a:buSzTx/>
              <a:buFontTx/>
            </a:pPr>
            <a:r>
              <a:rPr lang="zh-CN" altLang="en-US" sz="1400" b="1">
                <a:solidFill>
                  <a:schemeClr val="bg1"/>
                </a:solidFill>
                <a:effectLst>
                  <a:outerShdw blurRad="38100" dist="38100" dir="2700000" algn="tl">
                    <a:schemeClr val="tx2">
                      <a:alpha val="43137"/>
                    </a:schemeClr>
                  </a:outerShdw>
                </a:effectLst>
                <a:latin typeface="微软雅黑" panose="020B0503020204020204" charset="-122"/>
                <a:ea typeface="微软雅黑" panose="020B0503020204020204" charset="-122"/>
                <a:cs typeface="微软雅黑" panose="020B0503020204020204" charset="-122"/>
                <a:sym typeface="+mn-ea"/>
              </a:rPr>
              <a:t>公域池</a:t>
            </a:r>
            <a:endParaRPr lang="zh-CN" altLang="en-US" sz="1400" b="1">
              <a:solidFill>
                <a:schemeClr val="bg1"/>
              </a:solidFill>
              <a:effectLst>
                <a:outerShdw blurRad="38100" dist="38100" dir="2700000" algn="tl">
                  <a:schemeClr val="tx2">
                    <a:alpha val="43137"/>
                  </a:scheme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6" name="文本框 95"/>
          <p:cNvSpPr txBox="1"/>
          <p:nvPr>
            <p:custDataLst>
              <p:tags r:id="rId23"/>
            </p:custDataLst>
          </p:nvPr>
        </p:nvSpPr>
        <p:spPr>
          <a:xfrm>
            <a:off x="2882265" y="3130550"/>
            <a:ext cx="814070" cy="306705"/>
          </a:xfrm>
          <a:prstGeom prst="rect">
            <a:avLst/>
          </a:prstGeom>
          <a:noFill/>
        </p:spPr>
        <p:txBody>
          <a:bodyPr wrap="square" rtlCol="0">
            <a:spAutoFit/>
          </a:bodyPr>
          <a:p>
            <a:pPr algn="ctr"/>
            <a:r>
              <a:rPr lang="zh-CN" altLang="en-US" sz="1400" b="1">
                <a:solidFill>
                  <a:schemeClr val="bg1"/>
                </a:solidFill>
                <a:effectLst>
                  <a:outerShdw blurRad="38100" dist="38100" dir="2700000" algn="tl">
                    <a:schemeClr val="tx2">
                      <a:alpha val="43137"/>
                    </a:schemeClr>
                  </a:outerShdw>
                </a:effectLst>
                <a:latin typeface="微软雅黑" panose="020B0503020204020204" charset="-122"/>
                <a:ea typeface="微软雅黑" panose="020B0503020204020204" charset="-122"/>
                <a:cs typeface="微软雅黑" panose="020B0503020204020204" charset="-122"/>
              </a:rPr>
              <a:t>私域池</a:t>
            </a:r>
            <a:endParaRPr lang="zh-CN" altLang="en-US" sz="1400" b="1">
              <a:solidFill>
                <a:schemeClr val="bg1"/>
              </a:solidFill>
              <a:effectLst>
                <a:outerShdw blurRad="38100" dist="38100" dir="2700000" algn="tl">
                  <a:schemeClr val="tx2">
                    <a:alpha val="43137"/>
                  </a:schemeClr>
                </a:outerShdw>
              </a:effectLst>
              <a:latin typeface="微软雅黑" panose="020B0503020204020204" charset="-122"/>
              <a:ea typeface="微软雅黑" panose="020B0503020204020204" charset="-122"/>
              <a:cs typeface="微软雅黑" panose="020B0503020204020204" charset="-122"/>
            </a:endParaRPr>
          </a:p>
        </p:txBody>
      </p:sp>
      <p:cxnSp>
        <p:nvCxnSpPr>
          <p:cNvPr id="97" name="直接箭头连接符 96"/>
          <p:cNvCxnSpPr/>
          <p:nvPr/>
        </p:nvCxnSpPr>
        <p:spPr>
          <a:xfrm>
            <a:off x="2310130" y="3382010"/>
            <a:ext cx="405130" cy="0"/>
          </a:xfrm>
          <a:prstGeom prst="straightConnector1">
            <a:avLst/>
          </a:prstGeom>
          <a:ln w="25400">
            <a:solidFill>
              <a:schemeClr val="accent1">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cxnSp>
        <p:nvCxnSpPr>
          <p:cNvPr id="98" name="直接箭头连接符 97"/>
          <p:cNvCxnSpPr/>
          <p:nvPr/>
        </p:nvCxnSpPr>
        <p:spPr>
          <a:xfrm>
            <a:off x="3790315" y="3382010"/>
            <a:ext cx="405130" cy="0"/>
          </a:xfrm>
          <a:prstGeom prst="straightConnector1">
            <a:avLst/>
          </a:prstGeom>
          <a:ln w="25400">
            <a:solidFill>
              <a:schemeClr val="accent1">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sp>
        <p:nvSpPr>
          <p:cNvPr id="100" name="平行四边形 99"/>
          <p:cNvSpPr/>
          <p:nvPr/>
        </p:nvSpPr>
        <p:spPr>
          <a:xfrm>
            <a:off x="998855" y="3717925"/>
            <a:ext cx="1288415" cy="863600"/>
          </a:xfrm>
          <a:prstGeom prst="parallelogram">
            <a:avLst/>
          </a:prstGeom>
          <a:solidFill>
            <a:schemeClr val="bg1"/>
          </a:solidFill>
          <a:ln>
            <a:solidFill>
              <a:schemeClr val="accent1">
                <a:lumMod val="40000"/>
                <a:lumOff val="6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1" name="文本框 100"/>
          <p:cNvSpPr txBox="1"/>
          <p:nvPr>
            <p:custDataLst>
              <p:tags r:id="rId24"/>
            </p:custDataLst>
          </p:nvPr>
        </p:nvSpPr>
        <p:spPr>
          <a:xfrm>
            <a:off x="1184275" y="3802380"/>
            <a:ext cx="1005840" cy="706755"/>
          </a:xfrm>
          <a:prstGeom prst="rect">
            <a:avLst/>
          </a:prstGeom>
          <a:noFill/>
        </p:spPr>
        <p:txBody>
          <a:bodyPr wrap="square" rtlCol="0">
            <a:spAutoFit/>
          </a:bodyPr>
          <a:p>
            <a:pPr marL="171450" indent="-171450">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社交媒体</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抖音直播</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电商平台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汽车垂媒</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05" name="组合 104"/>
          <p:cNvGrpSpPr/>
          <p:nvPr/>
        </p:nvGrpSpPr>
        <p:grpSpPr>
          <a:xfrm>
            <a:off x="2631440" y="3668395"/>
            <a:ext cx="1256665" cy="841375"/>
            <a:chOff x="3705" y="5623"/>
            <a:chExt cx="2291" cy="1534"/>
          </a:xfrm>
        </p:grpSpPr>
        <p:sp>
          <p:nvSpPr>
            <p:cNvPr id="102" name="平行四边形 101"/>
            <p:cNvSpPr/>
            <p:nvPr/>
          </p:nvSpPr>
          <p:spPr>
            <a:xfrm>
              <a:off x="3705" y="5623"/>
              <a:ext cx="2291" cy="1534"/>
            </a:xfrm>
            <a:prstGeom prst="parallelogram">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03" name="平行四边形 102"/>
            <p:cNvSpPr/>
            <p:nvPr/>
          </p:nvSpPr>
          <p:spPr>
            <a:xfrm>
              <a:off x="3836" y="5710"/>
              <a:ext cx="2029" cy="1360"/>
            </a:xfrm>
            <a:prstGeom prst="parallelogram">
              <a:avLst/>
            </a:prstGeom>
            <a:solidFill>
              <a:schemeClr val="bg1"/>
            </a:solidFill>
            <a:ln>
              <a:solidFill>
                <a:schemeClr val="accent1">
                  <a:lumMod val="40000"/>
                  <a:lumOff val="6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04" name="文本框 103"/>
            <p:cNvSpPr txBox="1"/>
            <p:nvPr>
              <p:custDataLst>
                <p:tags r:id="rId25"/>
              </p:custDataLst>
            </p:nvPr>
          </p:nvSpPr>
          <p:spPr>
            <a:xfrm>
              <a:off x="4065" y="5766"/>
              <a:ext cx="1800" cy="1289"/>
            </a:xfrm>
            <a:prstGeom prst="rect">
              <a:avLst/>
            </a:prstGeom>
            <a:noFill/>
          </p:spPr>
          <p:txBody>
            <a:bodyPr wrap="square" rtlCol="0">
              <a:spAutoFit/>
            </a:bodyPr>
            <a:p>
              <a:pPr marL="171450" indent="-171450">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小程序</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公众号</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企微</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个微</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粉丝群</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106" name="文本框 105"/>
          <p:cNvSpPr txBox="1"/>
          <p:nvPr>
            <p:custDataLst>
              <p:tags r:id="rId26"/>
            </p:custDataLst>
          </p:nvPr>
        </p:nvSpPr>
        <p:spPr>
          <a:xfrm>
            <a:off x="8627745" y="3168651"/>
            <a:ext cx="814070" cy="521970"/>
          </a:xfrm>
          <a:prstGeom prst="rect">
            <a:avLst/>
          </a:prstGeom>
          <a:noFill/>
        </p:spPr>
        <p:txBody>
          <a:bodyPr wrap="square" rtlCol="0">
            <a:spAutoFit/>
          </a:bodyPr>
          <a:p>
            <a:pPr algn="ctr"/>
            <a:r>
              <a:rPr lang="zh-CN" altLang="en-US" sz="14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私域</a:t>
            </a:r>
            <a:endParaRPr lang="zh-CN" altLang="en-US" sz="14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a:p>
            <a:pPr algn="ctr"/>
            <a:r>
              <a:rPr lang="zh-CN" altLang="en-US" sz="14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创收</a:t>
            </a:r>
            <a:endParaRPr lang="zh-CN" altLang="en-US" sz="14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107" name="文本框 106"/>
          <p:cNvSpPr txBox="1"/>
          <p:nvPr>
            <p:custDataLst>
              <p:tags r:id="rId27"/>
            </p:custDataLst>
          </p:nvPr>
        </p:nvSpPr>
        <p:spPr>
          <a:xfrm>
            <a:off x="10236200" y="3160396"/>
            <a:ext cx="814070" cy="521970"/>
          </a:xfrm>
          <a:prstGeom prst="rect">
            <a:avLst/>
          </a:prstGeom>
          <a:noFill/>
        </p:spPr>
        <p:txBody>
          <a:bodyPr wrap="square" rtlCol="0">
            <a:spAutoFit/>
          </a:bodyPr>
          <a:p>
            <a:pPr algn="ctr"/>
            <a:r>
              <a:rPr lang="zh-CN" altLang="en-US" sz="14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公私域</a:t>
            </a:r>
            <a:endParaRPr lang="zh-CN" altLang="en-US" sz="14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a:p>
            <a:pPr algn="ctr"/>
            <a:r>
              <a:rPr lang="zh-CN" altLang="en-US" sz="14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传播</a:t>
            </a:r>
            <a:endParaRPr lang="zh-CN" altLang="en-US" sz="14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108" name="平行四边形 107"/>
          <p:cNvSpPr/>
          <p:nvPr/>
        </p:nvSpPr>
        <p:spPr>
          <a:xfrm flipV="1">
            <a:off x="8627745" y="3898265"/>
            <a:ext cx="1057275" cy="568960"/>
          </a:xfrm>
          <a:prstGeom prst="parallelogram">
            <a:avLst/>
          </a:prstGeom>
          <a:solidFill>
            <a:schemeClr val="bg1"/>
          </a:solidFill>
          <a:ln>
            <a:solidFill>
              <a:schemeClr val="accent1">
                <a:lumMod val="40000"/>
                <a:lumOff val="6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9" name="文本框 108"/>
          <p:cNvSpPr txBox="1"/>
          <p:nvPr>
            <p:custDataLst>
              <p:tags r:id="rId28"/>
            </p:custDataLst>
          </p:nvPr>
        </p:nvSpPr>
        <p:spPr>
          <a:xfrm>
            <a:off x="8750935" y="3988435"/>
            <a:ext cx="810895" cy="398780"/>
          </a:xfrm>
          <a:prstGeom prst="rect">
            <a:avLst/>
          </a:prstGeom>
          <a:noFill/>
        </p:spPr>
        <p:txBody>
          <a:bodyPr wrap="square" rtlCol="0">
            <a:spAutoFit/>
          </a:bodyPr>
          <a:p>
            <a:pPr indent="0" algn="ctr">
              <a:buFont typeface="微软雅黑" panose="020B0503020204020204" charset="-122"/>
              <a:buNone/>
            </a:pPr>
            <a:r>
              <a:rPr lang="zh-CN" sz="1000">
                <a:solidFill>
                  <a:schemeClr val="tx2"/>
                </a:solidFill>
                <a:latin typeface="微软雅黑" panose="020B0503020204020204" charset="-122"/>
                <a:ea typeface="微软雅黑" panose="020B0503020204020204" charset="-122"/>
                <a:cs typeface="微软雅黑" panose="020B0503020204020204" charset="-122"/>
              </a:rPr>
              <a:t>持续挖掘</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a:p>
            <a:pPr indent="0" algn="ctr">
              <a:buFont typeface="微软雅黑" panose="020B0503020204020204" charset="-122"/>
              <a:buNone/>
            </a:pPr>
            <a:r>
              <a:rPr lang="zh-CN" sz="1000">
                <a:solidFill>
                  <a:schemeClr val="tx2"/>
                </a:solidFill>
                <a:latin typeface="微软雅黑" panose="020B0503020204020204" charset="-122"/>
                <a:ea typeface="微软雅黑" panose="020B0503020204020204" charset="-122"/>
                <a:cs typeface="微软雅黑" panose="020B0503020204020204" charset="-122"/>
              </a:rPr>
              <a:t>用户价值</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1" name="平行四边形 110"/>
          <p:cNvSpPr/>
          <p:nvPr/>
        </p:nvSpPr>
        <p:spPr>
          <a:xfrm flipV="1">
            <a:off x="10128250" y="3756660"/>
            <a:ext cx="1270000" cy="753110"/>
          </a:xfrm>
          <a:prstGeom prst="parallelogram">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12" name="平行四边形 111"/>
          <p:cNvSpPr/>
          <p:nvPr/>
        </p:nvSpPr>
        <p:spPr>
          <a:xfrm flipV="1">
            <a:off x="10240645" y="3857625"/>
            <a:ext cx="1057275" cy="568960"/>
          </a:xfrm>
          <a:prstGeom prst="parallelogram">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3" name="文本框 112"/>
          <p:cNvSpPr txBox="1"/>
          <p:nvPr>
            <p:custDataLst>
              <p:tags r:id="rId29"/>
            </p:custDataLst>
          </p:nvPr>
        </p:nvSpPr>
        <p:spPr>
          <a:xfrm>
            <a:off x="10363835" y="3947795"/>
            <a:ext cx="810895" cy="398780"/>
          </a:xfrm>
          <a:prstGeom prst="rect">
            <a:avLst/>
          </a:prstGeom>
          <a:noFill/>
        </p:spPr>
        <p:txBody>
          <a:bodyPr wrap="square" rtlCol="0">
            <a:spAutoFit/>
          </a:bodyPr>
          <a:p>
            <a:pPr indent="0" algn="ctr">
              <a:buFont typeface="微软雅黑" panose="020B0503020204020204" charset="-122"/>
              <a:buNone/>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口碑裂变</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indent="0" algn="ctr">
              <a:buFont typeface="微软雅黑" panose="020B0503020204020204" charset="-122"/>
              <a:buNone/>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涟漪传播</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14" name="组合 113"/>
          <p:cNvGrpSpPr/>
          <p:nvPr>
            <p:custDataLst>
              <p:tags r:id="rId30"/>
            </p:custDataLst>
          </p:nvPr>
        </p:nvGrpSpPr>
        <p:grpSpPr>
          <a:xfrm>
            <a:off x="4354195" y="1412875"/>
            <a:ext cx="916940" cy="185420"/>
            <a:chOff x="6145" y="2623"/>
            <a:chExt cx="1444" cy="292"/>
          </a:xfrm>
          <a:gradFill>
            <a:gsLst>
              <a:gs pos="0">
                <a:schemeClr val="accent5">
                  <a:lumMod val="60000"/>
                  <a:lumOff val="40000"/>
                </a:schemeClr>
              </a:gs>
              <a:gs pos="100000">
                <a:schemeClr val="accent5">
                  <a:lumMod val="60000"/>
                  <a:lumOff val="40000"/>
                  <a:alpha val="10000"/>
                </a:schemeClr>
              </a:gs>
            </a:gsLst>
            <a:lin ang="10800000" scaled="0"/>
          </a:gradFill>
        </p:grpSpPr>
        <p:sp>
          <p:nvSpPr>
            <p:cNvPr id="115" name="燕尾形 114"/>
            <p:cNvSpPr/>
            <p:nvPr>
              <p:custDataLst>
                <p:tags r:id="rId31"/>
              </p:custDataLst>
            </p:nvPr>
          </p:nvSpPr>
          <p:spPr>
            <a:xfrm>
              <a:off x="6879" y="2623"/>
              <a:ext cx="710"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6" name="燕尾形 115"/>
            <p:cNvSpPr/>
            <p:nvPr>
              <p:custDataLst>
                <p:tags r:id="rId32"/>
              </p:custDataLst>
            </p:nvPr>
          </p:nvSpPr>
          <p:spPr>
            <a:xfrm>
              <a:off x="6425" y="2623"/>
              <a:ext cx="417"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7" name="燕尾形 116"/>
            <p:cNvSpPr/>
            <p:nvPr>
              <p:custDataLst>
                <p:tags r:id="rId33"/>
              </p:custDataLst>
            </p:nvPr>
          </p:nvSpPr>
          <p:spPr>
            <a:xfrm>
              <a:off x="6145" y="2623"/>
              <a:ext cx="273"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118" name="组合 117"/>
          <p:cNvGrpSpPr/>
          <p:nvPr>
            <p:custDataLst>
              <p:tags r:id="rId34"/>
            </p:custDataLst>
          </p:nvPr>
        </p:nvGrpSpPr>
        <p:grpSpPr>
          <a:xfrm>
            <a:off x="6538595" y="1421130"/>
            <a:ext cx="916940" cy="185420"/>
            <a:chOff x="6145" y="2623"/>
            <a:chExt cx="1444" cy="292"/>
          </a:xfrm>
          <a:gradFill>
            <a:gsLst>
              <a:gs pos="0">
                <a:schemeClr val="accent5">
                  <a:lumMod val="60000"/>
                  <a:lumOff val="40000"/>
                </a:schemeClr>
              </a:gs>
              <a:gs pos="100000">
                <a:schemeClr val="accent5">
                  <a:lumMod val="60000"/>
                  <a:lumOff val="40000"/>
                  <a:alpha val="10000"/>
                </a:schemeClr>
              </a:gs>
            </a:gsLst>
            <a:lin ang="10800000" scaled="0"/>
          </a:gradFill>
        </p:grpSpPr>
        <p:sp>
          <p:nvSpPr>
            <p:cNvPr id="119" name="燕尾形 118"/>
            <p:cNvSpPr/>
            <p:nvPr>
              <p:custDataLst>
                <p:tags r:id="rId35"/>
              </p:custDataLst>
            </p:nvPr>
          </p:nvSpPr>
          <p:spPr>
            <a:xfrm>
              <a:off x="6879" y="2623"/>
              <a:ext cx="710"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20" name="燕尾形 119"/>
            <p:cNvSpPr/>
            <p:nvPr>
              <p:custDataLst>
                <p:tags r:id="rId36"/>
              </p:custDataLst>
            </p:nvPr>
          </p:nvSpPr>
          <p:spPr>
            <a:xfrm>
              <a:off x="6425" y="2623"/>
              <a:ext cx="417"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21" name="燕尾形 120"/>
            <p:cNvSpPr/>
            <p:nvPr>
              <p:custDataLst>
                <p:tags r:id="rId37"/>
              </p:custDataLst>
            </p:nvPr>
          </p:nvSpPr>
          <p:spPr>
            <a:xfrm>
              <a:off x="6145" y="2623"/>
              <a:ext cx="273"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122" name="组合 121"/>
          <p:cNvGrpSpPr/>
          <p:nvPr>
            <p:custDataLst>
              <p:tags r:id="rId38"/>
            </p:custDataLst>
          </p:nvPr>
        </p:nvGrpSpPr>
        <p:grpSpPr>
          <a:xfrm>
            <a:off x="8768080" y="1421130"/>
            <a:ext cx="916940" cy="185420"/>
            <a:chOff x="6145" y="2623"/>
            <a:chExt cx="1444" cy="292"/>
          </a:xfrm>
          <a:gradFill>
            <a:gsLst>
              <a:gs pos="0">
                <a:schemeClr val="accent5">
                  <a:lumMod val="60000"/>
                  <a:lumOff val="40000"/>
                </a:schemeClr>
              </a:gs>
              <a:gs pos="100000">
                <a:schemeClr val="accent5">
                  <a:lumMod val="60000"/>
                  <a:lumOff val="40000"/>
                  <a:alpha val="10000"/>
                </a:schemeClr>
              </a:gs>
            </a:gsLst>
            <a:lin ang="10800000" scaled="0"/>
          </a:gradFill>
        </p:grpSpPr>
        <p:sp>
          <p:nvSpPr>
            <p:cNvPr id="123" name="燕尾形 122"/>
            <p:cNvSpPr/>
            <p:nvPr>
              <p:custDataLst>
                <p:tags r:id="rId39"/>
              </p:custDataLst>
            </p:nvPr>
          </p:nvSpPr>
          <p:spPr>
            <a:xfrm>
              <a:off x="6879" y="2623"/>
              <a:ext cx="710"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24" name="燕尾形 123"/>
            <p:cNvSpPr/>
            <p:nvPr>
              <p:custDataLst>
                <p:tags r:id="rId40"/>
              </p:custDataLst>
            </p:nvPr>
          </p:nvSpPr>
          <p:spPr>
            <a:xfrm>
              <a:off x="6425" y="2623"/>
              <a:ext cx="417"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25" name="燕尾形 124"/>
            <p:cNvSpPr/>
            <p:nvPr>
              <p:custDataLst>
                <p:tags r:id="rId41"/>
              </p:custDataLst>
            </p:nvPr>
          </p:nvSpPr>
          <p:spPr>
            <a:xfrm>
              <a:off x="6145" y="2623"/>
              <a:ext cx="273" cy="29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2" name="文本框 1"/>
          <p:cNvSpPr txBox="1"/>
          <p:nvPr>
            <p:custDataLst>
              <p:tags r:id="rId42"/>
            </p:custDataLst>
          </p:nvPr>
        </p:nvSpPr>
        <p:spPr>
          <a:xfrm>
            <a:off x="4494530" y="6034405"/>
            <a:ext cx="1016000" cy="306705"/>
          </a:xfrm>
          <a:prstGeom prst="rect">
            <a:avLst/>
          </a:prstGeom>
          <a:noFill/>
        </p:spPr>
        <p:txBody>
          <a:bodyPr wrap="square" rtlCol="0">
            <a:sp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数据中台</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custDataLst>
              <p:tags r:id="rId43"/>
            </p:custDataLst>
          </p:nvPr>
        </p:nvSpPr>
        <p:spPr>
          <a:xfrm>
            <a:off x="8545830" y="6034405"/>
            <a:ext cx="1016000" cy="306705"/>
          </a:xfrm>
          <a:prstGeom prst="rect">
            <a:avLst/>
          </a:prstGeom>
          <a:noFill/>
        </p:spPr>
        <p:txBody>
          <a:bodyPr wrap="square" rtlCol="0">
            <a:sp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业务中台</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5" name="平行四边形 14"/>
          <p:cNvSpPr/>
          <p:nvPr/>
        </p:nvSpPr>
        <p:spPr>
          <a:xfrm>
            <a:off x="1737995" y="5615305"/>
            <a:ext cx="1143635" cy="502920"/>
          </a:xfrm>
          <a:prstGeom prst="parallelogram">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花盆式</a:t>
            </a:r>
            <a:endParaRPr lang="zh-CN" altLang="en-US" sz="1400">
              <a:latin typeface="微软雅黑" panose="020B0503020204020204" charset="-122"/>
              <a:ea typeface="微软雅黑" panose="020B0503020204020204" charset="-122"/>
              <a:cs typeface="微软雅黑" panose="020B0503020204020204" charset="-122"/>
            </a:endParaRPr>
          </a:p>
          <a:p>
            <a:pPr algn="ctr"/>
            <a:r>
              <a:rPr lang="zh-CN" altLang="en-US" sz="1400">
                <a:latin typeface="微软雅黑" panose="020B0503020204020204" charset="-122"/>
                <a:ea typeface="微软雅黑" panose="020B0503020204020204" charset="-122"/>
                <a:cs typeface="微软雅黑" panose="020B0503020204020204" charset="-122"/>
              </a:rPr>
              <a:t>双中台</a:t>
            </a:r>
            <a:endParaRPr lang="zh-CN" altLang="en-US" sz="1400">
              <a:latin typeface="微软雅黑" panose="020B0503020204020204" charset="-122"/>
              <a:ea typeface="微软雅黑" panose="020B0503020204020204" charset="-122"/>
              <a:cs typeface="微软雅黑" panose="020B0503020204020204" charset="-122"/>
            </a:endParaRPr>
          </a:p>
        </p:txBody>
      </p:sp>
      <p:grpSp>
        <p:nvGrpSpPr>
          <p:cNvPr id="26" name="组合 25"/>
          <p:cNvGrpSpPr/>
          <p:nvPr/>
        </p:nvGrpSpPr>
        <p:grpSpPr>
          <a:xfrm>
            <a:off x="3648075" y="5024755"/>
            <a:ext cx="467360" cy="318770"/>
            <a:chOff x="5745" y="7703"/>
            <a:chExt cx="736" cy="502"/>
          </a:xfrm>
        </p:grpSpPr>
        <p:sp>
          <p:nvSpPr>
            <p:cNvPr id="24" name="右箭头 23"/>
            <p:cNvSpPr/>
            <p:nvPr/>
          </p:nvSpPr>
          <p:spPr>
            <a:xfrm rot="16200000">
              <a:off x="5673" y="7775"/>
              <a:ext cx="502" cy="359"/>
            </a:xfrm>
            <a:prstGeom prst="rightArrow">
              <a:avLst/>
            </a:prstGeom>
            <a:gradFill>
              <a:gsLst>
                <a:gs pos="100000">
                  <a:schemeClr val="accent1"/>
                </a:gs>
                <a:gs pos="0">
                  <a:schemeClr val="accent1">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5" name="右箭头 24"/>
            <p:cNvSpPr/>
            <p:nvPr/>
          </p:nvSpPr>
          <p:spPr>
            <a:xfrm rot="5400000" flipV="1">
              <a:off x="6051" y="7775"/>
              <a:ext cx="502" cy="359"/>
            </a:xfrm>
            <a:prstGeom prst="rightArrow">
              <a:avLst/>
            </a:prstGeom>
            <a:gradFill>
              <a:gsLst>
                <a:gs pos="100000">
                  <a:schemeClr val="accent1"/>
                </a:gs>
                <a:gs pos="0">
                  <a:schemeClr val="accent1">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27" name="组合 26"/>
          <p:cNvGrpSpPr/>
          <p:nvPr/>
        </p:nvGrpSpPr>
        <p:grpSpPr>
          <a:xfrm>
            <a:off x="5956935" y="5078730"/>
            <a:ext cx="467360" cy="318770"/>
            <a:chOff x="5745" y="7703"/>
            <a:chExt cx="736" cy="502"/>
          </a:xfrm>
        </p:grpSpPr>
        <p:sp>
          <p:nvSpPr>
            <p:cNvPr id="28" name="右箭头 27"/>
            <p:cNvSpPr/>
            <p:nvPr/>
          </p:nvSpPr>
          <p:spPr>
            <a:xfrm rot="16200000">
              <a:off x="5673" y="7775"/>
              <a:ext cx="502" cy="359"/>
            </a:xfrm>
            <a:prstGeom prst="rightArrow">
              <a:avLst/>
            </a:prstGeom>
            <a:gradFill>
              <a:gsLst>
                <a:gs pos="100000">
                  <a:schemeClr val="accent1"/>
                </a:gs>
                <a:gs pos="0">
                  <a:schemeClr val="accent1">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3" name="右箭头 32"/>
            <p:cNvSpPr/>
            <p:nvPr/>
          </p:nvSpPr>
          <p:spPr>
            <a:xfrm rot="5400000" flipV="1">
              <a:off x="6051" y="7775"/>
              <a:ext cx="502" cy="359"/>
            </a:xfrm>
            <a:prstGeom prst="rightArrow">
              <a:avLst/>
            </a:prstGeom>
            <a:gradFill>
              <a:gsLst>
                <a:gs pos="100000">
                  <a:schemeClr val="accent1"/>
                </a:gs>
                <a:gs pos="0">
                  <a:schemeClr val="accent1">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34" name="组合 33"/>
          <p:cNvGrpSpPr/>
          <p:nvPr/>
        </p:nvGrpSpPr>
        <p:grpSpPr>
          <a:xfrm>
            <a:off x="8717915" y="5078730"/>
            <a:ext cx="467360" cy="318770"/>
            <a:chOff x="5745" y="7703"/>
            <a:chExt cx="736" cy="502"/>
          </a:xfrm>
        </p:grpSpPr>
        <p:sp>
          <p:nvSpPr>
            <p:cNvPr id="35" name="右箭头 34"/>
            <p:cNvSpPr/>
            <p:nvPr/>
          </p:nvSpPr>
          <p:spPr>
            <a:xfrm rot="16200000">
              <a:off x="5673" y="7775"/>
              <a:ext cx="502" cy="359"/>
            </a:xfrm>
            <a:prstGeom prst="rightArrow">
              <a:avLst/>
            </a:prstGeom>
            <a:gradFill>
              <a:gsLst>
                <a:gs pos="100000">
                  <a:schemeClr val="accent1"/>
                </a:gs>
                <a:gs pos="0">
                  <a:schemeClr val="accent1">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6" name="右箭头 35"/>
            <p:cNvSpPr/>
            <p:nvPr/>
          </p:nvSpPr>
          <p:spPr>
            <a:xfrm rot="5400000" flipV="1">
              <a:off x="6051" y="7775"/>
              <a:ext cx="502" cy="359"/>
            </a:xfrm>
            <a:prstGeom prst="rightArrow">
              <a:avLst/>
            </a:prstGeom>
            <a:gradFill>
              <a:gsLst>
                <a:gs pos="100000">
                  <a:schemeClr val="accent1"/>
                </a:gs>
                <a:gs pos="0">
                  <a:schemeClr val="accent1">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72" name="圆角矩形 71"/>
          <p:cNvSpPr/>
          <p:nvPr/>
        </p:nvSpPr>
        <p:spPr>
          <a:xfrm>
            <a:off x="4959033" y="2508250"/>
            <a:ext cx="2509520" cy="476885"/>
          </a:xfrm>
          <a:prstGeom prst="roundRect">
            <a:avLst/>
          </a:prstGeom>
          <a:gradFill>
            <a:gsLst>
              <a:gs pos="0">
                <a:schemeClr val="accent5">
                  <a:lumMod val="60000"/>
                  <a:lumOff val="40000"/>
                </a:schemeClr>
              </a:gs>
              <a:gs pos="100000">
                <a:schemeClr val="accent5"/>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cs typeface="微软雅黑" panose="020B0503020204020204" charset="-122"/>
              </a:rPr>
              <a:t>用户触点收口</a:t>
            </a:r>
            <a:endParaRPr lang="zh-CN" altLang="en-US" b="1">
              <a:latin typeface="微软雅黑" panose="020B0503020204020204" charset="-122"/>
              <a:ea typeface="微软雅黑" panose="020B0503020204020204" charset="-122"/>
              <a:cs typeface="微软雅黑" panose="020B0503020204020204" charset="-122"/>
            </a:endParaRPr>
          </a:p>
        </p:txBody>
      </p:sp>
      <p:grpSp>
        <p:nvGrpSpPr>
          <p:cNvPr id="77" name="组合 76"/>
          <p:cNvGrpSpPr/>
          <p:nvPr/>
        </p:nvGrpSpPr>
        <p:grpSpPr>
          <a:xfrm>
            <a:off x="5560060" y="1988185"/>
            <a:ext cx="1292860" cy="447040"/>
            <a:chOff x="8712" y="2786"/>
            <a:chExt cx="2464" cy="852"/>
          </a:xfrm>
          <a:gradFill>
            <a:gsLst>
              <a:gs pos="80000">
                <a:schemeClr val="accent5">
                  <a:lumMod val="40000"/>
                  <a:lumOff val="60000"/>
                </a:schemeClr>
              </a:gs>
              <a:gs pos="0">
                <a:schemeClr val="accent5">
                  <a:lumMod val="20000"/>
                  <a:lumOff val="80000"/>
                  <a:alpha val="0"/>
                </a:schemeClr>
              </a:gs>
            </a:gsLst>
            <a:lin ang="5400000" scaled="0"/>
          </a:gradFill>
        </p:grpSpPr>
        <p:sp>
          <p:nvSpPr>
            <p:cNvPr id="73" name="Arrow: Down 108"/>
            <p:cNvSpPr/>
            <p:nvPr/>
          </p:nvSpPr>
          <p:spPr>
            <a:xfrm>
              <a:off x="10508" y="2786"/>
              <a:ext cx="669" cy="819"/>
            </a:xfrm>
            <a:prstGeom prst="downArrow">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7782" tIns="43891" rIns="87782" bIns="43891" rtlCol="0" anchor="ctr"/>
            <a:lstStyle/>
            <a:p>
              <a:pPr algn="ctr"/>
              <a:endParaRPr lang="en-US" sz="1730" dirty="0">
                <a:cs typeface="微软雅黑" panose="020B0503020204020204" charset="-122"/>
              </a:endParaRPr>
            </a:p>
          </p:txBody>
        </p:sp>
        <p:sp>
          <p:nvSpPr>
            <p:cNvPr id="75" name="Arrow: Down 109"/>
            <p:cNvSpPr/>
            <p:nvPr/>
          </p:nvSpPr>
          <p:spPr>
            <a:xfrm>
              <a:off x="9626" y="2786"/>
              <a:ext cx="669" cy="819"/>
            </a:xfrm>
            <a:prstGeom prst="downArrow">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7782" tIns="43891" rIns="87782" bIns="43891" rtlCol="0" anchor="ctr"/>
            <a:lstStyle/>
            <a:p>
              <a:pPr algn="ctr"/>
              <a:endParaRPr lang="en-US" sz="1730" dirty="0">
                <a:cs typeface="微软雅黑" panose="020B0503020204020204" charset="-122"/>
              </a:endParaRPr>
            </a:p>
          </p:txBody>
        </p:sp>
        <p:sp>
          <p:nvSpPr>
            <p:cNvPr id="76" name="Arrow: Down 110"/>
            <p:cNvSpPr/>
            <p:nvPr/>
          </p:nvSpPr>
          <p:spPr>
            <a:xfrm>
              <a:off x="8712" y="2820"/>
              <a:ext cx="669" cy="819"/>
            </a:xfrm>
            <a:prstGeom prst="downArrow">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7782" tIns="43891" rIns="87782" bIns="43891" rtlCol="0" anchor="ctr"/>
            <a:lstStyle/>
            <a:p>
              <a:pPr algn="ctr"/>
              <a:endParaRPr lang="en-US" sz="1730" dirty="0">
                <a:cs typeface="微软雅黑" panose="020B0503020204020204" charset="-122"/>
              </a:endParaRPr>
            </a:p>
          </p:txBody>
        </p:sp>
      </p:grpSp>
      <p:cxnSp>
        <p:nvCxnSpPr>
          <p:cNvPr id="16"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44"/>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p:cNvGrpSpPr/>
          <p:nvPr/>
        </p:nvGrpSpPr>
        <p:grpSpPr>
          <a:xfrm>
            <a:off x="5335905" y="4989830"/>
            <a:ext cx="1729740" cy="374650"/>
            <a:chOff x="8488" y="7844"/>
            <a:chExt cx="2664" cy="550"/>
          </a:xfrm>
        </p:grpSpPr>
        <p:sp>
          <p:nvSpPr>
            <p:cNvPr id="70" name="圆角矩形 69"/>
            <p:cNvSpPr/>
            <p:nvPr/>
          </p:nvSpPr>
          <p:spPr>
            <a:xfrm>
              <a:off x="8488" y="7844"/>
              <a:ext cx="2664" cy="550"/>
            </a:xfrm>
            <a:prstGeom prst="roundRect">
              <a:avLst>
                <a:gd name="adj" fmla="val 50000"/>
              </a:avLst>
            </a:prstGeom>
            <a:solidFill>
              <a:schemeClr val="bg1">
                <a:alpha val="54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1" name="圆角矩形 70"/>
            <p:cNvSpPr/>
            <p:nvPr/>
          </p:nvSpPr>
          <p:spPr>
            <a:xfrm>
              <a:off x="8547" y="7883"/>
              <a:ext cx="2546" cy="473"/>
            </a:xfrm>
            <a:prstGeom prst="roundRect">
              <a:avLst>
                <a:gd name="adj" fmla="val 50000"/>
              </a:avLst>
            </a:prstGeom>
            <a:gradFill>
              <a:gsLst>
                <a:gs pos="0">
                  <a:schemeClr val="accent1">
                    <a:lumMod val="60000"/>
                    <a:lumOff val="40000"/>
                  </a:schemeClr>
                </a:gs>
                <a:gs pos="100000">
                  <a:schemeClr val="accent1"/>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小数据管理系统</a:t>
              </a:r>
              <a:endParaRPr lang="zh-CN" altLang="en-US" sz="1400" b="1">
                <a:cs typeface="微软雅黑" panose="020B0503020204020204" charset="-122"/>
              </a:endParaRPr>
            </a:p>
          </p:txBody>
        </p:sp>
      </p:gr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产品服务体系业务流程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4" name="图片 10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椭圆 1"/>
          <p:cNvSpPr/>
          <p:nvPr/>
        </p:nvSpPr>
        <p:spPr>
          <a:xfrm>
            <a:off x="699770" y="4175760"/>
            <a:ext cx="3609975" cy="683895"/>
          </a:xfrm>
          <a:prstGeom prst="ellipse">
            <a:avLst/>
          </a:prstGeom>
          <a:gradFill>
            <a:gsLst>
              <a:gs pos="100000">
                <a:schemeClr val="accent1">
                  <a:lumMod val="60000"/>
                  <a:lumOff val="40000"/>
                </a:schemeClr>
              </a:gs>
              <a:gs pos="11000">
                <a:schemeClr val="accent1">
                  <a:lumMod val="20000"/>
                  <a:lumOff val="80000"/>
                  <a:alpha val="0"/>
                </a:schemeClr>
              </a:gs>
            </a:gsLst>
            <a:lin ang="5400000" scaled="0"/>
          </a:gradFill>
          <a:ln>
            <a:gradFill>
              <a:gsLst>
                <a:gs pos="13000">
                  <a:schemeClr val="accent1">
                    <a:lumMod val="60000"/>
                    <a:lumOff val="40000"/>
                    <a:alpha val="0"/>
                  </a:schemeClr>
                </a:gs>
                <a:gs pos="100000">
                  <a:schemeClr val="accent1">
                    <a:lumMod val="60000"/>
                    <a:lumOff val="4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 name="椭圆 3"/>
          <p:cNvSpPr/>
          <p:nvPr/>
        </p:nvSpPr>
        <p:spPr>
          <a:xfrm>
            <a:off x="4482465" y="5683250"/>
            <a:ext cx="3602355" cy="715010"/>
          </a:xfrm>
          <a:prstGeom prst="ellipse">
            <a:avLst/>
          </a:prstGeom>
          <a:gradFill>
            <a:gsLst>
              <a:gs pos="100000">
                <a:schemeClr val="accent1">
                  <a:lumMod val="60000"/>
                  <a:lumOff val="40000"/>
                </a:schemeClr>
              </a:gs>
              <a:gs pos="11000">
                <a:schemeClr val="accent1">
                  <a:lumMod val="20000"/>
                  <a:lumOff val="80000"/>
                  <a:alpha val="0"/>
                </a:schemeClr>
              </a:gs>
            </a:gsLst>
            <a:lin ang="5400000" scaled="0"/>
          </a:gradFill>
          <a:ln>
            <a:gradFill>
              <a:gsLst>
                <a:gs pos="13000">
                  <a:schemeClr val="accent1">
                    <a:lumMod val="60000"/>
                    <a:lumOff val="40000"/>
                    <a:alpha val="0"/>
                  </a:schemeClr>
                </a:gs>
                <a:gs pos="100000">
                  <a:schemeClr val="accent1">
                    <a:lumMod val="60000"/>
                    <a:lumOff val="4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 name="椭圆 6"/>
          <p:cNvSpPr/>
          <p:nvPr/>
        </p:nvSpPr>
        <p:spPr>
          <a:xfrm>
            <a:off x="8142605" y="4176395"/>
            <a:ext cx="3372485" cy="714375"/>
          </a:xfrm>
          <a:prstGeom prst="ellipse">
            <a:avLst/>
          </a:prstGeom>
          <a:gradFill>
            <a:gsLst>
              <a:gs pos="100000">
                <a:schemeClr val="accent1">
                  <a:lumMod val="60000"/>
                  <a:lumOff val="40000"/>
                </a:schemeClr>
              </a:gs>
              <a:gs pos="11000">
                <a:schemeClr val="accent1">
                  <a:lumMod val="20000"/>
                  <a:lumOff val="80000"/>
                  <a:alpha val="0"/>
                </a:schemeClr>
              </a:gs>
            </a:gsLst>
            <a:lin ang="5400000" scaled="0"/>
          </a:gradFill>
          <a:ln>
            <a:gradFill>
              <a:gsLst>
                <a:gs pos="13000">
                  <a:schemeClr val="accent1">
                    <a:lumMod val="60000"/>
                    <a:lumOff val="40000"/>
                    <a:alpha val="0"/>
                  </a:schemeClr>
                </a:gs>
                <a:gs pos="100000">
                  <a:schemeClr val="accent1">
                    <a:lumMod val="60000"/>
                    <a:lumOff val="4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72" name="组合 71"/>
          <p:cNvGrpSpPr/>
          <p:nvPr/>
        </p:nvGrpSpPr>
        <p:grpSpPr>
          <a:xfrm>
            <a:off x="4596765" y="5435600"/>
            <a:ext cx="3382010" cy="577215"/>
            <a:chOff x="7239" y="8256"/>
            <a:chExt cx="5326" cy="806"/>
          </a:xfrm>
        </p:grpSpPr>
        <p:sp>
          <p:nvSpPr>
            <p:cNvPr id="9" name="圆角矩形 8"/>
            <p:cNvSpPr/>
            <p:nvPr/>
          </p:nvSpPr>
          <p:spPr>
            <a:xfrm>
              <a:off x="7239" y="8276"/>
              <a:ext cx="2292"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教学管理系统</a:t>
              </a:r>
              <a:endParaRPr lang="zh-CN" altLang="en-US" sz="1200">
                <a:solidFill>
                  <a:schemeClr val="tx2"/>
                </a:solidFill>
                <a:cs typeface="微软雅黑" panose="020B0503020204020204" charset="-122"/>
                <a:sym typeface="+mn-ea"/>
              </a:endParaRPr>
            </a:p>
          </p:txBody>
        </p:sp>
        <p:sp>
          <p:nvSpPr>
            <p:cNvPr id="11" name="圆角矩形 10"/>
            <p:cNvSpPr/>
            <p:nvPr/>
          </p:nvSpPr>
          <p:spPr>
            <a:xfrm>
              <a:off x="7239" y="8716"/>
              <a:ext cx="2292"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学情分析系统</a:t>
              </a:r>
              <a:endParaRPr lang="zh-CN" altLang="en-US" sz="1200">
                <a:solidFill>
                  <a:schemeClr val="tx2"/>
                </a:solidFill>
                <a:cs typeface="微软雅黑" panose="020B0503020204020204" charset="-122"/>
                <a:sym typeface="+mn-ea"/>
              </a:endParaRPr>
            </a:p>
          </p:txBody>
        </p:sp>
        <p:sp>
          <p:nvSpPr>
            <p:cNvPr id="12" name="圆角矩形 11"/>
            <p:cNvSpPr/>
            <p:nvPr/>
          </p:nvSpPr>
          <p:spPr>
            <a:xfrm>
              <a:off x="9731" y="8256"/>
              <a:ext cx="2835"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校园物联网系统</a:t>
              </a:r>
              <a:endParaRPr lang="zh-CN" altLang="en-US" sz="1200">
                <a:solidFill>
                  <a:schemeClr val="tx2"/>
                </a:solidFill>
                <a:cs typeface="微软雅黑" panose="020B0503020204020204" charset="-122"/>
                <a:sym typeface="+mn-ea"/>
              </a:endParaRPr>
            </a:p>
          </p:txBody>
        </p:sp>
        <p:sp>
          <p:nvSpPr>
            <p:cNvPr id="13" name="圆角矩形 12"/>
            <p:cNvSpPr/>
            <p:nvPr/>
          </p:nvSpPr>
          <p:spPr>
            <a:xfrm>
              <a:off x="9731" y="8696"/>
              <a:ext cx="2835"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数字校园设备管控系统</a:t>
              </a:r>
              <a:endParaRPr lang="zh-CN" altLang="en-US" sz="1200">
                <a:solidFill>
                  <a:schemeClr val="tx2"/>
                </a:solidFill>
                <a:cs typeface="微软雅黑" panose="020B0503020204020204" charset="-122"/>
                <a:sym typeface="+mn-ea"/>
              </a:endParaRPr>
            </a:p>
          </p:txBody>
        </p:sp>
      </p:grpSp>
      <p:grpSp>
        <p:nvGrpSpPr>
          <p:cNvPr id="63" name="组合 62"/>
          <p:cNvGrpSpPr/>
          <p:nvPr/>
        </p:nvGrpSpPr>
        <p:grpSpPr>
          <a:xfrm>
            <a:off x="815340" y="3242310"/>
            <a:ext cx="3382645" cy="1184910"/>
            <a:chOff x="1284" y="5336"/>
            <a:chExt cx="5327" cy="1618"/>
          </a:xfrm>
        </p:grpSpPr>
        <p:sp>
          <p:nvSpPr>
            <p:cNvPr id="17" name="圆角矩形 16"/>
            <p:cNvSpPr/>
            <p:nvPr/>
          </p:nvSpPr>
          <p:spPr>
            <a:xfrm>
              <a:off x="1284" y="5336"/>
              <a:ext cx="2827"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教学交互显示终端</a:t>
              </a:r>
              <a:endParaRPr lang="zh-CN" altLang="en-US" sz="1200">
                <a:solidFill>
                  <a:schemeClr val="tx2"/>
                </a:solidFill>
                <a:cs typeface="微软雅黑" panose="020B0503020204020204" charset="-122"/>
              </a:endParaRPr>
            </a:p>
          </p:txBody>
        </p:sp>
        <p:sp>
          <p:nvSpPr>
            <p:cNvPr id="18" name="圆角矩形 17"/>
            <p:cNvSpPr/>
            <p:nvPr/>
          </p:nvSpPr>
          <p:spPr>
            <a:xfrm>
              <a:off x="1284" y="5760"/>
              <a:ext cx="2827"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移动授课终端</a:t>
              </a:r>
              <a:endParaRPr lang="zh-CN" altLang="en-US" sz="1200">
                <a:solidFill>
                  <a:schemeClr val="tx2"/>
                </a:solidFill>
                <a:cs typeface="微软雅黑" panose="020B0503020204020204" charset="-122"/>
              </a:endParaRPr>
            </a:p>
          </p:txBody>
        </p:sp>
        <p:sp>
          <p:nvSpPr>
            <p:cNvPr id="19" name="圆角矩形 18"/>
            <p:cNvSpPr/>
            <p:nvPr/>
          </p:nvSpPr>
          <p:spPr>
            <a:xfrm>
              <a:off x="1284" y="6184"/>
              <a:ext cx="2827"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智慧学习个人终端</a:t>
              </a:r>
              <a:endParaRPr lang="zh-CN" altLang="en-US" sz="1200">
                <a:solidFill>
                  <a:schemeClr val="tx2"/>
                </a:solidFill>
                <a:cs typeface="微软雅黑" panose="020B0503020204020204" charset="-122"/>
              </a:endParaRPr>
            </a:p>
          </p:txBody>
        </p:sp>
        <p:sp>
          <p:nvSpPr>
            <p:cNvPr id="20" name="圆角矩形 19"/>
            <p:cNvSpPr/>
            <p:nvPr/>
          </p:nvSpPr>
          <p:spPr>
            <a:xfrm>
              <a:off x="1284" y="6608"/>
              <a:ext cx="2827"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数字校园文化宣传终端</a:t>
              </a:r>
              <a:endParaRPr lang="zh-CN" altLang="en-US" sz="1200">
                <a:solidFill>
                  <a:schemeClr val="tx2"/>
                </a:solidFill>
                <a:cs typeface="微软雅黑" panose="020B0503020204020204" charset="-122"/>
              </a:endParaRPr>
            </a:p>
          </p:txBody>
        </p:sp>
        <p:sp>
          <p:nvSpPr>
            <p:cNvPr id="21" name="圆角矩形 20"/>
            <p:cNvSpPr/>
            <p:nvPr/>
          </p:nvSpPr>
          <p:spPr>
            <a:xfrm>
              <a:off x="4311" y="5336"/>
              <a:ext cx="2300"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录播系统</a:t>
              </a:r>
              <a:endParaRPr lang="zh-CN" altLang="en-US" sz="1200">
                <a:solidFill>
                  <a:schemeClr val="tx2"/>
                </a:solidFill>
                <a:cs typeface="微软雅黑" panose="020B0503020204020204" charset="-122"/>
              </a:endParaRPr>
            </a:p>
          </p:txBody>
        </p:sp>
        <p:sp>
          <p:nvSpPr>
            <p:cNvPr id="22" name="圆角矩形 21"/>
            <p:cNvSpPr/>
            <p:nvPr/>
          </p:nvSpPr>
          <p:spPr>
            <a:xfrm>
              <a:off x="4311" y="5760"/>
              <a:ext cx="2300"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音频采集设备</a:t>
              </a:r>
              <a:endParaRPr lang="zh-CN" altLang="en-US" sz="1200">
                <a:solidFill>
                  <a:schemeClr val="tx2"/>
                </a:solidFill>
                <a:cs typeface="微软雅黑" panose="020B0503020204020204" charset="-122"/>
              </a:endParaRPr>
            </a:p>
          </p:txBody>
        </p:sp>
        <p:sp>
          <p:nvSpPr>
            <p:cNvPr id="23" name="圆角矩形 22"/>
            <p:cNvSpPr/>
            <p:nvPr/>
          </p:nvSpPr>
          <p:spPr>
            <a:xfrm>
              <a:off x="4311" y="6184"/>
              <a:ext cx="2300"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扩音设备</a:t>
              </a:r>
              <a:endParaRPr lang="zh-CN" altLang="en-US" sz="1200">
                <a:solidFill>
                  <a:schemeClr val="tx2"/>
                </a:solidFill>
                <a:cs typeface="微软雅黑" panose="020B0503020204020204" charset="-122"/>
              </a:endParaRPr>
            </a:p>
          </p:txBody>
        </p:sp>
        <p:sp>
          <p:nvSpPr>
            <p:cNvPr id="24" name="圆角矩形 23"/>
            <p:cNvSpPr/>
            <p:nvPr/>
          </p:nvSpPr>
          <p:spPr>
            <a:xfrm>
              <a:off x="4311" y="6608"/>
              <a:ext cx="2300" cy="346"/>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教学配件</a:t>
              </a:r>
              <a:endParaRPr lang="zh-CN" altLang="en-US" sz="1200">
                <a:solidFill>
                  <a:schemeClr val="tx2"/>
                </a:solidFill>
                <a:cs typeface="微软雅黑" panose="020B0503020204020204" charset="-122"/>
              </a:endParaRPr>
            </a:p>
          </p:txBody>
        </p:sp>
      </p:grpSp>
      <p:grpSp>
        <p:nvGrpSpPr>
          <p:cNvPr id="62" name="组合 61"/>
          <p:cNvGrpSpPr/>
          <p:nvPr/>
        </p:nvGrpSpPr>
        <p:grpSpPr>
          <a:xfrm>
            <a:off x="5048885" y="1745615"/>
            <a:ext cx="2386330" cy="1327785"/>
            <a:chOff x="7962" y="3450"/>
            <a:chExt cx="3758" cy="2091"/>
          </a:xfrm>
        </p:grpSpPr>
        <p:sp>
          <p:nvSpPr>
            <p:cNvPr id="8" name="椭圆 7"/>
            <p:cNvSpPr/>
            <p:nvPr/>
          </p:nvSpPr>
          <p:spPr>
            <a:xfrm>
              <a:off x="7962" y="4415"/>
              <a:ext cx="3758" cy="1126"/>
            </a:xfrm>
            <a:prstGeom prst="ellipse">
              <a:avLst/>
            </a:prstGeom>
            <a:gradFill>
              <a:gsLst>
                <a:gs pos="100000">
                  <a:schemeClr val="accent5">
                    <a:lumMod val="60000"/>
                    <a:lumOff val="40000"/>
                  </a:schemeClr>
                </a:gs>
                <a:gs pos="11000">
                  <a:schemeClr val="accent5">
                    <a:lumMod val="20000"/>
                    <a:lumOff val="80000"/>
                    <a:alpha val="0"/>
                  </a:schemeClr>
                </a:gs>
              </a:gsLst>
              <a:lin ang="5400000" scaled="0"/>
            </a:gradFill>
            <a:ln>
              <a:gradFill>
                <a:gsLst>
                  <a:gs pos="13000">
                    <a:schemeClr val="accent5">
                      <a:lumMod val="60000"/>
                      <a:lumOff val="40000"/>
                      <a:alpha val="0"/>
                    </a:schemeClr>
                  </a:gs>
                  <a:gs pos="100000">
                    <a:schemeClr val="accent5">
                      <a:lumMod val="60000"/>
                      <a:lumOff val="4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8" name="圆角矩形 27"/>
            <p:cNvSpPr/>
            <p:nvPr/>
          </p:nvSpPr>
          <p:spPr>
            <a:xfrm>
              <a:off x="8291" y="4153"/>
              <a:ext cx="3110" cy="425"/>
            </a:xfrm>
            <a:prstGeom prst="roundRect">
              <a:avLst>
                <a:gd name="adj" fmla="val 50000"/>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教师发展培训服务及平台</a:t>
              </a:r>
              <a:endParaRPr lang="zh-CN" altLang="en-US" sz="1200">
                <a:solidFill>
                  <a:schemeClr val="tx2"/>
                </a:solidFill>
                <a:cs typeface="微软雅黑" panose="020B0503020204020204" charset="-122"/>
              </a:endParaRPr>
            </a:p>
          </p:txBody>
        </p:sp>
        <p:sp>
          <p:nvSpPr>
            <p:cNvPr id="29" name="圆角矩形 28"/>
            <p:cNvSpPr/>
            <p:nvPr/>
          </p:nvSpPr>
          <p:spPr>
            <a:xfrm>
              <a:off x="8291" y="4627"/>
              <a:ext cx="3110" cy="425"/>
            </a:xfrm>
            <a:prstGeom prst="roundRect">
              <a:avLst>
                <a:gd name="adj" fmla="val 50000"/>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r>
                <a:rPr lang="zh-CN" altLang="en-US" sz="1200">
                  <a:solidFill>
                    <a:schemeClr val="tx2"/>
                  </a:solidFill>
                  <a:cs typeface="微软雅黑" panose="020B0503020204020204" charset="-122"/>
                  <a:sym typeface="+mn-ea"/>
                </a:rPr>
                <a:t>教师发展培训可视化平台</a:t>
              </a:r>
              <a:endParaRPr lang="zh-CN" altLang="en-US" sz="1200">
                <a:solidFill>
                  <a:schemeClr val="tx2"/>
                </a:solidFill>
                <a:cs typeface="微软雅黑" panose="020B0503020204020204" charset="-122"/>
                <a:sym typeface="+mn-ea"/>
              </a:endParaRPr>
            </a:p>
          </p:txBody>
        </p:sp>
        <p:grpSp>
          <p:nvGrpSpPr>
            <p:cNvPr id="30" name="组合 29"/>
            <p:cNvGrpSpPr/>
            <p:nvPr/>
          </p:nvGrpSpPr>
          <p:grpSpPr>
            <a:xfrm>
              <a:off x="8232" y="3450"/>
              <a:ext cx="3170" cy="590"/>
              <a:chOff x="8488" y="7844"/>
              <a:chExt cx="2664" cy="550"/>
            </a:xfrm>
          </p:grpSpPr>
          <p:sp>
            <p:nvSpPr>
              <p:cNvPr id="31" name="圆角矩形 30"/>
              <p:cNvSpPr/>
              <p:nvPr/>
            </p:nvSpPr>
            <p:spPr>
              <a:xfrm>
                <a:off x="8488" y="7844"/>
                <a:ext cx="2664" cy="550"/>
              </a:xfrm>
              <a:prstGeom prst="roundRect">
                <a:avLst>
                  <a:gd name="adj" fmla="val 50000"/>
                </a:avLst>
              </a:prstGeom>
              <a:solidFill>
                <a:schemeClr val="bg1">
                  <a:alpha val="54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2" name="圆角矩形 31"/>
              <p:cNvSpPr/>
              <p:nvPr/>
            </p:nvSpPr>
            <p:spPr>
              <a:xfrm>
                <a:off x="8547" y="7883"/>
                <a:ext cx="2546" cy="473"/>
              </a:xfrm>
              <a:prstGeom prst="roundRect">
                <a:avLst>
                  <a:gd name="adj" fmla="val 50000"/>
                </a:avLst>
              </a:prstGeom>
              <a:gradFill>
                <a:gsLst>
                  <a:gs pos="0">
                    <a:schemeClr val="accent5">
                      <a:lumMod val="60000"/>
                      <a:lumOff val="40000"/>
                    </a:schemeClr>
                  </a:gs>
                  <a:gs pos="100000">
                    <a:schemeClr val="accent5"/>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教师专业发展服务</a:t>
                </a:r>
                <a:endParaRPr lang="zh-CN" altLang="en-US" sz="1400" b="1">
                  <a:cs typeface="微软雅黑" panose="020B0503020204020204" charset="-122"/>
                </a:endParaRPr>
              </a:p>
            </p:txBody>
          </p:sp>
        </p:grpSp>
      </p:grpSp>
      <p:grpSp>
        <p:nvGrpSpPr>
          <p:cNvPr id="68" name="组合 67"/>
          <p:cNvGrpSpPr/>
          <p:nvPr/>
        </p:nvGrpSpPr>
        <p:grpSpPr>
          <a:xfrm>
            <a:off x="8225790" y="3241675"/>
            <a:ext cx="3061335" cy="1324610"/>
            <a:chOff x="12954" y="5509"/>
            <a:chExt cx="4821" cy="1664"/>
          </a:xfrm>
        </p:grpSpPr>
        <p:sp>
          <p:nvSpPr>
            <p:cNvPr id="36" name="圆角矩形 35"/>
            <p:cNvSpPr/>
            <p:nvPr/>
          </p:nvSpPr>
          <p:spPr>
            <a:xfrm>
              <a:off x="12954" y="5509"/>
              <a:ext cx="2663" cy="363"/>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互动教学应用</a:t>
              </a:r>
              <a:endParaRPr lang="zh-CN" altLang="en-US" sz="1200">
                <a:solidFill>
                  <a:schemeClr val="tx2"/>
                </a:solidFill>
                <a:cs typeface="微软雅黑" panose="020B0503020204020204" charset="-122"/>
                <a:sym typeface="+mn-ea"/>
              </a:endParaRPr>
            </a:p>
          </p:txBody>
        </p:sp>
        <p:sp>
          <p:nvSpPr>
            <p:cNvPr id="37" name="圆角矩形 36"/>
            <p:cNvSpPr/>
            <p:nvPr/>
          </p:nvSpPr>
          <p:spPr>
            <a:xfrm>
              <a:off x="15817" y="5509"/>
              <a:ext cx="1959" cy="363"/>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录播应用</a:t>
              </a:r>
              <a:endParaRPr lang="zh-CN" altLang="en-US" sz="1200">
                <a:solidFill>
                  <a:schemeClr val="tx2"/>
                </a:solidFill>
                <a:cs typeface="微软雅黑" panose="020B0503020204020204" charset="-122"/>
                <a:sym typeface="+mn-ea"/>
              </a:endParaRPr>
            </a:p>
          </p:txBody>
        </p:sp>
        <p:sp>
          <p:nvSpPr>
            <p:cNvPr id="38" name="圆角矩形 37"/>
            <p:cNvSpPr/>
            <p:nvPr/>
          </p:nvSpPr>
          <p:spPr>
            <a:xfrm>
              <a:off x="12954" y="5943"/>
              <a:ext cx="2663" cy="363"/>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班级管理应用</a:t>
              </a:r>
              <a:endParaRPr lang="zh-CN" altLang="en-US" sz="1200">
                <a:solidFill>
                  <a:schemeClr val="tx2"/>
                </a:solidFill>
                <a:cs typeface="微软雅黑" panose="020B0503020204020204" charset="-122"/>
                <a:sym typeface="+mn-ea"/>
              </a:endParaRPr>
            </a:p>
          </p:txBody>
        </p:sp>
        <p:sp>
          <p:nvSpPr>
            <p:cNvPr id="39" name="圆角矩形 38"/>
            <p:cNvSpPr/>
            <p:nvPr/>
          </p:nvSpPr>
          <p:spPr>
            <a:xfrm>
              <a:off x="15817" y="5943"/>
              <a:ext cx="1959" cy="363"/>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在线教学工具</a:t>
              </a:r>
              <a:endParaRPr lang="zh-CN" altLang="en-US" sz="1200">
                <a:solidFill>
                  <a:schemeClr val="tx2"/>
                </a:solidFill>
                <a:cs typeface="微软雅黑" panose="020B0503020204020204" charset="-122"/>
                <a:sym typeface="+mn-ea"/>
              </a:endParaRPr>
            </a:p>
          </p:txBody>
        </p:sp>
        <p:sp>
          <p:nvSpPr>
            <p:cNvPr id="40" name="圆角矩形 39"/>
            <p:cNvSpPr/>
            <p:nvPr/>
          </p:nvSpPr>
          <p:spPr>
            <a:xfrm>
              <a:off x="12954" y="6377"/>
              <a:ext cx="2663" cy="363"/>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微课制作应用</a:t>
              </a:r>
              <a:endParaRPr lang="zh-CN" altLang="en-US" sz="1200">
                <a:solidFill>
                  <a:schemeClr val="tx2"/>
                </a:solidFill>
                <a:cs typeface="微软雅黑" panose="020B0503020204020204" charset="-122"/>
                <a:sym typeface="+mn-ea"/>
              </a:endParaRPr>
            </a:p>
          </p:txBody>
        </p:sp>
        <p:sp>
          <p:nvSpPr>
            <p:cNvPr id="41" name="圆角矩形 40"/>
            <p:cNvSpPr/>
            <p:nvPr/>
          </p:nvSpPr>
          <p:spPr>
            <a:xfrm>
              <a:off x="15817" y="6377"/>
              <a:ext cx="1959" cy="363"/>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在线授课工具</a:t>
              </a:r>
              <a:endParaRPr lang="zh-CN" altLang="en-US" sz="1200">
                <a:solidFill>
                  <a:schemeClr val="tx2"/>
                </a:solidFill>
                <a:cs typeface="微软雅黑" panose="020B0503020204020204" charset="-122"/>
                <a:sym typeface="+mn-ea"/>
              </a:endParaRPr>
            </a:p>
          </p:txBody>
        </p:sp>
        <p:sp>
          <p:nvSpPr>
            <p:cNvPr id="42" name="圆角矩形 41"/>
            <p:cNvSpPr/>
            <p:nvPr/>
          </p:nvSpPr>
          <p:spPr>
            <a:xfrm>
              <a:off x="12954" y="6811"/>
              <a:ext cx="2663" cy="363"/>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智慧课堂教学应用</a:t>
              </a:r>
              <a:endParaRPr lang="zh-CN" altLang="en-US" sz="1200">
                <a:solidFill>
                  <a:schemeClr val="tx2"/>
                </a:solidFill>
                <a:cs typeface="微软雅黑" panose="020B0503020204020204" charset="-122"/>
                <a:sym typeface="+mn-ea"/>
              </a:endParaRPr>
            </a:p>
          </p:txBody>
        </p:sp>
        <p:sp>
          <p:nvSpPr>
            <p:cNvPr id="43" name="圆角矩形 42"/>
            <p:cNvSpPr/>
            <p:nvPr/>
          </p:nvSpPr>
          <p:spPr>
            <a:xfrm>
              <a:off x="15817" y="6811"/>
              <a:ext cx="1959" cy="363"/>
            </a:xfrm>
            <a:prstGeom prst="roundRect">
              <a:avLst>
                <a:gd name="adj" fmla="val 50000"/>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在线作业工具</a:t>
              </a:r>
              <a:endParaRPr lang="zh-CN" altLang="en-US" sz="1200">
                <a:solidFill>
                  <a:schemeClr val="tx2"/>
                </a:solidFill>
                <a:cs typeface="微软雅黑" panose="020B0503020204020204" charset="-122"/>
                <a:sym typeface="+mn-ea"/>
              </a:endParaRPr>
            </a:p>
          </p:txBody>
        </p:sp>
      </p:grpSp>
      <p:cxnSp>
        <p:nvCxnSpPr>
          <p:cNvPr id="44" name="曲线连接符 43"/>
          <p:cNvCxnSpPr>
            <a:stCxn id="2" idx="3"/>
            <a:endCxn id="4" idx="2"/>
          </p:cNvCxnSpPr>
          <p:nvPr/>
        </p:nvCxnSpPr>
        <p:spPr>
          <a:xfrm rot="5400000" flipV="1">
            <a:off x="2214880" y="3773170"/>
            <a:ext cx="1281430" cy="3253740"/>
          </a:xfrm>
          <a:prstGeom prst="curvedConnector2">
            <a:avLst/>
          </a:prstGeom>
          <a:ln>
            <a:solidFill>
              <a:schemeClr val="accent1"/>
            </a:solidFill>
            <a:prstDash val="dash"/>
            <a:headEnd type="oval"/>
            <a:tailEnd type="oval"/>
          </a:ln>
        </p:spPr>
        <p:style>
          <a:lnRef idx="2">
            <a:schemeClr val="accent1"/>
          </a:lnRef>
          <a:fillRef idx="0">
            <a:srgbClr val="FFFFFF"/>
          </a:fillRef>
          <a:effectRef idx="0">
            <a:srgbClr val="FFFFFF"/>
          </a:effectRef>
          <a:fontRef idx="minor">
            <a:schemeClr val="tx1"/>
          </a:fontRef>
        </p:style>
      </p:cxnSp>
      <p:cxnSp>
        <p:nvCxnSpPr>
          <p:cNvPr id="45" name="曲线连接符 44"/>
          <p:cNvCxnSpPr>
            <a:stCxn id="46" idx="6"/>
            <a:endCxn id="47" idx="4"/>
          </p:cNvCxnSpPr>
          <p:nvPr/>
        </p:nvCxnSpPr>
        <p:spPr>
          <a:xfrm flipV="1">
            <a:off x="8097520" y="4890770"/>
            <a:ext cx="2355215" cy="1145540"/>
          </a:xfrm>
          <a:prstGeom prst="curvedConnector2">
            <a:avLst/>
          </a:prstGeom>
          <a:ln>
            <a:solidFill>
              <a:schemeClr val="accent1"/>
            </a:solidFill>
            <a:prstDash val="dash"/>
            <a:headEnd type="oval"/>
            <a:tailEnd type="oval"/>
          </a:ln>
        </p:spPr>
        <p:style>
          <a:lnRef idx="2">
            <a:schemeClr val="accent1"/>
          </a:lnRef>
          <a:fillRef idx="0">
            <a:srgbClr val="FFFFFF"/>
          </a:fillRef>
          <a:effectRef idx="0">
            <a:srgbClr val="FFFFFF"/>
          </a:effectRef>
          <a:fontRef idx="minor">
            <a:schemeClr val="tx1"/>
          </a:fontRef>
        </p:style>
      </p:cxnSp>
      <p:cxnSp>
        <p:nvCxnSpPr>
          <p:cNvPr id="49" name="曲线连接符 48"/>
          <p:cNvCxnSpPr/>
          <p:nvPr/>
        </p:nvCxnSpPr>
        <p:spPr>
          <a:xfrm rot="5400000" flipV="1">
            <a:off x="4441190" y="4272280"/>
            <a:ext cx="480060" cy="1308735"/>
          </a:xfrm>
          <a:prstGeom prst="curvedConnector2">
            <a:avLst/>
          </a:prstGeom>
          <a:ln>
            <a:solidFill>
              <a:schemeClr val="accent5"/>
            </a:solidFill>
            <a:prstDash val="dash"/>
            <a:headEnd type="oval"/>
            <a:tailEnd type="oval"/>
          </a:ln>
        </p:spPr>
        <p:style>
          <a:lnRef idx="2">
            <a:schemeClr val="accent1"/>
          </a:lnRef>
          <a:fillRef idx="0">
            <a:srgbClr val="FFFFFF"/>
          </a:fillRef>
          <a:effectRef idx="0">
            <a:srgbClr val="FFFFFF"/>
          </a:effectRef>
          <a:fontRef idx="minor">
            <a:schemeClr val="tx1"/>
          </a:fontRef>
        </p:style>
      </p:cxnSp>
      <p:cxnSp>
        <p:nvCxnSpPr>
          <p:cNvPr id="53" name="曲线连接符 52"/>
          <p:cNvCxnSpPr/>
          <p:nvPr/>
        </p:nvCxnSpPr>
        <p:spPr>
          <a:xfrm flipV="1">
            <a:off x="7081520" y="4631690"/>
            <a:ext cx="1137285" cy="535305"/>
          </a:xfrm>
          <a:prstGeom prst="curvedConnector2">
            <a:avLst/>
          </a:prstGeom>
          <a:ln>
            <a:solidFill>
              <a:schemeClr val="accent5"/>
            </a:solidFill>
            <a:prstDash val="dash"/>
            <a:headEnd type="oval"/>
            <a:tailEnd type="oval"/>
          </a:ln>
        </p:spPr>
        <p:style>
          <a:lnRef idx="2">
            <a:schemeClr val="accent1"/>
          </a:lnRef>
          <a:fillRef idx="0">
            <a:srgbClr val="FFFFFF"/>
          </a:fillRef>
          <a:effectRef idx="0">
            <a:srgbClr val="FFFFFF"/>
          </a:effectRef>
          <a:fontRef idx="minor">
            <a:schemeClr val="tx1"/>
          </a:fontRef>
        </p:style>
      </p:cxnSp>
      <p:cxnSp>
        <p:nvCxnSpPr>
          <p:cNvPr id="54" name="直接箭头连接符 53"/>
          <p:cNvCxnSpPr/>
          <p:nvPr/>
        </p:nvCxnSpPr>
        <p:spPr>
          <a:xfrm flipV="1">
            <a:off x="4252595" y="3042920"/>
            <a:ext cx="1309370" cy="113284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55" name="直接箭头连接符 54"/>
          <p:cNvCxnSpPr/>
          <p:nvPr/>
        </p:nvCxnSpPr>
        <p:spPr>
          <a:xfrm flipH="1">
            <a:off x="4252595" y="2968625"/>
            <a:ext cx="1145540" cy="988695"/>
          </a:xfrm>
          <a:prstGeom prst="straightConnector1">
            <a:avLst/>
          </a:prstGeom>
          <a:ln>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56" name="直接箭头连接符 55"/>
          <p:cNvCxnSpPr/>
          <p:nvPr/>
        </p:nvCxnSpPr>
        <p:spPr>
          <a:xfrm>
            <a:off x="7085965" y="3041650"/>
            <a:ext cx="1045210" cy="932815"/>
          </a:xfrm>
          <a:prstGeom prst="straightConnector1">
            <a:avLst/>
          </a:prstGeom>
          <a:ln>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nvCxnSpPr>
        <p:spPr>
          <a:xfrm flipH="1" flipV="1">
            <a:off x="6887845" y="3146425"/>
            <a:ext cx="1158240" cy="100203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58" name="直接箭头连接符 57"/>
          <p:cNvCxnSpPr/>
          <p:nvPr/>
        </p:nvCxnSpPr>
        <p:spPr>
          <a:xfrm flipV="1">
            <a:off x="6203633" y="3222625"/>
            <a:ext cx="6350" cy="1758315"/>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grpSp>
        <p:nvGrpSpPr>
          <p:cNvPr id="59" name="组合 58"/>
          <p:cNvGrpSpPr/>
          <p:nvPr/>
        </p:nvGrpSpPr>
        <p:grpSpPr>
          <a:xfrm>
            <a:off x="1726565" y="2771775"/>
            <a:ext cx="1729740" cy="374650"/>
            <a:chOff x="8488" y="7844"/>
            <a:chExt cx="2664" cy="550"/>
          </a:xfrm>
        </p:grpSpPr>
        <p:sp>
          <p:nvSpPr>
            <p:cNvPr id="60" name="圆角矩形 59"/>
            <p:cNvSpPr/>
            <p:nvPr/>
          </p:nvSpPr>
          <p:spPr>
            <a:xfrm>
              <a:off x="8488" y="7844"/>
              <a:ext cx="2664" cy="550"/>
            </a:xfrm>
            <a:prstGeom prst="roundRect">
              <a:avLst>
                <a:gd name="adj" fmla="val 50000"/>
              </a:avLst>
            </a:prstGeom>
            <a:solidFill>
              <a:schemeClr val="bg1">
                <a:alpha val="54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1" name="圆角矩形 60"/>
            <p:cNvSpPr/>
            <p:nvPr/>
          </p:nvSpPr>
          <p:spPr>
            <a:xfrm>
              <a:off x="8547" y="7883"/>
              <a:ext cx="2546" cy="473"/>
            </a:xfrm>
            <a:prstGeom prst="roundRect">
              <a:avLst>
                <a:gd name="adj" fmla="val 50000"/>
              </a:avLst>
            </a:prstGeom>
            <a:gradFill>
              <a:gsLst>
                <a:gs pos="0">
                  <a:schemeClr val="accent1">
                    <a:lumMod val="60000"/>
                    <a:lumOff val="40000"/>
                  </a:schemeClr>
                </a:gs>
                <a:gs pos="100000">
                  <a:schemeClr val="accent1"/>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数学化教学硬件</a:t>
              </a:r>
              <a:endParaRPr lang="zh-CN" altLang="en-US" sz="1400" b="1">
                <a:cs typeface="微软雅黑" panose="020B0503020204020204" charset="-122"/>
              </a:endParaRPr>
            </a:p>
          </p:txBody>
        </p:sp>
      </p:grpSp>
      <p:grpSp>
        <p:nvGrpSpPr>
          <p:cNvPr id="65" name="组合 64"/>
          <p:cNvGrpSpPr/>
          <p:nvPr/>
        </p:nvGrpSpPr>
        <p:grpSpPr>
          <a:xfrm>
            <a:off x="8916670" y="2771775"/>
            <a:ext cx="1729740" cy="374650"/>
            <a:chOff x="8488" y="7844"/>
            <a:chExt cx="2664" cy="550"/>
          </a:xfrm>
        </p:grpSpPr>
        <p:sp>
          <p:nvSpPr>
            <p:cNvPr id="66" name="圆角矩形 65"/>
            <p:cNvSpPr/>
            <p:nvPr/>
          </p:nvSpPr>
          <p:spPr>
            <a:xfrm>
              <a:off x="8488" y="7844"/>
              <a:ext cx="2664" cy="550"/>
            </a:xfrm>
            <a:prstGeom prst="roundRect">
              <a:avLst>
                <a:gd name="adj" fmla="val 50000"/>
              </a:avLst>
            </a:prstGeom>
            <a:solidFill>
              <a:schemeClr val="bg1">
                <a:alpha val="54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7" name="圆角矩形 66"/>
            <p:cNvSpPr/>
            <p:nvPr/>
          </p:nvSpPr>
          <p:spPr>
            <a:xfrm>
              <a:off x="8547" y="7883"/>
              <a:ext cx="2546" cy="473"/>
            </a:xfrm>
            <a:prstGeom prst="roundRect">
              <a:avLst>
                <a:gd name="adj" fmla="val 50000"/>
              </a:avLst>
            </a:prstGeom>
            <a:gradFill>
              <a:gsLst>
                <a:gs pos="0">
                  <a:schemeClr val="accent1">
                    <a:lumMod val="60000"/>
                    <a:lumOff val="40000"/>
                  </a:schemeClr>
                </a:gs>
                <a:gs pos="100000">
                  <a:schemeClr val="accent1"/>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数字化教学应用</a:t>
              </a:r>
              <a:endParaRPr lang="zh-CN" altLang="en-US" sz="1400" b="1">
                <a:cs typeface="微软雅黑" panose="020B0503020204020204" charset="-122"/>
              </a:endParaRPr>
            </a:p>
          </p:txBody>
        </p:sp>
      </p:grpSp>
      <p:sp>
        <p:nvSpPr>
          <p:cNvPr id="74" name="文本框 73"/>
          <p:cNvSpPr txBox="1"/>
          <p:nvPr/>
        </p:nvSpPr>
        <p:spPr>
          <a:xfrm rot="19140000">
            <a:off x="4241800" y="3231515"/>
            <a:ext cx="950595" cy="275590"/>
          </a:xfrm>
          <a:prstGeom prst="rect">
            <a:avLst/>
          </a:prstGeom>
          <a:noFill/>
        </p:spPr>
        <p:txBody>
          <a:bodyPr wrap="square" rtlCol="0">
            <a:spAutoFit/>
          </a:bodyP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应用融合</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5" name="文本框 74"/>
          <p:cNvSpPr txBox="1"/>
          <p:nvPr/>
        </p:nvSpPr>
        <p:spPr>
          <a:xfrm rot="19140000">
            <a:off x="4521200" y="3593465"/>
            <a:ext cx="950595" cy="275590"/>
          </a:xfrm>
          <a:prstGeom prst="rect">
            <a:avLst/>
          </a:prstGeom>
          <a:noFill/>
        </p:spPr>
        <p:txBody>
          <a:bodyPr wrap="square" rtlCol="0">
            <a:spAutoFit/>
          </a:bodyPr>
          <a:p>
            <a:pPr algn="ct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服务支持</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6" name="文本框 75"/>
          <p:cNvSpPr txBox="1"/>
          <p:nvPr/>
        </p:nvSpPr>
        <p:spPr>
          <a:xfrm rot="2580000">
            <a:off x="7214235" y="3240405"/>
            <a:ext cx="950595" cy="275590"/>
          </a:xfrm>
          <a:prstGeom prst="rect">
            <a:avLst/>
          </a:prstGeom>
          <a:noFill/>
        </p:spPr>
        <p:txBody>
          <a:bodyPr wrap="square" rtlCol="0">
            <a:spAutoFit/>
          </a:bodyP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应用融合</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rot="2460000">
            <a:off x="6861810" y="3593465"/>
            <a:ext cx="950595" cy="275590"/>
          </a:xfrm>
          <a:prstGeom prst="rect">
            <a:avLst/>
          </a:prstGeom>
          <a:noFill/>
        </p:spPr>
        <p:txBody>
          <a:bodyPr wrap="square" rtlCol="0">
            <a:spAutoFit/>
          </a:bodyPr>
          <a:p>
            <a:pPr algn="ct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服务支持</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5725795" y="4013200"/>
            <a:ext cx="950595" cy="275590"/>
          </a:xfrm>
          <a:prstGeom prst="rect">
            <a:avLst/>
          </a:prstGeom>
          <a:solidFill>
            <a:schemeClr val="bg1"/>
          </a:solidFill>
        </p:spPr>
        <p:txBody>
          <a:bodyPr wrap="square" rtlCol="0">
            <a:spAutoFit/>
          </a:bodyPr>
          <a:p>
            <a:pPr algn="ct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数据赋能</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rot="720000">
            <a:off x="2158365" y="5584825"/>
            <a:ext cx="950595" cy="275590"/>
          </a:xfrm>
          <a:prstGeom prst="rect">
            <a:avLst/>
          </a:prstGeom>
          <a:solidFill>
            <a:schemeClr val="bg1"/>
          </a:solidFill>
        </p:spPr>
        <p:txBody>
          <a:bodyPr wrap="square" rtlCol="0">
            <a:spAutoFit/>
          </a:bodyPr>
          <a:p>
            <a:pPr algn="ct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数据融合</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0" name="文本框 79"/>
          <p:cNvSpPr txBox="1"/>
          <p:nvPr/>
        </p:nvSpPr>
        <p:spPr>
          <a:xfrm rot="20400000">
            <a:off x="8973185" y="5643245"/>
            <a:ext cx="950595" cy="275590"/>
          </a:xfrm>
          <a:prstGeom prst="rect">
            <a:avLst/>
          </a:prstGeom>
          <a:solidFill>
            <a:schemeClr val="bg1"/>
          </a:solidFill>
        </p:spPr>
        <p:txBody>
          <a:bodyPr wrap="square" rtlCol="0">
            <a:spAutoFit/>
          </a:bodyPr>
          <a:p>
            <a:pPr algn="ct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数据融合</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5725795" y="1184275"/>
            <a:ext cx="1511935" cy="521970"/>
          </a:xfrm>
          <a:prstGeom prst="rect">
            <a:avLst/>
          </a:prstGeom>
          <a:noFill/>
        </p:spPr>
        <p:txBody>
          <a:bodyPr wrap="square" rtlCol="0">
            <a:spAutoFit/>
          </a:bodyPr>
          <a:p>
            <a:pPr algn="ct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产品</a:t>
            </a:r>
            <a:r>
              <a:rPr lang="en-US" altLang="zh-CN" sz="1400" b="1">
                <a:solidFill>
                  <a:schemeClr val="accent5"/>
                </a:solidFill>
                <a:latin typeface="微软雅黑" panose="020B0503020204020204" charset="-122"/>
                <a:ea typeface="微软雅黑" panose="020B0503020204020204" charset="-122"/>
                <a:cs typeface="微软雅黑" panose="020B0503020204020204" charset="-122"/>
              </a:rPr>
              <a:t>&amp;</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服务</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a:p>
            <a:pPr algn="ct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体系框架</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pic>
        <p:nvPicPr>
          <p:cNvPr id="82" name="图片 81" descr="w_教学"/>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91480" y="1206500"/>
            <a:ext cx="499745" cy="499745"/>
          </a:xfrm>
          <a:prstGeom prst="rect">
            <a:avLst/>
          </a:prstGeom>
        </p:spPr>
      </p:pic>
      <p:grpSp>
        <p:nvGrpSpPr>
          <p:cNvPr id="85" name="组合 84"/>
          <p:cNvGrpSpPr/>
          <p:nvPr/>
        </p:nvGrpSpPr>
        <p:grpSpPr>
          <a:xfrm>
            <a:off x="1228090" y="1360170"/>
            <a:ext cx="3982720" cy="1133475"/>
            <a:chOff x="1934" y="2142"/>
            <a:chExt cx="6272" cy="1785"/>
          </a:xfrm>
        </p:grpSpPr>
        <p:sp>
          <p:nvSpPr>
            <p:cNvPr id="83" name="矩形 82"/>
            <p:cNvSpPr/>
            <p:nvPr/>
          </p:nvSpPr>
          <p:spPr>
            <a:xfrm>
              <a:off x="1934" y="2142"/>
              <a:ext cx="5306" cy="1785"/>
            </a:xfrm>
            <a:prstGeom prst="rect">
              <a:avLst/>
            </a:prstGeom>
            <a:solidFill>
              <a:schemeClr val="accent5">
                <a:lumMod val="20000"/>
                <a:lumOff val="80000"/>
                <a:alpha val="50000"/>
              </a:schemeClr>
            </a:solidFill>
            <a:ln>
              <a:solidFill>
                <a:schemeClr val="accent5">
                  <a:lumMod val="60000"/>
                  <a:lumOff val="4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84" name="直接连接符 83"/>
            <p:cNvCxnSpPr>
              <a:stCxn id="83" idx="3"/>
            </p:cNvCxnSpPr>
            <p:nvPr/>
          </p:nvCxnSpPr>
          <p:spPr>
            <a:xfrm flipV="1">
              <a:off x="7240" y="3026"/>
              <a:ext cx="966" cy="9"/>
            </a:xfrm>
            <a:prstGeom prst="line">
              <a:avLst/>
            </a:prstGeom>
            <a:ln>
              <a:solidFill>
                <a:schemeClr val="accent5">
                  <a:lumMod val="60000"/>
                  <a:lumOff val="40000"/>
                </a:schemeClr>
              </a:solidFill>
              <a:headEnd type="oval"/>
              <a:tailEnd type="oval"/>
            </a:ln>
          </p:spPr>
          <p:style>
            <a:lnRef idx="2">
              <a:schemeClr val="accent1"/>
            </a:lnRef>
            <a:fillRef idx="0">
              <a:srgbClr val="FFFFFF"/>
            </a:fillRef>
            <a:effectRef idx="0">
              <a:srgbClr val="FFFFFF"/>
            </a:effectRef>
            <a:fontRef idx="minor">
              <a:schemeClr val="tx1"/>
            </a:fontRef>
          </p:style>
        </p:cxnSp>
      </p:grpSp>
      <p:grpSp>
        <p:nvGrpSpPr>
          <p:cNvPr id="86" name="组合 85"/>
          <p:cNvGrpSpPr/>
          <p:nvPr/>
        </p:nvGrpSpPr>
        <p:grpSpPr>
          <a:xfrm flipH="1">
            <a:off x="7263130" y="1360170"/>
            <a:ext cx="4761230" cy="1132840"/>
            <a:chOff x="708" y="2142"/>
            <a:chExt cx="7498" cy="1784"/>
          </a:xfrm>
        </p:grpSpPr>
        <p:sp>
          <p:nvSpPr>
            <p:cNvPr id="87" name="矩形 86"/>
            <p:cNvSpPr/>
            <p:nvPr/>
          </p:nvSpPr>
          <p:spPr>
            <a:xfrm>
              <a:off x="708" y="2142"/>
              <a:ext cx="6532" cy="1785"/>
            </a:xfrm>
            <a:prstGeom prst="rect">
              <a:avLst/>
            </a:prstGeom>
            <a:solidFill>
              <a:schemeClr val="accent5">
                <a:lumMod val="20000"/>
                <a:lumOff val="80000"/>
                <a:alpha val="50000"/>
              </a:schemeClr>
            </a:solidFill>
            <a:ln>
              <a:solidFill>
                <a:schemeClr val="accent5">
                  <a:lumMod val="60000"/>
                  <a:lumOff val="4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88" name="直接连接符 87"/>
            <p:cNvCxnSpPr>
              <a:stCxn id="87" idx="3"/>
            </p:cNvCxnSpPr>
            <p:nvPr/>
          </p:nvCxnSpPr>
          <p:spPr>
            <a:xfrm flipV="1">
              <a:off x="7240" y="3026"/>
              <a:ext cx="966" cy="9"/>
            </a:xfrm>
            <a:prstGeom prst="line">
              <a:avLst/>
            </a:prstGeom>
            <a:ln>
              <a:solidFill>
                <a:schemeClr val="accent5">
                  <a:lumMod val="60000"/>
                  <a:lumOff val="40000"/>
                </a:schemeClr>
              </a:solidFill>
              <a:headEnd type="oval"/>
              <a:tailEnd type="oval"/>
            </a:ln>
          </p:spPr>
          <p:style>
            <a:lnRef idx="2">
              <a:schemeClr val="accent1"/>
            </a:lnRef>
            <a:fillRef idx="0">
              <a:srgbClr val="FFFFFF"/>
            </a:fillRef>
            <a:effectRef idx="0">
              <a:srgbClr val="FFFFFF"/>
            </a:effectRef>
            <a:fontRef idx="minor">
              <a:schemeClr val="tx1"/>
            </a:fontRef>
          </p:style>
        </p:cxnSp>
      </p:grpSp>
      <p:sp>
        <p:nvSpPr>
          <p:cNvPr id="89" name="矩形 88"/>
          <p:cNvSpPr/>
          <p:nvPr/>
        </p:nvSpPr>
        <p:spPr>
          <a:xfrm>
            <a:off x="434340" y="1363980"/>
            <a:ext cx="807720" cy="1127760"/>
          </a:xfrm>
          <a:prstGeom prst="rect">
            <a:avLst/>
          </a:prstGeom>
          <a:gradFill>
            <a:gsLst>
              <a:gs pos="0">
                <a:schemeClr val="accent5">
                  <a:lumMod val="60000"/>
                  <a:lumOff val="40000"/>
                </a:schemeClr>
              </a:gs>
              <a:gs pos="100000">
                <a:schemeClr val="accent5"/>
              </a:gs>
            </a:gsLst>
            <a:lin ang="5400000" scaled="0"/>
          </a:gra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cs typeface="微软雅黑" panose="020B0503020204020204" charset="-122"/>
                <a:sym typeface="+mn-ea"/>
              </a:rPr>
              <a:t>①</a:t>
            </a:r>
            <a:endParaRPr lang="zh-CN" altLang="en-US" sz="1400" b="1">
              <a:cs typeface="微软雅黑" panose="020B0503020204020204" charset="-122"/>
              <a:sym typeface="+mn-ea"/>
            </a:endParaRPr>
          </a:p>
          <a:p>
            <a:pPr lvl="0" algn="ctr">
              <a:buClrTx/>
              <a:buSzTx/>
              <a:buFontTx/>
            </a:pPr>
            <a:r>
              <a:rPr lang="zh-CN" altLang="en-US" sz="1400" b="1">
                <a:cs typeface="微软雅黑" panose="020B0503020204020204" charset="-122"/>
                <a:sym typeface="+mn-ea"/>
              </a:rPr>
              <a:t>产品</a:t>
            </a:r>
            <a:endParaRPr lang="zh-CN" altLang="en-US" sz="1400" b="1">
              <a:cs typeface="微软雅黑" panose="020B0503020204020204" charset="-122"/>
              <a:sym typeface="+mn-ea"/>
            </a:endParaRPr>
          </a:p>
          <a:p>
            <a:pPr lvl="0" algn="ctr">
              <a:buClrTx/>
              <a:buSzTx/>
              <a:buFontTx/>
            </a:pPr>
            <a:r>
              <a:rPr lang="zh-CN" altLang="en-US" sz="1400" b="1">
                <a:cs typeface="微软雅黑" panose="020B0503020204020204" charset="-122"/>
                <a:sym typeface="+mn-ea"/>
              </a:rPr>
              <a:t>体系</a:t>
            </a:r>
            <a:endParaRPr lang="zh-CN" altLang="en-US" sz="1400" b="1">
              <a:cs typeface="微软雅黑" panose="020B0503020204020204" charset="-122"/>
              <a:sym typeface="+mn-ea"/>
            </a:endParaRPr>
          </a:p>
        </p:txBody>
      </p:sp>
      <p:sp>
        <p:nvSpPr>
          <p:cNvPr id="90" name="矩形 89"/>
          <p:cNvSpPr/>
          <p:nvPr/>
        </p:nvSpPr>
        <p:spPr>
          <a:xfrm>
            <a:off x="11216640" y="1365885"/>
            <a:ext cx="807720" cy="1127760"/>
          </a:xfrm>
          <a:prstGeom prst="rect">
            <a:avLst/>
          </a:prstGeom>
          <a:gradFill>
            <a:gsLst>
              <a:gs pos="0">
                <a:schemeClr val="accent5">
                  <a:lumMod val="60000"/>
                  <a:lumOff val="40000"/>
                </a:schemeClr>
              </a:gs>
              <a:gs pos="100000">
                <a:schemeClr val="accent5"/>
              </a:gs>
            </a:gsLst>
            <a:lin ang="5400000" scaled="0"/>
          </a:gra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cs typeface="微软雅黑" panose="020B0503020204020204" charset="-122"/>
                <a:sym typeface="+mn-ea"/>
              </a:rPr>
              <a:t>②</a:t>
            </a:r>
            <a:endParaRPr lang="zh-CN" altLang="en-US" sz="1400" b="1">
              <a:cs typeface="微软雅黑" panose="020B0503020204020204" charset="-122"/>
              <a:sym typeface="+mn-ea"/>
            </a:endParaRPr>
          </a:p>
          <a:p>
            <a:pPr lvl="0" algn="ctr">
              <a:buClrTx/>
              <a:buSzTx/>
              <a:buFontTx/>
            </a:pPr>
            <a:r>
              <a:rPr lang="zh-CN" altLang="en-US" sz="1400" b="1">
                <a:cs typeface="微软雅黑" panose="020B0503020204020204" charset="-122"/>
                <a:sym typeface="+mn-ea"/>
              </a:rPr>
              <a:t>服务</a:t>
            </a:r>
            <a:endParaRPr lang="zh-CN" altLang="en-US" sz="1400" b="1">
              <a:cs typeface="微软雅黑" panose="020B0503020204020204" charset="-122"/>
              <a:sym typeface="+mn-ea"/>
            </a:endParaRPr>
          </a:p>
          <a:p>
            <a:pPr lvl="0" algn="ctr">
              <a:buClrTx/>
              <a:buSzTx/>
              <a:buFontTx/>
            </a:pPr>
            <a:r>
              <a:rPr lang="zh-CN" altLang="en-US" sz="1400" b="1">
                <a:cs typeface="微软雅黑" panose="020B0503020204020204" charset="-122"/>
                <a:sym typeface="+mn-ea"/>
              </a:rPr>
              <a:t>体系</a:t>
            </a:r>
            <a:endParaRPr lang="zh-CN" altLang="en-US" sz="1400" b="1">
              <a:cs typeface="微软雅黑" panose="020B0503020204020204" charset="-122"/>
              <a:sym typeface="+mn-ea"/>
            </a:endParaRPr>
          </a:p>
        </p:txBody>
      </p:sp>
      <p:sp>
        <p:nvSpPr>
          <p:cNvPr id="91" name="文本框 90"/>
          <p:cNvSpPr txBox="1"/>
          <p:nvPr/>
        </p:nvSpPr>
        <p:spPr>
          <a:xfrm>
            <a:off x="1350645" y="1511935"/>
            <a:ext cx="3081020" cy="829945"/>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p>
            <a:pPr lvl="0" algn="l">
              <a:buClrTx/>
              <a:buSzTx/>
              <a:buFontTx/>
            </a:pPr>
            <a:r>
              <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rPr>
              <a:t>涵盖教学交互显示终端、移动授课终端、智慧学习终端及校园文化传播终端，同时包括音频采集与扩音设备，全面支撑课堂教学、校园文化展示等多元场景。</a:t>
            </a:r>
            <a:endPar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2" name="文本框 91"/>
          <p:cNvSpPr txBox="1"/>
          <p:nvPr/>
        </p:nvSpPr>
        <p:spPr>
          <a:xfrm>
            <a:off x="8015605" y="1506855"/>
            <a:ext cx="3081020" cy="829945"/>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p>
            <a:pPr algn="l"/>
            <a:r>
              <a:rPr lang="zh-CN" altLang="en-US" sz="1200">
                <a:solidFill>
                  <a:schemeClr val="tx2"/>
                </a:solidFill>
                <a:latin typeface="微软雅黑" panose="020B0503020204020204" charset="-122"/>
                <a:ea typeface="微软雅黑" panose="020B0503020204020204" charset="-122"/>
                <a:cs typeface="微软雅黑" panose="020B0503020204020204" charset="-122"/>
              </a:rPr>
              <a:t>涵盖互动教学、班级管理等教学应用，教学管理、学情分析等管理系统，以及数据采集整合服务，旨在深度优化教学管理、学情分析与家校互动，推动教育数字化发展。</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6"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8738235" y="348615"/>
            <a:ext cx="3219450" cy="332740"/>
            <a:chOff x="13761" y="549"/>
            <a:chExt cx="5070" cy="524"/>
          </a:xfrm>
        </p:grpSpPr>
        <p:pic>
          <p:nvPicPr>
            <p:cNvPr id="14" name="图片 13"/>
            <p:cNvPicPr>
              <a:picLocks noChangeAspect="1"/>
            </p:cNvPicPr>
            <p:nvPr userDrawn="1"/>
          </p:nvPicPr>
          <p:blipFill>
            <a:blip r:embed="rId5"/>
            <a:srcRect l="17002" t="-1765" r="56499" b="-1176"/>
            <a:stretch>
              <a:fillRect/>
            </a:stretch>
          </p:blipFill>
          <p:spPr>
            <a:xfrm>
              <a:off x="13761" y="549"/>
              <a:ext cx="1582" cy="525"/>
            </a:xfrm>
            <a:prstGeom prst="rect">
              <a:avLst/>
            </a:prstGeom>
          </p:spPr>
        </p:pic>
        <p:sp>
          <p:nvSpPr>
            <p:cNvPr id="15" name="文本框 1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21"/>
          <p:cNvSpPr/>
          <p:nvPr/>
        </p:nvSpPr>
        <p:spPr>
          <a:xfrm>
            <a:off x="1014676" y="2669540"/>
            <a:ext cx="10288137" cy="3129275"/>
          </a:xfrm>
          <a:custGeom>
            <a:avLst/>
            <a:gdLst>
              <a:gd name="adj" fmla="val 2671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6203" h="4929">
                <a:moveTo>
                  <a:pt x="16180" y="0"/>
                </a:moveTo>
                <a:cubicBezTo>
                  <a:pt x="16185" y="1"/>
                  <a:pt x="16209" y="240"/>
                  <a:pt x="16202" y="243"/>
                </a:cubicBezTo>
                <a:lnTo>
                  <a:pt x="16201" y="284"/>
                </a:lnTo>
                <a:lnTo>
                  <a:pt x="16201" y="3235"/>
                </a:lnTo>
                <a:lnTo>
                  <a:pt x="16202" y="3280"/>
                </a:lnTo>
                <a:cubicBezTo>
                  <a:pt x="16229" y="4209"/>
                  <a:pt x="15293" y="4949"/>
                  <a:pt x="14549" y="4928"/>
                </a:cubicBezTo>
                <a:lnTo>
                  <a:pt x="14508" y="4927"/>
                </a:lnTo>
                <a:lnTo>
                  <a:pt x="1692" y="4927"/>
                </a:lnTo>
                <a:lnTo>
                  <a:pt x="1647" y="4928"/>
                </a:lnTo>
                <a:cubicBezTo>
                  <a:pt x="734" y="4966"/>
                  <a:pt x="-1" y="4026"/>
                  <a:pt x="0" y="3332"/>
                </a:cubicBezTo>
                <a:lnTo>
                  <a:pt x="625" y="3332"/>
                </a:lnTo>
                <a:cubicBezTo>
                  <a:pt x="758" y="3840"/>
                  <a:pt x="1367" y="4330"/>
                  <a:pt x="1905" y="4302"/>
                </a:cubicBezTo>
                <a:lnTo>
                  <a:pt x="1942" y="4301"/>
                </a:lnTo>
                <a:lnTo>
                  <a:pt x="14175" y="4301"/>
                </a:lnTo>
                <a:lnTo>
                  <a:pt x="14208" y="4302"/>
                </a:lnTo>
                <a:cubicBezTo>
                  <a:pt x="14892" y="4324"/>
                  <a:pt x="15576" y="3636"/>
                  <a:pt x="15554" y="2960"/>
                </a:cubicBezTo>
                <a:lnTo>
                  <a:pt x="15553" y="2924"/>
                </a:lnTo>
                <a:lnTo>
                  <a:pt x="15553" y="522"/>
                </a:lnTo>
                <a:lnTo>
                  <a:pt x="15554" y="489"/>
                </a:lnTo>
                <a:cubicBezTo>
                  <a:pt x="15568" y="333"/>
                  <a:pt x="15476" y="46"/>
                  <a:pt x="15450" y="0"/>
                </a:cubicBezTo>
                <a:lnTo>
                  <a:pt x="16180" y="0"/>
                </a:lnTo>
                <a:close/>
              </a:path>
            </a:pathLst>
          </a:custGeom>
          <a:gradFill>
            <a:gsLst>
              <a:gs pos="38000">
                <a:schemeClr val="accent1">
                  <a:lumMod val="40000"/>
                  <a:lumOff val="60000"/>
                  <a:alpha val="50000"/>
                </a:schemeClr>
              </a:gs>
              <a:gs pos="0">
                <a:schemeClr val="accent1">
                  <a:lumMod val="40000"/>
                  <a:lumOff val="60000"/>
                  <a:alpha val="10000"/>
                </a:schemeClr>
              </a:gs>
              <a:gs pos="100000">
                <a:schemeClr val="accent1">
                  <a:lumMod val="40000"/>
                  <a:lumOff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人才数字化建设流程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2" name="图片 1"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6" name="任意多边形 5"/>
          <p:cNvSpPr/>
          <p:nvPr/>
        </p:nvSpPr>
        <p:spPr>
          <a:xfrm>
            <a:off x="1014095" y="1775008"/>
            <a:ext cx="10279114" cy="3063057"/>
          </a:xfrm>
          <a:custGeom>
            <a:avLst/>
            <a:gdLst>
              <a:gd name="adj" fmla="val 2671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6188" h="4824">
                <a:moveTo>
                  <a:pt x="1" y="1693"/>
                </a:moveTo>
                <a:lnTo>
                  <a:pt x="0" y="1648"/>
                </a:lnTo>
                <a:cubicBezTo>
                  <a:pt x="-27" y="719"/>
                  <a:pt x="908" y="-22"/>
                  <a:pt x="1653" y="0"/>
                </a:cubicBezTo>
                <a:lnTo>
                  <a:pt x="1694" y="1"/>
                </a:lnTo>
                <a:lnTo>
                  <a:pt x="14509" y="1"/>
                </a:lnTo>
                <a:lnTo>
                  <a:pt x="14555" y="0"/>
                </a:lnTo>
                <a:cubicBezTo>
                  <a:pt x="15405" y="-29"/>
                  <a:pt x="16112" y="779"/>
                  <a:pt x="16188" y="1448"/>
                </a:cubicBezTo>
                <a:lnTo>
                  <a:pt x="15467" y="1448"/>
                </a:lnTo>
                <a:cubicBezTo>
                  <a:pt x="15326" y="995"/>
                  <a:pt x="14723" y="518"/>
                  <a:pt x="14213" y="553"/>
                </a:cubicBezTo>
                <a:lnTo>
                  <a:pt x="14176" y="554"/>
                </a:lnTo>
                <a:lnTo>
                  <a:pt x="1944" y="554"/>
                </a:lnTo>
                <a:lnTo>
                  <a:pt x="1911" y="553"/>
                </a:lnTo>
                <a:cubicBezTo>
                  <a:pt x="1227" y="531"/>
                  <a:pt x="543" y="1219"/>
                  <a:pt x="565" y="1895"/>
                </a:cubicBezTo>
                <a:lnTo>
                  <a:pt x="566" y="1931"/>
                </a:lnTo>
                <a:lnTo>
                  <a:pt x="566" y="4333"/>
                </a:lnTo>
                <a:lnTo>
                  <a:pt x="565" y="4366"/>
                </a:lnTo>
                <a:cubicBezTo>
                  <a:pt x="552" y="4511"/>
                  <a:pt x="635" y="4785"/>
                  <a:pt x="656" y="4824"/>
                </a:cubicBezTo>
                <a:lnTo>
                  <a:pt x="7" y="4824"/>
                </a:lnTo>
                <a:lnTo>
                  <a:pt x="6" y="4806"/>
                </a:lnTo>
                <a:lnTo>
                  <a:pt x="3" y="4765"/>
                </a:lnTo>
                <a:lnTo>
                  <a:pt x="1" y="4725"/>
                </a:lnTo>
                <a:lnTo>
                  <a:pt x="0" y="4684"/>
                </a:lnTo>
                <a:lnTo>
                  <a:pt x="1" y="4644"/>
                </a:lnTo>
                <a:lnTo>
                  <a:pt x="1" y="1693"/>
                </a:lnTo>
                <a:close/>
              </a:path>
            </a:pathLst>
          </a:custGeom>
          <a:gradFill>
            <a:gsLst>
              <a:gs pos="50000">
                <a:schemeClr val="accent1">
                  <a:lumMod val="40000"/>
                  <a:lumOff val="60000"/>
                  <a:alpha val="50000"/>
                </a:schemeClr>
              </a:gs>
              <a:gs pos="0">
                <a:schemeClr val="accent1">
                  <a:lumMod val="40000"/>
                  <a:lumOff val="60000"/>
                  <a:alpha val="10000"/>
                </a:schemeClr>
              </a:gs>
              <a:gs pos="100000">
                <a:schemeClr val="accent1">
                  <a:lumMod val="40000"/>
                  <a:lumOff val="6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9" name="等腰三角形 8"/>
          <p:cNvSpPr/>
          <p:nvPr/>
        </p:nvSpPr>
        <p:spPr>
          <a:xfrm>
            <a:off x="10678160" y="1774825"/>
            <a:ext cx="796925" cy="1033780"/>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 name="等腰三角形 10"/>
          <p:cNvSpPr/>
          <p:nvPr/>
        </p:nvSpPr>
        <p:spPr>
          <a:xfrm flipV="1">
            <a:off x="814070" y="4643120"/>
            <a:ext cx="796925" cy="1033780"/>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 name="矩形 11"/>
          <p:cNvSpPr/>
          <p:nvPr/>
        </p:nvSpPr>
        <p:spPr>
          <a:xfrm>
            <a:off x="1826895" y="3254693"/>
            <a:ext cx="944880" cy="487680"/>
          </a:xfrm>
          <a:prstGeom prst="rect">
            <a:avLst/>
          </a:prstGeom>
          <a:solidFill>
            <a:schemeClr val="accent1">
              <a:lumMod val="20000"/>
              <a:lumOff val="80000"/>
              <a:alpha val="5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solidFill>
                  <a:schemeClr val="tx2"/>
                </a:solidFill>
                <a:cs typeface="微软雅黑" panose="020B0503020204020204" charset="-122"/>
              </a:rPr>
              <a:t>各行业相关</a:t>
            </a:r>
            <a:endParaRPr lang="zh-CN" altLang="en-US" sz="1000" b="1">
              <a:solidFill>
                <a:schemeClr val="tx2"/>
              </a:solidFill>
              <a:cs typeface="微软雅黑" panose="020B0503020204020204" charset="-122"/>
            </a:endParaRPr>
          </a:p>
          <a:p>
            <a:pPr algn="ctr"/>
            <a:r>
              <a:rPr lang="zh-CN" altLang="en-US" sz="1000" b="1">
                <a:solidFill>
                  <a:schemeClr val="tx2"/>
                </a:solidFill>
                <a:cs typeface="微软雅黑" panose="020B0503020204020204" charset="-122"/>
              </a:rPr>
              <a:t>产业链</a:t>
            </a:r>
            <a:endParaRPr lang="zh-CN" altLang="en-US" sz="1000" b="1">
              <a:solidFill>
                <a:schemeClr val="tx2"/>
              </a:solidFill>
              <a:cs typeface="微软雅黑" panose="020B0503020204020204" charset="-122"/>
            </a:endParaRPr>
          </a:p>
        </p:txBody>
      </p:sp>
      <p:sp>
        <p:nvSpPr>
          <p:cNvPr id="13" name="矩形 12"/>
          <p:cNvSpPr/>
          <p:nvPr/>
        </p:nvSpPr>
        <p:spPr>
          <a:xfrm>
            <a:off x="1826895" y="4326573"/>
            <a:ext cx="944880" cy="487680"/>
          </a:xfrm>
          <a:prstGeom prst="rect">
            <a:avLst/>
          </a:prstGeom>
          <a:solidFill>
            <a:schemeClr val="accent1">
              <a:lumMod val="20000"/>
              <a:lumOff val="80000"/>
              <a:alpha val="5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b="1">
                <a:solidFill>
                  <a:schemeClr val="tx2"/>
                </a:solidFill>
                <a:cs typeface="微软雅黑" panose="020B0503020204020204" charset="-122"/>
                <a:sym typeface="+mn-ea"/>
              </a:rPr>
              <a:t>地方政府及</a:t>
            </a:r>
            <a:endParaRPr lang="zh-CN" altLang="en-US" sz="1000" b="1">
              <a:solidFill>
                <a:schemeClr val="tx2"/>
              </a:solidFill>
              <a:cs typeface="微软雅黑" panose="020B0503020204020204" charset="-122"/>
              <a:sym typeface="+mn-ea"/>
            </a:endParaRPr>
          </a:p>
          <a:p>
            <a:pPr lvl="0" algn="ctr">
              <a:buClrTx/>
              <a:buSzTx/>
              <a:buFontTx/>
            </a:pPr>
            <a:r>
              <a:rPr lang="zh-CN" altLang="en-US" sz="1000" b="1">
                <a:solidFill>
                  <a:schemeClr val="tx2"/>
                </a:solidFill>
                <a:cs typeface="微软雅黑" panose="020B0503020204020204" charset="-122"/>
                <a:sym typeface="+mn-ea"/>
              </a:rPr>
              <a:t>部委</a:t>
            </a:r>
            <a:endParaRPr lang="zh-CN" altLang="en-US" sz="1000" b="1">
              <a:solidFill>
                <a:schemeClr val="tx2"/>
              </a:solidFill>
              <a:cs typeface="微软雅黑" panose="020B0503020204020204" charset="-122"/>
              <a:sym typeface="+mn-ea"/>
            </a:endParaRPr>
          </a:p>
        </p:txBody>
      </p:sp>
      <p:sp>
        <p:nvSpPr>
          <p:cNvPr id="14" name="矩形 13"/>
          <p:cNvSpPr/>
          <p:nvPr/>
        </p:nvSpPr>
        <p:spPr>
          <a:xfrm>
            <a:off x="3725545" y="3254375"/>
            <a:ext cx="966470" cy="488315"/>
          </a:xfrm>
          <a:prstGeom prst="rect">
            <a:avLst/>
          </a:prstGeom>
          <a:gradFill>
            <a:gsLst>
              <a:gs pos="12000">
                <a:schemeClr val="accent1">
                  <a:lumMod val="60000"/>
                  <a:lumOff val="40000"/>
                </a:schemeClr>
              </a:gs>
              <a:gs pos="100000">
                <a:schemeClr val="accent1">
                  <a:lumMod val="40000"/>
                  <a:lumOff val="6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行业机构</a:t>
            </a:r>
            <a:endParaRPr lang="zh-CN" altLang="en-US" sz="1400" b="1">
              <a:cs typeface="微软雅黑" panose="020B0503020204020204" charset="-122"/>
            </a:endParaRPr>
          </a:p>
        </p:txBody>
      </p:sp>
      <p:sp>
        <p:nvSpPr>
          <p:cNvPr id="15" name="矩形 14"/>
          <p:cNvSpPr/>
          <p:nvPr/>
        </p:nvSpPr>
        <p:spPr>
          <a:xfrm>
            <a:off x="3725545" y="4326255"/>
            <a:ext cx="966470" cy="488315"/>
          </a:xfrm>
          <a:prstGeom prst="rect">
            <a:avLst/>
          </a:prstGeom>
          <a:gradFill>
            <a:gsLst>
              <a:gs pos="12000">
                <a:schemeClr val="accent1">
                  <a:lumMod val="60000"/>
                  <a:lumOff val="40000"/>
                </a:schemeClr>
              </a:gs>
              <a:gs pos="100000">
                <a:schemeClr val="accent1">
                  <a:lumMod val="40000"/>
                  <a:lumOff val="6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cs typeface="微软雅黑" panose="020B0503020204020204" charset="-122"/>
                <a:sym typeface="+mn-ea"/>
              </a:rPr>
              <a:t>政府机构</a:t>
            </a:r>
            <a:endParaRPr lang="zh-CN" altLang="en-US" sz="1400" b="1">
              <a:cs typeface="微软雅黑" panose="020B0503020204020204" charset="-122"/>
              <a:sym typeface="+mn-ea"/>
            </a:endParaRPr>
          </a:p>
        </p:txBody>
      </p:sp>
      <p:sp>
        <p:nvSpPr>
          <p:cNvPr id="16" name="矩形 15"/>
          <p:cNvSpPr/>
          <p:nvPr/>
        </p:nvSpPr>
        <p:spPr>
          <a:xfrm>
            <a:off x="5655945" y="2694305"/>
            <a:ext cx="949960" cy="560070"/>
          </a:xfrm>
          <a:prstGeom prst="rect">
            <a:avLst/>
          </a:prstGeom>
          <a:gradFill>
            <a:gsLst>
              <a:gs pos="12000">
                <a:schemeClr val="accent1"/>
              </a:gs>
              <a:gs pos="100000">
                <a:schemeClr val="accent1">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cs typeface="微软雅黑" panose="020B0503020204020204" charset="-122"/>
                <a:sym typeface="+mn-ea"/>
              </a:rPr>
              <a:t>教培方</a:t>
            </a:r>
            <a:endParaRPr lang="zh-CN" altLang="en-US" sz="1400" b="1">
              <a:cs typeface="微软雅黑" panose="020B0503020204020204" charset="-122"/>
              <a:sym typeface="+mn-ea"/>
            </a:endParaRPr>
          </a:p>
        </p:txBody>
      </p:sp>
      <p:sp>
        <p:nvSpPr>
          <p:cNvPr id="17" name="矩形 16"/>
          <p:cNvSpPr/>
          <p:nvPr/>
        </p:nvSpPr>
        <p:spPr>
          <a:xfrm>
            <a:off x="5657215" y="3766185"/>
            <a:ext cx="949960" cy="560070"/>
          </a:xfrm>
          <a:prstGeom prst="rect">
            <a:avLst/>
          </a:prstGeom>
          <a:gradFill>
            <a:gsLst>
              <a:gs pos="12000">
                <a:schemeClr val="accent1"/>
              </a:gs>
              <a:gs pos="100000">
                <a:schemeClr val="accent1">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企业雇主</a:t>
            </a:r>
            <a:endParaRPr lang="zh-CN" altLang="en-US" sz="1400" b="1">
              <a:cs typeface="微软雅黑" panose="020B0503020204020204" charset="-122"/>
            </a:endParaRPr>
          </a:p>
        </p:txBody>
      </p:sp>
      <p:sp>
        <p:nvSpPr>
          <p:cNvPr id="18" name="矩形 17"/>
          <p:cNvSpPr/>
          <p:nvPr/>
        </p:nvSpPr>
        <p:spPr>
          <a:xfrm>
            <a:off x="7569835" y="3253740"/>
            <a:ext cx="949960" cy="512445"/>
          </a:xfrm>
          <a:prstGeom prst="rect">
            <a:avLst/>
          </a:prstGeom>
          <a:gradFill>
            <a:gsLst>
              <a:gs pos="12000">
                <a:schemeClr val="accent1">
                  <a:lumMod val="60000"/>
                  <a:lumOff val="40000"/>
                </a:schemeClr>
              </a:gs>
              <a:gs pos="100000">
                <a:schemeClr val="accent1">
                  <a:lumMod val="40000"/>
                  <a:lumOff val="6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cs typeface="微软雅黑" panose="020B0503020204020204" charset="-122"/>
                <a:sym typeface="+mn-ea"/>
              </a:rPr>
              <a:t>社会人才</a:t>
            </a:r>
            <a:endParaRPr lang="zh-CN" altLang="en-US" sz="1400" b="1">
              <a:cs typeface="微软雅黑" panose="020B0503020204020204" charset="-122"/>
              <a:sym typeface="+mn-ea"/>
            </a:endParaRPr>
          </a:p>
        </p:txBody>
      </p:sp>
      <p:sp>
        <p:nvSpPr>
          <p:cNvPr id="19" name="矩形 18"/>
          <p:cNvSpPr/>
          <p:nvPr/>
        </p:nvSpPr>
        <p:spPr>
          <a:xfrm>
            <a:off x="7572375" y="4302125"/>
            <a:ext cx="949960" cy="512445"/>
          </a:xfrm>
          <a:prstGeom prst="rect">
            <a:avLst/>
          </a:prstGeom>
          <a:gradFill>
            <a:gsLst>
              <a:gs pos="12000">
                <a:schemeClr val="accent1">
                  <a:lumMod val="60000"/>
                  <a:lumOff val="40000"/>
                </a:schemeClr>
              </a:gs>
              <a:gs pos="100000">
                <a:schemeClr val="accent1">
                  <a:lumMod val="40000"/>
                  <a:lumOff val="6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cs typeface="微软雅黑" panose="020B0503020204020204" charset="-122"/>
                <a:sym typeface="+mn-ea"/>
              </a:rPr>
              <a:t>人力服务</a:t>
            </a:r>
            <a:endParaRPr lang="zh-CN" altLang="en-US" sz="1400" b="1">
              <a:cs typeface="微软雅黑" panose="020B0503020204020204" charset="-122"/>
              <a:sym typeface="+mn-ea"/>
            </a:endParaRPr>
          </a:p>
        </p:txBody>
      </p:sp>
      <p:sp>
        <p:nvSpPr>
          <p:cNvPr id="20" name="矩形 19"/>
          <p:cNvSpPr/>
          <p:nvPr/>
        </p:nvSpPr>
        <p:spPr>
          <a:xfrm>
            <a:off x="9482455" y="3242310"/>
            <a:ext cx="949960" cy="512445"/>
          </a:xfrm>
          <a:prstGeom prst="rect">
            <a:avLst/>
          </a:prstGeom>
          <a:solidFill>
            <a:schemeClr val="accent1">
              <a:lumMod val="20000"/>
              <a:lumOff val="80000"/>
              <a:alpha val="5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b="1">
                <a:solidFill>
                  <a:schemeClr val="tx2"/>
                </a:solidFill>
                <a:cs typeface="微软雅黑" panose="020B0503020204020204" charset="-122"/>
                <a:sym typeface="+mn-ea"/>
              </a:rPr>
              <a:t>社群网络</a:t>
            </a:r>
            <a:endParaRPr lang="zh-CN" altLang="en-US" sz="1000" b="1">
              <a:solidFill>
                <a:schemeClr val="tx2"/>
              </a:solidFill>
              <a:cs typeface="微软雅黑" panose="020B0503020204020204" charset="-122"/>
              <a:sym typeface="+mn-ea"/>
            </a:endParaRPr>
          </a:p>
        </p:txBody>
      </p:sp>
      <p:sp>
        <p:nvSpPr>
          <p:cNvPr id="21" name="矩形 20"/>
          <p:cNvSpPr/>
          <p:nvPr/>
        </p:nvSpPr>
        <p:spPr>
          <a:xfrm>
            <a:off x="9487535" y="4302125"/>
            <a:ext cx="949960" cy="512445"/>
          </a:xfrm>
          <a:prstGeom prst="rect">
            <a:avLst/>
          </a:prstGeom>
          <a:solidFill>
            <a:schemeClr val="accent1">
              <a:lumMod val="20000"/>
              <a:lumOff val="80000"/>
              <a:alpha val="5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b="1">
                <a:solidFill>
                  <a:schemeClr val="tx2"/>
                </a:solidFill>
                <a:cs typeface="微软雅黑" panose="020B0503020204020204" charset="-122"/>
                <a:sym typeface="+mn-ea"/>
              </a:rPr>
              <a:t>人才招聘</a:t>
            </a:r>
            <a:endParaRPr lang="zh-CN" altLang="en-US" sz="1000" b="1">
              <a:solidFill>
                <a:schemeClr val="tx2"/>
              </a:solidFill>
              <a:cs typeface="微软雅黑" panose="020B0503020204020204" charset="-122"/>
              <a:sym typeface="+mn-ea"/>
            </a:endParaRPr>
          </a:p>
          <a:p>
            <a:pPr lvl="0" algn="ctr">
              <a:buClrTx/>
              <a:buSzTx/>
              <a:buFontTx/>
            </a:pPr>
            <a:r>
              <a:rPr lang="zh-CN" altLang="en-US" sz="1000" b="1">
                <a:solidFill>
                  <a:schemeClr val="tx2"/>
                </a:solidFill>
                <a:cs typeface="微软雅黑" panose="020B0503020204020204" charset="-122"/>
                <a:sym typeface="+mn-ea"/>
              </a:rPr>
              <a:t>产业链</a:t>
            </a:r>
            <a:endParaRPr lang="zh-CN" altLang="en-US" sz="1000" b="1">
              <a:solidFill>
                <a:schemeClr val="tx2"/>
              </a:solidFill>
              <a:cs typeface="微软雅黑" panose="020B0503020204020204" charset="-122"/>
              <a:sym typeface="+mn-ea"/>
            </a:endParaRPr>
          </a:p>
        </p:txBody>
      </p:sp>
      <p:sp>
        <p:nvSpPr>
          <p:cNvPr id="28" name="圆角矩形 27"/>
          <p:cNvSpPr/>
          <p:nvPr/>
        </p:nvSpPr>
        <p:spPr>
          <a:xfrm>
            <a:off x="3243580" y="6337935"/>
            <a:ext cx="1082040" cy="274320"/>
          </a:xfrm>
          <a:prstGeom prst="roundRect">
            <a:avLst/>
          </a:prstGeom>
          <a:noFill/>
          <a:ln w="12700">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提升效率</a:t>
            </a:r>
            <a:endParaRPr lang="zh-CN" altLang="en-US" sz="1200">
              <a:solidFill>
                <a:schemeClr val="tx2"/>
              </a:solidFill>
              <a:cs typeface="微软雅黑" panose="020B0503020204020204" charset="-122"/>
            </a:endParaRPr>
          </a:p>
        </p:txBody>
      </p:sp>
      <p:sp>
        <p:nvSpPr>
          <p:cNvPr id="29" name="圆角矩形 28"/>
          <p:cNvSpPr/>
          <p:nvPr/>
        </p:nvSpPr>
        <p:spPr>
          <a:xfrm>
            <a:off x="4452620" y="6340475"/>
            <a:ext cx="1457325" cy="274320"/>
          </a:xfrm>
          <a:prstGeom prst="roundRect">
            <a:avLst/>
          </a:prstGeom>
          <a:noFill/>
          <a:ln w="12700">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加快信息传递</a:t>
            </a:r>
            <a:endParaRPr lang="zh-CN" altLang="en-US" sz="1200">
              <a:solidFill>
                <a:schemeClr val="tx2"/>
              </a:solidFill>
              <a:cs typeface="微软雅黑" panose="020B0503020204020204" charset="-122"/>
            </a:endParaRPr>
          </a:p>
        </p:txBody>
      </p:sp>
      <p:sp>
        <p:nvSpPr>
          <p:cNvPr id="30" name="圆角矩形 29"/>
          <p:cNvSpPr/>
          <p:nvPr/>
        </p:nvSpPr>
        <p:spPr>
          <a:xfrm>
            <a:off x="6036945" y="6337935"/>
            <a:ext cx="1346200" cy="274320"/>
          </a:xfrm>
          <a:prstGeom prst="roundRect">
            <a:avLst/>
          </a:prstGeom>
          <a:noFill/>
          <a:ln w="12700">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信息透明化</a:t>
            </a:r>
            <a:endParaRPr lang="zh-CN" altLang="en-US" sz="1200">
              <a:solidFill>
                <a:schemeClr val="tx2"/>
              </a:solidFill>
              <a:cs typeface="微软雅黑" panose="020B0503020204020204" charset="-122"/>
            </a:endParaRPr>
          </a:p>
        </p:txBody>
      </p:sp>
      <p:sp>
        <p:nvSpPr>
          <p:cNvPr id="31" name="圆角矩形 30"/>
          <p:cNvSpPr/>
          <p:nvPr/>
        </p:nvSpPr>
        <p:spPr>
          <a:xfrm>
            <a:off x="7510145" y="6337935"/>
            <a:ext cx="1610360" cy="274320"/>
          </a:xfrm>
          <a:prstGeom prst="roundRect">
            <a:avLst/>
          </a:prstGeom>
          <a:noFill/>
          <a:ln w="12700">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cs typeface="微软雅黑" panose="020B0503020204020204" charset="-122"/>
              </a:rPr>
              <a:t>行业规范化监管</a:t>
            </a:r>
            <a:endParaRPr lang="zh-CN" altLang="en-US" sz="1200">
              <a:solidFill>
                <a:schemeClr val="tx2"/>
              </a:solidFill>
              <a:cs typeface="微软雅黑" panose="020B0503020204020204" charset="-122"/>
            </a:endParaRPr>
          </a:p>
        </p:txBody>
      </p:sp>
      <p:cxnSp>
        <p:nvCxnSpPr>
          <p:cNvPr id="32" name="直接箭头连接符 31"/>
          <p:cNvCxnSpPr>
            <a:stCxn id="16" idx="2"/>
            <a:endCxn id="17" idx="0"/>
          </p:cNvCxnSpPr>
          <p:nvPr/>
        </p:nvCxnSpPr>
        <p:spPr>
          <a:xfrm>
            <a:off x="6130925" y="3254375"/>
            <a:ext cx="1270" cy="51181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33" name="直接箭头连接符 32"/>
          <p:cNvCxnSpPr>
            <a:stCxn id="14" idx="3"/>
            <a:endCxn id="16" idx="1"/>
          </p:cNvCxnSpPr>
          <p:nvPr/>
        </p:nvCxnSpPr>
        <p:spPr>
          <a:xfrm flipV="1">
            <a:off x="4692015" y="2974340"/>
            <a:ext cx="963930" cy="52451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34" name="直接箭头连接符 33"/>
          <p:cNvCxnSpPr>
            <a:stCxn id="17" idx="1"/>
            <a:endCxn id="14" idx="3"/>
          </p:cNvCxnSpPr>
          <p:nvPr/>
        </p:nvCxnSpPr>
        <p:spPr>
          <a:xfrm flipH="1" flipV="1">
            <a:off x="4692015" y="3498850"/>
            <a:ext cx="965200" cy="54737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35" name="直接箭头连接符 34"/>
          <p:cNvCxnSpPr>
            <a:stCxn id="15" idx="0"/>
            <a:endCxn id="14" idx="2"/>
          </p:cNvCxnSpPr>
          <p:nvPr/>
        </p:nvCxnSpPr>
        <p:spPr>
          <a:xfrm flipV="1">
            <a:off x="4208780" y="3742690"/>
            <a:ext cx="0" cy="583565"/>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36" name="直接箭头连接符 35"/>
          <p:cNvCxnSpPr>
            <a:stCxn id="15" idx="3"/>
            <a:endCxn id="17" idx="1"/>
          </p:cNvCxnSpPr>
          <p:nvPr/>
        </p:nvCxnSpPr>
        <p:spPr>
          <a:xfrm flipV="1">
            <a:off x="4692015" y="4046220"/>
            <a:ext cx="965200" cy="52451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37" name="直接箭头连接符 36"/>
          <p:cNvCxnSpPr>
            <a:stCxn id="18" idx="1"/>
            <a:endCxn id="17" idx="3"/>
          </p:cNvCxnSpPr>
          <p:nvPr/>
        </p:nvCxnSpPr>
        <p:spPr>
          <a:xfrm flipH="1">
            <a:off x="6607175" y="3510280"/>
            <a:ext cx="962660" cy="53594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38" name="直接箭头连接符 37"/>
          <p:cNvCxnSpPr>
            <a:stCxn id="16" idx="3"/>
            <a:endCxn id="18" idx="1"/>
          </p:cNvCxnSpPr>
          <p:nvPr/>
        </p:nvCxnSpPr>
        <p:spPr>
          <a:xfrm>
            <a:off x="6605905" y="2974340"/>
            <a:ext cx="963930" cy="53594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39" name="直接箭头连接符 38"/>
          <p:cNvCxnSpPr>
            <a:stCxn id="19" idx="1"/>
            <a:endCxn id="17" idx="3"/>
          </p:cNvCxnSpPr>
          <p:nvPr/>
        </p:nvCxnSpPr>
        <p:spPr>
          <a:xfrm flipH="1" flipV="1">
            <a:off x="6607175" y="4046220"/>
            <a:ext cx="965200" cy="512445"/>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40" name="直接箭头连接符 39"/>
          <p:cNvCxnSpPr>
            <a:stCxn id="18" idx="2"/>
            <a:endCxn id="19" idx="0"/>
          </p:cNvCxnSpPr>
          <p:nvPr/>
        </p:nvCxnSpPr>
        <p:spPr>
          <a:xfrm>
            <a:off x="8044815" y="3766185"/>
            <a:ext cx="2540" cy="53594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sp>
        <p:nvSpPr>
          <p:cNvPr id="41" name="等腰三角形 40"/>
          <p:cNvSpPr/>
          <p:nvPr/>
        </p:nvSpPr>
        <p:spPr>
          <a:xfrm>
            <a:off x="4171315" y="397065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2" name="等腰三角形 41"/>
          <p:cNvSpPr/>
          <p:nvPr/>
        </p:nvSpPr>
        <p:spPr>
          <a:xfrm flipV="1">
            <a:off x="6094730" y="346011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3" name="等腰三角形 42"/>
          <p:cNvSpPr/>
          <p:nvPr/>
        </p:nvSpPr>
        <p:spPr>
          <a:xfrm rot="18180000">
            <a:off x="5050155" y="368490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4" name="等腰三角形 43"/>
          <p:cNvSpPr/>
          <p:nvPr/>
        </p:nvSpPr>
        <p:spPr>
          <a:xfrm rot="18180000">
            <a:off x="7031355" y="425513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5" name="等腰三角形 44"/>
          <p:cNvSpPr/>
          <p:nvPr/>
        </p:nvSpPr>
        <p:spPr>
          <a:xfrm rot="3420000" flipH="1">
            <a:off x="7085965" y="371792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6" name="等腰三角形 45"/>
          <p:cNvSpPr/>
          <p:nvPr/>
        </p:nvSpPr>
        <p:spPr>
          <a:xfrm flipV="1">
            <a:off x="8009890" y="400621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7" name="等腰三角形 46"/>
          <p:cNvSpPr/>
          <p:nvPr/>
        </p:nvSpPr>
        <p:spPr>
          <a:xfrm rot="7380000" flipH="1">
            <a:off x="7004050" y="317690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8" name="等腰三角形 47"/>
          <p:cNvSpPr/>
          <p:nvPr/>
        </p:nvSpPr>
        <p:spPr>
          <a:xfrm rot="3420000" flipH="1">
            <a:off x="5135880" y="4271010"/>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9" name="等腰三角形 48"/>
          <p:cNvSpPr/>
          <p:nvPr/>
        </p:nvSpPr>
        <p:spPr>
          <a:xfrm rot="3420000" flipH="1">
            <a:off x="5213350" y="3152140"/>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0" name="圆角矩形 49"/>
          <p:cNvSpPr/>
          <p:nvPr/>
        </p:nvSpPr>
        <p:spPr>
          <a:xfrm rot="19980000">
            <a:off x="4742180" y="2907665"/>
            <a:ext cx="752475"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solidFill>
                <a:cs typeface="微软雅黑" panose="020B0503020204020204" charset="-122"/>
              </a:rPr>
              <a:t>技能评定</a:t>
            </a:r>
            <a:endParaRPr lang="zh-CN" altLang="en-US" sz="1000">
              <a:solidFill>
                <a:schemeClr val="tx2"/>
              </a:solidFill>
              <a:cs typeface="微软雅黑" panose="020B0503020204020204" charset="-122"/>
            </a:endParaRPr>
          </a:p>
        </p:txBody>
      </p:sp>
      <p:sp>
        <p:nvSpPr>
          <p:cNvPr id="51" name="圆角矩形 50"/>
          <p:cNvSpPr/>
          <p:nvPr/>
        </p:nvSpPr>
        <p:spPr>
          <a:xfrm rot="1800000">
            <a:off x="6748145" y="2893060"/>
            <a:ext cx="752475"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solidFill>
                <a:cs typeface="微软雅黑" panose="020B0503020204020204" charset="-122"/>
              </a:rPr>
              <a:t>教学内容</a:t>
            </a:r>
            <a:endParaRPr lang="zh-CN" altLang="en-US" sz="1000">
              <a:solidFill>
                <a:schemeClr val="tx2"/>
              </a:solidFill>
              <a:cs typeface="微软雅黑" panose="020B0503020204020204" charset="-122"/>
            </a:endParaRPr>
          </a:p>
        </p:txBody>
      </p:sp>
      <p:sp>
        <p:nvSpPr>
          <p:cNvPr id="52" name="圆角矩形 51"/>
          <p:cNvSpPr/>
          <p:nvPr/>
        </p:nvSpPr>
        <p:spPr>
          <a:xfrm>
            <a:off x="4692015" y="3896360"/>
            <a:ext cx="752475"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solidFill>
                <a:cs typeface="微软雅黑" panose="020B0503020204020204" charset="-122"/>
              </a:rPr>
              <a:t>市场需求</a:t>
            </a:r>
            <a:endParaRPr lang="zh-CN" altLang="en-US" sz="1000">
              <a:solidFill>
                <a:schemeClr val="tx2"/>
              </a:solidFill>
              <a:cs typeface="微软雅黑" panose="020B0503020204020204" charset="-122"/>
            </a:endParaRPr>
          </a:p>
        </p:txBody>
      </p:sp>
      <p:sp>
        <p:nvSpPr>
          <p:cNvPr id="53" name="圆角矩形 52"/>
          <p:cNvSpPr/>
          <p:nvPr/>
        </p:nvSpPr>
        <p:spPr>
          <a:xfrm>
            <a:off x="6868795" y="3909060"/>
            <a:ext cx="752475"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solidFill>
                <a:cs typeface="微软雅黑" panose="020B0503020204020204" charset="-122"/>
              </a:rPr>
              <a:t>岗位信息</a:t>
            </a:r>
            <a:endParaRPr lang="zh-CN" altLang="en-US" sz="1000">
              <a:solidFill>
                <a:schemeClr val="tx2"/>
              </a:solidFill>
              <a:cs typeface="微软雅黑" panose="020B0503020204020204" charset="-122"/>
            </a:endParaRPr>
          </a:p>
        </p:txBody>
      </p:sp>
      <p:sp>
        <p:nvSpPr>
          <p:cNvPr id="56" name="矩形 55"/>
          <p:cNvSpPr/>
          <p:nvPr/>
        </p:nvSpPr>
        <p:spPr>
          <a:xfrm>
            <a:off x="4981893" y="5318760"/>
            <a:ext cx="2331720" cy="541020"/>
          </a:xfrm>
          <a:prstGeom prst="rect">
            <a:avLst/>
          </a:prstGeom>
          <a:gradFill>
            <a:gsLst>
              <a:gs pos="0">
                <a:schemeClr val="accent5">
                  <a:lumMod val="60000"/>
                  <a:lumOff val="40000"/>
                </a:schemeClr>
              </a:gs>
              <a:gs pos="100000">
                <a:schemeClr val="accent5"/>
              </a:gs>
            </a:gsLst>
            <a:lin ang="0" scaled="0"/>
          </a:gradFill>
          <a:ln w="38100">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cs typeface="微软雅黑" panose="020B0503020204020204" charset="-122"/>
              </a:rPr>
              <a:t>数字化平台</a:t>
            </a:r>
            <a:endParaRPr lang="zh-CN" altLang="en-US" b="1">
              <a:cs typeface="微软雅黑" panose="020B0503020204020204" charset="-122"/>
            </a:endParaRPr>
          </a:p>
        </p:txBody>
      </p:sp>
      <p:sp>
        <p:nvSpPr>
          <p:cNvPr id="57" name="文本框 56"/>
          <p:cNvSpPr txBox="1"/>
          <p:nvPr/>
        </p:nvSpPr>
        <p:spPr>
          <a:xfrm flipH="1">
            <a:off x="2751455" y="5977890"/>
            <a:ext cx="6792595" cy="27686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gradFill>
                  <a:gsLst>
                    <a:gs pos="0">
                      <a:schemeClr val="accent5"/>
                    </a:gs>
                    <a:gs pos="100000">
                      <a:schemeClr val="accent5">
                        <a:lumMod val="60000"/>
                        <a:lumOff val="40000"/>
                      </a:schemeClr>
                    </a:gs>
                  </a:gsLst>
                  <a:lin ang="5400000" scaled="0"/>
                </a:gradFill>
                <a:effectLst/>
                <a:uLnTx/>
                <a:uFillTx/>
                <a:latin typeface="微软雅黑" panose="020B0503020204020204" charset="-122"/>
                <a:ea typeface="微软雅黑" panose="020B0503020204020204" charset="-122"/>
                <a:cs typeface="微软雅黑" panose="020B0503020204020204" charset="-122"/>
              </a:rPr>
              <a:t>数字化平台全面打通产业各主体，实现职业教育主体间信息流闭环</a:t>
            </a:r>
            <a:endParaRPr kumimoji="0" lang="zh-CN" altLang="en-US" b="1" i="0" u="none" strike="noStrike" kern="1200" cap="none" spc="0" normalizeH="0" baseline="0" noProof="0" dirty="0">
              <a:ln>
                <a:noFill/>
              </a:ln>
              <a:gradFill>
                <a:gsLst>
                  <a:gs pos="0">
                    <a:schemeClr val="accent5"/>
                  </a:gs>
                  <a:gs pos="100000">
                    <a:schemeClr val="accent5">
                      <a:lumMod val="60000"/>
                      <a:lumOff val="40000"/>
                    </a:schemeClr>
                  </a:gs>
                </a:gsLst>
                <a:lin ang="5400000" scaled="0"/>
              </a:gra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矩形 57"/>
          <p:cNvSpPr/>
          <p:nvPr/>
        </p:nvSpPr>
        <p:spPr>
          <a:xfrm>
            <a:off x="4981893" y="1673860"/>
            <a:ext cx="2331720" cy="541020"/>
          </a:xfrm>
          <a:prstGeom prst="rect">
            <a:avLst/>
          </a:prstGeom>
          <a:gradFill>
            <a:gsLst>
              <a:gs pos="0">
                <a:schemeClr val="accent5">
                  <a:lumMod val="60000"/>
                  <a:lumOff val="40000"/>
                </a:schemeClr>
              </a:gs>
              <a:gs pos="100000">
                <a:schemeClr val="accent5"/>
              </a:gs>
            </a:gsLst>
            <a:lin ang="0" scaled="0"/>
          </a:gradFill>
          <a:ln w="38100">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cs typeface="微软雅黑" panose="020B0503020204020204" charset="-122"/>
              </a:rPr>
              <a:t>外部生态平台</a:t>
            </a:r>
            <a:endParaRPr lang="zh-CN" altLang="en-US" b="1">
              <a:cs typeface="微软雅黑" panose="020B0503020204020204" charset="-122"/>
            </a:endParaRPr>
          </a:p>
        </p:txBody>
      </p:sp>
      <p:sp>
        <p:nvSpPr>
          <p:cNvPr id="59" name="文本框 58"/>
          <p:cNvSpPr txBox="1"/>
          <p:nvPr/>
        </p:nvSpPr>
        <p:spPr>
          <a:xfrm flipH="1">
            <a:off x="2751455" y="1182370"/>
            <a:ext cx="6792595" cy="27686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gradFill>
                  <a:gsLst>
                    <a:gs pos="0">
                      <a:schemeClr val="accent5"/>
                    </a:gs>
                    <a:gs pos="100000">
                      <a:schemeClr val="accent5">
                        <a:lumMod val="60000"/>
                        <a:lumOff val="40000"/>
                      </a:schemeClr>
                    </a:gs>
                  </a:gsLst>
                  <a:lin ang="5400000" scaled="0"/>
                </a:gradFill>
                <a:effectLst/>
                <a:uLnTx/>
                <a:uFillTx/>
                <a:latin typeface="微软雅黑" panose="020B0503020204020204" charset="-122"/>
                <a:ea typeface="微软雅黑" panose="020B0503020204020204" charset="-122"/>
                <a:cs typeface="微软雅黑" panose="020B0503020204020204" charset="-122"/>
              </a:rPr>
              <a:t>整合产业信息互通互联，实现生态资讯对接融合</a:t>
            </a:r>
            <a:endParaRPr kumimoji="0" lang="zh-CN" altLang="en-US" b="1" i="0" u="none" strike="noStrike" kern="1200" cap="none" spc="0" normalizeH="0" baseline="0" noProof="0" dirty="0">
              <a:ln>
                <a:noFill/>
              </a:ln>
              <a:gradFill>
                <a:gsLst>
                  <a:gs pos="0">
                    <a:schemeClr val="accent5"/>
                  </a:gs>
                  <a:gs pos="100000">
                    <a:schemeClr val="accent5">
                      <a:lumMod val="60000"/>
                      <a:lumOff val="40000"/>
                    </a:schemeClr>
                  </a:gs>
                </a:gsLst>
                <a:lin ang="5400000" scaled="0"/>
              </a:gradFill>
              <a:effectLst/>
              <a:uLnTx/>
              <a:uFillTx/>
              <a:latin typeface="微软雅黑" panose="020B0503020204020204" charset="-122"/>
              <a:ea typeface="微软雅黑" panose="020B0503020204020204" charset="-122"/>
              <a:cs typeface="微软雅黑" panose="020B0503020204020204" charset="-122"/>
            </a:endParaRPr>
          </a:p>
        </p:txBody>
      </p:sp>
      <p:grpSp>
        <p:nvGrpSpPr>
          <p:cNvPr id="62" name="组合 61"/>
          <p:cNvGrpSpPr/>
          <p:nvPr/>
        </p:nvGrpSpPr>
        <p:grpSpPr>
          <a:xfrm>
            <a:off x="6036945" y="2260600"/>
            <a:ext cx="133350" cy="365760"/>
            <a:chOff x="9507" y="3560"/>
            <a:chExt cx="210" cy="576"/>
          </a:xfrm>
        </p:grpSpPr>
        <p:cxnSp>
          <p:nvCxnSpPr>
            <p:cNvPr id="60" name="直接箭头连接符 59"/>
            <p:cNvCxnSpPr/>
            <p:nvPr/>
          </p:nvCxnSpPr>
          <p:spPr>
            <a:xfrm flipV="1">
              <a:off x="9507" y="3560"/>
              <a:ext cx="0" cy="576"/>
            </a:xfrm>
            <a:prstGeom prst="straightConnector1">
              <a:avLst/>
            </a:prstGeom>
            <a:ln>
              <a:solidFill>
                <a:schemeClr val="accent5"/>
              </a:solidFill>
              <a:tailEnd type="triangle" w="med" len="med"/>
            </a:ln>
          </p:spPr>
          <p:style>
            <a:lnRef idx="2">
              <a:schemeClr val="accent1"/>
            </a:lnRef>
            <a:fillRef idx="0">
              <a:srgbClr val="FFFFFF"/>
            </a:fillRef>
            <a:effectRef idx="0">
              <a:srgbClr val="FFFFFF"/>
            </a:effectRef>
            <a:fontRef idx="minor">
              <a:schemeClr val="tx1"/>
            </a:fontRef>
          </p:style>
        </p:cxnSp>
        <p:cxnSp>
          <p:nvCxnSpPr>
            <p:cNvPr id="61" name="直接箭头连接符 60"/>
            <p:cNvCxnSpPr/>
            <p:nvPr/>
          </p:nvCxnSpPr>
          <p:spPr>
            <a:xfrm>
              <a:off x="9717" y="3560"/>
              <a:ext cx="0" cy="576"/>
            </a:xfrm>
            <a:prstGeom prst="straightConnector1">
              <a:avLst/>
            </a:prstGeom>
            <a:ln>
              <a:solidFill>
                <a:schemeClr val="accent5"/>
              </a:solidFill>
              <a:tailEnd type="triangle" w="med" len="med"/>
            </a:ln>
          </p:spPr>
          <p:style>
            <a:lnRef idx="2">
              <a:schemeClr val="accent1"/>
            </a:lnRef>
            <a:fillRef idx="0">
              <a:srgbClr val="FFFFFF"/>
            </a:fillRef>
            <a:effectRef idx="0">
              <a:srgbClr val="FFFFFF"/>
            </a:effectRef>
            <a:fontRef idx="minor">
              <a:schemeClr val="tx1"/>
            </a:fontRef>
          </p:style>
        </p:cxnSp>
      </p:grpSp>
      <p:sp>
        <p:nvSpPr>
          <p:cNvPr id="63" name="圆角矩形 62"/>
          <p:cNvSpPr/>
          <p:nvPr/>
        </p:nvSpPr>
        <p:spPr>
          <a:xfrm>
            <a:off x="3408045" y="3896360"/>
            <a:ext cx="752475"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solidFill>
                <a:cs typeface="微软雅黑" panose="020B0503020204020204" charset="-122"/>
              </a:rPr>
              <a:t>行业标准</a:t>
            </a:r>
            <a:endParaRPr lang="zh-CN" altLang="en-US" sz="1000">
              <a:solidFill>
                <a:schemeClr val="tx2"/>
              </a:solidFill>
              <a:cs typeface="微软雅黑" panose="020B0503020204020204" charset="-122"/>
            </a:endParaRPr>
          </a:p>
        </p:txBody>
      </p:sp>
      <p:sp>
        <p:nvSpPr>
          <p:cNvPr id="64" name="圆角矩形 63"/>
          <p:cNvSpPr/>
          <p:nvPr/>
        </p:nvSpPr>
        <p:spPr>
          <a:xfrm>
            <a:off x="8168005" y="3896360"/>
            <a:ext cx="751840"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solidFill>
                <a:cs typeface="微软雅黑" panose="020B0503020204020204" charset="-122"/>
              </a:rPr>
              <a:t>人才资讯</a:t>
            </a:r>
            <a:endParaRPr lang="zh-CN" altLang="en-US" sz="1000">
              <a:solidFill>
                <a:schemeClr val="tx2"/>
              </a:solidFill>
              <a:cs typeface="微软雅黑" panose="020B0503020204020204" charset="-122"/>
            </a:endParaRPr>
          </a:p>
        </p:txBody>
      </p:sp>
      <p:cxnSp>
        <p:nvCxnSpPr>
          <p:cNvPr id="65" name="直接箭头连接符 64"/>
          <p:cNvCxnSpPr>
            <a:stCxn id="20" idx="1"/>
            <a:endCxn id="18" idx="3"/>
          </p:cNvCxnSpPr>
          <p:nvPr/>
        </p:nvCxnSpPr>
        <p:spPr>
          <a:xfrm flipH="1">
            <a:off x="8519795" y="3498850"/>
            <a:ext cx="962660" cy="1143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66" name="直接箭头连接符 65"/>
          <p:cNvCxnSpPr/>
          <p:nvPr/>
        </p:nvCxnSpPr>
        <p:spPr>
          <a:xfrm flipH="1">
            <a:off x="8519795" y="4547235"/>
            <a:ext cx="962660" cy="1143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67" name="直接箭头连接符 66"/>
          <p:cNvCxnSpPr/>
          <p:nvPr/>
        </p:nvCxnSpPr>
        <p:spPr>
          <a:xfrm flipH="1">
            <a:off x="2771775" y="3487420"/>
            <a:ext cx="962660" cy="1143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cxnSp>
        <p:nvCxnSpPr>
          <p:cNvPr id="68" name="直接箭头连接符 67"/>
          <p:cNvCxnSpPr/>
          <p:nvPr/>
        </p:nvCxnSpPr>
        <p:spPr>
          <a:xfrm flipH="1">
            <a:off x="2771775" y="4559300"/>
            <a:ext cx="962660" cy="11430"/>
          </a:xfrm>
          <a:prstGeom prst="straightConnector1">
            <a:avLst/>
          </a:prstGeom>
          <a:ln>
            <a:solidFill>
              <a:schemeClr val="tx2">
                <a:lumMod val="60000"/>
                <a:lumOff val="40000"/>
              </a:schemeClr>
            </a:solidFill>
            <a:tailEnd type="none"/>
          </a:ln>
        </p:spPr>
        <p:style>
          <a:lnRef idx="2">
            <a:schemeClr val="accent1"/>
          </a:lnRef>
          <a:fillRef idx="0">
            <a:srgbClr val="FFFFFF"/>
          </a:fillRef>
          <a:effectRef idx="0">
            <a:srgbClr val="FFFFFF"/>
          </a:effectRef>
          <a:fontRef idx="minor">
            <a:schemeClr val="tx1"/>
          </a:fontRef>
        </p:style>
      </p:cxnSp>
      <p:sp>
        <p:nvSpPr>
          <p:cNvPr id="69" name="等腰三角形 68"/>
          <p:cNvSpPr/>
          <p:nvPr/>
        </p:nvSpPr>
        <p:spPr>
          <a:xfrm rot="5400000" flipH="1">
            <a:off x="3232785" y="3453130"/>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0" name="等腰三角形 69"/>
          <p:cNvSpPr/>
          <p:nvPr/>
        </p:nvSpPr>
        <p:spPr>
          <a:xfrm rot="5400000" flipH="1">
            <a:off x="3232785" y="452691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71" name="组合 70"/>
          <p:cNvGrpSpPr/>
          <p:nvPr/>
        </p:nvGrpSpPr>
        <p:grpSpPr>
          <a:xfrm>
            <a:off x="6029325" y="4838065"/>
            <a:ext cx="133350" cy="365760"/>
            <a:chOff x="9507" y="3560"/>
            <a:chExt cx="210" cy="576"/>
          </a:xfrm>
        </p:grpSpPr>
        <p:cxnSp>
          <p:nvCxnSpPr>
            <p:cNvPr id="72" name="直接箭头连接符 71"/>
            <p:cNvCxnSpPr/>
            <p:nvPr/>
          </p:nvCxnSpPr>
          <p:spPr>
            <a:xfrm flipV="1">
              <a:off x="9507" y="3560"/>
              <a:ext cx="0" cy="576"/>
            </a:xfrm>
            <a:prstGeom prst="straightConnector1">
              <a:avLst/>
            </a:prstGeom>
            <a:ln>
              <a:solidFill>
                <a:schemeClr val="accent5"/>
              </a:solidFill>
              <a:tailEnd type="triangle" w="med" len="med"/>
            </a:ln>
          </p:spPr>
          <p:style>
            <a:lnRef idx="2">
              <a:schemeClr val="accent1"/>
            </a:lnRef>
            <a:fillRef idx="0">
              <a:srgbClr val="FFFFFF"/>
            </a:fillRef>
            <a:effectRef idx="0">
              <a:srgbClr val="FFFFFF"/>
            </a:effectRef>
            <a:fontRef idx="minor">
              <a:schemeClr val="tx1"/>
            </a:fontRef>
          </p:style>
        </p:cxnSp>
        <p:cxnSp>
          <p:nvCxnSpPr>
            <p:cNvPr id="73" name="直接箭头连接符 72"/>
            <p:cNvCxnSpPr/>
            <p:nvPr/>
          </p:nvCxnSpPr>
          <p:spPr>
            <a:xfrm>
              <a:off x="9717" y="3560"/>
              <a:ext cx="0" cy="576"/>
            </a:xfrm>
            <a:prstGeom prst="straightConnector1">
              <a:avLst/>
            </a:prstGeom>
            <a:ln>
              <a:solidFill>
                <a:schemeClr val="accent5"/>
              </a:solidFill>
              <a:tailEnd type="triangle" w="med" len="med"/>
            </a:ln>
          </p:spPr>
          <p:style>
            <a:lnRef idx="2">
              <a:schemeClr val="accent1"/>
            </a:lnRef>
            <a:fillRef idx="0">
              <a:srgbClr val="FFFFFF"/>
            </a:fillRef>
            <a:effectRef idx="0">
              <a:srgbClr val="FFFFFF"/>
            </a:effectRef>
            <a:fontRef idx="minor">
              <a:schemeClr val="tx1"/>
            </a:fontRef>
          </p:style>
        </p:cxnSp>
      </p:grpSp>
      <p:sp>
        <p:nvSpPr>
          <p:cNvPr id="74" name="等腰三角形 73"/>
          <p:cNvSpPr/>
          <p:nvPr/>
        </p:nvSpPr>
        <p:spPr>
          <a:xfrm rot="16200000">
            <a:off x="8919845" y="451548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5" name="等腰三角形 74"/>
          <p:cNvSpPr/>
          <p:nvPr/>
        </p:nvSpPr>
        <p:spPr>
          <a:xfrm rot="16200000">
            <a:off x="8919845" y="3470275"/>
            <a:ext cx="75565" cy="75565"/>
          </a:xfrm>
          <a:prstGeom prst="triangl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6" name="圆角矩形 75"/>
          <p:cNvSpPr/>
          <p:nvPr/>
        </p:nvSpPr>
        <p:spPr>
          <a:xfrm>
            <a:off x="8625205" y="4643120"/>
            <a:ext cx="751840"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solidFill>
                <a:cs typeface="微软雅黑" panose="020B0503020204020204" charset="-122"/>
              </a:rPr>
              <a:t>就业资讯</a:t>
            </a:r>
            <a:endParaRPr lang="zh-CN" altLang="en-US" sz="1000">
              <a:solidFill>
                <a:schemeClr val="tx2"/>
              </a:solidFill>
              <a:cs typeface="微软雅黑" panose="020B0503020204020204" charset="-122"/>
            </a:endParaRPr>
          </a:p>
        </p:txBody>
      </p:sp>
      <p:sp>
        <p:nvSpPr>
          <p:cNvPr id="77" name="圆角矩形 76"/>
          <p:cNvSpPr/>
          <p:nvPr/>
        </p:nvSpPr>
        <p:spPr>
          <a:xfrm>
            <a:off x="8625205" y="3185795"/>
            <a:ext cx="751840"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solidFill>
                <a:cs typeface="微软雅黑" panose="020B0503020204020204" charset="-122"/>
              </a:rPr>
              <a:t>同行资讯</a:t>
            </a:r>
            <a:endParaRPr lang="zh-CN" altLang="en-US" sz="1000">
              <a:solidFill>
                <a:schemeClr val="tx2"/>
              </a:solidFill>
              <a:cs typeface="微软雅黑" panose="020B0503020204020204" charset="-122"/>
            </a:endParaRPr>
          </a:p>
        </p:txBody>
      </p:sp>
      <p:sp>
        <p:nvSpPr>
          <p:cNvPr id="78" name="圆角矩形 77"/>
          <p:cNvSpPr/>
          <p:nvPr/>
        </p:nvSpPr>
        <p:spPr>
          <a:xfrm>
            <a:off x="2756535" y="3167380"/>
            <a:ext cx="1030605"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solidFill>
                <a:cs typeface="微软雅黑" panose="020B0503020204020204" charset="-122"/>
              </a:rPr>
              <a:t>行业资讯</a:t>
            </a:r>
            <a:r>
              <a:rPr lang="en-US" altLang="zh-CN" sz="1000">
                <a:solidFill>
                  <a:schemeClr val="tx2"/>
                </a:solidFill>
                <a:cs typeface="微软雅黑" panose="020B0503020204020204" charset="-122"/>
              </a:rPr>
              <a:t>/</a:t>
            </a:r>
            <a:r>
              <a:rPr lang="zh-CN" altLang="en-US" sz="1000">
                <a:solidFill>
                  <a:schemeClr val="tx2"/>
                </a:solidFill>
                <a:cs typeface="微软雅黑" panose="020B0503020204020204" charset="-122"/>
              </a:rPr>
              <a:t>服务</a:t>
            </a:r>
            <a:endParaRPr lang="zh-CN" altLang="en-US" sz="1000">
              <a:solidFill>
                <a:schemeClr val="tx2"/>
              </a:solidFill>
              <a:cs typeface="微软雅黑" panose="020B0503020204020204" charset="-122"/>
            </a:endParaRPr>
          </a:p>
        </p:txBody>
      </p:sp>
      <p:sp>
        <p:nvSpPr>
          <p:cNvPr id="79" name="圆角矩形 78"/>
          <p:cNvSpPr/>
          <p:nvPr/>
        </p:nvSpPr>
        <p:spPr>
          <a:xfrm>
            <a:off x="2771775" y="4591050"/>
            <a:ext cx="1030605" cy="274320"/>
          </a:xfrm>
          <a:prstGeom prst="round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000">
                <a:solidFill>
                  <a:schemeClr val="tx2"/>
                </a:solidFill>
                <a:cs typeface="微软雅黑" panose="020B0503020204020204" charset="-122"/>
              </a:rPr>
              <a:t>地方资讯</a:t>
            </a:r>
            <a:endParaRPr lang="zh-CN" sz="1000">
              <a:solidFill>
                <a:schemeClr val="tx2"/>
              </a:solidFill>
              <a:cs typeface="微软雅黑" panose="020B0503020204020204" charset="-122"/>
            </a:endParaRPr>
          </a:p>
        </p:txBody>
      </p:sp>
      <p:grpSp>
        <p:nvGrpSpPr>
          <p:cNvPr id="83" name="组合 82"/>
          <p:cNvGrpSpPr/>
          <p:nvPr/>
        </p:nvGrpSpPr>
        <p:grpSpPr>
          <a:xfrm rot="16200000">
            <a:off x="2156460" y="3832225"/>
            <a:ext cx="133350" cy="365760"/>
            <a:chOff x="9507" y="3560"/>
            <a:chExt cx="210" cy="576"/>
          </a:xfrm>
        </p:grpSpPr>
        <p:cxnSp>
          <p:nvCxnSpPr>
            <p:cNvPr id="84" name="直接箭头连接符 83"/>
            <p:cNvCxnSpPr/>
            <p:nvPr/>
          </p:nvCxnSpPr>
          <p:spPr>
            <a:xfrm flipV="1">
              <a:off x="9507" y="3560"/>
              <a:ext cx="0" cy="576"/>
            </a:xfrm>
            <a:prstGeom prst="straightConnector1">
              <a:avLst/>
            </a:prstGeom>
            <a:ln>
              <a:solidFill>
                <a:schemeClr val="accent1"/>
              </a:solidFill>
              <a:tailEnd type="triangle" w="med" len="med"/>
            </a:ln>
          </p:spPr>
          <p:style>
            <a:lnRef idx="2">
              <a:schemeClr val="accent1"/>
            </a:lnRef>
            <a:fillRef idx="0">
              <a:srgbClr val="FFFFFF"/>
            </a:fillRef>
            <a:effectRef idx="0">
              <a:srgbClr val="FFFFFF"/>
            </a:effectRef>
            <a:fontRef idx="minor">
              <a:schemeClr val="tx1"/>
            </a:fontRef>
          </p:style>
        </p:cxnSp>
        <p:cxnSp>
          <p:nvCxnSpPr>
            <p:cNvPr id="85" name="直接箭头连接符 84"/>
            <p:cNvCxnSpPr/>
            <p:nvPr/>
          </p:nvCxnSpPr>
          <p:spPr>
            <a:xfrm>
              <a:off x="9717" y="3560"/>
              <a:ext cx="0" cy="576"/>
            </a:xfrm>
            <a:prstGeom prst="straightConnector1">
              <a:avLst/>
            </a:prstGeom>
            <a:ln>
              <a:solidFill>
                <a:schemeClr val="accent1"/>
              </a:solidFill>
              <a:tailEnd type="triangle" w="med" len="med"/>
            </a:ln>
          </p:spPr>
          <p:style>
            <a:lnRef idx="2">
              <a:schemeClr val="accent1"/>
            </a:lnRef>
            <a:fillRef idx="0">
              <a:srgbClr val="FFFFFF"/>
            </a:fillRef>
            <a:effectRef idx="0">
              <a:srgbClr val="FFFFFF"/>
            </a:effectRef>
            <a:fontRef idx="minor">
              <a:schemeClr val="tx1"/>
            </a:fontRef>
          </p:style>
        </p:cxnSp>
      </p:grpSp>
      <p:sp>
        <p:nvSpPr>
          <p:cNvPr id="87" name="圆角矩形 86"/>
          <p:cNvSpPr/>
          <p:nvPr/>
        </p:nvSpPr>
        <p:spPr>
          <a:xfrm>
            <a:off x="536575" y="3909060"/>
            <a:ext cx="1352550" cy="274320"/>
          </a:xfrm>
          <a:prstGeom prst="roundRect">
            <a:avLst/>
          </a:prstGeom>
          <a:solidFill>
            <a:schemeClr val="bg1"/>
          </a:solidFill>
          <a:ln w="12700">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600" b="1">
                <a:gradFill>
                  <a:gsLst>
                    <a:gs pos="0">
                      <a:schemeClr val="accent1"/>
                    </a:gs>
                    <a:gs pos="100000">
                      <a:schemeClr val="accent1">
                        <a:lumMod val="60000"/>
                        <a:lumOff val="40000"/>
                      </a:schemeClr>
                    </a:gs>
                  </a:gsLst>
                  <a:lin ang="5400000" scaled="0"/>
                </a:gradFill>
                <a:cs typeface="微软雅黑" panose="020B0503020204020204" charset="-122"/>
              </a:rPr>
              <a:t>数字信息流</a:t>
            </a:r>
            <a:endParaRPr lang="zh-CN" sz="1600" b="1">
              <a:gradFill>
                <a:gsLst>
                  <a:gs pos="0">
                    <a:schemeClr val="accent1"/>
                  </a:gs>
                  <a:gs pos="100000">
                    <a:schemeClr val="accent1">
                      <a:lumMod val="60000"/>
                      <a:lumOff val="40000"/>
                    </a:schemeClr>
                  </a:gs>
                </a:gsLst>
                <a:lin ang="5400000" scaled="0"/>
              </a:gradFill>
              <a:cs typeface="微软雅黑" panose="020B0503020204020204" charset="-122"/>
            </a:endParaRPr>
          </a:p>
        </p:txBody>
      </p:sp>
      <p:sp>
        <p:nvSpPr>
          <p:cNvPr id="88" name="圆角矩形 87"/>
          <p:cNvSpPr/>
          <p:nvPr/>
        </p:nvSpPr>
        <p:spPr>
          <a:xfrm>
            <a:off x="10437495" y="3868420"/>
            <a:ext cx="1352550" cy="274320"/>
          </a:xfrm>
          <a:prstGeom prst="roundRect">
            <a:avLst/>
          </a:prstGeom>
          <a:solidFill>
            <a:schemeClr val="bg1"/>
          </a:solidFill>
          <a:ln w="12700">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600" b="1">
                <a:gradFill>
                  <a:gsLst>
                    <a:gs pos="0">
                      <a:schemeClr val="accent1"/>
                    </a:gs>
                    <a:gs pos="100000">
                      <a:schemeClr val="accent1">
                        <a:lumMod val="60000"/>
                        <a:lumOff val="40000"/>
                      </a:schemeClr>
                    </a:gs>
                  </a:gsLst>
                  <a:lin ang="5400000" scaled="0"/>
                </a:gradFill>
                <a:cs typeface="微软雅黑" panose="020B0503020204020204" charset="-122"/>
              </a:rPr>
              <a:t>数字信息流</a:t>
            </a:r>
            <a:endParaRPr lang="zh-CN" sz="1600" b="1">
              <a:gradFill>
                <a:gsLst>
                  <a:gs pos="0">
                    <a:schemeClr val="accent1"/>
                  </a:gs>
                  <a:gs pos="100000">
                    <a:schemeClr val="accent1">
                      <a:lumMod val="60000"/>
                      <a:lumOff val="40000"/>
                    </a:schemeClr>
                  </a:gs>
                </a:gsLst>
                <a:lin ang="5400000" scaled="0"/>
              </a:gradFill>
              <a:cs typeface="微软雅黑" panose="020B0503020204020204" charset="-122"/>
            </a:endParaRPr>
          </a:p>
        </p:txBody>
      </p:sp>
      <p:grpSp>
        <p:nvGrpSpPr>
          <p:cNvPr id="89" name="组合 88"/>
          <p:cNvGrpSpPr/>
          <p:nvPr/>
        </p:nvGrpSpPr>
        <p:grpSpPr>
          <a:xfrm rot="16200000">
            <a:off x="9890760" y="3822700"/>
            <a:ext cx="133350" cy="365760"/>
            <a:chOff x="9507" y="3560"/>
            <a:chExt cx="210" cy="576"/>
          </a:xfrm>
        </p:grpSpPr>
        <p:cxnSp>
          <p:nvCxnSpPr>
            <p:cNvPr id="90" name="直接箭头连接符 89"/>
            <p:cNvCxnSpPr/>
            <p:nvPr/>
          </p:nvCxnSpPr>
          <p:spPr>
            <a:xfrm flipV="1">
              <a:off x="9507" y="3560"/>
              <a:ext cx="0" cy="576"/>
            </a:xfrm>
            <a:prstGeom prst="straightConnector1">
              <a:avLst/>
            </a:prstGeom>
            <a:ln>
              <a:solidFill>
                <a:schemeClr val="accent1"/>
              </a:solidFill>
              <a:tailEnd type="triangle" w="med" len="med"/>
            </a:ln>
          </p:spPr>
          <p:style>
            <a:lnRef idx="2">
              <a:schemeClr val="accent1"/>
            </a:lnRef>
            <a:fillRef idx="0">
              <a:srgbClr val="FFFFFF"/>
            </a:fillRef>
            <a:effectRef idx="0">
              <a:srgbClr val="FFFFFF"/>
            </a:effectRef>
            <a:fontRef idx="minor">
              <a:schemeClr val="tx1"/>
            </a:fontRef>
          </p:style>
        </p:cxnSp>
        <p:cxnSp>
          <p:nvCxnSpPr>
            <p:cNvPr id="91" name="直接箭头连接符 90"/>
            <p:cNvCxnSpPr/>
            <p:nvPr/>
          </p:nvCxnSpPr>
          <p:spPr>
            <a:xfrm>
              <a:off x="9717" y="3560"/>
              <a:ext cx="0" cy="576"/>
            </a:xfrm>
            <a:prstGeom prst="straightConnector1">
              <a:avLst/>
            </a:prstGeom>
            <a:ln>
              <a:solidFill>
                <a:schemeClr val="accent1"/>
              </a:solidFill>
              <a:tailEnd type="triangle" w="med" len="med"/>
            </a:ln>
          </p:spPr>
          <p:style>
            <a:lnRef idx="2">
              <a:schemeClr val="accent1"/>
            </a:lnRef>
            <a:fillRef idx="0">
              <a:srgbClr val="FFFFFF"/>
            </a:fillRef>
            <a:effectRef idx="0">
              <a:srgbClr val="FFFFFF"/>
            </a:effectRef>
            <a:fontRef idx="minor">
              <a:schemeClr val="tx1"/>
            </a:fontRef>
          </p:style>
        </p:cxnSp>
      </p:grp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8738235" y="348615"/>
            <a:ext cx="3219450" cy="332740"/>
            <a:chOff x="13761" y="549"/>
            <a:chExt cx="5070" cy="524"/>
          </a:xfrm>
        </p:grpSpPr>
        <p:pic>
          <p:nvPicPr>
            <p:cNvPr id="8" name="图片 7"/>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0" name="文本框 9"/>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26503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自媒体内容社区运作流程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3" name="圆角矩形 2"/>
          <p:cNvSpPr/>
          <p:nvPr/>
        </p:nvSpPr>
        <p:spPr>
          <a:xfrm>
            <a:off x="4148455" y="2935605"/>
            <a:ext cx="3921125" cy="1840230"/>
          </a:xfrm>
          <a:prstGeom prst="roundRect">
            <a:avLst>
              <a:gd name="adj" fmla="val 5486"/>
            </a:avLst>
          </a:prstGeom>
          <a:solidFill>
            <a:schemeClr val="bg1">
              <a:alpha val="50000"/>
            </a:schemeClr>
          </a:solidFill>
          <a:ln w="25400">
            <a:gradFill>
              <a:gsLst>
                <a:gs pos="0">
                  <a:schemeClr val="accent5"/>
                </a:gs>
                <a:gs pos="100000">
                  <a:schemeClr val="accent5">
                    <a:lumMod val="60000"/>
                    <a:lumOff val="4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 name="圆角矩形 5"/>
          <p:cNvSpPr/>
          <p:nvPr/>
        </p:nvSpPr>
        <p:spPr>
          <a:xfrm>
            <a:off x="4305935" y="3340735"/>
            <a:ext cx="3531235" cy="838200"/>
          </a:xfrm>
          <a:prstGeom prst="roundRect">
            <a:avLst>
              <a:gd name="adj" fmla="val 5486"/>
            </a:avLst>
          </a:prstGeom>
          <a:solidFill>
            <a:schemeClr val="accent5">
              <a:lumMod val="60000"/>
              <a:lumOff val="40000"/>
              <a:alpha val="20000"/>
            </a:schemeClr>
          </a:solidFill>
          <a:ln w="25400">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7" name="圆角矩形 6"/>
          <p:cNvSpPr/>
          <p:nvPr/>
        </p:nvSpPr>
        <p:spPr>
          <a:xfrm>
            <a:off x="4614545" y="3715385"/>
            <a:ext cx="1301115" cy="350520"/>
          </a:xfrm>
          <a:prstGeom prst="roundRect">
            <a:avLst>
              <a:gd name="adj" fmla="val 5486"/>
            </a:avLst>
          </a:prstGeom>
          <a:solidFill>
            <a:schemeClr val="bg1">
              <a:alpha val="70000"/>
            </a:schemeClr>
          </a:solidFill>
          <a:ln w="12700">
            <a:solidFill>
              <a:schemeClr val="accent5">
                <a:lumMod val="60000"/>
                <a:lumOff val="40000"/>
              </a:schemeClr>
            </a:solidFill>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内容板块布局</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6351905" y="3715385"/>
            <a:ext cx="1282065" cy="351790"/>
          </a:xfrm>
          <a:prstGeom prst="roundRect">
            <a:avLst>
              <a:gd name="adj" fmla="val 5486"/>
            </a:avLst>
          </a:prstGeom>
          <a:solidFill>
            <a:schemeClr val="bg1">
              <a:alpha val="70000"/>
            </a:schemeClr>
          </a:solidFill>
          <a:ln w="12700">
            <a:solidFill>
              <a:schemeClr val="accent5">
                <a:lumMod val="60000"/>
                <a:lumOff val="40000"/>
              </a:schemeClr>
            </a:solidFill>
            <a:prstDash val="dashDot"/>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rPr>
              <a:t>内容形式</a:t>
            </a:r>
            <a:r>
              <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rPr>
              <a:t>布局</a:t>
            </a:r>
            <a:endPar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 name="圆角矩形 8"/>
          <p:cNvSpPr/>
          <p:nvPr/>
        </p:nvSpPr>
        <p:spPr>
          <a:xfrm>
            <a:off x="4252595" y="4307205"/>
            <a:ext cx="1183005" cy="350520"/>
          </a:xfrm>
          <a:prstGeom prst="roundRect">
            <a:avLst>
              <a:gd name="adj" fmla="val 5486"/>
            </a:avLst>
          </a:prstGeom>
          <a:solidFill>
            <a:schemeClr val="accent5">
              <a:lumMod val="60000"/>
              <a:lumOff val="40000"/>
            </a:schemeClr>
          </a:solidFill>
          <a:ln w="12700">
            <a:noFill/>
            <a:prstDash val="dashDot"/>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rPr>
              <a:t>商业合作管理</a:t>
            </a:r>
            <a:endPar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1" name="圆角矩形 10"/>
          <p:cNvSpPr/>
          <p:nvPr/>
        </p:nvSpPr>
        <p:spPr>
          <a:xfrm>
            <a:off x="5521325" y="4307205"/>
            <a:ext cx="1183005" cy="350520"/>
          </a:xfrm>
          <a:prstGeom prst="roundRect">
            <a:avLst>
              <a:gd name="adj" fmla="val 5486"/>
            </a:avLst>
          </a:prstGeom>
          <a:solidFill>
            <a:schemeClr val="accent5">
              <a:lumMod val="60000"/>
              <a:lumOff val="40000"/>
            </a:schemeClr>
          </a:solidFill>
          <a:ln w="12700">
            <a:noFill/>
            <a:prstDash val="dashDot"/>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rPr>
              <a:t>创业者激励</a:t>
            </a:r>
            <a:endPar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2" name="圆角矩形 11"/>
          <p:cNvSpPr/>
          <p:nvPr/>
        </p:nvSpPr>
        <p:spPr>
          <a:xfrm>
            <a:off x="6790055" y="4307205"/>
            <a:ext cx="1183005" cy="350520"/>
          </a:xfrm>
          <a:prstGeom prst="roundRect">
            <a:avLst>
              <a:gd name="adj" fmla="val 5486"/>
            </a:avLst>
          </a:prstGeom>
          <a:solidFill>
            <a:schemeClr val="accent5">
              <a:lumMod val="60000"/>
              <a:lumOff val="40000"/>
            </a:schemeClr>
          </a:solidFill>
          <a:ln w="12700">
            <a:noFill/>
            <a:prstDash val="dashDot"/>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rPr>
              <a:t>数据技术支持</a:t>
            </a:r>
            <a:endPar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4" name="圆角矩形 13"/>
          <p:cNvSpPr/>
          <p:nvPr/>
        </p:nvSpPr>
        <p:spPr>
          <a:xfrm>
            <a:off x="4846955" y="1580515"/>
            <a:ext cx="2518410" cy="520065"/>
          </a:xfrm>
          <a:prstGeom prst="roundRect">
            <a:avLst>
              <a:gd name="adj" fmla="val 7936"/>
            </a:avLst>
          </a:prstGeom>
          <a:gradFill>
            <a:gsLst>
              <a:gs pos="0">
                <a:schemeClr val="accent1">
                  <a:lumMod val="60000"/>
                  <a:lumOff val="40000"/>
                </a:schemeClr>
              </a:gs>
              <a:gs pos="81000">
                <a:schemeClr val="accent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latin typeface="微软雅黑" panose="020B0503020204020204" charset="-122"/>
                <a:ea typeface="微软雅黑" panose="020B0503020204020204" charset="-122"/>
                <a:cs typeface="微软雅黑" panose="020B0503020204020204" charset="-122"/>
                <a:sym typeface="+mn-ea"/>
              </a:rPr>
              <a:t>广告代理商</a:t>
            </a:r>
            <a:r>
              <a:rPr lang="zh-CN" altLang="en-US" sz="1600" b="1">
                <a:latin typeface="微软雅黑" panose="020B0503020204020204" charset="-122"/>
                <a:ea typeface="微软雅黑" panose="020B0503020204020204" charset="-122"/>
                <a:cs typeface="微软雅黑" panose="020B0503020204020204" charset="-122"/>
                <a:sym typeface="+mn-ea"/>
              </a:rPr>
              <a:t>/</a:t>
            </a:r>
            <a:r>
              <a:rPr lang="zh-CN" altLang="en-US" sz="1600" b="1">
                <a:latin typeface="微软雅黑" panose="020B0503020204020204" charset="-122"/>
                <a:ea typeface="微软雅黑" panose="020B0503020204020204" charset="-122"/>
                <a:cs typeface="微软雅黑" panose="020B0503020204020204" charset="-122"/>
                <a:sym typeface="+mn-ea"/>
              </a:rPr>
              <a:t>营销服务商</a:t>
            </a:r>
            <a:endParaRPr lang="zh-CN" altLang="en-US" sz="1600" b="1">
              <a:latin typeface="微软雅黑" panose="020B0503020204020204" charset="-122"/>
              <a:ea typeface="微软雅黑" panose="020B0503020204020204" charset="-122"/>
              <a:cs typeface="微软雅黑" panose="020B0503020204020204" charset="-122"/>
              <a:sym typeface="+mn-ea"/>
            </a:endParaRPr>
          </a:p>
        </p:txBody>
      </p:sp>
      <p:sp>
        <p:nvSpPr>
          <p:cNvPr id="15" name="圆角矩形 14"/>
          <p:cNvSpPr/>
          <p:nvPr/>
        </p:nvSpPr>
        <p:spPr>
          <a:xfrm>
            <a:off x="2035175" y="5610860"/>
            <a:ext cx="8126730" cy="724535"/>
          </a:xfrm>
          <a:prstGeom prst="roundRect">
            <a:avLst>
              <a:gd name="adj" fmla="val 5486"/>
            </a:avLst>
          </a:prstGeom>
          <a:solidFill>
            <a:schemeClr val="accent1">
              <a:lumMod val="20000"/>
              <a:lumOff val="80000"/>
              <a:alpha val="20000"/>
            </a:schemeClr>
          </a:solidFill>
          <a:ln w="25400">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6" name="圆角矩形 15"/>
          <p:cNvSpPr/>
          <p:nvPr/>
        </p:nvSpPr>
        <p:spPr>
          <a:xfrm>
            <a:off x="9223375" y="3594735"/>
            <a:ext cx="2389505" cy="520065"/>
          </a:xfrm>
          <a:prstGeom prst="roundRect">
            <a:avLst>
              <a:gd name="adj" fmla="val 7936"/>
            </a:avLst>
          </a:prstGeom>
          <a:gradFill>
            <a:gsLst>
              <a:gs pos="0">
                <a:schemeClr val="accent5">
                  <a:lumMod val="60000"/>
                  <a:lumOff val="40000"/>
                </a:schemeClr>
              </a:gs>
              <a:gs pos="100000">
                <a:schemeClr val="accent5"/>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latin typeface="微软雅黑" panose="020B0503020204020204" charset="-122"/>
                <a:ea typeface="微软雅黑" panose="020B0503020204020204" charset="-122"/>
                <a:cs typeface="微软雅黑" panose="020B0503020204020204" charset="-122"/>
                <a:sym typeface="+mn-ea"/>
              </a:rPr>
              <a:t>用户</a:t>
            </a:r>
            <a:endParaRPr lang="zh-CN" altLang="en-US" sz="1600" b="1">
              <a:latin typeface="微软雅黑" panose="020B0503020204020204" charset="-122"/>
              <a:ea typeface="微软雅黑" panose="020B0503020204020204" charset="-122"/>
              <a:cs typeface="微软雅黑" panose="020B0503020204020204" charset="-122"/>
              <a:sym typeface="+mn-ea"/>
            </a:endParaRPr>
          </a:p>
        </p:txBody>
      </p:sp>
      <p:sp>
        <p:nvSpPr>
          <p:cNvPr id="17" name="圆角矩形 16"/>
          <p:cNvSpPr/>
          <p:nvPr/>
        </p:nvSpPr>
        <p:spPr>
          <a:xfrm>
            <a:off x="2245995" y="5713095"/>
            <a:ext cx="2937510" cy="520065"/>
          </a:xfrm>
          <a:prstGeom prst="roundRect">
            <a:avLst>
              <a:gd name="adj" fmla="val 7936"/>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600" b="1">
                <a:solidFill>
                  <a:schemeClr val="bg1"/>
                </a:solidFill>
                <a:latin typeface="微软雅黑" panose="020B0503020204020204" charset="-122"/>
                <a:ea typeface="微软雅黑" panose="020B0503020204020204" charset="-122"/>
                <a:cs typeface="微软雅黑" panose="020B0503020204020204" charset="-122"/>
                <a:sym typeface="+mn-ea"/>
              </a:rPr>
              <a:t>M</a:t>
            </a:r>
            <a:r>
              <a:rPr lang="en-US" altLang="zh-CN" sz="1600" b="1">
                <a:solidFill>
                  <a:schemeClr val="bg1"/>
                </a:solidFill>
                <a:latin typeface="微软雅黑" panose="020B0503020204020204" charset="-122"/>
                <a:ea typeface="微软雅黑" panose="020B0503020204020204" charset="-122"/>
                <a:cs typeface="微软雅黑" panose="020B0503020204020204" charset="-122"/>
                <a:sym typeface="+mn-ea"/>
              </a:rPr>
              <a:t>CN</a:t>
            </a:r>
            <a:endParaRPr lang="en-US" altLang="zh-CN" sz="16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8" name="圆角矩形 17"/>
          <p:cNvSpPr/>
          <p:nvPr/>
        </p:nvSpPr>
        <p:spPr>
          <a:xfrm>
            <a:off x="6998335" y="5713095"/>
            <a:ext cx="2937510" cy="520065"/>
          </a:xfrm>
          <a:prstGeom prst="roundRect">
            <a:avLst>
              <a:gd name="adj" fmla="val 7936"/>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600" b="1">
                <a:solidFill>
                  <a:schemeClr val="bg1"/>
                </a:solidFill>
                <a:latin typeface="微软雅黑" panose="020B0503020204020204" charset="-122"/>
                <a:ea typeface="微软雅黑" panose="020B0503020204020204" charset="-122"/>
                <a:cs typeface="微软雅黑" panose="020B0503020204020204" charset="-122"/>
                <a:sym typeface="+mn-ea"/>
              </a:rPr>
              <a:t>内容生产方</a:t>
            </a:r>
            <a:endParaRPr lang="en-US" altLang="zh-CN" sz="16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19" name="直接箭头连接符 18"/>
          <p:cNvCxnSpPr/>
          <p:nvPr/>
        </p:nvCxnSpPr>
        <p:spPr>
          <a:xfrm>
            <a:off x="5207000" y="5878830"/>
            <a:ext cx="1747520" cy="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a:off x="5207000" y="6031230"/>
            <a:ext cx="1747520" cy="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flipV="1">
            <a:off x="5915660" y="4793615"/>
            <a:ext cx="0" cy="76073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22" name="直接箭头连接符 21"/>
          <p:cNvCxnSpPr/>
          <p:nvPr/>
        </p:nvCxnSpPr>
        <p:spPr>
          <a:xfrm>
            <a:off x="6291580" y="4796155"/>
            <a:ext cx="0" cy="760730"/>
          </a:xfrm>
          <a:prstGeom prst="straightConnector1">
            <a:avLst/>
          </a:prstGeom>
          <a:ln>
            <a:solidFill>
              <a:schemeClr val="accent5"/>
            </a:solidFill>
            <a:prstDash val="dash"/>
            <a:tailEnd type="triangle"/>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nvCxnSpPr>
        <p:spPr>
          <a:xfrm>
            <a:off x="5944235" y="2118995"/>
            <a:ext cx="0" cy="76073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a:off x="6322695" y="2118995"/>
            <a:ext cx="0" cy="760730"/>
          </a:xfrm>
          <a:prstGeom prst="straightConnector1">
            <a:avLst/>
          </a:prstGeom>
          <a:ln>
            <a:solidFill>
              <a:schemeClr val="accent5"/>
            </a:solidFill>
            <a:prstDash val="dash"/>
            <a:tailEnd type="triangle"/>
          </a:ln>
        </p:spPr>
        <p:style>
          <a:lnRef idx="2">
            <a:schemeClr val="accent1"/>
          </a:lnRef>
          <a:fillRef idx="0">
            <a:srgbClr val="FFFFFF"/>
          </a:fillRef>
          <a:effectRef idx="0">
            <a:srgbClr val="FFFFFF"/>
          </a:effectRef>
          <a:fontRef idx="minor">
            <a:schemeClr val="tx1"/>
          </a:fontRef>
        </p:style>
      </p:cxnSp>
      <p:cxnSp>
        <p:nvCxnSpPr>
          <p:cNvPr id="25" name="直接箭头连接符 24"/>
          <p:cNvCxnSpPr/>
          <p:nvPr/>
        </p:nvCxnSpPr>
        <p:spPr>
          <a:xfrm>
            <a:off x="3030855" y="3737610"/>
            <a:ext cx="1050290" cy="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a:off x="3030855" y="3989705"/>
            <a:ext cx="1050290" cy="0"/>
          </a:xfrm>
          <a:prstGeom prst="straightConnector1">
            <a:avLst/>
          </a:prstGeom>
          <a:ln>
            <a:solidFill>
              <a:schemeClr val="accent5"/>
            </a:solidFill>
            <a:prstDash val="dash"/>
            <a:tailEnd type="triangle"/>
          </a:ln>
        </p:spPr>
        <p:style>
          <a:lnRef idx="2">
            <a:schemeClr val="accent1"/>
          </a:lnRef>
          <a:fillRef idx="0">
            <a:srgbClr val="FFFFFF"/>
          </a:fillRef>
          <a:effectRef idx="0">
            <a:srgbClr val="FFFFFF"/>
          </a:effectRef>
          <a:fontRef idx="minor">
            <a:schemeClr val="tx1"/>
          </a:fontRef>
        </p:style>
      </p:cxnSp>
      <p:cxnSp>
        <p:nvCxnSpPr>
          <p:cNvPr id="27" name="直接箭头连接符 26"/>
          <p:cNvCxnSpPr/>
          <p:nvPr/>
        </p:nvCxnSpPr>
        <p:spPr>
          <a:xfrm>
            <a:off x="8094980" y="3749040"/>
            <a:ext cx="1050290" cy="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nvCxnSpPr>
        <p:spPr>
          <a:xfrm flipH="1">
            <a:off x="8094980" y="3993515"/>
            <a:ext cx="1050290" cy="0"/>
          </a:xfrm>
          <a:prstGeom prst="straightConnector1">
            <a:avLst/>
          </a:prstGeom>
          <a:ln>
            <a:solidFill>
              <a:schemeClr val="accent5"/>
            </a:solidFill>
            <a:prstDash val="dash"/>
            <a:tailEnd type="triangle"/>
          </a:ln>
        </p:spPr>
        <p:style>
          <a:lnRef idx="2">
            <a:schemeClr val="accent1"/>
          </a:lnRef>
          <a:fillRef idx="0">
            <a:srgbClr val="FFFFFF"/>
          </a:fillRef>
          <a:effectRef idx="0">
            <a:srgbClr val="FFFFFF"/>
          </a:effectRef>
          <a:fontRef idx="minor">
            <a:schemeClr val="tx1"/>
          </a:fontRef>
        </p:style>
      </p:cxnSp>
      <p:cxnSp>
        <p:nvCxnSpPr>
          <p:cNvPr id="36" name="肘形连接符 35"/>
          <p:cNvCxnSpPr>
            <a:stCxn id="29" idx="3"/>
            <a:endCxn id="34" idx="2"/>
          </p:cNvCxnSpPr>
          <p:nvPr/>
        </p:nvCxnSpPr>
        <p:spPr>
          <a:xfrm rot="5400000">
            <a:off x="1162685" y="2558415"/>
            <a:ext cx="4456430" cy="2765425"/>
          </a:xfrm>
          <a:prstGeom prst="bentConnector4">
            <a:avLst>
              <a:gd name="adj1" fmla="val 35"/>
              <a:gd name="adj2" fmla="val 139460"/>
            </a:avLst>
          </a:prstGeom>
          <a:ln>
            <a:solidFill>
              <a:schemeClr val="accent5"/>
            </a:solidFill>
            <a:prstDash val="dash"/>
            <a:headEnd type="triangle"/>
            <a:tailEnd type="triangle"/>
          </a:ln>
        </p:spPr>
        <p:style>
          <a:lnRef idx="2">
            <a:schemeClr val="accent1"/>
          </a:lnRef>
          <a:fillRef idx="0">
            <a:srgbClr val="FFFFFF"/>
          </a:fillRef>
          <a:effectRef idx="0">
            <a:srgbClr val="FFFFFF"/>
          </a:effectRef>
          <a:fontRef idx="minor">
            <a:schemeClr val="tx1"/>
          </a:fontRef>
        </p:style>
      </p:cxnSp>
      <p:cxnSp>
        <p:nvCxnSpPr>
          <p:cNvPr id="37" name="肘形连接符 36"/>
          <p:cNvCxnSpPr>
            <a:stCxn id="30" idx="2"/>
            <a:endCxn id="33" idx="2"/>
          </p:cNvCxnSpPr>
          <p:nvPr/>
        </p:nvCxnSpPr>
        <p:spPr>
          <a:xfrm rot="10800000" flipV="1">
            <a:off x="2008505" y="2001520"/>
            <a:ext cx="2754630" cy="3803650"/>
          </a:xfrm>
          <a:prstGeom prst="bentConnector3">
            <a:avLst>
              <a:gd name="adj1" fmla="val 108645"/>
            </a:avLst>
          </a:prstGeom>
          <a:ln>
            <a:solidFill>
              <a:schemeClr val="accent1"/>
            </a:solidFill>
            <a:headEnd type="triangle"/>
            <a:tailEnd type="triangle"/>
          </a:ln>
        </p:spPr>
        <p:style>
          <a:lnRef idx="2">
            <a:schemeClr val="accent1"/>
          </a:lnRef>
          <a:fillRef idx="0">
            <a:srgbClr val="FFFFFF"/>
          </a:fillRef>
          <a:effectRef idx="0">
            <a:srgbClr val="FFFFFF"/>
          </a:effectRef>
          <a:fontRef idx="minor">
            <a:schemeClr val="tx1"/>
          </a:fontRef>
        </p:style>
      </p:cxnSp>
      <p:sp>
        <p:nvSpPr>
          <p:cNvPr id="38" name="圆角矩形 37"/>
          <p:cNvSpPr/>
          <p:nvPr/>
        </p:nvSpPr>
        <p:spPr>
          <a:xfrm>
            <a:off x="605155" y="3594735"/>
            <a:ext cx="2389505" cy="520065"/>
          </a:xfrm>
          <a:prstGeom prst="roundRect">
            <a:avLst>
              <a:gd name="adj" fmla="val 7936"/>
            </a:avLst>
          </a:prstGeom>
          <a:gradFill>
            <a:gsLst>
              <a:gs pos="0">
                <a:schemeClr val="accent1">
                  <a:lumMod val="60000"/>
                  <a:lumOff val="40000"/>
                </a:schemeClr>
              </a:gs>
              <a:gs pos="81000">
                <a:schemeClr val="accent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latin typeface="微软雅黑" panose="020B0503020204020204" charset="-122"/>
                <a:ea typeface="微软雅黑" panose="020B0503020204020204" charset="-122"/>
                <a:cs typeface="微软雅黑" panose="020B0503020204020204" charset="-122"/>
                <a:sym typeface="+mn-ea"/>
              </a:rPr>
              <a:t>品牌主</a:t>
            </a:r>
            <a:endParaRPr lang="zh-CN" altLang="en-US" sz="1600" b="1">
              <a:latin typeface="微软雅黑" panose="020B0503020204020204" charset="-122"/>
              <a:ea typeface="微软雅黑" panose="020B0503020204020204" charset="-122"/>
              <a:cs typeface="微软雅黑" panose="020B0503020204020204" charset="-122"/>
              <a:sym typeface="+mn-ea"/>
            </a:endParaRPr>
          </a:p>
        </p:txBody>
      </p:sp>
      <p:sp>
        <p:nvSpPr>
          <p:cNvPr id="39" name="矩形 38"/>
          <p:cNvSpPr/>
          <p:nvPr/>
        </p:nvSpPr>
        <p:spPr>
          <a:xfrm>
            <a:off x="9326880" y="1562100"/>
            <a:ext cx="2026920" cy="624840"/>
          </a:xfrm>
          <a:prstGeom prst="rect">
            <a:avLst/>
          </a:prstGeom>
          <a:solidFill>
            <a:schemeClr val="bg1"/>
          </a:solidFill>
          <a:ln w="12700">
            <a:solidFill>
              <a:schemeClr val="tx2"/>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5115560" y="2973705"/>
            <a:ext cx="1938020" cy="33718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互联网自媒体</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5593080" y="3347085"/>
            <a:ext cx="1111250" cy="337185"/>
          </a:xfrm>
          <a:prstGeom prst="rect">
            <a:avLst/>
          </a:prstGeom>
          <a:noFill/>
        </p:spPr>
        <p:txBody>
          <a:bodyPr wrap="square" rtlCol="0">
            <a:spAutoFit/>
          </a:bodyPr>
          <a:p>
            <a:r>
              <a:rPr lang="zh-CN" altLang="en-US" sz="1600" b="1">
                <a:solidFill>
                  <a:schemeClr val="tx2"/>
                </a:solidFill>
                <a:latin typeface="微软雅黑" panose="020B0503020204020204" charset="-122"/>
                <a:ea typeface="微软雅黑" panose="020B0503020204020204" charset="-122"/>
                <a:cs typeface="微软雅黑" panose="020B0503020204020204" charset="-122"/>
              </a:rPr>
              <a:t>内容社区</a:t>
            </a:r>
            <a:endParaRPr lang="zh-CN" altLang="en-US" sz="16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3289935" y="1399540"/>
            <a:ext cx="962660"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内容投放预算</a:t>
            </a:r>
            <a:endParaRPr lang="en-US" alt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3289935" y="2054860"/>
            <a:ext cx="962660"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内容投放需求</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5149215" y="2376805"/>
            <a:ext cx="786130"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内容合作</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6343015" y="2376805"/>
            <a:ext cx="1009015"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内容合作费用</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1773555" y="4657725"/>
            <a:ext cx="358140" cy="706755"/>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内容合作</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935355" y="4636770"/>
            <a:ext cx="358140" cy="116840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制作费用</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佣金</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5012055" y="5026660"/>
            <a:ext cx="786130"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内容合作</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6504940" y="4949825"/>
            <a:ext cx="1059815"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佣金分成</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内容付费分成</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56" name="直接箭头连接符 55"/>
          <p:cNvCxnSpPr/>
          <p:nvPr/>
        </p:nvCxnSpPr>
        <p:spPr>
          <a:xfrm>
            <a:off x="9480550" y="1751330"/>
            <a:ext cx="1050290" cy="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nvCxnSpPr>
        <p:spPr>
          <a:xfrm flipH="1">
            <a:off x="9480550" y="1964055"/>
            <a:ext cx="1050290" cy="0"/>
          </a:xfrm>
          <a:prstGeom prst="straightConnector1">
            <a:avLst/>
          </a:prstGeom>
          <a:ln>
            <a:solidFill>
              <a:schemeClr val="accent5"/>
            </a:solidFill>
            <a:prstDash val="dash"/>
            <a:tailEnd type="triangle"/>
          </a:ln>
        </p:spPr>
        <p:style>
          <a:lnRef idx="2">
            <a:schemeClr val="accent1"/>
          </a:lnRef>
          <a:fillRef idx="0">
            <a:srgbClr val="FFFFFF"/>
          </a:fillRef>
          <a:effectRef idx="0">
            <a:srgbClr val="FFFFFF"/>
          </a:effectRef>
          <a:fontRef idx="minor">
            <a:schemeClr val="tx1"/>
          </a:fontRef>
        </p:style>
      </p:cxnSp>
      <p:sp>
        <p:nvSpPr>
          <p:cNvPr id="58" name="文本框 57"/>
          <p:cNvSpPr txBox="1"/>
          <p:nvPr/>
        </p:nvSpPr>
        <p:spPr>
          <a:xfrm>
            <a:off x="10530840" y="1644650"/>
            <a:ext cx="648335"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业务流</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nvSpPr>
        <p:spPr>
          <a:xfrm>
            <a:off x="10530840" y="1873885"/>
            <a:ext cx="648335"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资金流</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104" name="图片 10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4" name="文本框 3"/>
          <p:cNvSpPr txBox="1"/>
          <p:nvPr/>
        </p:nvSpPr>
        <p:spPr>
          <a:xfrm>
            <a:off x="8136890" y="3401695"/>
            <a:ext cx="962660"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内容展示</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nvSpPr>
        <p:spPr>
          <a:xfrm>
            <a:off x="8137525" y="4035425"/>
            <a:ext cx="1094740" cy="706755"/>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内容付费</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商品购买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会员费用</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其他</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C</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端付费项</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3033395" y="3484880"/>
            <a:ext cx="962660"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内容合作</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3026410" y="4046220"/>
            <a:ext cx="1094740" cy="706755"/>
          </a:xfrm>
          <a:prstGeom prst="rect">
            <a:avLst/>
          </a:prstGeom>
          <a:noFill/>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广告营销</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流量采买</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佣金分成</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其他</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B</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端付费项</a:t>
            </a:r>
            <a:endParaRPr lang="en-US" alt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5488940" y="5660390"/>
            <a:ext cx="1215390"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挖掘、培养、管理</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5703570" y="6031230"/>
            <a:ext cx="786130"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分佣</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10"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sym typeface="+mn-ea"/>
              </a:rPr>
              <a:t>客户分层运营全景图</a:t>
            </a:r>
            <a:endParaRPr sz="2500" b="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72" name="右箭头 171"/>
          <p:cNvSpPr/>
          <p:nvPr/>
        </p:nvSpPr>
        <p:spPr>
          <a:xfrm>
            <a:off x="2920365" y="1280795"/>
            <a:ext cx="8572500" cy="400050"/>
          </a:xfrm>
          <a:prstGeom prst="rightArrow">
            <a:avLst>
              <a:gd name="adj1" fmla="val 50000"/>
              <a:gd name="adj2" fmla="val 68440"/>
            </a:avLst>
          </a:prstGeom>
          <a:solidFill>
            <a:sysClr val="window" lastClr="FFFFFF">
              <a:lumMod val="85000"/>
              <a:alpha val="90000"/>
            </a:sysClr>
          </a:solidFill>
          <a:ln w="12700" cap="flat" cmpd="sng" algn="ctr">
            <a:noFill/>
            <a:prstDash val="solid"/>
            <a:miter lim="800000"/>
          </a:ln>
          <a:effectLst/>
        </p:spPr>
        <p:txBody>
          <a:bodyPr rtlCol="0" anchor="ctr"/>
          <a:p>
            <a:pPr algn="ctr"/>
            <a:endParaRPr lang="zh-CN" altLang="en-US">
              <a:solidFill>
                <a:sysClr val="window" lastClr="FFFFFF"/>
              </a:solidFill>
              <a:latin typeface="+mn-ea"/>
              <a:cs typeface="微软雅黑" panose="020B0503020204020204" charset="-122"/>
            </a:endParaRPr>
          </a:p>
        </p:txBody>
      </p:sp>
      <p:sp>
        <p:nvSpPr>
          <p:cNvPr id="282" name="右箭头 281"/>
          <p:cNvSpPr/>
          <p:nvPr/>
        </p:nvSpPr>
        <p:spPr>
          <a:xfrm>
            <a:off x="3086735" y="1861820"/>
            <a:ext cx="8453755" cy="782955"/>
          </a:xfrm>
          <a:prstGeom prst="rightArrow">
            <a:avLst/>
          </a:prstGeom>
          <a:solidFill>
            <a:sysClr val="window" lastClr="FFFFFF">
              <a:lumMod val="85000"/>
              <a:alpha val="90000"/>
            </a:sysClr>
          </a:solidFill>
          <a:ln w="12700" cap="flat" cmpd="sng" algn="ctr">
            <a:noFill/>
            <a:prstDash val="solid"/>
            <a:miter lim="800000"/>
          </a:ln>
          <a:effectLst/>
        </p:spPr>
        <p:txBody>
          <a:bodyPr rtlCol="0" anchor="ctr">
            <a:noAutofit/>
          </a:bodyPr>
          <a:p>
            <a:pPr lvl="0" algn="ctr">
              <a:buClrTx/>
              <a:buSzTx/>
              <a:buFontTx/>
            </a:pPr>
            <a:endParaRPr lang="zh-CN" altLang="en-US">
              <a:solidFill>
                <a:sysClr val="window" lastClr="FFFFFF"/>
              </a:solidFill>
              <a:latin typeface="+mn-ea"/>
              <a:cs typeface="微软雅黑" panose="020B0503020204020204" charset="-122"/>
              <a:sym typeface="+mn-ea"/>
            </a:endParaRPr>
          </a:p>
        </p:txBody>
      </p:sp>
      <p:sp>
        <p:nvSpPr>
          <p:cNvPr id="21" name="矩形 20"/>
          <p:cNvSpPr/>
          <p:nvPr/>
        </p:nvSpPr>
        <p:spPr>
          <a:xfrm>
            <a:off x="766445" y="1238885"/>
            <a:ext cx="2141855" cy="5248275"/>
          </a:xfrm>
          <a:prstGeom prst="rect">
            <a:avLst/>
          </a:prstGeom>
          <a:solidFill>
            <a:schemeClr val="accent5">
              <a:lumMod val="20000"/>
              <a:lumOff val="80000"/>
              <a:alpha val="30000"/>
            </a:schemeClr>
          </a:solidFill>
          <a:ln w="6350" cap="flat" cmpd="sng" algn="ctr">
            <a:solidFill>
              <a:schemeClr val="accent5">
                <a:alpha val="70000"/>
              </a:schemeClr>
            </a:solidFill>
            <a:prstDash val="solid"/>
            <a:miter lim="800000"/>
          </a:ln>
          <a:effectLst/>
        </p:spPr>
        <p:txBody>
          <a:bodyPr rtlCol="0" anchor="ctr"/>
          <a:p>
            <a:pPr algn="ctr"/>
            <a:endParaRPr kumimoji="1" lang="zh-CN" altLang="en-US">
              <a:solidFill>
                <a:srgbClr val="FFFFFF"/>
              </a:solidFill>
              <a:latin typeface="+mn-ea"/>
              <a:cs typeface="微软雅黑" panose="020B0503020204020204" charset="-122"/>
            </a:endParaRPr>
          </a:p>
        </p:txBody>
      </p:sp>
      <p:sp>
        <p:nvSpPr>
          <p:cNvPr id="2" name="矩形 1"/>
          <p:cNvSpPr/>
          <p:nvPr/>
        </p:nvSpPr>
        <p:spPr>
          <a:xfrm>
            <a:off x="773430" y="1238885"/>
            <a:ext cx="2134870" cy="441960"/>
          </a:xfrm>
          <a:prstGeom prst="rect">
            <a:avLst/>
          </a:prstGeom>
          <a:gradFill>
            <a:gsLst>
              <a:gs pos="0">
                <a:schemeClr val="accent5"/>
              </a:gs>
              <a:gs pos="100000">
                <a:schemeClr val="accent5">
                  <a:lumMod val="60000"/>
                  <a:lumOff val="40000"/>
                </a:schemeClr>
              </a:gs>
            </a:gsLst>
            <a:lin ang="5400000" scaled="0"/>
          </a:gradFill>
          <a:ln w="12700" cap="flat" cmpd="sng" algn="ctr">
            <a:noFill/>
            <a:prstDash val="solid"/>
          </a:ln>
          <a:effectLst/>
        </p:spPr>
        <p:txBody>
          <a:bodyPr wrap="square" rtlCol="0" anchor="ctr"/>
          <a:p>
            <a:pPr algn="ctr" defTabSz="161925" hangingPunct="0"/>
            <a:endParaRPr lang="zh-CN" altLang="en-US" sz="1200" kern="0">
              <a:solidFill>
                <a:srgbClr val="53585F"/>
              </a:solidFill>
              <a:latin typeface="+mn-ea"/>
              <a:cs typeface="微软雅黑" panose="020B0503020204020204" charset="-122"/>
            </a:endParaRPr>
          </a:p>
        </p:txBody>
      </p:sp>
      <p:sp>
        <p:nvSpPr>
          <p:cNvPr id="3" name="文本框 2"/>
          <p:cNvSpPr txBox="1"/>
          <p:nvPr/>
        </p:nvSpPr>
        <p:spPr>
          <a:xfrm>
            <a:off x="1294130" y="1336993"/>
            <a:ext cx="1158875" cy="245745"/>
          </a:xfrm>
          <a:prstGeom prst="rect">
            <a:avLst/>
          </a:prstGeom>
          <a:noFill/>
        </p:spPr>
        <p:txBody>
          <a:bodyPr wrap="square" lIns="0" tIns="0" rIns="0" bIns="0" rtlCol="0">
            <a:spAutoFit/>
          </a:bodyPr>
          <a:p>
            <a:pPr algn="ctr"/>
            <a:r>
              <a:rPr lang="zh-CN" altLang="en-US" sz="1600" dirty="0">
                <a:solidFill>
                  <a:srgbClr val="FFFFFF"/>
                </a:solidFill>
                <a:latin typeface="+mn-ea"/>
                <a:cs typeface="微软雅黑" panose="020B0503020204020204" charset="-122"/>
              </a:rPr>
              <a:t>分层运营</a:t>
            </a:r>
            <a:endParaRPr lang="zh-CN" altLang="en-US" sz="1600" dirty="0">
              <a:solidFill>
                <a:srgbClr val="FFFFFF"/>
              </a:solidFill>
              <a:latin typeface="+mn-ea"/>
              <a:cs typeface="微软雅黑" panose="020B0503020204020204" charset="-122"/>
            </a:endParaRPr>
          </a:p>
        </p:txBody>
      </p:sp>
      <p:cxnSp>
        <p:nvCxnSpPr>
          <p:cNvPr id="11" name="直接连接符 10"/>
          <p:cNvCxnSpPr/>
          <p:nvPr/>
        </p:nvCxnSpPr>
        <p:spPr>
          <a:xfrm>
            <a:off x="866775" y="1459865"/>
            <a:ext cx="362585" cy="0"/>
          </a:xfrm>
          <a:prstGeom prst="line">
            <a:avLst/>
          </a:prstGeom>
          <a:noFill/>
          <a:ln w="6350" cap="flat" cmpd="sng" algn="ctr">
            <a:solidFill>
              <a:srgbClr val="FFFFFF"/>
            </a:solidFill>
            <a:prstDash val="solid"/>
            <a:miter lim="800000"/>
          </a:ln>
          <a:effectLst/>
        </p:spPr>
      </p:cxnSp>
      <p:cxnSp>
        <p:nvCxnSpPr>
          <p:cNvPr id="12" name="直接连接符 11"/>
          <p:cNvCxnSpPr/>
          <p:nvPr/>
        </p:nvCxnSpPr>
        <p:spPr>
          <a:xfrm>
            <a:off x="2505075" y="1459865"/>
            <a:ext cx="362585" cy="0"/>
          </a:xfrm>
          <a:prstGeom prst="line">
            <a:avLst/>
          </a:prstGeom>
          <a:noFill/>
          <a:ln w="6350" cap="flat" cmpd="sng" algn="ctr">
            <a:solidFill>
              <a:srgbClr val="FFFFFF"/>
            </a:solidFill>
            <a:prstDash val="solid"/>
            <a:miter lim="800000"/>
          </a:ln>
          <a:effectLst/>
        </p:spPr>
      </p:cxnSp>
      <p:grpSp>
        <p:nvGrpSpPr>
          <p:cNvPr id="25" name="组合 24"/>
          <p:cNvGrpSpPr/>
          <p:nvPr/>
        </p:nvGrpSpPr>
        <p:grpSpPr>
          <a:xfrm rot="0">
            <a:off x="1108075" y="1924685"/>
            <a:ext cx="438785" cy="3602990"/>
            <a:chOff x="22158" y="-952"/>
            <a:chExt cx="754" cy="4924"/>
          </a:xfrm>
        </p:grpSpPr>
        <p:cxnSp>
          <p:nvCxnSpPr>
            <p:cNvPr id="13" name="直接连接符 12"/>
            <p:cNvCxnSpPr/>
            <p:nvPr/>
          </p:nvCxnSpPr>
          <p:spPr>
            <a:xfrm>
              <a:off x="22158" y="-952"/>
              <a:ext cx="142" cy="1508"/>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14" name="直接连接符 13"/>
            <p:cNvCxnSpPr/>
            <p:nvPr/>
          </p:nvCxnSpPr>
          <p:spPr>
            <a:xfrm>
              <a:off x="22300" y="548"/>
              <a:ext cx="270" cy="0"/>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a:off x="22300" y="756"/>
              <a:ext cx="142" cy="1508"/>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17" name="直接连接符 16"/>
            <p:cNvCxnSpPr/>
            <p:nvPr/>
          </p:nvCxnSpPr>
          <p:spPr>
            <a:xfrm>
              <a:off x="22442" y="2264"/>
              <a:ext cx="270" cy="0"/>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p:nvPr/>
          </p:nvCxnSpPr>
          <p:spPr>
            <a:xfrm>
              <a:off x="22500" y="2464"/>
              <a:ext cx="142" cy="1508"/>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19" name="直接连接符 18"/>
            <p:cNvCxnSpPr/>
            <p:nvPr/>
          </p:nvCxnSpPr>
          <p:spPr>
            <a:xfrm>
              <a:off x="22642" y="3972"/>
              <a:ext cx="270" cy="0"/>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grpSp>
      <p:grpSp>
        <p:nvGrpSpPr>
          <p:cNvPr id="26" name="组合 25"/>
          <p:cNvGrpSpPr/>
          <p:nvPr/>
        </p:nvGrpSpPr>
        <p:grpSpPr>
          <a:xfrm rot="0" flipH="1">
            <a:off x="2066290" y="1924685"/>
            <a:ext cx="438785" cy="3602990"/>
            <a:chOff x="22158" y="-952"/>
            <a:chExt cx="754" cy="4924"/>
          </a:xfrm>
        </p:grpSpPr>
        <p:cxnSp>
          <p:nvCxnSpPr>
            <p:cNvPr id="20" name="直接连接符 19"/>
            <p:cNvCxnSpPr/>
            <p:nvPr/>
          </p:nvCxnSpPr>
          <p:spPr>
            <a:xfrm>
              <a:off x="22158" y="-952"/>
              <a:ext cx="142" cy="1508"/>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a:off x="22300" y="548"/>
              <a:ext cx="270" cy="0"/>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a:off x="22300" y="756"/>
              <a:ext cx="142" cy="1508"/>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24" name="直接连接符 23"/>
            <p:cNvCxnSpPr/>
            <p:nvPr/>
          </p:nvCxnSpPr>
          <p:spPr>
            <a:xfrm>
              <a:off x="22442" y="2264"/>
              <a:ext cx="270" cy="0"/>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p:nvPr/>
          </p:nvCxnSpPr>
          <p:spPr>
            <a:xfrm>
              <a:off x="22500" y="2464"/>
              <a:ext cx="142" cy="1508"/>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cxnSp>
          <p:nvCxnSpPr>
            <p:cNvPr id="28" name="直接连接符 27"/>
            <p:cNvCxnSpPr/>
            <p:nvPr/>
          </p:nvCxnSpPr>
          <p:spPr>
            <a:xfrm>
              <a:off x="22642" y="3972"/>
              <a:ext cx="270" cy="0"/>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grpSp>
      <p:sp>
        <p:nvSpPr>
          <p:cNvPr id="4" name="流程图: 接点 6"/>
          <p:cNvSpPr/>
          <p:nvPr/>
        </p:nvSpPr>
        <p:spPr>
          <a:xfrm>
            <a:off x="1454150" y="1879600"/>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7" name="流程图: 接点 6"/>
          <p:cNvSpPr/>
          <p:nvPr/>
        </p:nvSpPr>
        <p:spPr>
          <a:xfrm>
            <a:off x="1216025" y="2080895"/>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8" name="流程图: 接点 6"/>
          <p:cNvSpPr/>
          <p:nvPr/>
        </p:nvSpPr>
        <p:spPr>
          <a:xfrm>
            <a:off x="1597660" y="2132330"/>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5" name="流程图: 接点 6"/>
          <p:cNvSpPr/>
          <p:nvPr/>
        </p:nvSpPr>
        <p:spPr>
          <a:xfrm>
            <a:off x="2066290" y="2233930"/>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36" name="流程图: 接点 6"/>
          <p:cNvSpPr/>
          <p:nvPr/>
        </p:nvSpPr>
        <p:spPr>
          <a:xfrm>
            <a:off x="1389380" y="2379345"/>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37" name="流程图: 接点 6"/>
          <p:cNvSpPr/>
          <p:nvPr/>
        </p:nvSpPr>
        <p:spPr>
          <a:xfrm>
            <a:off x="1273810" y="2637155"/>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38" name="流程图: 接点 6"/>
          <p:cNvSpPr/>
          <p:nvPr/>
        </p:nvSpPr>
        <p:spPr>
          <a:xfrm>
            <a:off x="1805305" y="2477770"/>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39" name="流程图: 接点 6"/>
          <p:cNvSpPr/>
          <p:nvPr/>
        </p:nvSpPr>
        <p:spPr>
          <a:xfrm>
            <a:off x="1899285" y="1982470"/>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64" name="流程图: 接点 6"/>
          <p:cNvSpPr/>
          <p:nvPr/>
        </p:nvSpPr>
        <p:spPr>
          <a:xfrm>
            <a:off x="2066290" y="2653030"/>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40" name="流程图: 接点 6"/>
          <p:cNvSpPr/>
          <p:nvPr/>
        </p:nvSpPr>
        <p:spPr>
          <a:xfrm>
            <a:off x="1597660" y="2637155"/>
            <a:ext cx="207645" cy="20764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grpSp>
        <p:nvGrpSpPr>
          <p:cNvPr id="42" name="组合 41"/>
          <p:cNvGrpSpPr/>
          <p:nvPr/>
        </p:nvGrpSpPr>
        <p:grpSpPr>
          <a:xfrm rot="0">
            <a:off x="1474470" y="2877820"/>
            <a:ext cx="670560" cy="213360"/>
            <a:chOff x="1776" y="4239"/>
            <a:chExt cx="1152" cy="476"/>
          </a:xfrm>
        </p:grpSpPr>
        <p:cxnSp>
          <p:nvCxnSpPr>
            <p:cNvPr id="43" name="直接箭头连接符 42"/>
            <p:cNvCxnSpPr/>
            <p:nvPr/>
          </p:nvCxnSpPr>
          <p:spPr>
            <a:xfrm>
              <a:off x="1776"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44" name="直接箭头连接符 43"/>
            <p:cNvCxnSpPr/>
            <p:nvPr/>
          </p:nvCxnSpPr>
          <p:spPr>
            <a:xfrm>
              <a:off x="2064"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75" name="直接箭头连接符 74"/>
            <p:cNvCxnSpPr/>
            <p:nvPr/>
          </p:nvCxnSpPr>
          <p:spPr>
            <a:xfrm>
              <a:off x="2352"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45" name="直接箭头连接符 44"/>
            <p:cNvCxnSpPr/>
            <p:nvPr/>
          </p:nvCxnSpPr>
          <p:spPr>
            <a:xfrm>
              <a:off x="2640"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46" name="直接箭头连接符 45"/>
            <p:cNvCxnSpPr/>
            <p:nvPr/>
          </p:nvCxnSpPr>
          <p:spPr>
            <a:xfrm>
              <a:off x="2928"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grpSp>
      <p:grpSp>
        <p:nvGrpSpPr>
          <p:cNvPr id="48" name="组合 47"/>
          <p:cNvGrpSpPr/>
          <p:nvPr/>
        </p:nvGrpSpPr>
        <p:grpSpPr>
          <a:xfrm rot="0">
            <a:off x="1563370" y="4018280"/>
            <a:ext cx="502920" cy="213360"/>
            <a:chOff x="1776" y="4239"/>
            <a:chExt cx="864" cy="476"/>
          </a:xfrm>
        </p:grpSpPr>
        <p:cxnSp>
          <p:nvCxnSpPr>
            <p:cNvPr id="84" name="直接箭头连接符 83"/>
            <p:cNvCxnSpPr/>
            <p:nvPr/>
          </p:nvCxnSpPr>
          <p:spPr>
            <a:xfrm>
              <a:off x="1776"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85" name="直接箭头连接符 84"/>
            <p:cNvCxnSpPr/>
            <p:nvPr/>
          </p:nvCxnSpPr>
          <p:spPr>
            <a:xfrm>
              <a:off x="2064"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49" name="直接箭头连接符 48"/>
            <p:cNvCxnSpPr/>
            <p:nvPr/>
          </p:nvCxnSpPr>
          <p:spPr>
            <a:xfrm>
              <a:off x="2352"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87" name="直接箭头连接符 86"/>
            <p:cNvCxnSpPr/>
            <p:nvPr/>
          </p:nvCxnSpPr>
          <p:spPr>
            <a:xfrm>
              <a:off x="2640"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grpSp>
      <p:sp>
        <p:nvSpPr>
          <p:cNvPr id="51" name="流程图: 接点 6"/>
          <p:cNvSpPr/>
          <p:nvPr/>
        </p:nvSpPr>
        <p:spPr>
          <a:xfrm>
            <a:off x="1527810" y="5117465"/>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grpSp>
        <p:nvGrpSpPr>
          <p:cNvPr id="54" name="组合 53"/>
          <p:cNvGrpSpPr/>
          <p:nvPr/>
        </p:nvGrpSpPr>
        <p:grpSpPr>
          <a:xfrm rot="0">
            <a:off x="1642110" y="5471160"/>
            <a:ext cx="335280" cy="213360"/>
            <a:chOff x="1776" y="4239"/>
            <a:chExt cx="576" cy="476"/>
          </a:xfrm>
        </p:grpSpPr>
        <p:cxnSp>
          <p:nvCxnSpPr>
            <p:cNvPr id="55" name="直接箭头连接符 54"/>
            <p:cNvCxnSpPr/>
            <p:nvPr/>
          </p:nvCxnSpPr>
          <p:spPr>
            <a:xfrm>
              <a:off x="1776"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56" name="直接箭头连接符 55"/>
            <p:cNvCxnSpPr/>
            <p:nvPr/>
          </p:nvCxnSpPr>
          <p:spPr>
            <a:xfrm>
              <a:off x="2064"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nvCxnSpPr>
          <p:spPr>
            <a:xfrm>
              <a:off x="2352" y="4239"/>
              <a:ext cx="0" cy="476"/>
            </a:xfrm>
            <a:prstGeom prst="straightConnector1">
              <a:avLst/>
            </a:prstGeom>
            <a:ln w="19050">
              <a:solidFill>
                <a:schemeClr val="accent5"/>
              </a:solidFill>
              <a:tailEnd type="triangle"/>
            </a:ln>
          </p:spPr>
          <p:style>
            <a:lnRef idx="2">
              <a:schemeClr val="accent1"/>
            </a:lnRef>
            <a:fillRef idx="0">
              <a:srgbClr val="FFFFFF"/>
            </a:fillRef>
            <a:effectRef idx="0">
              <a:srgbClr val="FFFFFF"/>
            </a:effectRef>
            <a:fontRef idx="minor">
              <a:schemeClr val="tx1"/>
            </a:fontRef>
          </p:style>
        </p:cxnSp>
      </p:grpSp>
      <p:sp>
        <p:nvSpPr>
          <p:cNvPr id="58" name="流程图: 接点 6"/>
          <p:cNvSpPr/>
          <p:nvPr/>
        </p:nvSpPr>
        <p:spPr>
          <a:xfrm>
            <a:off x="1430655" y="4773930"/>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59" name="流程图: 接点 6"/>
          <p:cNvSpPr/>
          <p:nvPr/>
        </p:nvSpPr>
        <p:spPr>
          <a:xfrm>
            <a:off x="1899285" y="4672965"/>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61" name="流程图: 接点 6"/>
          <p:cNvSpPr/>
          <p:nvPr/>
        </p:nvSpPr>
        <p:spPr>
          <a:xfrm>
            <a:off x="1637030" y="4427855"/>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71" name="流程图: 接点 6"/>
          <p:cNvSpPr/>
          <p:nvPr/>
        </p:nvSpPr>
        <p:spPr>
          <a:xfrm>
            <a:off x="1331595" y="3227070"/>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65" name="流程图: 接点 6"/>
          <p:cNvSpPr/>
          <p:nvPr/>
        </p:nvSpPr>
        <p:spPr>
          <a:xfrm>
            <a:off x="1715770" y="3428365"/>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81" name="流程图: 接点 6"/>
          <p:cNvSpPr/>
          <p:nvPr/>
        </p:nvSpPr>
        <p:spPr>
          <a:xfrm>
            <a:off x="1423670" y="3589020"/>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66" name="流程图: 接点 6"/>
          <p:cNvSpPr/>
          <p:nvPr/>
        </p:nvSpPr>
        <p:spPr>
          <a:xfrm>
            <a:off x="2011680" y="3239770"/>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67" name="流程图: 接点 6"/>
          <p:cNvSpPr/>
          <p:nvPr/>
        </p:nvSpPr>
        <p:spPr>
          <a:xfrm>
            <a:off x="2044065" y="3690620"/>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68" name="流程图: 接点 6"/>
          <p:cNvSpPr/>
          <p:nvPr/>
        </p:nvSpPr>
        <p:spPr>
          <a:xfrm>
            <a:off x="1751330" y="3783965"/>
            <a:ext cx="262255" cy="262255"/>
          </a:xfrm>
          <a:prstGeom prst="flowChartConnector">
            <a:avLst/>
          </a:prstGeom>
          <a:gradFill>
            <a:gsLst>
              <a:gs pos="0">
                <a:schemeClr val="accent5">
                  <a:alpha val="0"/>
                  <a:lumMod val="50000"/>
                  <a:lumOff val="50000"/>
                </a:schemeClr>
              </a:gs>
              <a:gs pos="100000">
                <a:schemeClr val="accent5">
                  <a:lumMod val="50000"/>
                  <a:lumOff val="5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grpSp>
        <p:nvGrpSpPr>
          <p:cNvPr id="6" name="组合 5"/>
          <p:cNvGrpSpPr/>
          <p:nvPr/>
        </p:nvGrpSpPr>
        <p:grpSpPr>
          <a:xfrm>
            <a:off x="1179195" y="2145030"/>
            <a:ext cx="1273810" cy="4177665"/>
            <a:chOff x="1848" y="3375"/>
            <a:chExt cx="2006" cy="6579"/>
          </a:xfrm>
        </p:grpSpPr>
        <p:sp>
          <p:nvSpPr>
            <p:cNvPr id="41" name="文本框 40"/>
            <p:cNvSpPr txBox="1"/>
            <p:nvPr/>
          </p:nvSpPr>
          <p:spPr>
            <a:xfrm>
              <a:off x="2131" y="3375"/>
              <a:ext cx="1442" cy="749"/>
            </a:xfrm>
            <a:prstGeom prst="rect">
              <a:avLst/>
            </a:prstGeom>
            <a:noFill/>
          </p:spPr>
          <p:txBody>
            <a:bodyPr wrap="square" rtlCol="0">
              <a:spAutoFit/>
            </a:bodyPr>
            <a:p>
              <a:pPr algn="ctr"/>
              <a:r>
                <a:rPr lang="zh-CN" altLang="en-US" sz="2500" b="1">
                  <a:solidFill>
                    <a:schemeClr val="accent5"/>
                  </a:solidFill>
                  <a:latin typeface="微软雅黑" panose="020B0503020204020204" charset="-122"/>
                  <a:ea typeface="微软雅黑" panose="020B0503020204020204" charset="-122"/>
                  <a:cs typeface="微软雅黑" panose="020B0503020204020204" charset="-122"/>
                </a:rPr>
                <a:t>潜客</a:t>
              </a:r>
              <a:endParaRPr lang="zh-CN" altLang="en-US" sz="25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1848" y="9106"/>
              <a:ext cx="2007" cy="848"/>
            </a:xfrm>
            <a:prstGeom prst="rect">
              <a:avLst/>
            </a:prstGeom>
            <a:noFill/>
          </p:spPr>
          <p:txBody>
            <a:bodyPr wrap="square" lIns="0" tIns="0" rIns="0" bIns="0" rtlCol="0">
              <a:spAutoFit/>
            </a:bodyPr>
            <a:p>
              <a:pPr algn="ctr"/>
              <a:r>
                <a:rPr lang="zh-CN" sz="1500" b="1" dirty="0">
                  <a:solidFill>
                    <a:schemeClr val="accent5"/>
                  </a:solidFill>
                  <a:latin typeface="+mn-ea"/>
                  <a:cs typeface="微软雅黑" panose="020B0503020204020204" charset="-122"/>
                </a:rPr>
                <a:t>高价值</a:t>
              </a:r>
              <a:endParaRPr lang="zh-CN" sz="1500" b="1" dirty="0">
                <a:solidFill>
                  <a:schemeClr val="accent5"/>
                </a:solidFill>
                <a:latin typeface="+mn-ea"/>
                <a:cs typeface="微软雅黑" panose="020B0503020204020204" charset="-122"/>
              </a:endParaRPr>
            </a:p>
            <a:p>
              <a:pPr algn="ctr"/>
              <a:r>
                <a:rPr lang="zh-CN" sz="2000" b="1" dirty="0">
                  <a:solidFill>
                    <a:schemeClr val="accent5"/>
                  </a:solidFill>
                  <a:latin typeface="+mn-ea"/>
                  <a:cs typeface="微软雅黑" panose="020B0503020204020204" charset="-122"/>
                </a:rPr>
                <a:t>超级客户</a:t>
              </a:r>
              <a:endParaRPr lang="zh-CN" sz="2000" b="1" dirty="0">
                <a:solidFill>
                  <a:schemeClr val="accent5"/>
                </a:solidFill>
                <a:latin typeface="+mn-ea"/>
                <a:cs typeface="微软雅黑" panose="020B0503020204020204" charset="-122"/>
              </a:endParaRPr>
            </a:p>
          </p:txBody>
        </p:sp>
        <p:sp>
          <p:nvSpPr>
            <p:cNvPr id="63" name="文本框 62"/>
            <p:cNvSpPr txBox="1"/>
            <p:nvPr/>
          </p:nvSpPr>
          <p:spPr>
            <a:xfrm>
              <a:off x="2131" y="7310"/>
              <a:ext cx="1442" cy="749"/>
            </a:xfrm>
            <a:prstGeom prst="rect">
              <a:avLst/>
            </a:prstGeom>
            <a:noFill/>
          </p:spPr>
          <p:txBody>
            <a:bodyPr wrap="square" rtlCol="0">
              <a:spAutoFit/>
            </a:bodyPr>
            <a:p>
              <a:pPr algn="ctr"/>
              <a:r>
                <a:rPr lang="zh-CN" altLang="en-US" sz="2500" b="1">
                  <a:solidFill>
                    <a:schemeClr val="accent5"/>
                  </a:solidFill>
                  <a:latin typeface="微软雅黑" panose="020B0503020204020204" charset="-122"/>
                  <a:ea typeface="微软雅黑" panose="020B0503020204020204" charset="-122"/>
                  <a:cs typeface="微软雅黑" panose="020B0503020204020204" charset="-122"/>
                </a:rPr>
                <a:t>忠诚</a:t>
              </a:r>
              <a:endParaRPr lang="zh-CN" altLang="en-US" sz="25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48" name="文本框 147"/>
            <p:cNvSpPr txBox="1"/>
            <p:nvPr/>
          </p:nvSpPr>
          <p:spPr>
            <a:xfrm>
              <a:off x="2131" y="5393"/>
              <a:ext cx="1442" cy="749"/>
            </a:xfrm>
            <a:prstGeom prst="rect">
              <a:avLst/>
            </a:prstGeom>
            <a:noFill/>
          </p:spPr>
          <p:txBody>
            <a:bodyPr wrap="square" rtlCol="0">
              <a:spAutoFit/>
            </a:bodyPr>
            <a:p>
              <a:pPr algn="ctr"/>
              <a:r>
                <a:rPr lang="zh-CN" altLang="en-US" sz="2500" b="1">
                  <a:solidFill>
                    <a:schemeClr val="accent5"/>
                  </a:solidFill>
                  <a:latin typeface="微软雅黑" panose="020B0503020204020204" charset="-122"/>
                  <a:ea typeface="微软雅黑" panose="020B0503020204020204" charset="-122"/>
                  <a:cs typeface="微软雅黑" panose="020B0503020204020204" charset="-122"/>
                </a:rPr>
                <a:t>保客</a:t>
              </a:r>
              <a:endParaRPr lang="zh-CN" altLang="en-US" sz="2500" b="1">
                <a:solidFill>
                  <a:schemeClr val="accent5"/>
                </a:solidFill>
                <a:latin typeface="微软雅黑" panose="020B0503020204020204" charset="-122"/>
                <a:ea typeface="微软雅黑" panose="020B0503020204020204" charset="-122"/>
                <a:cs typeface="微软雅黑" panose="020B0503020204020204" charset="-122"/>
              </a:endParaRPr>
            </a:p>
          </p:txBody>
        </p:sp>
      </p:grpSp>
      <p:sp>
        <p:nvSpPr>
          <p:cNvPr id="69" name="矩形 68"/>
          <p:cNvSpPr/>
          <p:nvPr/>
        </p:nvSpPr>
        <p:spPr>
          <a:xfrm>
            <a:off x="3290570" y="1280795"/>
            <a:ext cx="1235075" cy="441960"/>
          </a:xfrm>
          <a:prstGeom prst="rect">
            <a:avLst/>
          </a:prstGeom>
          <a:gradFill>
            <a:gsLst>
              <a:gs pos="0">
                <a:schemeClr val="accent1"/>
              </a:gs>
              <a:gs pos="100000">
                <a:schemeClr val="accent1">
                  <a:lumMod val="60000"/>
                  <a:lumOff val="40000"/>
                </a:schemeClr>
              </a:gs>
            </a:gsLst>
            <a:lin ang="5400000" scaled="0"/>
          </a:gradFill>
          <a:ln w="12700" cap="flat" cmpd="sng" algn="ctr">
            <a:noFill/>
            <a:prstDash val="solid"/>
          </a:ln>
          <a:effectLst/>
        </p:spPr>
        <p:txBody>
          <a:bodyPr wrap="square" rtlCol="0" anchor="ctr"/>
          <a:p>
            <a:pPr algn="ctr" defTabSz="161925" hangingPunct="0"/>
            <a:r>
              <a:rPr lang="zh-CN" altLang="en-US" sz="1300" kern="0" dirty="0">
                <a:solidFill>
                  <a:sysClr val="window" lastClr="FFFFFF"/>
                </a:solidFill>
                <a:latin typeface="+mn-ea"/>
                <a:cs typeface="微软雅黑" panose="020B0503020204020204" charset="-122"/>
              </a:rPr>
              <a:t>建立触点</a:t>
            </a:r>
            <a:endParaRPr lang="zh-CN" altLang="en-US" sz="1300" kern="0" dirty="0">
              <a:solidFill>
                <a:sysClr val="window" lastClr="FFFFFF"/>
              </a:solidFill>
              <a:latin typeface="+mn-ea"/>
              <a:cs typeface="微软雅黑" panose="020B0503020204020204" charset="-122"/>
            </a:endParaRPr>
          </a:p>
        </p:txBody>
      </p:sp>
      <p:sp>
        <p:nvSpPr>
          <p:cNvPr id="162" name="矩形 161"/>
          <p:cNvSpPr/>
          <p:nvPr/>
        </p:nvSpPr>
        <p:spPr>
          <a:xfrm>
            <a:off x="7651115" y="1280795"/>
            <a:ext cx="1462405" cy="441960"/>
          </a:xfrm>
          <a:prstGeom prst="rect">
            <a:avLst/>
          </a:prstGeom>
          <a:gradFill>
            <a:gsLst>
              <a:gs pos="0">
                <a:schemeClr val="accent1"/>
              </a:gs>
              <a:gs pos="100000">
                <a:schemeClr val="accent1">
                  <a:lumMod val="60000"/>
                  <a:lumOff val="40000"/>
                </a:schemeClr>
              </a:gs>
            </a:gsLst>
            <a:lin ang="5400000" scaled="0"/>
          </a:gradFill>
          <a:ln w="12700" cap="flat" cmpd="sng" algn="ctr">
            <a:noFill/>
            <a:prstDash val="solid"/>
          </a:ln>
          <a:effectLst/>
        </p:spPr>
        <p:txBody>
          <a:bodyPr wrap="square" rtlCol="0" anchor="ctr">
            <a:noAutofit/>
          </a:bodyPr>
          <a:p>
            <a:pPr lvl="0" algn="ctr" defTabSz="161925" hangingPunct="0">
              <a:buClrTx/>
              <a:buSzTx/>
              <a:buFontTx/>
            </a:pPr>
            <a:r>
              <a:rPr lang="zh-CN" altLang="en-US" sz="1300" kern="0" dirty="0">
                <a:solidFill>
                  <a:sysClr val="window" lastClr="FFFFFF"/>
                </a:solidFill>
                <a:latin typeface="+mn-ea"/>
                <a:cs typeface="微软雅黑" panose="020B0503020204020204" charset="-122"/>
                <a:sym typeface="+mn-ea"/>
              </a:rPr>
              <a:t>运营方向</a:t>
            </a:r>
            <a:endParaRPr lang="zh-CN" altLang="en-US" sz="1300" kern="0" dirty="0">
              <a:solidFill>
                <a:sysClr val="window" lastClr="FFFFFF"/>
              </a:solidFill>
              <a:latin typeface="+mn-ea"/>
              <a:cs typeface="微软雅黑" panose="020B0503020204020204" charset="-122"/>
              <a:sym typeface="+mn-ea"/>
            </a:endParaRPr>
          </a:p>
        </p:txBody>
      </p:sp>
      <p:sp>
        <p:nvSpPr>
          <p:cNvPr id="77" name="矩形 76"/>
          <p:cNvSpPr/>
          <p:nvPr/>
        </p:nvSpPr>
        <p:spPr>
          <a:xfrm>
            <a:off x="9331960" y="1280795"/>
            <a:ext cx="1640205" cy="441960"/>
          </a:xfrm>
          <a:prstGeom prst="rect">
            <a:avLst/>
          </a:prstGeom>
          <a:gradFill>
            <a:gsLst>
              <a:gs pos="0">
                <a:schemeClr val="accent1"/>
              </a:gs>
              <a:gs pos="100000">
                <a:schemeClr val="accent1">
                  <a:lumMod val="60000"/>
                  <a:lumOff val="40000"/>
                </a:schemeClr>
              </a:gs>
            </a:gsLst>
            <a:lin ang="5400000" scaled="0"/>
          </a:gradFill>
          <a:ln w="12700" cap="flat" cmpd="sng" algn="ctr">
            <a:noFill/>
            <a:prstDash val="solid"/>
          </a:ln>
          <a:effectLst/>
        </p:spPr>
        <p:txBody>
          <a:bodyPr wrap="square" rtlCol="0" anchor="ctr">
            <a:noAutofit/>
          </a:bodyPr>
          <a:p>
            <a:pPr lvl="0" algn="ctr" defTabSz="161925" hangingPunct="0">
              <a:buClrTx/>
              <a:buSzTx/>
              <a:buFontTx/>
            </a:pPr>
            <a:r>
              <a:rPr lang="zh-CN" altLang="en-US" sz="1300" kern="0" dirty="0">
                <a:solidFill>
                  <a:sysClr val="window" lastClr="FFFFFF"/>
                </a:solidFill>
                <a:latin typeface="+mn-ea"/>
                <a:cs typeface="微软雅黑" panose="020B0503020204020204" charset="-122"/>
                <a:sym typeface="+mn-ea"/>
              </a:rPr>
              <a:t>执行策略</a:t>
            </a:r>
            <a:endParaRPr lang="zh-CN" altLang="en-US" sz="1300" kern="0" dirty="0">
              <a:solidFill>
                <a:sysClr val="window" lastClr="FFFFFF"/>
              </a:solidFill>
              <a:latin typeface="+mn-ea"/>
              <a:cs typeface="微软雅黑" panose="020B0503020204020204" charset="-122"/>
              <a:sym typeface="+mn-ea"/>
            </a:endParaRPr>
          </a:p>
        </p:txBody>
      </p:sp>
      <p:sp>
        <p:nvSpPr>
          <p:cNvPr id="168" name="矩形 167"/>
          <p:cNvSpPr/>
          <p:nvPr/>
        </p:nvSpPr>
        <p:spPr>
          <a:xfrm>
            <a:off x="4744085" y="1280795"/>
            <a:ext cx="1235075" cy="441960"/>
          </a:xfrm>
          <a:prstGeom prst="rect">
            <a:avLst/>
          </a:prstGeom>
          <a:gradFill>
            <a:gsLst>
              <a:gs pos="0">
                <a:schemeClr val="accent1"/>
              </a:gs>
              <a:gs pos="100000">
                <a:schemeClr val="accent1">
                  <a:lumMod val="60000"/>
                  <a:lumOff val="40000"/>
                </a:schemeClr>
              </a:gs>
            </a:gsLst>
            <a:lin ang="5400000" scaled="0"/>
          </a:gradFill>
          <a:ln w="12700" cap="flat" cmpd="sng" algn="ctr">
            <a:noFill/>
            <a:prstDash val="solid"/>
          </a:ln>
          <a:effectLst/>
        </p:spPr>
        <p:txBody>
          <a:bodyPr wrap="square" rtlCol="0" anchor="ctr">
            <a:noAutofit/>
          </a:bodyPr>
          <a:p>
            <a:pPr lvl="0" algn="ctr" defTabSz="161925" hangingPunct="0">
              <a:buClrTx/>
              <a:buSzTx/>
              <a:buFontTx/>
            </a:pPr>
            <a:r>
              <a:rPr lang="zh-CN" altLang="en-US" sz="1300" kern="0" dirty="0">
                <a:solidFill>
                  <a:sysClr val="window" lastClr="FFFFFF"/>
                </a:solidFill>
                <a:latin typeface="+mn-ea"/>
                <a:cs typeface="微软雅黑" panose="020B0503020204020204" charset="-122"/>
                <a:sym typeface="+mn-ea"/>
              </a:rPr>
              <a:t>促进活跃</a:t>
            </a:r>
            <a:endParaRPr lang="zh-CN" altLang="en-US" sz="1300" kern="0" dirty="0">
              <a:solidFill>
                <a:sysClr val="window" lastClr="FFFFFF"/>
              </a:solidFill>
              <a:latin typeface="+mn-ea"/>
              <a:cs typeface="微软雅黑" panose="020B0503020204020204" charset="-122"/>
              <a:sym typeface="+mn-ea"/>
            </a:endParaRPr>
          </a:p>
        </p:txBody>
      </p:sp>
      <p:sp>
        <p:nvSpPr>
          <p:cNvPr id="78" name="矩形 77"/>
          <p:cNvSpPr/>
          <p:nvPr/>
        </p:nvSpPr>
        <p:spPr>
          <a:xfrm>
            <a:off x="6197600" y="1280795"/>
            <a:ext cx="1235075" cy="441960"/>
          </a:xfrm>
          <a:prstGeom prst="rect">
            <a:avLst/>
          </a:prstGeom>
          <a:solidFill>
            <a:schemeClr val="accent5">
              <a:lumMod val="60000"/>
              <a:lumOff val="40000"/>
            </a:schemeClr>
          </a:solidFill>
          <a:ln w="12700" cap="flat" cmpd="sng" algn="ctr">
            <a:noFill/>
            <a:prstDash val="solid"/>
          </a:ln>
          <a:effectLst/>
        </p:spPr>
        <p:txBody>
          <a:bodyPr wrap="square" rtlCol="0" anchor="ctr"/>
          <a:p>
            <a:pPr algn="ctr" defTabSz="161925" hangingPunct="0"/>
            <a:r>
              <a:rPr lang="zh-CN" altLang="en-US" sz="1200" kern="0">
                <a:solidFill>
                  <a:schemeClr val="bg1"/>
                </a:solidFill>
                <a:latin typeface="+mn-ea"/>
                <a:cs typeface="微软雅黑" panose="020B0503020204020204" charset="-122"/>
              </a:rPr>
              <a:t>关键动作</a:t>
            </a:r>
            <a:endParaRPr lang="zh-CN" altLang="en-US" sz="1200" kern="0">
              <a:solidFill>
                <a:schemeClr val="bg1"/>
              </a:solidFill>
              <a:latin typeface="+mn-ea"/>
              <a:cs typeface="微软雅黑" panose="020B0503020204020204" charset="-122"/>
            </a:endParaRPr>
          </a:p>
        </p:txBody>
      </p:sp>
      <p:sp>
        <p:nvSpPr>
          <p:cNvPr id="173" name="矩形 172"/>
          <p:cNvSpPr/>
          <p:nvPr/>
        </p:nvSpPr>
        <p:spPr>
          <a:xfrm>
            <a:off x="3290570" y="1914525"/>
            <a:ext cx="1108075" cy="69850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algn="ctr"/>
            <a:r>
              <a:rPr lang="zh-CN" altLang="en-US" sz="1300">
                <a:solidFill>
                  <a:schemeClr val="accent6"/>
                </a:solidFill>
                <a:latin typeface="+mn-ea"/>
                <a:cs typeface="微软雅黑" panose="020B0503020204020204" charset="-122"/>
                <a:sym typeface="+mn-ea"/>
              </a:rPr>
              <a:t>销售端</a:t>
            </a:r>
            <a:endParaRPr lang="zh-CN" altLang="en-US" sz="1500">
              <a:solidFill>
                <a:schemeClr val="accent6"/>
              </a:solidFill>
              <a:latin typeface="+mn-ea"/>
              <a:cs typeface="微软雅黑" panose="020B0503020204020204" charset="-122"/>
            </a:endParaRPr>
          </a:p>
          <a:p>
            <a:pPr algn="ctr"/>
            <a:r>
              <a:rPr lang="zh-CN" altLang="en-US" sz="1100" b="1">
                <a:solidFill>
                  <a:schemeClr val="accent1"/>
                </a:solidFill>
                <a:latin typeface="+mn-ea"/>
                <a:cs typeface="微软雅黑" panose="020B0503020204020204" charset="-122"/>
                <a:sym typeface="+mn-ea"/>
              </a:rPr>
              <a:t>构建潜客基盘</a:t>
            </a:r>
            <a:endParaRPr lang="zh-CN" altLang="en-US" sz="1100" b="1" dirty="0">
              <a:solidFill>
                <a:schemeClr val="accent1"/>
              </a:solidFill>
              <a:effectLst>
                <a:outerShdw blurRad="137160" dist="41148" dir="2699997" algn="tl">
                  <a:srgbClr val="000000">
                    <a:alpha val="40000"/>
                  </a:srgbClr>
                </a:outerShdw>
              </a:effectLst>
              <a:latin typeface="+mn-ea"/>
              <a:ea typeface="微软雅黑" panose="020B0503020204020204" charset="-122"/>
              <a:cs typeface="微软雅黑" panose="020B0503020204020204" charset="-122"/>
              <a:sym typeface="+mn-ea"/>
            </a:endParaRPr>
          </a:p>
        </p:txBody>
      </p:sp>
      <p:sp>
        <p:nvSpPr>
          <p:cNvPr id="207" name="矩形 206"/>
          <p:cNvSpPr/>
          <p:nvPr/>
        </p:nvSpPr>
        <p:spPr>
          <a:xfrm>
            <a:off x="7679055" y="5709285"/>
            <a:ext cx="3293745" cy="822960"/>
          </a:xfrm>
          <a:prstGeom prst="rect">
            <a:avLst/>
          </a:prstGeom>
          <a:solidFill>
            <a:schemeClr val="accent5">
              <a:lumMod val="20000"/>
              <a:lumOff val="80000"/>
              <a:alpha val="70000"/>
            </a:schemeClr>
          </a:solidFill>
          <a:ln w="12700" cmpd="sng">
            <a:solidFill>
              <a:schemeClr val="accent5">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ctr">
              <a:buClrTx/>
              <a:buSzTx/>
              <a:buFontTx/>
            </a:pPr>
            <a:endParaRPr lang="zh-CN" altLang="en-US" sz="1000" dirty="0">
              <a:solidFill>
                <a:schemeClr val="accent6"/>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60" name="形状 259"/>
          <p:cNvSpPr>
            <a:spLocks noChangeAspect="1"/>
          </p:cNvSpPr>
          <p:nvPr/>
        </p:nvSpPr>
        <p:spPr>
          <a:xfrm rot="1003626" flipV="1">
            <a:off x="6827520" y="5628005"/>
            <a:ext cx="768985" cy="489585"/>
          </a:xfrm>
          <a:prstGeom prst="swooshArrow">
            <a:avLst>
              <a:gd name="adj1" fmla="val 16310"/>
              <a:gd name="adj2" fmla="val 31370"/>
            </a:avLst>
          </a:prstGeom>
          <a:solidFill>
            <a:schemeClr val="accent5">
              <a:lumMod val="60000"/>
              <a:lumOff val="4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Overflow="overflow" horzOverflow="overflow" vert="horz" wrap="square" numCol="1" spcCol="0" rtlCol="0" fromWordArt="0" anchor="ctr" anchorCtr="0" forceAA="0" compatLnSpc="1">
            <a:noAutofit/>
          </a:bodyPr>
          <a:p>
            <a:pPr lvl="0" algn="l">
              <a:buClrTx/>
              <a:buSzTx/>
              <a:buFontTx/>
            </a:pPr>
            <a:endParaRPr lang="zh-CN" altLang="en-US" dirty="0">
              <a:latin typeface="+mj-ea"/>
              <a:ea typeface="+mj-ea"/>
              <a:cs typeface="微软雅黑" panose="020B0503020204020204" charset="-122"/>
              <a:sym typeface="+mn-ea"/>
            </a:endParaRPr>
          </a:p>
        </p:txBody>
      </p:sp>
      <p:sp>
        <p:nvSpPr>
          <p:cNvPr id="236" name="文本框 235"/>
          <p:cNvSpPr txBox="1"/>
          <p:nvPr/>
        </p:nvSpPr>
        <p:spPr>
          <a:xfrm>
            <a:off x="7773670" y="5692775"/>
            <a:ext cx="3032760" cy="860425"/>
          </a:xfrm>
          <a:prstGeom prst="rect">
            <a:avLst/>
          </a:prstGeom>
          <a:noFill/>
        </p:spPr>
        <p:txBody>
          <a:bodyPr wrap="square" rtlCol="0" anchor="t">
            <a:spAutoFit/>
          </a:bodyPr>
          <a:p>
            <a:pPr indent="0" algn="l" fontAlgn="auto">
              <a:lnSpc>
                <a:spcPts val="1500"/>
              </a:lnSpc>
            </a:pPr>
            <a:r>
              <a:rPr lang="zh-CN" altLang="en-US" sz="1000">
                <a:solidFill>
                  <a:schemeClr val="accent6"/>
                </a:solidFill>
                <a:latin typeface="+mn-ea"/>
                <a:cs typeface="微软雅黑" panose="020B0503020204020204" charset="-122"/>
                <a:sym typeface="+mn-ea"/>
              </a:rPr>
              <a:t>①</a:t>
            </a:r>
            <a:r>
              <a:rPr lang="en-US" altLang="zh-CN" sz="1000">
                <a:solidFill>
                  <a:schemeClr val="accent6"/>
                </a:solidFill>
                <a:latin typeface="+mn-ea"/>
                <a:cs typeface="微软雅黑" panose="020B0503020204020204" charset="-122"/>
                <a:sym typeface="+mn-ea"/>
              </a:rPr>
              <a:t> </a:t>
            </a:r>
            <a:r>
              <a:rPr lang="zh-CN" altLang="en-US" sz="1000">
                <a:solidFill>
                  <a:schemeClr val="accent6"/>
                </a:solidFill>
                <a:latin typeface="+mn-ea"/>
                <a:cs typeface="微软雅黑" panose="020B0503020204020204" charset="-122"/>
                <a:sym typeface="+mn-ea"/>
              </a:rPr>
              <a:t>圈定高价值人群，集中服务资源，适配特色服务；</a:t>
            </a:r>
            <a:endParaRPr lang="zh-CN" altLang="en-US" sz="1000">
              <a:solidFill>
                <a:schemeClr val="accent6"/>
              </a:solidFill>
              <a:latin typeface="+mn-ea"/>
              <a:cs typeface="微软雅黑" panose="020B0503020204020204" charset="-122"/>
            </a:endParaRPr>
          </a:p>
          <a:p>
            <a:pPr indent="0" algn="l" fontAlgn="auto">
              <a:lnSpc>
                <a:spcPts val="1500"/>
              </a:lnSpc>
            </a:pPr>
            <a:r>
              <a:rPr lang="zh-CN" altLang="en-US" sz="1000">
                <a:solidFill>
                  <a:schemeClr val="accent6"/>
                </a:solidFill>
                <a:latin typeface="+mn-ea"/>
                <a:cs typeface="微软雅黑" panose="020B0503020204020204" charset="-122"/>
                <a:sym typeface="+mn-ea"/>
              </a:rPr>
              <a:t>②</a:t>
            </a:r>
            <a:r>
              <a:rPr lang="en-US" altLang="zh-CN" sz="1000">
                <a:solidFill>
                  <a:schemeClr val="accent6"/>
                </a:solidFill>
                <a:latin typeface="+mn-ea"/>
                <a:cs typeface="微软雅黑" panose="020B0503020204020204" charset="-122"/>
                <a:sym typeface="+mn-ea"/>
              </a:rPr>
              <a:t> </a:t>
            </a:r>
            <a:r>
              <a:rPr lang="zh-CN" altLang="en-US" sz="1000">
                <a:solidFill>
                  <a:schemeClr val="accent6"/>
                </a:solidFill>
                <a:latin typeface="+mn-ea"/>
                <a:cs typeface="微软雅黑" panose="020B0503020204020204" charset="-122"/>
                <a:sym typeface="+mn-ea"/>
              </a:rPr>
              <a:t>发展客户裂变，通过转介绍激励政策发展分销制；</a:t>
            </a:r>
            <a:endParaRPr lang="zh-CN" altLang="en-US" sz="1000">
              <a:solidFill>
                <a:schemeClr val="accent6"/>
              </a:solidFill>
              <a:latin typeface="+mn-ea"/>
              <a:cs typeface="微软雅黑" panose="020B0503020204020204" charset="-122"/>
              <a:sym typeface="+mn-ea"/>
            </a:endParaRPr>
          </a:p>
          <a:p>
            <a:pPr indent="0" algn="l" fontAlgn="auto">
              <a:lnSpc>
                <a:spcPts val="1500"/>
              </a:lnSpc>
            </a:pPr>
            <a:r>
              <a:rPr lang="zh-CN" altLang="en-US" sz="1000">
                <a:solidFill>
                  <a:schemeClr val="accent6"/>
                </a:solidFill>
                <a:latin typeface="+mn-ea"/>
                <a:cs typeface="微软雅黑" panose="020B0503020204020204" charset="-122"/>
                <a:sym typeface="+mn-ea"/>
              </a:rPr>
              <a:t>③</a:t>
            </a:r>
            <a:r>
              <a:rPr lang="en-US" altLang="zh-CN" sz="1000">
                <a:solidFill>
                  <a:schemeClr val="accent6"/>
                </a:solidFill>
                <a:latin typeface="+mn-ea"/>
                <a:cs typeface="微软雅黑" panose="020B0503020204020204" charset="-122"/>
                <a:sym typeface="+mn-ea"/>
              </a:rPr>
              <a:t> </a:t>
            </a:r>
            <a:r>
              <a:rPr lang="zh-CN" altLang="en-US" sz="1000">
                <a:solidFill>
                  <a:schemeClr val="accent6"/>
                </a:solidFill>
                <a:latin typeface="+mn-ea"/>
                <a:cs typeface="微软雅黑" panose="020B0503020204020204" charset="-122"/>
                <a:sym typeface="+mn-ea"/>
              </a:rPr>
              <a:t>个性化服务流程策略制定执行，节点关爱全覆盖；</a:t>
            </a:r>
            <a:endParaRPr lang="zh-CN" altLang="en-US" sz="1000">
              <a:solidFill>
                <a:schemeClr val="accent6"/>
              </a:solidFill>
              <a:latin typeface="+mn-ea"/>
              <a:cs typeface="微软雅黑" panose="020B0503020204020204" charset="-122"/>
            </a:endParaRPr>
          </a:p>
          <a:p>
            <a:pPr indent="0" algn="l" fontAlgn="auto">
              <a:lnSpc>
                <a:spcPts val="1500"/>
              </a:lnSpc>
            </a:pPr>
            <a:r>
              <a:rPr lang="zh-CN" altLang="en-US" sz="1000">
                <a:solidFill>
                  <a:schemeClr val="accent6"/>
                </a:solidFill>
                <a:latin typeface="+mn-ea"/>
                <a:cs typeface="微软雅黑" panose="020B0503020204020204" charset="-122"/>
                <a:sym typeface="+mn-ea"/>
              </a:rPr>
              <a:t>④</a:t>
            </a:r>
            <a:r>
              <a:rPr lang="en-US" altLang="zh-CN" sz="1000">
                <a:solidFill>
                  <a:schemeClr val="accent6"/>
                </a:solidFill>
                <a:latin typeface="+mn-ea"/>
                <a:cs typeface="微软雅黑" panose="020B0503020204020204" charset="-122"/>
                <a:sym typeface="+mn-ea"/>
              </a:rPr>
              <a:t> </a:t>
            </a:r>
            <a:r>
              <a:rPr lang="zh-CN" altLang="en-US" sz="1000">
                <a:solidFill>
                  <a:schemeClr val="accent6"/>
                </a:solidFill>
                <a:latin typeface="+mn-ea"/>
                <a:cs typeface="微软雅黑" panose="020B0503020204020204" charset="-122"/>
                <a:sym typeface="+mn-ea"/>
              </a:rPr>
              <a:t>管理层紧盯超级客户，深度挖掘运营其价值贡献。</a:t>
            </a:r>
            <a:endParaRPr lang="zh-CN" altLang="en-US" sz="1000">
              <a:solidFill>
                <a:schemeClr val="accent6"/>
              </a:solidFill>
              <a:latin typeface="+mn-ea"/>
              <a:cs typeface="微软雅黑" panose="020B0503020204020204" charset="-122"/>
              <a:sym typeface="+mn-ea"/>
            </a:endParaRPr>
          </a:p>
        </p:txBody>
      </p:sp>
      <p:sp>
        <p:nvSpPr>
          <p:cNvPr id="237" name="右箭头 236"/>
          <p:cNvSpPr/>
          <p:nvPr/>
        </p:nvSpPr>
        <p:spPr>
          <a:xfrm>
            <a:off x="3086100" y="3279140"/>
            <a:ext cx="8455025" cy="906780"/>
          </a:xfrm>
          <a:prstGeom prst="rightArrow">
            <a:avLst/>
          </a:prstGeom>
          <a:solidFill>
            <a:sysClr val="window" lastClr="FFFFFF">
              <a:lumMod val="85000"/>
              <a:alpha val="90000"/>
            </a:sysClr>
          </a:solidFill>
          <a:ln w="12700" cap="flat" cmpd="sng" algn="ctr">
            <a:noFill/>
            <a:prstDash val="solid"/>
            <a:miter lim="800000"/>
          </a:ln>
          <a:effectLst/>
        </p:spPr>
        <p:txBody>
          <a:bodyPr rtlCol="0" anchor="ctr">
            <a:noAutofit/>
          </a:bodyPr>
          <a:p>
            <a:pPr lvl="0" algn="ctr">
              <a:buClrTx/>
              <a:buSzTx/>
              <a:buFontTx/>
            </a:pPr>
            <a:endParaRPr lang="zh-CN" altLang="en-US">
              <a:solidFill>
                <a:sysClr val="window" lastClr="FFFFFF"/>
              </a:solidFill>
              <a:latin typeface="+mn-ea"/>
              <a:cs typeface="微软雅黑" panose="020B0503020204020204" charset="-122"/>
              <a:sym typeface="+mn-ea"/>
            </a:endParaRPr>
          </a:p>
        </p:txBody>
      </p:sp>
      <p:sp>
        <p:nvSpPr>
          <p:cNvPr id="243" name="矩形 242"/>
          <p:cNvSpPr/>
          <p:nvPr/>
        </p:nvSpPr>
        <p:spPr>
          <a:xfrm>
            <a:off x="5013325" y="2685415"/>
            <a:ext cx="723900" cy="541655"/>
          </a:xfrm>
          <a:prstGeom prst="rect">
            <a:avLst/>
          </a:prstGeom>
          <a:solidFill>
            <a:schemeClr val="accent5">
              <a:lumMod val="20000"/>
              <a:lumOff val="80000"/>
              <a:alpha val="70000"/>
            </a:schemeClr>
          </a:solidFill>
          <a:ln w="12700" cmpd="sng">
            <a:solidFill>
              <a:schemeClr val="accent5">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ctr">
              <a:buClrTx/>
              <a:buSzTx/>
              <a:buFontTx/>
            </a:pPr>
            <a:r>
              <a:rPr lang="zh-CN" altLang="en-US" sz="1000" dirty="0">
                <a:solidFill>
                  <a:schemeClr val="accent6"/>
                </a:solidFill>
                <a:effectLst/>
                <a:latin typeface="微软雅黑" panose="020B0503020204020204" charset="-122"/>
                <a:ea typeface="微软雅黑" panose="020B0503020204020204" charset="-122"/>
                <a:cs typeface="微软雅黑" panose="020B0503020204020204" charset="-122"/>
                <a:sym typeface="+mn-ea"/>
              </a:rPr>
              <a:t>潜客入池盯转化</a:t>
            </a:r>
            <a:endParaRPr lang="zh-CN" altLang="en-US" sz="1000" dirty="0">
              <a:solidFill>
                <a:schemeClr val="accent6"/>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44" name="形状 243"/>
          <p:cNvSpPr>
            <a:spLocks noChangeAspect="1"/>
          </p:cNvSpPr>
          <p:nvPr/>
        </p:nvSpPr>
        <p:spPr>
          <a:xfrm flipH="1" flipV="1">
            <a:off x="5865495" y="2613025"/>
            <a:ext cx="673735" cy="470535"/>
          </a:xfrm>
          <a:prstGeom prst="swooshArrow">
            <a:avLst>
              <a:gd name="adj1" fmla="val 16310"/>
              <a:gd name="adj2" fmla="val 31370"/>
            </a:avLst>
          </a:prstGeom>
          <a:solidFill>
            <a:schemeClr val="accent5">
              <a:lumMod val="60000"/>
              <a:lumOff val="4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dirty="0">
              <a:latin typeface="+mj-ea"/>
              <a:ea typeface="+mj-ea"/>
              <a:cs typeface="微软雅黑" panose="020B0503020204020204" charset="-122"/>
            </a:endParaRPr>
          </a:p>
        </p:txBody>
      </p:sp>
      <p:sp>
        <p:nvSpPr>
          <p:cNvPr id="246" name="右箭头 245"/>
          <p:cNvSpPr/>
          <p:nvPr/>
        </p:nvSpPr>
        <p:spPr>
          <a:xfrm>
            <a:off x="3086100" y="4662805"/>
            <a:ext cx="8454390" cy="906780"/>
          </a:xfrm>
          <a:prstGeom prst="rightArrow">
            <a:avLst/>
          </a:prstGeom>
          <a:solidFill>
            <a:sysClr val="window" lastClr="FFFFFF">
              <a:lumMod val="85000"/>
              <a:alpha val="90000"/>
            </a:sysClr>
          </a:solidFill>
          <a:ln w="12700" cap="flat" cmpd="sng" algn="ctr">
            <a:noFill/>
            <a:prstDash val="solid"/>
            <a:miter lim="800000"/>
          </a:ln>
          <a:effectLst/>
        </p:spPr>
        <p:txBody>
          <a:bodyPr rtlCol="0" anchor="ctr">
            <a:noAutofit/>
          </a:bodyPr>
          <a:p>
            <a:pPr lvl="0" algn="ctr">
              <a:buClrTx/>
              <a:buSzTx/>
              <a:buFontTx/>
            </a:pPr>
            <a:endParaRPr lang="zh-CN" altLang="en-US">
              <a:solidFill>
                <a:sysClr val="window" lastClr="FFFFFF"/>
              </a:solidFill>
              <a:latin typeface="+mn-ea"/>
              <a:cs typeface="微软雅黑" panose="020B0503020204020204" charset="-122"/>
              <a:sym typeface="+mn-ea"/>
            </a:endParaRPr>
          </a:p>
        </p:txBody>
      </p:sp>
      <p:sp>
        <p:nvSpPr>
          <p:cNvPr id="253" name="矩形 252"/>
          <p:cNvSpPr/>
          <p:nvPr/>
        </p:nvSpPr>
        <p:spPr>
          <a:xfrm>
            <a:off x="4973955" y="4120515"/>
            <a:ext cx="723900" cy="541655"/>
          </a:xfrm>
          <a:prstGeom prst="rect">
            <a:avLst/>
          </a:prstGeom>
          <a:solidFill>
            <a:schemeClr val="accent5">
              <a:lumMod val="20000"/>
              <a:lumOff val="80000"/>
              <a:alpha val="70000"/>
            </a:schemeClr>
          </a:solidFill>
          <a:ln w="12700" cmpd="sng">
            <a:solidFill>
              <a:schemeClr val="accent5">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ctr">
              <a:buClrTx/>
              <a:buSzTx/>
              <a:buFontTx/>
            </a:pPr>
            <a:r>
              <a:rPr lang="zh-CN" altLang="en-US" sz="1000" dirty="0">
                <a:solidFill>
                  <a:schemeClr val="accent6"/>
                </a:solidFill>
                <a:effectLst/>
                <a:latin typeface="微软雅黑" panose="020B0503020204020204" charset="-122"/>
                <a:ea typeface="微软雅黑" panose="020B0503020204020204" charset="-122"/>
                <a:cs typeface="微软雅黑" panose="020B0503020204020204" charset="-122"/>
                <a:sym typeface="+mn-ea"/>
              </a:rPr>
              <a:t>保客留存盯复购</a:t>
            </a:r>
            <a:endParaRPr lang="zh-CN" altLang="en-US" sz="1000" dirty="0">
              <a:solidFill>
                <a:schemeClr val="accent6"/>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57" name="矩形 256"/>
          <p:cNvSpPr/>
          <p:nvPr/>
        </p:nvSpPr>
        <p:spPr>
          <a:xfrm>
            <a:off x="3290570" y="3358515"/>
            <a:ext cx="1108075" cy="69850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ctr">
              <a:buClrTx/>
              <a:buSzTx/>
              <a:buFontTx/>
            </a:pPr>
            <a:r>
              <a:rPr lang="zh-CN" altLang="en-US" sz="1300">
                <a:solidFill>
                  <a:schemeClr val="accent6"/>
                </a:solidFill>
                <a:latin typeface="+mn-ea"/>
                <a:cs typeface="微软雅黑" panose="020B0503020204020204" charset="-122"/>
                <a:sym typeface="+mn-ea"/>
              </a:rPr>
              <a:t>服务端</a:t>
            </a:r>
            <a:endParaRPr lang="zh-CN" altLang="en-US" sz="1300">
              <a:solidFill>
                <a:schemeClr val="accent6"/>
              </a:solidFill>
              <a:latin typeface="+mn-ea"/>
              <a:cs typeface="微软雅黑" panose="020B0503020204020204" charset="-122"/>
              <a:sym typeface="+mn-ea"/>
            </a:endParaRPr>
          </a:p>
          <a:p>
            <a:pPr lvl="0" algn="ctr">
              <a:buClrTx/>
              <a:buSzTx/>
              <a:buFontTx/>
            </a:pPr>
            <a:r>
              <a:rPr lang="zh-CN" altLang="en-US" sz="1100" b="1">
                <a:solidFill>
                  <a:schemeClr val="accent1"/>
                </a:solidFill>
                <a:latin typeface="+mn-ea"/>
                <a:cs typeface="微软雅黑" panose="020B0503020204020204" charset="-122"/>
                <a:sym typeface="+mn-ea"/>
              </a:rPr>
              <a:t>接待保客基盘</a:t>
            </a:r>
            <a:endParaRPr lang="zh-CN" altLang="en-US" sz="1100" b="1">
              <a:solidFill>
                <a:schemeClr val="accent1"/>
              </a:solidFill>
              <a:latin typeface="+mn-ea"/>
              <a:cs typeface="微软雅黑" panose="020B0503020204020204" charset="-122"/>
              <a:sym typeface="+mn-ea"/>
            </a:endParaRPr>
          </a:p>
        </p:txBody>
      </p:sp>
      <p:sp>
        <p:nvSpPr>
          <p:cNvPr id="258" name="矩形 257"/>
          <p:cNvSpPr/>
          <p:nvPr/>
        </p:nvSpPr>
        <p:spPr>
          <a:xfrm>
            <a:off x="3290570" y="4763135"/>
            <a:ext cx="1108075" cy="69850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ctr">
              <a:buClrTx/>
              <a:buSzTx/>
              <a:buFontTx/>
            </a:pPr>
            <a:r>
              <a:rPr lang="zh-CN" altLang="en-US" sz="1300">
                <a:solidFill>
                  <a:schemeClr val="accent6"/>
                </a:solidFill>
                <a:latin typeface="+mn-ea"/>
                <a:cs typeface="微软雅黑" panose="020B0503020204020204" charset="-122"/>
                <a:sym typeface="+mn-ea"/>
              </a:rPr>
              <a:t>客服端</a:t>
            </a:r>
            <a:endParaRPr lang="zh-CN" altLang="en-US" sz="1300">
              <a:solidFill>
                <a:schemeClr val="accent6"/>
              </a:solidFill>
              <a:latin typeface="+mn-ea"/>
              <a:cs typeface="微软雅黑" panose="020B0503020204020204" charset="-122"/>
              <a:sym typeface="+mn-ea"/>
            </a:endParaRPr>
          </a:p>
          <a:p>
            <a:pPr lvl="0" algn="ctr">
              <a:buClrTx/>
              <a:buSzTx/>
              <a:buFontTx/>
            </a:pPr>
            <a:r>
              <a:rPr lang="zh-CN" altLang="en-US" sz="1100" b="1">
                <a:solidFill>
                  <a:schemeClr val="accent1"/>
                </a:solidFill>
                <a:latin typeface="+mn-ea"/>
                <a:cs typeface="微软雅黑" panose="020B0503020204020204" charset="-122"/>
                <a:sym typeface="+mn-ea"/>
              </a:rPr>
              <a:t>维系忠诚基盘</a:t>
            </a:r>
            <a:endParaRPr lang="zh-CN" altLang="en-US" sz="1100" b="1">
              <a:solidFill>
                <a:schemeClr val="accent1"/>
              </a:solidFill>
              <a:latin typeface="+mn-ea"/>
              <a:cs typeface="微软雅黑" panose="020B0503020204020204" charset="-122"/>
              <a:sym typeface="+mn-ea"/>
            </a:endParaRPr>
          </a:p>
        </p:txBody>
      </p:sp>
      <p:grpSp>
        <p:nvGrpSpPr>
          <p:cNvPr id="283" name="组合 282"/>
          <p:cNvGrpSpPr/>
          <p:nvPr/>
        </p:nvGrpSpPr>
        <p:grpSpPr>
          <a:xfrm rot="0">
            <a:off x="6462395" y="1908175"/>
            <a:ext cx="704850" cy="705485"/>
            <a:chOff x="10342" y="2630"/>
            <a:chExt cx="1211" cy="1211"/>
          </a:xfrm>
        </p:grpSpPr>
        <p:sp>
          <p:nvSpPr>
            <p:cNvPr id="79" name="椭圆 78"/>
            <p:cNvSpPr/>
            <p:nvPr/>
          </p:nvSpPr>
          <p:spPr>
            <a:xfrm>
              <a:off x="10342" y="2630"/>
              <a:ext cx="1211" cy="1211"/>
            </a:xfrm>
            <a:prstGeom prst="ellipse">
              <a:avLst/>
            </a:prstGeom>
            <a:solidFill>
              <a:schemeClr val="accent5">
                <a:lumMod val="60000"/>
                <a:lumOff val="40000"/>
              </a:scheme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ysClr val="windowText" lastClr="000000"/>
                </a:solidFill>
                <a:latin typeface="+mn-ea"/>
                <a:cs typeface="微软雅黑" panose="020B0503020204020204" charset="-122"/>
                <a:sym typeface="微软雅黑" panose="020B0503020204020204" charset="-122"/>
              </a:endParaRPr>
            </a:p>
          </p:txBody>
        </p:sp>
        <p:sp>
          <p:nvSpPr>
            <p:cNvPr id="259" name="文本框 258"/>
            <p:cNvSpPr txBox="1"/>
            <p:nvPr/>
          </p:nvSpPr>
          <p:spPr>
            <a:xfrm>
              <a:off x="10383" y="2848"/>
              <a:ext cx="1130" cy="367"/>
            </a:xfrm>
            <a:prstGeom prst="rect">
              <a:avLst/>
            </a:prstGeom>
            <a:noFill/>
          </p:spPr>
          <p:txBody>
            <a:bodyPr wrap="square" rtlCol="0">
              <a:spAutoFit/>
            </a:bodyPr>
            <a:p>
              <a:pPr algn="ctr"/>
              <a:r>
                <a:rPr lang="zh-CN" altLang="en-US" sz="800" b="1">
                  <a:solidFill>
                    <a:schemeClr val="bg1"/>
                  </a:solidFill>
                  <a:latin typeface="+mn-ea"/>
                  <a:cs typeface="微软雅黑" panose="020B0503020204020204" charset="-122"/>
                </a:rPr>
                <a:t>销售人员</a:t>
              </a:r>
              <a:endParaRPr lang="zh-CN" altLang="en-US" sz="800" b="1">
                <a:solidFill>
                  <a:schemeClr val="bg1"/>
                </a:solidFill>
                <a:latin typeface="+mn-ea"/>
                <a:cs typeface="微软雅黑" panose="020B0503020204020204" charset="-122"/>
              </a:endParaRPr>
            </a:p>
          </p:txBody>
        </p:sp>
        <p:sp>
          <p:nvSpPr>
            <p:cNvPr id="261" name="文本框 260"/>
            <p:cNvSpPr txBox="1"/>
            <p:nvPr/>
          </p:nvSpPr>
          <p:spPr>
            <a:xfrm>
              <a:off x="10546" y="3127"/>
              <a:ext cx="804" cy="553"/>
            </a:xfrm>
            <a:prstGeom prst="rect">
              <a:avLst/>
            </a:prstGeom>
            <a:noFill/>
          </p:spPr>
          <p:txBody>
            <a:bodyPr wrap="square" rtlCol="0">
              <a:spAutoFit/>
            </a:bodyPr>
            <a:p>
              <a:pPr algn="ctr"/>
              <a:r>
                <a:rPr lang="zh-CN" altLang="en-US" sz="1500" b="1">
                  <a:solidFill>
                    <a:schemeClr val="bg1"/>
                  </a:solidFill>
                  <a:latin typeface="+mn-ea"/>
                  <a:cs typeface="微软雅黑" panose="020B0503020204020204" charset="-122"/>
                </a:rPr>
                <a:t>加</a:t>
              </a:r>
              <a:endParaRPr lang="zh-CN" altLang="en-US" sz="1500" b="1">
                <a:solidFill>
                  <a:schemeClr val="bg1"/>
                </a:solidFill>
                <a:latin typeface="+mn-ea"/>
                <a:cs typeface="微软雅黑" panose="020B0503020204020204" charset="-122"/>
              </a:endParaRPr>
            </a:p>
          </p:txBody>
        </p:sp>
      </p:grpSp>
      <p:grpSp>
        <p:nvGrpSpPr>
          <p:cNvPr id="284" name="组合 283"/>
          <p:cNvGrpSpPr/>
          <p:nvPr/>
        </p:nvGrpSpPr>
        <p:grpSpPr>
          <a:xfrm rot="0">
            <a:off x="6462395" y="3379470"/>
            <a:ext cx="704850" cy="705485"/>
            <a:chOff x="10757" y="5157"/>
            <a:chExt cx="1211" cy="1211"/>
          </a:xfrm>
        </p:grpSpPr>
        <p:sp>
          <p:nvSpPr>
            <p:cNvPr id="240" name="椭圆 239"/>
            <p:cNvSpPr/>
            <p:nvPr/>
          </p:nvSpPr>
          <p:spPr>
            <a:xfrm>
              <a:off x="10757" y="5157"/>
              <a:ext cx="1211" cy="1211"/>
            </a:xfrm>
            <a:prstGeom prst="ellipse">
              <a:avLst/>
            </a:prstGeom>
            <a:solidFill>
              <a:schemeClr val="accent5">
                <a:lumMod val="60000"/>
                <a:lumOff val="40000"/>
              </a:scheme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ysClr val="windowText" lastClr="000000"/>
                </a:solidFill>
                <a:latin typeface="+mn-ea"/>
                <a:cs typeface="微软雅黑" panose="020B0503020204020204" charset="-122"/>
                <a:sym typeface="微软雅黑" panose="020B0503020204020204" charset="-122"/>
              </a:endParaRPr>
            </a:p>
          </p:txBody>
        </p:sp>
        <p:sp>
          <p:nvSpPr>
            <p:cNvPr id="262" name="文本框 261"/>
            <p:cNvSpPr txBox="1"/>
            <p:nvPr/>
          </p:nvSpPr>
          <p:spPr>
            <a:xfrm>
              <a:off x="10798" y="5366"/>
              <a:ext cx="1130" cy="392"/>
            </a:xfrm>
            <a:prstGeom prst="rect">
              <a:avLst/>
            </a:prstGeom>
            <a:noFill/>
          </p:spPr>
          <p:txBody>
            <a:bodyPr wrap="square" rtlCol="0">
              <a:noAutofit/>
            </a:bodyPr>
            <a:p>
              <a:pPr algn="ctr"/>
              <a:r>
                <a:rPr lang="zh-CN" altLang="en-US" sz="800" b="1">
                  <a:solidFill>
                    <a:schemeClr val="bg1"/>
                  </a:solidFill>
                  <a:latin typeface="+mn-ea"/>
                  <a:cs typeface="微软雅黑" panose="020B0503020204020204" charset="-122"/>
                </a:rPr>
                <a:t>服务人员</a:t>
              </a:r>
              <a:endParaRPr lang="zh-CN" altLang="en-US" sz="800" b="1">
                <a:solidFill>
                  <a:schemeClr val="bg1"/>
                </a:solidFill>
                <a:latin typeface="+mn-ea"/>
                <a:cs typeface="微软雅黑" panose="020B0503020204020204" charset="-122"/>
              </a:endParaRPr>
            </a:p>
          </p:txBody>
        </p:sp>
        <p:sp>
          <p:nvSpPr>
            <p:cNvPr id="263" name="文本框 262"/>
            <p:cNvSpPr txBox="1"/>
            <p:nvPr/>
          </p:nvSpPr>
          <p:spPr>
            <a:xfrm>
              <a:off x="10961" y="5643"/>
              <a:ext cx="804" cy="515"/>
            </a:xfrm>
            <a:prstGeom prst="rect">
              <a:avLst/>
            </a:prstGeom>
            <a:noFill/>
          </p:spPr>
          <p:txBody>
            <a:bodyPr wrap="square" rtlCol="0">
              <a:noAutofit/>
            </a:bodyPr>
            <a:p>
              <a:pPr algn="ctr"/>
              <a:r>
                <a:rPr lang="zh-CN" altLang="en-US" sz="1500" b="1">
                  <a:solidFill>
                    <a:schemeClr val="bg1"/>
                  </a:solidFill>
                  <a:latin typeface="+mn-ea"/>
                  <a:cs typeface="微软雅黑" panose="020B0503020204020204" charset="-122"/>
                </a:rPr>
                <a:t>留</a:t>
              </a:r>
              <a:endParaRPr lang="zh-CN" altLang="en-US" sz="1500" b="1">
                <a:solidFill>
                  <a:schemeClr val="bg1"/>
                </a:solidFill>
                <a:latin typeface="+mn-ea"/>
                <a:cs typeface="微软雅黑" panose="020B0503020204020204" charset="-122"/>
              </a:endParaRPr>
            </a:p>
          </p:txBody>
        </p:sp>
      </p:grpSp>
      <p:grpSp>
        <p:nvGrpSpPr>
          <p:cNvPr id="285" name="组合 284"/>
          <p:cNvGrpSpPr/>
          <p:nvPr/>
        </p:nvGrpSpPr>
        <p:grpSpPr>
          <a:xfrm rot="0">
            <a:off x="6462395" y="4763135"/>
            <a:ext cx="704850" cy="705485"/>
            <a:chOff x="10653" y="7533"/>
            <a:chExt cx="1211" cy="1211"/>
          </a:xfrm>
        </p:grpSpPr>
        <p:sp>
          <p:nvSpPr>
            <p:cNvPr id="249" name="椭圆 248"/>
            <p:cNvSpPr/>
            <p:nvPr/>
          </p:nvSpPr>
          <p:spPr>
            <a:xfrm>
              <a:off x="10653" y="7533"/>
              <a:ext cx="1211" cy="1211"/>
            </a:xfrm>
            <a:prstGeom prst="ellipse">
              <a:avLst/>
            </a:prstGeom>
            <a:solidFill>
              <a:schemeClr val="accent5">
                <a:lumMod val="60000"/>
                <a:lumOff val="40000"/>
              </a:scheme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ysClr val="windowText" lastClr="000000"/>
                </a:solidFill>
                <a:latin typeface="+mn-ea"/>
                <a:cs typeface="微软雅黑" panose="020B0503020204020204" charset="-122"/>
                <a:sym typeface="微软雅黑" panose="020B0503020204020204" charset="-122"/>
              </a:endParaRPr>
            </a:p>
          </p:txBody>
        </p:sp>
        <p:sp>
          <p:nvSpPr>
            <p:cNvPr id="264" name="文本框 263"/>
            <p:cNvSpPr txBox="1"/>
            <p:nvPr/>
          </p:nvSpPr>
          <p:spPr>
            <a:xfrm>
              <a:off x="10703" y="7788"/>
              <a:ext cx="1130" cy="392"/>
            </a:xfrm>
            <a:prstGeom prst="rect">
              <a:avLst/>
            </a:prstGeom>
            <a:noFill/>
          </p:spPr>
          <p:txBody>
            <a:bodyPr wrap="square" rtlCol="0">
              <a:noAutofit/>
            </a:bodyPr>
            <a:p>
              <a:pPr algn="ctr"/>
              <a:r>
                <a:rPr lang="zh-CN" altLang="en-US" sz="800" b="1">
                  <a:solidFill>
                    <a:schemeClr val="bg1"/>
                  </a:solidFill>
                  <a:latin typeface="+mn-ea"/>
                  <a:cs typeface="微软雅黑" panose="020B0503020204020204" charset="-122"/>
                </a:rPr>
                <a:t>客服人员</a:t>
              </a:r>
              <a:endParaRPr lang="zh-CN" altLang="en-US" sz="800" b="1">
                <a:solidFill>
                  <a:schemeClr val="bg1"/>
                </a:solidFill>
                <a:latin typeface="+mn-ea"/>
                <a:cs typeface="微软雅黑" panose="020B0503020204020204" charset="-122"/>
              </a:endParaRPr>
            </a:p>
          </p:txBody>
        </p:sp>
        <p:sp>
          <p:nvSpPr>
            <p:cNvPr id="265" name="文本框 264"/>
            <p:cNvSpPr txBox="1"/>
            <p:nvPr/>
          </p:nvSpPr>
          <p:spPr>
            <a:xfrm>
              <a:off x="10866" y="8065"/>
              <a:ext cx="804" cy="515"/>
            </a:xfrm>
            <a:prstGeom prst="rect">
              <a:avLst/>
            </a:prstGeom>
            <a:noFill/>
          </p:spPr>
          <p:txBody>
            <a:bodyPr wrap="square" rtlCol="0">
              <a:noAutofit/>
            </a:bodyPr>
            <a:p>
              <a:pPr algn="ctr"/>
              <a:r>
                <a:rPr lang="zh-CN" altLang="en-US" sz="1500" b="1">
                  <a:solidFill>
                    <a:schemeClr val="bg1"/>
                  </a:solidFill>
                  <a:latin typeface="+mn-ea"/>
                  <a:cs typeface="微软雅黑" panose="020B0503020204020204" charset="-122"/>
                </a:rPr>
                <a:t>养</a:t>
              </a:r>
              <a:endParaRPr lang="zh-CN" altLang="en-US" sz="1500" b="1">
                <a:solidFill>
                  <a:schemeClr val="bg1"/>
                </a:solidFill>
                <a:latin typeface="+mn-ea"/>
                <a:cs typeface="微软雅黑" panose="020B0503020204020204" charset="-122"/>
              </a:endParaRPr>
            </a:p>
          </p:txBody>
        </p:sp>
      </p:grpSp>
      <p:sp>
        <p:nvSpPr>
          <p:cNvPr id="266" name="矩形 265"/>
          <p:cNvSpPr/>
          <p:nvPr/>
        </p:nvSpPr>
        <p:spPr>
          <a:xfrm>
            <a:off x="4794250" y="1922145"/>
            <a:ext cx="1235710" cy="69850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algn="ctr"/>
            <a:r>
              <a:rPr lang="zh-CN" altLang="en-US" sz="1000">
                <a:solidFill>
                  <a:schemeClr val="accent6"/>
                </a:solidFill>
                <a:latin typeface="微软雅黑" panose="020B0503020204020204" charset="-122"/>
                <a:ea typeface="微软雅黑" panose="020B0503020204020204" charset="-122"/>
                <a:cs typeface="微软雅黑" panose="020B0503020204020204" charset="-122"/>
                <a:sym typeface="+mn-ea"/>
              </a:rPr>
              <a:t>借助活动、公域传播邀约客户入店体验</a:t>
            </a:r>
            <a:endParaRPr lang="zh-CN" altLang="en-US" sz="1000" dirty="0">
              <a:solidFill>
                <a:schemeClr val="accent6"/>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70" name="矩形 269"/>
          <p:cNvSpPr/>
          <p:nvPr/>
        </p:nvSpPr>
        <p:spPr>
          <a:xfrm>
            <a:off x="4794250" y="3347720"/>
            <a:ext cx="1235710" cy="69850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algn="ctr"/>
            <a:r>
              <a:rPr lang="zh-CN" altLang="en-US" sz="1000">
                <a:solidFill>
                  <a:schemeClr val="accent6"/>
                </a:solidFill>
                <a:latin typeface="微软雅黑" panose="020B0503020204020204" charset="-122"/>
                <a:ea typeface="微软雅黑" panose="020B0503020204020204" charset="-122"/>
                <a:cs typeface="微软雅黑" panose="020B0503020204020204" charset="-122"/>
                <a:sym typeface="+mn-ea"/>
              </a:rPr>
              <a:t>内容持续种草，持续二次购买，现场接待服务</a:t>
            </a:r>
            <a:endParaRPr lang="zh-CN" altLang="en-US" sz="1000" dirty="0">
              <a:solidFill>
                <a:schemeClr val="accent6"/>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72" name="矩形 271"/>
          <p:cNvSpPr/>
          <p:nvPr/>
        </p:nvSpPr>
        <p:spPr>
          <a:xfrm>
            <a:off x="4794885" y="4763135"/>
            <a:ext cx="1235710" cy="69850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algn="ctr"/>
            <a:r>
              <a:rPr lang="zh-CN" altLang="en-US" sz="1000" dirty="0">
                <a:solidFill>
                  <a:schemeClr val="accent6"/>
                </a:solidFill>
                <a:effectLst/>
                <a:latin typeface="微软雅黑" panose="020B0503020204020204" charset="-122"/>
                <a:ea typeface="微软雅黑" panose="020B0503020204020204" charset="-122"/>
                <a:cs typeface="微软雅黑" panose="020B0503020204020204" charset="-122"/>
                <a:sym typeface="+mn-ea"/>
              </a:rPr>
              <a:t>客户标签化运营，会员卡等粘性产品绑定，高价值创造</a:t>
            </a:r>
            <a:endParaRPr lang="zh-CN" altLang="en-US" sz="1000" dirty="0">
              <a:solidFill>
                <a:schemeClr val="accent6"/>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73" name="燕尾形箭头 272"/>
          <p:cNvSpPr/>
          <p:nvPr/>
        </p:nvSpPr>
        <p:spPr>
          <a:xfrm rot="5400000">
            <a:off x="5212080" y="4596130"/>
            <a:ext cx="262255" cy="262890"/>
          </a:xfrm>
          <a:prstGeom prst="notchedRightArrow">
            <a:avLst/>
          </a:prstGeom>
          <a:solidFill>
            <a:schemeClr val="accent5">
              <a:lumMod val="20000"/>
              <a:lumOff val="80000"/>
            </a:schemeClr>
          </a:solidFill>
          <a:ln>
            <a:solidFill>
              <a:schemeClr val="accent5">
                <a:lumMod val="60000"/>
                <a:lumOff val="4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74" name="燕尾形箭头 273"/>
          <p:cNvSpPr/>
          <p:nvPr/>
        </p:nvSpPr>
        <p:spPr>
          <a:xfrm rot="5400000">
            <a:off x="5243830" y="3173730"/>
            <a:ext cx="262255" cy="262890"/>
          </a:xfrm>
          <a:prstGeom prst="notchedRightArrow">
            <a:avLst/>
          </a:prstGeom>
          <a:solidFill>
            <a:schemeClr val="accent5">
              <a:lumMod val="20000"/>
              <a:lumOff val="80000"/>
            </a:schemeClr>
          </a:solidFill>
          <a:ln>
            <a:solidFill>
              <a:schemeClr val="accent5">
                <a:lumMod val="60000"/>
                <a:lumOff val="4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75" name="矩形 274"/>
          <p:cNvSpPr/>
          <p:nvPr/>
        </p:nvSpPr>
        <p:spPr>
          <a:xfrm>
            <a:off x="7651115" y="1908175"/>
            <a:ext cx="1434465" cy="69850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ctr">
              <a:buClrTx/>
              <a:buSzTx/>
              <a:buFontTx/>
            </a:pPr>
            <a:r>
              <a:rPr lang="zh-CN" altLang="en-US" sz="900">
                <a:solidFill>
                  <a:schemeClr val="accent6"/>
                </a:solidFill>
                <a:latin typeface="+mn-ea"/>
                <a:cs typeface="微软雅黑" panose="020B0503020204020204" charset="-122"/>
                <a:sym typeface="+mn-ea"/>
              </a:rPr>
              <a:t>销售人员建立信任后，有序运营，给予福利券赠送新客户权限，鼓励加微动作。</a:t>
            </a:r>
            <a:endParaRPr lang="zh-CN" altLang="en-US" sz="900">
              <a:solidFill>
                <a:schemeClr val="accent6"/>
              </a:solidFill>
              <a:latin typeface="+mn-ea"/>
              <a:cs typeface="微软雅黑" panose="020B0503020204020204" charset="-122"/>
              <a:sym typeface="+mn-ea"/>
            </a:endParaRPr>
          </a:p>
        </p:txBody>
      </p:sp>
      <p:sp>
        <p:nvSpPr>
          <p:cNvPr id="276" name="矩形 275"/>
          <p:cNvSpPr/>
          <p:nvPr/>
        </p:nvSpPr>
        <p:spPr>
          <a:xfrm>
            <a:off x="9331960" y="1908175"/>
            <a:ext cx="1640205" cy="69850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l">
              <a:buClrTx/>
              <a:buSzTx/>
              <a:buFontTx/>
            </a:pPr>
            <a:r>
              <a:rPr lang="zh-CN" altLang="en-US" sz="900">
                <a:solidFill>
                  <a:schemeClr val="accent6"/>
                </a:solidFill>
                <a:latin typeface="+mn-ea"/>
                <a:cs typeface="微软雅黑" panose="020B0503020204020204" charset="-122"/>
                <a:sym typeface="+mn-ea"/>
              </a:rPr>
              <a:t>①销售在接待环节加入私域；</a:t>
            </a:r>
            <a:endParaRPr lang="zh-CN" altLang="en-US" sz="900">
              <a:solidFill>
                <a:schemeClr val="accent6"/>
              </a:solidFill>
              <a:latin typeface="+mn-ea"/>
              <a:cs typeface="微软雅黑" panose="020B0503020204020204" charset="-122"/>
              <a:sym typeface="+mn-ea"/>
            </a:endParaRPr>
          </a:p>
          <a:p>
            <a:pPr lvl="0" algn="l">
              <a:buClrTx/>
              <a:buSzTx/>
              <a:buFontTx/>
            </a:pPr>
            <a:r>
              <a:rPr lang="zh-CN" altLang="en-US" sz="900">
                <a:solidFill>
                  <a:schemeClr val="accent6"/>
                </a:solidFill>
                <a:latin typeface="+mn-ea"/>
                <a:cs typeface="微软雅黑" panose="020B0503020204020204" charset="-122"/>
                <a:sym typeface="+mn-ea"/>
              </a:rPr>
              <a:t>②购物前沟通流程可监控；</a:t>
            </a:r>
            <a:endParaRPr lang="zh-CN" altLang="en-US" sz="900">
              <a:solidFill>
                <a:schemeClr val="accent6"/>
              </a:solidFill>
              <a:latin typeface="+mn-ea"/>
              <a:cs typeface="微软雅黑" panose="020B0503020204020204" charset="-122"/>
              <a:sym typeface="+mn-ea"/>
            </a:endParaRPr>
          </a:p>
          <a:p>
            <a:pPr lvl="0" algn="l">
              <a:buClrTx/>
              <a:buSzTx/>
              <a:buFontTx/>
            </a:pPr>
            <a:r>
              <a:rPr lang="zh-CN" altLang="en-US" sz="900">
                <a:solidFill>
                  <a:schemeClr val="accent6"/>
                </a:solidFill>
                <a:latin typeface="+mn-ea"/>
                <a:cs typeface="微软雅黑" panose="020B0503020204020204" charset="-122"/>
                <a:sym typeface="+mn-ea"/>
              </a:rPr>
              <a:t>③后续衔接转入服务私域。</a:t>
            </a:r>
            <a:endParaRPr lang="zh-CN" altLang="en-US" sz="900">
              <a:solidFill>
                <a:schemeClr val="accent6"/>
              </a:solidFill>
              <a:latin typeface="+mn-ea"/>
              <a:cs typeface="微软雅黑" panose="020B0503020204020204" charset="-122"/>
              <a:sym typeface="+mn-ea"/>
            </a:endParaRPr>
          </a:p>
        </p:txBody>
      </p:sp>
      <p:sp>
        <p:nvSpPr>
          <p:cNvPr id="277" name="矩形 276"/>
          <p:cNvSpPr/>
          <p:nvPr/>
        </p:nvSpPr>
        <p:spPr>
          <a:xfrm>
            <a:off x="7679055" y="3227070"/>
            <a:ext cx="1434465" cy="100457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ctr">
              <a:buClrTx/>
              <a:buSzTx/>
              <a:buFontTx/>
            </a:pPr>
            <a:r>
              <a:rPr lang="zh-CN" altLang="en-US" sz="900">
                <a:solidFill>
                  <a:schemeClr val="accent6"/>
                </a:solidFill>
                <a:latin typeface="+mn-ea"/>
                <a:cs typeface="微软雅黑" panose="020B0503020204020204" charset="-122"/>
                <a:sym typeface="+mn-ea"/>
              </a:rPr>
              <a:t>根据消费能力、行为偏好等建立分级标准，同时设立分级服务项目标准，采用对应层级标准化的接触与服务。</a:t>
            </a:r>
            <a:endParaRPr lang="zh-CN" altLang="en-US" sz="900">
              <a:solidFill>
                <a:schemeClr val="accent6"/>
              </a:solidFill>
              <a:latin typeface="+mn-ea"/>
              <a:cs typeface="微软雅黑" panose="020B0503020204020204" charset="-122"/>
              <a:sym typeface="+mn-ea"/>
            </a:endParaRPr>
          </a:p>
        </p:txBody>
      </p:sp>
      <p:sp>
        <p:nvSpPr>
          <p:cNvPr id="278" name="矩形 277"/>
          <p:cNvSpPr/>
          <p:nvPr/>
        </p:nvSpPr>
        <p:spPr>
          <a:xfrm>
            <a:off x="9331960" y="3227070"/>
            <a:ext cx="1640840" cy="100457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l">
              <a:buClrTx/>
              <a:buSzTx/>
              <a:buFontTx/>
            </a:pPr>
            <a:r>
              <a:rPr lang="zh-CN" altLang="en-US" sz="900">
                <a:solidFill>
                  <a:schemeClr val="accent6"/>
                </a:solidFill>
                <a:latin typeface="+mn-ea"/>
                <a:cs typeface="微软雅黑" panose="020B0503020204020204" charset="-122"/>
                <a:sym typeface="+mn-ea"/>
              </a:rPr>
              <a:t>①客户购物习惯引导与培养；</a:t>
            </a:r>
            <a:endParaRPr lang="zh-CN" altLang="en-US" sz="900">
              <a:solidFill>
                <a:schemeClr val="accent6"/>
              </a:solidFill>
              <a:latin typeface="+mn-ea"/>
              <a:cs typeface="微软雅黑" panose="020B0503020204020204" charset="-122"/>
              <a:sym typeface="+mn-ea"/>
            </a:endParaRPr>
          </a:p>
          <a:p>
            <a:pPr lvl="0" algn="l">
              <a:buClrTx/>
              <a:buSzTx/>
              <a:buFontTx/>
            </a:pPr>
            <a:r>
              <a:rPr lang="zh-CN" altLang="en-US" sz="900">
                <a:solidFill>
                  <a:schemeClr val="accent6"/>
                </a:solidFill>
                <a:latin typeface="+mn-ea"/>
                <a:cs typeface="微软雅黑" panose="020B0503020204020204" charset="-122"/>
                <a:sym typeface="+mn-ea"/>
              </a:rPr>
              <a:t>②日常的小红书等内容种草；</a:t>
            </a:r>
            <a:endParaRPr lang="zh-CN" altLang="en-US" sz="900">
              <a:solidFill>
                <a:schemeClr val="accent6"/>
              </a:solidFill>
              <a:latin typeface="+mn-ea"/>
              <a:cs typeface="微软雅黑" panose="020B0503020204020204" charset="-122"/>
              <a:sym typeface="+mn-ea"/>
            </a:endParaRPr>
          </a:p>
          <a:p>
            <a:pPr lvl="0" algn="l">
              <a:buClrTx/>
              <a:buSzTx/>
              <a:buFontTx/>
            </a:pPr>
            <a:r>
              <a:rPr lang="zh-CN" altLang="en-US" sz="900">
                <a:solidFill>
                  <a:schemeClr val="accent6"/>
                </a:solidFill>
                <a:latin typeface="+mn-ea"/>
                <a:cs typeface="微软雅黑" panose="020B0503020204020204" charset="-122"/>
                <a:sym typeface="+mn-ea"/>
              </a:rPr>
              <a:t>③客户促销活的推送营销；</a:t>
            </a:r>
            <a:endParaRPr lang="zh-CN" altLang="en-US" sz="900">
              <a:solidFill>
                <a:schemeClr val="accent6"/>
              </a:solidFill>
              <a:latin typeface="+mn-ea"/>
              <a:cs typeface="微软雅黑" panose="020B0503020204020204" charset="-122"/>
              <a:sym typeface="+mn-ea"/>
            </a:endParaRPr>
          </a:p>
          <a:p>
            <a:pPr lvl="0" algn="l">
              <a:buClrTx/>
              <a:buSzTx/>
              <a:buFontTx/>
            </a:pPr>
            <a:r>
              <a:rPr lang="zh-CN" altLang="en-US" sz="900">
                <a:solidFill>
                  <a:schemeClr val="accent6"/>
                </a:solidFill>
                <a:latin typeface="+mn-ea"/>
                <a:cs typeface="微软雅黑" panose="020B0503020204020204" charset="-122"/>
                <a:sym typeface="+mn-ea"/>
              </a:rPr>
              <a:t>④节假日、生日的特殊关怀。</a:t>
            </a:r>
            <a:endParaRPr lang="zh-CN" altLang="en-US" sz="900">
              <a:solidFill>
                <a:schemeClr val="accent6"/>
              </a:solidFill>
              <a:latin typeface="+mn-ea"/>
              <a:cs typeface="微软雅黑" panose="020B0503020204020204" charset="-122"/>
              <a:sym typeface="+mn-ea"/>
            </a:endParaRPr>
          </a:p>
        </p:txBody>
      </p:sp>
      <p:sp>
        <p:nvSpPr>
          <p:cNvPr id="279" name="矩形 278"/>
          <p:cNvSpPr/>
          <p:nvPr/>
        </p:nvSpPr>
        <p:spPr>
          <a:xfrm>
            <a:off x="7678420" y="4624705"/>
            <a:ext cx="1435735" cy="894715"/>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ctr">
              <a:buClrTx/>
              <a:buSzTx/>
              <a:buFontTx/>
            </a:pPr>
            <a:r>
              <a:rPr lang="zh-CN" altLang="en-US" sz="900">
                <a:solidFill>
                  <a:schemeClr val="accent6"/>
                </a:solidFill>
                <a:latin typeface="+mn-ea"/>
                <a:cs typeface="微软雅黑" panose="020B0503020204020204" charset="-122"/>
                <a:sym typeface="+mn-ea"/>
              </a:rPr>
              <a:t>关注忠诚客户群体，通过线上的活动促销、储值卡等粘性产品渗透提粘性，提升客户稳定性。</a:t>
            </a:r>
            <a:endParaRPr lang="zh-CN" altLang="en-US" sz="900">
              <a:solidFill>
                <a:schemeClr val="accent6"/>
              </a:solidFill>
              <a:latin typeface="+mn-ea"/>
              <a:cs typeface="微软雅黑" panose="020B0503020204020204" charset="-122"/>
              <a:sym typeface="+mn-ea"/>
            </a:endParaRPr>
          </a:p>
        </p:txBody>
      </p:sp>
      <p:sp>
        <p:nvSpPr>
          <p:cNvPr id="280" name="矩形 279"/>
          <p:cNvSpPr/>
          <p:nvPr/>
        </p:nvSpPr>
        <p:spPr>
          <a:xfrm>
            <a:off x="9331325" y="4625340"/>
            <a:ext cx="1640840" cy="862330"/>
          </a:xfrm>
          <a:prstGeom prst="rect">
            <a:avLst/>
          </a:prstGeom>
          <a:gradFill flip="none" rotWithShape="1">
            <a:gsLst>
              <a:gs pos="0">
                <a:schemeClr val="bg1">
                  <a:lumMod val="98000"/>
                </a:schemeClr>
              </a:gs>
              <a:gs pos="100000">
                <a:schemeClr val="bg1">
                  <a:lumMod val="98000"/>
                </a:schemeClr>
              </a:gs>
            </a:gsLst>
            <a:path path="circle">
              <a:fillToRect l="50000" t="50000" r="50000" b="50000"/>
            </a:path>
            <a:tileRect/>
          </a:gradFill>
          <a:ln w="12700" cmpd="sng">
            <a:solidFill>
              <a:schemeClr val="accent6">
                <a:lumMod val="20000"/>
                <a:lumOff val="8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p>
            <a:pPr lvl="0" algn="l">
              <a:buClrTx/>
              <a:buSzTx/>
              <a:buFontTx/>
            </a:pPr>
            <a:r>
              <a:rPr lang="zh-CN" altLang="en-US" sz="900">
                <a:solidFill>
                  <a:schemeClr val="accent6"/>
                </a:solidFill>
                <a:latin typeface="+mn-ea"/>
                <a:cs typeface="微软雅黑" panose="020B0503020204020204" charset="-122"/>
                <a:sym typeface="+mn-ea"/>
              </a:rPr>
              <a:t>①高价值客户邀约新体验；</a:t>
            </a:r>
            <a:endParaRPr lang="zh-CN" altLang="en-US" sz="900">
              <a:solidFill>
                <a:schemeClr val="accent6"/>
              </a:solidFill>
              <a:latin typeface="+mn-ea"/>
              <a:cs typeface="微软雅黑" panose="020B0503020204020204" charset="-122"/>
              <a:sym typeface="+mn-ea"/>
            </a:endParaRPr>
          </a:p>
          <a:p>
            <a:pPr lvl="0" algn="l">
              <a:buClrTx/>
              <a:buSzTx/>
              <a:buFontTx/>
            </a:pPr>
            <a:r>
              <a:rPr lang="zh-CN" altLang="en-US" sz="900">
                <a:solidFill>
                  <a:schemeClr val="accent6"/>
                </a:solidFill>
                <a:latin typeface="+mn-ea"/>
                <a:cs typeface="微软雅黑" panose="020B0503020204020204" charset="-122"/>
                <a:sym typeface="+mn-ea"/>
              </a:rPr>
              <a:t>②券到期客户邀约到店使用；</a:t>
            </a:r>
            <a:endParaRPr lang="zh-CN" altLang="en-US" sz="900">
              <a:solidFill>
                <a:schemeClr val="accent6"/>
              </a:solidFill>
              <a:latin typeface="+mn-ea"/>
              <a:cs typeface="微软雅黑" panose="020B0503020204020204" charset="-122"/>
              <a:sym typeface="+mn-ea"/>
            </a:endParaRPr>
          </a:p>
          <a:p>
            <a:pPr lvl="0" algn="l">
              <a:buClrTx/>
              <a:buSzTx/>
              <a:buFontTx/>
            </a:pPr>
            <a:r>
              <a:rPr lang="zh-CN" altLang="en-US" sz="900">
                <a:solidFill>
                  <a:schemeClr val="accent6"/>
                </a:solidFill>
                <a:latin typeface="+mn-ea"/>
                <a:cs typeface="微软雅黑" panose="020B0503020204020204" charset="-122"/>
                <a:sym typeface="+mn-ea"/>
              </a:rPr>
              <a:t>③储值客户邀请新冲赠送；</a:t>
            </a:r>
            <a:endParaRPr lang="zh-CN" altLang="en-US" sz="900">
              <a:solidFill>
                <a:schemeClr val="accent6"/>
              </a:solidFill>
              <a:latin typeface="+mn-ea"/>
              <a:cs typeface="微软雅黑" panose="020B0503020204020204" charset="-122"/>
              <a:sym typeface="+mn-ea"/>
            </a:endParaRPr>
          </a:p>
          <a:p>
            <a:pPr lvl="0" algn="l">
              <a:buClrTx/>
              <a:buSzTx/>
              <a:buFontTx/>
            </a:pPr>
            <a:r>
              <a:rPr lang="zh-CN" altLang="en-US" sz="900">
                <a:solidFill>
                  <a:schemeClr val="accent6"/>
                </a:solidFill>
                <a:latin typeface="+mn-ea"/>
                <a:cs typeface="微软雅黑" panose="020B0503020204020204" charset="-122"/>
                <a:sym typeface="+mn-ea"/>
              </a:rPr>
              <a:t>④特别活动偏好客群邀约。</a:t>
            </a:r>
            <a:endParaRPr lang="zh-CN" altLang="en-US" sz="900">
              <a:solidFill>
                <a:schemeClr val="accent6"/>
              </a:solidFill>
              <a:latin typeface="+mn-ea"/>
              <a:cs typeface="微软雅黑" panose="020B0503020204020204" charset="-122"/>
              <a:sym typeface="+mn-ea"/>
            </a:endParaRPr>
          </a:p>
        </p:txBody>
      </p:sp>
      <p:sp>
        <p:nvSpPr>
          <p:cNvPr id="300" name="形状 299"/>
          <p:cNvSpPr>
            <a:spLocks noChangeAspect="1"/>
          </p:cNvSpPr>
          <p:nvPr/>
        </p:nvSpPr>
        <p:spPr>
          <a:xfrm flipH="1" flipV="1">
            <a:off x="5865495" y="4046220"/>
            <a:ext cx="673735" cy="470535"/>
          </a:xfrm>
          <a:prstGeom prst="swooshArrow">
            <a:avLst>
              <a:gd name="adj1" fmla="val 16310"/>
              <a:gd name="adj2" fmla="val 31370"/>
            </a:avLst>
          </a:prstGeom>
          <a:solidFill>
            <a:schemeClr val="accent5">
              <a:lumMod val="60000"/>
              <a:lumOff val="4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dirty="0">
              <a:latin typeface="+mj-ea"/>
              <a:ea typeface="+mj-ea"/>
              <a:cs typeface="微软雅黑" panose="020B0503020204020204" charset="-122"/>
            </a:endParaRPr>
          </a:p>
        </p:txBody>
      </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8738235" y="348615"/>
            <a:ext cx="3219450" cy="332740"/>
            <a:chOff x="13761" y="549"/>
            <a:chExt cx="5070" cy="524"/>
          </a:xfrm>
        </p:grpSpPr>
        <p:pic>
          <p:nvPicPr>
            <p:cNvPr id="30" name="图片 2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31" name="文本框 3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1671955" y="1579245"/>
            <a:ext cx="9956800" cy="2369820"/>
          </a:xfrm>
          <a:prstGeom prst="rect">
            <a:avLst/>
          </a:prstGeom>
          <a:solidFill>
            <a:schemeClr val="accent5">
              <a:lumMod val="20000"/>
              <a:lumOff val="80000"/>
              <a:alpha val="40000"/>
            </a:schemeClr>
          </a:solidFill>
          <a:ln w="12700" cap="flat">
            <a:solidFill>
              <a:schemeClr val="accent5">
                <a:alpha val="50000"/>
              </a:schemeClr>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200" b="0" i="0" u="none" strike="noStrike" cap="none" spc="0" normalizeH="0" baseline="0" dirty="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9" name="矩形 88"/>
          <p:cNvSpPr/>
          <p:nvPr/>
        </p:nvSpPr>
        <p:spPr>
          <a:xfrm>
            <a:off x="1627505" y="4837430"/>
            <a:ext cx="9969500" cy="1736090"/>
          </a:xfrm>
          <a:prstGeom prst="rect">
            <a:avLst/>
          </a:prstGeom>
          <a:solidFill>
            <a:schemeClr val="accent1">
              <a:lumMod val="20000"/>
              <a:lumOff val="80000"/>
              <a:alpha val="30000"/>
            </a:schemeClr>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cs typeface="微软雅黑" panose="020B0503020204020204" charset="-122"/>
              </a:rPr>
              <a:t>  </a:t>
            </a:r>
            <a:endParaRPr lang="en-US" altLang="zh-CN">
              <a:cs typeface="微软雅黑" panose="020B0503020204020204" charset="-122"/>
            </a:endParaRPr>
          </a:p>
        </p:txBody>
      </p:sp>
      <p:sp>
        <p:nvSpPr>
          <p:cNvPr id="5" name="标题 2"/>
          <p:cNvSpPr>
            <a:spLocks noGrp="1"/>
          </p:cNvSpPr>
          <p:nvPr/>
        </p:nvSpPr>
        <p:spPr>
          <a:xfrm>
            <a:off x="1105535" y="347980"/>
            <a:ext cx="725741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客户全生命周期运营流程</a:t>
            </a:r>
            <a:endParaRPr sz="25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8" name="矩形 7"/>
          <p:cNvSpPr/>
          <p:nvPr/>
        </p:nvSpPr>
        <p:spPr>
          <a:xfrm>
            <a:off x="608965" y="1004570"/>
            <a:ext cx="879475" cy="486410"/>
          </a:xfrm>
          <a:prstGeom prst="rect">
            <a:avLst/>
          </a:prstGeom>
          <a:gradFill flip="none" rotWithShape="1">
            <a:gsLst>
              <a:gs pos="100000">
                <a:schemeClr val="accent1">
                  <a:lumMod val="60000"/>
                  <a:lumOff val="40000"/>
                </a:schemeClr>
              </a:gs>
              <a:gs pos="18000">
                <a:schemeClr val="accent1"/>
              </a:gs>
            </a:gsLst>
            <a:lin ang="2700000" scaled="1"/>
          </a:gradFill>
          <a:ln>
            <a:no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环节</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 name="箭头: 五边形 5"/>
          <p:cNvSpPr/>
          <p:nvPr/>
        </p:nvSpPr>
        <p:spPr>
          <a:xfrm>
            <a:off x="1671955" y="1014095"/>
            <a:ext cx="1695450" cy="455295"/>
          </a:xfrm>
          <a:prstGeom prst="homePlate">
            <a:avLst/>
          </a:prstGeom>
          <a:gradFill flip="none" rotWithShape="1">
            <a:gsLst>
              <a:gs pos="0">
                <a:schemeClr val="accent1">
                  <a:lumMod val="40000"/>
                  <a:lumOff val="60000"/>
                </a:schemeClr>
              </a:gs>
              <a:gs pos="54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客户线索</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箭头: V 形 6"/>
          <p:cNvSpPr/>
          <p:nvPr/>
        </p:nvSpPr>
        <p:spPr>
          <a:xfrm>
            <a:off x="3253105" y="1014095"/>
            <a:ext cx="1765935" cy="455295"/>
          </a:xfrm>
          <a:prstGeom prst="chevron">
            <a:avLst/>
          </a:prstGeom>
          <a:gradFill flip="none" rotWithShape="1">
            <a:gsLst>
              <a:gs pos="0">
                <a:schemeClr val="accent1">
                  <a:lumMod val="40000"/>
                  <a:lumOff val="60000"/>
                </a:schemeClr>
              </a:gs>
              <a:gs pos="54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线下销售</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箭头: V 形 7"/>
          <p:cNvSpPr/>
          <p:nvPr/>
        </p:nvSpPr>
        <p:spPr>
          <a:xfrm>
            <a:off x="4905375" y="1014095"/>
            <a:ext cx="1765935" cy="455295"/>
          </a:xfrm>
          <a:prstGeom prst="chevron">
            <a:avLst/>
          </a:prstGeom>
          <a:gradFill flip="none" rotWithShape="1">
            <a:gsLst>
              <a:gs pos="0">
                <a:schemeClr val="accent1">
                  <a:lumMod val="40000"/>
                  <a:lumOff val="60000"/>
                </a:schemeClr>
              </a:gs>
              <a:gs pos="54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客户留存</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箭头: V 形 8"/>
          <p:cNvSpPr/>
          <p:nvPr/>
        </p:nvSpPr>
        <p:spPr>
          <a:xfrm>
            <a:off x="6557645" y="1014095"/>
            <a:ext cx="1765935" cy="455295"/>
          </a:xfrm>
          <a:prstGeom prst="chevron">
            <a:avLst/>
          </a:prstGeom>
          <a:gradFill flip="none" rotWithShape="1">
            <a:gsLst>
              <a:gs pos="0">
                <a:schemeClr val="accent1">
                  <a:lumMod val="40000"/>
                  <a:lumOff val="60000"/>
                </a:schemeClr>
              </a:gs>
              <a:gs pos="54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线上销售</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箭头: V 形 9"/>
          <p:cNvSpPr/>
          <p:nvPr/>
        </p:nvSpPr>
        <p:spPr>
          <a:xfrm>
            <a:off x="8210550" y="1014095"/>
            <a:ext cx="1765935" cy="455295"/>
          </a:xfrm>
          <a:prstGeom prst="chevron">
            <a:avLst/>
          </a:prstGeom>
          <a:gradFill flip="none" rotWithShape="1">
            <a:gsLst>
              <a:gs pos="0">
                <a:schemeClr val="accent1">
                  <a:lumMod val="40000"/>
                  <a:lumOff val="60000"/>
                </a:schemeClr>
              </a:gs>
              <a:gs pos="54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流失唤醒</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箭头: V 形 10"/>
          <p:cNvSpPr/>
          <p:nvPr/>
        </p:nvSpPr>
        <p:spPr>
          <a:xfrm>
            <a:off x="9862820" y="1014095"/>
            <a:ext cx="1765935" cy="455295"/>
          </a:xfrm>
          <a:prstGeom prst="chevron">
            <a:avLst/>
          </a:prstGeom>
          <a:gradFill flip="none" rotWithShape="1">
            <a:gsLst>
              <a:gs pos="0">
                <a:schemeClr val="accent1">
                  <a:lumMod val="40000"/>
                  <a:lumOff val="60000"/>
                </a:schemeClr>
              </a:gs>
              <a:gs pos="54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培育忠诚</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矩形 15"/>
          <p:cNvSpPr/>
          <p:nvPr/>
        </p:nvSpPr>
        <p:spPr>
          <a:xfrm>
            <a:off x="608965" y="1584325"/>
            <a:ext cx="879475" cy="2364105"/>
          </a:xfrm>
          <a:prstGeom prst="rect">
            <a:avLst/>
          </a:prstGeom>
          <a:gradFill flip="none" rotWithShape="1">
            <a:gsLst>
              <a:gs pos="100000">
                <a:schemeClr val="accent5">
                  <a:lumMod val="60000"/>
                  <a:lumOff val="40000"/>
                </a:schemeClr>
              </a:gs>
              <a:gs pos="18000">
                <a:schemeClr val="accent5"/>
              </a:gs>
            </a:gsLst>
            <a:lin ang="2700000" scaled="1"/>
          </a:gradFill>
          <a:ln>
            <a:no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客户</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旅程</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40" name="组合 39"/>
          <p:cNvGrpSpPr/>
          <p:nvPr/>
        </p:nvGrpSpPr>
        <p:grpSpPr>
          <a:xfrm>
            <a:off x="1898650" y="1894205"/>
            <a:ext cx="1243965" cy="303530"/>
            <a:chOff x="1549696" y="1381665"/>
            <a:chExt cx="1180936" cy="288000"/>
          </a:xfrm>
        </p:grpSpPr>
        <p:sp>
          <p:nvSpPr>
            <p:cNvPr id="41" name="文本框 40"/>
            <p:cNvSpPr txBox="1"/>
            <p:nvPr/>
          </p:nvSpPr>
          <p:spPr>
            <a:xfrm>
              <a:off x="1831322" y="1408799"/>
              <a:ext cx="899310" cy="247107"/>
            </a:xfrm>
            <a:prstGeom prst="rect">
              <a:avLst/>
            </a:prstGeom>
            <a:noFill/>
          </p:spPr>
          <p:txBody>
            <a:bodyPr wrap="square" rtlCol="0">
              <a:spAutoFit/>
            </a:bodyPr>
            <a:lstStyle/>
            <a:p>
              <a:r>
                <a:rPr lang="zh-CN" altLang="en-US" sz="1100" dirty="0">
                  <a:solidFill>
                    <a:schemeClr val="accent5"/>
                  </a:solidFill>
                  <a:latin typeface="微软雅黑" panose="020B0503020204020204" charset="-122"/>
                  <a:ea typeface="微软雅黑" panose="020B0503020204020204" charset="-122"/>
                  <a:cs typeface="微软雅黑" panose="020B0503020204020204" charset="-122"/>
                </a:rPr>
                <a:t>潜在客户</a:t>
              </a:r>
              <a:endParaRPr lang="zh-CN" altLang="en-US" sz="11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42" name="组合 41"/>
            <p:cNvGrpSpPr>
              <a:grpSpLocks noChangeAspect="1"/>
            </p:cNvGrpSpPr>
            <p:nvPr/>
          </p:nvGrpSpPr>
          <p:grpSpPr>
            <a:xfrm>
              <a:off x="1549696" y="1381665"/>
              <a:ext cx="288000" cy="288000"/>
              <a:chOff x="3992220" y="1830388"/>
              <a:chExt cx="3487737" cy="3487737"/>
            </a:xfrm>
          </p:grpSpPr>
          <p:sp>
            <p:nvSpPr>
              <p:cNvPr id="45" name="椭圆 44"/>
              <p:cNvSpPr/>
              <p:nvPr/>
            </p:nvSpPr>
            <p:spPr bwMode="auto">
              <a:xfrm>
                <a:off x="3992220" y="1830388"/>
                <a:ext cx="3487737" cy="3487737"/>
              </a:xfrm>
              <a:prstGeom prst="ellipse">
                <a:avLst/>
              </a:pr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6" name="任意多边形 119"/>
              <p:cNvSpPr/>
              <p:nvPr/>
            </p:nvSpPr>
            <p:spPr bwMode="auto">
              <a:xfrm>
                <a:off x="4512223" y="4162974"/>
                <a:ext cx="2447731" cy="1155151"/>
              </a:xfrm>
              <a:custGeom>
                <a:avLst/>
                <a:gdLst>
                  <a:gd name="T0" fmla="*/ 175 w 449"/>
                  <a:gd name="T1" fmla="*/ 0 h 212"/>
                  <a:gd name="T2" fmla="*/ 19 w 449"/>
                  <a:gd name="T3" fmla="*/ 86 h 212"/>
                  <a:gd name="T4" fmla="*/ 0 w 449"/>
                  <a:gd name="T5" fmla="*/ 120 h 212"/>
                  <a:gd name="T6" fmla="*/ 225 w 449"/>
                  <a:gd name="T7" fmla="*/ 212 h 212"/>
                  <a:gd name="T8" fmla="*/ 449 w 449"/>
                  <a:gd name="T9" fmla="*/ 120 h 212"/>
                  <a:gd name="T10" fmla="*/ 430 w 449"/>
                  <a:gd name="T11" fmla="*/ 86 h 212"/>
                  <a:gd name="T12" fmla="*/ 275 w 449"/>
                  <a:gd name="T13" fmla="*/ 1 h 212"/>
                  <a:gd name="T14" fmla="*/ 175 w 449"/>
                  <a:gd name="T15" fmla="*/ 0 h 2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212">
                    <a:moveTo>
                      <a:pt x="175" y="0"/>
                    </a:moveTo>
                    <a:cubicBezTo>
                      <a:pt x="64" y="48"/>
                      <a:pt x="32" y="74"/>
                      <a:pt x="19" y="86"/>
                    </a:cubicBezTo>
                    <a:cubicBezTo>
                      <a:pt x="11" y="92"/>
                      <a:pt x="5" y="104"/>
                      <a:pt x="0" y="120"/>
                    </a:cubicBezTo>
                    <a:cubicBezTo>
                      <a:pt x="58" y="176"/>
                      <a:pt x="137" y="212"/>
                      <a:pt x="225" y="212"/>
                    </a:cubicBezTo>
                    <a:cubicBezTo>
                      <a:pt x="312" y="212"/>
                      <a:pt x="391" y="176"/>
                      <a:pt x="449" y="120"/>
                    </a:cubicBezTo>
                    <a:cubicBezTo>
                      <a:pt x="443" y="104"/>
                      <a:pt x="438" y="92"/>
                      <a:pt x="430" y="86"/>
                    </a:cubicBezTo>
                    <a:cubicBezTo>
                      <a:pt x="417" y="74"/>
                      <a:pt x="386" y="49"/>
                      <a:pt x="275" y="1"/>
                    </a:cubicBezTo>
                    <a:lnTo>
                      <a:pt x="175" y="0"/>
                    </a:lnTo>
                    <a:close/>
                  </a:path>
                </a:pathLst>
              </a:custGeom>
              <a:solidFill>
                <a:srgbClr val="FDDCC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7" name="任意多边形 120"/>
              <p:cNvSpPr/>
              <p:nvPr/>
            </p:nvSpPr>
            <p:spPr bwMode="auto">
              <a:xfrm>
                <a:off x="4512223" y="4162974"/>
                <a:ext cx="2447731" cy="1155151"/>
              </a:xfrm>
              <a:custGeom>
                <a:avLst/>
                <a:gdLst>
                  <a:gd name="T0" fmla="*/ 175 w 449"/>
                  <a:gd name="T1" fmla="*/ 0 h 212"/>
                  <a:gd name="T2" fmla="*/ 19 w 449"/>
                  <a:gd name="T3" fmla="*/ 86 h 212"/>
                  <a:gd name="T4" fmla="*/ 0 w 449"/>
                  <a:gd name="T5" fmla="*/ 120 h 212"/>
                  <a:gd name="T6" fmla="*/ 225 w 449"/>
                  <a:gd name="T7" fmla="*/ 212 h 212"/>
                  <a:gd name="T8" fmla="*/ 449 w 449"/>
                  <a:gd name="T9" fmla="*/ 120 h 212"/>
                  <a:gd name="T10" fmla="*/ 430 w 449"/>
                  <a:gd name="T11" fmla="*/ 86 h 212"/>
                  <a:gd name="T12" fmla="*/ 275 w 449"/>
                  <a:gd name="T13" fmla="*/ 1 h 212"/>
                  <a:gd name="T14" fmla="*/ 175 w 449"/>
                  <a:gd name="T15" fmla="*/ 0 h 2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212">
                    <a:moveTo>
                      <a:pt x="175" y="0"/>
                    </a:moveTo>
                    <a:cubicBezTo>
                      <a:pt x="64" y="48"/>
                      <a:pt x="32" y="74"/>
                      <a:pt x="19" y="86"/>
                    </a:cubicBezTo>
                    <a:cubicBezTo>
                      <a:pt x="11" y="92"/>
                      <a:pt x="5" y="104"/>
                      <a:pt x="0" y="120"/>
                    </a:cubicBezTo>
                    <a:cubicBezTo>
                      <a:pt x="58" y="176"/>
                      <a:pt x="137" y="212"/>
                      <a:pt x="225" y="212"/>
                    </a:cubicBezTo>
                    <a:cubicBezTo>
                      <a:pt x="312" y="212"/>
                      <a:pt x="391" y="176"/>
                      <a:pt x="449" y="120"/>
                    </a:cubicBezTo>
                    <a:cubicBezTo>
                      <a:pt x="443" y="104"/>
                      <a:pt x="438" y="92"/>
                      <a:pt x="430" y="86"/>
                    </a:cubicBezTo>
                    <a:cubicBezTo>
                      <a:pt x="417" y="74"/>
                      <a:pt x="386" y="49"/>
                      <a:pt x="275" y="1"/>
                    </a:cubicBezTo>
                    <a:lnTo>
                      <a:pt x="175" y="0"/>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8" name="任意多边形 121"/>
              <p:cNvSpPr/>
              <p:nvPr/>
            </p:nvSpPr>
            <p:spPr bwMode="auto">
              <a:xfrm>
                <a:off x="5411086" y="3795258"/>
                <a:ext cx="650005" cy="702006"/>
              </a:xfrm>
              <a:custGeom>
                <a:avLst/>
                <a:gdLst>
                  <a:gd name="T0" fmla="*/ 119 w 119"/>
                  <a:gd name="T1" fmla="*/ 0 h 128"/>
                  <a:gd name="T2" fmla="*/ 0 w 119"/>
                  <a:gd name="T3" fmla="*/ 0 h 128"/>
                  <a:gd name="T4" fmla="*/ 2 w 119"/>
                  <a:gd name="T5" fmla="*/ 102 h 128"/>
                  <a:gd name="T6" fmla="*/ 60 w 119"/>
                  <a:gd name="T7" fmla="*/ 128 h 128"/>
                  <a:gd name="T8" fmla="*/ 117 w 119"/>
                  <a:gd name="T9" fmla="*/ 102 h 128"/>
                  <a:gd name="T10" fmla="*/ 119 w 119"/>
                  <a:gd name="T11" fmla="*/ 0 h 128"/>
                </a:gdLst>
                <a:ahLst/>
                <a:cxnLst>
                  <a:cxn ang="0">
                    <a:pos x="T0" y="T1"/>
                  </a:cxn>
                  <a:cxn ang="0">
                    <a:pos x="T2" y="T3"/>
                  </a:cxn>
                  <a:cxn ang="0">
                    <a:pos x="T4" y="T5"/>
                  </a:cxn>
                  <a:cxn ang="0">
                    <a:pos x="T6" y="T7"/>
                  </a:cxn>
                  <a:cxn ang="0">
                    <a:pos x="T8" y="T9"/>
                  </a:cxn>
                  <a:cxn ang="0">
                    <a:pos x="T10" y="T11"/>
                  </a:cxn>
                </a:cxnLst>
                <a:rect l="0" t="0" r="r" b="b"/>
                <a:pathLst>
                  <a:path w="119" h="128">
                    <a:moveTo>
                      <a:pt x="119" y="0"/>
                    </a:moveTo>
                    <a:cubicBezTo>
                      <a:pt x="0" y="0"/>
                      <a:pt x="0" y="0"/>
                      <a:pt x="0" y="0"/>
                    </a:cubicBezTo>
                    <a:cubicBezTo>
                      <a:pt x="19" y="71"/>
                      <a:pt x="2" y="102"/>
                      <a:pt x="2" y="102"/>
                    </a:cubicBezTo>
                    <a:cubicBezTo>
                      <a:pt x="2" y="102"/>
                      <a:pt x="28" y="128"/>
                      <a:pt x="60" y="128"/>
                    </a:cubicBezTo>
                    <a:cubicBezTo>
                      <a:pt x="91" y="128"/>
                      <a:pt x="117" y="102"/>
                      <a:pt x="117" y="102"/>
                    </a:cubicBezTo>
                    <a:cubicBezTo>
                      <a:pt x="117" y="102"/>
                      <a:pt x="100" y="71"/>
                      <a:pt x="119" y="0"/>
                    </a:cubicBezTo>
                    <a:close/>
                  </a:path>
                </a:pathLst>
              </a:custGeom>
              <a:solidFill>
                <a:srgbClr val="F0B97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9" name="任意多边形 122"/>
              <p:cNvSpPr/>
              <p:nvPr/>
            </p:nvSpPr>
            <p:spPr bwMode="auto">
              <a:xfrm>
                <a:off x="5028513" y="2580678"/>
                <a:ext cx="1415153" cy="1574867"/>
              </a:xfrm>
              <a:custGeom>
                <a:avLst/>
                <a:gdLst>
                  <a:gd name="T0" fmla="*/ 26 w 259"/>
                  <a:gd name="T1" fmla="*/ 119 h 289"/>
                  <a:gd name="T2" fmla="*/ 41 w 259"/>
                  <a:gd name="T3" fmla="*/ 180 h 289"/>
                  <a:gd name="T4" fmla="*/ 51 w 259"/>
                  <a:gd name="T5" fmla="*/ 210 h 289"/>
                  <a:gd name="T6" fmla="*/ 101 w 259"/>
                  <a:gd name="T7" fmla="*/ 281 h 289"/>
                  <a:gd name="T8" fmla="*/ 157 w 259"/>
                  <a:gd name="T9" fmla="*/ 282 h 289"/>
                  <a:gd name="T10" fmla="*/ 208 w 259"/>
                  <a:gd name="T11" fmla="*/ 210 h 289"/>
                  <a:gd name="T12" fmla="*/ 218 w 259"/>
                  <a:gd name="T13" fmla="*/ 180 h 289"/>
                  <a:gd name="T14" fmla="*/ 233 w 259"/>
                  <a:gd name="T15" fmla="*/ 119 h 289"/>
                  <a:gd name="T16" fmla="*/ 130 w 259"/>
                  <a:gd name="T17" fmla="*/ 0 h 289"/>
                  <a:gd name="T18" fmla="*/ 26 w 259"/>
                  <a:gd name="T19" fmla="*/ 11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9" h="289">
                    <a:moveTo>
                      <a:pt x="26" y="119"/>
                    </a:moveTo>
                    <a:cubicBezTo>
                      <a:pt x="0" y="114"/>
                      <a:pt x="22" y="192"/>
                      <a:pt x="41" y="180"/>
                    </a:cubicBezTo>
                    <a:cubicBezTo>
                      <a:pt x="51" y="210"/>
                      <a:pt x="51" y="210"/>
                      <a:pt x="51" y="210"/>
                    </a:cubicBezTo>
                    <a:cubicBezTo>
                      <a:pt x="61" y="238"/>
                      <a:pt x="84" y="262"/>
                      <a:pt x="101" y="281"/>
                    </a:cubicBezTo>
                    <a:cubicBezTo>
                      <a:pt x="108" y="289"/>
                      <a:pt x="150" y="289"/>
                      <a:pt x="157" y="282"/>
                    </a:cubicBezTo>
                    <a:cubicBezTo>
                      <a:pt x="177" y="261"/>
                      <a:pt x="200" y="238"/>
                      <a:pt x="208" y="210"/>
                    </a:cubicBezTo>
                    <a:cubicBezTo>
                      <a:pt x="218" y="180"/>
                      <a:pt x="218" y="180"/>
                      <a:pt x="218" y="180"/>
                    </a:cubicBezTo>
                    <a:cubicBezTo>
                      <a:pt x="237" y="192"/>
                      <a:pt x="259" y="114"/>
                      <a:pt x="233" y="119"/>
                    </a:cubicBezTo>
                    <a:cubicBezTo>
                      <a:pt x="235" y="59"/>
                      <a:pt x="192" y="0"/>
                      <a:pt x="130" y="0"/>
                    </a:cubicBezTo>
                    <a:cubicBezTo>
                      <a:pt x="67" y="0"/>
                      <a:pt x="24" y="59"/>
                      <a:pt x="26" y="119"/>
                    </a:cubicBezTo>
                    <a:close/>
                  </a:path>
                </a:pathLst>
              </a:custGeom>
              <a:solidFill>
                <a:srgbClr val="FED19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0" name="矩形 49"/>
              <p:cNvSpPr/>
              <p:nvPr/>
            </p:nvSpPr>
            <p:spPr bwMode="auto">
              <a:xfrm>
                <a:off x="6157663" y="3884402"/>
                <a:ext cx="3715" cy="37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1" name="任意多边形 124"/>
              <p:cNvSpPr/>
              <p:nvPr/>
            </p:nvSpPr>
            <p:spPr bwMode="auto">
              <a:xfrm>
                <a:off x="6072233" y="3873258"/>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2" name="任意多边形 125"/>
              <p:cNvSpPr/>
              <p:nvPr/>
            </p:nvSpPr>
            <p:spPr bwMode="auto">
              <a:xfrm>
                <a:off x="5329371" y="4452690"/>
                <a:ext cx="768863" cy="865435"/>
              </a:xfrm>
              <a:custGeom>
                <a:avLst/>
                <a:gdLst>
                  <a:gd name="T0" fmla="*/ 75 w 141"/>
                  <a:gd name="T1" fmla="*/ 0 h 159"/>
                  <a:gd name="T2" fmla="*/ 0 w 141"/>
                  <a:gd name="T3" fmla="*/ 22 h 159"/>
                  <a:gd name="T4" fmla="*/ 25 w 141"/>
                  <a:gd name="T5" fmla="*/ 155 h 159"/>
                  <a:gd name="T6" fmla="*/ 75 w 141"/>
                  <a:gd name="T7" fmla="*/ 159 h 159"/>
                  <a:gd name="T8" fmla="*/ 131 w 141"/>
                  <a:gd name="T9" fmla="*/ 154 h 159"/>
                  <a:gd name="T10" fmla="*/ 141 w 141"/>
                  <a:gd name="T11" fmla="*/ 22 h 159"/>
                  <a:gd name="T12" fmla="*/ 75 w 141"/>
                  <a:gd name="T13" fmla="*/ 0 h 159"/>
                </a:gdLst>
                <a:ahLst/>
                <a:cxnLst>
                  <a:cxn ang="0">
                    <a:pos x="T0" y="T1"/>
                  </a:cxn>
                  <a:cxn ang="0">
                    <a:pos x="T2" y="T3"/>
                  </a:cxn>
                  <a:cxn ang="0">
                    <a:pos x="T4" y="T5"/>
                  </a:cxn>
                  <a:cxn ang="0">
                    <a:pos x="T6" y="T7"/>
                  </a:cxn>
                  <a:cxn ang="0">
                    <a:pos x="T8" y="T9"/>
                  </a:cxn>
                  <a:cxn ang="0">
                    <a:pos x="T10" y="T11"/>
                  </a:cxn>
                  <a:cxn ang="0">
                    <a:pos x="T12" y="T13"/>
                  </a:cxn>
                </a:cxnLst>
                <a:rect l="0" t="0" r="r" b="b"/>
                <a:pathLst>
                  <a:path w="141" h="159">
                    <a:moveTo>
                      <a:pt x="75" y="0"/>
                    </a:moveTo>
                    <a:cubicBezTo>
                      <a:pt x="75" y="0"/>
                      <a:pt x="0" y="17"/>
                      <a:pt x="0" y="22"/>
                    </a:cubicBezTo>
                    <a:cubicBezTo>
                      <a:pt x="0" y="25"/>
                      <a:pt x="18" y="115"/>
                      <a:pt x="25" y="155"/>
                    </a:cubicBezTo>
                    <a:cubicBezTo>
                      <a:pt x="41" y="157"/>
                      <a:pt x="58" y="159"/>
                      <a:pt x="75" y="159"/>
                    </a:cubicBezTo>
                    <a:cubicBezTo>
                      <a:pt x="94" y="159"/>
                      <a:pt x="113" y="157"/>
                      <a:pt x="131" y="154"/>
                    </a:cubicBezTo>
                    <a:cubicBezTo>
                      <a:pt x="141" y="22"/>
                      <a:pt x="141" y="22"/>
                      <a:pt x="141" y="22"/>
                    </a:cubicBezTo>
                    <a:lnTo>
                      <a:pt x="75" y="0"/>
                    </a:lnTo>
                    <a:close/>
                  </a:path>
                </a:pathLst>
              </a:custGeom>
              <a:solidFill>
                <a:srgbClr val="E5E6E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3" name="任意多边形 126"/>
              <p:cNvSpPr/>
              <p:nvPr/>
            </p:nvSpPr>
            <p:spPr bwMode="auto">
              <a:xfrm>
                <a:off x="5061941" y="4174118"/>
                <a:ext cx="501433" cy="1132865"/>
              </a:xfrm>
              <a:custGeom>
                <a:avLst/>
                <a:gdLst>
                  <a:gd name="T0" fmla="*/ 70 w 92"/>
                  <a:gd name="T1" fmla="*/ 0 h 208"/>
                  <a:gd name="T2" fmla="*/ 70 w 92"/>
                  <a:gd name="T3" fmla="*/ 24 h 208"/>
                  <a:gd name="T4" fmla="*/ 92 w 92"/>
                  <a:gd name="T5" fmla="*/ 208 h 208"/>
                  <a:gd name="T6" fmla="*/ 41 w 92"/>
                  <a:gd name="T7" fmla="*/ 199 h 208"/>
                  <a:gd name="T8" fmla="*/ 9 w 92"/>
                  <a:gd name="T9" fmla="*/ 135 h 208"/>
                  <a:gd name="T10" fmla="*/ 51 w 92"/>
                  <a:gd name="T11" fmla="*/ 107 h 208"/>
                  <a:gd name="T12" fmla="*/ 0 w 92"/>
                  <a:gd name="T13" fmla="*/ 83 h 208"/>
                  <a:gd name="T14" fmla="*/ 47 w 92"/>
                  <a:gd name="T15" fmla="*/ 10 h 208"/>
                  <a:gd name="T16" fmla="*/ 70 w 92"/>
                  <a:gd name="T17"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208">
                    <a:moveTo>
                      <a:pt x="70" y="0"/>
                    </a:moveTo>
                    <a:cubicBezTo>
                      <a:pt x="70" y="24"/>
                      <a:pt x="70" y="24"/>
                      <a:pt x="70" y="24"/>
                    </a:cubicBezTo>
                    <a:cubicBezTo>
                      <a:pt x="92" y="208"/>
                      <a:pt x="92" y="208"/>
                      <a:pt x="92" y="208"/>
                    </a:cubicBezTo>
                    <a:cubicBezTo>
                      <a:pt x="74" y="206"/>
                      <a:pt x="57" y="203"/>
                      <a:pt x="41" y="199"/>
                    </a:cubicBezTo>
                    <a:cubicBezTo>
                      <a:pt x="9" y="135"/>
                      <a:pt x="9" y="135"/>
                      <a:pt x="9" y="135"/>
                    </a:cubicBezTo>
                    <a:cubicBezTo>
                      <a:pt x="51" y="107"/>
                      <a:pt x="51" y="107"/>
                      <a:pt x="51" y="107"/>
                    </a:cubicBezTo>
                    <a:cubicBezTo>
                      <a:pt x="0" y="83"/>
                      <a:pt x="0" y="83"/>
                      <a:pt x="0" y="83"/>
                    </a:cubicBezTo>
                    <a:cubicBezTo>
                      <a:pt x="47" y="10"/>
                      <a:pt x="47" y="10"/>
                      <a:pt x="47" y="10"/>
                    </a:cubicBezTo>
                    <a:lnTo>
                      <a:pt x="70" y="0"/>
                    </a:lnTo>
                    <a:close/>
                  </a:path>
                </a:pathLst>
              </a:custGeom>
              <a:solidFill>
                <a:srgbClr val="1918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4" name="任意多边形 127"/>
              <p:cNvSpPr/>
              <p:nvPr/>
            </p:nvSpPr>
            <p:spPr bwMode="auto">
              <a:xfrm>
                <a:off x="5908803" y="4174118"/>
                <a:ext cx="501433" cy="1132865"/>
              </a:xfrm>
              <a:custGeom>
                <a:avLst/>
                <a:gdLst>
                  <a:gd name="T0" fmla="*/ 22 w 92"/>
                  <a:gd name="T1" fmla="*/ 0 h 208"/>
                  <a:gd name="T2" fmla="*/ 22 w 92"/>
                  <a:gd name="T3" fmla="*/ 24 h 208"/>
                  <a:gd name="T4" fmla="*/ 0 w 92"/>
                  <a:gd name="T5" fmla="*/ 208 h 208"/>
                  <a:gd name="T6" fmla="*/ 51 w 92"/>
                  <a:gd name="T7" fmla="*/ 199 h 208"/>
                  <a:gd name="T8" fmla="*/ 83 w 92"/>
                  <a:gd name="T9" fmla="*/ 135 h 208"/>
                  <a:gd name="T10" fmla="*/ 40 w 92"/>
                  <a:gd name="T11" fmla="*/ 107 h 208"/>
                  <a:gd name="T12" fmla="*/ 92 w 92"/>
                  <a:gd name="T13" fmla="*/ 83 h 208"/>
                  <a:gd name="T14" fmla="*/ 50 w 92"/>
                  <a:gd name="T15" fmla="*/ 12 h 208"/>
                  <a:gd name="T16" fmla="*/ 22 w 92"/>
                  <a:gd name="T17"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208">
                    <a:moveTo>
                      <a:pt x="22" y="0"/>
                    </a:moveTo>
                    <a:cubicBezTo>
                      <a:pt x="22" y="24"/>
                      <a:pt x="22" y="24"/>
                      <a:pt x="22" y="24"/>
                    </a:cubicBezTo>
                    <a:cubicBezTo>
                      <a:pt x="0" y="208"/>
                      <a:pt x="0" y="208"/>
                      <a:pt x="0" y="208"/>
                    </a:cubicBezTo>
                    <a:cubicBezTo>
                      <a:pt x="18" y="207"/>
                      <a:pt x="34" y="203"/>
                      <a:pt x="51" y="199"/>
                    </a:cubicBezTo>
                    <a:cubicBezTo>
                      <a:pt x="83" y="135"/>
                      <a:pt x="83" y="135"/>
                      <a:pt x="83" y="135"/>
                    </a:cubicBezTo>
                    <a:cubicBezTo>
                      <a:pt x="40" y="107"/>
                      <a:pt x="40" y="107"/>
                      <a:pt x="40" y="107"/>
                    </a:cubicBezTo>
                    <a:cubicBezTo>
                      <a:pt x="92" y="83"/>
                      <a:pt x="92" y="83"/>
                      <a:pt x="92" y="83"/>
                    </a:cubicBezTo>
                    <a:cubicBezTo>
                      <a:pt x="50" y="12"/>
                      <a:pt x="50" y="12"/>
                      <a:pt x="50" y="12"/>
                    </a:cubicBezTo>
                    <a:lnTo>
                      <a:pt x="22" y="0"/>
                    </a:lnTo>
                    <a:close/>
                  </a:path>
                </a:pathLst>
              </a:custGeom>
              <a:solidFill>
                <a:srgbClr val="1918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5" name="任意多边形 128"/>
              <p:cNvSpPr/>
              <p:nvPr/>
            </p:nvSpPr>
            <p:spPr bwMode="auto">
              <a:xfrm>
                <a:off x="5607945" y="4452690"/>
                <a:ext cx="248860" cy="237716"/>
              </a:xfrm>
              <a:custGeom>
                <a:avLst/>
                <a:gdLst>
                  <a:gd name="T0" fmla="*/ 0 w 46"/>
                  <a:gd name="T1" fmla="*/ 24 h 44"/>
                  <a:gd name="T2" fmla="*/ 14 w 46"/>
                  <a:gd name="T3" fmla="*/ 44 h 44"/>
                  <a:gd name="T4" fmla="*/ 33 w 46"/>
                  <a:gd name="T5" fmla="*/ 44 h 44"/>
                  <a:gd name="T6" fmla="*/ 46 w 46"/>
                  <a:gd name="T7" fmla="*/ 24 h 44"/>
                  <a:gd name="T8" fmla="*/ 24 w 46"/>
                  <a:gd name="T9" fmla="*/ 0 h 44"/>
                  <a:gd name="T10" fmla="*/ 0 w 46"/>
                  <a:gd name="T11" fmla="*/ 24 h 44"/>
                </a:gdLst>
                <a:ahLst/>
                <a:cxnLst>
                  <a:cxn ang="0">
                    <a:pos x="T0" y="T1"/>
                  </a:cxn>
                  <a:cxn ang="0">
                    <a:pos x="T2" y="T3"/>
                  </a:cxn>
                  <a:cxn ang="0">
                    <a:pos x="T4" y="T5"/>
                  </a:cxn>
                  <a:cxn ang="0">
                    <a:pos x="T6" y="T7"/>
                  </a:cxn>
                  <a:cxn ang="0">
                    <a:pos x="T8" y="T9"/>
                  </a:cxn>
                  <a:cxn ang="0">
                    <a:pos x="T10" y="T11"/>
                  </a:cxn>
                </a:cxnLst>
                <a:rect l="0" t="0" r="r" b="b"/>
                <a:pathLst>
                  <a:path w="46" h="44">
                    <a:moveTo>
                      <a:pt x="0" y="24"/>
                    </a:moveTo>
                    <a:cubicBezTo>
                      <a:pt x="14" y="44"/>
                      <a:pt x="14" y="44"/>
                      <a:pt x="14" y="44"/>
                    </a:cubicBezTo>
                    <a:cubicBezTo>
                      <a:pt x="20" y="44"/>
                      <a:pt x="27" y="44"/>
                      <a:pt x="33" y="44"/>
                    </a:cubicBezTo>
                    <a:cubicBezTo>
                      <a:pt x="46" y="24"/>
                      <a:pt x="46" y="24"/>
                      <a:pt x="46" y="24"/>
                    </a:cubicBezTo>
                    <a:cubicBezTo>
                      <a:pt x="24" y="0"/>
                      <a:pt x="24" y="0"/>
                      <a:pt x="24" y="0"/>
                    </a:cubicBezTo>
                    <a:lnTo>
                      <a:pt x="0" y="24"/>
                    </a:lnTo>
                    <a:close/>
                  </a:path>
                </a:pathLst>
              </a:custGeom>
              <a:solidFill>
                <a:srgbClr val="28A7D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6" name="任意多边形 129"/>
              <p:cNvSpPr/>
              <p:nvPr/>
            </p:nvSpPr>
            <p:spPr bwMode="auto">
              <a:xfrm>
                <a:off x="5589373" y="4690406"/>
                <a:ext cx="289716" cy="627719"/>
              </a:xfrm>
              <a:custGeom>
                <a:avLst/>
                <a:gdLst>
                  <a:gd name="T0" fmla="*/ 17 w 53"/>
                  <a:gd name="T1" fmla="*/ 0 h 115"/>
                  <a:gd name="T2" fmla="*/ 0 w 53"/>
                  <a:gd name="T3" fmla="*/ 113 h 115"/>
                  <a:gd name="T4" fmla="*/ 27 w 53"/>
                  <a:gd name="T5" fmla="*/ 115 h 115"/>
                  <a:gd name="T6" fmla="*/ 53 w 53"/>
                  <a:gd name="T7" fmla="*/ 113 h 115"/>
                  <a:gd name="T8" fmla="*/ 36 w 53"/>
                  <a:gd name="T9" fmla="*/ 0 h 115"/>
                  <a:gd name="T10" fmla="*/ 17 w 53"/>
                  <a:gd name="T11" fmla="*/ 0 h 115"/>
                </a:gdLst>
                <a:ahLst/>
                <a:cxnLst>
                  <a:cxn ang="0">
                    <a:pos x="T0" y="T1"/>
                  </a:cxn>
                  <a:cxn ang="0">
                    <a:pos x="T2" y="T3"/>
                  </a:cxn>
                  <a:cxn ang="0">
                    <a:pos x="T4" y="T5"/>
                  </a:cxn>
                  <a:cxn ang="0">
                    <a:pos x="T6" y="T7"/>
                  </a:cxn>
                  <a:cxn ang="0">
                    <a:pos x="T8" y="T9"/>
                  </a:cxn>
                  <a:cxn ang="0">
                    <a:pos x="T10" y="T11"/>
                  </a:cxn>
                </a:cxnLst>
                <a:rect l="0" t="0" r="r" b="b"/>
                <a:pathLst>
                  <a:path w="53" h="115">
                    <a:moveTo>
                      <a:pt x="17" y="0"/>
                    </a:moveTo>
                    <a:cubicBezTo>
                      <a:pt x="0" y="113"/>
                      <a:pt x="0" y="113"/>
                      <a:pt x="0" y="113"/>
                    </a:cubicBezTo>
                    <a:cubicBezTo>
                      <a:pt x="9" y="114"/>
                      <a:pt x="18" y="115"/>
                      <a:pt x="27" y="115"/>
                    </a:cubicBezTo>
                    <a:cubicBezTo>
                      <a:pt x="35" y="115"/>
                      <a:pt x="44" y="114"/>
                      <a:pt x="53" y="113"/>
                    </a:cubicBezTo>
                    <a:cubicBezTo>
                      <a:pt x="36" y="0"/>
                      <a:pt x="36" y="0"/>
                      <a:pt x="36" y="0"/>
                    </a:cubicBezTo>
                    <a:lnTo>
                      <a:pt x="17" y="0"/>
                    </a:lnTo>
                    <a:close/>
                  </a:path>
                </a:pathLst>
              </a:custGeom>
              <a:solidFill>
                <a:srgbClr val="28A7D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 name="任意多边形 130"/>
              <p:cNvSpPr/>
              <p:nvPr/>
            </p:nvSpPr>
            <p:spPr bwMode="auto">
              <a:xfrm>
                <a:off x="5414801" y="4103545"/>
                <a:ext cx="323146" cy="594289"/>
              </a:xfrm>
              <a:custGeom>
                <a:avLst/>
                <a:gdLst>
                  <a:gd name="T0" fmla="*/ 12 w 87"/>
                  <a:gd name="T1" fmla="*/ 0 h 160"/>
                  <a:gd name="T2" fmla="*/ 0 w 87"/>
                  <a:gd name="T3" fmla="*/ 22 h 160"/>
                  <a:gd name="T4" fmla="*/ 19 w 87"/>
                  <a:gd name="T5" fmla="*/ 160 h 160"/>
                  <a:gd name="T6" fmla="*/ 87 w 87"/>
                  <a:gd name="T7" fmla="*/ 94 h 160"/>
                  <a:gd name="T8" fmla="*/ 12 w 87"/>
                  <a:gd name="T9" fmla="*/ 0 h 160"/>
                </a:gdLst>
                <a:ahLst/>
                <a:cxnLst>
                  <a:cxn ang="0">
                    <a:pos x="T0" y="T1"/>
                  </a:cxn>
                  <a:cxn ang="0">
                    <a:pos x="T2" y="T3"/>
                  </a:cxn>
                  <a:cxn ang="0">
                    <a:pos x="T4" y="T5"/>
                  </a:cxn>
                  <a:cxn ang="0">
                    <a:pos x="T6" y="T7"/>
                  </a:cxn>
                  <a:cxn ang="0">
                    <a:pos x="T8" y="T9"/>
                  </a:cxn>
                </a:cxnLst>
                <a:rect l="0" t="0" r="r" b="b"/>
                <a:pathLst>
                  <a:path w="87" h="160">
                    <a:moveTo>
                      <a:pt x="12" y="0"/>
                    </a:moveTo>
                    <a:lnTo>
                      <a:pt x="0" y="22"/>
                    </a:lnTo>
                    <a:lnTo>
                      <a:pt x="19" y="160"/>
                    </a:lnTo>
                    <a:lnTo>
                      <a:pt x="87" y="94"/>
                    </a:lnTo>
                    <a:lnTo>
                      <a:pt x="12"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 name="任意多边形 131"/>
              <p:cNvSpPr/>
              <p:nvPr/>
            </p:nvSpPr>
            <p:spPr bwMode="auto">
              <a:xfrm>
                <a:off x="5737945" y="4103545"/>
                <a:ext cx="312002" cy="598005"/>
              </a:xfrm>
              <a:custGeom>
                <a:avLst/>
                <a:gdLst>
                  <a:gd name="T0" fmla="*/ 74 w 84"/>
                  <a:gd name="T1" fmla="*/ 0 h 161"/>
                  <a:gd name="T2" fmla="*/ 84 w 84"/>
                  <a:gd name="T3" fmla="*/ 22 h 161"/>
                  <a:gd name="T4" fmla="*/ 65 w 84"/>
                  <a:gd name="T5" fmla="*/ 161 h 161"/>
                  <a:gd name="T6" fmla="*/ 0 w 84"/>
                  <a:gd name="T7" fmla="*/ 94 h 161"/>
                  <a:gd name="T8" fmla="*/ 74 w 84"/>
                  <a:gd name="T9" fmla="*/ 0 h 161"/>
                </a:gdLst>
                <a:ahLst/>
                <a:cxnLst>
                  <a:cxn ang="0">
                    <a:pos x="T0" y="T1"/>
                  </a:cxn>
                  <a:cxn ang="0">
                    <a:pos x="T2" y="T3"/>
                  </a:cxn>
                  <a:cxn ang="0">
                    <a:pos x="T4" y="T5"/>
                  </a:cxn>
                  <a:cxn ang="0">
                    <a:pos x="T6" y="T7"/>
                  </a:cxn>
                  <a:cxn ang="0">
                    <a:pos x="T8" y="T9"/>
                  </a:cxn>
                </a:cxnLst>
                <a:rect l="0" t="0" r="r" b="b"/>
                <a:pathLst>
                  <a:path w="84" h="161">
                    <a:moveTo>
                      <a:pt x="74" y="0"/>
                    </a:moveTo>
                    <a:lnTo>
                      <a:pt x="84" y="22"/>
                    </a:lnTo>
                    <a:lnTo>
                      <a:pt x="65" y="161"/>
                    </a:lnTo>
                    <a:lnTo>
                      <a:pt x="0" y="94"/>
                    </a:lnTo>
                    <a:lnTo>
                      <a:pt x="74"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9" name="任意多边形 132"/>
              <p:cNvSpPr/>
              <p:nvPr/>
            </p:nvSpPr>
            <p:spPr bwMode="auto">
              <a:xfrm>
                <a:off x="5678516" y="4690406"/>
                <a:ext cx="115145" cy="7429"/>
              </a:xfrm>
              <a:custGeom>
                <a:avLst/>
                <a:gdLst>
                  <a:gd name="T0" fmla="*/ 31 w 31"/>
                  <a:gd name="T1" fmla="*/ 2 h 2"/>
                  <a:gd name="T2" fmla="*/ 31 w 31"/>
                  <a:gd name="T3" fmla="*/ 2 h 2"/>
                  <a:gd name="T4" fmla="*/ 29 w 31"/>
                  <a:gd name="T5" fmla="*/ 0 h 2"/>
                  <a:gd name="T6" fmla="*/ 31 w 31"/>
                  <a:gd name="T7" fmla="*/ 2 h 2"/>
                  <a:gd name="T8" fmla="*/ 0 w 31"/>
                  <a:gd name="T9" fmla="*/ 2 h 2"/>
                  <a:gd name="T10" fmla="*/ 0 w 31"/>
                  <a:gd name="T11" fmla="*/ 2 h 2"/>
                  <a:gd name="T12" fmla="*/ 1 w 31"/>
                  <a:gd name="T13" fmla="*/ 0 h 2"/>
                  <a:gd name="T14" fmla="*/ 0 w 31"/>
                  <a:gd name="T15" fmla="*/ 2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2">
                    <a:moveTo>
                      <a:pt x="31" y="2"/>
                    </a:moveTo>
                    <a:lnTo>
                      <a:pt x="31" y="2"/>
                    </a:lnTo>
                    <a:lnTo>
                      <a:pt x="29" y="0"/>
                    </a:lnTo>
                    <a:lnTo>
                      <a:pt x="31" y="2"/>
                    </a:lnTo>
                    <a:close/>
                    <a:moveTo>
                      <a:pt x="0" y="2"/>
                    </a:moveTo>
                    <a:lnTo>
                      <a:pt x="0" y="2"/>
                    </a:lnTo>
                    <a:lnTo>
                      <a:pt x="1" y="0"/>
                    </a:lnTo>
                    <a:lnTo>
                      <a:pt x="0" y="2"/>
                    </a:lnTo>
                    <a:close/>
                  </a:path>
                </a:pathLst>
              </a:custGeom>
              <a:solidFill>
                <a:srgbClr val="8FA7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61" name="任意多边形 133"/>
              <p:cNvSpPr/>
              <p:nvPr/>
            </p:nvSpPr>
            <p:spPr bwMode="auto">
              <a:xfrm>
                <a:off x="5678516" y="4690406"/>
                <a:ext cx="115145" cy="7429"/>
              </a:xfrm>
              <a:custGeom>
                <a:avLst/>
                <a:gdLst>
                  <a:gd name="T0" fmla="*/ 31 w 31"/>
                  <a:gd name="T1" fmla="*/ 2 h 2"/>
                  <a:gd name="T2" fmla="*/ 0 w 31"/>
                  <a:gd name="T3" fmla="*/ 2 h 2"/>
                  <a:gd name="T4" fmla="*/ 1 w 31"/>
                  <a:gd name="T5" fmla="*/ 0 h 2"/>
                  <a:gd name="T6" fmla="*/ 29 w 31"/>
                  <a:gd name="T7" fmla="*/ 0 h 2"/>
                  <a:gd name="T8" fmla="*/ 31 w 31"/>
                  <a:gd name="T9" fmla="*/ 2 h 2"/>
                </a:gdLst>
                <a:ahLst/>
                <a:cxnLst>
                  <a:cxn ang="0">
                    <a:pos x="T0" y="T1"/>
                  </a:cxn>
                  <a:cxn ang="0">
                    <a:pos x="T2" y="T3"/>
                  </a:cxn>
                  <a:cxn ang="0">
                    <a:pos x="T4" y="T5"/>
                  </a:cxn>
                  <a:cxn ang="0">
                    <a:pos x="T6" y="T7"/>
                  </a:cxn>
                  <a:cxn ang="0">
                    <a:pos x="T8" y="T9"/>
                  </a:cxn>
                </a:cxnLst>
                <a:rect l="0" t="0" r="r" b="b"/>
                <a:pathLst>
                  <a:path w="31" h="2">
                    <a:moveTo>
                      <a:pt x="31" y="2"/>
                    </a:moveTo>
                    <a:lnTo>
                      <a:pt x="0" y="2"/>
                    </a:lnTo>
                    <a:lnTo>
                      <a:pt x="1" y="0"/>
                    </a:lnTo>
                    <a:lnTo>
                      <a:pt x="29" y="0"/>
                    </a:lnTo>
                    <a:lnTo>
                      <a:pt x="31" y="2"/>
                    </a:lnTo>
                    <a:close/>
                  </a:path>
                </a:pathLst>
              </a:custGeom>
              <a:solidFill>
                <a:srgbClr val="1C96C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62" name="任意多边形 134"/>
              <p:cNvSpPr/>
              <p:nvPr/>
            </p:nvSpPr>
            <p:spPr bwMode="auto">
              <a:xfrm>
                <a:off x="5054512" y="2376393"/>
                <a:ext cx="1333438" cy="1196007"/>
              </a:xfrm>
              <a:custGeom>
                <a:avLst/>
                <a:gdLst>
                  <a:gd name="T0" fmla="*/ 37 w 244"/>
                  <a:gd name="T1" fmla="*/ 219 h 219"/>
                  <a:gd name="T2" fmla="*/ 19 w 244"/>
                  <a:gd name="T3" fmla="*/ 113 h 219"/>
                  <a:gd name="T4" fmla="*/ 26 w 244"/>
                  <a:gd name="T5" fmla="*/ 64 h 219"/>
                  <a:gd name="T6" fmla="*/ 71 w 244"/>
                  <a:gd name="T7" fmla="*/ 46 h 219"/>
                  <a:gd name="T8" fmla="*/ 183 w 244"/>
                  <a:gd name="T9" fmla="*/ 33 h 219"/>
                  <a:gd name="T10" fmla="*/ 168 w 244"/>
                  <a:gd name="T11" fmla="*/ 36 h 219"/>
                  <a:gd name="T12" fmla="*/ 228 w 244"/>
                  <a:gd name="T13" fmla="*/ 159 h 219"/>
                  <a:gd name="T14" fmla="*/ 214 w 244"/>
                  <a:gd name="T15" fmla="*/ 215 h 219"/>
                  <a:gd name="T16" fmla="*/ 205 w 244"/>
                  <a:gd name="T17" fmla="*/ 149 h 219"/>
                  <a:gd name="T18" fmla="*/ 193 w 244"/>
                  <a:gd name="T19" fmla="*/ 105 h 219"/>
                  <a:gd name="T20" fmla="*/ 165 w 244"/>
                  <a:gd name="T21" fmla="*/ 103 h 219"/>
                  <a:gd name="T22" fmla="*/ 95 w 244"/>
                  <a:gd name="T23" fmla="*/ 102 h 219"/>
                  <a:gd name="T24" fmla="*/ 60 w 244"/>
                  <a:gd name="T25" fmla="*/ 105 h 219"/>
                  <a:gd name="T26" fmla="*/ 54 w 244"/>
                  <a:gd name="T27" fmla="*/ 151 h 219"/>
                  <a:gd name="T28" fmla="*/ 37 w 244"/>
                  <a:gd name="T29" fmla="*/ 219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19">
                    <a:moveTo>
                      <a:pt x="37" y="219"/>
                    </a:moveTo>
                    <a:cubicBezTo>
                      <a:pt x="28" y="188"/>
                      <a:pt x="10" y="130"/>
                      <a:pt x="19" y="113"/>
                    </a:cubicBezTo>
                    <a:cubicBezTo>
                      <a:pt x="19" y="113"/>
                      <a:pt x="0" y="88"/>
                      <a:pt x="26" y="64"/>
                    </a:cubicBezTo>
                    <a:cubicBezTo>
                      <a:pt x="26" y="64"/>
                      <a:pt x="30" y="25"/>
                      <a:pt x="71" y="46"/>
                    </a:cubicBezTo>
                    <a:cubicBezTo>
                      <a:pt x="71" y="46"/>
                      <a:pt x="88" y="0"/>
                      <a:pt x="183" y="33"/>
                    </a:cubicBezTo>
                    <a:cubicBezTo>
                      <a:pt x="168" y="36"/>
                      <a:pt x="168" y="36"/>
                      <a:pt x="168" y="36"/>
                    </a:cubicBezTo>
                    <a:cubicBezTo>
                      <a:pt x="241" y="76"/>
                      <a:pt x="244" y="77"/>
                      <a:pt x="228" y="159"/>
                    </a:cubicBezTo>
                    <a:cubicBezTo>
                      <a:pt x="224" y="175"/>
                      <a:pt x="218" y="192"/>
                      <a:pt x="214" y="215"/>
                    </a:cubicBezTo>
                    <a:cubicBezTo>
                      <a:pt x="214" y="215"/>
                      <a:pt x="220" y="167"/>
                      <a:pt x="205" y="149"/>
                    </a:cubicBezTo>
                    <a:cubicBezTo>
                      <a:pt x="205" y="149"/>
                      <a:pt x="217" y="117"/>
                      <a:pt x="193" y="105"/>
                    </a:cubicBezTo>
                    <a:cubicBezTo>
                      <a:pt x="193" y="105"/>
                      <a:pt x="178" y="93"/>
                      <a:pt x="165" y="103"/>
                    </a:cubicBezTo>
                    <a:cubicBezTo>
                      <a:pt x="165" y="103"/>
                      <a:pt x="121" y="114"/>
                      <a:pt x="95" y="102"/>
                    </a:cubicBezTo>
                    <a:cubicBezTo>
                      <a:pt x="95" y="102"/>
                      <a:pt x="71" y="91"/>
                      <a:pt x="60" y="105"/>
                    </a:cubicBezTo>
                    <a:cubicBezTo>
                      <a:pt x="60" y="105"/>
                      <a:pt x="44" y="119"/>
                      <a:pt x="54" y="151"/>
                    </a:cubicBezTo>
                    <a:cubicBezTo>
                      <a:pt x="54" y="151"/>
                      <a:pt x="34" y="155"/>
                      <a:pt x="37" y="219"/>
                    </a:cubicBezTo>
                    <a:close/>
                  </a:path>
                </a:pathLst>
              </a:custGeom>
              <a:solidFill>
                <a:srgbClr val="1F120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64" name="任意多边形 135"/>
              <p:cNvSpPr/>
              <p:nvPr/>
            </p:nvSpPr>
            <p:spPr bwMode="auto">
              <a:xfrm>
                <a:off x="5507658" y="3743258"/>
                <a:ext cx="453146" cy="63144"/>
              </a:xfrm>
              <a:custGeom>
                <a:avLst/>
                <a:gdLst>
                  <a:gd name="T0" fmla="*/ 44 w 83"/>
                  <a:gd name="T1" fmla="*/ 0 h 12"/>
                  <a:gd name="T2" fmla="*/ 42 w 83"/>
                  <a:gd name="T3" fmla="*/ 2 h 12"/>
                  <a:gd name="T4" fmla="*/ 39 w 83"/>
                  <a:gd name="T5" fmla="*/ 0 h 12"/>
                  <a:gd name="T6" fmla="*/ 0 w 83"/>
                  <a:gd name="T7" fmla="*/ 12 h 12"/>
                  <a:gd name="T8" fmla="*/ 38 w 83"/>
                  <a:gd name="T9" fmla="*/ 11 h 12"/>
                  <a:gd name="T10" fmla="*/ 42 w 83"/>
                  <a:gd name="T11" fmla="*/ 6 h 12"/>
                  <a:gd name="T12" fmla="*/ 45 w 83"/>
                  <a:gd name="T13" fmla="*/ 11 h 12"/>
                  <a:gd name="T14" fmla="*/ 83 w 83"/>
                  <a:gd name="T15" fmla="*/ 12 h 12"/>
                  <a:gd name="T16" fmla="*/ 44 w 83"/>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 h="12">
                    <a:moveTo>
                      <a:pt x="44" y="0"/>
                    </a:moveTo>
                    <a:cubicBezTo>
                      <a:pt x="43" y="0"/>
                      <a:pt x="42" y="2"/>
                      <a:pt x="42" y="2"/>
                    </a:cubicBezTo>
                    <a:cubicBezTo>
                      <a:pt x="42" y="2"/>
                      <a:pt x="41" y="0"/>
                      <a:pt x="39" y="0"/>
                    </a:cubicBezTo>
                    <a:cubicBezTo>
                      <a:pt x="33" y="0"/>
                      <a:pt x="7" y="3"/>
                      <a:pt x="0" y="12"/>
                    </a:cubicBezTo>
                    <a:cubicBezTo>
                      <a:pt x="0" y="12"/>
                      <a:pt x="36" y="11"/>
                      <a:pt x="38" y="11"/>
                    </a:cubicBezTo>
                    <a:cubicBezTo>
                      <a:pt x="40" y="10"/>
                      <a:pt x="42" y="6"/>
                      <a:pt x="42" y="6"/>
                    </a:cubicBezTo>
                    <a:cubicBezTo>
                      <a:pt x="42" y="6"/>
                      <a:pt x="43" y="10"/>
                      <a:pt x="45" y="11"/>
                    </a:cubicBezTo>
                    <a:cubicBezTo>
                      <a:pt x="47" y="11"/>
                      <a:pt x="83" y="12"/>
                      <a:pt x="83" y="12"/>
                    </a:cubicBezTo>
                    <a:cubicBezTo>
                      <a:pt x="76" y="3"/>
                      <a:pt x="50" y="0"/>
                      <a:pt x="44" y="0"/>
                    </a:cubicBezTo>
                    <a:close/>
                  </a:path>
                </a:pathLst>
              </a:custGeom>
              <a:solidFill>
                <a:srgbClr val="22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sp>
        <p:nvSpPr>
          <p:cNvPr id="65" name="任意多边形: 形状 25"/>
          <p:cNvSpPr/>
          <p:nvPr/>
        </p:nvSpPr>
        <p:spPr bwMode="auto">
          <a:xfrm>
            <a:off x="2188845" y="2132965"/>
            <a:ext cx="8827770" cy="1122045"/>
          </a:xfrm>
          <a:custGeom>
            <a:avLst/>
            <a:gdLst>
              <a:gd name="connsiteX0" fmla="*/ 0 w 14068703"/>
              <a:gd name="connsiteY0" fmla="*/ 961747 h 1089273"/>
              <a:gd name="connsiteX1" fmla="*/ 1301858 w 14068703"/>
              <a:gd name="connsiteY1" fmla="*/ 450303 h 1089273"/>
              <a:gd name="connsiteX2" fmla="*/ 2758698 w 14068703"/>
              <a:gd name="connsiteY2" fmla="*/ 868757 h 1089273"/>
              <a:gd name="connsiteX3" fmla="*/ 5222929 w 14068703"/>
              <a:gd name="connsiteY3" fmla="*/ 852 h 1089273"/>
              <a:gd name="connsiteX4" fmla="*/ 7640664 w 14068703"/>
              <a:gd name="connsiteY4" fmla="*/ 1054737 h 1089273"/>
              <a:gd name="connsiteX5" fmla="*/ 10352868 w 14068703"/>
              <a:gd name="connsiteY5" fmla="*/ 279821 h 1089273"/>
              <a:gd name="connsiteX6" fmla="*/ 13669505 w 14068703"/>
              <a:gd name="connsiteY6" fmla="*/ 1008242 h 1089273"/>
              <a:gd name="connsiteX7" fmla="*/ 13886481 w 14068703"/>
              <a:gd name="connsiteY7" fmla="*/ 1039238 h 1089273"/>
              <a:gd name="connsiteX0-1" fmla="*/ 0 w 14208891"/>
              <a:gd name="connsiteY0-2" fmla="*/ 961747 h 1056656"/>
              <a:gd name="connsiteX1-3" fmla="*/ 1301858 w 14208891"/>
              <a:gd name="connsiteY1-4" fmla="*/ 450303 h 1056656"/>
              <a:gd name="connsiteX2-5" fmla="*/ 2758698 w 14208891"/>
              <a:gd name="connsiteY2-6" fmla="*/ 868757 h 1056656"/>
              <a:gd name="connsiteX3-7" fmla="*/ 5222929 w 14208891"/>
              <a:gd name="connsiteY3-8" fmla="*/ 852 h 1056656"/>
              <a:gd name="connsiteX4-9" fmla="*/ 7640664 w 14208891"/>
              <a:gd name="connsiteY4-10" fmla="*/ 1054737 h 1056656"/>
              <a:gd name="connsiteX5-11" fmla="*/ 10352868 w 14208891"/>
              <a:gd name="connsiteY5-12" fmla="*/ 279821 h 1056656"/>
              <a:gd name="connsiteX6-13" fmla="*/ 13669505 w 14208891"/>
              <a:gd name="connsiteY6-14" fmla="*/ 1008242 h 1056656"/>
              <a:gd name="connsiteX7-15" fmla="*/ 14097888 w 14208891"/>
              <a:gd name="connsiteY7-16" fmla="*/ 728065 h 1056656"/>
              <a:gd name="connsiteX0-17" fmla="*/ 0 w 14097888"/>
              <a:gd name="connsiteY0-18" fmla="*/ 961747 h 1056656"/>
              <a:gd name="connsiteX1-19" fmla="*/ 1301858 w 14097888"/>
              <a:gd name="connsiteY1-20" fmla="*/ 450303 h 1056656"/>
              <a:gd name="connsiteX2-21" fmla="*/ 2758698 w 14097888"/>
              <a:gd name="connsiteY2-22" fmla="*/ 868757 h 1056656"/>
              <a:gd name="connsiteX3-23" fmla="*/ 5222929 w 14097888"/>
              <a:gd name="connsiteY3-24" fmla="*/ 852 h 1056656"/>
              <a:gd name="connsiteX4-25" fmla="*/ 7640664 w 14097888"/>
              <a:gd name="connsiteY4-26" fmla="*/ 1054737 h 1056656"/>
              <a:gd name="connsiteX5-27" fmla="*/ 10352868 w 14097888"/>
              <a:gd name="connsiteY5-28" fmla="*/ 279821 h 1056656"/>
              <a:gd name="connsiteX6-29" fmla="*/ 13669505 w 14097888"/>
              <a:gd name="connsiteY6-30" fmla="*/ 1008242 h 1056656"/>
              <a:gd name="connsiteX7-31" fmla="*/ 14097888 w 14097888"/>
              <a:gd name="connsiteY7-32" fmla="*/ 728065 h 1056656"/>
              <a:gd name="connsiteX0-33" fmla="*/ 0 w 14097888"/>
              <a:gd name="connsiteY0-34" fmla="*/ 961747 h 1056662"/>
              <a:gd name="connsiteX1-35" fmla="*/ 1301858 w 14097888"/>
              <a:gd name="connsiteY1-36" fmla="*/ 450303 h 1056662"/>
              <a:gd name="connsiteX2-37" fmla="*/ 2758698 w 14097888"/>
              <a:gd name="connsiteY2-38" fmla="*/ 868757 h 1056662"/>
              <a:gd name="connsiteX3-39" fmla="*/ 5222929 w 14097888"/>
              <a:gd name="connsiteY3-40" fmla="*/ 852 h 1056662"/>
              <a:gd name="connsiteX4-41" fmla="*/ 7640664 w 14097888"/>
              <a:gd name="connsiteY4-42" fmla="*/ 1054737 h 1056662"/>
              <a:gd name="connsiteX5-43" fmla="*/ 10352868 w 14097888"/>
              <a:gd name="connsiteY5-44" fmla="*/ 279821 h 1056662"/>
              <a:gd name="connsiteX6-45" fmla="*/ 13067806 w 14097888"/>
              <a:gd name="connsiteY6-46" fmla="*/ 991865 h 1056662"/>
              <a:gd name="connsiteX7-47" fmla="*/ 14097888 w 14097888"/>
              <a:gd name="connsiteY7-48" fmla="*/ 728065 h 1056662"/>
              <a:gd name="connsiteX0-49" fmla="*/ 0 w 14097888"/>
              <a:gd name="connsiteY0-50" fmla="*/ 961747 h 1056195"/>
              <a:gd name="connsiteX1-51" fmla="*/ 1301858 w 14097888"/>
              <a:gd name="connsiteY1-52" fmla="*/ 450303 h 1056195"/>
              <a:gd name="connsiteX2-53" fmla="*/ 2758698 w 14097888"/>
              <a:gd name="connsiteY2-54" fmla="*/ 868757 h 1056195"/>
              <a:gd name="connsiteX3-55" fmla="*/ 5222929 w 14097888"/>
              <a:gd name="connsiteY3-56" fmla="*/ 852 h 1056195"/>
              <a:gd name="connsiteX4-57" fmla="*/ 7640664 w 14097888"/>
              <a:gd name="connsiteY4-58" fmla="*/ 1054737 h 1056195"/>
              <a:gd name="connsiteX5-59" fmla="*/ 10515489 w 14097888"/>
              <a:gd name="connsiteY5-60" fmla="*/ 247067 h 1056195"/>
              <a:gd name="connsiteX6-61" fmla="*/ 13067806 w 14097888"/>
              <a:gd name="connsiteY6-62" fmla="*/ 991865 h 1056195"/>
              <a:gd name="connsiteX7-63" fmla="*/ 14097888 w 14097888"/>
              <a:gd name="connsiteY7-64" fmla="*/ 728065 h 1056195"/>
              <a:gd name="connsiteX0-65" fmla="*/ 0 w 14097888"/>
              <a:gd name="connsiteY0-66" fmla="*/ 961747 h 1055945"/>
              <a:gd name="connsiteX1-67" fmla="*/ 1301858 w 14097888"/>
              <a:gd name="connsiteY1-68" fmla="*/ 450303 h 1055945"/>
              <a:gd name="connsiteX2-69" fmla="*/ 2758698 w 14097888"/>
              <a:gd name="connsiteY2-70" fmla="*/ 868757 h 1055945"/>
              <a:gd name="connsiteX3-71" fmla="*/ 5222929 w 14097888"/>
              <a:gd name="connsiteY3-72" fmla="*/ 852 h 1055945"/>
              <a:gd name="connsiteX4-73" fmla="*/ 7640664 w 14097888"/>
              <a:gd name="connsiteY4-74" fmla="*/ 1054737 h 1055945"/>
              <a:gd name="connsiteX5-75" fmla="*/ 10515489 w 14097888"/>
              <a:gd name="connsiteY5-76" fmla="*/ 247067 h 1055945"/>
              <a:gd name="connsiteX6-77" fmla="*/ 13067806 w 14097888"/>
              <a:gd name="connsiteY6-78" fmla="*/ 991865 h 1055945"/>
              <a:gd name="connsiteX7-79" fmla="*/ 14097888 w 14097888"/>
              <a:gd name="connsiteY7-80" fmla="*/ 728065 h 10559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4097888" h="1055945">
                <a:moveTo>
                  <a:pt x="0" y="961747"/>
                </a:moveTo>
                <a:cubicBezTo>
                  <a:pt x="421037" y="713774"/>
                  <a:pt x="842075" y="465801"/>
                  <a:pt x="1301858" y="450303"/>
                </a:cubicBezTo>
                <a:cubicBezTo>
                  <a:pt x="1761641" y="434805"/>
                  <a:pt x="2105186" y="943665"/>
                  <a:pt x="2758698" y="868757"/>
                </a:cubicBezTo>
                <a:cubicBezTo>
                  <a:pt x="3412210" y="793849"/>
                  <a:pt x="4409268" y="-30145"/>
                  <a:pt x="5222929" y="852"/>
                </a:cubicBezTo>
                <a:cubicBezTo>
                  <a:pt x="6036590" y="31849"/>
                  <a:pt x="6758571" y="1013701"/>
                  <a:pt x="7640664" y="1054737"/>
                </a:cubicBezTo>
                <a:cubicBezTo>
                  <a:pt x="8522757" y="1095773"/>
                  <a:pt x="9545917" y="77394"/>
                  <a:pt x="10515489" y="247067"/>
                </a:cubicBezTo>
                <a:cubicBezTo>
                  <a:pt x="11485061" y="416740"/>
                  <a:pt x="12470740" y="911699"/>
                  <a:pt x="13067806" y="991865"/>
                </a:cubicBezTo>
                <a:cubicBezTo>
                  <a:pt x="13664872" y="1072031"/>
                  <a:pt x="13991150" y="874116"/>
                  <a:pt x="14097888" y="728065"/>
                </a:cubicBezTo>
              </a:path>
            </a:pathLst>
          </a:custGeom>
          <a:noFill/>
          <a:ln w="19050">
            <a:solidFill>
              <a:schemeClr val="accent5">
                <a:alpha val="70000"/>
              </a:schemeClr>
            </a:solidFill>
            <a:prstDash val="solid"/>
            <a:miter lim="800000"/>
          </a:ln>
        </p:spPr>
        <p:txBody>
          <a:bodyPr vert="horz" wrap="square" lIns="46292" tIns="23146" rIns="46292" bIns="23146" numCol="1" rtlCol="0" anchor="t" anchorCtr="0" compatLnSpc="1"/>
          <a:lstStyle>
            <a:defPPr>
              <a:defRPr lang="zh-CN"/>
            </a:defPPr>
            <a:lvl1pPr marL="0" algn="l" defTabSz="696595" rtl="0" eaLnBrk="1" latinLnBrk="0" hangingPunct="1">
              <a:defRPr sz="1370" kern="1200">
                <a:solidFill>
                  <a:schemeClr val="tx1"/>
                </a:solidFill>
                <a:latin typeface="+mn-lt"/>
                <a:ea typeface="+mn-ea"/>
                <a:cs typeface="+mn-cs"/>
              </a:defRPr>
            </a:lvl1pPr>
            <a:lvl2pPr marL="348615" algn="l" defTabSz="696595" rtl="0" eaLnBrk="1" latinLnBrk="0" hangingPunct="1">
              <a:defRPr sz="1370" kern="1200">
                <a:solidFill>
                  <a:schemeClr val="tx1"/>
                </a:solidFill>
                <a:latin typeface="+mn-lt"/>
                <a:ea typeface="+mn-ea"/>
                <a:cs typeface="+mn-cs"/>
              </a:defRPr>
            </a:lvl2pPr>
            <a:lvl3pPr marL="696595" algn="l" defTabSz="696595" rtl="0" eaLnBrk="1" latinLnBrk="0" hangingPunct="1">
              <a:defRPr sz="1370" kern="1200">
                <a:solidFill>
                  <a:schemeClr val="tx1"/>
                </a:solidFill>
                <a:latin typeface="+mn-lt"/>
                <a:ea typeface="+mn-ea"/>
                <a:cs typeface="+mn-cs"/>
              </a:defRPr>
            </a:lvl3pPr>
            <a:lvl4pPr marL="1045210" algn="l" defTabSz="696595" rtl="0" eaLnBrk="1" latinLnBrk="0" hangingPunct="1">
              <a:defRPr sz="1370" kern="1200">
                <a:solidFill>
                  <a:schemeClr val="tx1"/>
                </a:solidFill>
                <a:latin typeface="+mn-lt"/>
                <a:ea typeface="+mn-ea"/>
                <a:cs typeface="+mn-cs"/>
              </a:defRPr>
            </a:lvl4pPr>
            <a:lvl5pPr marL="1393190" algn="l" defTabSz="696595" rtl="0" eaLnBrk="1" latinLnBrk="0" hangingPunct="1">
              <a:defRPr sz="1370" kern="1200">
                <a:solidFill>
                  <a:schemeClr val="tx1"/>
                </a:solidFill>
                <a:latin typeface="+mn-lt"/>
                <a:ea typeface="+mn-ea"/>
                <a:cs typeface="+mn-cs"/>
              </a:defRPr>
            </a:lvl5pPr>
            <a:lvl6pPr marL="1741805" algn="l" defTabSz="696595" rtl="0" eaLnBrk="1" latinLnBrk="0" hangingPunct="1">
              <a:defRPr sz="1370" kern="1200">
                <a:solidFill>
                  <a:schemeClr val="tx1"/>
                </a:solidFill>
                <a:latin typeface="+mn-lt"/>
                <a:ea typeface="+mn-ea"/>
                <a:cs typeface="+mn-cs"/>
              </a:defRPr>
            </a:lvl6pPr>
            <a:lvl7pPr marL="2089785" algn="l" defTabSz="696595" rtl="0" eaLnBrk="1" latinLnBrk="0" hangingPunct="1">
              <a:defRPr sz="1370" kern="1200">
                <a:solidFill>
                  <a:schemeClr val="tx1"/>
                </a:solidFill>
                <a:latin typeface="+mn-lt"/>
                <a:ea typeface="+mn-ea"/>
                <a:cs typeface="+mn-cs"/>
              </a:defRPr>
            </a:lvl7pPr>
            <a:lvl8pPr marL="2438400" algn="l" defTabSz="696595" rtl="0" eaLnBrk="1" latinLnBrk="0" hangingPunct="1">
              <a:defRPr sz="1370" kern="1200">
                <a:solidFill>
                  <a:schemeClr val="tx1"/>
                </a:solidFill>
                <a:latin typeface="+mn-lt"/>
                <a:ea typeface="+mn-ea"/>
                <a:cs typeface="+mn-cs"/>
              </a:defRPr>
            </a:lvl8pPr>
            <a:lvl9pPr marL="2787015" algn="l" defTabSz="696595" rtl="0" eaLnBrk="1" latinLnBrk="0" hangingPunct="1">
              <a:defRPr sz="1370" kern="1200">
                <a:solidFill>
                  <a:schemeClr val="tx1"/>
                </a:solidFill>
                <a:latin typeface="+mn-lt"/>
                <a:ea typeface="+mn-ea"/>
                <a:cs typeface="+mn-cs"/>
              </a:defRPr>
            </a:lvl9pPr>
          </a:lstStyle>
          <a:p>
            <a:pPr defTabSz="462915" eaLnBrk="0" hangingPunct="0">
              <a:defRPr/>
            </a:pPr>
            <a:endParaRPr lang="zh-CN" altLang="en-US" sz="710"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71" name="组合 70"/>
          <p:cNvGrpSpPr/>
          <p:nvPr/>
        </p:nvGrpSpPr>
        <p:grpSpPr>
          <a:xfrm>
            <a:off x="4297045" y="3164840"/>
            <a:ext cx="1280795" cy="303530"/>
            <a:chOff x="6063142" y="1984388"/>
            <a:chExt cx="1215460" cy="288000"/>
          </a:xfrm>
        </p:grpSpPr>
        <p:sp>
          <p:nvSpPr>
            <p:cNvPr id="72" name="文本框 71"/>
            <p:cNvSpPr txBox="1"/>
            <p:nvPr/>
          </p:nvSpPr>
          <p:spPr>
            <a:xfrm>
              <a:off x="6352096" y="2002666"/>
              <a:ext cx="926506" cy="232642"/>
            </a:xfrm>
            <a:prstGeom prst="rect">
              <a:avLst/>
            </a:prstGeom>
            <a:noFill/>
          </p:spPr>
          <p:txBody>
            <a:bodyPr wrap="square" rtlCol="0">
              <a:spAutoFit/>
            </a:bodyPr>
            <a:lstStyle/>
            <a:p>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rPr>
                <a:t>新客户</a:t>
              </a:r>
              <a:endParaRPr lang="zh-CN" altLang="en-US" sz="10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76" name="组合 75"/>
            <p:cNvGrpSpPr>
              <a:grpSpLocks noChangeAspect="1"/>
            </p:cNvGrpSpPr>
            <p:nvPr/>
          </p:nvGrpSpPr>
          <p:grpSpPr>
            <a:xfrm>
              <a:off x="6063142" y="1984388"/>
              <a:ext cx="289104" cy="288000"/>
              <a:chOff x="4486273" y="1989700"/>
              <a:chExt cx="3219454" cy="3207158"/>
            </a:xfrm>
          </p:grpSpPr>
          <p:sp>
            <p:nvSpPr>
              <p:cNvPr id="77" name="椭圆 76"/>
              <p:cNvSpPr/>
              <p:nvPr/>
            </p:nvSpPr>
            <p:spPr bwMode="auto">
              <a:xfrm>
                <a:off x="4486273" y="1989700"/>
                <a:ext cx="3219454" cy="3207158"/>
              </a:xfrm>
              <a:prstGeom prst="ellipse">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78" name="任意多边形 138"/>
              <p:cNvSpPr/>
              <p:nvPr/>
            </p:nvSpPr>
            <p:spPr bwMode="auto">
              <a:xfrm>
                <a:off x="5275730" y="4331532"/>
                <a:ext cx="1645793" cy="818690"/>
              </a:xfrm>
              <a:custGeom>
                <a:avLst/>
                <a:gdLst>
                  <a:gd name="connsiteX0" fmla="*/ 481083 w 980008"/>
                  <a:gd name="connsiteY0" fmla="*/ 555 h 487499"/>
                  <a:gd name="connsiteX1" fmla="*/ 496487 w 980008"/>
                  <a:gd name="connsiteY1" fmla="*/ 731 h 487499"/>
                  <a:gd name="connsiteX2" fmla="*/ 598470 w 980008"/>
                  <a:gd name="connsiteY2" fmla="*/ 30894 h 487499"/>
                  <a:gd name="connsiteX3" fmla="*/ 979963 w 980008"/>
                  <a:gd name="connsiteY3" fmla="*/ 362682 h 487499"/>
                  <a:gd name="connsiteX4" fmla="*/ 979072 w 980008"/>
                  <a:gd name="connsiteY4" fmla="*/ 369170 h 487499"/>
                  <a:gd name="connsiteX5" fmla="*/ 940771 w 980008"/>
                  <a:gd name="connsiteY5" fmla="*/ 389879 h 487499"/>
                  <a:gd name="connsiteX6" fmla="*/ 455389 w 980008"/>
                  <a:gd name="connsiteY6" fmla="*/ 487499 h 487499"/>
                  <a:gd name="connsiteX7" fmla="*/ 84575 w 980008"/>
                  <a:gd name="connsiteY7" fmla="*/ 431651 h 487499"/>
                  <a:gd name="connsiteX8" fmla="*/ 14744 w 980008"/>
                  <a:gd name="connsiteY8" fmla="*/ 406190 h 487499"/>
                  <a:gd name="connsiteX9" fmla="*/ 7699 w 980008"/>
                  <a:gd name="connsiteY9" fmla="*/ 391136 h 487499"/>
                  <a:gd name="connsiteX10" fmla="*/ 1679 w 980008"/>
                  <a:gd name="connsiteY10" fmla="*/ 362682 h 487499"/>
                  <a:gd name="connsiteX11" fmla="*/ 1679 w 980008"/>
                  <a:gd name="connsiteY11" fmla="*/ 328749 h 487499"/>
                  <a:gd name="connsiteX12" fmla="*/ 394504 w 980008"/>
                  <a:gd name="connsiteY12" fmla="*/ 23353 h 487499"/>
                  <a:gd name="connsiteX13" fmla="*/ 481083 w 980008"/>
                  <a:gd name="connsiteY13" fmla="*/ 555 h 48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0008" h="487499">
                    <a:moveTo>
                      <a:pt x="481083" y="555"/>
                    </a:moveTo>
                    <a:cubicBezTo>
                      <a:pt x="488933" y="-211"/>
                      <a:pt x="494599" y="-211"/>
                      <a:pt x="496487" y="731"/>
                    </a:cubicBezTo>
                    <a:cubicBezTo>
                      <a:pt x="507818" y="-3039"/>
                      <a:pt x="572030" y="12042"/>
                      <a:pt x="598470" y="30894"/>
                    </a:cubicBezTo>
                    <a:cubicBezTo>
                      <a:pt x="749556" y="136463"/>
                      <a:pt x="983740" y="208099"/>
                      <a:pt x="979963" y="362682"/>
                    </a:cubicBezTo>
                    <a:lnTo>
                      <a:pt x="979072" y="369170"/>
                    </a:lnTo>
                    <a:lnTo>
                      <a:pt x="940771" y="389879"/>
                    </a:lnTo>
                    <a:cubicBezTo>
                      <a:pt x="791584" y="452739"/>
                      <a:pt x="627562" y="487499"/>
                      <a:pt x="455389" y="487499"/>
                    </a:cubicBezTo>
                    <a:cubicBezTo>
                      <a:pt x="326260" y="487499"/>
                      <a:pt x="201715" y="467947"/>
                      <a:pt x="84575" y="431651"/>
                    </a:cubicBezTo>
                    <a:lnTo>
                      <a:pt x="14744" y="406190"/>
                    </a:lnTo>
                    <a:lnTo>
                      <a:pt x="7699" y="391136"/>
                    </a:lnTo>
                    <a:cubicBezTo>
                      <a:pt x="4512" y="381062"/>
                      <a:pt x="2624" y="371165"/>
                      <a:pt x="1679" y="362682"/>
                    </a:cubicBezTo>
                    <a:cubicBezTo>
                      <a:pt x="1679" y="351371"/>
                      <a:pt x="-2098" y="340060"/>
                      <a:pt x="1679" y="328749"/>
                    </a:cubicBezTo>
                    <a:cubicBezTo>
                      <a:pt x="16788" y="181707"/>
                      <a:pt x="243417" y="121381"/>
                      <a:pt x="394504" y="23353"/>
                    </a:cubicBezTo>
                    <a:cubicBezTo>
                      <a:pt x="414334" y="12042"/>
                      <a:pt x="457535" y="2852"/>
                      <a:pt x="481083" y="555"/>
                    </a:cubicBezTo>
                    <a:close/>
                  </a:path>
                </a:pathLst>
              </a:custGeom>
              <a:solidFill>
                <a:srgbClr val="7ECE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79" name="任意多边形 139"/>
              <p:cNvSpPr/>
              <p:nvPr/>
            </p:nvSpPr>
            <p:spPr bwMode="auto">
              <a:xfrm>
                <a:off x="5722761" y="4313099"/>
                <a:ext cx="722486" cy="482546"/>
              </a:xfrm>
              <a:custGeom>
                <a:avLst/>
                <a:gdLst>
                  <a:gd name="T0" fmla="*/ 8 w 114"/>
                  <a:gd name="T1" fmla="*/ 25 h 76"/>
                  <a:gd name="T2" fmla="*/ 53 w 114"/>
                  <a:gd name="T3" fmla="*/ 74 h 76"/>
                  <a:gd name="T4" fmla="*/ 114 w 114"/>
                  <a:gd name="T5" fmla="*/ 26 h 76"/>
                  <a:gd name="T6" fmla="*/ 71 w 114"/>
                  <a:gd name="T7" fmla="*/ 0 h 76"/>
                  <a:gd name="T8" fmla="*/ 39 w 114"/>
                  <a:gd name="T9" fmla="*/ 2 h 76"/>
                  <a:gd name="T10" fmla="*/ 8 w 114"/>
                  <a:gd name="T11" fmla="*/ 25 h 76"/>
                </a:gdLst>
                <a:ahLst/>
                <a:cxnLst>
                  <a:cxn ang="0">
                    <a:pos x="T0" y="T1"/>
                  </a:cxn>
                  <a:cxn ang="0">
                    <a:pos x="T2" y="T3"/>
                  </a:cxn>
                  <a:cxn ang="0">
                    <a:pos x="T4" y="T5"/>
                  </a:cxn>
                  <a:cxn ang="0">
                    <a:pos x="T6" y="T7"/>
                  </a:cxn>
                  <a:cxn ang="0">
                    <a:pos x="T8" y="T9"/>
                  </a:cxn>
                  <a:cxn ang="0">
                    <a:pos x="T10" y="T11"/>
                  </a:cxn>
                </a:cxnLst>
                <a:rect l="0" t="0" r="r" b="b"/>
                <a:pathLst>
                  <a:path w="114" h="76">
                    <a:moveTo>
                      <a:pt x="8" y="25"/>
                    </a:moveTo>
                    <a:cubicBezTo>
                      <a:pt x="8" y="25"/>
                      <a:pt x="0" y="72"/>
                      <a:pt x="53" y="74"/>
                    </a:cubicBezTo>
                    <a:cubicBezTo>
                      <a:pt x="106" y="76"/>
                      <a:pt x="114" y="26"/>
                      <a:pt x="114" y="26"/>
                    </a:cubicBezTo>
                    <a:cubicBezTo>
                      <a:pt x="71" y="0"/>
                      <a:pt x="71" y="0"/>
                      <a:pt x="71" y="0"/>
                    </a:cubicBezTo>
                    <a:cubicBezTo>
                      <a:pt x="39" y="2"/>
                      <a:pt x="39" y="2"/>
                      <a:pt x="39" y="2"/>
                    </a:cubicBezTo>
                    <a:lnTo>
                      <a:pt x="8" y="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0" name="任意多边形 140"/>
              <p:cNvSpPr/>
              <p:nvPr/>
            </p:nvSpPr>
            <p:spPr bwMode="auto">
              <a:xfrm>
                <a:off x="5925376" y="4353089"/>
                <a:ext cx="341247" cy="314587"/>
              </a:xfrm>
              <a:custGeom>
                <a:avLst/>
                <a:gdLst>
                  <a:gd name="T0" fmla="*/ 35 w 54"/>
                  <a:gd name="T1" fmla="*/ 7 h 50"/>
                  <a:gd name="T2" fmla="*/ 1 w 54"/>
                  <a:gd name="T3" fmla="*/ 10 h 50"/>
                  <a:gd name="T4" fmla="*/ 0 w 54"/>
                  <a:gd name="T5" fmla="*/ 24 h 50"/>
                  <a:gd name="T6" fmla="*/ 53 w 54"/>
                  <a:gd name="T7" fmla="*/ 25 h 50"/>
                  <a:gd name="T8" fmla="*/ 54 w 54"/>
                  <a:gd name="T9" fmla="*/ 0 h 50"/>
                  <a:gd name="T10" fmla="*/ 35 w 54"/>
                  <a:gd name="T11" fmla="*/ 7 h 50"/>
                </a:gdLst>
                <a:ahLst/>
                <a:cxnLst>
                  <a:cxn ang="0">
                    <a:pos x="T0" y="T1"/>
                  </a:cxn>
                  <a:cxn ang="0">
                    <a:pos x="T2" y="T3"/>
                  </a:cxn>
                  <a:cxn ang="0">
                    <a:pos x="T4" y="T5"/>
                  </a:cxn>
                  <a:cxn ang="0">
                    <a:pos x="T6" y="T7"/>
                  </a:cxn>
                  <a:cxn ang="0">
                    <a:pos x="T8" y="T9"/>
                  </a:cxn>
                  <a:cxn ang="0">
                    <a:pos x="T10" y="T11"/>
                  </a:cxn>
                </a:cxnLst>
                <a:rect l="0" t="0" r="r" b="b"/>
                <a:pathLst>
                  <a:path w="54" h="50">
                    <a:moveTo>
                      <a:pt x="35" y="7"/>
                    </a:moveTo>
                    <a:cubicBezTo>
                      <a:pt x="24" y="11"/>
                      <a:pt x="10" y="10"/>
                      <a:pt x="1" y="10"/>
                    </a:cubicBezTo>
                    <a:cubicBezTo>
                      <a:pt x="0" y="24"/>
                      <a:pt x="0" y="24"/>
                      <a:pt x="0" y="24"/>
                    </a:cubicBezTo>
                    <a:cubicBezTo>
                      <a:pt x="0" y="49"/>
                      <a:pt x="52" y="50"/>
                      <a:pt x="53" y="25"/>
                    </a:cubicBezTo>
                    <a:cubicBezTo>
                      <a:pt x="54" y="0"/>
                      <a:pt x="54" y="0"/>
                      <a:pt x="54" y="0"/>
                    </a:cubicBezTo>
                    <a:cubicBezTo>
                      <a:pt x="47" y="3"/>
                      <a:pt x="40" y="6"/>
                      <a:pt x="35" y="7"/>
                    </a:cubicBezTo>
                    <a:close/>
                  </a:path>
                </a:pathLst>
              </a:custGeom>
              <a:solidFill>
                <a:srgbClr val="FFC2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1" name="任意多边形 141"/>
              <p:cNvSpPr/>
              <p:nvPr/>
            </p:nvSpPr>
            <p:spPr bwMode="auto">
              <a:xfrm>
                <a:off x="5930708" y="3985181"/>
                <a:ext cx="343914" cy="221278"/>
              </a:xfrm>
              <a:custGeom>
                <a:avLst/>
                <a:gdLst>
                  <a:gd name="T0" fmla="*/ 54 w 54"/>
                  <a:gd name="T1" fmla="*/ 2 h 35"/>
                  <a:gd name="T2" fmla="*/ 1 w 54"/>
                  <a:gd name="T3" fmla="*/ 0 h 35"/>
                  <a:gd name="T4" fmla="*/ 0 w 54"/>
                  <a:gd name="T5" fmla="*/ 35 h 35"/>
                  <a:gd name="T6" fmla="*/ 53 w 54"/>
                  <a:gd name="T7" fmla="*/ 29 h 35"/>
                  <a:gd name="T8" fmla="*/ 54 w 54"/>
                  <a:gd name="T9" fmla="*/ 2 h 35"/>
                </a:gdLst>
                <a:ahLst/>
                <a:cxnLst>
                  <a:cxn ang="0">
                    <a:pos x="T0" y="T1"/>
                  </a:cxn>
                  <a:cxn ang="0">
                    <a:pos x="T2" y="T3"/>
                  </a:cxn>
                  <a:cxn ang="0">
                    <a:pos x="T4" y="T5"/>
                  </a:cxn>
                  <a:cxn ang="0">
                    <a:pos x="T6" y="T7"/>
                  </a:cxn>
                  <a:cxn ang="0">
                    <a:pos x="T8" y="T9"/>
                  </a:cxn>
                </a:cxnLst>
                <a:rect l="0" t="0" r="r" b="b"/>
                <a:pathLst>
                  <a:path w="54" h="35">
                    <a:moveTo>
                      <a:pt x="54" y="2"/>
                    </a:moveTo>
                    <a:cubicBezTo>
                      <a:pt x="1" y="0"/>
                      <a:pt x="1" y="0"/>
                      <a:pt x="1" y="0"/>
                    </a:cubicBezTo>
                    <a:cubicBezTo>
                      <a:pt x="0" y="35"/>
                      <a:pt x="0" y="35"/>
                      <a:pt x="0" y="35"/>
                    </a:cubicBezTo>
                    <a:cubicBezTo>
                      <a:pt x="17" y="34"/>
                      <a:pt x="40" y="31"/>
                      <a:pt x="53" y="29"/>
                    </a:cubicBezTo>
                    <a:lnTo>
                      <a:pt x="54" y="2"/>
                    </a:lnTo>
                    <a:close/>
                  </a:path>
                </a:pathLst>
              </a:custGeom>
              <a:solidFill>
                <a:srgbClr val="FFC2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2" name="任意多边形 142"/>
              <p:cNvSpPr/>
              <p:nvPr/>
            </p:nvSpPr>
            <p:spPr bwMode="auto">
              <a:xfrm>
                <a:off x="5930708" y="4169136"/>
                <a:ext cx="335915" cy="253270"/>
              </a:xfrm>
              <a:custGeom>
                <a:avLst/>
                <a:gdLst>
                  <a:gd name="T0" fmla="*/ 34 w 53"/>
                  <a:gd name="T1" fmla="*/ 36 h 40"/>
                  <a:gd name="T2" fmla="*/ 53 w 53"/>
                  <a:gd name="T3" fmla="*/ 29 h 40"/>
                  <a:gd name="T4" fmla="*/ 53 w 53"/>
                  <a:gd name="T5" fmla="*/ 0 h 40"/>
                  <a:gd name="T6" fmla="*/ 0 w 53"/>
                  <a:gd name="T7" fmla="*/ 6 h 40"/>
                  <a:gd name="T8" fmla="*/ 0 w 53"/>
                  <a:gd name="T9" fmla="*/ 39 h 40"/>
                  <a:gd name="T10" fmla="*/ 34 w 53"/>
                  <a:gd name="T11" fmla="*/ 36 h 40"/>
                </a:gdLst>
                <a:ahLst/>
                <a:cxnLst>
                  <a:cxn ang="0">
                    <a:pos x="T0" y="T1"/>
                  </a:cxn>
                  <a:cxn ang="0">
                    <a:pos x="T2" y="T3"/>
                  </a:cxn>
                  <a:cxn ang="0">
                    <a:pos x="T4" y="T5"/>
                  </a:cxn>
                  <a:cxn ang="0">
                    <a:pos x="T6" y="T7"/>
                  </a:cxn>
                  <a:cxn ang="0">
                    <a:pos x="T8" y="T9"/>
                  </a:cxn>
                  <a:cxn ang="0">
                    <a:pos x="T10" y="T11"/>
                  </a:cxn>
                </a:cxnLst>
                <a:rect l="0" t="0" r="r" b="b"/>
                <a:pathLst>
                  <a:path w="53" h="40">
                    <a:moveTo>
                      <a:pt x="34" y="36"/>
                    </a:moveTo>
                    <a:cubicBezTo>
                      <a:pt x="39" y="35"/>
                      <a:pt x="46" y="32"/>
                      <a:pt x="53" y="29"/>
                    </a:cubicBezTo>
                    <a:cubicBezTo>
                      <a:pt x="53" y="0"/>
                      <a:pt x="53" y="0"/>
                      <a:pt x="53" y="0"/>
                    </a:cubicBezTo>
                    <a:cubicBezTo>
                      <a:pt x="40" y="2"/>
                      <a:pt x="17" y="5"/>
                      <a:pt x="0" y="6"/>
                    </a:cubicBezTo>
                    <a:cubicBezTo>
                      <a:pt x="0" y="39"/>
                      <a:pt x="0" y="39"/>
                      <a:pt x="0" y="39"/>
                    </a:cubicBezTo>
                    <a:cubicBezTo>
                      <a:pt x="9" y="39"/>
                      <a:pt x="23" y="40"/>
                      <a:pt x="34" y="36"/>
                    </a:cubicBezTo>
                    <a:close/>
                  </a:path>
                </a:pathLst>
              </a:custGeom>
              <a:solidFill>
                <a:srgbClr val="FCA49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3" name="任意多边形 143"/>
              <p:cNvSpPr/>
              <p:nvPr/>
            </p:nvSpPr>
            <p:spPr bwMode="auto">
              <a:xfrm>
                <a:off x="5384178" y="2612194"/>
                <a:ext cx="1295674" cy="1772888"/>
              </a:xfrm>
              <a:custGeom>
                <a:avLst/>
                <a:gdLst>
                  <a:gd name="T0" fmla="*/ 79 w 204"/>
                  <a:gd name="T1" fmla="*/ 272 h 280"/>
                  <a:gd name="T2" fmla="*/ 79 w 204"/>
                  <a:gd name="T3" fmla="*/ 272 h 280"/>
                  <a:gd name="T4" fmla="*/ 8 w 204"/>
                  <a:gd name="T5" fmla="*/ 171 h 280"/>
                  <a:gd name="T6" fmla="*/ 25 w 204"/>
                  <a:gd name="T7" fmla="*/ 79 h 280"/>
                  <a:gd name="T8" fmla="*/ 125 w 204"/>
                  <a:gd name="T9" fmla="*/ 8 h 280"/>
                  <a:gd name="T10" fmla="*/ 125 w 204"/>
                  <a:gd name="T11" fmla="*/ 8 h 280"/>
                  <a:gd name="T12" fmla="*/ 195 w 204"/>
                  <a:gd name="T13" fmla="*/ 109 h 280"/>
                  <a:gd name="T14" fmla="*/ 179 w 204"/>
                  <a:gd name="T15" fmla="*/ 201 h 280"/>
                  <a:gd name="T16" fmla="*/ 79 w 204"/>
                  <a:gd name="T17" fmla="*/ 27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280">
                    <a:moveTo>
                      <a:pt x="79" y="272"/>
                    </a:moveTo>
                    <a:cubicBezTo>
                      <a:pt x="79" y="272"/>
                      <a:pt x="79" y="272"/>
                      <a:pt x="79" y="272"/>
                    </a:cubicBezTo>
                    <a:cubicBezTo>
                      <a:pt x="32" y="264"/>
                      <a:pt x="0" y="219"/>
                      <a:pt x="8" y="171"/>
                    </a:cubicBezTo>
                    <a:cubicBezTo>
                      <a:pt x="25" y="79"/>
                      <a:pt x="25" y="79"/>
                      <a:pt x="25" y="79"/>
                    </a:cubicBezTo>
                    <a:cubicBezTo>
                      <a:pt x="33" y="32"/>
                      <a:pt x="78" y="0"/>
                      <a:pt x="125" y="8"/>
                    </a:cubicBezTo>
                    <a:cubicBezTo>
                      <a:pt x="125" y="8"/>
                      <a:pt x="125" y="8"/>
                      <a:pt x="125" y="8"/>
                    </a:cubicBezTo>
                    <a:cubicBezTo>
                      <a:pt x="172" y="17"/>
                      <a:pt x="204" y="62"/>
                      <a:pt x="195" y="109"/>
                    </a:cubicBezTo>
                    <a:cubicBezTo>
                      <a:pt x="179" y="201"/>
                      <a:pt x="179" y="201"/>
                      <a:pt x="179" y="201"/>
                    </a:cubicBezTo>
                    <a:cubicBezTo>
                      <a:pt x="171" y="248"/>
                      <a:pt x="126" y="280"/>
                      <a:pt x="79" y="272"/>
                    </a:cubicBezTo>
                    <a:close/>
                  </a:path>
                </a:pathLst>
              </a:custGeom>
              <a:solidFill>
                <a:srgbClr val="FCA49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4" name="任意多边形 144"/>
              <p:cNvSpPr/>
              <p:nvPr/>
            </p:nvSpPr>
            <p:spPr bwMode="auto">
              <a:xfrm>
                <a:off x="5384178" y="2604196"/>
                <a:ext cx="1175705" cy="1759557"/>
              </a:xfrm>
              <a:custGeom>
                <a:avLst/>
                <a:gdLst>
                  <a:gd name="T0" fmla="*/ 67 w 185"/>
                  <a:gd name="T1" fmla="*/ 271 h 278"/>
                  <a:gd name="T2" fmla="*/ 67 w 185"/>
                  <a:gd name="T3" fmla="*/ 271 h 278"/>
                  <a:gd name="T4" fmla="*/ 7 w 185"/>
                  <a:gd name="T5" fmla="*/ 180 h 278"/>
                  <a:gd name="T6" fmla="*/ 20 w 185"/>
                  <a:gd name="T7" fmla="*/ 72 h 278"/>
                  <a:gd name="T8" fmla="*/ 113 w 185"/>
                  <a:gd name="T9" fmla="*/ 7 h 278"/>
                  <a:gd name="T10" fmla="*/ 113 w 185"/>
                  <a:gd name="T11" fmla="*/ 7 h 278"/>
                  <a:gd name="T12" fmla="*/ 178 w 185"/>
                  <a:gd name="T13" fmla="*/ 100 h 278"/>
                  <a:gd name="T14" fmla="*/ 159 w 185"/>
                  <a:gd name="T15" fmla="*/ 206 h 278"/>
                  <a:gd name="T16" fmla="*/ 67 w 185"/>
                  <a:gd name="T17" fmla="*/ 271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278">
                    <a:moveTo>
                      <a:pt x="67" y="271"/>
                    </a:moveTo>
                    <a:cubicBezTo>
                      <a:pt x="67" y="271"/>
                      <a:pt x="67" y="271"/>
                      <a:pt x="67" y="271"/>
                    </a:cubicBezTo>
                    <a:cubicBezTo>
                      <a:pt x="24" y="263"/>
                      <a:pt x="0" y="224"/>
                      <a:pt x="7" y="180"/>
                    </a:cubicBezTo>
                    <a:cubicBezTo>
                      <a:pt x="20" y="72"/>
                      <a:pt x="20" y="72"/>
                      <a:pt x="20" y="72"/>
                    </a:cubicBezTo>
                    <a:cubicBezTo>
                      <a:pt x="28" y="29"/>
                      <a:pt x="69" y="0"/>
                      <a:pt x="113" y="7"/>
                    </a:cubicBezTo>
                    <a:cubicBezTo>
                      <a:pt x="113" y="7"/>
                      <a:pt x="113" y="7"/>
                      <a:pt x="113" y="7"/>
                    </a:cubicBezTo>
                    <a:cubicBezTo>
                      <a:pt x="156" y="15"/>
                      <a:pt x="185" y="56"/>
                      <a:pt x="178" y="100"/>
                    </a:cubicBezTo>
                    <a:cubicBezTo>
                      <a:pt x="159" y="206"/>
                      <a:pt x="159" y="206"/>
                      <a:pt x="159" y="206"/>
                    </a:cubicBezTo>
                    <a:cubicBezTo>
                      <a:pt x="152" y="249"/>
                      <a:pt x="110" y="278"/>
                      <a:pt x="67" y="271"/>
                    </a:cubicBezTo>
                    <a:close/>
                  </a:path>
                </a:pathLst>
              </a:custGeom>
              <a:solidFill>
                <a:srgbClr val="FFC2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5" name="任意多边形 145"/>
              <p:cNvSpPr/>
              <p:nvPr/>
            </p:nvSpPr>
            <p:spPr bwMode="auto">
              <a:xfrm>
                <a:off x="5594793" y="3414658"/>
                <a:ext cx="138632" cy="215946"/>
              </a:xfrm>
              <a:custGeom>
                <a:avLst/>
                <a:gdLst>
                  <a:gd name="T0" fmla="*/ 1 w 22"/>
                  <a:gd name="T1" fmla="*/ 15 h 34"/>
                  <a:gd name="T2" fmla="*/ 8 w 22"/>
                  <a:gd name="T3" fmla="*/ 33 h 34"/>
                  <a:gd name="T4" fmla="*/ 21 w 22"/>
                  <a:gd name="T5" fmla="*/ 18 h 34"/>
                  <a:gd name="T6" fmla="*/ 14 w 22"/>
                  <a:gd name="T7" fmla="*/ 1 h 34"/>
                  <a:gd name="T8" fmla="*/ 1 w 22"/>
                  <a:gd name="T9" fmla="*/ 15 h 34"/>
                </a:gdLst>
                <a:ahLst/>
                <a:cxnLst>
                  <a:cxn ang="0">
                    <a:pos x="T0" y="T1"/>
                  </a:cxn>
                  <a:cxn ang="0">
                    <a:pos x="T2" y="T3"/>
                  </a:cxn>
                  <a:cxn ang="0">
                    <a:pos x="T4" y="T5"/>
                  </a:cxn>
                  <a:cxn ang="0">
                    <a:pos x="T6" y="T7"/>
                  </a:cxn>
                  <a:cxn ang="0">
                    <a:pos x="T8" y="T9"/>
                  </a:cxn>
                </a:cxnLst>
                <a:rect l="0" t="0" r="r" b="b"/>
                <a:pathLst>
                  <a:path w="22" h="34">
                    <a:moveTo>
                      <a:pt x="1" y="15"/>
                    </a:moveTo>
                    <a:cubicBezTo>
                      <a:pt x="0" y="24"/>
                      <a:pt x="3" y="32"/>
                      <a:pt x="8" y="33"/>
                    </a:cubicBezTo>
                    <a:cubicBezTo>
                      <a:pt x="14" y="34"/>
                      <a:pt x="19" y="27"/>
                      <a:pt x="21" y="18"/>
                    </a:cubicBezTo>
                    <a:cubicBezTo>
                      <a:pt x="22" y="10"/>
                      <a:pt x="19" y="2"/>
                      <a:pt x="14" y="1"/>
                    </a:cubicBezTo>
                    <a:cubicBezTo>
                      <a:pt x="8" y="0"/>
                      <a:pt x="3" y="6"/>
                      <a:pt x="1" y="1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6" name="任意多边形 146"/>
              <p:cNvSpPr/>
              <p:nvPr/>
            </p:nvSpPr>
            <p:spPr bwMode="auto">
              <a:xfrm>
                <a:off x="6101332" y="3510634"/>
                <a:ext cx="141299" cy="215946"/>
              </a:xfrm>
              <a:custGeom>
                <a:avLst/>
                <a:gdLst>
                  <a:gd name="T0" fmla="*/ 1 w 22"/>
                  <a:gd name="T1" fmla="*/ 15 h 34"/>
                  <a:gd name="T2" fmla="*/ 8 w 22"/>
                  <a:gd name="T3" fmla="*/ 33 h 34"/>
                  <a:gd name="T4" fmla="*/ 21 w 22"/>
                  <a:gd name="T5" fmla="*/ 19 h 34"/>
                  <a:gd name="T6" fmla="*/ 14 w 22"/>
                  <a:gd name="T7" fmla="*/ 1 h 34"/>
                  <a:gd name="T8" fmla="*/ 1 w 22"/>
                  <a:gd name="T9" fmla="*/ 15 h 34"/>
                </a:gdLst>
                <a:ahLst/>
                <a:cxnLst>
                  <a:cxn ang="0">
                    <a:pos x="T0" y="T1"/>
                  </a:cxn>
                  <a:cxn ang="0">
                    <a:pos x="T2" y="T3"/>
                  </a:cxn>
                  <a:cxn ang="0">
                    <a:pos x="T4" y="T5"/>
                  </a:cxn>
                  <a:cxn ang="0">
                    <a:pos x="T6" y="T7"/>
                  </a:cxn>
                  <a:cxn ang="0">
                    <a:pos x="T8" y="T9"/>
                  </a:cxn>
                </a:cxnLst>
                <a:rect l="0" t="0" r="r" b="b"/>
                <a:pathLst>
                  <a:path w="22" h="34">
                    <a:moveTo>
                      <a:pt x="1" y="15"/>
                    </a:moveTo>
                    <a:cubicBezTo>
                      <a:pt x="0" y="24"/>
                      <a:pt x="3" y="32"/>
                      <a:pt x="8" y="33"/>
                    </a:cubicBezTo>
                    <a:cubicBezTo>
                      <a:pt x="14" y="34"/>
                      <a:pt x="19" y="27"/>
                      <a:pt x="21" y="19"/>
                    </a:cubicBezTo>
                    <a:cubicBezTo>
                      <a:pt x="22" y="10"/>
                      <a:pt x="19" y="2"/>
                      <a:pt x="14" y="1"/>
                    </a:cubicBezTo>
                    <a:cubicBezTo>
                      <a:pt x="8" y="0"/>
                      <a:pt x="2" y="6"/>
                      <a:pt x="1" y="1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7" name="任意多边形 147"/>
              <p:cNvSpPr/>
              <p:nvPr/>
            </p:nvSpPr>
            <p:spPr bwMode="auto">
              <a:xfrm>
                <a:off x="6431915" y="3566621"/>
                <a:ext cx="386570" cy="469215"/>
              </a:xfrm>
              <a:custGeom>
                <a:avLst/>
                <a:gdLst>
                  <a:gd name="T0" fmla="*/ 6 w 61"/>
                  <a:gd name="T1" fmla="*/ 32 h 74"/>
                  <a:gd name="T2" fmla="*/ 19 w 61"/>
                  <a:gd name="T3" fmla="*/ 71 h 74"/>
                  <a:gd name="T4" fmla="*/ 55 w 61"/>
                  <a:gd name="T5" fmla="*/ 42 h 74"/>
                  <a:gd name="T6" fmla="*/ 42 w 61"/>
                  <a:gd name="T7" fmla="*/ 3 h 74"/>
                  <a:gd name="T8" fmla="*/ 6 w 61"/>
                  <a:gd name="T9" fmla="*/ 32 h 74"/>
                </a:gdLst>
                <a:ahLst/>
                <a:cxnLst>
                  <a:cxn ang="0">
                    <a:pos x="T0" y="T1"/>
                  </a:cxn>
                  <a:cxn ang="0">
                    <a:pos x="T2" y="T3"/>
                  </a:cxn>
                  <a:cxn ang="0">
                    <a:pos x="T4" y="T5"/>
                  </a:cxn>
                  <a:cxn ang="0">
                    <a:pos x="T6" y="T7"/>
                  </a:cxn>
                  <a:cxn ang="0">
                    <a:pos x="T8" y="T9"/>
                  </a:cxn>
                </a:cxnLst>
                <a:rect l="0" t="0" r="r" b="b"/>
                <a:pathLst>
                  <a:path w="61" h="74">
                    <a:moveTo>
                      <a:pt x="6" y="32"/>
                    </a:moveTo>
                    <a:cubicBezTo>
                      <a:pt x="0" y="51"/>
                      <a:pt x="6" y="69"/>
                      <a:pt x="19" y="71"/>
                    </a:cubicBezTo>
                    <a:cubicBezTo>
                      <a:pt x="33" y="74"/>
                      <a:pt x="48" y="61"/>
                      <a:pt x="55" y="42"/>
                    </a:cubicBezTo>
                    <a:cubicBezTo>
                      <a:pt x="61" y="23"/>
                      <a:pt x="55" y="6"/>
                      <a:pt x="42" y="3"/>
                    </a:cubicBezTo>
                    <a:cubicBezTo>
                      <a:pt x="28" y="0"/>
                      <a:pt x="12" y="13"/>
                      <a:pt x="6" y="32"/>
                    </a:cubicBezTo>
                    <a:close/>
                  </a:path>
                </a:pathLst>
              </a:custGeom>
              <a:solidFill>
                <a:srgbClr val="FCA49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8" name="任意多边形 148"/>
              <p:cNvSpPr/>
              <p:nvPr/>
            </p:nvSpPr>
            <p:spPr bwMode="auto">
              <a:xfrm>
                <a:off x="5360185" y="2433572"/>
                <a:ext cx="1503621" cy="1261017"/>
              </a:xfrm>
              <a:custGeom>
                <a:avLst/>
                <a:gdLst>
                  <a:gd name="T0" fmla="*/ 176 w 237"/>
                  <a:gd name="T1" fmla="*/ 110 h 199"/>
                  <a:gd name="T2" fmla="*/ 17 w 237"/>
                  <a:gd name="T3" fmla="*/ 120 h 199"/>
                  <a:gd name="T4" fmla="*/ 28 w 237"/>
                  <a:gd name="T5" fmla="*/ 23 h 199"/>
                  <a:gd name="T6" fmla="*/ 203 w 237"/>
                  <a:gd name="T7" fmla="*/ 52 h 199"/>
                  <a:gd name="T8" fmla="*/ 237 w 237"/>
                  <a:gd name="T9" fmla="*/ 119 h 199"/>
                  <a:gd name="T10" fmla="*/ 206 w 237"/>
                  <a:gd name="T11" fmla="*/ 185 h 199"/>
                  <a:gd name="T12" fmla="*/ 184 w 237"/>
                  <a:gd name="T13" fmla="*/ 199 h 199"/>
                  <a:gd name="T14" fmla="*/ 175 w 237"/>
                  <a:gd name="T15" fmla="*/ 178 h 199"/>
                  <a:gd name="T16" fmla="*/ 176 w 237"/>
                  <a:gd name="T17" fmla="*/ 11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199">
                    <a:moveTo>
                      <a:pt x="176" y="110"/>
                    </a:moveTo>
                    <a:cubicBezTo>
                      <a:pt x="176" y="110"/>
                      <a:pt x="116" y="128"/>
                      <a:pt x="17" y="120"/>
                    </a:cubicBezTo>
                    <a:cubicBezTo>
                      <a:pt x="5" y="118"/>
                      <a:pt x="0" y="19"/>
                      <a:pt x="28" y="23"/>
                    </a:cubicBezTo>
                    <a:cubicBezTo>
                      <a:pt x="109" y="32"/>
                      <a:pt x="166" y="0"/>
                      <a:pt x="203" y="52"/>
                    </a:cubicBezTo>
                    <a:cubicBezTo>
                      <a:pt x="203" y="52"/>
                      <a:pt x="237" y="62"/>
                      <a:pt x="237" y="119"/>
                    </a:cubicBezTo>
                    <a:cubicBezTo>
                      <a:pt x="237" y="149"/>
                      <a:pt x="206" y="185"/>
                      <a:pt x="206" y="185"/>
                    </a:cubicBezTo>
                    <a:cubicBezTo>
                      <a:pt x="206" y="185"/>
                      <a:pt x="194" y="185"/>
                      <a:pt x="184" y="199"/>
                    </a:cubicBezTo>
                    <a:cubicBezTo>
                      <a:pt x="184" y="199"/>
                      <a:pt x="180" y="188"/>
                      <a:pt x="175" y="178"/>
                    </a:cubicBezTo>
                    <a:cubicBezTo>
                      <a:pt x="175" y="178"/>
                      <a:pt x="162" y="145"/>
                      <a:pt x="176" y="110"/>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90" name="任意多边形 149"/>
              <p:cNvSpPr/>
              <p:nvPr/>
            </p:nvSpPr>
            <p:spPr bwMode="auto">
              <a:xfrm>
                <a:off x="5576130" y="3897204"/>
                <a:ext cx="445222" cy="213280"/>
              </a:xfrm>
              <a:custGeom>
                <a:avLst/>
                <a:gdLst>
                  <a:gd name="T0" fmla="*/ 46 w 70"/>
                  <a:gd name="T1" fmla="*/ 21 h 34"/>
                  <a:gd name="T2" fmla="*/ 62 w 70"/>
                  <a:gd name="T3" fmla="*/ 27 h 34"/>
                  <a:gd name="T4" fmla="*/ 70 w 70"/>
                  <a:gd name="T5" fmla="*/ 7 h 34"/>
                  <a:gd name="T6" fmla="*/ 29 w 70"/>
                  <a:gd name="T7" fmla="*/ 10 h 34"/>
                  <a:gd name="T8" fmla="*/ 2 w 70"/>
                  <a:gd name="T9" fmla="*/ 0 h 34"/>
                  <a:gd name="T10" fmla="*/ 15 w 70"/>
                  <a:gd name="T11" fmla="*/ 34 h 34"/>
                  <a:gd name="T12" fmla="*/ 46 w 70"/>
                  <a:gd name="T13" fmla="*/ 21 h 34"/>
                </a:gdLst>
                <a:ahLst/>
                <a:cxnLst>
                  <a:cxn ang="0">
                    <a:pos x="T0" y="T1"/>
                  </a:cxn>
                  <a:cxn ang="0">
                    <a:pos x="T2" y="T3"/>
                  </a:cxn>
                  <a:cxn ang="0">
                    <a:pos x="T4" y="T5"/>
                  </a:cxn>
                  <a:cxn ang="0">
                    <a:pos x="T6" y="T7"/>
                  </a:cxn>
                  <a:cxn ang="0">
                    <a:pos x="T8" y="T9"/>
                  </a:cxn>
                  <a:cxn ang="0">
                    <a:pos x="T10" y="T11"/>
                  </a:cxn>
                  <a:cxn ang="0">
                    <a:pos x="T12" y="T13"/>
                  </a:cxn>
                </a:cxnLst>
                <a:rect l="0" t="0" r="r" b="b"/>
                <a:pathLst>
                  <a:path w="70" h="34">
                    <a:moveTo>
                      <a:pt x="46" y="21"/>
                    </a:moveTo>
                    <a:cubicBezTo>
                      <a:pt x="53" y="22"/>
                      <a:pt x="58" y="24"/>
                      <a:pt x="62" y="27"/>
                    </a:cubicBezTo>
                    <a:cubicBezTo>
                      <a:pt x="68" y="18"/>
                      <a:pt x="70" y="7"/>
                      <a:pt x="70" y="7"/>
                    </a:cubicBezTo>
                    <a:cubicBezTo>
                      <a:pt x="70" y="7"/>
                      <a:pt x="45" y="13"/>
                      <a:pt x="29" y="10"/>
                    </a:cubicBezTo>
                    <a:cubicBezTo>
                      <a:pt x="14" y="6"/>
                      <a:pt x="2" y="0"/>
                      <a:pt x="2" y="0"/>
                    </a:cubicBezTo>
                    <a:cubicBezTo>
                      <a:pt x="2" y="0"/>
                      <a:pt x="0" y="22"/>
                      <a:pt x="15" y="34"/>
                    </a:cubicBezTo>
                    <a:cubicBezTo>
                      <a:pt x="21" y="26"/>
                      <a:pt x="30" y="19"/>
                      <a:pt x="46" y="21"/>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91" name="任意多边形 150"/>
              <p:cNvSpPr/>
              <p:nvPr/>
            </p:nvSpPr>
            <p:spPr bwMode="auto">
              <a:xfrm>
                <a:off x="5672106" y="4017173"/>
                <a:ext cx="295926" cy="143964"/>
              </a:xfrm>
              <a:custGeom>
                <a:avLst/>
                <a:gdLst>
                  <a:gd name="T0" fmla="*/ 47 w 47"/>
                  <a:gd name="T1" fmla="*/ 8 h 23"/>
                  <a:gd name="T2" fmla="*/ 31 w 47"/>
                  <a:gd name="T3" fmla="*/ 2 h 23"/>
                  <a:gd name="T4" fmla="*/ 0 w 47"/>
                  <a:gd name="T5" fmla="*/ 15 h 23"/>
                  <a:gd name="T6" fmla="*/ 16 w 47"/>
                  <a:gd name="T7" fmla="*/ 21 h 23"/>
                  <a:gd name="T8" fmla="*/ 47 w 47"/>
                  <a:gd name="T9" fmla="*/ 8 h 23"/>
                </a:gdLst>
                <a:ahLst/>
                <a:cxnLst>
                  <a:cxn ang="0">
                    <a:pos x="T0" y="T1"/>
                  </a:cxn>
                  <a:cxn ang="0">
                    <a:pos x="T2" y="T3"/>
                  </a:cxn>
                  <a:cxn ang="0">
                    <a:pos x="T4" y="T5"/>
                  </a:cxn>
                  <a:cxn ang="0">
                    <a:pos x="T6" y="T7"/>
                  </a:cxn>
                  <a:cxn ang="0">
                    <a:pos x="T8" y="T9"/>
                  </a:cxn>
                </a:cxnLst>
                <a:rect l="0" t="0" r="r" b="b"/>
                <a:pathLst>
                  <a:path w="47" h="23">
                    <a:moveTo>
                      <a:pt x="47" y="8"/>
                    </a:moveTo>
                    <a:cubicBezTo>
                      <a:pt x="43" y="5"/>
                      <a:pt x="38" y="3"/>
                      <a:pt x="31" y="2"/>
                    </a:cubicBezTo>
                    <a:cubicBezTo>
                      <a:pt x="15" y="0"/>
                      <a:pt x="6" y="7"/>
                      <a:pt x="0" y="15"/>
                    </a:cubicBezTo>
                    <a:cubicBezTo>
                      <a:pt x="4" y="18"/>
                      <a:pt x="10" y="20"/>
                      <a:pt x="16" y="21"/>
                    </a:cubicBezTo>
                    <a:cubicBezTo>
                      <a:pt x="32" y="23"/>
                      <a:pt x="41" y="16"/>
                      <a:pt x="47" y="8"/>
                    </a:cubicBezTo>
                    <a:close/>
                  </a:path>
                </a:pathLst>
              </a:custGeom>
              <a:solidFill>
                <a:srgbClr val="FF8D8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92" name="任意多边形 151"/>
              <p:cNvSpPr/>
              <p:nvPr/>
            </p:nvSpPr>
            <p:spPr bwMode="auto">
              <a:xfrm>
                <a:off x="6248965" y="4694336"/>
                <a:ext cx="719031" cy="445400"/>
              </a:xfrm>
              <a:custGeom>
                <a:avLst/>
                <a:gdLst>
                  <a:gd name="connsiteX0" fmla="*/ 116634 w 428156"/>
                  <a:gd name="connsiteY0" fmla="*/ 0 h 265219"/>
                  <a:gd name="connsiteX1" fmla="*/ 384967 w 428156"/>
                  <a:gd name="connsiteY1" fmla="*/ 86616 h 265219"/>
                  <a:gd name="connsiteX2" fmla="*/ 407998 w 428156"/>
                  <a:gd name="connsiteY2" fmla="*/ 114684 h 265219"/>
                  <a:gd name="connsiteX3" fmla="*/ 428156 w 428156"/>
                  <a:gd name="connsiteY3" fmla="*/ 141734 h 265219"/>
                  <a:gd name="connsiteX4" fmla="*/ 361246 w 428156"/>
                  <a:gd name="connsiteY4" fmla="*/ 173843 h 265219"/>
                  <a:gd name="connsiteX5" fmla="*/ 3361 w 428156"/>
                  <a:gd name="connsiteY5" fmla="*/ 265050 h 265219"/>
                  <a:gd name="connsiteX6" fmla="*/ 0 w 428156"/>
                  <a:gd name="connsiteY6" fmla="*/ 265219 h 265219"/>
                  <a:gd name="connsiteX7" fmla="*/ 17892 w 428156"/>
                  <a:gd name="connsiteY7" fmla="*/ 224535 h 265219"/>
                  <a:gd name="connsiteX8" fmla="*/ 116634 w 428156"/>
                  <a:gd name="connsiteY8" fmla="*/ 0 h 265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8156" h="265219">
                    <a:moveTo>
                      <a:pt x="116634" y="0"/>
                    </a:moveTo>
                    <a:lnTo>
                      <a:pt x="384967" y="86616"/>
                    </a:lnTo>
                    <a:cubicBezTo>
                      <a:pt x="384967" y="86616"/>
                      <a:pt x="393471" y="96031"/>
                      <a:pt x="407998" y="114684"/>
                    </a:cubicBezTo>
                    <a:lnTo>
                      <a:pt x="428156" y="141734"/>
                    </a:lnTo>
                    <a:lnTo>
                      <a:pt x="361246" y="173843"/>
                    </a:lnTo>
                    <a:cubicBezTo>
                      <a:pt x="249356" y="220988"/>
                      <a:pt x="129121" y="252327"/>
                      <a:pt x="3361" y="265050"/>
                    </a:cubicBezTo>
                    <a:lnTo>
                      <a:pt x="0" y="265219"/>
                    </a:lnTo>
                    <a:lnTo>
                      <a:pt x="17892" y="224535"/>
                    </a:lnTo>
                    <a:cubicBezTo>
                      <a:pt x="116634" y="0"/>
                      <a:pt x="116634" y="0"/>
                      <a:pt x="116634" y="0"/>
                    </a:cubicBezTo>
                    <a:close/>
                  </a:path>
                </a:pathLst>
              </a:custGeom>
              <a:solidFill>
                <a:srgbClr val="7ECE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93" name="任意多边形 152"/>
              <p:cNvSpPr/>
              <p:nvPr/>
            </p:nvSpPr>
            <p:spPr bwMode="auto">
              <a:xfrm>
                <a:off x="5640114" y="3441318"/>
                <a:ext cx="37324" cy="55987"/>
              </a:xfrm>
              <a:custGeom>
                <a:avLst/>
                <a:gdLst>
                  <a:gd name="T0" fmla="*/ 6 w 6"/>
                  <a:gd name="T1" fmla="*/ 5 h 9"/>
                  <a:gd name="T2" fmla="*/ 4 w 6"/>
                  <a:gd name="T3" fmla="*/ 1 h 9"/>
                  <a:gd name="T4" fmla="*/ 1 w 6"/>
                  <a:gd name="T5" fmla="*/ 4 h 9"/>
                  <a:gd name="T6" fmla="*/ 2 w 6"/>
                  <a:gd name="T7" fmla="*/ 8 h 9"/>
                  <a:gd name="T8" fmla="*/ 6 w 6"/>
                  <a:gd name="T9" fmla="*/ 5 h 9"/>
                </a:gdLst>
                <a:ahLst/>
                <a:cxnLst>
                  <a:cxn ang="0">
                    <a:pos x="T0" y="T1"/>
                  </a:cxn>
                  <a:cxn ang="0">
                    <a:pos x="T2" y="T3"/>
                  </a:cxn>
                  <a:cxn ang="0">
                    <a:pos x="T4" y="T5"/>
                  </a:cxn>
                  <a:cxn ang="0">
                    <a:pos x="T6" y="T7"/>
                  </a:cxn>
                  <a:cxn ang="0">
                    <a:pos x="T8" y="T9"/>
                  </a:cxn>
                </a:cxnLst>
                <a:rect l="0" t="0" r="r" b="b"/>
                <a:pathLst>
                  <a:path w="6" h="9">
                    <a:moveTo>
                      <a:pt x="6" y="5"/>
                    </a:moveTo>
                    <a:cubicBezTo>
                      <a:pt x="6" y="3"/>
                      <a:pt x="6" y="1"/>
                      <a:pt x="4" y="1"/>
                    </a:cubicBezTo>
                    <a:cubicBezTo>
                      <a:pt x="3" y="0"/>
                      <a:pt x="1" y="2"/>
                      <a:pt x="1" y="4"/>
                    </a:cubicBezTo>
                    <a:cubicBezTo>
                      <a:pt x="0" y="6"/>
                      <a:pt x="1" y="8"/>
                      <a:pt x="2" y="8"/>
                    </a:cubicBezTo>
                    <a:cubicBezTo>
                      <a:pt x="3" y="9"/>
                      <a:pt x="5" y="7"/>
                      <a:pt x="6"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97" name="任意多边形 153"/>
              <p:cNvSpPr/>
              <p:nvPr/>
            </p:nvSpPr>
            <p:spPr bwMode="auto">
              <a:xfrm>
                <a:off x="5650778" y="3473310"/>
                <a:ext cx="26660" cy="37324"/>
              </a:xfrm>
              <a:custGeom>
                <a:avLst/>
                <a:gdLst>
                  <a:gd name="T0" fmla="*/ 4 w 4"/>
                  <a:gd name="T1" fmla="*/ 4 h 6"/>
                  <a:gd name="T2" fmla="*/ 3 w 4"/>
                  <a:gd name="T3" fmla="*/ 1 h 6"/>
                  <a:gd name="T4" fmla="*/ 0 w 4"/>
                  <a:gd name="T5" fmla="*/ 3 h 6"/>
                  <a:gd name="T6" fmla="*/ 1 w 4"/>
                  <a:gd name="T7" fmla="*/ 6 h 6"/>
                  <a:gd name="T8" fmla="*/ 4 w 4"/>
                  <a:gd name="T9" fmla="*/ 4 h 6"/>
                </a:gdLst>
                <a:ahLst/>
                <a:cxnLst>
                  <a:cxn ang="0">
                    <a:pos x="T0" y="T1"/>
                  </a:cxn>
                  <a:cxn ang="0">
                    <a:pos x="T2" y="T3"/>
                  </a:cxn>
                  <a:cxn ang="0">
                    <a:pos x="T4" y="T5"/>
                  </a:cxn>
                  <a:cxn ang="0">
                    <a:pos x="T6" y="T7"/>
                  </a:cxn>
                  <a:cxn ang="0">
                    <a:pos x="T8" y="T9"/>
                  </a:cxn>
                </a:cxnLst>
                <a:rect l="0" t="0" r="r" b="b"/>
                <a:pathLst>
                  <a:path w="4" h="6">
                    <a:moveTo>
                      <a:pt x="4" y="4"/>
                    </a:moveTo>
                    <a:cubicBezTo>
                      <a:pt x="4" y="2"/>
                      <a:pt x="4" y="1"/>
                      <a:pt x="3" y="1"/>
                    </a:cubicBezTo>
                    <a:cubicBezTo>
                      <a:pt x="2" y="0"/>
                      <a:pt x="1" y="1"/>
                      <a:pt x="0" y="3"/>
                    </a:cubicBezTo>
                    <a:cubicBezTo>
                      <a:pt x="0" y="4"/>
                      <a:pt x="0" y="6"/>
                      <a:pt x="1" y="6"/>
                    </a:cubicBezTo>
                    <a:cubicBezTo>
                      <a:pt x="2" y="6"/>
                      <a:pt x="3" y="5"/>
                      <a:pt x="4" y="4"/>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06" name="任意多边形 154"/>
              <p:cNvSpPr/>
              <p:nvPr/>
            </p:nvSpPr>
            <p:spPr bwMode="auto">
              <a:xfrm>
                <a:off x="6141321" y="3542626"/>
                <a:ext cx="37324" cy="50655"/>
              </a:xfrm>
              <a:custGeom>
                <a:avLst/>
                <a:gdLst>
                  <a:gd name="T0" fmla="*/ 6 w 6"/>
                  <a:gd name="T1" fmla="*/ 5 h 8"/>
                  <a:gd name="T2" fmla="*/ 4 w 6"/>
                  <a:gd name="T3" fmla="*/ 1 h 8"/>
                  <a:gd name="T4" fmla="*/ 1 w 6"/>
                  <a:gd name="T5" fmla="*/ 4 h 8"/>
                  <a:gd name="T6" fmla="*/ 2 w 6"/>
                  <a:gd name="T7" fmla="*/ 8 h 8"/>
                  <a:gd name="T8" fmla="*/ 6 w 6"/>
                  <a:gd name="T9" fmla="*/ 5 h 8"/>
                </a:gdLst>
                <a:ahLst/>
                <a:cxnLst>
                  <a:cxn ang="0">
                    <a:pos x="T0" y="T1"/>
                  </a:cxn>
                  <a:cxn ang="0">
                    <a:pos x="T2" y="T3"/>
                  </a:cxn>
                  <a:cxn ang="0">
                    <a:pos x="T4" y="T5"/>
                  </a:cxn>
                  <a:cxn ang="0">
                    <a:pos x="T6" y="T7"/>
                  </a:cxn>
                  <a:cxn ang="0">
                    <a:pos x="T8" y="T9"/>
                  </a:cxn>
                </a:cxnLst>
                <a:rect l="0" t="0" r="r" b="b"/>
                <a:pathLst>
                  <a:path w="6" h="8">
                    <a:moveTo>
                      <a:pt x="6" y="5"/>
                    </a:moveTo>
                    <a:cubicBezTo>
                      <a:pt x="6" y="3"/>
                      <a:pt x="6" y="1"/>
                      <a:pt x="4" y="1"/>
                    </a:cubicBezTo>
                    <a:cubicBezTo>
                      <a:pt x="3" y="0"/>
                      <a:pt x="2" y="1"/>
                      <a:pt x="1" y="4"/>
                    </a:cubicBezTo>
                    <a:cubicBezTo>
                      <a:pt x="0" y="6"/>
                      <a:pt x="1" y="8"/>
                      <a:pt x="2" y="8"/>
                    </a:cubicBezTo>
                    <a:cubicBezTo>
                      <a:pt x="3" y="8"/>
                      <a:pt x="5" y="7"/>
                      <a:pt x="6"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09" name="任意多边形 155"/>
              <p:cNvSpPr/>
              <p:nvPr/>
            </p:nvSpPr>
            <p:spPr bwMode="auto">
              <a:xfrm>
                <a:off x="6151985" y="3574618"/>
                <a:ext cx="26660" cy="37324"/>
              </a:xfrm>
              <a:custGeom>
                <a:avLst/>
                <a:gdLst>
                  <a:gd name="T0" fmla="*/ 4 w 4"/>
                  <a:gd name="T1" fmla="*/ 4 h 6"/>
                  <a:gd name="T2" fmla="*/ 3 w 4"/>
                  <a:gd name="T3" fmla="*/ 0 h 6"/>
                  <a:gd name="T4" fmla="*/ 0 w 4"/>
                  <a:gd name="T5" fmla="*/ 3 h 6"/>
                  <a:gd name="T6" fmla="*/ 1 w 4"/>
                  <a:gd name="T7" fmla="*/ 6 h 6"/>
                  <a:gd name="T8" fmla="*/ 4 w 4"/>
                  <a:gd name="T9" fmla="*/ 4 h 6"/>
                </a:gdLst>
                <a:ahLst/>
                <a:cxnLst>
                  <a:cxn ang="0">
                    <a:pos x="T0" y="T1"/>
                  </a:cxn>
                  <a:cxn ang="0">
                    <a:pos x="T2" y="T3"/>
                  </a:cxn>
                  <a:cxn ang="0">
                    <a:pos x="T4" y="T5"/>
                  </a:cxn>
                  <a:cxn ang="0">
                    <a:pos x="T6" y="T7"/>
                  </a:cxn>
                  <a:cxn ang="0">
                    <a:pos x="T8" y="T9"/>
                  </a:cxn>
                </a:cxnLst>
                <a:rect l="0" t="0" r="r" b="b"/>
                <a:pathLst>
                  <a:path w="4" h="6">
                    <a:moveTo>
                      <a:pt x="4" y="4"/>
                    </a:moveTo>
                    <a:cubicBezTo>
                      <a:pt x="4" y="2"/>
                      <a:pt x="4" y="1"/>
                      <a:pt x="3" y="0"/>
                    </a:cubicBezTo>
                    <a:cubicBezTo>
                      <a:pt x="2" y="0"/>
                      <a:pt x="1" y="1"/>
                      <a:pt x="0" y="3"/>
                    </a:cubicBezTo>
                    <a:cubicBezTo>
                      <a:pt x="0" y="4"/>
                      <a:pt x="0" y="6"/>
                      <a:pt x="1" y="6"/>
                    </a:cubicBezTo>
                    <a:cubicBezTo>
                      <a:pt x="2" y="6"/>
                      <a:pt x="3" y="5"/>
                      <a:pt x="4" y="4"/>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10" name="任意多边形 156"/>
              <p:cNvSpPr/>
              <p:nvPr/>
            </p:nvSpPr>
            <p:spPr bwMode="auto">
              <a:xfrm>
                <a:off x="5581462" y="3294689"/>
                <a:ext cx="183955" cy="63984"/>
              </a:xfrm>
              <a:custGeom>
                <a:avLst/>
                <a:gdLst>
                  <a:gd name="T0" fmla="*/ 2 w 29"/>
                  <a:gd name="T1" fmla="*/ 9 h 10"/>
                  <a:gd name="T2" fmla="*/ 4 w 29"/>
                  <a:gd name="T3" fmla="*/ 10 h 10"/>
                  <a:gd name="T4" fmla="*/ 26 w 29"/>
                  <a:gd name="T5" fmla="*/ 9 h 10"/>
                  <a:gd name="T6" fmla="*/ 29 w 29"/>
                  <a:gd name="T7" fmla="*/ 7 h 10"/>
                  <a:gd name="T8" fmla="*/ 27 w 29"/>
                  <a:gd name="T9" fmla="*/ 4 h 10"/>
                  <a:gd name="T10" fmla="*/ 2 w 29"/>
                  <a:gd name="T11" fmla="*/ 5 h 10"/>
                  <a:gd name="T12" fmla="*/ 1 w 29"/>
                  <a:gd name="T13" fmla="*/ 8 h 10"/>
                  <a:gd name="T14" fmla="*/ 2 w 29"/>
                  <a:gd name="T15" fmla="*/ 9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10">
                    <a:moveTo>
                      <a:pt x="2" y="9"/>
                    </a:moveTo>
                    <a:cubicBezTo>
                      <a:pt x="3" y="10"/>
                      <a:pt x="3" y="10"/>
                      <a:pt x="4" y="10"/>
                    </a:cubicBezTo>
                    <a:cubicBezTo>
                      <a:pt x="15" y="5"/>
                      <a:pt x="26" y="9"/>
                      <a:pt x="26" y="9"/>
                    </a:cubicBezTo>
                    <a:cubicBezTo>
                      <a:pt x="27" y="9"/>
                      <a:pt x="28" y="8"/>
                      <a:pt x="29" y="7"/>
                    </a:cubicBezTo>
                    <a:cubicBezTo>
                      <a:pt x="29" y="6"/>
                      <a:pt x="28" y="5"/>
                      <a:pt x="27" y="4"/>
                    </a:cubicBezTo>
                    <a:cubicBezTo>
                      <a:pt x="27" y="4"/>
                      <a:pt x="15" y="0"/>
                      <a:pt x="2" y="5"/>
                    </a:cubicBezTo>
                    <a:cubicBezTo>
                      <a:pt x="1" y="6"/>
                      <a:pt x="0" y="7"/>
                      <a:pt x="1" y="8"/>
                    </a:cubicBezTo>
                    <a:cubicBezTo>
                      <a:pt x="1" y="9"/>
                      <a:pt x="2" y="9"/>
                      <a:pt x="2" y="9"/>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30" name="任意多边形 157"/>
              <p:cNvSpPr/>
              <p:nvPr/>
            </p:nvSpPr>
            <p:spPr bwMode="auto">
              <a:xfrm>
                <a:off x="6159984" y="3382666"/>
                <a:ext cx="165292" cy="90644"/>
              </a:xfrm>
              <a:custGeom>
                <a:avLst/>
                <a:gdLst>
                  <a:gd name="T0" fmla="*/ 25 w 26"/>
                  <a:gd name="T1" fmla="*/ 13 h 14"/>
                  <a:gd name="T2" fmla="*/ 26 w 26"/>
                  <a:gd name="T3" fmla="*/ 13 h 14"/>
                  <a:gd name="T4" fmla="*/ 25 w 26"/>
                  <a:gd name="T5" fmla="*/ 9 h 14"/>
                  <a:gd name="T6" fmla="*/ 2 w 26"/>
                  <a:gd name="T7" fmla="*/ 0 h 14"/>
                  <a:gd name="T8" fmla="*/ 0 w 26"/>
                  <a:gd name="T9" fmla="*/ 2 h 14"/>
                  <a:gd name="T10" fmla="*/ 2 w 26"/>
                  <a:gd name="T11" fmla="*/ 5 h 14"/>
                  <a:gd name="T12" fmla="*/ 22 w 26"/>
                  <a:gd name="T13" fmla="*/ 13 h 14"/>
                  <a:gd name="T14" fmla="*/ 25 w 26"/>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4">
                    <a:moveTo>
                      <a:pt x="25" y="13"/>
                    </a:moveTo>
                    <a:cubicBezTo>
                      <a:pt x="25" y="13"/>
                      <a:pt x="25" y="13"/>
                      <a:pt x="26" y="13"/>
                    </a:cubicBezTo>
                    <a:cubicBezTo>
                      <a:pt x="26" y="12"/>
                      <a:pt x="26" y="10"/>
                      <a:pt x="25" y="9"/>
                    </a:cubicBezTo>
                    <a:cubicBezTo>
                      <a:pt x="15" y="0"/>
                      <a:pt x="3" y="0"/>
                      <a:pt x="2" y="0"/>
                    </a:cubicBezTo>
                    <a:cubicBezTo>
                      <a:pt x="1" y="0"/>
                      <a:pt x="0" y="1"/>
                      <a:pt x="0" y="2"/>
                    </a:cubicBezTo>
                    <a:cubicBezTo>
                      <a:pt x="0" y="4"/>
                      <a:pt x="1" y="5"/>
                      <a:pt x="2" y="5"/>
                    </a:cubicBezTo>
                    <a:cubicBezTo>
                      <a:pt x="2" y="5"/>
                      <a:pt x="14" y="5"/>
                      <a:pt x="22" y="13"/>
                    </a:cubicBezTo>
                    <a:cubicBezTo>
                      <a:pt x="23" y="13"/>
                      <a:pt x="24" y="14"/>
                      <a:pt x="25" y="13"/>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0" name="任意多边形 158"/>
              <p:cNvSpPr/>
              <p:nvPr/>
            </p:nvSpPr>
            <p:spPr bwMode="auto">
              <a:xfrm>
                <a:off x="5714762" y="3459981"/>
                <a:ext cx="178623" cy="295926"/>
              </a:xfrm>
              <a:custGeom>
                <a:avLst/>
                <a:gdLst>
                  <a:gd name="T0" fmla="*/ 13 w 28"/>
                  <a:gd name="T1" fmla="*/ 47 h 47"/>
                  <a:gd name="T2" fmla="*/ 15 w 28"/>
                  <a:gd name="T3" fmla="*/ 46 h 47"/>
                  <a:gd name="T4" fmla="*/ 14 w 28"/>
                  <a:gd name="T5" fmla="*/ 43 h 47"/>
                  <a:gd name="T6" fmla="*/ 5 w 28"/>
                  <a:gd name="T7" fmla="*/ 39 h 47"/>
                  <a:gd name="T8" fmla="*/ 4 w 28"/>
                  <a:gd name="T9" fmla="*/ 34 h 47"/>
                  <a:gd name="T10" fmla="*/ 7 w 28"/>
                  <a:gd name="T11" fmla="*/ 31 h 47"/>
                  <a:gd name="T12" fmla="*/ 15 w 28"/>
                  <a:gd name="T13" fmla="*/ 32 h 47"/>
                  <a:gd name="T14" fmla="*/ 17 w 28"/>
                  <a:gd name="T15" fmla="*/ 32 h 47"/>
                  <a:gd name="T16" fmla="*/ 18 w 28"/>
                  <a:gd name="T17" fmla="*/ 31 h 47"/>
                  <a:gd name="T18" fmla="*/ 27 w 28"/>
                  <a:gd name="T19" fmla="*/ 3 h 47"/>
                  <a:gd name="T20" fmla="*/ 26 w 28"/>
                  <a:gd name="T21" fmla="*/ 1 h 47"/>
                  <a:gd name="T22" fmla="*/ 24 w 28"/>
                  <a:gd name="T23" fmla="*/ 2 h 47"/>
                  <a:gd name="T24" fmla="*/ 15 w 28"/>
                  <a:gd name="T25" fmla="*/ 27 h 47"/>
                  <a:gd name="T26" fmla="*/ 6 w 28"/>
                  <a:gd name="T27" fmla="*/ 27 h 47"/>
                  <a:gd name="T28" fmla="*/ 1 w 28"/>
                  <a:gd name="T29" fmla="*/ 33 h 47"/>
                  <a:gd name="T30" fmla="*/ 1 w 28"/>
                  <a:gd name="T31" fmla="*/ 41 h 47"/>
                  <a:gd name="T32" fmla="*/ 13 w 28"/>
                  <a:gd name="T33" fmla="*/ 47 h 47"/>
                  <a:gd name="T34" fmla="*/ 13 w 28"/>
                  <a:gd name="T35"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47">
                    <a:moveTo>
                      <a:pt x="13" y="47"/>
                    </a:moveTo>
                    <a:cubicBezTo>
                      <a:pt x="14" y="47"/>
                      <a:pt x="15" y="47"/>
                      <a:pt x="15" y="46"/>
                    </a:cubicBezTo>
                    <a:cubicBezTo>
                      <a:pt x="15" y="45"/>
                      <a:pt x="15" y="44"/>
                      <a:pt x="14" y="43"/>
                    </a:cubicBezTo>
                    <a:cubicBezTo>
                      <a:pt x="12" y="43"/>
                      <a:pt x="7" y="42"/>
                      <a:pt x="5" y="39"/>
                    </a:cubicBezTo>
                    <a:cubicBezTo>
                      <a:pt x="4" y="38"/>
                      <a:pt x="4" y="36"/>
                      <a:pt x="4" y="34"/>
                    </a:cubicBezTo>
                    <a:cubicBezTo>
                      <a:pt x="5" y="32"/>
                      <a:pt x="6" y="31"/>
                      <a:pt x="7" y="31"/>
                    </a:cubicBezTo>
                    <a:cubicBezTo>
                      <a:pt x="10" y="30"/>
                      <a:pt x="14" y="31"/>
                      <a:pt x="15" y="32"/>
                    </a:cubicBezTo>
                    <a:cubicBezTo>
                      <a:pt x="16" y="32"/>
                      <a:pt x="17" y="32"/>
                      <a:pt x="17" y="32"/>
                    </a:cubicBezTo>
                    <a:cubicBezTo>
                      <a:pt x="18" y="32"/>
                      <a:pt x="18" y="31"/>
                      <a:pt x="18" y="31"/>
                    </a:cubicBezTo>
                    <a:cubicBezTo>
                      <a:pt x="27" y="3"/>
                      <a:pt x="27" y="3"/>
                      <a:pt x="27" y="3"/>
                    </a:cubicBezTo>
                    <a:cubicBezTo>
                      <a:pt x="28" y="2"/>
                      <a:pt x="27" y="1"/>
                      <a:pt x="26" y="1"/>
                    </a:cubicBezTo>
                    <a:cubicBezTo>
                      <a:pt x="25" y="0"/>
                      <a:pt x="24" y="1"/>
                      <a:pt x="24" y="2"/>
                    </a:cubicBezTo>
                    <a:cubicBezTo>
                      <a:pt x="15" y="27"/>
                      <a:pt x="15" y="27"/>
                      <a:pt x="15" y="27"/>
                    </a:cubicBezTo>
                    <a:cubicBezTo>
                      <a:pt x="13" y="27"/>
                      <a:pt x="9" y="26"/>
                      <a:pt x="6" y="27"/>
                    </a:cubicBezTo>
                    <a:cubicBezTo>
                      <a:pt x="3" y="28"/>
                      <a:pt x="2" y="30"/>
                      <a:pt x="1" y="33"/>
                    </a:cubicBezTo>
                    <a:cubicBezTo>
                      <a:pt x="0" y="36"/>
                      <a:pt x="0" y="39"/>
                      <a:pt x="1" y="41"/>
                    </a:cubicBezTo>
                    <a:cubicBezTo>
                      <a:pt x="5" y="46"/>
                      <a:pt x="13" y="47"/>
                      <a:pt x="13" y="47"/>
                    </a:cubicBezTo>
                    <a:cubicBezTo>
                      <a:pt x="13" y="47"/>
                      <a:pt x="13" y="47"/>
                      <a:pt x="13" y="47"/>
                    </a:cubicBezTo>
                    <a:close/>
                  </a:path>
                </a:pathLst>
              </a:custGeom>
              <a:solidFill>
                <a:srgbClr val="FCA49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grpSp>
        <p:nvGrpSpPr>
          <p:cNvPr id="161" name="组合 160"/>
          <p:cNvGrpSpPr/>
          <p:nvPr/>
        </p:nvGrpSpPr>
        <p:grpSpPr>
          <a:xfrm>
            <a:off x="6085840" y="1984375"/>
            <a:ext cx="1115695" cy="303530"/>
            <a:chOff x="4125346" y="1327411"/>
            <a:chExt cx="1058770" cy="288000"/>
          </a:xfrm>
        </p:grpSpPr>
        <p:sp>
          <p:nvSpPr>
            <p:cNvPr id="162" name="文本框 161"/>
            <p:cNvSpPr txBox="1"/>
            <p:nvPr/>
          </p:nvSpPr>
          <p:spPr>
            <a:xfrm>
              <a:off x="4439288" y="1352114"/>
              <a:ext cx="744828" cy="232642"/>
            </a:xfrm>
            <a:prstGeom prst="rect">
              <a:avLst/>
            </a:prstGeom>
            <a:noFill/>
          </p:spPr>
          <p:txBody>
            <a:bodyPr wrap="square" rtlCol="0">
              <a:spAutoFit/>
            </a:bodyPr>
            <a:lstStyle/>
            <a:p>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rPr>
                <a:t>沉默客户</a:t>
              </a:r>
              <a:endParaRPr lang="zh-CN" altLang="en-US" sz="10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163" name="组合 162"/>
            <p:cNvGrpSpPr>
              <a:grpSpLocks noChangeAspect="1"/>
            </p:cNvGrpSpPr>
            <p:nvPr/>
          </p:nvGrpSpPr>
          <p:grpSpPr>
            <a:xfrm>
              <a:off x="4125346" y="1327411"/>
              <a:ext cx="300655" cy="288000"/>
              <a:chOff x="4370920" y="1776533"/>
              <a:chExt cx="3450159" cy="3304934"/>
            </a:xfrm>
          </p:grpSpPr>
          <p:sp>
            <p:nvSpPr>
              <p:cNvPr id="164" name="椭圆 163"/>
              <p:cNvSpPr/>
              <p:nvPr/>
            </p:nvSpPr>
            <p:spPr bwMode="auto">
              <a:xfrm>
                <a:off x="4370920" y="1776533"/>
                <a:ext cx="3450159" cy="3304933"/>
              </a:xfrm>
              <a:prstGeom prst="ellipse">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5" name="任意多边形 275"/>
              <p:cNvSpPr/>
              <p:nvPr/>
            </p:nvSpPr>
            <p:spPr bwMode="auto">
              <a:xfrm>
                <a:off x="5586895" y="3941122"/>
                <a:ext cx="1008726" cy="1140345"/>
              </a:xfrm>
              <a:custGeom>
                <a:avLst/>
                <a:gdLst>
                  <a:gd name="connsiteX0" fmla="*/ 377600 w 728698"/>
                  <a:gd name="connsiteY0" fmla="*/ 587 h 857239"/>
                  <a:gd name="connsiteX1" fmla="*/ 475757 w 728698"/>
                  <a:gd name="connsiteY1" fmla="*/ 26996 h 857239"/>
                  <a:gd name="connsiteX2" fmla="*/ 471982 w 728698"/>
                  <a:gd name="connsiteY2" fmla="*/ 49632 h 857239"/>
                  <a:gd name="connsiteX3" fmla="*/ 468206 w 728698"/>
                  <a:gd name="connsiteY3" fmla="*/ 53405 h 857239"/>
                  <a:gd name="connsiteX4" fmla="*/ 551262 w 728698"/>
                  <a:gd name="connsiteY4" fmla="*/ 128860 h 857239"/>
                  <a:gd name="connsiteX5" fmla="*/ 728698 w 728698"/>
                  <a:gd name="connsiteY5" fmla="*/ 457088 h 857239"/>
                  <a:gd name="connsiteX6" fmla="*/ 703215 w 728698"/>
                  <a:gd name="connsiteY6" fmla="*/ 784432 h 857239"/>
                  <a:gd name="connsiteX7" fmla="*/ 702197 w 728698"/>
                  <a:gd name="connsiteY7" fmla="*/ 810659 h 857239"/>
                  <a:gd name="connsiteX8" fmla="*/ 618926 w 728698"/>
                  <a:gd name="connsiteY8" fmla="*/ 832002 h 857239"/>
                  <a:gd name="connsiteX9" fmla="*/ 367775 w 728698"/>
                  <a:gd name="connsiteY9" fmla="*/ 857239 h 857239"/>
                  <a:gd name="connsiteX10" fmla="*/ 116625 w 728698"/>
                  <a:gd name="connsiteY10" fmla="*/ 832002 h 857239"/>
                  <a:gd name="connsiteX11" fmla="*/ 54345 w 728698"/>
                  <a:gd name="connsiteY11" fmla="*/ 816039 h 857239"/>
                  <a:gd name="connsiteX12" fmla="*/ 52103 w 728698"/>
                  <a:gd name="connsiteY12" fmla="*/ 784300 h 857239"/>
                  <a:gd name="connsiteX13" fmla="*/ 75 w 728698"/>
                  <a:gd name="connsiteY13" fmla="*/ 291088 h 857239"/>
                  <a:gd name="connsiteX14" fmla="*/ 283219 w 728698"/>
                  <a:gd name="connsiteY14" fmla="*/ 30769 h 857239"/>
                  <a:gd name="connsiteX15" fmla="*/ 377600 w 728698"/>
                  <a:gd name="connsiteY15" fmla="*/ 587 h 85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8698" h="857239">
                    <a:moveTo>
                      <a:pt x="377600" y="587"/>
                    </a:moveTo>
                    <a:cubicBezTo>
                      <a:pt x="385151" y="-3186"/>
                      <a:pt x="449330" y="11905"/>
                      <a:pt x="475757" y="26996"/>
                    </a:cubicBezTo>
                    <a:cubicBezTo>
                      <a:pt x="487083" y="34542"/>
                      <a:pt x="460656" y="42087"/>
                      <a:pt x="471982" y="49632"/>
                    </a:cubicBezTo>
                    <a:cubicBezTo>
                      <a:pt x="471982" y="49632"/>
                      <a:pt x="471982" y="49632"/>
                      <a:pt x="468206" y="53405"/>
                    </a:cubicBezTo>
                    <a:cubicBezTo>
                      <a:pt x="498408" y="79814"/>
                      <a:pt x="524835" y="106224"/>
                      <a:pt x="551262" y="128860"/>
                    </a:cubicBezTo>
                    <a:cubicBezTo>
                      <a:pt x="653194" y="226951"/>
                      <a:pt x="728698" y="340133"/>
                      <a:pt x="728698" y="457088"/>
                    </a:cubicBezTo>
                    <a:cubicBezTo>
                      <a:pt x="728698" y="547634"/>
                      <a:pt x="711710" y="623325"/>
                      <a:pt x="703215" y="784432"/>
                    </a:cubicBezTo>
                    <a:lnTo>
                      <a:pt x="702197" y="810659"/>
                    </a:lnTo>
                    <a:lnTo>
                      <a:pt x="618926" y="832002"/>
                    </a:lnTo>
                    <a:cubicBezTo>
                      <a:pt x="537802" y="848549"/>
                      <a:pt x="453807" y="857239"/>
                      <a:pt x="367775" y="857239"/>
                    </a:cubicBezTo>
                    <a:cubicBezTo>
                      <a:pt x="281744" y="857239"/>
                      <a:pt x="197749" y="848549"/>
                      <a:pt x="116625" y="832002"/>
                    </a:cubicBezTo>
                    <a:lnTo>
                      <a:pt x="54345" y="816039"/>
                    </a:lnTo>
                    <a:lnTo>
                      <a:pt x="52103" y="784300"/>
                    </a:lnTo>
                    <a:cubicBezTo>
                      <a:pt x="37651" y="608823"/>
                      <a:pt x="75" y="291088"/>
                      <a:pt x="75" y="291088"/>
                    </a:cubicBezTo>
                    <a:cubicBezTo>
                      <a:pt x="-3700" y="143951"/>
                      <a:pt x="135984" y="132633"/>
                      <a:pt x="283219" y="30769"/>
                    </a:cubicBezTo>
                    <a:cubicBezTo>
                      <a:pt x="305871" y="15678"/>
                      <a:pt x="370050" y="-3186"/>
                      <a:pt x="377600" y="587"/>
                    </a:cubicBezTo>
                    <a:close/>
                  </a:path>
                </a:pathLst>
              </a:custGeom>
              <a:solidFill>
                <a:srgbClr val="E86B7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6" name="任意多边形 276"/>
              <p:cNvSpPr/>
              <p:nvPr/>
            </p:nvSpPr>
            <p:spPr bwMode="auto">
              <a:xfrm>
                <a:off x="5988319" y="3962224"/>
                <a:ext cx="268102" cy="236519"/>
              </a:xfrm>
              <a:custGeom>
                <a:avLst/>
                <a:gdLst>
                  <a:gd name="T0" fmla="*/ 17 w 51"/>
                  <a:gd name="T1" fmla="*/ 7 h 47"/>
                  <a:gd name="T2" fmla="*/ 50 w 51"/>
                  <a:gd name="T3" fmla="*/ 9 h 47"/>
                  <a:gd name="T4" fmla="*/ 51 w 51"/>
                  <a:gd name="T5" fmla="*/ 23 h 47"/>
                  <a:gd name="T6" fmla="*/ 0 w 51"/>
                  <a:gd name="T7" fmla="*/ 24 h 47"/>
                  <a:gd name="T8" fmla="*/ 0 w 51"/>
                  <a:gd name="T9" fmla="*/ 0 h 47"/>
                  <a:gd name="T10" fmla="*/ 17 w 51"/>
                  <a:gd name="T11" fmla="*/ 7 h 47"/>
                </a:gdLst>
                <a:ahLst/>
                <a:cxnLst>
                  <a:cxn ang="0">
                    <a:pos x="T0" y="T1"/>
                  </a:cxn>
                  <a:cxn ang="0">
                    <a:pos x="T2" y="T3"/>
                  </a:cxn>
                  <a:cxn ang="0">
                    <a:pos x="T4" y="T5"/>
                  </a:cxn>
                  <a:cxn ang="0">
                    <a:pos x="T6" y="T7"/>
                  </a:cxn>
                  <a:cxn ang="0">
                    <a:pos x="T8" y="T9"/>
                  </a:cxn>
                  <a:cxn ang="0">
                    <a:pos x="T10" y="T11"/>
                  </a:cxn>
                </a:cxnLst>
                <a:rect l="0" t="0" r="r" b="b"/>
                <a:pathLst>
                  <a:path w="51" h="47">
                    <a:moveTo>
                      <a:pt x="17" y="7"/>
                    </a:moveTo>
                    <a:cubicBezTo>
                      <a:pt x="28" y="10"/>
                      <a:pt x="42" y="9"/>
                      <a:pt x="50" y="9"/>
                    </a:cubicBezTo>
                    <a:cubicBezTo>
                      <a:pt x="51" y="23"/>
                      <a:pt x="51" y="23"/>
                      <a:pt x="51" y="23"/>
                    </a:cubicBezTo>
                    <a:cubicBezTo>
                      <a:pt x="51" y="46"/>
                      <a:pt x="1" y="47"/>
                      <a:pt x="0" y="24"/>
                    </a:cubicBezTo>
                    <a:cubicBezTo>
                      <a:pt x="0" y="0"/>
                      <a:pt x="0" y="0"/>
                      <a:pt x="0" y="0"/>
                    </a:cubicBezTo>
                    <a:cubicBezTo>
                      <a:pt x="6" y="3"/>
                      <a:pt x="12" y="5"/>
                      <a:pt x="17" y="7"/>
                    </a:cubicBezTo>
                    <a:close/>
                  </a:path>
                </a:pathLst>
              </a:custGeom>
              <a:solidFill>
                <a:srgbClr val="F9D5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7" name="任意多边形 277"/>
              <p:cNvSpPr/>
              <p:nvPr/>
            </p:nvSpPr>
            <p:spPr bwMode="auto">
              <a:xfrm>
                <a:off x="5983924" y="3687692"/>
                <a:ext cx="265905" cy="164719"/>
              </a:xfrm>
              <a:custGeom>
                <a:avLst/>
                <a:gdLst>
                  <a:gd name="T0" fmla="*/ 0 w 51"/>
                  <a:gd name="T1" fmla="*/ 1 h 33"/>
                  <a:gd name="T2" fmla="*/ 50 w 51"/>
                  <a:gd name="T3" fmla="*/ 0 h 33"/>
                  <a:gd name="T4" fmla="*/ 51 w 51"/>
                  <a:gd name="T5" fmla="*/ 33 h 33"/>
                  <a:gd name="T6" fmla="*/ 0 w 51"/>
                  <a:gd name="T7" fmla="*/ 27 h 33"/>
                  <a:gd name="T8" fmla="*/ 0 w 51"/>
                  <a:gd name="T9" fmla="*/ 1 h 33"/>
                </a:gdLst>
                <a:ahLst/>
                <a:cxnLst>
                  <a:cxn ang="0">
                    <a:pos x="T0" y="T1"/>
                  </a:cxn>
                  <a:cxn ang="0">
                    <a:pos x="T2" y="T3"/>
                  </a:cxn>
                  <a:cxn ang="0">
                    <a:pos x="T4" y="T5"/>
                  </a:cxn>
                  <a:cxn ang="0">
                    <a:pos x="T6" y="T7"/>
                  </a:cxn>
                  <a:cxn ang="0">
                    <a:pos x="T8" y="T9"/>
                  </a:cxn>
                </a:cxnLst>
                <a:rect l="0" t="0" r="r" b="b"/>
                <a:pathLst>
                  <a:path w="51" h="33">
                    <a:moveTo>
                      <a:pt x="0" y="1"/>
                    </a:moveTo>
                    <a:cubicBezTo>
                      <a:pt x="50" y="0"/>
                      <a:pt x="50" y="0"/>
                      <a:pt x="50" y="0"/>
                    </a:cubicBezTo>
                    <a:cubicBezTo>
                      <a:pt x="51" y="33"/>
                      <a:pt x="51" y="33"/>
                      <a:pt x="51" y="33"/>
                    </a:cubicBezTo>
                    <a:cubicBezTo>
                      <a:pt x="35" y="31"/>
                      <a:pt x="13" y="29"/>
                      <a:pt x="0" y="27"/>
                    </a:cubicBezTo>
                    <a:lnTo>
                      <a:pt x="0" y="1"/>
                    </a:lnTo>
                    <a:close/>
                  </a:path>
                </a:pathLst>
              </a:custGeom>
              <a:solidFill>
                <a:srgbClr val="F9CB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8" name="任意多边形 278"/>
              <p:cNvSpPr/>
              <p:nvPr/>
            </p:nvSpPr>
            <p:spPr bwMode="auto">
              <a:xfrm>
                <a:off x="5983924" y="3822846"/>
                <a:ext cx="265905" cy="219625"/>
              </a:xfrm>
              <a:custGeom>
                <a:avLst/>
                <a:gdLst>
                  <a:gd name="T0" fmla="*/ 18 w 51"/>
                  <a:gd name="T1" fmla="*/ 35 h 44"/>
                  <a:gd name="T2" fmla="*/ 1 w 51"/>
                  <a:gd name="T3" fmla="*/ 28 h 44"/>
                  <a:gd name="T4" fmla="*/ 0 w 51"/>
                  <a:gd name="T5" fmla="*/ 0 h 44"/>
                  <a:gd name="T6" fmla="*/ 51 w 51"/>
                  <a:gd name="T7" fmla="*/ 6 h 44"/>
                  <a:gd name="T8" fmla="*/ 51 w 51"/>
                  <a:gd name="T9" fmla="*/ 37 h 44"/>
                  <a:gd name="T10" fmla="*/ 18 w 51"/>
                  <a:gd name="T11" fmla="*/ 35 h 44"/>
                </a:gdLst>
                <a:ahLst/>
                <a:cxnLst>
                  <a:cxn ang="0">
                    <a:pos x="T0" y="T1"/>
                  </a:cxn>
                  <a:cxn ang="0">
                    <a:pos x="T2" y="T3"/>
                  </a:cxn>
                  <a:cxn ang="0">
                    <a:pos x="T4" y="T5"/>
                  </a:cxn>
                  <a:cxn ang="0">
                    <a:pos x="T6" y="T7"/>
                  </a:cxn>
                  <a:cxn ang="0">
                    <a:pos x="T8" y="T9"/>
                  </a:cxn>
                  <a:cxn ang="0">
                    <a:pos x="T10" y="T11"/>
                  </a:cxn>
                </a:cxnLst>
                <a:rect l="0" t="0" r="r" b="b"/>
                <a:pathLst>
                  <a:path w="51" h="44">
                    <a:moveTo>
                      <a:pt x="18" y="35"/>
                    </a:moveTo>
                    <a:cubicBezTo>
                      <a:pt x="13" y="33"/>
                      <a:pt x="7" y="31"/>
                      <a:pt x="1" y="28"/>
                    </a:cubicBezTo>
                    <a:cubicBezTo>
                      <a:pt x="0" y="0"/>
                      <a:pt x="0" y="0"/>
                      <a:pt x="0" y="0"/>
                    </a:cubicBezTo>
                    <a:cubicBezTo>
                      <a:pt x="13" y="2"/>
                      <a:pt x="35" y="4"/>
                      <a:pt x="51" y="6"/>
                    </a:cubicBezTo>
                    <a:cubicBezTo>
                      <a:pt x="51" y="37"/>
                      <a:pt x="51" y="37"/>
                      <a:pt x="51" y="37"/>
                    </a:cubicBezTo>
                    <a:cubicBezTo>
                      <a:pt x="35" y="44"/>
                      <a:pt x="29" y="38"/>
                      <a:pt x="18" y="35"/>
                    </a:cubicBezTo>
                    <a:close/>
                  </a:path>
                </a:pathLst>
              </a:custGeom>
              <a:solidFill>
                <a:srgbClr val="E5B39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9" name="任意多边形 279"/>
              <p:cNvSpPr/>
              <p:nvPr/>
            </p:nvSpPr>
            <p:spPr bwMode="auto">
              <a:xfrm>
                <a:off x="5665280" y="2644474"/>
                <a:ext cx="1015270" cy="1338867"/>
              </a:xfrm>
              <a:custGeom>
                <a:avLst/>
                <a:gdLst>
                  <a:gd name="T0" fmla="*/ 119 w 194"/>
                  <a:gd name="T1" fmla="*/ 260 h 267"/>
                  <a:gd name="T2" fmla="*/ 186 w 194"/>
                  <a:gd name="T3" fmla="*/ 164 h 267"/>
                  <a:gd name="T4" fmla="*/ 171 w 194"/>
                  <a:gd name="T5" fmla="*/ 76 h 267"/>
                  <a:gd name="T6" fmla="*/ 76 w 194"/>
                  <a:gd name="T7" fmla="*/ 8 h 267"/>
                  <a:gd name="T8" fmla="*/ 8 w 194"/>
                  <a:gd name="T9" fmla="*/ 103 h 267"/>
                  <a:gd name="T10" fmla="*/ 23 w 194"/>
                  <a:gd name="T11" fmla="*/ 192 h 267"/>
                  <a:gd name="T12" fmla="*/ 119 w 194"/>
                  <a:gd name="T13" fmla="*/ 260 h 267"/>
                </a:gdLst>
                <a:ahLst/>
                <a:cxnLst>
                  <a:cxn ang="0">
                    <a:pos x="T0" y="T1"/>
                  </a:cxn>
                  <a:cxn ang="0">
                    <a:pos x="T2" y="T3"/>
                  </a:cxn>
                  <a:cxn ang="0">
                    <a:pos x="T4" y="T5"/>
                  </a:cxn>
                  <a:cxn ang="0">
                    <a:pos x="T6" y="T7"/>
                  </a:cxn>
                  <a:cxn ang="0">
                    <a:pos x="T8" y="T9"/>
                  </a:cxn>
                  <a:cxn ang="0">
                    <a:pos x="T10" y="T11"/>
                  </a:cxn>
                  <a:cxn ang="0">
                    <a:pos x="T12" y="T13"/>
                  </a:cxn>
                </a:cxnLst>
                <a:rect l="0" t="0" r="r" b="b"/>
                <a:pathLst>
                  <a:path w="194" h="267">
                    <a:moveTo>
                      <a:pt x="119" y="260"/>
                    </a:moveTo>
                    <a:cubicBezTo>
                      <a:pt x="164" y="252"/>
                      <a:pt x="194" y="209"/>
                      <a:pt x="186" y="164"/>
                    </a:cubicBezTo>
                    <a:cubicBezTo>
                      <a:pt x="171" y="76"/>
                      <a:pt x="171" y="76"/>
                      <a:pt x="171" y="76"/>
                    </a:cubicBezTo>
                    <a:cubicBezTo>
                      <a:pt x="164" y="30"/>
                      <a:pt x="121" y="0"/>
                      <a:pt x="76" y="8"/>
                    </a:cubicBezTo>
                    <a:cubicBezTo>
                      <a:pt x="31" y="15"/>
                      <a:pt x="0" y="58"/>
                      <a:pt x="8" y="103"/>
                    </a:cubicBezTo>
                    <a:cubicBezTo>
                      <a:pt x="23" y="192"/>
                      <a:pt x="23" y="192"/>
                      <a:pt x="23" y="192"/>
                    </a:cubicBezTo>
                    <a:cubicBezTo>
                      <a:pt x="31" y="237"/>
                      <a:pt x="74" y="267"/>
                      <a:pt x="119" y="260"/>
                    </a:cubicBezTo>
                  </a:path>
                </a:pathLst>
              </a:custGeom>
              <a:solidFill>
                <a:srgbClr val="E5B39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0" name="任意多边形 280"/>
              <p:cNvSpPr/>
              <p:nvPr/>
            </p:nvSpPr>
            <p:spPr bwMode="auto">
              <a:xfrm>
                <a:off x="5759774" y="2638138"/>
                <a:ext cx="925171" cy="1334643"/>
              </a:xfrm>
              <a:custGeom>
                <a:avLst/>
                <a:gdLst>
                  <a:gd name="T0" fmla="*/ 112 w 177"/>
                  <a:gd name="T1" fmla="*/ 259 h 266"/>
                  <a:gd name="T2" fmla="*/ 170 w 177"/>
                  <a:gd name="T3" fmla="*/ 172 h 266"/>
                  <a:gd name="T4" fmla="*/ 157 w 177"/>
                  <a:gd name="T5" fmla="*/ 69 h 266"/>
                  <a:gd name="T6" fmla="*/ 69 w 177"/>
                  <a:gd name="T7" fmla="*/ 7 h 266"/>
                  <a:gd name="T8" fmla="*/ 7 w 177"/>
                  <a:gd name="T9" fmla="*/ 95 h 266"/>
                  <a:gd name="T10" fmla="*/ 24 w 177"/>
                  <a:gd name="T11" fmla="*/ 196 h 266"/>
                  <a:gd name="T12" fmla="*/ 112 w 177"/>
                  <a:gd name="T13" fmla="*/ 259 h 266"/>
                </a:gdLst>
                <a:ahLst/>
                <a:cxnLst>
                  <a:cxn ang="0">
                    <a:pos x="T0" y="T1"/>
                  </a:cxn>
                  <a:cxn ang="0">
                    <a:pos x="T2" y="T3"/>
                  </a:cxn>
                  <a:cxn ang="0">
                    <a:pos x="T4" y="T5"/>
                  </a:cxn>
                  <a:cxn ang="0">
                    <a:pos x="T6" y="T7"/>
                  </a:cxn>
                  <a:cxn ang="0">
                    <a:pos x="T8" y="T9"/>
                  </a:cxn>
                  <a:cxn ang="0">
                    <a:pos x="T10" y="T11"/>
                  </a:cxn>
                  <a:cxn ang="0">
                    <a:pos x="T12" y="T13"/>
                  </a:cxn>
                </a:cxnLst>
                <a:rect l="0" t="0" r="r" b="b"/>
                <a:pathLst>
                  <a:path w="177" h="266">
                    <a:moveTo>
                      <a:pt x="112" y="259"/>
                    </a:moveTo>
                    <a:cubicBezTo>
                      <a:pt x="154" y="251"/>
                      <a:pt x="177" y="214"/>
                      <a:pt x="170" y="172"/>
                    </a:cubicBezTo>
                    <a:cubicBezTo>
                      <a:pt x="157" y="69"/>
                      <a:pt x="157" y="69"/>
                      <a:pt x="157" y="69"/>
                    </a:cubicBezTo>
                    <a:cubicBezTo>
                      <a:pt x="150" y="28"/>
                      <a:pt x="111" y="0"/>
                      <a:pt x="69" y="7"/>
                    </a:cubicBezTo>
                    <a:cubicBezTo>
                      <a:pt x="28" y="14"/>
                      <a:pt x="0" y="53"/>
                      <a:pt x="7" y="95"/>
                    </a:cubicBezTo>
                    <a:cubicBezTo>
                      <a:pt x="24" y="196"/>
                      <a:pt x="24" y="196"/>
                      <a:pt x="24" y="196"/>
                    </a:cubicBezTo>
                    <a:cubicBezTo>
                      <a:pt x="31" y="238"/>
                      <a:pt x="71" y="266"/>
                      <a:pt x="112" y="259"/>
                    </a:cubicBezTo>
                  </a:path>
                </a:pathLst>
              </a:custGeom>
              <a:solidFill>
                <a:srgbClr val="F9D5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1" name="任意多边形 281"/>
              <p:cNvSpPr/>
              <p:nvPr/>
            </p:nvSpPr>
            <p:spPr bwMode="auto">
              <a:xfrm>
                <a:off x="5968542" y="3535644"/>
                <a:ext cx="167014" cy="65466"/>
              </a:xfrm>
              <a:custGeom>
                <a:avLst/>
                <a:gdLst>
                  <a:gd name="T0" fmla="*/ 20 w 32"/>
                  <a:gd name="T1" fmla="*/ 0 h 13"/>
                  <a:gd name="T2" fmla="*/ 14 w 32"/>
                  <a:gd name="T3" fmla="*/ 0 h 13"/>
                  <a:gd name="T4" fmla="*/ 1 w 32"/>
                  <a:gd name="T5" fmla="*/ 9 h 13"/>
                  <a:gd name="T6" fmla="*/ 12 w 32"/>
                  <a:gd name="T7" fmla="*/ 13 h 13"/>
                  <a:gd name="T8" fmla="*/ 18 w 32"/>
                  <a:gd name="T9" fmla="*/ 12 h 13"/>
                  <a:gd name="T10" fmla="*/ 31 w 32"/>
                  <a:gd name="T11" fmla="*/ 4 h 13"/>
                  <a:gd name="T12" fmla="*/ 20 w 32"/>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2" h="13">
                    <a:moveTo>
                      <a:pt x="20" y="0"/>
                    </a:moveTo>
                    <a:cubicBezTo>
                      <a:pt x="18" y="0"/>
                      <a:pt x="16" y="0"/>
                      <a:pt x="14" y="0"/>
                    </a:cubicBezTo>
                    <a:cubicBezTo>
                      <a:pt x="6" y="2"/>
                      <a:pt x="0" y="6"/>
                      <a:pt x="1" y="9"/>
                    </a:cubicBezTo>
                    <a:cubicBezTo>
                      <a:pt x="2" y="11"/>
                      <a:pt x="6" y="13"/>
                      <a:pt x="12" y="13"/>
                    </a:cubicBezTo>
                    <a:cubicBezTo>
                      <a:pt x="14" y="13"/>
                      <a:pt x="16" y="13"/>
                      <a:pt x="18" y="12"/>
                    </a:cubicBezTo>
                    <a:cubicBezTo>
                      <a:pt x="26" y="11"/>
                      <a:pt x="32" y="7"/>
                      <a:pt x="31" y="4"/>
                    </a:cubicBezTo>
                    <a:cubicBezTo>
                      <a:pt x="30" y="1"/>
                      <a:pt x="26" y="0"/>
                      <a:pt x="20" y="0"/>
                    </a:cubicBezTo>
                  </a:path>
                </a:pathLst>
              </a:custGeom>
              <a:solidFill>
                <a:srgbClr val="F4C2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2" name="任意多边形 282"/>
              <p:cNvSpPr/>
              <p:nvPr/>
            </p:nvSpPr>
            <p:spPr bwMode="auto">
              <a:xfrm>
                <a:off x="6454201" y="3440614"/>
                <a:ext cx="173607" cy="69689"/>
              </a:xfrm>
              <a:custGeom>
                <a:avLst/>
                <a:gdLst>
                  <a:gd name="T0" fmla="*/ 22 w 33"/>
                  <a:gd name="T1" fmla="*/ 0 h 14"/>
                  <a:gd name="T2" fmla="*/ 14 w 33"/>
                  <a:gd name="T3" fmla="*/ 1 h 14"/>
                  <a:gd name="T4" fmla="*/ 2 w 33"/>
                  <a:gd name="T5" fmla="*/ 10 h 14"/>
                  <a:gd name="T6" fmla="*/ 11 w 33"/>
                  <a:gd name="T7" fmla="*/ 14 h 14"/>
                  <a:gd name="T8" fmla="*/ 19 w 33"/>
                  <a:gd name="T9" fmla="*/ 12 h 14"/>
                  <a:gd name="T10" fmla="*/ 31 w 33"/>
                  <a:gd name="T11" fmla="*/ 3 h 14"/>
                  <a:gd name="T12" fmla="*/ 22 w 33"/>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3" h="14">
                    <a:moveTo>
                      <a:pt x="22" y="0"/>
                    </a:moveTo>
                    <a:cubicBezTo>
                      <a:pt x="20" y="0"/>
                      <a:pt x="17" y="0"/>
                      <a:pt x="14" y="1"/>
                    </a:cubicBezTo>
                    <a:cubicBezTo>
                      <a:pt x="6" y="3"/>
                      <a:pt x="0" y="7"/>
                      <a:pt x="2" y="10"/>
                    </a:cubicBezTo>
                    <a:cubicBezTo>
                      <a:pt x="3" y="12"/>
                      <a:pt x="6" y="14"/>
                      <a:pt x="11" y="14"/>
                    </a:cubicBezTo>
                    <a:cubicBezTo>
                      <a:pt x="13" y="14"/>
                      <a:pt x="16" y="13"/>
                      <a:pt x="19" y="12"/>
                    </a:cubicBezTo>
                    <a:cubicBezTo>
                      <a:pt x="27" y="10"/>
                      <a:pt x="33" y="6"/>
                      <a:pt x="31" y="3"/>
                    </a:cubicBezTo>
                    <a:cubicBezTo>
                      <a:pt x="31" y="1"/>
                      <a:pt x="27" y="0"/>
                      <a:pt x="22" y="0"/>
                    </a:cubicBezTo>
                  </a:path>
                </a:pathLst>
              </a:custGeom>
              <a:solidFill>
                <a:srgbClr val="F4C2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3" name="任意多边形 283"/>
              <p:cNvSpPr/>
              <p:nvPr/>
            </p:nvSpPr>
            <p:spPr bwMode="auto">
              <a:xfrm>
                <a:off x="5555402" y="3366702"/>
                <a:ext cx="303262" cy="354779"/>
              </a:xfrm>
              <a:custGeom>
                <a:avLst/>
                <a:gdLst>
                  <a:gd name="T0" fmla="*/ 52 w 58"/>
                  <a:gd name="T1" fmla="*/ 31 h 71"/>
                  <a:gd name="T2" fmla="*/ 39 w 58"/>
                  <a:gd name="T3" fmla="*/ 68 h 71"/>
                  <a:gd name="T4" fmla="*/ 5 w 58"/>
                  <a:gd name="T5" fmla="*/ 40 h 71"/>
                  <a:gd name="T6" fmla="*/ 18 w 58"/>
                  <a:gd name="T7" fmla="*/ 3 h 71"/>
                  <a:gd name="T8" fmla="*/ 52 w 58"/>
                  <a:gd name="T9" fmla="*/ 31 h 71"/>
                </a:gdLst>
                <a:ahLst/>
                <a:cxnLst>
                  <a:cxn ang="0">
                    <a:pos x="T0" y="T1"/>
                  </a:cxn>
                  <a:cxn ang="0">
                    <a:pos x="T2" y="T3"/>
                  </a:cxn>
                  <a:cxn ang="0">
                    <a:pos x="T4" y="T5"/>
                  </a:cxn>
                  <a:cxn ang="0">
                    <a:pos x="T6" y="T7"/>
                  </a:cxn>
                  <a:cxn ang="0">
                    <a:pos x="T8" y="T9"/>
                  </a:cxn>
                </a:cxnLst>
                <a:rect l="0" t="0" r="r" b="b"/>
                <a:pathLst>
                  <a:path w="58" h="71">
                    <a:moveTo>
                      <a:pt x="52" y="31"/>
                    </a:moveTo>
                    <a:cubicBezTo>
                      <a:pt x="58" y="49"/>
                      <a:pt x="52" y="66"/>
                      <a:pt x="39" y="68"/>
                    </a:cubicBezTo>
                    <a:cubicBezTo>
                      <a:pt x="27" y="71"/>
                      <a:pt x="11" y="58"/>
                      <a:pt x="5" y="40"/>
                    </a:cubicBezTo>
                    <a:cubicBezTo>
                      <a:pt x="0" y="22"/>
                      <a:pt x="5" y="5"/>
                      <a:pt x="18" y="3"/>
                    </a:cubicBezTo>
                    <a:cubicBezTo>
                      <a:pt x="31" y="0"/>
                      <a:pt x="46" y="12"/>
                      <a:pt x="52" y="31"/>
                    </a:cubicBezTo>
                    <a:close/>
                  </a:path>
                </a:pathLst>
              </a:custGeom>
              <a:solidFill>
                <a:srgbClr val="E5B39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4" name="任意多边形 284"/>
              <p:cNvSpPr/>
              <p:nvPr/>
            </p:nvSpPr>
            <p:spPr bwMode="auto">
              <a:xfrm>
                <a:off x="5518043" y="2543109"/>
                <a:ext cx="1155913" cy="918624"/>
              </a:xfrm>
              <a:custGeom>
                <a:avLst/>
                <a:gdLst>
                  <a:gd name="T0" fmla="*/ 58 w 221"/>
                  <a:gd name="T1" fmla="*/ 98 h 183"/>
                  <a:gd name="T2" fmla="*/ 218 w 221"/>
                  <a:gd name="T3" fmla="*/ 109 h 183"/>
                  <a:gd name="T4" fmla="*/ 191 w 221"/>
                  <a:gd name="T5" fmla="*/ 28 h 183"/>
                  <a:gd name="T6" fmla="*/ 38 w 221"/>
                  <a:gd name="T7" fmla="*/ 30 h 183"/>
                  <a:gd name="T8" fmla="*/ 0 w 221"/>
                  <a:gd name="T9" fmla="*/ 106 h 183"/>
                  <a:gd name="T10" fmla="*/ 29 w 221"/>
                  <a:gd name="T11" fmla="*/ 169 h 183"/>
                  <a:gd name="T12" fmla="*/ 50 w 221"/>
                  <a:gd name="T13" fmla="*/ 183 h 183"/>
                  <a:gd name="T14" fmla="*/ 59 w 221"/>
                  <a:gd name="T15" fmla="*/ 163 h 183"/>
                  <a:gd name="T16" fmla="*/ 58 w 221"/>
                  <a:gd name="T17" fmla="*/ 9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 h="183">
                    <a:moveTo>
                      <a:pt x="58" y="98"/>
                    </a:moveTo>
                    <a:cubicBezTo>
                      <a:pt x="58" y="98"/>
                      <a:pt x="117" y="136"/>
                      <a:pt x="218" y="109"/>
                    </a:cubicBezTo>
                    <a:cubicBezTo>
                      <a:pt x="218" y="109"/>
                      <a:pt x="221" y="52"/>
                      <a:pt x="191" y="28"/>
                    </a:cubicBezTo>
                    <a:cubicBezTo>
                      <a:pt x="161" y="5"/>
                      <a:pt x="81" y="0"/>
                      <a:pt x="38" y="30"/>
                    </a:cubicBezTo>
                    <a:cubicBezTo>
                      <a:pt x="23" y="41"/>
                      <a:pt x="0" y="55"/>
                      <a:pt x="0" y="106"/>
                    </a:cubicBezTo>
                    <a:cubicBezTo>
                      <a:pt x="0" y="135"/>
                      <a:pt x="29" y="169"/>
                      <a:pt x="29" y="169"/>
                    </a:cubicBezTo>
                    <a:cubicBezTo>
                      <a:pt x="29" y="169"/>
                      <a:pt x="41" y="169"/>
                      <a:pt x="50" y="183"/>
                    </a:cubicBezTo>
                    <a:cubicBezTo>
                      <a:pt x="50" y="183"/>
                      <a:pt x="55" y="172"/>
                      <a:pt x="59" y="163"/>
                    </a:cubicBezTo>
                    <a:cubicBezTo>
                      <a:pt x="59" y="163"/>
                      <a:pt x="71" y="132"/>
                      <a:pt x="58" y="98"/>
                    </a:cubicBezTo>
                    <a:close/>
                  </a:path>
                </a:pathLst>
              </a:custGeom>
              <a:solidFill>
                <a:srgbClr val="996C3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5" name="任意多边形 285"/>
              <p:cNvSpPr/>
              <p:nvPr/>
            </p:nvSpPr>
            <p:spPr bwMode="auto">
              <a:xfrm>
                <a:off x="6282792" y="3670798"/>
                <a:ext cx="151632" cy="86584"/>
              </a:xfrm>
              <a:custGeom>
                <a:avLst/>
                <a:gdLst>
                  <a:gd name="T0" fmla="*/ 29 w 29"/>
                  <a:gd name="T1" fmla="*/ 0 h 17"/>
                  <a:gd name="T2" fmla="*/ 17 w 29"/>
                  <a:gd name="T3" fmla="*/ 4 h 17"/>
                  <a:gd name="T4" fmla="*/ 0 w 29"/>
                  <a:gd name="T5" fmla="*/ 3 h 17"/>
                  <a:gd name="T6" fmla="*/ 3 w 29"/>
                  <a:gd name="T7" fmla="*/ 11 h 17"/>
                  <a:gd name="T8" fmla="*/ 16 w 29"/>
                  <a:gd name="T9" fmla="*/ 16 h 17"/>
                  <a:gd name="T10" fmla="*/ 23 w 29"/>
                  <a:gd name="T11" fmla="*/ 13 h 17"/>
                  <a:gd name="T12" fmla="*/ 29 w 29"/>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29" h="17">
                    <a:moveTo>
                      <a:pt x="29" y="0"/>
                    </a:moveTo>
                    <a:cubicBezTo>
                      <a:pt x="29" y="0"/>
                      <a:pt x="24" y="2"/>
                      <a:pt x="17" y="4"/>
                    </a:cubicBezTo>
                    <a:cubicBezTo>
                      <a:pt x="10" y="5"/>
                      <a:pt x="0" y="3"/>
                      <a:pt x="0" y="3"/>
                    </a:cubicBezTo>
                    <a:cubicBezTo>
                      <a:pt x="0" y="3"/>
                      <a:pt x="0" y="7"/>
                      <a:pt x="3" y="11"/>
                    </a:cubicBezTo>
                    <a:cubicBezTo>
                      <a:pt x="6" y="14"/>
                      <a:pt x="10" y="17"/>
                      <a:pt x="16" y="16"/>
                    </a:cubicBezTo>
                    <a:cubicBezTo>
                      <a:pt x="19" y="15"/>
                      <a:pt x="21" y="15"/>
                      <a:pt x="23" y="13"/>
                    </a:cubicBezTo>
                    <a:cubicBezTo>
                      <a:pt x="29" y="9"/>
                      <a:pt x="29" y="0"/>
                      <a:pt x="29"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6" name="任意多边形 286"/>
              <p:cNvSpPr/>
              <p:nvPr/>
            </p:nvSpPr>
            <p:spPr bwMode="auto">
              <a:xfrm>
                <a:off x="5421398" y="4074014"/>
                <a:ext cx="586253" cy="979871"/>
              </a:xfrm>
              <a:custGeom>
                <a:avLst/>
                <a:gdLst>
                  <a:gd name="connsiteX0" fmla="*/ 263027 w 423506"/>
                  <a:gd name="connsiteY0" fmla="*/ 321 h 736605"/>
                  <a:gd name="connsiteX1" fmla="*/ 387634 w 423506"/>
                  <a:gd name="connsiteY1" fmla="*/ 40375 h 736605"/>
                  <a:gd name="connsiteX2" fmla="*/ 402738 w 423506"/>
                  <a:gd name="connsiteY2" fmla="*/ 232631 h 736605"/>
                  <a:gd name="connsiteX3" fmla="*/ 266331 w 423506"/>
                  <a:gd name="connsiteY3" fmla="*/ 680286 h 736605"/>
                  <a:gd name="connsiteX4" fmla="*/ 265778 w 423506"/>
                  <a:gd name="connsiteY4" fmla="*/ 736605 h 736605"/>
                  <a:gd name="connsiteX5" fmla="*/ 236179 w 423506"/>
                  <a:gd name="connsiteY5" fmla="*/ 732102 h 736605"/>
                  <a:gd name="connsiteX6" fmla="*/ 116751 w 423506"/>
                  <a:gd name="connsiteY6" fmla="*/ 701491 h 736605"/>
                  <a:gd name="connsiteX7" fmla="*/ 3293 w 423506"/>
                  <a:gd name="connsiteY7" fmla="*/ 660098 h 736605"/>
                  <a:gd name="connsiteX8" fmla="*/ 2012 w 423506"/>
                  <a:gd name="connsiteY8" fmla="*/ 649657 h 736605"/>
                  <a:gd name="connsiteX9" fmla="*/ 161075 w 423506"/>
                  <a:gd name="connsiteY9" fmla="*/ 36605 h 736605"/>
                  <a:gd name="connsiteX10" fmla="*/ 263027 w 423506"/>
                  <a:gd name="connsiteY10" fmla="*/ 321 h 736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506" h="736605">
                    <a:moveTo>
                      <a:pt x="263027" y="321"/>
                    </a:moveTo>
                    <a:cubicBezTo>
                      <a:pt x="308339" y="-2035"/>
                      <a:pt x="357427" y="8332"/>
                      <a:pt x="387634" y="40375"/>
                    </a:cubicBezTo>
                    <a:cubicBezTo>
                      <a:pt x="440498" y="96920"/>
                      <a:pt x="425394" y="202473"/>
                      <a:pt x="402738" y="232631"/>
                    </a:cubicBezTo>
                    <a:cubicBezTo>
                      <a:pt x="319667" y="343838"/>
                      <a:pt x="276243" y="510648"/>
                      <a:pt x="266331" y="680286"/>
                    </a:cubicBezTo>
                    <a:lnTo>
                      <a:pt x="265778" y="736605"/>
                    </a:lnTo>
                    <a:lnTo>
                      <a:pt x="236179" y="732102"/>
                    </a:lnTo>
                    <a:cubicBezTo>
                      <a:pt x="195617" y="723828"/>
                      <a:pt x="155773" y="713590"/>
                      <a:pt x="116751" y="701491"/>
                    </a:cubicBezTo>
                    <a:lnTo>
                      <a:pt x="3293" y="660098"/>
                    </a:lnTo>
                    <a:lnTo>
                      <a:pt x="2012" y="649657"/>
                    </a:lnTo>
                    <a:cubicBezTo>
                      <a:pt x="-10732" y="424887"/>
                      <a:pt x="36468" y="198703"/>
                      <a:pt x="161075" y="36605"/>
                    </a:cubicBezTo>
                    <a:cubicBezTo>
                      <a:pt x="176179" y="17756"/>
                      <a:pt x="217715" y="2677"/>
                      <a:pt x="263027" y="321"/>
                    </a:cubicBezTo>
                    <a:close/>
                  </a:path>
                </a:pathLst>
              </a:custGeom>
              <a:solidFill>
                <a:srgbClr val="D64D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7" name="椭圆 176"/>
              <p:cNvSpPr/>
              <p:nvPr/>
            </p:nvSpPr>
            <p:spPr bwMode="auto">
              <a:xfrm>
                <a:off x="5241151" y="2524102"/>
                <a:ext cx="496647" cy="475151"/>
              </a:xfrm>
              <a:prstGeom prst="ellipse">
                <a:avLst/>
              </a:prstGeom>
              <a:solidFill>
                <a:srgbClr val="996C3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8" name="任意多边形 288"/>
              <p:cNvSpPr/>
              <p:nvPr/>
            </p:nvSpPr>
            <p:spPr bwMode="auto">
              <a:xfrm>
                <a:off x="6403658" y="3220989"/>
                <a:ext cx="167014" cy="139377"/>
              </a:xfrm>
              <a:custGeom>
                <a:avLst/>
                <a:gdLst>
                  <a:gd name="T0" fmla="*/ 5 w 32"/>
                  <a:gd name="T1" fmla="*/ 28 h 28"/>
                  <a:gd name="T2" fmla="*/ 14 w 32"/>
                  <a:gd name="T3" fmla="*/ 2 h 28"/>
                  <a:gd name="T4" fmla="*/ 32 w 32"/>
                  <a:gd name="T5" fmla="*/ 23 h 28"/>
                  <a:gd name="T6" fmla="*/ 16 w 32"/>
                  <a:gd name="T7" fmla="*/ 9 h 28"/>
                  <a:gd name="T8" fmla="*/ 5 w 32"/>
                  <a:gd name="T9" fmla="*/ 28 h 28"/>
                </a:gdLst>
                <a:ahLst/>
                <a:cxnLst>
                  <a:cxn ang="0">
                    <a:pos x="T0" y="T1"/>
                  </a:cxn>
                  <a:cxn ang="0">
                    <a:pos x="T2" y="T3"/>
                  </a:cxn>
                  <a:cxn ang="0">
                    <a:pos x="T4" y="T5"/>
                  </a:cxn>
                  <a:cxn ang="0">
                    <a:pos x="T6" y="T7"/>
                  </a:cxn>
                  <a:cxn ang="0">
                    <a:pos x="T8" y="T9"/>
                  </a:cxn>
                </a:cxnLst>
                <a:rect l="0" t="0" r="r" b="b"/>
                <a:pathLst>
                  <a:path w="32" h="28">
                    <a:moveTo>
                      <a:pt x="5" y="28"/>
                    </a:moveTo>
                    <a:cubicBezTo>
                      <a:pt x="5" y="28"/>
                      <a:pt x="0" y="4"/>
                      <a:pt x="14" y="2"/>
                    </a:cubicBezTo>
                    <a:cubicBezTo>
                      <a:pt x="29" y="0"/>
                      <a:pt x="32" y="23"/>
                      <a:pt x="32" y="23"/>
                    </a:cubicBezTo>
                    <a:cubicBezTo>
                      <a:pt x="32" y="23"/>
                      <a:pt x="24" y="7"/>
                      <a:pt x="16" y="9"/>
                    </a:cubicBezTo>
                    <a:cubicBezTo>
                      <a:pt x="8" y="11"/>
                      <a:pt x="5" y="28"/>
                      <a:pt x="5" y="28"/>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9" name="任意多边形 289"/>
              <p:cNvSpPr/>
              <p:nvPr/>
            </p:nvSpPr>
            <p:spPr bwMode="auto">
              <a:xfrm>
                <a:off x="6005900" y="3286455"/>
                <a:ext cx="160422" cy="143601"/>
              </a:xfrm>
              <a:custGeom>
                <a:avLst/>
                <a:gdLst>
                  <a:gd name="T0" fmla="*/ 4 w 31"/>
                  <a:gd name="T1" fmla="*/ 29 h 29"/>
                  <a:gd name="T2" fmla="*/ 14 w 31"/>
                  <a:gd name="T3" fmla="*/ 2 h 29"/>
                  <a:gd name="T4" fmla="*/ 31 w 31"/>
                  <a:gd name="T5" fmla="*/ 24 h 29"/>
                  <a:gd name="T6" fmla="*/ 15 w 31"/>
                  <a:gd name="T7" fmla="*/ 9 h 29"/>
                  <a:gd name="T8" fmla="*/ 4 w 31"/>
                  <a:gd name="T9" fmla="*/ 29 h 29"/>
                </a:gdLst>
                <a:ahLst/>
                <a:cxnLst>
                  <a:cxn ang="0">
                    <a:pos x="T0" y="T1"/>
                  </a:cxn>
                  <a:cxn ang="0">
                    <a:pos x="T2" y="T3"/>
                  </a:cxn>
                  <a:cxn ang="0">
                    <a:pos x="T4" y="T5"/>
                  </a:cxn>
                  <a:cxn ang="0">
                    <a:pos x="T6" y="T7"/>
                  </a:cxn>
                  <a:cxn ang="0">
                    <a:pos x="T8" y="T9"/>
                  </a:cxn>
                </a:cxnLst>
                <a:rect l="0" t="0" r="r" b="b"/>
                <a:pathLst>
                  <a:path w="31" h="29">
                    <a:moveTo>
                      <a:pt x="4" y="29"/>
                    </a:moveTo>
                    <a:cubicBezTo>
                      <a:pt x="4" y="29"/>
                      <a:pt x="0" y="4"/>
                      <a:pt x="14" y="2"/>
                    </a:cubicBezTo>
                    <a:cubicBezTo>
                      <a:pt x="28" y="0"/>
                      <a:pt x="31" y="24"/>
                      <a:pt x="31" y="24"/>
                    </a:cubicBezTo>
                    <a:cubicBezTo>
                      <a:pt x="31" y="24"/>
                      <a:pt x="23" y="7"/>
                      <a:pt x="15" y="9"/>
                    </a:cubicBezTo>
                    <a:cubicBezTo>
                      <a:pt x="7" y="11"/>
                      <a:pt x="4" y="29"/>
                      <a:pt x="4" y="29"/>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80" name="任意多边形 290"/>
              <p:cNvSpPr/>
              <p:nvPr/>
            </p:nvSpPr>
            <p:spPr bwMode="auto">
              <a:xfrm>
                <a:off x="6392669" y="3100618"/>
                <a:ext cx="145039" cy="48572"/>
              </a:xfrm>
              <a:custGeom>
                <a:avLst/>
                <a:gdLst>
                  <a:gd name="T0" fmla="*/ 27 w 28"/>
                  <a:gd name="T1" fmla="*/ 9 h 10"/>
                  <a:gd name="T2" fmla="*/ 25 w 28"/>
                  <a:gd name="T3" fmla="*/ 9 h 10"/>
                  <a:gd name="T4" fmla="*/ 3 w 28"/>
                  <a:gd name="T5" fmla="*/ 10 h 10"/>
                  <a:gd name="T6" fmla="*/ 0 w 28"/>
                  <a:gd name="T7" fmla="*/ 8 h 10"/>
                  <a:gd name="T8" fmla="*/ 1 w 28"/>
                  <a:gd name="T9" fmla="*/ 5 h 10"/>
                  <a:gd name="T10" fmla="*/ 26 w 28"/>
                  <a:gd name="T11" fmla="*/ 5 h 10"/>
                  <a:gd name="T12" fmla="*/ 28 w 28"/>
                  <a:gd name="T13" fmla="*/ 8 h 10"/>
                  <a:gd name="T14" fmla="*/ 27 w 28"/>
                  <a:gd name="T15" fmla="*/ 9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0">
                    <a:moveTo>
                      <a:pt x="27" y="9"/>
                    </a:moveTo>
                    <a:cubicBezTo>
                      <a:pt x="26" y="9"/>
                      <a:pt x="26" y="9"/>
                      <a:pt x="25" y="9"/>
                    </a:cubicBezTo>
                    <a:cubicBezTo>
                      <a:pt x="14" y="5"/>
                      <a:pt x="3" y="10"/>
                      <a:pt x="3" y="10"/>
                    </a:cubicBezTo>
                    <a:cubicBezTo>
                      <a:pt x="2" y="10"/>
                      <a:pt x="1" y="9"/>
                      <a:pt x="0" y="8"/>
                    </a:cubicBezTo>
                    <a:cubicBezTo>
                      <a:pt x="0" y="7"/>
                      <a:pt x="0" y="6"/>
                      <a:pt x="1" y="5"/>
                    </a:cubicBezTo>
                    <a:cubicBezTo>
                      <a:pt x="2" y="5"/>
                      <a:pt x="14" y="0"/>
                      <a:pt x="26" y="5"/>
                    </a:cubicBezTo>
                    <a:cubicBezTo>
                      <a:pt x="28" y="5"/>
                      <a:pt x="28" y="6"/>
                      <a:pt x="28" y="8"/>
                    </a:cubicBezTo>
                    <a:cubicBezTo>
                      <a:pt x="28" y="8"/>
                      <a:pt x="27" y="9"/>
                      <a:pt x="27" y="9"/>
                    </a:cubicBezTo>
                    <a:close/>
                  </a:path>
                </a:pathLst>
              </a:custGeom>
              <a:solidFill>
                <a:srgbClr val="996C3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81" name="任意多边形 291"/>
              <p:cNvSpPr/>
              <p:nvPr/>
            </p:nvSpPr>
            <p:spPr bwMode="auto">
              <a:xfrm>
                <a:off x="5937776" y="3195648"/>
                <a:ext cx="134051" cy="73913"/>
              </a:xfrm>
              <a:custGeom>
                <a:avLst/>
                <a:gdLst>
                  <a:gd name="T0" fmla="*/ 2 w 26"/>
                  <a:gd name="T1" fmla="*/ 15 h 15"/>
                  <a:gd name="T2" fmla="*/ 1 w 26"/>
                  <a:gd name="T3" fmla="*/ 14 h 15"/>
                  <a:gd name="T4" fmla="*/ 1 w 26"/>
                  <a:gd name="T5" fmla="*/ 11 h 15"/>
                  <a:gd name="T6" fmla="*/ 23 w 26"/>
                  <a:gd name="T7" fmla="*/ 0 h 15"/>
                  <a:gd name="T8" fmla="*/ 26 w 26"/>
                  <a:gd name="T9" fmla="*/ 2 h 15"/>
                  <a:gd name="T10" fmla="*/ 23 w 26"/>
                  <a:gd name="T11" fmla="*/ 5 h 15"/>
                  <a:gd name="T12" fmla="*/ 4 w 26"/>
                  <a:gd name="T13" fmla="*/ 14 h 15"/>
                  <a:gd name="T14" fmla="*/ 2 w 26"/>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5">
                    <a:moveTo>
                      <a:pt x="2" y="15"/>
                    </a:moveTo>
                    <a:cubicBezTo>
                      <a:pt x="1" y="15"/>
                      <a:pt x="1" y="15"/>
                      <a:pt x="1" y="14"/>
                    </a:cubicBezTo>
                    <a:cubicBezTo>
                      <a:pt x="0" y="13"/>
                      <a:pt x="0" y="12"/>
                      <a:pt x="1" y="11"/>
                    </a:cubicBezTo>
                    <a:cubicBezTo>
                      <a:pt x="10" y="2"/>
                      <a:pt x="22" y="0"/>
                      <a:pt x="23" y="0"/>
                    </a:cubicBezTo>
                    <a:cubicBezTo>
                      <a:pt x="24" y="0"/>
                      <a:pt x="25" y="1"/>
                      <a:pt x="26" y="2"/>
                    </a:cubicBezTo>
                    <a:cubicBezTo>
                      <a:pt x="26" y="4"/>
                      <a:pt x="25" y="5"/>
                      <a:pt x="23" y="5"/>
                    </a:cubicBezTo>
                    <a:cubicBezTo>
                      <a:pt x="23" y="5"/>
                      <a:pt x="12" y="6"/>
                      <a:pt x="4" y="14"/>
                    </a:cubicBezTo>
                    <a:cubicBezTo>
                      <a:pt x="3" y="15"/>
                      <a:pt x="2" y="15"/>
                      <a:pt x="2" y="15"/>
                    </a:cubicBezTo>
                    <a:close/>
                  </a:path>
                </a:pathLst>
              </a:custGeom>
              <a:solidFill>
                <a:srgbClr val="996C3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82" name="任意多边形 292"/>
              <p:cNvSpPr/>
              <p:nvPr/>
            </p:nvSpPr>
            <p:spPr bwMode="auto">
              <a:xfrm>
                <a:off x="6276200" y="3294902"/>
                <a:ext cx="147237" cy="236519"/>
              </a:xfrm>
              <a:custGeom>
                <a:avLst/>
                <a:gdLst>
                  <a:gd name="T0" fmla="*/ 14 w 28"/>
                  <a:gd name="T1" fmla="*/ 47 h 47"/>
                  <a:gd name="T2" fmla="*/ 12 w 28"/>
                  <a:gd name="T3" fmla="*/ 45 h 47"/>
                  <a:gd name="T4" fmla="*/ 14 w 28"/>
                  <a:gd name="T5" fmla="*/ 43 h 47"/>
                  <a:gd name="T6" fmla="*/ 23 w 28"/>
                  <a:gd name="T7" fmla="*/ 39 h 47"/>
                  <a:gd name="T8" fmla="*/ 23 w 28"/>
                  <a:gd name="T9" fmla="*/ 34 h 47"/>
                  <a:gd name="T10" fmla="*/ 20 w 28"/>
                  <a:gd name="T11" fmla="*/ 30 h 47"/>
                  <a:gd name="T12" fmla="*/ 12 w 28"/>
                  <a:gd name="T13" fmla="*/ 32 h 47"/>
                  <a:gd name="T14" fmla="*/ 10 w 28"/>
                  <a:gd name="T15" fmla="*/ 32 h 47"/>
                  <a:gd name="T16" fmla="*/ 9 w 28"/>
                  <a:gd name="T17" fmla="*/ 30 h 47"/>
                  <a:gd name="T18" fmla="*/ 0 w 28"/>
                  <a:gd name="T19" fmla="*/ 3 h 47"/>
                  <a:gd name="T20" fmla="*/ 1 w 28"/>
                  <a:gd name="T21" fmla="*/ 0 h 47"/>
                  <a:gd name="T22" fmla="*/ 4 w 28"/>
                  <a:gd name="T23" fmla="*/ 2 h 47"/>
                  <a:gd name="T24" fmla="*/ 12 w 28"/>
                  <a:gd name="T25" fmla="*/ 27 h 47"/>
                  <a:gd name="T26" fmla="*/ 21 w 28"/>
                  <a:gd name="T27" fmla="*/ 27 h 47"/>
                  <a:gd name="T28" fmla="*/ 27 w 28"/>
                  <a:gd name="T29" fmla="*/ 33 h 47"/>
                  <a:gd name="T30" fmla="*/ 26 w 28"/>
                  <a:gd name="T31" fmla="*/ 41 h 47"/>
                  <a:gd name="T32" fmla="*/ 14 w 28"/>
                  <a:gd name="T33"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47">
                    <a:moveTo>
                      <a:pt x="14" y="47"/>
                    </a:moveTo>
                    <a:cubicBezTo>
                      <a:pt x="13" y="47"/>
                      <a:pt x="12" y="46"/>
                      <a:pt x="12" y="45"/>
                    </a:cubicBezTo>
                    <a:cubicBezTo>
                      <a:pt x="12" y="44"/>
                      <a:pt x="13" y="43"/>
                      <a:pt x="14" y="43"/>
                    </a:cubicBezTo>
                    <a:cubicBezTo>
                      <a:pt x="16" y="43"/>
                      <a:pt x="21" y="42"/>
                      <a:pt x="23" y="39"/>
                    </a:cubicBezTo>
                    <a:cubicBezTo>
                      <a:pt x="23" y="37"/>
                      <a:pt x="23" y="36"/>
                      <a:pt x="23" y="34"/>
                    </a:cubicBezTo>
                    <a:cubicBezTo>
                      <a:pt x="22" y="32"/>
                      <a:pt x="21" y="31"/>
                      <a:pt x="20" y="30"/>
                    </a:cubicBezTo>
                    <a:cubicBezTo>
                      <a:pt x="17" y="29"/>
                      <a:pt x="13" y="31"/>
                      <a:pt x="12" y="32"/>
                    </a:cubicBezTo>
                    <a:cubicBezTo>
                      <a:pt x="11" y="32"/>
                      <a:pt x="11" y="32"/>
                      <a:pt x="10" y="32"/>
                    </a:cubicBezTo>
                    <a:cubicBezTo>
                      <a:pt x="10" y="31"/>
                      <a:pt x="9" y="31"/>
                      <a:pt x="9" y="30"/>
                    </a:cubicBezTo>
                    <a:cubicBezTo>
                      <a:pt x="0" y="3"/>
                      <a:pt x="0" y="3"/>
                      <a:pt x="0" y="3"/>
                    </a:cubicBezTo>
                    <a:cubicBezTo>
                      <a:pt x="0" y="2"/>
                      <a:pt x="0" y="1"/>
                      <a:pt x="1" y="0"/>
                    </a:cubicBezTo>
                    <a:cubicBezTo>
                      <a:pt x="2" y="0"/>
                      <a:pt x="3" y="1"/>
                      <a:pt x="4" y="2"/>
                    </a:cubicBezTo>
                    <a:cubicBezTo>
                      <a:pt x="12" y="27"/>
                      <a:pt x="12" y="27"/>
                      <a:pt x="12" y="27"/>
                    </a:cubicBezTo>
                    <a:cubicBezTo>
                      <a:pt x="14" y="26"/>
                      <a:pt x="18" y="25"/>
                      <a:pt x="21" y="27"/>
                    </a:cubicBezTo>
                    <a:cubicBezTo>
                      <a:pt x="24" y="28"/>
                      <a:pt x="26" y="30"/>
                      <a:pt x="27" y="33"/>
                    </a:cubicBezTo>
                    <a:cubicBezTo>
                      <a:pt x="28" y="36"/>
                      <a:pt x="27" y="39"/>
                      <a:pt x="26" y="41"/>
                    </a:cubicBezTo>
                    <a:cubicBezTo>
                      <a:pt x="23" y="46"/>
                      <a:pt x="15" y="47"/>
                      <a:pt x="14" y="47"/>
                    </a:cubicBezTo>
                    <a:close/>
                  </a:path>
                </a:pathLst>
              </a:custGeom>
              <a:solidFill>
                <a:srgbClr val="E5B39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grpSp>
        <p:nvGrpSpPr>
          <p:cNvPr id="183" name="组合 182"/>
          <p:cNvGrpSpPr/>
          <p:nvPr/>
        </p:nvGrpSpPr>
        <p:grpSpPr>
          <a:xfrm>
            <a:off x="7174865" y="3458210"/>
            <a:ext cx="1106170" cy="303530"/>
            <a:chOff x="2802201" y="1314831"/>
            <a:chExt cx="1049843" cy="288000"/>
          </a:xfrm>
        </p:grpSpPr>
        <p:sp>
          <p:nvSpPr>
            <p:cNvPr id="184" name="文本框 183"/>
            <p:cNvSpPr txBox="1"/>
            <p:nvPr/>
          </p:nvSpPr>
          <p:spPr>
            <a:xfrm>
              <a:off x="3107216" y="1336039"/>
              <a:ext cx="744828" cy="232642"/>
            </a:xfrm>
            <a:prstGeom prst="rect">
              <a:avLst/>
            </a:prstGeom>
            <a:noFill/>
          </p:spPr>
          <p:txBody>
            <a:bodyPr wrap="square" rtlCol="0">
              <a:spAutoFit/>
            </a:bodyPr>
            <a:lstStyle/>
            <a:p>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rPr>
                <a:t>活跃客户</a:t>
              </a:r>
              <a:endParaRPr lang="zh-CN" altLang="en-US" sz="10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187" name="组合 186"/>
            <p:cNvGrpSpPr>
              <a:grpSpLocks noChangeAspect="1"/>
            </p:cNvGrpSpPr>
            <p:nvPr/>
          </p:nvGrpSpPr>
          <p:grpSpPr>
            <a:xfrm>
              <a:off x="2802201" y="1314831"/>
              <a:ext cx="288552" cy="288000"/>
              <a:chOff x="4499610" y="1835663"/>
              <a:chExt cx="3192780" cy="3186675"/>
            </a:xfrm>
          </p:grpSpPr>
          <p:grpSp>
            <p:nvGrpSpPr>
              <p:cNvPr id="188" name="组合 187"/>
              <p:cNvGrpSpPr/>
              <p:nvPr/>
            </p:nvGrpSpPr>
            <p:grpSpPr>
              <a:xfrm>
                <a:off x="4499611" y="1835663"/>
                <a:ext cx="3192779" cy="3186675"/>
                <a:chOff x="4813301" y="790575"/>
                <a:chExt cx="2490788" cy="2486026"/>
              </a:xfrm>
            </p:grpSpPr>
            <p:sp>
              <p:nvSpPr>
                <p:cNvPr id="191" name="椭圆 190"/>
                <p:cNvSpPr/>
                <p:nvPr/>
              </p:nvSpPr>
              <p:spPr bwMode="auto">
                <a:xfrm>
                  <a:off x="4813301" y="790575"/>
                  <a:ext cx="2490788" cy="2486025"/>
                </a:xfrm>
                <a:prstGeom prst="ellipse">
                  <a:avLst/>
                </a:prstGeom>
                <a:solidFill>
                  <a:srgbClr val="579C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92" name="矩形 191"/>
                <p:cNvSpPr/>
                <p:nvPr/>
              </p:nvSpPr>
              <p:spPr bwMode="auto">
                <a:xfrm>
                  <a:off x="5626101" y="1689100"/>
                  <a:ext cx="744538" cy="1341438"/>
                </a:xfrm>
                <a:prstGeom prst="rect">
                  <a:avLst/>
                </a:prstGeom>
                <a:solidFill>
                  <a:srgbClr val="A559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93" name="矩形 192"/>
                <p:cNvSpPr/>
                <p:nvPr/>
              </p:nvSpPr>
              <p:spPr bwMode="auto">
                <a:xfrm>
                  <a:off x="5626101" y="1689100"/>
                  <a:ext cx="744538" cy="134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98" name="任意多边形 191"/>
                <p:cNvSpPr/>
                <p:nvPr/>
              </p:nvSpPr>
              <p:spPr bwMode="auto">
                <a:xfrm>
                  <a:off x="5530645" y="2351194"/>
                  <a:ext cx="817018" cy="925407"/>
                </a:xfrm>
                <a:custGeom>
                  <a:avLst/>
                  <a:gdLst>
                    <a:gd name="connsiteX0" fmla="*/ 393249 w 817018"/>
                    <a:gd name="connsiteY0" fmla="*/ 491 h 925407"/>
                    <a:gd name="connsiteX1" fmla="*/ 438575 w 817018"/>
                    <a:gd name="connsiteY1" fmla="*/ 26897 h 925407"/>
                    <a:gd name="connsiteX2" fmla="*/ 767187 w 817018"/>
                    <a:gd name="connsiteY2" fmla="*/ 196646 h 925407"/>
                    <a:gd name="connsiteX3" fmla="*/ 786073 w 817018"/>
                    <a:gd name="connsiteY3" fmla="*/ 468244 h 925407"/>
                    <a:gd name="connsiteX4" fmla="*/ 714307 w 817018"/>
                    <a:gd name="connsiteY4" fmla="*/ 468244 h 925407"/>
                    <a:gd name="connsiteX5" fmla="*/ 714307 w 817018"/>
                    <a:gd name="connsiteY5" fmla="*/ 581411 h 925407"/>
                    <a:gd name="connsiteX6" fmla="*/ 702976 w 817018"/>
                    <a:gd name="connsiteY6" fmla="*/ 720982 h 925407"/>
                    <a:gd name="connsiteX7" fmla="*/ 698136 w 817018"/>
                    <a:gd name="connsiteY7" fmla="*/ 904818 h 925407"/>
                    <a:gd name="connsiteX8" fmla="*/ 698259 w 817018"/>
                    <a:gd name="connsiteY8" fmla="*/ 912459 h 925407"/>
                    <a:gd name="connsiteX9" fmla="*/ 655385 w 817018"/>
                    <a:gd name="connsiteY9" fmla="*/ 918990 h 925407"/>
                    <a:gd name="connsiteX10" fmla="*/ 528050 w 817018"/>
                    <a:gd name="connsiteY10" fmla="*/ 925407 h 925407"/>
                    <a:gd name="connsiteX11" fmla="*/ 43287 w 817018"/>
                    <a:gd name="connsiteY11" fmla="*/ 827725 h 925407"/>
                    <a:gd name="connsiteX12" fmla="*/ 19809 w 817018"/>
                    <a:gd name="connsiteY12" fmla="*/ 816437 h 925407"/>
                    <a:gd name="connsiteX13" fmla="*/ 15533 w 817018"/>
                    <a:gd name="connsiteY13" fmla="*/ 698349 h 925407"/>
                    <a:gd name="connsiteX14" fmla="*/ 425 w 817018"/>
                    <a:gd name="connsiteY14" fmla="*/ 502194 h 925407"/>
                    <a:gd name="connsiteX15" fmla="*/ 83522 w 817018"/>
                    <a:gd name="connsiteY15" fmla="*/ 249457 h 925407"/>
                    <a:gd name="connsiteX16" fmla="*/ 291266 w 817018"/>
                    <a:gd name="connsiteY16" fmla="*/ 45758 h 925407"/>
                    <a:gd name="connsiteX17" fmla="*/ 393249 w 817018"/>
                    <a:gd name="connsiteY17" fmla="*/ 491 h 92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17018" h="925407">
                      <a:moveTo>
                        <a:pt x="393249" y="491"/>
                      </a:moveTo>
                      <a:cubicBezTo>
                        <a:pt x="404580" y="-3281"/>
                        <a:pt x="412135" y="15580"/>
                        <a:pt x="438575" y="26897"/>
                      </a:cubicBezTo>
                      <a:cubicBezTo>
                        <a:pt x="619878" y="98569"/>
                        <a:pt x="706753" y="121202"/>
                        <a:pt x="767187" y="196646"/>
                      </a:cubicBezTo>
                      <a:cubicBezTo>
                        <a:pt x="767187" y="196646"/>
                        <a:pt x="865393" y="472017"/>
                        <a:pt x="786073" y="468244"/>
                      </a:cubicBezTo>
                      <a:cubicBezTo>
                        <a:pt x="786073" y="468244"/>
                        <a:pt x="786073" y="468244"/>
                        <a:pt x="714307" y="468244"/>
                      </a:cubicBezTo>
                      <a:cubicBezTo>
                        <a:pt x="714307" y="468244"/>
                        <a:pt x="714307" y="468244"/>
                        <a:pt x="714307" y="581411"/>
                      </a:cubicBezTo>
                      <a:cubicBezTo>
                        <a:pt x="714307" y="581411"/>
                        <a:pt x="714307" y="581411"/>
                        <a:pt x="702976" y="720982"/>
                      </a:cubicBezTo>
                      <a:cubicBezTo>
                        <a:pt x="700143" y="782280"/>
                        <a:pt x="698490" y="843579"/>
                        <a:pt x="698136" y="904818"/>
                      </a:cubicBezTo>
                      <a:lnTo>
                        <a:pt x="698259" y="912459"/>
                      </a:lnTo>
                      <a:lnTo>
                        <a:pt x="655385" y="918990"/>
                      </a:lnTo>
                      <a:cubicBezTo>
                        <a:pt x="613518" y="923233"/>
                        <a:pt x="571038" y="925407"/>
                        <a:pt x="528050" y="925407"/>
                      </a:cubicBezTo>
                      <a:cubicBezTo>
                        <a:pt x="356097" y="925407"/>
                        <a:pt x="192284" y="890625"/>
                        <a:pt x="43287" y="827725"/>
                      </a:cubicBezTo>
                      <a:lnTo>
                        <a:pt x="19809" y="816437"/>
                      </a:lnTo>
                      <a:lnTo>
                        <a:pt x="15533" y="698349"/>
                      </a:lnTo>
                      <a:cubicBezTo>
                        <a:pt x="15533" y="698349"/>
                        <a:pt x="15533" y="698349"/>
                        <a:pt x="425" y="502194"/>
                      </a:cubicBezTo>
                      <a:cubicBezTo>
                        <a:pt x="425" y="502194"/>
                        <a:pt x="-10907" y="362623"/>
                        <a:pt x="83522" y="249457"/>
                      </a:cubicBezTo>
                      <a:cubicBezTo>
                        <a:pt x="113739" y="207962"/>
                        <a:pt x="223277" y="113657"/>
                        <a:pt x="291266" y="45758"/>
                      </a:cubicBezTo>
                      <a:cubicBezTo>
                        <a:pt x="310151" y="26897"/>
                        <a:pt x="385695" y="-3281"/>
                        <a:pt x="393249" y="491"/>
                      </a:cubicBezTo>
                      <a:close/>
                    </a:path>
                  </a:pathLst>
                </a:custGeom>
                <a:solidFill>
                  <a:srgbClr val="00A9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99" name="任意多边形 192"/>
                <p:cNvSpPr/>
                <p:nvPr/>
              </p:nvSpPr>
              <p:spPr bwMode="auto">
                <a:xfrm>
                  <a:off x="6158594" y="2786063"/>
                  <a:ext cx="188232" cy="484664"/>
                </a:xfrm>
                <a:custGeom>
                  <a:avLst/>
                  <a:gdLst>
                    <a:gd name="connsiteX0" fmla="*/ 188232 w 188232"/>
                    <a:gd name="connsiteY0" fmla="*/ 0 h 484664"/>
                    <a:gd name="connsiteX1" fmla="*/ 158115 w 188232"/>
                    <a:gd name="connsiteY1" fmla="*/ 33946 h 484664"/>
                    <a:gd name="connsiteX2" fmla="*/ 86587 w 188232"/>
                    <a:gd name="connsiteY2" fmla="*/ 33946 h 484664"/>
                    <a:gd name="connsiteX3" fmla="*/ 86587 w 188232"/>
                    <a:gd name="connsiteY3" fmla="*/ 147097 h 484664"/>
                    <a:gd name="connsiteX4" fmla="*/ 75293 w 188232"/>
                    <a:gd name="connsiteY4" fmla="*/ 286651 h 484664"/>
                    <a:gd name="connsiteX5" fmla="*/ 70469 w 188232"/>
                    <a:gd name="connsiteY5" fmla="*/ 470463 h 484664"/>
                    <a:gd name="connsiteX6" fmla="*/ 70583 w 188232"/>
                    <a:gd name="connsiteY6" fmla="*/ 477548 h 484664"/>
                    <a:gd name="connsiteX7" fmla="*/ 27436 w 188232"/>
                    <a:gd name="connsiteY7" fmla="*/ 484121 h 484664"/>
                    <a:gd name="connsiteX8" fmla="*/ 16662 w 188232"/>
                    <a:gd name="connsiteY8" fmla="*/ 484664 h 484664"/>
                    <a:gd name="connsiteX9" fmla="*/ 18823 w 188232"/>
                    <a:gd name="connsiteY9" fmla="*/ 396502 h 484664"/>
                    <a:gd name="connsiteX10" fmla="*/ 0 w 188232"/>
                    <a:gd name="connsiteY10" fmla="*/ 15087 h 48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8232" h="484664">
                      <a:moveTo>
                        <a:pt x="188232" y="0"/>
                      </a:moveTo>
                      <a:cubicBezTo>
                        <a:pt x="184468" y="22630"/>
                        <a:pt x="176938" y="33946"/>
                        <a:pt x="158115" y="33946"/>
                      </a:cubicBezTo>
                      <a:cubicBezTo>
                        <a:pt x="158115" y="33946"/>
                        <a:pt x="158115" y="33946"/>
                        <a:pt x="86587" y="33946"/>
                      </a:cubicBezTo>
                      <a:cubicBezTo>
                        <a:pt x="86587" y="33946"/>
                        <a:pt x="86587" y="33946"/>
                        <a:pt x="86587" y="147097"/>
                      </a:cubicBezTo>
                      <a:cubicBezTo>
                        <a:pt x="86587" y="147097"/>
                        <a:pt x="86587" y="147097"/>
                        <a:pt x="75293" y="286651"/>
                      </a:cubicBezTo>
                      <a:cubicBezTo>
                        <a:pt x="72469" y="347941"/>
                        <a:pt x="70822" y="409232"/>
                        <a:pt x="70469" y="470463"/>
                      </a:cubicBezTo>
                      <a:lnTo>
                        <a:pt x="70583" y="477548"/>
                      </a:lnTo>
                      <a:lnTo>
                        <a:pt x="27436" y="484121"/>
                      </a:lnTo>
                      <a:lnTo>
                        <a:pt x="16662" y="484664"/>
                      </a:lnTo>
                      <a:lnTo>
                        <a:pt x="18823" y="396502"/>
                      </a:lnTo>
                      <a:cubicBezTo>
                        <a:pt x="18823" y="181986"/>
                        <a:pt x="0" y="15087"/>
                        <a:pt x="0" y="15087"/>
                      </a:cubicBezTo>
                      <a:close/>
                    </a:path>
                  </a:pathLst>
                </a:custGeom>
                <a:solidFill>
                  <a:srgbClr val="0093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00" name="任意多边形 193"/>
                <p:cNvSpPr/>
                <p:nvPr/>
              </p:nvSpPr>
              <p:spPr bwMode="auto">
                <a:xfrm>
                  <a:off x="5803901" y="2363788"/>
                  <a:ext cx="211138" cy="188913"/>
                </a:xfrm>
                <a:custGeom>
                  <a:avLst/>
                  <a:gdLst>
                    <a:gd name="T0" fmla="*/ 38 w 56"/>
                    <a:gd name="T1" fmla="*/ 7 h 50"/>
                    <a:gd name="T2" fmla="*/ 1 w 56"/>
                    <a:gd name="T3" fmla="*/ 3 h 50"/>
                    <a:gd name="T4" fmla="*/ 1 w 56"/>
                    <a:gd name="T5" fmla="*/ 24 h 50"/>
                    <a:gd name="T6" fmla="*/ 56 w 56"/>
                    <a:gd name="T7" fmla="*/ 25 h 50"/>
                    <a:gd name="T8" fmla="*/ 56 w 56"/>
                    <a:gd name="T9" fmla="*/ 0 h 50"/>
                    <a:gd name="T10" fmla="*/ 38 w 56"/>
                    <a:gd name="T11" fmla="*/ 7 h 50"/>
                  </a:gdLst>
                  <a:ahLst/>
                  <a:cxnLst>
                    <a:cxn ang="0">
                      <a:pos x="T0" y="T1"/>
                    </a:cxn>
                    <a:cxn ang="0">
                      <a:pos x="T2" y="T3"/>
                    </a:cxn>
                    <a:cxn ang="0">
                      <a:pos x="T4" y="T5"/>
                    </a:cxn>
                    <a:cxn ang="0">
                      <a:pos x="T6" y="T7"/>
                    </a:cxn>
                    <a:cxn ang="0">
                      <a:pos x="T8" y="T9"/>
                    </a:cxn>
                    <a:cxn ang="0">
                      <a:pos x="T10" y="T11"/>
                    </a:cxn>
                  </a:cxnLst>
                  <a:rect l="0" t="0" r="r" b="b"/>
                  <a:pathLst>
                    <a:path w="56" h="50">
                      <a:moveTo>
                        <a:pt x="38" y="7"/>
                      </a:moveTo>
                      <a:cubicBezTo>
                        <a:pt x="27" y="10"/>
                        <a:pt x="10" y="4"/>
                        <a:pt x="1" y="3"/>
                      </a:cubicBezTo>
                      <a:cubicBezTo>
                        <a:pt x="1" y="24"/>
                        <a:pt x="1" y="24"/>
                        <a:pt x="1" y="24"/>
                      </a:cubicBezTo>
                      <a:cubicBezTo>
                        <a:pt x="0" y="48"/>
                        <a:pt x="55" y="50"/>
                        <a:pt x="56" y="25"/>
                      </a:cubicBezTo>
                      <a:cubicBezTo>
                        <a:pt x="56" y="0"/>
                        <a:pt x="56" y="0"/>
                        <a:pt x="56" y="0"/>
                      </a:cubicBezTo>
                      <a:cubicBezTo>
                        <a:pt x="50" y="3"/>
                        <a:pt x="43" y="6"/>
                        <a:pt x="38" y="7"/>
                      </a:cubicBezTo>
                      <a:close/>
                    </a:path>
                  </a:pathLst>
                </a:custGeom>
                <a:solidFill>
                  <a:srgbClr val="F9CB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01" name="任意多边形 194"/>
                <p:cNvSpPr/>
                <p:nvPr/>
              </p:nvSpPr>
              <p:spPr bwMode="auto">
                <a:xfrm>
                  <a:off x="5821363" y="2147888"/>
                  <a:ext cx="201613" cy="133350"/>
                </a:xfrm>
                <a:custGeom>
                  <a:avLst/>
                  <a:gdLst>
                    <a:gd name="T0" fmla="*/ 53 w 53"/>
                    <a:gd name="T1" fmla="*/ 1 h 35"/>
                    <a:gd name="T2" fmla="*/ 1 w 53"/>
                    <a:gd name="T3" fmla="*/ 0 h 35"/>
                    <a:gd name="T4" fmla="*/ 0 w 53"/>
                    <a:gd name="T5" fmla="*/ 35 h 35"/>
                    <a:gd name="T6" fmla="*/ 52 w 53"/>
                    <a:gd name="T7" fmla="*/ 29 h 35"/>
                    <a:gd name="T8" fmla="*/ 53 w 53"/>
                    <a:gd name="T9" fmla="*/ 1 h 35"/>
                  </a:gdLst>
                  <a:ahLst/>
                  <a:cxnLst>
                    <a:cxn ang="0">
                      <a:pos x="T0" y="T1"/>
                    </a:cxn>
                    <a:cxn ang="0">
                      <a:pos x="T2" y="T3"/>
                    </a:cxn>
                    <a:cxn ang="0">
                      <a:pos x="T4" y="T5"/>
                    </a:cxn>
                    <a:cxn ang="0">
                      <a:pos x="T6" y="T7"/>
                    </a:cxn>
                    <a:cxn ang="0">
                      <a:pos x="T8" y="T9"/>
                    </a:cxn>
                  </a:cxnLst>
                  <a:rect l="0" t="0" r="r" b="b"/>
                  <a:pathLst>
                    <a:path w="53" h="35">
                      <a:moveTo>
                        <a:pt x="53" y="1"/>
                      </a:moveTo>
                      <a:cubicBezTo>
                        <a:pt x="1" y="0"/>
                        <a:pt x="1" y="0"/>
                        <a:pt x="1" y="0"/>
                      </a:cubicBezTo>
                      <a:cubicBezTo>
                        <a:pt x="0" y="35"/>
                        <a:pt x="0" y="35"/>
                        <a:pt x="0" y="35"/>
                      </a:cubicBezTo>
                      <a:cubicBezTo>
                        <a:pt x="16" y="33"/>
                        <a:pt x="39" y="30"/>
                        <a:pt x="52" y="29"/>
                      </a:cubicBezTo>
                      <a:lnTo>
                        <a:pt x="53" y="1"/>
                      </a:lnTo>
                      <a:close/>
                    </a:path>
                  </a:pathLst>
                </a:custGeom>
                <a:solidFill>
                  <a:srgbClr val="F9CB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03" name="任意多边形 195"/>
                <p:cNvSpPr/>
                <p:nvPr/>
              </p:nvSpPr>
              <p:spPr bwMode="auto">
                <a:xfrm>
                  <a:off x="5807076" y="2257425"/>
                  <a:ext cx="211138" cy="144463"/>
                </a:xfrm>
                <a:custGeom>
                  <a:avLst/>
                  <a:gdLst>
                    <a:gd name="T0" fmla="*/ 37 w 56"/>
                    <a:gd name="T1" fmla="*/ 35 h 38"/>
                    <a:gd name="T2" fmla="*/ 55 w 56"/>
                    <a:gd name="T3" fmla="*/ 28 h 38"/>
                    <a:gd name="T4" fmla="*/ 56 w 56"/>
                    <a:gd name="T5" fmla="*/ 0 h 38"/>
                    <a:gd name="T6" fmla="*/ 0 w 56"/>
                    <a:gd name="T7" fmla="*/ 6 h 38"/>
                    <a:gd name="T8" fmla="*/ 0 w 56"/>
                    <a:gd name="T9" fmla="*/ 31 h 38"/>
                    <a:gd name="T10" fmla="*/ 37 w 56"/>
                    <a:gd name="T11" fmla="*/ 35 h 38"/>
                  </a:gdLst>
                  <a:ahLst/>
                  <a:cxnLst>
                    <a:cxn ang="0">
                      <a:pos x="T0" y="T1"/>
                    </a:cxn>
                    <a:cxn ang="0">
                      <a:pos x="T2" y="T3"/>
                    </a:cxn>
                    <a:cxn ang="0">
                      <a:pos x="T4" y="T5"/>
                    </a:cxn>
                    <a:cxn ang="0">
                      <a:pos x="T6" y="T7"/>
                    </a:cxn>
                    <a:cxn ang="0">
                      <a:pos x="T8" y="T9"/>
                    </a:cxn>
                    <a:cxn ang="0">
                      <a:pos x="T10" y="T11"/>
                    </a:cxn>
                  </a:cxnLst>
                  <a:rect l="0" t="0" r="r" b="b"/>
                  <a:pathLst>
                    <a:path w="56" h="38">
                      <a:moveTo>
                        <a:pt x="37" y="35"/>
                      </a:moveTo>
                      <a:cubicBezTo>
                        <a:pt x="42" y="34"/>
                        <a:pt x="49" y="31"/>
                        <a:pt x="55" y="28"/>
                      </a:cubicBezTo>
                      <a:cubicBezTo>
                        <a:pt x="56" y="0"/>
                        <a:pt x="56" y="0"/>
                        <a:pt x="56" y="0"/>
                      </a:cubicBezTo>
                      <a:cubicBezTo>
                        <a:pt x="43" y="1"/>
                        <a:pt x="16" y="4"/>
                        <a:pt x="0" y="6"/>
                      </a:cubicBezTo>
                      <a:cubicBezTo>
                        <a:pt x="0" y="31"/>
                        <a:pt x="0" y="31"/>
                        <a:pt x="0" y="31"/>
                      </a:cubicBezTo>
                      <a:cubicBezTo>
                        <a:pt x="10" y="36"/>
                        <a:pt x="26" y="38"/>
                        <a:pt x="37" y="35"/>
                      </a:cubicBezTo>
                      <a:close/>
                    </a:path>
                  </a:pathLst>
                </a:custGeom>
                <a:solidFill>
                  <a:srgbClr val="EAB1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07" name="任意多边形 196"/>
                <p:cNvSpPr/>
                <p:nvPr/>
              </p:nvSpPr>
              <p:spPr bwMode="auto">
                <a:xfrm>
                  <a:off x="5500688" y="1338263"/>
                  <a:ext cx="760413" cy="1044575"/>
                </a:xfrm>
                <a:custGeom>
                  <a:avLst/>
                  <a:gdLst>
                    <a:gd name="T0" fmla="*/ 78 w 201"/>
                    <a:gd name="T1" fmla="*/ 269 h 277"/>
                    <a:gd name="T2" fmla="*/ 8 w 201"/>
                    <a:gd name="T3" fmla="*/ 169 h 277"/>
                    <a:gd name="T4" fmla="*/ 23 w 201"/>
                    <a:gd name="T5" fmla="*/ 78 h 277"/>
                    <a:gd name="T6" fmla="*/ 123 w 201"/>
                    <a:gd name="T7" fmla="*/ 8 h 277"/>
                    <a:gd name="T8" fmla="*/ 193 w 201"/>
                    <a:gd name="T9" fmla="*/ 107 h 277"/>
                    <a:gd name="T10" fmla="*/ 177 w 201"/>
                    <a:gd name="T11" fmla="*/ 199 h 277"/>
                    <a:gd name="T12" fmla="*/ 78 w 201"/>
                    <a:gd name="T13" fmla="*/ 269 h 277"/>
                  </a:gdLst>
                  <a:ahLst/>
                  <a:cxnLst>
                    <a:cxn ang="0">
                      <a:pos x="T0" y="T1"/>
                    </a:cxn>
                    <a:cxn ang="0">
                      <a:pos x="T2" y="T3"/>
                    </a:cxn>
                    <a:cxn ang="0">
                      <a:pos x="T4" y="T5"/>
                    </a:cxn>
                    <a:cxn ang="0">
                      <a:pos x="T6" y="T7"/>
                    </a:cxn>
                    <a:cxn ang="0">
                      <a:pos x="T8" y="T9"/>
                    </a:cxn>
                    <a:cxn ang="0">
                      <a:pos x="T10" y="T11"/>
                    </a:cxn>
                    <a:cxn ang="0">
                      <a:pos x="T12" y="T13"/>
                    </a:cxn>
                  </a:cxnLst>
                  <a:rect l="0" t="0" r="r" b="b"/>
                  <a:pathLst>
                    <a:path w="201" h="277">
                      <a:moveTo>
                        <a:pt x="78" y="269"/>
                      </a:moveTo>
                      <a:cubicBezTo>
                        <a:pt x="31" y="261"/>
                        <a:pt x="0" y="216"/>
                        <a:pt x="8" y="169"/>
                      </a:cubicBezTo>
                      <a:cubicBezTo>
                        <a:pt x="23" y="78"/>
                        <a:pt x="23" y="78"/>
                        <a:pt x="23" y="78"/>
                      </a:cubicBezTo>
                      <a:cubicBezTo>
                        <a:pt x="32" y="31"/>
                        <a:pt x="76" y="0"/>
                        <a:pt x="123" y="8"/>
                      </a:cubicBezTo>
                      <a:cubicBezTo>
                        <a:pt x="170" y="16"/>
                        <a:pt x="201" y="61"/>
                        <a:pt x="193" y="107"/>
                      </a:cubicBezTo>
                      <a:cubicBezTo>
                        <a:pt x="177" y="199"/>
                        <a:pt x="177" y="199"/>
                        <a:pt x="177" y="199"/>
                      </a:cubicBezTo>
                      <a:cubicBezTo>
                        <a:pt x="169" y="246"/>
                        <a:pt x="124" y="277"/>
                        <a:pt x="78" y="269"/>
                      </a:cubicBezTo>
                    </a:path>
                  </a:pathLst>
                </a:custGeom>
                <a:solidFill>
                  <a:srgbClr val="EAB1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08" name="任意多边形 197"/>
                <p:cNvSpPr/>
                <p:nvPr/>
              </p:nvSpPr>
              <p:spPr bwMode="auto">
                <a:xfrm>
                  <a:off x="5497513" y="1330325"/>
                  <a:ext cx="695325" cy="1041400"/>
                </a:xfrm>
                <a:custGeom>
                  <a:avLst/>
                  <a:gdLst>
                    <a:gd name="T0" fmla="*/ 67 w 184"/>
                    <a:gd name="T1" fmla="*/ 269 h 276"/>
                    <a:gd name="T2" fmla="*/ 7 w 184"/>
                    <a:gd name="T3" fmla="*/ 179 h 276"/>
                    <a:gd name="T4" fmla="*/ 20 w 184"/>
                    <a:gd name="T5" fmla="*/ 72 h 276"/>
                    <a:gd name="T6" fmla="*/ 112 w 184"/>
                    <a:gd name="T7" fmla="*/ 8 h 276"/>
                    <a:gd name="T8" fmla="*/ 176 w 184"/>
                    <a:gd name="T9" fmla="*/ 99 h 276"/>
                    <a:gd name="T10" fmla="*/ 158 w 184"/>
                    <a:gd name="T11" fmla="*/ 204 h 276"/>
                    <a:gd name="T12" fmla="*/ 67 w 184"/>
                    <a:gd name="T13" fmla="*/ 269 h 276"/>
                  </a:gdLst>
                  <a:ahLst/>
                  <a:cxnLst>
                    <a:cxn ang="0">
                      <a:pos x="T0" y="T1"/>
                    </a:cxn>
                    <a:cxn ang="0">
                      <a:pos x="T2" y="T3"/>
                    </a:cxn>
                    <a:cxn ang="0">
                      <a:pos x="T4" y="T5"/>
                    </a:cxn>
                    <a:cxn ang="0">
                      <a:pos x="T6" y="T7"/>
                    </a:cxn>
                    <a:cxn ang="0">
                      <a:pos x="T8" y="T9"/>
                    </a:cxn>
                    <a:cxn ang="0">
                      <a:pos x="T10" y="T11"/>
                    </a:cxn>
                    <a:cxn ang="0">
                      <a:pos x="T12" y="T13"/>
                    </a:cxn>
                  </a:cxnLst>
                  <a:rect l="0" t="0" r="r" b="b"/>
                  <a:pathLst>
                    <a:path w="184" h="276">
                      <a:moveTo>
                        <a:pt x="67" y="269"/>
                      </a:moveTo>
                      <a:cubicBezTo>
                        <a:pt x="24" y="261"/>
                        <a:pt x="0" y="222"/>
                        <a:pt x="7" y="179"/>
                      </a:cubicBezTo>
                      <a:cubicBezTo>
                        <a:pt x="20" y="72"/>
                        <a:pt x="20" y="72"/>
                        <a:pt x="20" y="72"/>
                      </a:cubicBezTo>
                      <a:cubicBezTo>
                        <a:pt x="28" y="29"/>
                        <a:pt x="69" y="0"/>
                        <a:pt x="112" y="8"/>
                      </a:cubicBezTo>
                      <a:cubicBezTo>
                        <a:pt x="155" y="15"/>
                        <a:pt x="184" y="56"/>
                        <a:pt x="176" y="99"/>
                      </a:cubicBezTo>
                      <a:cubicBezTo>
                        <a:pt x="158" y="204"/>
                        <a:pt x="158" y="204"/>
                        <a:pt x="158" y="204"/>
                      </a:cubicBezTo>
                      <a:cubicBezTo>
                        <a:pt x="150" y="247"/>
                        <a:pt x="110" y="276"/>
                        <a:pt x="67" y="269"/>
                      </a:cubicBezTo>
                    </a:path>
                  </a:pathLst>
                </a:custGeom>
                <a:solidFill>
                  <a:srgbClr val="F9CB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09" name="任意多边形 198"/>
                <p:cNvSpPr/>
                <p:nvPr/>
              </p:nvSpPr>
              <p:spPr bwMode="auto">
                <a:xfrm>
                  <a:off x="5618163" y="1809750"/>
                  <a:ext cx="87313" cy="127000"/>
                </a:xfrm>
                <a:custGeom>
                  <a:avLst/>
                  <a:gdLst>
                    <a:gd name="T0" fmla="*/ 2 w 23"/>
                    <a:gd name="T1" fmla="*/ 15 h 34"/>
                    <a:gd name="T2" fmla="*/ 9 w 23"/>
                    <a:gd name="T3" fmla="*/ 33 h 34"/>
                    <a:gd name="T4" fmla="*/ 22 w 23"/>
                    <a:gd name="T5" fmla="*/ 19 h 34"/>
                    <a:gd name="T6" fmla="*/ 14 w 23"/>
                    <a:gd name="T7" fmla="*/ 1 h 34"/>
                    <a:gd name="T8" fmla="*/ 2 w 23"/>
                    <a:gd name="T9" fmla="*/ 15 h 34"/>
                  </a:gdLst>
                  <a:ahLst/>
                  <a:cxnLst>
                    <a:cxn ang="0">
                      <a:pos x="T0" y="T1"/>
                    </a:cxn>
                    <a:cxn ang="0">
                      <a:pos x="T2" y="T3"/>
                    </a:cxn>
                    <a:cxn ang="0">
                      <a:pos x="T4" y="T5"/>
                    </a:cxn>
                    <a:cxn ang="0">
                      <a:pos x="T6" y="T7"/>
                    </a:cxn>
                    <a:cxn ang="0">
                      <a:pos x="T8" y="T9"/>
                    </a:cxn>
                  </a:cxnLst>
                  <a:rect l="0" t="0" r="r" b="b"/>
                  <a:pathLst>
                    <a:path w="23" h="34">
                      <a:moveTo>
                        <a:pt x="2" y="15"/>
                      </a:moveTo>
                      <a:cubicBezTo>
                        <a:pt x="0" y="24"/>
                        <a:pt x="4" y="32"/>
                        <a:pt x="9" y="33"/>
                      </a:cubicBezTo>
                      <a:cubicBezTo>
                        <a:pt x="15" y="34"/>
                        <a:pt x="20" y="27"/>
                        <a:pt x="22" y="19"/>
                      </a:cubicBezTo>
                      <a:cubicBezTo>
                        <a:pt x="23" y="10"/>
                        <a:pt x="20" y="2"/>
                        <a:pt x="14" y="1"/>
                      </a:cubicBezTo>
                      <a:cubicBezTo>
                        <a:pt x="9" y="0"/>
                        <a:pt x="3" y="7"/>
                        <a:pt x="2" y="1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13" name="任意多边形 199"/>
                <p:cNvSpPr/>
                <p:nvPr/>
              </p:nvSpPr>
              <p:spPr bwMode="auto">
                <a:xfrm>
                  <a:off x="5919788" y="1865313"/>
                  <a:ext cx="84138" cy="128588"/>
                </a:xfrm>
                <a:custGeom>
                  <a:avLst/>
                  <a:gdLst>
                    <a:gd name="T0" fmla="*/ 1 w 22"/>
                    <a:gd name="T1" fmla="*/ 15 h 34"/>
                    <a:gd name="T2" fmla="*/ 8 w 22"/>
                    <a:gd name="T3" fmla="*/ 33 h 34"/>
                    <a:gd name="T4" fmla="*/ 21 w 22"/>
                    <a:gd name="T5" fmla="*/ 19 h 34"/>
                    <a:gd name="T6" fmla="*/ 14 w 22"/>
                    <a:gd name="T7" fmla="*/ 1 h 34"/>
                    <a:gd name="T8" fmla="*/ 1 w 22"/>
                    <a:gd name="T9" fmla="*/ 15 h 34"/>
                  </a:gdLst>
                  <a:ahLst/>
                  <a:cxnLst>
                    <a:cxn ang="0">
                      <a:pos x="T0" y="T1"/>
                    </a:cxn>
                    <a:cxn ang="0">
                      <a:pos x="T2" y="T3"/>
                    </a:cxn>
                    <a:cxn ang="0">
                      <a:pos x="T4" y="T5"/>
                    </a:cxn>
                    <a:cxn ang="0">
                      <a:pos x="T6" y="T7"/>
                    </a:cxn>
                    <a:cxn ang="0">
                      <a:pos x="T8" y="T9"/>
                    </a:cxn>
                  </a:cxnLst>
                  <a:rect l="0" t="0" r="r" b="b"/>
                  <a:pathLst>
                    <a:path w="22" h="34">
                      <a:moveTo>
                        <a:pt x="1" y="15"/>
                      </a:moveTo>
                      <a:cubicBezTo>
                        <a:pt x="0" y="24"/>
                        <a:pt x="3" y="32"/>
                        <a:pt x="8" y="33"/>
                      </a:cubicBezTo>
                      <a:cubicBezTo>
                        <a:pt x="14" y="34"/>
                        <a:pt x="19" y="27"/>
                        <a:pt x="21" y="19"/>
                      </a:cubicBezTo>
                      <a:cubicBezTo>
                        <a:pt x="22" y="10"/>
                        <a:pt x="19" y="2"/>
                        <a:pt x="14" y="1"/>
                      </a:cubicBezTo>
                      <a:cubicBezTo>
                        <a:pt x="8" y="0"/>
                        <a:pt x="3" y="7"/>
                        <a:pt x="1" y="1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14" name="任意多边形 200"/>
                <p:cNvSpPr/>
                <p:nvPr/>
              </p:nvSpPr>
              <p:spPr bwMode="auto">
                <a:xfrm>
                  <a:off x="5905501" y="2032000"/>
                  <a:ext cx="128588" cy="52388"/>
                </a:xfrm>
                <a:custGeom>
                  <a:avLst/>
                  <a:gdLst>
                    <a:gd name="T0" fmla="*/ 13 w 34"/>
                    <a:gd name="T1" fmla="*/ 0 h 14"/>
                    <a:gd name="T2" fmla="*/ 2 w 34"/>
                    <a:gd name="T3" fmla="*/ 4 h 14"/>
                    <a:gd name="T4" fmla="*/ 15 w 34"/>
                    <a:gd name="T5" fmla="*/ 13 h 14"/>
                    <a:gd name="T6" fmla="*/ 22 w 34"/>
                    <a:gd name="T7" fmla="*/ 14 h 14"/>
                    <a:gd name="T8" fmla="*/ 33 w 34"/>
                    <a:gd name="T9" fmla="*/ 10 h 14"/>
                    <a:gd name="T10" fmla="*/ 19 w 34"/>
                    <a:gd name="T11" fmla="*/ 1 h 14"/>
                    <a:gd name="T12" fmla="*/ 13 w 34"/>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4" h="14">
                      <a:moveTo>
                        <a:pt x="13" y="0"/>
                      </a:moveTo>
                      <a:cubicBezTo>
                        <a:pt x="7" y="0"/>
                        <a:pt x="2" y="2"/>
                        <a:pt x="2" y="4"/>
                      </a:cubicBezTo>
                      <a:cubicBezTo>
                        <a:pt x="0" y="8"/>
                        <a:pt x="6" y="12"/>
                        <a:pt x="15" y="13"/>
                      </a:cubicBezTo>
                      <a:cubicBezTo>
                        <a:pt x="17" y="14"/>
                        <a:pt x="20" y="14"/>
                        <a:pt x="22" y="14"/>
                      </a:cubicBezTo>
                      <a:cubicBezTo>
                        <a:pt x="27" y="14"/>
                        <a:pt x="32" y="12"/>
                        <a:pt x="33" y="10"/>
                      </a:cubicBezTo>
                      <a:cubicBezTo>
                        <a:pt x="34" y="6"/>
                        <a:pt x="28" y="2"/>
                        <a:pt x="19" y="1"/>
                      </a:cubicBezTo>
                      <a:cubicBezTo>
                        <a:pt x="17" y="0"/>
                        <a:pt x="15" y="0"/>
                        <a:pt x="13" y="0"/>
                      </a:cubicBezTo>
                    </a:path>
                  </a:pathLst>
                </a:custGeom>
                <a:solidFill>
                  <a:srgbClr val="F4BCA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15" name="任意多边形 201"/>
                <p:cNvSpPr/>
                <p:nvPr/>
              </p:nvSpPr>
              <p:spPr bwMode="auto">
                <a:xfrm>
                  <a:off x="5538788" y="1955800"/>
                  <a:ext cx="128588" cy="57150"/>
                </a:xfrm>
                <a:custGeom>
                  <a:avLst/>
                  <a:gdLst>
                    <a:gd name="T0" fmla="*/ 11 w 34"/>
                    <a:gd name="T1" fmla="*/ 0 h 15"/>
                    <a:gd name="T2" fmla="*/ 2 w 34"/>
                    <a:gd name="T3" fmla="*/ 4 h 15"/>
                    <a:gd name="T4" fmla="*/ 15 w 34"/>
                    <a:gd name="T5" fmla="*/ 13 h 15"/>
                    <a:gd name="T6" fmla="*/ 23 w 34"/>
                    <a:gd name="T7" fmla="*/ 15 h 15"/>
                    <a:gd name="T8" fmla="*/ 32 w 34"/>
                    <a:gd name="T9" fmla="*/ 11 h 15"/>
                    <a:gd name="T10" fmla="*/ 20 w 34"/>
                    <a:gd name="T11" fmla="*/ 1 h 15"/>
                    <a:gd name="T12" fmla="*/ 11 w 34"/>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34" h="15">
                      <a:moveTo>
                        <a:pt x="11" y="0"/>
                      </a:moveTo>
                      <a:cubicBezTo>
                        <a:pt x="6" y="0"/>
                        <a:pt x="3" y="1"/>
                        <a:pt x="2" y="4"/>
                      </a:cubicBezTo>
                      <a:cubicBezTo>
                        <a:pt x="0" y="7"/>
                        <a:pt x="6" y="11"/>
                        <a:pt x="15" y="13"/>
                      </a:cubicBezTo>
                      <a:cubicBezTo>
                        <a:pt x="18" y="14"/>
                        <a:pt x="21" y="15"/>
                        <a:pt x="23" y="15"/>
                      </a:cubicBezTo>
                      <a:cubicBezTo>
                        <a:pt x="28" y="15"/>
                        <a:pt x="32" y="13"/>
                        <a:pt x="32" y="11"/>
                      </a:cubicBezTo>
                      <a:cubicBezTo>
                        <a:pt x="34" y="8"/>
                        <a:pt x="28" y="3"/>
                        <a:pt x="20" y="1"/>
                      </a:cubicBezTo>
                      <a:cubicBezTo>
                        <a:pt x="17" y="1"/>
                        <a:pt x="14" y="0"/>
                        <a:pt x="11" y="0"/>
                      </a:cubicBezTo>
                    </a:path>
                  </a:pathLst>
                </a:custGeom>
                <a:solidFill>
                  <a:srgbClr val="F4BCA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16" name="任意多边形 202"/>
                <p:cNvSpPr/>
                <p:nvPr/>
              </p:nvSpPr>
              <p:spPr bwMode="auto">
                <a:xfrm>
                  <a:off x="6116638" y="1900238"/>
                  <a:ext cx="227013" cy="277813"/>
                </a:xfrm>
                <a:custGeom>
                  <a:avLst/>
                  <a:gdLst>
                    <a:gd name="T0" fmla="*/ 6 w 60"/>
                    <a:gd name="T1" fmla="*/ 32 h 74"/>
                    <a:gd name="T2" fmla="*/ 19 w 60"/>
                    <a:gd name="T3" fmla="*/ 71 h 74"/>
                    <a:gd name="T4" fmla="*/ 54 w 60"/>
                    <a:gd name="T5" fmla="*/ 42 h 74"/>
                    <a:gd name="T6" fmla="*/ 41 w 60"/>
                    <a:gd name="T7" fmla="*/ 3 h 74"/>
                    <a:gd name="T8" fmla="*/ 6 w 60"/>
                    <a:gd name="T9" fmla="*/ 32 h 74"/>
                  </a:gdLst>
                  <a:ahLst/>
                  <a:cxnLst>
                    <a:cxn ang="0">
                      <a:pos x="T0" y="T1"/>
                    </a:cxn>
                    <a:cxn ang="0">
                      <a:pos x="T2" y="T3"/>
                    </a:cxn>
                    <a:cxn ang="0">
                      <a:pos x="T4" y="T5"/>
                    </a:cxn>
                    <a:cxn ang="0">
                      <a:pos x="T6" y="T7"/>
                    </a:cxn>
                    <a:cxn ang="0">
                      <a:pos x="T8" y="T9"/>
                    </a:cxn>
                  </a:cxnLst>
                  <a:rect l="0" t="0" r="r" b="b"/>
                  <a:pathLst>
                    <a:path w="60" h="74">
                      <a:moveTo>
                        <a:pt x="6" y="32"/>
                      </a:moveTo>
                      <a:cubicBezTo>
                        <a:pt x="0" y="51"/>
                        <a:pt x="5" y="68"/>
                        <a:pt x="19" y="71"/>
                      </a:cubicBezTo>
                      <a:cubicBezTo>
                        <a:pt x="32" y="74"/>
                        <a:pt x="48" y="61"/>
                        <a:pt x="54" y="42"/>
                      </a:cubicBezTo>
                      <a:cubicBezTo>
                        <a:pt x="60" y="23"/>
                        <a:pt x="54" y="6"/>
                        <a:pt x="41" y="3"/>
                      </a:cubicBezTo>
                      <a:cubicBezTo>
                        <a:pt x="28" y="0"/>
                        <a:pt x="12" y="13"/>
                        <a:pt x="6" y="32"/>
                      </a:cubicBezTo>
                      <a:close/>
                    </a:path>
                  </a:pathLst>
                </a:custGeom>
                <a:solidFill>
                  <a:srgbClr val="EAB1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17" name="任意多边形 203"/>
                <p:cNvSpPr/>
                <p:nvPr/>
              </p:nvSpPr>
              <p:spPr bwMode="auto">
                <a:xfrm>
                  <a:off x="5503863" y="1231900"/>
                  <a:ext cx="866775" cy="742950"/>
                </a:xfrm>
                <a:custGeom>
                  <a:avLst/>
                  <a:gdLst>
                    <a:gd name="T0" fmla="*/ 169 w 229"/>
                    <a:gd name="T1" fmla="*/ 109 h 197"/>
                    <a:gd name="T2" fmla="*/ 3 w 229"/>
                    <a:gd name="T3" fmla="*/ 120 h 197"/>
                    <a:gd name="T4" fmla="*/ 32 w 229"/>
                    <a:gd name="T5" fmla="*/ 36 h 197"/>
                    <a:gd name="T6" fmla="*/ 195 w 229"/>
                    <a:gd name="T7" fmla="*/ 51 h 197"/>
                    <a:gd name="T8" fmla="*/ 229 w 229"/>
                    <a:gd name="T9" fmla="*/ 117 h 197"/>
                    <a:gd name="T10" fmla="*/ 199 w 229"/>
                    <a:gd name="T11" fmla="*/ 183 h 197"/>
                    <a:gd name="T12" fmla="*/ 177 w 229"/>
                    <a:gd name="T13" fmla="*/ 197 h 197"/>
                    <a:gd name="T14" fmla="*/ 168 w 229"/>
                    <a:gd name="T15" fmla="*/ 176 h 197"/>
                    <a:gd name="T16" fmla="*/ 169 w 229"/>
                    <a:gd name="T17" fmla="*/ 10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9" h="197">
                      <a:moveTo>
                        <a:pt x="169" y="109"/>
                      </a:moveTo>
                      <a:cubicBezTo>
                        <a:pt x="169" y="109"/>
                        <a:pt x="107" y="148"/>
                        <a:pt x="3" y="120"/>
                      </a:cubicBezTo>
                      <a:cubicBezTo>
                        <a:pt x="3" y="120"/>
                        <a:pt x="0" y="61"/>
                        <a:pt x="32" y="36"/>
                      </a:cubicBezTo>
                      <a:cubicBezTo>
                        <a:pt x="63" y="12"/>
                        <a:pt x="158" y="0"/>
                        <a:pt x="195" y="51"/>
                      </a:cubicBezTo>
                      <a:cubicBezTo>
                        <a:pt x="195" y="51"/>
                        <a:pt x="229" y="64"/>
                        <a:pt x="229" y="117"/>
                      </a:cubicBezTo>
                      <a:cubicBezTo>
                        <a:pt x="229" y="147"/>
                        <a:pt x="199" y="183"/>
                        <a:pt x="199" y="183"/>
                      </a:cubicBezTo>
                      <a:cubicBezTo>
                        <a:pt x="199" y="183"/>
                        <a:pt x="187" y="183"/>
                        <a:pt x="177" y="197"/>
                      </a:cubicBezTo>
                      <a:cubicBezTo>
                        <a:pt x="177" y="197"/>
                        <a:pt x="172" y="186"/>
                        <a:pt x="168" y="176"/>
                      </a:cubicBezTo>
                      <a:cubicBezTo>
                        <a:pt x="168" y="176"/>
                        <a:pt x="155" y="144"/>
                        <a:pt x="169" y="109"/>
                      </a:cubicBezTo>
                      <a:close/>
                    </a:path>
                  </a:pathLst>
                </a:custGeom>
                <a:solidFill>
                  <a:srgbClr val="A559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18" name="任意多边形 204"/>
                <p:cNvSpPr/>
                <p:nvPr/>
              </p:nvSpPr>
              <p:spPr bwMode="auto">
                <a:xfrm>
                  <a:off x="5648326" y="2114550"/>
                  <a:ext cx="185738" cy="112713"/>
                </a:xfrm>
                <a:custGeom>
                  <a:avLst/>
                  <a:gdLst>
                    <a:gd name="T0" fmla="*/ 1 w 49"/>
                    <a:gd name="T1" fmla="*/ 0 h 30"/>
                    <a:gd name="T2" fmla="*/ 21 w 49"/>
                    <a:gd name="T3" fmla="*/ 7 h 30"/>
                    <a:gd name="T4" fmla="*/ 49 w 49"/>
                    <a:gd name="T5" fmla="*/ 6 h 30"/>
                    <a:gd name="T6" fmla="*/ 44 w 49"/>
                    <a:gd name="T7" fmla="*/ 19 h 30"/>
                    <a:gd name="T8" fmla="*/ 22 w 49"/>
                    <a:gd name="T9" fmla="*/ 28 h 30"/>
                    <a:gd name="T10" fmla="*/ 11 w 49"/>
                    <a:gd name="T11" fmla="*/ 24 h 30"/>
                    <a:gd name="T12" fmla="*/ 1 w 49"/>
                    <a:gd name="T13" fmla="*/ 0 h 30"/>
                  </a:gdLst>
                  <a:ahLst/>
                  <a:cxnLst>
                    <a:cxn ang="0">
                      <a:pos x="T0" y="T1"/>
                    </a:cxn>
                    <a:cxn ang="0">
                      <a:pos x="T2" y="T3"/>
                    </a:cxn>
                    <a:cxn ang="0">
                      <a:pos x="T4" y="T5"/>
                    </a:cxn>
                    <a:cxn ang="0">
                      <a:pos x="T6" y="T7"/>
                    </a:cxn>
                    <a:cxn ang="0">
                      <a:pos x="T8" y="T9"/>
                    </a:cxn>
                    <a:cxn ang="0">
                      <a:pos x="T10" y="T11"/>
                    </a:cxn>
                    <a:cxn ang="0">
                      <a:pos x="T12" y="T13"/>
                    </a:cxn>
                  </a:cxnLst>
                  <a:rect l="0" t="0" r="r" b="b"/>
                  <a:pathLst>
                    <a:path w="49" h="30">
                      <a:moveTo>
                        <a:pt x="1" y="0"/>
                      </a:moveTo>
                      <a:cubicBezTo>
                        <a:pt x="1" y="0"/>
                        <a:pt x="10" y="5"/>
                        <a:pt x="21" y="7"/>
                      </a:cubicBezTo>
                      <a:cubicBezTo>
                        <a:pt x="32" y="10"/>
                        <a:pt x="49" y="6"/>
                        <a:pt x="49" y="6"/>
                      </a:cubicBezTo>
                      <a:cubicBezTo>
                        <a:pt x="49" y="6"/>
                        <a:pt x="48" y="13"/>
                        <a:pt x="44" y="19"/>
                      </a:cubicBezTo>
                      <a:cubicBezTo>
                        <a:pt x="40" y="25"/>
                        <a:pt x="33" y="30"/>
                        <a:pt x="22" y="28"/>
                      </a:cubicBezTo>
                      <a:cubicBezTo>
                        <a:pt x="17" y="28"/>
                        <a:pt x="14" y="26"/>
                        <a:pt x="11" y="24"/>
                      </a:cubicBezTo>
                      <a:cubicBezTo>
                        <a:pt x="0" y="16"/>
                        <a:pt x="1" y="0"/>
                        <a:pt x="1"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19" name="任意多边形 205"/>
                <p:cNvSpPr/>
                <p:nvPr/>
              </p:nvSpPr>
              <p:spPr bwMode="auto">
                <a:xfrm>
                  <a:off x="5984876" y="1881188"/>
                  <a:ext cx="52388" cy="30163"/>
                </a:xfrm>
                <a:custGeom>
                  <a:avLst/>
                  <a:gdLst>
                    <a:gd name="T0" fmla="*/ 3 w 14"/>
                    <a:gd name="T1" fmla="*/ 8 h 8"/>
                    <a:gd name="T2" fmla="*/ 14 w 14"/>
                    <a:gd name="T3" fmla="*/ 5 h 8"/>
                    <a:gd name="T4" fmla="*/ 0 w 14"/>
                    <a:gd name="T5" fmla="*/ 2 h 8"/>
                    <a:gd name="T6" fmla="*/ 3 w 14"/>
                    <a:gd name="T7" fmla="*/ 8 h 8"/>
                  </a:gdLst>
                  <a:ahLst/>
                  <a:cxnLst>
                    <a:cxn ang="0">
                      <a:pos x="T0" y="T1"/>
                    </a:cxn>
                    <a:cxn ang="0">
                      <a:pos x="T2" y="T3"/>
                    </a:cxn>
                    <a:cxn ang="0">
                      <a:pos x="T4" y="T5"/>
                    </a:cxn>
                    <a:cxn ang="0">
                      <a:pos x="T6" y="T7"/>
                    </a:cxn>
                  </a:cxnLst>
                  <a:rect l="0" t="0" r="r" b="b"/>
                  <a:pathLst>
                    <a:path w="14" h="8">
                      <a:moveTo>
                        <a:pt x="3" y="8"/>
                      </a:moveTo>
                      <a:cubicBezTo>
                        <a:pt x="3" y="8"/>
                        <a:pt x="7" y="5"/>
                        <a:pt x="14" y="5"/>
                      </a:cubicBezTo>
                      <a:cubicBezTo>
                        <a:pt x="14" y="5"/>
                        <a:pt x="8" y="0"/>
                        <a:pt x="0" y="2"/>
                      </a:cubicBezTo>
                      <a:lnTo>
                        <a:pt x="3" y="8"/>
                      </a:ln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20" name="任意多边形 206"/>
                <p:cNvSpPr/>
                <p:nvPr/>
              </p:nvSpPr>
              <p:spPr bwMode="auto">
                <a:xfrm>
                  <a:off x="5602288" y="1804988"/>
                  <a:ext cx="53975" cy="34925"/>
                </a:xfrm>
                <a:custGeom>
                  <a:avLst/>
                  <a:gdLst>
                    <a:gd name="T0" fmla="*/ 10 w 14"/>
                    <a:gd name="T1" fmla="*/ 9 h 9"/>
                    <a:gd name="T2" fmla="*/ 0 w 14"/>
                    <a:gd name="T3" fmla="*/ 3 h 9"/>
                    <a:gd name="T4" fmla="*/ 14 w 14"/>
                    <a:gd name="T5" fmla="*/ 4 h 9"/>
                    <a:gd name="T6" fmla="*/ 10 w 14"/>
                    <a:gd name="T7" fmla="*/ 9 h 9"/>
                  </a:gdLst>
                  <a:ahLst/>
                  <a:cxnLst>
                    <a:cxn ang="0">
                      <a:pos x="T0" y="T1"/>
                    </a:cxn>
                    <a:cxn ang="0">
                      <a:pos x="T2" y="T3"/>
                    </a:cxn>
                    <a:cxn ang="0">
                      <a:pos x="T4" y="T5"/>
                    </a:cxn>
                    <a:cxn ang="0">
                      <a:pos x="T6" y="T7"/>
                    </a:cxn>
                  </a:cxnLst>
                  <a:rect l="0" t="0" r="r" b="b"/>
                  <a:pathLst>
                    <a:path w="14" h="9">
                      <a:moveTo>
                        <a:pt x="10" y="9"/>
                      </a:moveTo>
                      <a:cubicBezTo>
                        <a:pt x="10" y="9"/>
                        <a:pt x="7" y="5"/>
                        <a:pt x="0" y="3"/>
                      </a:cubicBezTo>
                      <a:cubicBezTo>
                        <a:pt x="0" y="3"/>
                        <a:pt x="7" y="0"/>
                        <a:pt x="14" y="4"/>
                      </a:cubicBezTo>
                      <a:lnTo>
                        <a:pt x="10" y="9"/>
                      </a:ln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22" name="任意多边形 207"/>
                <p:cNvSpPr/>
                <p:nvPr/>
              </p:nvSpPr>
              <p:spPr bwMode="auto">
                <a:xfrm>
                  <a:off x="6131032" y="2495550"/>
                  <a:ext cx="525299" cy="724658"/>
                </a:xfrm>
                <a:custGeom>
                  <a:avLst/>
                  <a:gdLst>
                    <a:gd name="connsiteX0" fmla="*/ 103332 w 525299"/>
                    <a:gd name="connsiteY0" fmla="*/ 0 h 724658"/>
                    <a:gd name="connsiteX1" fmla="*/ 500542 w 525299"/>
                    <a:gd name="connsiteY1" fmla="*/ 555041 h 724658"/>
                    <a:gd name="connsiteX2" fmla="*/ 525299 w 525299"/>
                    <a:gd name="connsiteY2" fmla="*/ 628596 h 724658"/>
                    <a:gd name="connsiteX3" fmla="*/ 521292 w 525299"/>
                    <a:gd name="connsiteY3" fmla="*/ 631026 h 724658"/>
                    <a:gd name="connsiteX4" fmla="*/ 412427 w 525299"/>
                    <a:gd name="connsiteY4" fmla="*/ 683369 h 724658"/>
                    <a:gd name="connsiteX5" fmla="*/ 299401 w 525299"/>
                    <a:gd name="connsiteY5" fmla="*/ 724658 h 724658"/>
                    <a:gd name="connsiteX6" fmla="*/ 279247 w 525299"/>
                    <a:gd name="connsiteY6" fmla="*/ 683424 h 724658"/>
                    <a:gd name="connsiteX7" fmla="*/ 76855 w 525299"/>
                    <a:gd name="connsiteY7" fmla="*/ 418759 h 724658"/>
                    <a:gd name="connsiteX8" fmla="*/ 16336 w 525299"/>
                    <a:gd name="connsiteY8" fmla="*/ 135814 h 724658"/>
                    <a:gd name="connsiteX9" fmla="*/ 61725 w 525299"/>
                    <a:gd name="connsiteY9" fmla="*/ 37726 h 724658"/>
                    <a:gd name="connsiteX10" fmla="*/ 103332 w 525299"/>
                    <a:gd name="connsiteY10" fmla="*/ 0 h 724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299" h="724658">
                      <a:moveTo>
                        <a:pt x="103332" y="0"/>
                      </a:moveTo>
                      <a:cubicBezTo>
                        <a:pt x="291273" y="127326"/>
                        <a:pt x="416789" y="332756"/>
                        <a:pt x="500542" y="555041"/>
                      </a:cubicBezTo>
                      <a:lnTo>
                        <a:pt x="525299" y="628596"/>
                      </a:lnTo>
                      <a:lnTo>
                        <a:pt x="521292" y="631026"/>
                      </a:lnTo>
                      <a:cubicBezTo>
                        <a:pt x="485999" y="650162"/>
                        <a:pt x="449676" y="667644"/>
                        <a:pt x="412427" y="683369"/>
                      </a:cubicBezTo>
                      <a:lnTo>
                        <a:pt x="299401" y="724658"/>
                      </a:lnTo>
                      <a:lnTo>
                        <a:pt x="279247" y="683424"/>
                      </a:lnTo>
                      <a:cubicBezTo>
                        <a:pt x="205400" y="547853"/>
                        <a:pt x="130755" y="454127"/>
                        <a:pt x="76855" y="418759"/>
                      </a:cubicBezTo>
                      <a:cubicBezTo>
                        <a:pt x="54160" y="399896"/>
                        <a:pt x="-36619" y="320672"/>
                        <a:pt x="16336" y="135814"/>
                      </a:cubicBezTo>
                      <a:cubicBezTo>
                        <a:pt x="23901" y="101860"/>
                        <a:pt x="39031" y="67907"/>
                        <a:pt x="61725" y="37726"/>
                      </a:cubicBezTo>
                      <a:cubicBezTo>
                        <a:pt x="73073" y="18863"/>
                        <a:pt x="88203" y="7545"/>
                        <a:pt x="103332" y="0"/>
                      </a:cubicBezTo>
                      <a:close/>
                    </a:path>
                  </a:pathLst>
                </a:custGeom>
                <a:solidFill>
                  <a:srgbClr val="F9CB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23" name="任意多边形 208"/>
                <p:cNvSpPr/>
                <p:nvPr/>
              </p:nvSpPr>
              <p:spPr bwMode="auto">
                <a:xfrm>
                  <a:off x="5640388" y="1828800"/>
                  <a:ext cx="26988" cy="33338"/>
                </a:xfrm>
                <a:custGeom>
                  <a:avLst/>
                  <a:gdLst>
                    <a:gd name="T0" fmla="*/ 7 w 7"/>
                    <a:gd name="T1" fmla="*/ 5 h 9"/>
                    <a:gd name="T2" fmla="*/ 5 w 7"/>
                    <a:gd name="T3" fmla="*/ 0 h 9"/>
                    <a:gd name="T4" fmla="*/ 1 w 7"/>
                    <a:gd name="T5" fmla="*/ 3 h 9"/>
                    <a:gd name="T6" fmla="*/ 2 w 7"/>
                    <a:gd name="T7" fmla="*/ 9 h 9"/>
                    <a:gd name="T8" fmla="*/ 7 w 7"/>
                    <a:gd name="T9" fmla="*/ 5 h 9"/>
                  </a:gdLst>
                  <a:ahLst/>
                  <a:cxnLst>
                    <a:cxn ang="0">
                      <a:pos x="T0" y="T1"/>
                    </a:cxn>
                    <a:cxn ang="0">
                      <a:pos x="T2" y="T3"/>
                    </a:cxn>
                    <a:cxn ang="0">
                      <a:pos x="T4" y="T5"/>
                    </a:cxn>
                    <a:cxn ang="0">
                      <a:pos x="T6" y="T7"/>
                    </a:cxn>
                    <a:cxn ang="0">
                      <a:pos x="T8" y="T9"/>
                    </a:cxn>
                  </a:cxnLst>
                  <a:rect l="0" t="0" r="r" b="b"/>
                  <a:pathLst>
                    <a:path w="7" h="9">
                      <a:moveTo>
                        <a:pt x="7" y="5"/>
                      </a:moveTo>
                      <a:cubicBezTo>
                        <a:pt x="7" y="3"/>
                        <a:pt x="7" y="1"/>
                        <a:pt x="5" y="0"/>
                      </a:cubicBezTo>
                      <a:cubicBezTo>
                        <a:pt x="4" y="0"/>
                        <a:pt x="2" y="1"/>
                        <a:pt x="1" y="3"/>
                      </a:cubicBezTo>
                      <a:cubicBezTo>
                        <a:pt x="0" y="6"/>
                        <a:pt x="1" y="8"/>
                        <a:pt x="2" y="9"/>
                      </a:cubicBezTo>
                      <a:cubicBezTo>
                        <a:pt x="4" y="9"/>
                        <a:pt x="6" y="8"/>
                        <a:pt x="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24" name="任意多边形 209"/>
                <p:cNvSpPr/>
                <p:nvPr/>
              </p:nvSpPr>
              <p:spPr bwMode="auto">
                <a:xfrm>
                  <a:off x="5648326" y="1846263"/>
                  <a:ext cx="19050" cy="30163"/>
                </a:xfrm>
                <a:custGeom>
                  <a:avLst/>
                  <a:gdLst>
                    <a:gd name="T0" fmla="*/ 5 w 5"/>
                    <a:gd name="T1" fmla="*/ 5 h 8"/>
                    <a:gd name="T2" fmla="*/ 4 w 5"/>
                    <a:gd name="T3" fmla="*/ 1 h 8"/>
                    <a:gd name="T4" fmla="*/ 0 w 5"/>
                    <a:gd name="T5" fmla="*/ 3 h 8"/>
                    <a:gd name="T6" fmla="*/ 1 w 5"/>
                    <a:gd name="T7" fmla="*/ 7 h 8"/>
                    <a:gd name="T8" fmla="*/ 5 w 5"/>
                    <a:gd name="T9" fmla="*/ 5 h 8"/>
                  </a:gdLst>
                  <a:ahLst/>
                  <a:cxnLst>
                    <a:cxn ang="0">
                      <a:pos x="T0" y="T1"/>
                    </a:cxn>
                    <a:cxn ang="0">
                      <a:pos x="T2" y="T3"/>
                    </a:cxn>
                    <a:cxn ang="0">
                      <a:pos x="T4" y="T5"/>
                    </a:cxn>
                    <a:cxn ang="0">
                      <a:pos x="T6" y="T7"/>
                    </a:cxn>
                    <a:cxn ang="0">
                      <a:pos x="T8" y="T9"/>
                    </a:cxn>
                  </a:cxnLst>
                  <a:rect l="0" t="0" r="r" b="b"/>
                  <a:pathLst>
                    <a:path w="5" h="8">
                      <a:moveTo>
                        <a:pt x="5" y="5"/>
                      </a:moveTo>
                      <a:cubicBezTo>
                        <a:pt x="5" y="3"/>
                        <a:pt x="5" y="1"/>
                        <a:pt x="4" y="1"/>
                      </a:cubicBezTo>
                      <a:cubicBezTo>
                        <a:pt x="3" y="0"/>
                        <a:pt x="1" y="2"/>
                        <a:pt x="0" y="3"/>
                      </a:cubicBezTo>
                      <a:cubicBezTo>
                        <a:pt x="0" y="5"/>
                        <a:pt x="0" y="7"/>
                        <a:pt x="1" y="7"/>
                      </a:cubicBezTo>
                      <a:cubicBezTo>
                        <a:pt x="2" y="8"/>
                        <a:pt x="4" y="7"/>
                        <a:pt x="5" y="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25" name="任意多边形 210"/>
                <p:cNvSpPr/>
                <p:nvPr/>
              </p:nvSpPr>
              <p:spPr bwMode="auto">
                <a:xfrm>
                  <a:off x="5938838" y="1892300"/>
                  <a:ext cx="26988" cy="33338"/>
                </a:xfrm>
                <a:custGeom>
                  <a:avLst/>
                  <a:gdLst>
                    <a:gd name="T0" fmla="*/ 6 w 7"/>
                    <a:gd name="T1" fmla="*/ 5 h 9"/>
                    <a:gd name="T2" fmla="*/ 5 w 7"/>
                    <a:gd name="T3" fmla="*/ 0 h 9"/>
                    <a:gd name="T4" fmla="*/ 1 w 7"/>
                    <a:gd name="T5" fmla="*/ 3 h 9"/>
                    <a:gd name="T6" fmla="*/ 2 w 7"/>
                    <a:gd name="T7" fmla="*/ 9 h 9"/>
                    <a:gd name="T8" fmla="*/ 6 w 7"/>
                    <a:gd name="T9" fmla="*/ 5 h 9"/>
                  </a:gdLst>
                  <a:ahLst/>
                  <a:cxnLst>
                    <a:cxn ang="0">
                      <a:pos x="T0" y="T1"/>
                    </a:cxn>
                    <a:cxn ang="0">
                      <a:pos x="T2" y="T3"/>
                    </a:cxn>
                    <a:cxn ang="0">
                      <a:pos x="T4" y="T5"/>
                    </a:cxn>
                    <a:cxn ang="0">
                      <a:pos x="T6" y="T7"/>
                    </a:cxn>
                    <a:cxn ang="0">
                      <a:pos x="T8" y="T9"/>
                    </a:cxn>
                  </a:cxnLst>
                  <a:rect l="0" t="0" r="r" b="b"/>
                  <a:pathLst>
                    <a:path w="7" h="9">
                      <a:moveTo>
                        <a:pt x="6" y="5"/>
                      </a:moveTo>
                      <a:cubicBezTo>
                        <a:pt x="7" y="3"/>
                        <a:pt x="6" y="1"/>
                        <a:pt x="5" y="0"/>
                      </a:cubicBezTo>
                      <a:cubicBezTo>
                        <a:pt x="3" y="0"/>
                        <a:pt x="2" y="1"/>
                        <a:pt x="1" y="3"/>
                      </a:cubicBezTo>
                      <a:cubicBezTo>
                        <a:pt x="0" y="6"/>
                        <a:pt x="0" y="8"/>
                        <a:pt x="2" y="9"/>
                      </a:cubicBezTo>
                      <a:cubicBezTo>
                        <a:pt x="3" y="9"/>
                        <a:pt x="5" y="8"/>
                        <a:pt x="6"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26" name="任意多边形 211"/>
                <p:cNvSpPr/>
                <p:nvPr/>
              </p:nvSpPr>
              <p:spPr bwMode="auto">
                <a:xfrm>
                  <a:off x="5943601" y="1911350"/>
                  <a:ext cx="22225" cy="30163"/>
                </a:xfrm>
                <a:custGeom>
                  <a:avLst/>
                  <a:gdLst>
                    <a:gd name="T0" fmla="*/ 5 w 6"/>
                    <a:gd name="T1" fmla="*/ 5 h 8"/>
                    <a:gd name="T2" fmla="*/ 4 w 6"/>
                    <a:gd name="T3" fmla="*/ 1 h 8"/>
                    <a:gd name="T4" fmla="*/ 1 w 6"/>
                    <a:gd name="T5" fmla="*/ 3 h 8"/>
                    <a:gd name="T6" fmla="*/ 2 w 6"/>
                    <a:gd name="T7" fmla="*/ 7 h 8"/>
                    <a:gd name="T8" fmla="*/ 5 w 6"/>
                    <a:gd name="T9" fmla="*/ 5 h 8"/>
                  </a:gdLst>
                  <a:ahLst/>
                  <a:cxnLst>
                    <a:cxn ang="0">
                      <a:pos x="T0" y="T1"/>
                    </a:cxn>
                    <a:cxn ang="0">
                      <a:pos x="T2" y="T3"/>
                    </a:cxn>
                    <a:cxn ang="0">
                      <a:pos x="T4" y="T5"/>
                    </a:cxn>
                    <a:cxn ang="0">
                      <a:pos x="T6" y="T7"/>
                    </a:cxn>
                    <a:cxn ang="0">
                      <a:pos x="T8" y="T9"/>
                    </a:cxn>
                  </a:cxnLst>
                  <a:rect l="0" t="0" r="r" b="b"/>
                  <a:pathLst>
                    <a:path w="6" h="8">
                      <a:moveTo>
                        <a:pt x="5" y="5"/>
                      </a:moveTo>
                      <a:cubicBezTo>
                        <a:pt x="6" y="3"/>
                        <a:pt x="5" y="1"/>
                        <a:pt x="4" y="1"/>
                      </a:cubicBezTo>
                      <a:cubicBezTo>
                        <a:pt x="3" y="0"/>
                        <a:pt x="2" y="2"/>
                        <a:pt x="1" y="3"/>
                      </a:cubicBezTo>
                      <a:cubicBezTo>
                        <a:pt x="0" y="5"/>
                        <a:pt x="1" y="7"/>
                        <a:pt x="2" y="7"/>
                      </a:cubicBezTo>
                      <a:cubicBezTo>
                        <a:pt x="3" y="8"/>
                        <a:pt x="4" y="7"/>
                        <a:pt x="5" y="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0" name="任意多边形 212"/>
                <p:cNvSpPr/>
                <p:nvPr/>
              </p:nvSpPr>
              <p:spPr bwMode="auto">
                <a:xfrm>
                  <a:off x="5954713" y="1790700"/>
                  <a:ext cx="101600" cy="49213"/>
                </a:xfrm>
                <a:custGeom>
                  <a:avLst/>
                  <a:gdLst>
                    <a:gd name="T0" fmla="*/ 25 w 27"/>
                    <a:gd name="T1" fmla="*/ 13 h 13"/>
                    <a:gd name="T2" fmla="*/ 23 w 27"/>
                    <a:gd name="T3" fmla="*/ 12 h 13"/>
                    <a:gd name="T4" fmla="*/ 2 w 27"/>
                    <a:gd name="T5" fmla="*/ 5 h 13"/>
                    <a:gd name="T6" fmla="*/ 0 w 27"/>
                    <a:gd name="T7" fmla="*/ 3 h 13"/>
                    <a:gd name="T8" fmla="*/ 2 w 27"/>
                    <a:gd name="T9" fmla="*/ 0 h 13"/>
                    <a:gd name="T10" fmla="*/ 26 w 27"/>
                    <a:gd name="T11" fmla="*/ 9 h 13"/>
                    <a:gd name="T12" fmla="*/ 26 w 27"/>
                    <a:gd name="T13" fmla="*/ 12 h 13"/>
                    <a:gd name="T14" fmla="*/ 25 w 27"/>
                    <a:gd name="T15" fmla="*/ 1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3">
                      <a:moveTo>
                        <a:pt x="25" y="13"/>
                      </a:moveTo>
                      <a:cubicBezTo>
                        <a:pt x="24" y="13"/>
                        <a:pt x="23" y="13"/>
                        <a:pt x="23" y="12"/>
                      </a:cubicBezTo>
                      <a:cubicBezTo>
                        <a:pt x="14" y="5"/>
                        <a:pt x="3" y="5"/>
                        <a:pt x="2" y="5"/>
                      </a:cubicBezTo>
                      <a:cubicBezTo>
                        <a:pt x="1" y="5"/>
                        <a:pt x="0" y="4"/>
                        <a:pt x="0" y="3"/>
                      </a:cubicBezTo>
                      <a:cubicBezTo>
                        <a:pt x="0" y="2"/>
                        <a:pt x="1" y="0"/>
                        <a:pt x="2" y="0"/>
                      </a:cubicBezTo>
                      <a:cubicBezTo>
                        <a:pt x="3" y="0"/>
                        <a:pt x="16" y="0"/>
                        <a:pt x="26" y="9"/>
                      </a:cubicBezTo>
                      <a:cubicBezTo>
                        <a:pt x="27" y="10"/>
                        <a:pt x="27" y="11"/>
                        <a:pt x="26" y="12"/>
                      </a:cubicBezTo>
                      <a:cubicBezTo>
                        <a:pt x="26" y="13"/>
                        <a:pt x="25" y="13"/>
                        <a:pt x="25" y="13"/>
                      </a:cubicBezTo>
                      <a:close/>
                    </a:path>
                  </a:pathLst>
                </a:custGeom>
                <a:solidFill>
                  <a:srgbClr val="A559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1" name="任意多边形 213"/>
                <p:cNvSpPr/>
                <p:nvPr/>
              </p:nvSpPr>
              <p:spPr bwMode="auto">
                <a:xfrm>
                  <a:off x="5613401" y="1738313"/>
                  <a:ext cx="106363" cy="36513"/>
                </a:xfrm>
                <a:custGeom>
                  <a:avLst/>
                  <a:gdLst>
                    <a:gd name="T0" fmla="*/ 1 w 28"/>
                    <a:gd name="T1" fmla="*/ 10 h 10"/>
                    <a:gd name="T2" fmla="*/ 0 w 28"/>
                    <a:gd name="T3" fmla="*/ 9 h 10"/>
                    <a:gd name="T4" fmla="*/ 2 w 28"/>
                    <a:gd name="T5" fmla="*/ 6 h 10"/>
                    <a:gd name="T6" fmla="*/ 26 w 28"/>
                    <a:gd name="T7" fmla="*/ 4 h 10"/>
                    <a:gd name="T8" fmla="*/ 28 w 28"/>
                    <a:gd name="T9" fmla="*/ 7 h 10"/>
                    <a:gd name="T10" fmla="*/ 25 w 28"/>
                    <a:gd name="T11" fmla="*/ 8 h 10"/>
                    <a:gd name="T12" fmla="*/ 3 w 28"/>
                    <a:gd name="T13" fmla="*/ 10 h 10"/>
                    <a:gd name="T14" fmla="*/ 1 w 28"/>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0">
                      <a:moveTo>
                        <a:pt x="1" y="10"/>
                      </a:moveTo>
                      <a:cubicBezTo>
                        <a:pt x="1" y="10"/>
                        <a:pt x="1" y="9"/>
                        <a:pt x="0" y="9"/>
                      </a:cubicBezTo>
                      <a:cubicBezTo>
                        <a:pt x="0" y="8"/>
                        <a:pt x="0" y="6"/>
                        <a:pt x="2" y="6"/>
                      </a:cubicBezTo>
                      <a:cubicBezTo>
                        <a:pt x="14" y="0"/>
                        <a:pt x="26" y="4"/>
                        <a:pt x="26" y="4"/>
                      </a:cubicBezTo>
                      <a:cubicBezTo>
                        <a:pt x="28" y="4"/>
                        <a:pt x="28" y="6"/>
                        <a:pt x="28" y="7"/>
                      </a:cubicBezTo>
                      <a:cubicBezTo>
                        <a:pt x="28" y="8"/>
                        <a:pt x="26" y="9"/>
                        <a:pt x="25" y="8"/>
                      </a:cubicBezTo>
                      <a:cubicBezTo>
                        <a:pt x="25" y="8"/>
                        <a:pt x="14" y="5"/>
                        <a:pt x="3" y="10"/>
                      </a:cubicBezTo>
                      <a:cubicBezTo>
                        <a:pt x="3" y="10"/>
                        <a:pt x="2" y="10"/>
                        <a:pt x="1" y="10"/>
                      </a:cubicBezTo>
                      <a:close/>
                    </a:path>
                  </a:pathLst>
                </a:custGeom>
                <a:solidFill>
                  <a:srgbClr val="A559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2" name="任意多边形 214"/>
                <p:cNvSpPr/>
                <p:nvPr/>
              </p:nvSpPr>
              <p:spPr bwMode="auto">
                <a:xfrm>
                  <a:off x="5708651" y="1858963"/>
                  <a:ext cx="106363" cy="176213"/>
                </a:xfrm>
                <a:custGeom>
                  <a:avLst/>
                  <a:gdLst>
                    <a:gd name="T0" fmla="*/ 14 w 28"/>
                    <a:gd name="T1" fmla="*/ 47 h 47"/>
                    <a:gd name="T2" fmla="*/ 16 w 28"/>
                    <a:gd name="T3" fmla="*/ 45 h 47"/>
                    <a:gd name="T4" fmla="*/ 14 w 28"/>
                    <a:gd name="T5" fmla="*/ 43 h 47"/>
                    <a:gd name="T6" fmla="*/ 5 w 28"/>
                    <a:gd name="T7" fmla="*/ 39 h 47"/>
                    <a:gd name="T8" fmla="*/ 5 w 28"/>
                    <a:gd name="T9" fmla="*/ 34 h 47"/>
                    <a:gd name="T10" fmla="*/ 8 w 28"/>
                    <a:gd name="T11" fmla="*/ 31 h 47"/>
                    <a:gd name="T12" fmla="*/ 16 w 28"/>
                    <a:gd name="T13" fmla="*/ 32 h 47"/>
                    <a:gd name="T14" fmla="*/ 18 w 28"/>
                    <a:gd name="T15" fmla="*/ 32 h 47"/>
                    <a:gd name="T16" fmla="*/ 19 w 28"/>
                    <a:gd name="T17" fmla="*/ 31 h 47"/>
                    <a:gd name="T18" fmla="*/ 28 w 28"/>
                    <a:gd name="T19" fmla="*/ 3 h 47"/>
                    <a:gd name="T20" fmla="*/ 27 w 28"/>
                    <a:gd name="T21" fmla="*/ 1 h 47"/>
                    <a:gd name="T22" fmla="*/ 24 w 28"/>
                    <a:gd name="T23" fmla="*/ 2 h 47"/>
                    <a:gd name="T24" fmla="*/ 16 w 28"/>
                    <a:gd name="T25" fmla="*/ 27 h 47"/>
                    <a:gd name="T26" fmla="*/ 7 w 28"/>
                    <a:gd name="T27" fmla="*/ 27 h 47"/>
                    <a:gd name="T28" fmla="*/ 1 w 28"/>
                    <a:gd name="T29" fmla="*/ 33 h 47"/>
                    <a:gd name="T30" fmla="*/ 2 w 28"/>
                    <a:gd name="T31" fmla="*/ 41 h 47"/>
                    <a:gd name="T32" fmla="*/ 14 w 28"/>
                    <a:gd name="T33"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47">
                      <a:moveTo>
                        <a:pt x="14" y="47"/>
                      </a:moveTo>
                      <a:cubicBezTo>
                        <a:pt x="15" y="47"/>
                        <a:pt x="16" y="46"/>
                        <a:pt x="16" y="45"/>
                      </a:cubicBezTo>
                      <a:cubicBezTo>
                        <a:pt x="16" y="44"/>
                        <a:pt x="15" y="43"/>
                        <a:pt x="14" y="43"/>
                      </a:cubicBezTo>
                      <a:cubicBezTo>
                        <a:pt x="12" y="43"/>
                        <a:pt x="7" y="42"/>
                        <a:pt x="5" y="39"/>
                      </a:cubicBezTo>
                      <a:cubicBezTo>
                        <a:pt x="5" y="38"/>
                        <a:pt x="4" y="36"/>
                        <a:pt x="5" y="34"/>
                      </a:cubicBezTo>
                      <a:cubicBezTo>
                        <a:pt x="6" y="32"/>
                        <a:pt x="7" y="31"/>
                        <a:pt x="8" y="31"/>
                      </a:cubicBezTo>
                      <a:cubicBezTo>
                        <a:pt x="11" y="29"/>
                        <a:pt x="15" y="31"/>
                        <a:pt x="16" y="32"/>
                      </a:cubicBezTo>
                      <a:cubicBezTo>
                        <a:pt x="17" y="32"/>
                        <a:pt x="17" y="32"/>
                        <a:pt x="18" y="32"/>
                      </a:cubicBezTo>
                      <a:cubicBezTo>
                        <a:pt x="18" y="32"/>
                        <a:pt x="19" y="31"/>
                        <a:pt x="19" y="31"/>
                      </a:cubicBezTo>
                      <a:cubicBezTo>
                        <a:pt x="28" y="3"/>
                        <a:pt x="28" y="3"/>
                        <a:pt x="28" y="3"/>
                      </a:cubicBezTo>
                      <a:cubicBezTo>
                        <a:pt x="28" y="2"/>
                        <a:pt x="28" y="1"/>
                        <a:pt x="27" y="1"/>
                      </a:cubicBezTo>
                      <a:cubicBezTo>
                        <a:pt x="26" y="0"/>
                        <a:pt x="25" y="1"/>
                        <a:pt x="24" y="2"/>
                      </a:cubicBezTo>
                      <a:cubicBezTo>
                        <a:pt x="16" y="27"/>
                        <a:pt x="16" y="27"/>
                        <a:pt x="16" y="27"/>
                      </a:cubicBezTo>
                      <a:cubicBezTo>
                        <a:pt x="14" y="26"/>
                        <a:pt x="10" y="26"/>
                        <a:pt x="7" y="27"/>
                      </a:cubicBezTo>
                      <a:cubicBezTo>
                        <a:pt x="4" y="28"/>
                        <a:pt x="2" y="30"/>
                        <a:pt x="1" y="33"/>
                      </a:cubicBezTo>
                      <a:cubicBezTo>
                        <a:pt x="0" y="36"/>
                        <a:pt x="1" y="39"/>
                        <a:pt x="2" y="41"/>
                      </a:cubicBezTo>
                      <a:cubicBezTo>
                        <a:pt x="5" y="46"/>
                        <a:pt x="13" y="47"/>
                        <a:pt x="14" y="47"/>
                      </a:cubicBezTo>
                      <a:close/>
                    </a:path>
                  </a:pathLst>
                </a:custGeom>
                <a:solidFill>
                  <a:srgbClr val="EAB1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233" name="椭圆 232"/>
              <p:cNvSpPr/>
              <p:nvPr/>
            </p:nvSpPr>
            <p:spPr bwMode="auto">
              <a:xfrm>
                <a:off x="4499610" y="1835663"/>
                <a:ext cx="3192779" cy="3186674"/>
              </a:xfrm>
              <a:prstGeom prst="ellipse">
                <a:avLst/>
              </a:pr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4" name="矩形 233"/>
              <p:cNvSpPr/>
              <p:nvPr/>
            </p:nvSpPr>
            <p:spPr bwMode="auto">
              <a:xfrm>
                <a:off x="5541485" y="2987424"/>
                <a:ext cx="954375" cy="1719502"/>
              </a:xfrm>
              <a:prstGeom prst="rect">
                <a:avLst/>
              </a:prstGeom>
              <a:solidFill>
                <a:srgbClr val="A559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5" name="矩形 234"/>
              <p:cNvSpPr/>
              <p:nvPr/>
            </p:nvSpPr>
            <p:spPr bwMode="auto">
              <a:xfrm>
                <a:off x="5541485" y="2987424"/>
                <a:ext cx="954375" cy="1719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6" name="任意多边形 164"/>
              <p:cNvSpPr/>
              <p:nvPr/>
            </p:nvSpPr>
            <p:spPr bwMode="auto">
              <a:xfrm>
                <a:off x="5419127" y="3836119"/>
                <a:ext cx="1047282" cy="1186219"/>
              </a:xfrm>
              <a:custGeom>
                <a:avLst/>
                <a:gdLst>
                  <a:gd name="connsiteX0" fmla="*/ 393249 w 817018"/>
                  <a:gd name="connsiteY0" fmla="*/ 491 h 925407"/>
                  <a:gd name="connsiteX1" fmla="*/ 438575 w 817018"/>
                  <a:gd name="connsiteY1" fmla="*/ 26897 h 925407"/>
                  <a:gd name="connsiteX2" fmla="*/ 767187 w 817018"/>
                  <a:gd name="connsiteY2" fmla="*/ 196646 h 925407"/>
                  <a:gd name="connsiteX3" fmla="*/ 786073 w 817018"/>
                  <a:gd name="connsiteY3" fmla="*/ 468244 h 925407"/>
                  <a:gd name="connsiteX4" fmla="*/ 714307 w 817018"/>
                  <a:gd name="connsiteY4" fmla="*/ 468244 h 925407"/>
                  <a:gd name="connsiteX5" fmla="*/ 714307 w 817018"/>
                  <a:gd name="connsiteY5" fmla="*/ 581411 h 925407"/>
                  <a:gd name="connsiteX6" fmla="*/ 702976 w 817018"/>
                  <a:gd name="connsiteY6" fmla="*/ 720982 h 925407"/>
                  <a:gd name="connsiteX7" fmla="*/ 698136 w 817018"/>
                  <a:gd name="connsiteY7" fmla="*/ 904818 h 925407"/>
                  <a:gd name="connsiteX8" fmla="*/ 698259 w 817018"/>
                  <a:gd name="connsiteY8" fmla="*/ 912459 h 925407"/>
                  <a:gd name="connsiteX9" fmla="*/ 655385 w 817018"/>
                  <a:gd name="connsiteY9" fmla="*/ 918990 h 925407"/>
                  <a:gd name="connsiteX10" fmla="*/ 528050 w 817018"/>
                  <a:gd name="connsiteY10" fmla="*/ 925407 h 925407"/>
                  <a:gd name="connsiteX11" fmla="*/ 43287 w 817018"/>
                  <a:gd name="connsiteY11" fmla="*/ 827725 h 925407"/>
                  <a:gd name="connsiteX12" fmla="*/ 19809 w 817018"/>
                  <a:gd name="connsiteY12" fmla="*/ 816437 h 925407"/>
                  <a:gd name="connsiteX13" fmla="*/ 15533 w 817018"/>
                  <a:gd name="connsiteY13" fmla="*/ 698349 h 925407"/>
                  <a:gd name="connsiteX14" fmla="*/ 425 w 817018"/>
                  <a:gd name="connsiteY14" fmla="*/ 502194 h 925407"/>
                  <a:gd name="connsiteX15" fmla="*/ 83522 w 817018"/>
                  <a:gd name="connsiteY15" fmla="*/ 249457 h 925407"/>
                  <a:gd name="connsiteX16" fmla="*/ 291266 w 817018"/>
                  <a:gd name="connsiteY16" fmla="*/ 45758 h 925407"/>
                  <a:gd name="connsiteX17" fmla="*/ 393249 w 817018"/>
                  <a:gd name="connsiteY17" fmla="*/ 491 h 92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17018" h="925407">
                    <a:moveTo>
                      <a:pt x="393249" y="491"/>
                    </a:moveTo>
                    <a:cubicBezTo>
                      <a:pt x="404580" y="-3281"/>
                      <a:pt x="412135" y="15580"/>
                      <a:pt x="438575" y="26897"/>
                    </a:cubicBezTo>
                    <a:cubicBezTo>
                      <a:pt x="619878" y="98569"/>
                      <a:pt x="706753" y="121202"/>
                      <a:pt x="767187" y="196646"/>
                    </a:cubicBezTo>
                    <a:cubicBezTo>
                      <a:pt x="767187" y="196646"/>
                      <a:pt x="865393" y="472017"/>
                      <a:pt x="786073" y="468244"/>
                    </a:cubicBezTo>
                    <a:cubicBezTo>
                      <a:pt x="786073" y="468244"/>
                      <a:pt x="786073" y="468244"/>
                      <a:pt x="714307" y="468244"/>
                    </a:cubicBezTo>
                    <a:cubicBezTo>
                      <a:pt x="714307" y="468244"/>
                      <a:pt x="714307" y="468244"/>
                      <a:pt x="714307" y="581411"/>
                    </a:cubicBezTo>
                    <a:cubicBezTo>
                      <a:pt x="714307" y="581411"/>
                      <a:pt x="714307" y="581411"/>
                      <a:pt x="702976" y="720982"/>
                    </a:cubicBezTo>
                    <a:cubicBezTo>
                      <a:pt x="700143" y="782280"/>
                      <a:pt x="698490" y="843579"/>
                      <a:pt x="698136" y="904818"/>
                    </a:cubicBezTo>
                    <a:lnTo>
                      <a:pt x="698259" y="912459"/>
                    </a:lnTo>
                    <a:lnTo>
                      <a:pt x="655385" y="918990"/>
                    </a:lnTo>
                    <a:cubicBezTo>
                      <a:pt x="613518" y="923233"/>
                      <a:pt x="571038" y="925407"/>
                      <a:pt x="528050" y="925407"/>
                    </a:cubicBezTo>
                    <a:cubicBezTo>
                      <a:pt x="356097" y="925407"/>
                      <a:pt x="192284" y="890625"/>
                      <a:pt x="43287" y="827725"/>
                    </a:cubicBezTo>
                    <a:lnTo>
                      <a:pt x="19809" y="816437"/>
                    </a:lnTo>
                    <a:lnTo>
                      <a:pt x="15533" y="698349"/>
                    </a:lnTo>
                    <a:cubicBezTo>
                      <a:pt x="15533" y="698349"/>
                      <a:pt x="15533" y="698349"/>
                      <a:pt x="425" y="502194"/>
                    </a:cubicBezTo>
                    <a:cubicBezTo>
                      <a:pt x="425" y="502194"/>
                      <a:pt x="-10907" y="362623"/>
                      <a:pt x="83522" y="249457"/>
                    </a:cubicBezTo>
                    <a:cubicBezTo>
                      <a:pt x="113739" y="207962"/>
                      <a:pt x="223277" y="113657"/>
                      <a:pt x="291266" y="45758"/>
                    </a:cubicBezTo>
                    <a:cubicBezTo>
                      <a:pt x="310151" y="26897"/>
                      <a:pt x="385695" y="-3281"/>
                      <a:pt x="393249" y="491"/>
                    </a:cubicBezTo>
                    <a:close/>
                  </a:path>
                </a:pathLst>
              </a:custGeom>
              <a:solidFill>
                <a:srgbClr val="00A9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7" name="任意多边形 165"/>
              <p:cNvSpPr/>
              <p:nvPr/>
            </p:nvSpPr>
            <p:spPr bwMode="auto">
              <a:xfrm>
                <a:off x="6224054" y="4393549"/>
                <a:ext cx="241282" cy="621259"/>
              </a:xfrm>
              <a:custGeom>
                <a:avLst/>
                <a:gdLst>
                  <a:gd name="connsiteX0" fmla="*/ 188232 w 188232"/>
                  <a:gd name="connsiteY0" fmla="*/ 0 h 484664"/>
                  <a:gd name="connsiteX1" fmla="*/ 158115 w 188232"/>
                  <a:gd name="connsiteY1" fmla="*/ 33946 h 484664"/>
                  <a:gd name="connsiteX2" fmla="*/ 86587 w 188232"/>
                  <a:gd name="connsiteY2" fmla="*/ 33946 h 484664"/>
                  <a:gd name="connsiteX3" fmla="*/ 86587 w 188232"/>
                  <a:gd name="connsiteY3" fmla="*/ 147097 h 484664"/>
                  <a:gd name="connsiteX4" fmla="*/ 75293 w 188232"/>
                  <a:gd name="connsiteY4" fmla="*/ 286651 h 484664"/>
                  <a:gd name="connsiteX5" fmla="*/ 70469 w 188232"/>
                  <a:gd name="connsiteY5" fmla="*/ 470463 h 484664"/>
                  <a:gd name="connsiteX6" fmla="*/ 70583 w 188232"/>
                  <a:gd name="connsiteY6" fmla="*/ 477548 h 484664"/>
                  <a:gd name="connsiteX7" fmla="*/ 27436 w 188232"/>
                  <a:gd name="connsiteY7" fmla="*/ 484121 h 484664"/>
                  <a:gd name="connsiteX8" fmla="*/ 16662 w 188232"/>
                  <a:gd name="connsiteY8" fmla="*/ 484664 h 484664"/>
                  <a:gd name="connsiteX9" fmla="*/ 18823 w 188232"/>
                  <a:gd name="connsiteY9" fmla="*/ 396502 h 484664"/>
                  <a:gd name="connsiteX10" fmla="*/ 0 w 188232"/>
                  <a:gd name="connsiteY10" fmla="*/ 15087 h 48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8232" h="484664">
                    <a:moveTo>
                      <a:pt x="188232" y="0"/>
                    </a:moveTo>
                    <a:cubicBezTo>
                      <a:pt x="184468" y="22630"/>
                      <a:pt x="176938" y="33946"/>
                      <a:pt x="158115" y="33946"/>
                    </a:cubicBezTo>
                    <a:cubicBezTo>
                      <a:pt x="158115" y="33946"/>
                      <a:pt x="158115" y="33946"/>
                      <a:pt x="86587" y="33946"/>
                    </a:cubicBezTo>
                    <a:cubicBezTo>
                      <a:pt x="86587" y="33946"/>
                      <a:pt x="86587" y="33946"/>
                      <a:pt x="86587" y="147097"/>
                    </a:cubicBezTo>
                    <a:cubicBezTo>
                      <a:pt x="86587" y="147097"/>
                      <a:pt x="86587" y="147097"/>
                      <a:pt x="75293" y="286651"/>
                    </a:cubicBezTo>
                    <a:cubicBezTo>
                      <a:pt x="72469" y="347941"/>
                      <a:pt x="70822" y="409232"/>
                      <a:pt x="70469" y="470463"/>
                    </a:cubicBezTo>
                    <a:lnTo>
                      <a:pt x="70583" y="477548"/>
                    </a:lnTo>
                    <a:lnTo>
                      <a:pt x="27436" y="484121"/>
                    </a:lnTo>
                    <a:lnTo>
                      <a:pt x="16662" y="484664"/>
                    </a:lnTo>
                    <a:lnTo>
                      <a:pt x="18823" y="396502"/>
                    </a:lnTo>
                    <a:cubicBezTo>
                      <a:pt x="18823" y="181986"/>
                      <a:pt x="0" y="15087"/>
                      <a:pt x="0" y="15087"/>
                    </a:cubicBezTo>
                    <a:close/>
                  </a:path>
                </a:pathLst>
              </a:custGeom>
              <a:solidFill>
                <a:srgbClr val="0093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8" name="任意多边形 166"/>
              <p:cNvSpPr/>
              <p:nvPr/>
            </p:nvSpPr>
            <p:spPr bwMode="auto">
              <a:xfrm>
                <a:off x="5769396" y="3852262"/>
                <a:ext cx="270644" cy="242155"/>
              </a:xfrm>
              <a:custGeom>
                <a:avLst/>
                <a:gdLst>
                  <a:gd name="T0" fmla="*/ 38 w 56"/>
                  <a:gd name="T1" fmla="*/ 7 h 50"/>
                  <a:gd name="T2" fmla="*/ 1 w 56"/>
                  <a:gd name="T3" fmla="*/ 3 h 50"/>
                  <a:gd name="T4" fmla="*/ 1 w 56"/>
                  <a:gd name="T5" fmla="*/ 24 h 50"/>
                  <a:gd name="T6" fmla="*/ 56 w 56"/>
                  <a:gd name="T7" fmla="*/ 25 h 50"/>
                  <a:gd name="T8" fmla="*/ 56 w 56"/>
                  <a:gd name="T9" fmla="*/ 0 h 50"/>
                  <a:gd name="T10" fmla="*/ 38 w 56"/>
                  <a:gd name="T11" fmla="*/ 7 h 50"/>
                </a:gdLst>
                <a:ahLst/>
                <a:cxnLst>
                  <a:cxn ang="0">
                    <a:pos x="T0" y="T1"/>
                  </a:cxn>
                  <a:cxn ang="0">
                    <a:pos x="T2" y="T3"/>
                  </a:cxn>
                  <a:cxn ang="0">
                    <a:pos x="T4" y="T5"/>
                  </a:cxn>
                  <a:cxn ang="0">
                    <a:pos x="T6" y="T7"/>
                  </a:cxn>
                  <a:cxn ang="0">
                    <a:pos x="T8" y="T9"/>
                  </a:cxn>
                  <a:cxn ang="0">
                    <a:pos x="T10" y="T11"/>
                  </a:cxn>
                </a:cxnLst>
                <a:rect l="0" t="0" r="r" b="b"/>
                <a:pathLst>
                  <a:path w="56" h="50">
                    <a:moveTo>
                      <a:pt x="38" y="7"/>
                    </a:moveTo>
                    <a:cubicBezTo>
                      <a:pt x="27" y="10"/>
                      <a:pt x="10" y="4"/>
                      <a:pt x="1" y="3"/>
                    </a:cubicBezTo>
                    <a:cubicBezTo>
                      <a:pt x="1" y="24"/>
                      <a:pt x="1" y="24"/>
                      <a:pt x="1" y="24"/>
                    </a:cubicBezTo>
                    <a:cubicBezTo>
                      <a:pt x="0" y="48"/>
                      <a:pt x="55" y="50"/>
                      <a:pt x="56" y="25"/>
                    </a:cubicBezTo>
                    <a:cubicBezTo>
                      <a:pt x="56" y="0"/>
                      <a:pt x="56" y="0"/>
                      <a:pt x="56" y="0"/>
                    </a:cubicBezTo>
                    <a:cubicBezTo>
                      <a:pt x="50" y="3"/>
                      <a:pt x="43" y="6"/>
                      <a:pt x="38" y="7"/>
                    </a:cubicBezTo>
                    <a:close/>
                  </a:path>
                </a:pathLst>
              </a:custGeom>
              <a:solidFill>
                <a:srgbClr val="F9CB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9" name="任意多边形 167"/>
              <p:cNvSpPr/>
              <p:nvPr/>
            </p:nvSpPr>
            <p:spPr bwMode="auto">
              <a:xfrm>
                <a:off x="5791779" y="3575514"/>
                <a:ext cx="258435" cy="170933"/>
              </a:xfrm>
              <a:custGeom>
                <a:avLst/>
                <a:gdLst>
                  <a:gd name="T0" fmla="*/ 53 w 53"/>
                  <a:gd name="T1" fmla="*/ 1 h 35"/>
                  <a:gd name="T2" fmla="*/ 1 w 53"/>
                  <a:gd name="T3" fmla="*/ 0 h 35"/>
                  <a:gd name="T4" fmla="*/ 0 w 53"/>
                  <a:gd name="T5" fmla="*/ 35 h 35"/>
                  <a:gd name="T6" fmla="*/ 52 w 53"/>
                  <a:gd name="T7" fmla="*/ 29 h 35"/>
                  <a:gd name="T8" fmla="*/ 53 w 53"/>
                  <a:gd name="T9" fmla="*/ 1 h 35"/>
                </a:gdLst>
                <a:ahLst/>
                <a:cxnLst>
                  <a:cxn ang="0">
                    <a:pos x="T0" y="T1"/>
                  </a:cxn>
                  <a:cxn ang="0">
                    <a:pos x="T2" y="T3"/>
                  </a:cxn>
                  <a:cxn ang="0">
                    <a:pos x="T4" y="T5"/>
                  </a:cxn>
                  <a:cxn ang="0">
                    <a:pos x="T6" y="T7"/>
                  </a:cxn>
                  <a:cxn ang="0">
                    <a:pos x="T8" y="T9"/>
                  </a:cxn>
                </a:cxnLst>
                <a:rect l="0" t="0" r="r" b="b"/>
                <a:pathLst>
                  <a:path w="53" h="35">
                    <a:moveTo>
                      <a:pt x="53" y="1"/>
                    </a:moveTo>
                    <a:cubicBezTo>
                      <a:pt x="1" y="0"/>
                      <a:pt x="1" y="0"/>
                      <a:pt x="1" y="0"/>
                    </a:cubicBezTo>
                    <a:cubicBezTo>
                      <a:pt x="0" y="35"/>
                      <a:pt x="0" y="35"/>
                      <a:pt x="0" y="35"/>
                    </a:cubicBezTo>
                    <a:cubicBezTo>
                      <a:pt x="16" y="33"/>
                      <a:pt x="39" y="30"/>
                      <a:pt x="52" y="29"/>
                    </a:cubicBezTo>
                    <a:lnTo>
                      <a:pt x="53" y="1"/>
                    </a:lnTo>
                    <a:close/>
                  </a:path>
                </a:pathLst>
              </a:custGeom>
              <a:solidFill>
                <a:srgbClr val="F9CB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0" name="任意多边形 168"/>
              <p:cNvSpPr/>
              <p:nvPr/>
            </p:nvSpPr>
            <p:spPr bwMode="auto">
              <a:xfrm>
                <a:off x="5773465" y="3715923"/>
                <a:ext cx="270644" cy="185178"/>
              </a:xfrm>
              <a:custGeom>
                <a:avLst/>
                <a:gdLst>
                  <a:gd name="T0" fmla="*/ 37 w 56"/>
                  <a:gd name="T1" fmla="*/ 35 h 38"/>
                  <a:gd name="T2" fmla="*/ 55 w 56"/>
                  <a:gd name="T3" fmla="*/ 28 h 38"/>
                  <a:gd name="T4" fmla="*/ 56 w 56"/>
                  <a:gd name="T5" fmla="*/ 0 h 38"/>
                  <a:gd name="T6" fmla="*/ 0 w 56"/>
                  <a:gd name="T7" fmla="*/ 6 h 38"/>
                  <a:gd name="T8" fmla="*/ 0 w 56"/>
                  <a:gd name="T9" fmla="*/ 31 h 38"/>
                  <a:gd name="T10" fmla="*/ 37 w 56"/>
                  <a:gd name="T11" fmla="*/ 35 h 38"/>
                </a:gdLst>
                <a:ahLst/>
                <a:cxnLst>
                  <a:cxn ang="0">
                    <a:pos x="T0" y="T1"/>
                  </a:cxn>
                  <a:cxn ang="0">
                    <a:pos x="T2" y="T3"/>
                  </a:cxn>
                  <a:cxn ang="0">
                    <a:pos x="T4" y="T5"/>
                  </a:cxn>
                  <a:cxn ang="0">
                    <a:pos x="T6" y="T7"/>
                  </a:cxn>
                  <a:cxn ang="0">
                    <a:pos x="T8" y="T9"/>
                  </a:cxn>
                  <a:cxn ang="0">
                    <a:pos x="T10" y="T11"/>
                  </a:cxn>
                </a:cxnLst>
                <a:rect l="0" t="0" r="r" b="b"/>
                <a:pathLst>
                  <a:path w="56" h="38">
                    <a:moveTo>
                      <a:pt x="37" y="35"/>
                    </a:moveTo>
                    <a:cubicBezTo>
                      <a:pt x="42" y="34"/>
                      <a:pt x="49" y="31"/>
                      <a:pt x="55" y="28"/>
                    </a:cubicBezTo>
                    <a:cubicBezTo>
                      <a:pt x="56" y="0"/>
                      <a:pt x="56" y="0"/>
                      <a:pt x="56" y="0"/>
                    </a:cubicBezTo>
                    <a:cubicBezTo>
                      <a:pt x="43" y="1"/>
                      <a:pt x="16" y="4"/>
                      <a:pt x="0" y="6"/>
                    </a:cubicBezTo>
                    <a:cubicBezTo>
                      <a:pt x="0" y="31"/>
                      <a:pt x="0" y="31"/>
                      <a:pt x="0" y="31"/>
                    </a:cubicBezTo>
                    <a:cubicBezTo>
                      <a:pt x="10" y="36"/>
                      <a:pt x="26" y="38"/>
                      <a:pt x="37" y="35"/>
                    </a:cubicBezTo>
                    <a:close/>
                  </a:path>
                </a:pathLst>
              </a:custGeom>
              <a:solidFill>
                <a:srgbClr val="EAB1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1" name="任意多边形 169"/>
              <p:cNvSpPr/>
              <p:nvPr/>
            </p:nvSpPr>
            <p:spPr bwMode="auto">
              <a:xfrm>
                <a:off x="5380727" y="2537709"/>
                <a:ext cx="974724" cy="1338973"/>
              </a:xfrm>
              <a:custGeom>
                <a:avLst/>
                <a:gdLst>
                  <a:gd name="T0" fmla="*/ 78 w 201"/>
                  <a:gd name="T1" fmla="*/ 269 h 277"/>
                  <a:gd name="T2" fmla="*/ 8 w 201"/>
                  <a:gd name="T3" fmla="*/ 169 h 277"/>
                  <a:gd name="T4" fmla="*/ 23 w 201"/>
                  <a:gd name="T5" fmla="*/ 78 h 277"/>
                  <a:gd name="T6" fmla="*/ 123 w 201"/>
                  <a:gd name="T7" fmla="*/ 8 h 277"/>
                  <a:gd name="T8" fmla="*/ 193 w 201"/>
                  <a:gd name="T9" fmla="*/ 107 h 277"/>
                  <a:gd name="T10" fmla="*/ 177 w 201"/>
                  <a:gd name="T11" fmla="*/ 199 h 277"/>
                  <a:gd name="T12" fmla="*/ 78 w 201"/>
                  <a:gd name="T13" fmla="*/ 269 h 277"/>
                </a:gdLst>
                <a:ahLst/>
                <a:cxnLst>
                  <a:cxn ang="0">
                    <a:pos x="T0" y="T1"/>
                  </a:cxn>
                  <a:cxn ang="0">
                    <a:pos x="T2" y="T3"/>
                  </a:cxn>
                  <a:cxn ang="0">
                    <a:pos x="T4" y="T5"/>
                  </a:cxn>
                  <a:cxn ang="0">
                    <a:pos x="T6" y="T7"/>
                  </a:cxn>
                  <a:cxn ang="0">
                    <a:pos x="T8" y="T9"/>
                  </a:cxn>
                  <a:cxn ang="0">
                    <a:pos x="T10" y="T11"/>
                  </a:cxn>
                  <a:cxn ang="0">
                    <a:pos x="T12" y="T13"/>
                  </a:cxn>
                </a:cxnLst>
                <a:rect l="0" t="0" r="r" b="b"/>
                <a:pathLst>
                  <a:path w="201" h="277">
                    <a:moveTo>
                      <a:pt x="78" y="269"/>
                    </a:moveTo>
                    <a:cubicBezTo>
                      <a:pt x="31" y="261"/>
                      <a:pt x="0" y="216"/>
                      <a:pt x="8" y="169"/>
                    </a:cubicBezTo>
                    <a:cubicBezTo>
                      <a:pt x="23" y="78"/>
                      <a:pt x="23" y="78"/>
                      <a:pt x="23" y="78"/>
                    </a:cubicBezTo>
                    <a:cubicBezTo>
                      <a:pt x="32" y="31"/>
                      <a:pt x="76" y="0"/>
                      <a:pt x="123" y="8"/>
                    </a:cubicBezTo>
                    <a:cubicBezTo>
                      <a:pt x="170" y="16"/>
                      <a:pt x="201" y="61"/>
                      <a:pt x="193" y="107"/>
                    </a:cubicBezTo>
                    <a:cubicBezTo>
                      <a:pt x="177" y="199"/>
                      <a:pt x="177" y="199"/>
                      <a:pt x="177" y="199"/>
                    </a:cubicBezTo>
                    <a:cubicBezTo>
                      <a:pt x="169" y="246"/>
                      <a:pt x="124" y="277"/>
                      <a:pt x="78" y="269"/>
                    </a:cubicBezTo>
                  </a:path>
                </a:pathLst>
              </a:custGeom>
              <a:solidFill>
                <a:srgbClr val="EAB1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2" name="任意多边形 170"/>
              <p:cNvSpPr/>
              <p:nvPr/>
            </p:nvSpPr>
            <p:spPr bwMode="auto">
              <a:xfrm>
                <a:off x="5376657" y="2527533"/>
                <a:ext cx="891292" cy="1334903"/>
              </a:xfrm>
              <a:custGeom>
                <a:avLst/>
                <a:gdLst>
                  <a:gd name="T0" fmla="*/ 67 w 184"/>
                  <a:gd name="T1" fmla="*/ 269 h 276"/>
                  <a:gd name="T2" fmla="*/ 7 w 184"/>
                  <a:gd name="T3" fmla="*/ 179 h 276"/>
                  <a:gd name="T4" fmla="*/ 20 w 184"/>
                  <a:gd name="T5" fmla="*/ 72 h 276"/>
                  <a:gd name="T6" fmla="*/ 112 w 184"/>
                  <a:gd name="T7" fmla="*/ 8 h 276"/>
                  <a:gd name="T8" fmla="*/ 176 w 184"/>
                  <a:gd name="T9" fmla="*/ 99 h 276"/>
                  <a:gd name="T10" fmla="*/ 158 w 184"/>
                  <a:gd name="T11" fmla="*/ 204 h 276"/>
                  <a:gd name="T12" fmla="*/ 67 w 184"/>
                  <a:gd name="T13" fmla="*/ 269 h 276"/>
                </a:gdLst>
                <a:ahLst/>
                <a:cxnLst>
                  <a:cxn ang="0">
                    <a:pos x="T0" y="T1"/>
                  </a:cxn>
                  <a:cxn ang="0">
                    <a:pos x="T2" y="T3"/>
                  </a:cxn>
                  <a:cxn ang="0">
                    <a:pos x="T4" y="T5"/>
                  </a:cxn>
                  <a:cxn ang="0">
                    <a:pos x="T6" y="T7"/>
                  </a:cxn>
                  <a:cxn ang="0">
                    <a:pos x="T8" y="T9"/>
                  </a:cxn>
                  <a:cxn ang="0">
                    <a:pos x="T10" y="T11"/>
                  </a:cxn>
                  <a:cxn ang="0">
                    <a:pos x="T12" y="T13"/>
                  </a:cxn>
                </a:cxnLst>
                <a:rect l="0" t="0" r="r" b="b"/>
                <a:pathLst>
                  <a:path w="184" h="276">
                    <a:moveTo>
                      <a:pt x="67" y="269"/>
                    </a:moveTo>
                    <a:cubicBezTo>
                      <a:pt x="24" y="261"/>
                      <a:pt x="0" y="222"/>
                      <a:pt x="7" y="179"/>
                    </a:cubicBezTo>
                    <a:cubicBezTo>
                      <a:pt x="20" y="72"/>
                      <a:pt x="20" y="72"/>
                      <a:pt x="20" y="72"/>
                    </a:cubicBezTo>
                    <a:cubicBezTo>
                      <a:pt x="28" y="29"/>
                      <a:pt x="69" y="0"/>
                      <a:pt x="112" y="8"/>
                    </a:cubicBezTo>
                    <a:cubicBezTo>
                      <a:pt x="155" y="15"/>
                      <a:pt x="184" y="56"/>
                      <a:pt x="176" y="99"/>
                    </a:cubicBezTo>
                    <a:cubicBezTo>
                      <a:pt x="158" y="204"/>
                      <a:pt x="158" y="204"/>
                      <a:pt x="158" y="204"/>
                    </a:cubicBezTo>
                    <a:cubicBezTo>
                      <a:pt x="150" y="247"/>
                      <a:pt x="110" y="276"/>
                      <a:pt x="67" y="269"/>
                    </a:cubicBezTo>
                  </a:path>
                </a:pathLst>
              </a:custGeom>
              <a:solidFill>
                <a:srgbClr val="F9CB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3" name="任意多边形 171"/>
              <p:cNvSpPr/>
              <p:nvPr/>
            </p:nvSpPr>
            <p:spPr bwMode="auto">
              <a:xfrm>
                <a:off x="5531310" y="3142077"/>
                <a:ext cx="111921" cy="162793"/>
              </a:xfrm>
              <a:custGeom>
                <a:avLst/>
                <a:gdLst>
                  <a:gd name="T0" fmla="*/ 2 w 23"/>
                  <a:gd name="T1" fmla="*/ 15 h 34"/>
                  <a:gd name="T2" fmla="*/ 9 w 23"/>
                  <a:gd name="T3" fmla="*/ 33 h 34"/>
                  <a:gd name="T4" fmla="*/ 22 w 23"/>
                  <a:gd name="T5" fmla="*/ 19 h 34"/>
                  <a:gd name="T6" fmla="*/ 14 w 23"/>
                  <a:gd name="T7" fmla="*/ 1 h 34"/>
                  <a:gd name="T8" fmla="*/ 2 w 23"/>
                  <a:gd name="T9" fmla="*/ 15 h 34"/>
                </a:gdLst>
                <a:ahLst/>
                <a:cxnLst>
                  <a:cxn ang="0">
                    <a:pos x="T0" y="T1"/>
                  </a:cxn>
                  <a:cxn ang="0">
                    <a:pos x="T2" y="T3"/>
                  </a:cxn>
                  <a:cxn ang="0">
                    <a:pos x="T4" y="T5"/>
                  </a:cxn>
                  <a:cxn ang="0">
                    <a:pos x="T6" y="T7"/>
                  </a:cxn>
                  <a:cxn ang="0">
                    <a:pos x="T8" y="T9"/>
                  </a:cxn>
                </a:cxnLst>
                <a:rect l="0" t="0" r="r" b="b"/>
                <a:pathLst>
                  <a:path w="23" h="34">
                    <a:moveTo>
                      <a:pt x="2" y="15"/>
                    </a:moveTo>
                    <a:cubicBezTo>
                      <a:pt x="0" y="24"/>
                      <a:pt x="4" y="32"/>
                      <a:pt x="9" y="33"/>
                    </a:cubicBezTo>
                    <a:cubicBezTo>
                      <a:pt x="15" y="34"/>
                      <a:pt x="20" y="27"/>
                      <a:pt x="22" y="19"/>
                    </a:cubicBezTo>
                    <a:cubicBezTo>
                      <a:pt x="23" y="10"/>
                      <a:pt x="20" y="2"/>
                      <a:pt x="14" y="1"/>
                    </a:cubicBezTo>
                    <a:cubicBezTo>
                      <a:pt x="9" y="0"/>
                      <a:pt x="3" y="7"/>
                      <a:pt x="2" y="1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4" name="任意多边形 172"/>
              <p:cNvSpPr/>
              <p:nvPr/>
            </p:nvSpPr>
            <p:spPr bwMode="auto">
              <a:xfrm>
                <a:off x="5917944" y="3213300"/>
                <a:ext cx="107851" cy="164829"/>
              </a:xfrm>
              <a:custGeom>
                <a:avLst/>
                <a:gdLst>
                  <a:gd name="T0" fmla="*/ 1 w 22"/>
                  <a:gd name="T1" fmla="*/ 15 h 34"/>
                  <a:gd name="T2" fmla="*/ 8 w 22"/>
                  <a:gd name="T3" fmla="*/ 33 h 34"/>
                  <a:gd name="T4" fmla="*/ 21 w 22"/>
                  <a:gd name="T5" fmla="*/ 19 h 34"/>
                  <a:gd name="T6" fmla="*/ 14 w 22"/>
                  <a:gd name="T7" fmla="*/ 1 h 34"/>
                  <a:gd name="T8" fmla="*/ 1 w 22"/>
                  <a:gd name="T9" fmla="*/ 15 h 34"/>
                </a:gdLst>
                <a:ahLst/>
                <a:cxnLst>
                  <a:cxn ang="0">
                    <a:pos x="T0" y="T1"/>
                  </a:cxn>
                  <a:cxn ang="0">
                    <a:pos x="T2" y="T3"/>
                  </a:cxn>
                  <a:cxn ang="0">
                    <a:pos x="T4" y="T5"/>
                  </a:cxn>
                  <a:cxn ang="0">
                    <a:pos x="T6" y="T7"/>
                  </a:cxn>
                  <a:cxn ang="0">
                    <a:pos x="T8" y="T9"/>
                  </a:cxn>
                </a:cxnLst>
                <a:rect l="0" t="0" r="r" b="b"/>
                <a:pathLst>
                  <a:path w="22" h="34">
                    <a:moveTo>
                      <a:pt x="1" y="15"/>
                    </a:moveTo>
                    <a:cubicBezTo>
                      <a:pt x="0" y="24"/>
                      <a:pt x="3" y="32"/>
                      <a:pt x="8" y="33"/>
                    </a:cubicBezTo>
                    <a:cubicBezTo>
                      <a:pt x="14" y="34"/>
                      <a:pt x="19" y="27"/>
                      <a:pt x="21" y="19"/>
                    </a:cubicBezTo>
                    <a:cubicBezTo>
                      <a:pt x="22" y="10"/>
                      <a:pt x="19" y="2"/>
                      <a:pt x="14" y="1"/>
                    </a:cubicBezTo>
                    <a:cubicBezTo>
                      <a:pt x="8" y="0"/>
                      <a:pt x="3" y="7"/>
                      <a:pt x="1" y="1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5" name="任意多边形 173"/>
              <p:cNvSpPr/>
              <p:nvPr/>
            </p:nvSpPr>
            <p:spPr bwMode="auto">
              <a:xfrm>
                <a:off x="5899630" y="3426965"/>
                <a:ext cx="164829" cy="67153"/>
              </a:xfrm>
              <a:custGeom>
                <a:avLst/>
                <a:gdLst>
                  <a:gd name="T0" fmla="*/ 13 w 34"/>
                  <a:gd name="T1" fmla="*/ 0 h 14"/>
                  <a:gd name="T2" fmla="*/ 2 w 34"/>
                  <a:gd name="T3" fmla="*/ 4 h 14"/>
                  <a:gd name="T4" fmla="*/ 15 w 34"/>
                  <a:gd name="T5" fmla="*/ 13 h 14"/>
                  <a:gd name="T6" fmla="*/ 22 w 34"/>
                  <a:gd name="T7" fmla="*/ 14 h 14"/>
                  <a:gd name="T8" fmla="*/ 33 w 34"/>
                  <a:gd name="T9" fmla="*/ 10 h 14"/>
                  <a:gd name="T10" fmla="*/ 19 w 34"/>
                  <a:gd name="T11" fmla="*/ 1 h 14"/>
                  <a:gd name="T12" fmla="*/ 13 w 34"/>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4" h="14">
                    <a:moveTo>
                      <a:pt x="13" y="0"/>
                    </a:moveTo>
                    <a:cubicBezTo>
                      <a:pt x="7" y="0"/>
                      <a:pt x="2" y="2"/>
                      <a:pt x="2" y="4"/>
                    </a:cubicBezTo>
                    <a:cubicBezTo>
                      <a:pt x="0" y="8"/>
                      <a:pt x="6" y="12"/>
                      <a:pt x="15" y="13"/>
                    </a:cubicBezTo>
                    <a:cubicBezTo>
                      <a:pt x="17" y="14"/>
                      <a:pt x="20" y="14"/>
                      <a:pt x="22" y="14"/>
                    </a:cubicBezTo>
                    <a:cubicBezTo>
                      <a:pt x="27" y="14"/>
                      <a:pt x="32" y="12"/>
                      <a:pt x="33" y="10"/>
                    </a:cubicBezTo>
                    <a:cubicBezTo>
                      <a:pt x="34" y="6"/>
                      <a:pt x="28" y="2"/>
                      <a:pt x="19" y="1"/>
                    </a:cubicBezTo>
                    <a:cubicBezTo>
                      <a:pt x="17" y="0"/>
                      <a:pt x="15" y="0"/>
                      <a:pt x="13" y="0"/>
                    </a:cubicBezTo>
                  </a:path>
                </a:pathLst>
              </a:custGeom>
              <a:solidFill>
                <a:srgbClr val="F4BCA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6" name="任意多边形 174"/>
              <p:cNvSpPr/>
              <p:nvPr/>
            </p:nvSpPr>
            <p:spPr bwMode="auto">
              <a:xfrm>
                <a:off x="5429565" y="3329289"/>
                <a:ext cx="164829" cy="73257"/>
              </a:xfrm>
              <a:custGeom>
                <a:avLst/>
                <a:gdLst>
                  <a:gd name="T0" fmla="*/ 11 w 34"/>
                  <a:gd name="T1" fmla="*/ 0 h 15"/>
                  <a:gd name="T2" fmla="*/ 2 w 34"/>
                  <a:gd name="T3" fmla="*/ 4 h 15"/>
                  <a:gd name="T4" fmla="*/ 15 w 34"/>
                  <a:gd name="T5" fmla="*/ 13 h 15"/>
                  <a:gd name="T6" fmla="*/ 23 w 34"/>
                  <a:gd name="T7" fmla="*/ 15 h 15"/>
                  <a:gd name="T8" fmla="*/ 32 w 34"/>
                  <a:gd name="T9" fmla="*/ 11 h 15"/>
                  <a:gd name="T10" fmla="*/ 20 w 34"/>
                  <a:gd name="T11" fmla="*/ 1 h 15"/>
                  <a:gd name="T12" fmla="*/ 11 w 34"/>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34" h="15">
                    <a:moveTo>
                      <a:pt x="11" y="0"/>
                    </a:moveTo>
                    <a:cubicBezTo>
                      <a:pt x="6" y="0"/>
                      <a:pt x="3" y="1"/>
                      <a:pt x="2" y="4"/>
                    </a:cubicBezTo>
                    <a:cubicBezTo>
                      <a:pt x="0" y="7"/>
                      <a:pt x="6" y="11"/>
                      <a:pt x="15" y="13"/>
                    </a:cubicBezTo>
                    <a:cubicBezTo>
                      <a:pt x="18" y="14"/>
                      <a:pt x="21" y="15"/>
                      <a:pt x="23" y="15"/>
                    </a:cubicBezTo>
                    <a:cubicBezTo>
                      <a:pt x="28" y="15"/>
                      <a:pt x="32" y="13"/>
                      <a:pt x="32" y="11"/>
                    </a:cubicBezTo>
                    <a:cubicBezTo>
                      <a:pt x="34" y="8"/>
                      <a:pt x="28" y="3"/>
                      <a:pt x="20" y="1"/>
                    </a:cubicBezTo>
                    <a:cubicBezTo>
                      <a:pt x="17" y="1"/>
                      <a:pt x="14" y="0"/>
                      <a:pt x="11" y="0"/>
                    </a:cubicBezTo>
                  </a:path>
                </a:pathLst>
              </a:custGeom>
              <a:solidFill>
                <a:srgbClr val="F4BCA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7" name="任意多边形 175"/>
              <p:cNvSpPr/>
              <p:nvPr/>
            </p:nvSpPr>
            <p:spPr bwMode="auto">
              <a:xfrm>
                <a:off x="6170273" y="3258068"/>
                <a:ext cx="290993" cy="356110"/>
              </a:xfrm>
              <a:custGeom>
                <a:avLst/>
                <a:gdLst>
                  <a:gd name="T0" fmla="*/ 6 w 60"/>
                  <a:gd name="T1" fmla="*/ 32 h 74"/>
                  <a:gd name="T2" fmla="*/ 19 w 60"/>
                  <a:gd name="T3" fmla="*/ 71 h 74"/>
                  <a:gd name="T4" fmla="*/ 54 w 60"/>
                  <a:gd name="T5" fmla="*/ 42 h 74"/>
                  <a:gd name="T6" fmla="*/ 41 w 60"/>
                  <a:gd name="T7" fmla="*/ 3 h 74"/>
                  <a:gd name="T8" fmla="*/ 6 w 60"/>
                  <a:gd name="T9" fmla="*/ 32 h 74"/>
                </a:gdLst>
                <a:ahLst/>
                <a:cxnLst>
                  <a:cxn ang="0">
                    <a:pos x="T0" y="T1"/>
                  </a:cxn>
                  <a:cxn ang="0">
                    <a:pos x="T2" y="T3"/>
                  </a:cxn>
                  <a:cxn ang="0">
                    <a:pos x="T4" y="T5"/>
                  </a:cxn>
                  <a:cxn ang="0">
                    <a:pos x="T6" y="T7"/>
                  </a:cxn>
                  <a:cxn ang="0">
                    <a:pos x="T8" y="T9"/>
                  </a:cxn>
                </a:cxnLst>
                <a:rect l="0" t="0" r="r" b="b"/>
                <a:pathLst>
                  <a:path w="60" h="74">
                    <a:moveTo>
                      <a:pt x="6" y="32"/>
                    </a:moveTo>
                    <a:cubicBezTo>
                      <a:pt x="0" y="51"/>
                      <a:pt x="5" y="68"/>
                      <a:pt x="19" y="71"/>
                    </a:cubicBezTo>
                    <a:cubicBezTo>
                      <a:pt x="32" y="74"/>
                      <a:pt x="48" y="61"/>
                      <a:pt x="54" y="42"/>
                    </a:cubicBezTo>
                    <a:cubicBezTo>
                      <a:pt x="60" y="23"/>
                      <a:pt x="54" y="6"/>
                      <a:pt x="41" y="3"/>
                    </a:cubicBezTo>
                    <a:cubicBezTo>
                      <a:pt x="28" y="0"/>
                      <a:pt x="12" y="13"/>
                      <a:pt x="6" y="32"/>
                    </a:cubicBezTo>
                    <a:close/>
                  </a:path>
                </a:pathLst>
              </a:custGeom>
              <a:solidFill>
                <a:srgbClr val="EAB1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8" name="任意多边形 176"/>
              <p:cNvSpPr/>
              <p:nvPr/>
            </p:nvSpPr>
            <p:spPr bwMode="auto">
              <a:xfrm>
                <a:off x="5384796" y="2401369"/>
                <a:ext cx="1111062" cy="952339"/>
              </a:xfrm>
              <a:custGeom>
                <a:avLst/>
                <a:gdLst>
                  <a:gd name="T0" fmla="*/ 169 w 229"/>
                  <a:gd name="T1" fmla="*/ 109 h 197"/>
                  <a:gd name="T2" fmla="*/ 3 w 229"/>
                  <a:gd name="T3" fmla="*/ 120 h 197"/>
                  <a:gd name="T4" fmla="*/ 32 w 229"/>
                  <a:gd name="T5" fmla="*/ 36 h 197"/>
                  <a:gd name="T6" fmla="*/ 195 w 229"/>
                  <a:gd name="T7" fmla="*/ 51 h 197"/>
                  <a:gd name="T8" fmla="*/ 229 w 229"/>
                  <a:gd name="T9" fmla="*/ 117 h 197"/>
                  <a:gd name="T10" fmla="*/ 199 w 229"/>
                  <a:gd name="T11" fmla="*/ 183 h 197"/>
                  <a:gd name="T12" fmla="*/ 177 w 229"/>
                  <a:gd name="T13" fmla="*/ 197 h 197"/>
                  <a:gd name="T14" fmla="*/ 168 w 229"/>
                  <a:gd name="T15" fmla="*/ 176 h 197"/>
                  <a:gd name="T16" fmla="*/ 169 w 229"/>
                  <a:gd name="T17" fmla="*/ 10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9" h="197">
                    <a:moveTo>
                      <a:pt x="169" y="109"/>
                    </a:moveTo>
                    <a:cubicBezTo>
                      <a:pt x="169" y="109"/>
                      <a:pt x="107" y="148"/>
                      <a:pt x="3" y="120"/>
                    </a:cubicBezTo>
                    <a:cubicBezTo>
                      <a:pt x="3" y="120"/>
                      <a:pt x="0" y="61"/>
                      <a:pt x="32" y="36"/>
                    </a:cubicBezTo>
                    <a:cubicBezTo>
                      <a:pt x="63" y="12"/>
                      <a:pt x="158" y="0"/>
                      <a:pt x="195" y="51"/>
                    </a:cubicBezTo>
                    <a:cubicBezTo>
                      <a:pt x="195" y="51"/>
                      <a:pt x="229" y="64"/>
                      <a:pt x="229" y="117"/>
                    </a:cubicBezTo>
                    <a:cubicBezTo>
                      <a:pt x="229" y="147"/>
                      <a:pt x="199" y="183"/>
                      <a:pt x="199" y="183"/>
                    </a:cubicBezTo>
                    <a:cubicBezTo>
                      <a:pt x="199" y="183"/>
                      <a:pt x="187" y="183"/>
                      <a:pt x="177" y="197"/>
                    </a:cubicBezTo>
                    <a:cubicBezTo>
                      <a:pt x="177" y="197"/>
                      <a:pt x="172" y="186"/>
                      <a:pt x="168" y="176"/>
                    </a:cubicBezTo>
                    <a:cubicBezTo>
                      <a:pt x="168" y="176"/>
                      <a:pt x="155" y="144"/>
                      <a:pt x="169" y="109"/>
                    </a:cubicBezTo>
                    <a:close/>
                  </a:path>
                </a:pathLst>
              </a:custGeom>
              <a:solidFill>
                <a:srgbClr val="A559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9" name="任意多边形 177"/>
              <p:cNvSpPr/>
              <p:nvPr/>
            </p:nvSpPr>
            <p:spPr bwMode="auto">
              <a:xfrm>
                <a:off x="5569974" y="3532780"/>
                <a:ext cx="238085" cy="144479"/>
              </a:xfrm>
              <a:custGeom>
                <a:avLst/>
                <a:gdLst>
                  <a:gd name="T0" fmla="*/ 1 w 49"/>
                  <a:gd name="T1" fmla="*/ 0 h 30"/>
                  <a:gd name="T2" fmla="*/ 21 w 49"/>
                  <a:gd name="T3" fmla="*/ 7 h 30"/>
                  <a:gd name="T4" fmla="*/ 49 w 49"/>
                  <a:gd name="T5" fmla="*/ 6 h 30"/>
                  <a:gd name="T6" fmla="*/ 44 w 49"/>
                  <a:gd name="T7" fmla="*/ 19 h 30"/>
                  <a:gd name="T8" fmla="*/ 22 w 49"/>
                  <a:gd name="T9" fmla="*/ 28 h 30"/>
                  <a:gd name="T10" fmla="*/ 11 w 49"/>
                  <a:gd name="T11" fmla="*/ 24 h 30"/>
                  <a:gd name="T12" fmla="*/ 1 w 49"/>
                  <a:gd name="T13" fmla="*/ 0 h 30"/>
                </a:gdLst>
                <a:ahLst/>
                <a:cxnLst>
                  <a:cxn ang="0">
                    <a:pos x="T0" y="T1"/>
                  </a:cxn>
                  <a:cxn ang="0">
                    <a:pos x="T2" y="T3"/>
                  </a:cxn>
                  <a:cxn ang="0">
                    <a:pos x="T4" y="T5"/>
                  </a:cxn>
                  <a:cxn ang="0">
                    <a:pos x="T6" y="T7"/>
                  </a:cxn>
                  <a:cxn ang="0">
                    <a:pos x="T8" y="T9"/>
                  </a:cxn>
                  <a:cxn ang="0">
                    <a:pos x="T10" y="T11"/>
                  </a:cxn>
                  <a:cxn ang="0">
                    <a:pos x="T12" y="T13"/>
                  </a:cxn>
                </a:cxnLst>
                <a:rect l="0" t="0" r="r" b="b"/>
                <a:pathLst>
                  <a:path w="49" h="30">
                    <a:moveTo>
                      <a:pt x="1" y="0"/>
                    </a:moveTo>
                    <a:cubicBezTo>
                      <a:pt x="1" y="0"/>
                      <a:pt x="10" y="5"/>
                      <a:pt x="21" y="7"/>
                    </a:cubicBezTo>
                    <a:cubicBezTo>
                      <a:pt x="32" y="10"/>
                      <a:pt x="49" y="6"/>
                      <a:pt x="49" y="6"/>
                    </a:cubicBezTo>
                    <a:cubicBezTo>
                      <a:pt x="49" y="6"/>
                      <a:pt x="48" y="13"/>
                      <a:pt x="44" y="19"/>
                    </a:cubicBezTo>
                    <a:cubicBezTo>
                      <a:pt x="40" y="25"/>
                      <a:pt x="33" y="30"/>
                      <a:pt x="22" y="28"/>
                    </a:cubicBezTo>
                    <a:cubicBezTo>
                      <a:pt x="17" y="28"/>
                      <a:pt x="14" y="26"/>
                      <a:pt x="11" y="24"/>
                    </a:cubicBezTo>
                    <a:cubicBezTo>
                      <a:pt x="0" y="16"/>
                      <a:pt x="1" y="0"/>
                      <a:pt x="1"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0" name="任意多边形 178"/>
              <p:cNvSpPr/>
              <p:nvPr/>
            </p:nvSpPr>
            <p:spPr bwMode="auto">
              <a:xfrm>
                <a:off x="6001376" y="3233649"/>
                <a:ext cx="67153" cy="38664"/>
              </a:xfrm>
              <a:custGeom>
                <a:avLst/>
                <a:gdLst>
                  <a:gd name="T0" fmla="*/ 3 w 14"/>
                  <a:gd name="T1" fmla="*/ 8 h 8"/>
                  <a:gd name="T2" fmla="*/ 14 w 14"/>
                  <a:gd name="T3" fmla="*/ 5 h 8"/>
                  <a:gd name="T4" fmla="*/ 0 w 14"/>
                  <a:gd name="T5" fmla="*/ 2 h 8"/>
                  <a:gd name="T6" fmla="*/ 3 w 14"/>
                  <a:gd name="T7" fmla="*/ 8 h 8"/>
                </a:gdLst>
                <a:ahLst/>
                <a:cxnLst>
                  <a:cxn ang="0">
                    <a:pos x="T0" y="T1"/>
                  </a:cxn>
                  <a:cxn ang="0">
                    <a:pos x="T2" y="T3"/>
                  </a:cxn>
                  <a:cxn ang="0">
                    <a:pos x="T4" y="T5"/>
                  </a:cxn>
                  <a:cxn ang="0">
                    <a:pos x="T6" y="T7"/>
                  </a:cxn>
                </a:cxnLst>
                <a:rect l="0" t="0" r="r" b="b"/>
                <a:pathLst>
                  <a:path w="14" h="8">
                    <a:moveTo>
                      <a:pt x="3" y="8"/>
                    </a:moveTo>
                    <a:cubicBezTo>
                      <a:pt x="3" y="8"/>
                      <a:pt x="7" y="5"/>
                      <a:pt x="14" y="5"/>
                    </a:cubicBezTo>
                    <a:cubicBezTo>
                      <a:pt x="14" y="5"/>
                      <a:pt x="8" y="0"/>
                      <a:pt x="0" y="2"/>
                    </a:cubicBezTo>
                    <a:lnTo>
                      <a:pt x="3" y="8"/>
                    </a:ln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1" name="任意多边形 179"/>
              <p:cNvSpPr/>
              <p:nvPr/>
            </p:nvSpPr>
            <p:spPr bwMode="auto">
              <a:xfrm>
                <a:off x="5510961" y="3135973"/>
                <a:ext cx="69187" cy="44768"/>
              </a:xfrm>
              <a:custGeom>
                <a:avLst/>
                <a:gdLst>
                  <a:gd name="T0" fmla="*/ 10 w 14"/>
                  <a:gd name="T1" fmla="*/ 9 h 9"/>
                  <a:gd name="T2" fmla="*/ 0 w 14"/>
                  <a:gd name="T3" fmla="*/ 3 h 9"/>
                  <a:gd name="T4" fmla="*/ 14 w 14"/>
                  <a:gd name="T5" fmla="*/ 4 h 9"/>
                  <a:gd name="T6" fmla="*/ 10 w 14"/>
                  <a:gd name="T7" fmla="*/ 9 h 9"/>
                </a:gdLst>
                <a:ahLst/>
                <a:cxnLst>
                  <a:cxn ang="0">
                    <a:pos x="T0" y="T1"/>
                  </a:cxn>
                  <a:cxn ang="0">
                    <a:pos x="T2" y="T3"/>
                  </a:cxn>
                  <a:cxn ang="0">
                    <a:pos x="T4" y="T5"/>
                  </a:cxn>
                  <a:cxn ang="0">
                    <a:pos x="T6" y="T7"/>
                  </a:cxn>
                </a:cxnLst>
                <a:rect l="0" t="0" r="r" b="b"/>
                <a:pathLst>
                  <a:path w="14" h="9">
                    <a:moveTo>
                      <a:pt x="10" y="9"/>
                    </a:moveTo>
                    <a:cubicBezTo>
                      <a:pt x="10" y="9"/>
                      <a:pt x="7" y="5"/>
                      <a:pt x="0" y="3"/>
                    </a:cubicBezTo>
                    <a:cubicBezTo>
                      <a:pt x="0" y="3"/>
                      <a:pt x="7" y="0"/>
                      <a:pt x="14" y="4"/>
                    </a:cubicBezTo>
                    <a:lnTo>
                      <a:pt x="10" y="9"/>
                    </a:ln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2" name="任意多边形 180"/>
              <p:cNvSpPr/>
              <p:nvPr/>
            </p:nvSpPr>
            <p:spPr bwMode="auto">
              <a:xfrm>
                <a:off x="6188724" y="4021160"/>
                <a:ext cx="673347" cy="928892"/>
              </a:xfrm>
              <a:custGeom>
                <a:avLst/>
                <a:gdLst>
                  <a:gd name="connsiteX0" fmla="*/ 103332 w 525299"/>
                  <a:gd name="connsiteY0" fmla="*/ 0 h 724658"/>
                  <a:gd name="connsiteX1" fmla="*/ 500542 w 525299"/>
                  <a:gd name="connsiteY1" fmla="*/ 555041 h 724658"/>
                  <a:gd name="connsiteX2" fmla="*/ 525299 w 525299"/>
                  <a:gd name="connsiteY2" fmla="*/ 628596 h 724658"/>
                  <a:gd name="connsiteX3" fmla="*/ 521292 w 525299"/>
                  <a:gd name="connsiteY3" fmla="*/ 631026 h 724658"/>
                  <a:gd name="connsiteX4" fmla="*/ 412427 w 525299"/>
                  <a:gd name="connsiteY4" fmla="*/ 683369 h 724658"/>
                  <a:gd name="connsiteX5" fmla="*/ 299401 w 525299"/>
                  <a:gd name="connsiteY5" fmla="*/ 724658 h 724658"/>
                  <a:gd name="connsiteX6" fmla="*/ 279247 w 525299"/>
                  <a:gd name="connsiteY6" fmla="*/ 683424 h 724658"/>
                  <a:gd name="connsiteX7" fmla="*/ 76855 w 525299"/>
                  <a:gd name="connsiteY7" fmla="*/ 418759 h 724658"/>
                  <a:gd name="connsiteX8" fmla="*/ 16336 w 525299"/>
                  <a:gd name="connsiteY8" fmla="*/ 135814 h 724658"/>
                  <a:gd name="connsiteX9" fmla="*/ 61725 w 525299"/>
                  <a:gd name="connsiteY9" fmla="*/ 37726 h 724658"/>
                  <a:gd name="connsiteX10" fmla="*/ 103332 w 525299"/>
                  <a:gd name="connsiteY10" fmla="*/ 0 h 724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299" h="724658">
                    <a:moveTo>
                      <a:pt x="103332" y="0"/>
                    </a:moveTo>
                    <a:cubicBezTo>
                      <a:pt x="291273" y="127326"/>
                      <a:pt x="416789" y="332756"/>
                      <a:pt x="500542" y="555041"/>
                    </a:cubicBezTo>
                    <a:lnTo>
                      <a:pt x="525299" y="628596"/>
                    </a:lnTo>
                    <a:lnTo>
                      <a:pt x="521292" y="631026"/>
                    </a:lnTo>
                    <a:cubicBezTo>
                      <a:pt x="485999" y="650162"/>
                      <a:pt x="449676" y="667644"/>
                      <a:pt x="412427" y="683369"/>
                    </a:cubicBezTo>
                    <a:lnTo>
                      <a:pt x="299401" y="724658"/>
                    </a:lnTo>
                    <a:lnTo>
                      <a:pt x="279247" y="683424"/>
                    </a:lnTo>
                    <a:cubicBezTo>
                      <a:pt x="205400" y="547853"/>
                      <a:pt x="130755" y="454127"/>
                      <a:pt x="76855" y="418759"/>
                    </a:cubicBezTo>
                    <a:cubicBezTo>
                      <a:pt x="54160" y="399896"/>
                      <a:pt x="-36619" y="320672"/>
                      <a:pt x="16336" y="135814"/>
                    </a:cubicBezTo>
                    <a:cubicBezTo>
                      <a:pt x="23901" y="101860"/>
                      <a:pt x="39031" y="67907"/>
                      <a:pt x="61725" y="37726"/>
                    </a:cubicBezTo>
                    <a:cubicBezTo>
                      <a:pt x="73073" y="18863"/>
                      <a:pt x="88203" y="7545"/>
                      <a:pt x="103332" y="0"/>
                    </a:cubicBezTo>
                    <a:close/>
                  </a:path>
                </a:pathLst>
              </a:custGeom>
              <a:solidFill>
                <a:srgbClr val="F9CB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3" name="任意多边形 181"/>
              <p:cNvSpPr/>
              <p:nvPr/>
            </p:nvSpPr>
            <p:spPr bwMode="auto">
              <a:xfrm>
                <a:off x="5559799" y="3166496"/>
                <a:ext cx="34594" cy="42734"/>
              </a:xfrm>
              <a:custGeom>
                <a:avLst/>
                <a:gdLst>
                  <a:gd name="T0" fmla="*/ 7 w 7"/>
                  <a:gd name="T1" fmla="*/ 5 h 9"/>
                  <a:gd name="T2" fmla="*/ 5 w 7"/>
                  <a:gd name="T3" fmla="*/ 0 h 9"/>
                  <a:gd name="T4" fmla="*/ 1 w 7"/>
                  <a:gd name="T5" fmla="*/ 3 h 9"/>
                  <a:gd name="T6" fmla="*/ 2 w 7"/>
                  <a:gd name="T7" fmla="*/ 9 h 9"/>
                  <a:gd name="T8" fmla="*/ 7 w 7"/>
                  <a:gd name="T9" fmla="*/ 5 h 9"/>
                </a:gdLst>
                <a:ahLst/>
                <a:cxnLst>
                  <a:cxn ang="0">
                    <a:pos x="T0" y="T1"/>
                  </a:cxn>
                  <a:cxn ang="0">
                    <a:pos x="T2" y="T3"/>
                  </a:cxn>
                  <a:cxn ang="0">
                    <a:pos x="T4" y="T5"/>
                  </a:cxn>
                  <a:cxn ang="0">
                    <a:pos x="T6" y="T7"/>
                  </a:cxn>
                  <a:cxn ang="0">
                    <a:pos x="T8" y="T9"/>
                  </a:cxn>
                </a:cxnLst>
                <a:rect l="0" t="0" r="r" b="b"/>
                <a:pathLst>
                  <a:path w="7" h="9">
                    <a:moveTo>
                      <a:pt x="7" y="5"/>
                    </a:moveTo>
                    <a:cubicBezTo>
                      <a:pt x="7" y="3"/>
                      <a:pt x="7" y="1"/>
                      <a:pt x="5" y="0"/>
                    </a:cubicBezTo>
                    <a:cubicBezTo>
                      <a:pt x="4" y="0"/>
                      <a:pt x="2" y="1"/>
                      <a:pt x="1" y="3"/>
                    </a:cubicBezTo>
                    <a:cubicBezTo>
                      <a:pt x="0" y="6"/>
                      <a:pt x="1" y="8"/>
                      <a:pt x="2" y="9"/>
                    </a:cubicBezTo>
                    <a:cubicBezTo>
                      <a:pt x="4" y="9"/>
                      <a:pt x="6" y="8"/>
                      <a:pt x="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4" name="任意多边形 182"/>
              <p:cNvSpPr/>
              <p:nvPr/>
            </p:nvSpPr>
            <p:spPr bwMode="auto">
              <a:xfrm>
                <a:off x="5569974" y="3188881"/>
                <a:ext cx="24419" cy="38664"/>
              </a:xfrm>
              <a:custGeom>
                <a:avLst/>
                <a:gdLst>
                  <a:gd name="T0" fmla="*/ 5 w 5"/>
                  <a:gd name="T1" fmla="*/ 5 h 8"/>
                  <a:gd name="T2" fmla="*/ 4 w 5"/>
                  <a:gd name="T3" fmla="*/ 1 h 8"/>
                  <a:gd name="T4" fmla="*/ 0 w 5"/>
                  <a:gd name="T5" fmla="*/ 3 h 8"/>
                  <a:gd name="T6" fmla="*/ 1 w 5"/>
                  <a:gd name="T7" fmla="*/ 7 h 8"/>
                  <a:gd name="T8" fmla="*/ 5 w 5"/>
                  <a:gd name="T9" fmla="*/ 5 h 8"/>
                </a:gdLst>
                <a:ahLst/>
                <a:cxnLst>
                  <a:cxn ang="0">
                    <a:pos x="T0" y="T1"/>
                  </a:cxn>
                  <a:cxn ang="0">
                    <a:pos x="T2" y="T3"/>
                  </a:cxn>
                  <a:cxn ang="0">
                    <a:pos x="T4" y="T5"/>
                  </a:cxn>
                  <a:cxn ang="0">
                    <a:pos x="T6" y="T7"/>
                  </a:cxn>
                  <a:cxn ang="0">
                    <a:pos x="T8" y="T9"/>
                  </a:cxn>
                </a:cxnLst>
                <a:rect l="0" t="0" r="r" b="b"/>
                <a:pathLst>
                  <a:path w="5" h="8">
                    <a:moveTo>
                      <a:pt x="5" y="5"/>
                    </a:moveTo>
                    <a:cubicBezTo>
                      <a:pt x="5" y="3"/>
                      <a:pt x="5" y="1"/>
                      <a:pt x="4" y="1"/>
                    </a:cubicBezTo>
                    <a:cubicBezTo>
                      <a:pt x="3" y="0"/>
                      <a:pt x="1" y="2"/>
                      <a:pt x="0" y="3"/>
                    </a:cubicBezTo>
                    <a:cubicBezTo>
                      <a:pt x="0" y="5"/>
                      <a:pt x="0" y="7"/>
                      <a:pt x="1" y="7"/>
                    </a:cubicBezTo>
                    <a:cubicBezTo>
                      <a:pt x="2" y="8"/>
                      <a:pt x="4" y="7"/>
                      <a:pt x="5" y="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5" name="任意多边形 183"/>
              <p:cNvSpPr/>
              <p:nvPr/>
            </p:nvSpPr>
            <p:spPr bwMode="auto">
              <a:xfrm>
                <a:off x="5942363" y="3247893"/>
                <a:ext cx="34594" cy="42734"/>
              </a:xfrm>
              <a:custGeom>
                <a:avLst/>
                <a:gdLst>
                  <a:gd name="T0" fmla="*/ 6 w 7"/>
                  <a:gd name="T1" fmla="*/ 5 h 9"/>
                  <a:gd name="T2" fmla="*/ 5 w 7"/>
                  <a:gd name="T3" fmla="*/ 0 h 9"/>
                  <a:gd name="T4" fmla="*/ 1 w 7"/>
                  <a:gd name="T5" fmla="*/ 3 h 9"/>
                  <a:gd name="T6" fmla="*/ 2 w 7"/>
                  <a:gd name="T7" fmla="*/ 9 h 9"/>
                  <a:gd name="T8" fmla="*/ 6 w 7"/>
                  <a:gd name="T9" fmla="*/ 5 h 9"/>
                </a:gdLst>
                <a:ahLst/>
                <a:cxnLst>
                  <a:cxn ang="0">
                    <a:pos x="T0" y="T1"/>
                  </a:cxn>
                  <a:cxn ang="0">
                    <a:pos x="T2" y="T3"/>
                  </a:cxn>
                  <a:cxn ang="0">
                    <a:pos x="T4" y="T5"/>
                  </a:cxn>
                  <a:cxn ang="0">
                    <a:pos x="T6" y="T7"/>
                  </a:cxn>
                  <a:cxn ang="0">
                    <a:pos x="T8" y="T9"/>
                  </a:cxn>
                </a:cxnLst>
                <a:rect l="0" t="0" r="r" b="b"/>
                <a:pathLst>
                  <a:path w="7" h="9">
                    <a:moveTo>
                      <a:pt x="6" y="5"/>
                    </a:moveTo>
                    <a:cubicBezTo>
                      <a:pt x="7" y="3"/>
                      <a:pt x="6" y="1"/>
                      <a:pt x="5" y="0"/>
                    </a:cubicBezTo>
                    <a:cubicBezTo>
                      <a:pt x="3" y="0"/>
                      <a:pt x="2" y="1"/>
                      <a:pt x="1" y="3"/>
                    </a:cubicBezTo>
                    <a:cubicBezTo>
                      <a:pt x="0" y="6"/>
                      <a:pt x="0" y="8"/>
                      <a:pt x="2" y="9"/>
                    </a:cubicBezTo>
                    <a:cubicBezTo>
                      <a:pt x="3" y="9"/>
                      <a:pt x="5" y="8"/>
                      <a:pt x="6"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6" name="任意多边形 184"/>
              <p:cNvSpPr/>
              <p:nvPr/>
            </p:nvSpPr>
            <p:spPr bwMode="auto">
              <a:xfrm>
                <a:off x="5948468" y="3272312"/>
                <a:ext cx="28489" cy="38664"/>
              </a:xfrm>
              <a:custGeom>
                <a:avLst/>
                <a:gdLst>
                  <a:gd name="T0" fmla="*/ 5 w 6"/>
                  <a:gd name="T1" fmla="*/ 5 h 8"/>
                  <a:gd name="T2" fmla="*/ 4 w 6"/>
                  <a:gd name="T3" fmla="*/ 1 h 8"/>
                  <a:gd name="T4" fmla="*/ 1 w 6"/>
                  <a:gd name="T5" fmla="*/ 3 h 8"/>
                  <a:gd name="T6" fmla="*/ 2 w 6"/>
                  <a:gd name="T7" fmla="*/ 7 h 8"/>
                  <a:gd name="T8" fmla="*/ 5 w 6"/>
                  <a:gd name="T9" fmla="*/ 5 h 8"/>
                </a:gdLst>
                <a:ahLst/>
                <a:cxnLst>
                  <a:cxn ang="0">
                    <a:pos x="T0" y="T1"/>
                  </a:cxn>
                  <a:cxn ang="0">
                    <a:pos x="T2" y="T3"/>
                  </a:cxn>
                  <a:cxn ang="0">
                    <a:pos x="T4" y="T5"/>
                  </a:cxn>
                  <a:cxn ang="0">
                    <a:pos x="T6" y="T7"/>
                  </a:cxn>
                  <a:cxn ang="0">
                    <a:pos x="T8" y="T9"/>
                  </a:cxn>
                </a:cxnLst>
                <a:rect l="0" t="0" r="r" b="b"/>
                <a:pathLst>
                  <a:path w="6" h="8">
                    <a:moveTo>
                      <a:pt x="5" y="5"/>
                    </a:moveTo>
                    <a:cubicBezTo>
                      <a:pt x="6" y="3"/>
                      <a:pt x="5" y="1"/>
                      <a:pt x="4" y="1"/>
                    </a:cubicBezTo>
                    <a:cubicBezTo>
                      <a:pt x="3" y="0"/>
                      <a:pt x="2" y="2"/>
                      <a:pt x="1" y="3"/>
                    </a:cubicBezTo>
                    <a:cubicBezTo>
                      <a:pt x="0" y="5"/>
                      <a:pt x="1" y="7"/>
                      <a:pt x="2" y="7"/>
                    </a:cubicBezTo>
                    <a:cubicBezTo>
                      <a:pt x="3" y="8"/>
                      <a:pt x="4" y="7"/>
                      <a:pt x="5" y="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7" name="任意多边形 185"/>
              <p:cNvSpPr/>
              <p:nvPr/>
            </p:nvSpPr>
            <p:spPr bwMode="auto">
              <a:xfrm>
                <a:off x="5962712" y="3117658"/>
                <a:ext cx="130234" cy="63083"/>
              </a:xfrm>
              <a:custGeom>
                <a:avLst/>
                <a:gdLst>
                  <a:gd name="T0" fmla="*/ 25 w 27"/>
                  <a:gd name="T1" fmla="*/ 13 h 13"/>
                  <a:gd name="T2" fmla="*/ 23 w 27"/>
                  <a:gd name="T3" fmla="*/ 12 h 13"/>
                  <a:gd name="T4" fmla="*/ 2 w 27"/>
                  <a:gd name="T5" fmla="*/ 5 h 13"/>
                  <a:gd name="T6" fmla="*/ 0 w 27"/>
                  <a:gd name="T7" fmla="*/ 3 h 13"/>
                  <a:gd name="T8" fmla="*/ 2 w 27"/>
                  <a:gd name="T9" fmla="*/ 0 h 13"/>
                  <a:gd name="T10" fmla="*/ 26 w 27"/>
                  <a:gd name="T11" fmla="*/ 9 h 13"/>
                  <a:gd name="T12" fmla="*/ 26 w 27"/>
                  <a:gd name="T13" fmla="*/ 12 h 13"/>
                  <a:gd name="T14" fmla="*/ 25 w 27"/>
                  <a:gd name="T15" fmla="*/ 1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3">
                    <a:moveTo>
                      <a:pt x="25" y="13"/>
                    </a:moveTo>
                    <a:cubicBezTo>
                      <a:pt x="24" y="13"/>
                      <a:pt x="23" y="13"/>
                      <a:pt x="23" y="12"/>
                    </a:cubicBezTo>
                    <a:cubicBezTo>
                      <a:pt x="14" y="5"/>
                      <a:pt x="3" y="5"/>
                      <a:pt x="2" y="5"/>
                    </a:cubicBezTo>
                    <a:cubicBezTo>
                      <a:pt x="1" y="5"/>
                      <a:pt x="0" y="4"/>
                      <a:pt x="0" y="3"/>
                    </a:cubicBezTo>
                    <a:cubicBezTo>
                      <a:pt x="0" y="2"/>
                      <a:pt x="1" y="0"/>
                      <a:pt x="2" y="0"/>
                    </a:cubicBezTo>
                    <a:cubicBezTo>
                      <a:pt x="3" y="0"/>
                      <a:pt x="16" y="0"/>
                      <a:pt x="26" y="9"/>
                    </a:cubicBezTo>
                    <a:cubicBezTo>
                      <a:pt x="27" y="10"/>
                      <a:pt x="27" y="11"/>
                      <a:pt x="26" y="12"/>
                    </a:cubicBezTo>
                    <a:cubicBezTo>
                      <a:pt x="26" y="13"/>
                      <a:pt x="25" y="13"/>
                      <a:pt x="25" y="13"/>
                    </a:cubicBezTo>
                    <a:close/>
                  </a:path>
                </a:pathLst>
              </a:custGeom>
              <a:solidFill>
                <a:srgbClr val="A559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8" name="任意多边形 186"/>
              <p:cNvSpPr/>
              <p:nvPr/>
            </p:nvSpPr>
            <p:spPr bwMode="auto">
              <a:xfrm>
                <a:off x="5525206" y="3050507"/>
                <a:ext cx="136340" cy="46804"/>
              </a:xfrm>
              <a:custGeom>
                <a:avLst/>
                <a:gdLst>
                  <a:gd name="T0" fmla="*/ 1 w 28"/>
                  <a:gd name="T1" fmla="*/ 10 h 10"/>
                  <a:gd name="T2" fmla="*/ 0 w 28"/>
                  <a:gd name="T3" fmla="*/ 9 h 10"/>
                  <a:gd name="T4" fmla="*/ 2 w 28"/>
                  <a:gd name="T5" fmla="*/ 6 h 10"/>
                  <a:gd name="T6" fmla="*/ 26 w 28"/>
                  <a:gd name="T7" fmla="*/ 4 h 10"/>
                  <a:gd name="T8" fmla="*/ 28 w 28"/>
                  <a:gd name="T9" fmla="*/ 7 h 10"/>
                  <a:gd name="T10" fmla="*/ 25 w 28"/>
                  <a:gd name="T11" fmla="*/ 8 h 10"/>
                  <a:gd name="T12" fmla="*/ 3 w 28"/>
                  <a:gd name="T13" fmla="*/ 10 h 10"/>
                  <a:gd name="T14" fmla="*/ 1 w 28"/>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0">
                    <a:moveTo>
                      <a:pt x="1" y="10"/>
                    </a:moveTo>
                    <a:cubicBezTo>
                      <a:pt x="1" y="10"/>
                      <a:pt x="1" y="9"/>
                      <a:pt x="0" y="9"/>
                    </a:cubicBezTo>
                    <a:cubicBezTo>
                      <a:pt x="0" y="8"/>
                      <a:pt x="0" y="6"/>
                      <a:pt x="2" y="6"/>
                    </a:cubicBezTo>
                    <a:cubicBezTo>
                      <a:pt x="14" y="0"/>
                      <a:pt x="26" y="4"/>
                      <a:pt x="26" y="4"/>
                    </a:cubicBezTo>
                    <a:cubicBezTo>
                      <a:pt x="28" y="4"/>
                      <a:pt x="28" y="6"/>
                      <a:pt x="28" y="7"/>
                    </a:cubicBezTo>
                    <a:cubicBezTo>
                      <a:pt x="28" y="8"/>
                      <a:pt x="26" y="9"/>
                      <a:pt x="25" y="8"/>
                    </a:cubicBezTo>
                    <a:cubicBezTo>
                      <a:pt x="25" y="8"/>
                      <a:pt x="14" y="5"/>
                      <a:pt x="3" y="10"/>
                    </a:cubicBezTo>
                    <a:cubicBezTo>
                      <a:pt x="3" y="10"/>
                      <a:pt x="2" y="10"/>
                      <a:pt x="1" y="10"/>
                    </a:cubicBezTo>
                    <a:close/>
                  </a:path>
                </a:pathLst>
              </a:custGeom>
              <a:solidFill>
                <a:srgbClr val="A559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9" name="任意多边形 187"/>
              <p:cNvSpPr/>
              <p:nvPr/>
            </p:nvSpPr>
            <p:spPr bwMode="auto">
              <a:xfrm>
                <a:off x="5647301" y="3205160"/>
                <a:ext cx="136340" cy="225876"/>
              </a:xfrm>
              <a:custGeom>
                <a:avLst/>
                <a:gdLst>
                  <a:gd name="T0" fmla="*/ 14 w 28"/>
                  <a:gd name="T1" fmla="*/ 47 h 47"/>
                  <a:gd name="T2" fmla="*/ 16 w 28"/>
                  <a:gd name="T3" fmla="*/ 45 h 47"/>
                  <a:gd name="T4" fmla="*/ 14 w 28"/>
                  <a:gd name="T5" fmla="*/ 43 h 47"/>
                  <a:gd name="T6" fmla="*/ 5 w 28"/>
                  <a:gd name="T7" fmla="*/ 39 h 47"/>
                  <a:gd name="T8" fmla="*/ 5 w 28"/>
                  <a:gd name="T9" fmla="*/ 34 h 47"/>
                  <a:gd name="T10" fmla="*/ 8 w 28"/>
                  <a:gd name="T11" fmla="*/ 31 h 47"/>
                  <a:gd name="T12" fmla="*/ 16 w 28"/>
                  <a:gd name="T13" fmla="*/ 32 h 47"/>
                  <a:gd name="T14" fmla="*/ 18 w 28"/>
                  <a:gd name="T15" fmla="*/ 32 h 47"/>
                  <a:gd name="T16" fmla="*/ 19 w 28"/>
                  <a:gd name="T17" fmla="*/ 31 h 47"/>
                  <a:gd name="T18" fmla="*/ 28 w 28"/>
                  <a:gd name="T19" fmla="*/ 3 h 47"/>
                  <a:gd name="T20" fmla="*/ 27 w 28"/>
                  <a:gd name="T21" fmla="*/ 1 h 47"/>
                  <a:gd name="T22" fmla="*/ 24 w 28"/>
                  <a:gd name="T23" fmla="*/ 2 h 47"/>
                  <a:gd name="T24" fmla="*/ 16 w 28"/>
                  <a:gd name="T25" fmla="*/ 27 h 47"/>
                  <a:gd name="T26" fmla="*/ 7 w 28"/>
                  <a:gd name="T27" fmla="*/ 27 h 47"/>
                  <a:gd name="T28" fmla="*/ 1 w 28"/>
                  <a:gd name="T29" fmla="*/ 33 h 47"/>
                  <a:gd name="T30" fmla="*/ 2 w 28"/>
                  <a:gd name="T31" fmla="*/ 41 h 47"/>
                  <a:gd name="T32" fmla="*/ 14 w 28"/>
                  <a:gd name="T33"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47">
                    <a:moveTo>
                      <a:pt x="14" y="47"/>
                    </a:moveTo>
                    <a:cubicBezTo>
                      <a:pt x="15" y="47"/>
                      <a:pt x="16" y="46"/>
                      <a:pt x="16" y="45"/>
                    </a:cubicBezTo>
                    <a:cubicBezTo>
                      <a:pt x="16" y="44"/>
                      <a:pt x="15" y="43"/>
                      <a:pt x="14" y="43"/>
                    </a:cubicBezTo>
                    <a:cubicBezTo>
                      <a:pt x="12" y="43"/>
                      <a:pt x="7" y="42"/>
                      <a:pt x="5" y="39"/>
                    </a:cubicBezTo>
                    <a:cubicBezTo>
                      <a:pt x="5" y="38"/>
                      <a:pt x="4" y="36"/>
                      <a:pt x="5" y="34"/>
                    </a:cubicBezTo>
                    <a:cubicBezTo>
                      <a:pt x="6" y="32"/>
                      <a:pt x="7" y="31"/>
                      <a:pt x="8" y="31"/>
                    </a:cubicBezTo>
                    <a:cubicBezTo>
                      <a:pt x="11" y="29"/>
                      <a:pt x="15" y="31"/>
                      <a:pt x="16" y="32"/>
                    </a:cubicBezTo>
                    <a:cubicBezTo>
                      <a:pt x="17" y="32"/>
                      <a:pt x="17" y="32"/>
                      <a:pt x="18" y="32"/>
                    </a:cubicBezTo>
                    <a:cubicBezTo>
                      <a:pt x="18" y="32"/>
                      <a:pt x="19" y="31"/>
                      <a:pt x="19" y="31"/>
                    </a:cubicBezTo>
                    <a:cubicBezTo>
                      <a:pt x="28" y="3"/>
                      <a:pt x="28" y="3"/>
                      <a:pt x="28" y="3"/>
                    </a:cubicBezTo>
                    <a:cubicBezTo>
                      <a:pt x="28" y="2"/>
                      <a:pt x="28" y="1"/>
                      <a:pt x="27" y="1"/>
                    </a:cubicBezTo>
                    <a:cubicBezTo>
                      <a:pt x="26" y="0"/>
                      <a:pt x="25" y="1"/>
                      <a:pt x="24" y="2"/>
                    </a:cubicBezTo>
                    <a:cubicBezTo>
                      <a:pt x="16" y="27"/>
                      <a:pt x="16" y="27"/>
                      <a:pt x="16" y="27"/>
                    </a:cubicBezTo>
                    <a:cubicBezTo>
                      <a:pt x="14" y="26"/>
                      <a:pt x="10" y="26"/>
                      <a:pt x="7" y="27"/>
                    </a:cubicBezTo>
                    <a:cubicBezTo>
                      <a:pt x="4" y="28"/>
                      <a:pt x="2" y="30"/>
                      <a:pt x="1" y="33"/>
                    </a:cubicBezTo>
                    <a:cubicBezTo>
                      <a:pt x="0" y="36"/>
                      <a:pt x="1" y="39"/>
                      <a:pt x="2" y="41"/>
                    </a:cubicBezTo>
                    <a:cubicBezTo>
                      <a:pt x="5" y="46"/>
                      <a:pt x="13" y="47"/>
                      <a:pt x="14" y="47"/>
                    </a:cubicBezTo>
                    <a:close/>
                  </a:path>
                </a:pathLst>
              </a:custGeom>
              <a:solidFill>
                <a:srgbClr val="EAB1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grpSp>
        <p:nvGrpSpPr>
          <p:cNvPr id="260" name="组合 259"/>
          <p:cNvGrpSpPr/>
          <p:nvPr/>
        </p:nvGrpSpPr>
        <p:grpSpPr>
          <a:xfrm>
            <a:off x="8682990" y="1738630"/>
            <a:ext cx="1090295" cy="303530"/>
            <a:chOff x="7545958" y="1344698"/>
            <a:chExt cx="1035151" cy="288000"/>
          </a:xfrm>
        </p:grpSpPr>
        <p:sp>
          <p:nvSpPr>
            <p:cNvPr id="261" name="文本框 260"/>
            <p:cNvSpPr txBox="1"/>
            <p:nvPr/>
          </p:nvSpPr>
          <p:spPr>
            <a:xfrm>
              <a:off x="7836281" y="1369770"/>
              <a:ext cx="744828" cy="232642"/>
            </a:xfrm>
            <a:prstGeom prst="rect">
              <a:avLst/>
            </a:prstGeom>
            <a:noFill/>
          </p:spPr>
          <p:txBody>
            <a:bodyPr wrap="square" rtlCol="0">
              <a:spAutoFit/>
            </a:bodyPr>
            <a:lstStyle/>
            <a:p>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rPr>
                <a:t>流失客户</a:t>
              </a:r>
              <a:endParaRPr lang="zh-CN" altLang="en-US" sz="10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262" name="组合 261"/>
            <p:cNvGrpSpPr>
              <a:grpSpLocks noChangeAspect="1"/>
            </p:cNvGrpSpPr>
            <p:nvPr/>
          </p:nvGrpSpPr>
          <p:grpSpPr>
            <a:xfrm>
              <a:off x="7545958" y="1344698"/>
              <a:ext cx="288735" cy="288000"/>
              <a:chOff x="4516660" y="1853683"/>
              <a:chExt cx="3158681" cy="3150635"/>
            </a:xfrm>
          </p:grpSpPr>
          <p:sp>
            <p:nvSpPr>
              <p:cNvPr id="263" name="椭圆 262"/>
              <p:cNvSpPr/>
              <p:nvPr/>
            </p:nvSpPr>
            <p:spPr bwMode="auto">
              <a:xfrm>
                <a:off x="4516660" y="1853683"/>
                <a:ext cx="3158681" cy="3150634"/>
              </a:xfrm>
              <a:prstGeom prst="ellipse">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64" name="任意多边形 256"/>
              <p:cNvSpPr/>
              <p:nvPr/>
            </p:nvSpPr>
            <p:spPr bwMode="auto">
              <a:xfrm>
                <a:off x="5419636" y="2361811"/>
                <a:ext cx="1618475" cy="1416166"/>
              </a:xfrm>
              <a:custGeom>
                <a:avLst/>
                <a:gdLst>
                  <a:gd name="T0" fmla="*/ 47 w 242"/>
                  <a:gd name="T1" fmla="*/ 105 h 212"/>
                  <a:gd name="T2" fmla="*/ 21 w 242"/>
                  <a:gd name="T3" fmla="*/ 127 h 212"/>
                  <a:gd name="T4" fmla="*/ 7 w 242"/>
                  <a:gd name="T5" fmla="*/ 115 h 212"/>
                  <a:gd name="T6" fmla="*/ 11 w 242"/>
                  <a:gd name="T7" fmla="*/ 83 h 212"/>
                  <a:gd name="T8" fmla="*/ 1 w 242"/>
                  <a:gd name="T9" fmla="*/ 70 h 212"/>
                  <a:gd name="T10" fmla="*/ 9 w 242"/>
                  <a:gd name="T11" fmla="*/ 55 h 212"/>
                  <a:gd name="T12" fmla="*/ 15 w 242"/>
                  <a:gd name="T13" fmla="*/ 51 h 212"/>
                  <a:gd name="T14" fmla="*/ 16 w 242"/>
                  <a:gd name="T15" fmla="*/ 45 h 212"/>
                  <a:gd name="T16" fmla="*/ 31 w 242"/>
                  <a:gd name="T17" fmla="*/ 21 h 212"/>
                  <a:gd name="T18" fmla="*/ 41 w 242"/>
                  <a:gd name="T19" fmla="*/ 22 h 212"/>
                  <a:gd name="T20" fmla="*/ 67 w 242"/>
                  <a:gd name="T21" fmla="*/ 5 h 212"/>
                  <a:gd name="T22" fmla="*/ 87 w 242"/>
                  <a:gd name="T23" fmla="*/ 12 h 212"/>
                  <a:gd name="T24" fmla="*/ 109 w 242"/>
                  <a:gd name="T25" fmla="*/ 0 h 212"/>
                  <a:gd name="T26" fmla="*/ 132 w 242"/>
                  <a:gd name="T27" fmla="*/ 11 h 212"/>
                  <a:gd name="T28" fmla="*/ 136 w 242"/>
                  <a:gd name="T29" fmla="*/ 14 h 212"/>
                  <a:gd name="T30" fmla="*/ 141 w 242"/>
                  <a:gd name="T31" fmla="*/ 12 h 212"/>
                  <a:gd name="T32" fmla="*/ 166 w 242"/>
                  <a:gd name="T33" fmla="*/ 11 h 212"/>
                  <a:gd name="T34" fmla="*/ 180 w 242"/>
                  <a:gd name="T35" fmla="*/ 33 h 212"/>
                  <a:gd name="T36" fmla="*/ 199 w 242"/>
                  <a:gd name="T37" fmla="*/ 32 h 212"/>
                  <a:gd name="T38" fmla="*/ 212 w 242"/>
                  <a:gd name="T39" fmla="*/ 43 h 212"/>
                  <a:gd name="T40" fmla="*/ 214 w 242"/>
                  <a:gd name="T41" fmla="*/ 52 h 212"/>
                  <a:gd name="T42" fmla="*/ 219 w 242"/>
                  <a:gd name="T43" fmla="*/ 54 h 212"/>
                  <a:gd name="T44" fmla="*/ 235 w 242"/>
                  <a:gd name="T45" fmla="*/ 86 h 212"/>
                  <a:gd name="T46" fmla="*/ 234 w 242"/>
                  <a:gd name="T47" fmla="*/ 93 h 212"/>
                  <a:gd name="T48" fmla="*/ 236 w 242"/>
                  <a:gd name="T49" fmla="*/ 96 h 212"/>
                  <a:gd name="T50" fmla="*/ 239 w 242"/>
                  <a:gd name="T51" fmla="*/ 128 h 212"/>
                  <a:gd name="T52" fmla="*/ 237 w 242"/>
                  <a:gd name="T53" fmla="*/ 133 h 212"/>
                  <a:gd name="T54" fmla="*/ 239 w 242"/>
                  <a:gd name="T55" fmla="*/ 140 h 212"/>
                  <a:gd name="T56" fmla="*/ 235 w 242"/>
                  <a:gd name="T57" fmla="*/ 167 h 212"/>
                  <a:gd name="T58" fmla="*/ 227 w 242"/>
                  <a:gd name="T59" fmla="*/ 177 h 212"/>
                  <a:gd name="T60" fmla="*/ 218 w 242"/>
                  <a:gd name="T61" fmla="*/ 192 h 212"/>
                  <a:gd name="T62" fmla="*/ 196 w 242"/>
                  <a:gd name="T63" fmla="*/ 212 h 212"/>
                  <a:gd name="T64" fmla="*/ 192 w 242"/>
                  <a:gd name="T65" fmla="*/ 212 h 212"/>
                  <a:gd name="T66" fmla="*/ 188 w 242"/>
                  <a:gd name="T67" fmla="*/ 210 h 212"/>
                  <a:gd name="T68" fmla="*/ 183 w 242"/>
                  <a:gd name="T69" fmla="*/ 210 h 212"/>
                  <a:gd name="T70" fmla="*/ 161 w 242"/>
                  <a:gd name="T71" fmla="*/ 196 h 212"/>
                  <a:gd name="T72" fmla="*/ 158 w 242"/>
                  <a:gd name="T73" fmla="*/ 177 h 212"/>
                  <a:gd name="T74" fmla="*/ 159 w 242"/>
                  <a:gd name="T75" fmla="*/ 149 h 212"/>
                  <a:gd name="T76" fmla="*/ 156 w 242"/>
                  <a:gd name="T77" fmla="*/ 133 h 212"/>
                  <a:gd name="T78" fmla="*/ 141 w 242"/>
                  <a:gd name="T79" fmla="*/ 115 h 212"/>
                  <a:gd name="T80" fmla="*/ 125 w 242"/>
                  <a:gd name="T81" fmla="*/ 107 h 212"/>
                  <a:gd name="T82" fmla="*/ 59 w 242"/>
                  <a:gd name="T83" fmla="*/ 10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12">
                    <a:moveTo>
                      <a:pt x="47" y="105"/>
                    </a:moveTo>
                    <a:cubicBezTo>
                      <a:pt x="37" y="111"/>
                      <a:pt x="33" y="126"/>
                      <a:pt x="21" y="127"/>
                    </a:cubicBezTo>
                    <a:cubicBezTo>
                      <a:pt x="14" y="128"/>
                      <a:pt x="10" y="121"/>
                      <a:pt x="7" y="115"/>
                    </a:cubicBezTo>
                    <a:cubicBezTo>
                      <a:pt x="2" y="104"/>
                      <a:pt x="1" y="92"/>
                      <a:pt x="11" y="83"/>
                    </a:cubicBezTo>
                    <a:cubicBezTo>
                      <a:pt x="5" y="80"/>
                      <a:pt x="1" y="76"/>
                      <a:pt x="1" y="70"/>
                    </a:cubicBezTo>
                    <a:cubicBezTo>
                      <a:pt x="0" y="64"/>
                      <a:pt x="4" y="59"/>
                      <a:pt x="9" y="55"/>
                    </a:cubicBezTo>
                    <a:cubicBezTo>
                      <a:pt x="11" y="54"/>
                      <a:pt x="13" y="53"/>
                      <a:pt x="15" y="51"/>
                    </a:cubicBezTo>
                    <a:cubicBezTo>
                      <a:pt x="16" y="49"/>
                      <a:pt x="16" y="47"/>
                      <a:pt x="16" y="45"/>
                    </a:cubicBezTo>
                    <a:cubicBezTo>
                      <a:pt x="18" y="34"/>
                      <a:pt x="23" y="26"/>
                      <a:pt x="31" y="21"/>
                    </a:cubicBezTo>
                    <a:cubicBezTo>
                      <a:pt x="35" y="18"/>
                      <a:pt x="39" y="18"/>
                      <a:pt x="41" y="22"/>
                    </a:cubicBezTo>
                    <a:cubicBezTo>
                      <a:pt x="46" y="11"/>
                      <a:pt x="56" y="7"/>
                      <a:pt x="67" y="5"/>
                    </a:cubicBezTo>
                    <a:cubicBezTo>
                      <a:pt x="75" y="4"/>
                      <a:pt x="83" y="5"/>
                      <a:pt x="87" y="12"/>
                    </a:cubicBezTo>
                    <a:cubicBezTo>
                      <a:pt x="93" y="6"/>
                      <a:pt x="100" y="1"/>
                      <a:pt x="109" y="0"/>
                    </a:cubicBezTo>
                    <a:cubicBezTo>
                      <a:pt x="119" y="0"/>
                      <a:pt x="126" y="4"/>
                      <a:pt x="132" y="11"/>
                    </a:cubicBezTo>
                    <a:cubicBezTo>
                      <a:pt x="133" y="12"/>
                      <a:pt x="134" y="14"/>
                      <a:pt x="136" y="14"/>
                    </a:cubicBezTo>
                    <a:cubicBezTo>
                      <a:pt x="138" y="14"/>
                      <a:pt x="139" y="13"/>
                      <a:pt x="141" y="12"/>
                    </a:cubicBezTo>
                    <a:cubicBezTo>
                      <a:pt x="149" y="7"/>
                      <a:pt x="157" y="6"/>
                      <a:pt x="166" y="11"/>
                    </a:cubicBezTo>
                    <a:cubicBezTo>
                      <a:pt x="175" y="15"/>
                      <a:pt x="179" y="23"/>
                      <a:pt x="180" y="33"/>
                    </a:cubicBezTo>
                    <a:cubicBezTo>
                      <a:pt x="186" y="32"/>
                      <a:pt x="193" y="30"/>
                      <a:pt x="199" y="32"/>
                    </a:cubicBezTo>
                    <a:cubicBezTo>
                      <a:pt x="205" y="33"/>
                      <a:pt x="210" y="37"/>
                      <a:pt x="212" y="43"/>
                    </a:cubicBezTo>
                    <a:cubicBezTo>
                      <a:pt x="213" y="46"/>
                      <a:pt x="211" y="50"/>
                      <a:pt x="214" y="52"/>
                    </a:cubicBezTo>
                    <a:cubicBezTo>
                      <a:pt x="216" y="53"/>
                      <a:pt x="217" y="53"/>
                      <a:pt x="219" y="54"/>
                    </a:cubicBezTo>
                    <a:cubicBezTo>
                      <a:pt x="233" y="59"/>
                      <a:pt x="240" y="71"/>
                      <a:pt x="235" y="86"/>
                    </a:cubicBezTo>
                    <a:cubicBezTo>
                      <a:pt x="235" y="89"/>
                      <a:pt x="234" y="91"/>
                      <a:pt x="234" y="93"/>
                    </a:cubicBezTo>
                    <a:cubicBezTo>
                      <a:pt x="234" y="95"/>
                      <a:pt x="235" y="95"/>
                      <a:pt x="236" y="96"/>
                    </a:cubicBezTo>
                    <a:cubicBezTo>
                      <a:pt x="241" y="107"/>
                      <a:pt x="242" y="116"/>
                      <a:pt x="239" y="128"/>
                    </a:cubicBezTo>
                    <a:cubicBezTo>
                      <a:pt x="238" y="130"/>
                      <a:pt x="237" y="131"/>
                      <a:pt x="237" y="133"/>
                    </a:cubicBezTo>
                    <a:cubicBezTo>
                      <a:pt x="237" y="136"/>
                      <a:pt x="239" y="137"/>
                      <a:pt x="239" y="140"/>
                    </a:cubicBezTo>
                    <a:cubicBezTo>
                      <a:pt x="242" y="149"/>
                      <a:pt x="240" y="158"/>
                      <a:pt x="235" y="167"/>
                    </a:cubicBezTo>
                    <a:cubicBezTo>
                      <a:pt x="233" y="171"/>
                      <a:pt x="230" y="173"/>
                      <a:pt x="227" y="177"/>
                    </a:cubicBezTo>
                    <a:cubicBezTo>
                      <a:pt x="225" y="181"/>
                      <a:pt x="221" y="188"/>
                      <a:pt x="218" y="192"/>
                    </a:cubicBezTo>
                    <a:cubicBezTo>
                      <a:pt x="212" y="201"/>
                      <a:pt x="206" y="208"/>
                      <a:pt x="196" y="212"/>
                    </a:cubicBezTo>
                    <a:cubicBezTo>
                      <a:pt x="194" y="212"/>
                      <a:pt x="193" y="212"/>
                      <a:pt x="192" y="212"/>
                    </a:cubicBezTo>
                    <a:cubicBezTo>
                      <a:pt x="190" y="211"/>
                      <a:pt x="190" y="210"/>
                      <a:pt x="188" y="210"/>
                    </a:cubicBezTo>
                    <a:cubicBezTo>
                      <a:pt x="186" y="209"/>
                      <a:pt x="185" y="210"/>
                      <a:pt x="183" y="210"/>
                    </a:cubicBezTo>
                    <a:cubicBezTo>
                      <a:pt x="173" y="210"/>
                      <a:pt x="166" y="205"/>
                      <a:pt x="161" y="196"/>
                    </a:cubicBezTo>
                    <a:cubicBezTo>
                      <a:pt x="158" y="191"/>
                      <a:pt x="159" y="184"/>
                      <a:pt x="158" y="177"/>
                    </a:cubicBezTo>
                    <a:cubicBezTo>
                      <a:pt x="158" y="168"/>
                      <a:pt x="159" y="159"/>
                      <a:pt x="159" y="149"/>
                    </a:cubicBezTo>
                    <a:cubicBezTo>
                      <a:pt x="158" y="144"/>
                      <a:pt x="159" y="139"/>
                      <a:pt x="156" y="133"/>
                    </a:cubicBezTo>
                    <a:cubicBezTo>
                      <a:pt x="153" y="126"/>
                      <a:pt x="148" y="120"/>
                      <a:pt x="141" y="115"/>
                    </a:cubicBezTo>
                    <a:cubicBezTo>
                      <a:pt x="136" y="112"/>
                      <a:pt x="132" y="109"/>
                      <a:pt x="125" y="107"/>
                    </a:cubicBezTo>
                    <a:cubicBezTo>
                      <a:pt x="103" y="101"/>
                      <a:pt x="81" y="105"/>
                      <a:pt x="59" y="108"/>
                    </a:cubicBezTo>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65" name="任意多边形 257"/>
              <p:cNvSpPr/>
              <p:nvPr/>
            </p:nvSpPr>
            <p:spPr bwMode="auto">
              <a:xfrm>
                <a:off x="5326911" y="4202030"/>
                <a:ext cx="1583419" cy="802288"/>
              </a:xfrm>
              <a:custGeom>
                <a:avLst/>
                <a:gdLst>
                  <a:gd name="connsiteX0" fmla="*/ 614032 w 1249406"/>
                  <a:gd name="connsiteY0" fmla="*/ 775 h 633050"/>
                  <a:gd name="connsiteX1" fmla="*/ 633839 w 1249406"/>
                  <a:gd name="connsiteY1" fmla="*/ 1022 h 633050"/>
                  <a:gd name="connsiteX2" fmla="*/ 765889 w 1249406"/>
                  <a:gd name="connsiteY2" fmla="*/ 37917 h 633050"/>
                  <a:gd name="connsiteX3" fmla="*/ 1240268 w 1249406"/>
                  <a:gd name="connsiteY3" fmla="*/ 394615 h 633050"/>
                  <a:gd name="connsiteX4" fmla="*/ 1249406 w 1249406"/>
                  <a:gd name="connsiteY4" fmla="*/ 450110 h 633050"/>
                  <a:gd name="connsiteX5" fmla="*/ 1091928 w 1249406"/>
                  <a:gd name="connsiteY5" fmla="*/ 535368 h 633050"/>
                  <a:gd name="connsiteX6" fmla="*/ 606855 w 1249406"/>
                  <a:gd name="connsiteY6" fmla="*/ 633050 h 633050"/>
                  <a:gd name="connsiteX7" fmla="*/ 121782 w 1249406"/>
                  <a:gd name="connsiteY7" fmla="*/ 535368 h 633050"/>
                  <a:gd name="connsiteX8" fmla="*/ 4252 w 1249406"/>
                  <a:gd name="connsiteY8" fmla="*/ 471737 h 633050"/>
                  <a:gd name="connsiteX9" fmla="*/ 1651 w 1249406"/>
                  <a:gd name="connsiteY9" fmla="*/ 460725 h 633050"/>
                  <a:gd name="connsiteX10" fmla="*/ 0 w 1249406"/>
                  <a:gd name="connsiteY10" fmla="*/ 438490 h 633050"/>
                  <a:gd name="connsiteX11" fmla="*/ 507071 w 1249406"/>
                  <a:gd name="connsiteY11" fmla="*/ 32646 h 633050"/>
                  <a:gd name="connsiteX12" fmla="*/ 614032 w 1249406"/>
                  <a:gd name="connsiteY12" fmla="*/ 775 h 63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49406" h="633050">
                    <a:moveTo>
                      <a:pt x="614032" y="775"/>
                    </a:moveTo>
                    <a:cubicBezTo>
                      <a:pt x="623935" y="-296"/>
                      <a:pt x="631198" y="-296"/>
                      <a:pt x="633839" y="1022"/>
                    </a:cubicBezTo>
                    <a:cubicBezTo>
                      <a:pt x="649685" y="-4249"/>
                      <a:pt x="734197" y="16834"/>
                      <a:pt x="765889" y="37917"/>
                    </a:cubicBezTo>
                    <a:cubicBezTo>
                      <a:pt x="932272" y="157825"/>
                      <a:pt x="1183579" y="241415"/>
                      <a:pt x="1240268" y="394615"/>
                    </a:cubicBezTo>
                    <a:lnTo>
                      <a:pt x="1249406" y="450110"/>
                    </a:lnTo>
                    <a:lnTo>
                      <a:pt x="1091928" y="535368"/>
                    </a:lnTo>
                    <a:cubicBezTo>
                      <a:pt x="942836" y="598268"/>
                      <a:pt x="778918" y="633050"/>
                      <a:pt x="606855" y="633050"/>
                    </a:cubicBezTo>
                    <a:cubicBezTo>
                      <a:pt x="434792" y="633050"/>
                      <a:pt x="270874" y="598268"/>
                      <a:pt x="121782" y="535368"/>
                    </a:cubicBezTo>
                    <a:lnTo>
                      <a:pt x="4252" y="471737"/>
                    </a:lnTo>
                    <a:lnTo>
                      <a:pt x="1651" y="460725"/>
                    </a:lnTo>
                    <a:cubicBezTo>
                      <a:pt x="0" y="447384"/>
                      <a:pt x="0" y="438490"/>
                      <a:pt x="0" y="438490"/>
                    </a:cubicBezTo>
                    <a:cubicBezTo>
                      <a:pt x="5282" y="238203"/>
                      <a:pt x="306356" y="159143"/>
                      <a:pt x="507071" y="32646"/>
                    </a:cubicBezTo>
                    <a:cubicBezTo>
                      <a:pt x="530840" y="16834"/>
                      <a:pt x="584321" y="3987"/>
                      <a:pt x="614032" y="775"/>
                    </a:cubicBezTo>
                    <a:close/>
                  </a:path>
                </a:pathLst>
              </a:custGeom>
              <a:solidFill>
                <a:srgbClr val="FEB0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66" name="任意多边形 258"/>
              <p:cNvSpPr/>
              <p:nvPr/>
            </p:nvSpPr>
            <p:spPr bwMode="auto">
              <a:xfrm>
                <a:off x="5754009" y="4191024"/>
                <a:ext cx="702464" cy="460815"/>
              </a:xfrm>
              <a:custGeom>
                <a:avLst/>
                <a:gdLst>
                  <a:gd name="T0" fmla="*/ 8 w 105"/>
                  <a:gd name="T1" fmla="*/ 22 h 69"/>
                  <a:gd name="T2" fmla="*/ 49 w 105"/>
                  <a:gd name="T3" fmla="*/ 67 h 69"/>
                  <a:gd name="T4" fmla="*/ 105 w 105"/>
                  <a:gd name="T5" fmla="*/ 24 h 69"/>
                  <a:gd name="T6" fmla="*/ 66 w 105"/>
                  <a:gd name="T7" fmla="*/ 0 h 69"/>
                  <a:gd name="T8" fmla="*/ 36 w 105"/>
                  <a:gd name="T9" fmla="*/ 2 h 69"/>
                  <a:gd name="T10" fmla="*/ 8 w 105"/>
                  <a:gd name="T11" fmla="*/ 22 h 69"/>
                </a:gdLst>
                <a:ahLst/>
                <a:cxnLst>
                  <a:cxn ang="0">
                    <a:pos x="T0" y="T1"/>
                  </a:cxn>
                  <a:cxn ang="0">
                    <a:pos x="T2" y="T3"/>
                  </a:cxn>
                  <a:cxn ang="0">
                    <a:pos x="T4" y="T5"/>
                  </a:cxn>
                  <a:cxn ang="0">
                    <a:pos x="T6" y="T7"/>
                  </a:cxn>
                  <a:cxn ang="0">
                    <a:pos x="T8" y="T9"/>
                  </a:cxn>
                  <a:cxn ang="0">
                    <a:pos x="T10" y="T11"/>
                  </a:cxn>
                </a:cxnLst>
                <a:rect l="0" t="0" r="r" b="b"/>
                <a:pathLst>
                  <a:path w="105" h="69">
                    <a:moveTo>
                      <a:pt x="8" y="22"/>
                    </a:moveTo>
                    <a:cubicBezTo>
                      <a:pt x="8" y="22"/>
                      <a:pt x="0" y="65"/>
                      <a:pt x="49" y="67"/>
                    </a:cubicBezTo>
                    <a:cubicBezTo>
                      <a:pt x="97" y="69"/>
                      <a:pt x="105" y="24"/>
                      <a:pt x="105" y="24"/>
                    </a:cubicBezTo>
                    <a:cubicBezTo>
                      <a:pt x="66" y="0"/>
                      <a:pt x="66" y="0"/>
                      <a:pt x="66" y="0"/>
                    </a:cubicBezTo>
                    <a:cubicBezTo>
                      <a:pt x="36" y="2"/>
                      <a:pt x="36" y="2"/>
                      <a:pt x="36" y="2"/>
                    </a:cubicBezTo>
                    <a:lnTo>
                      <a:pt x="8" y="2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67" name="任意多边形 259"/>
              <p:cNvSpPr/>
              <p:nvPr/>
            </p:nvSpPr>
            <p:spPr bwMode="auto">
              <a:xfrm>
                <a:off x="5947887" y="4224743"/>
                <a:ext cx="334373" cy="306275"/>
              </a:xfrm>
              <a:custGeom>
                <a:avLst/>
                <a:gdLst>
                  <a:gd name="T0" fmla="*/ 33 w 50"/>
                  <a:gd name="T1" fmla="*/ 7 h 46"/>
                  <a:gd name="T2" fmla="*/ 1 w 50"/>
                  <a:gd name="T3" fmla="*/ 9 h 46"/>
                  <a:gd name="T4" fmla="*/ 1 w 50"/>
                  <a:gd name="T5" fmla="*/ 22 h 46"/>
                  <a:gd name="T6" fmla="*/ 49 w 50"/>
                  <a:gd name="T7" fmla="*/ 23 h 46"/>
                  <a:gd name="T8" fmla="*/ 50 w 50"/>
                  <a:gd name="T9" fmla="*/ 0 h 46"/>
                  <a:gd name="T10" fmla="*/ 33 w 50"/>
                  <a:gd name="T11" fmla="*/ 7 h 46"/>
                </a:gdLst>
                <a:ahLst/>
                <a:cxnLst>
                  <a:cxn ang="0">
                    <a:pos x="T0" y="T1"/>
                  </a:cxn>
                  <a:cxn ang="0">
                    <a:pos x="T2" y="T3"/>
                  </a:cxn>
                  <a:cxn ang="0">
                    <a:pos x="T4" y="T5"/>
                  </a:cxn>
                  <a:cxn ang="0">
                    <a:pos x="T6" y="T7"/>
                  </a:cxn>
                  <a:cxn ang="0">
                    <a:pos x="T8" y="T9"/>
                  </a:cxn>
                  <a:cxn ang="0">
                    <a:pos x="T10" y="T11"/>
                  </a:cxn>
                </a:cxnLst>
                <a:rect l="0" t="0" r="r" b="b"/>
                <a:pathLst>
                  <a:path w="50" h="46">
                    <a:moveTo>
                      <a:pt x="33" y="7"/>
                    </a:moveTo>
                    <a:cubicBezTo>
                      <a:pt x="23" y="10"/>
                      <a:pt x="10" y="10"/>
                      <a:pt x="1" y="9"/>
                    </a:cubicBezTo>
                    <a:cubicBezTo>
                      <a:pt x="1" y="22"/>
                      <a:pt x="1" y="22"/>
                      <a:pt x="1" y="22"/>
                    </a:cubicBezTo>
                    <a:cubicBezTo>
                      <a:pt x="0" y="45"/>
                      <a:pt x="49" y="46"/>
                      <a:pt x="49" y="23"/>
                    </a:cubicBezTo>
                    <a:cubicBezTo>
                      <a:pt x="50" y="0"/>
                      <a:pt x="50" y="0"/>
                      <a:pt x="50" y="0"/>
                    </a:cubicBezTo>
                    <a:cubicBezTo>
                      <a:pt x="43" y="3"/>
                      <a:pt x="37" y="6"/>
                      <a:pt x="33" y="7"/>
                    </a:cubicBezTo>
                    <a:close/>
                  </a:path>
                </a:pathLst>
              </a:custGeom>
              <a:solidFill>
                <a:srgbClr val="EF8E7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68" name="任意多边形 260"/>
              <p:cNvSpPr/>
              <p:nvPr/>
            </p:nvSpPr>
            <p:spPr bwMode="auto">
              <a:xfrm>
                <a:off x="5961938" y="3876321"/>
                <a:ext cx="328754" cy="213549"/>
              </a:xfrm>
              <a:custGeom>
                <a:avLst/>
                <a:gdLst>
                  <a:gd name="T0" fmla="*/ 49 w 49"/>
                  <a:gd name="T1" fmla="*/ 1 h 32"/>
                  <a:gd name="T2" fmla="*/ 1 w 49"/>
                  <a:gd name="T3" fmla="*/ 0 h 32"/>
                  <a:gd name="T4" fmla="*/ 0 w 49"/>
                  <a:gd name="T5" fmla="*/ 32 h 32"/>
                  <a:gd name="T6" fmla="*/ 48 w 49"/>
                  <a:gd name="T7" fmla="*/ 26 h 32"/>
                  <a:gd name="T8" fmla="*/ 49 w 49"/>
                  <a:gd name="T9" fmla="*/ 1 h 32"/>
                </a:gdLst>
                <a:ahLst/>
                <a:cxnLst>
                  <a:cxn ang="0">
                    <a:pos x="T0" y="T1"/>
                  </a:cxn>
                  <a:cxn ang="0">
                    <a:pos x="T2" y="T3"/>
                  </a:cxn>
                  <a:cxn ang="0">
                    <a:pos x="T4" y="T5"/>
                  </a:cxn>
                  <a:cxn ang="0">
                    <a:pos x="T6" y="T7"/>
                  </a:cxn>
                  <a:cxn ang="0">
                    <a:pos x="T8" y="T9"/>
                  </a:cxn>
                </a:cxnLst>
                <a:rect l="0" t="0" r="r" b="b"/>
                <a:pathLst>
                  <a:path w="49" h="32">
                    <a:moveTo>
                      <a:pt x="49" y="1"/>
                    </a:moveTo>
                    <a:cubicBezTo>
                      <a:pt x="1" y="0"/>
                      <a:pt x="1" y="0"/>
                      <a:pt x="1" y="0"/>
                    </a:cubicBezTo>
                    <a:cubicBezTo>
                      <a:pt x="0" y="32"/>
                      <a:pt x="0" y="32"/>
                      <a:pt x="0" y="32"/>
                    </a:cubicBezTo>
                    <a:cubicBezTo>
                      <a:pt x="15" y="30"/>
                      <a:pt x="36" y="27"/>
                      <a:pt x="48" y="26"/>
                    </a:cubicBezTo>
                    <a:lnTo>
                      <a:pt x="49" y="1"/>
                    </a:lnTo>
                    <a:close/>
                  </a:path>
                </a:pathLst>
              </a:custGeom>
              <a:solidFill>
                <a:srgbClr val="EF8E7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0" name="任意多边形 261"/>
              <p:cNvSpPr/>
              <p:nvPr/>
            </p:nvSpPr>
            <p:spPr bwMode="auto">
              <a:xfrm>
                <a:off x="5956318" y="4050532"/>
                <a:ext cx="325943" cy="241647"/>
              </a:xfrm>
              <a:custGeom>
                <a:avLst/>
                <a:gdLst>
                  <a:gd name="T0" fmla="*/ 32 w 49"/>
                  <a:gd name="T1" fmla="*/ 33 h 36"/>
                  <a:gd name="T2" fmla="*/ 49 w 49"/>
                  <a:gd name="T3" fmla="*/ 26 h 36"/>
                  <a:gd name="T4" fmla="*/ 49 w 49"/>
                  <a:gd name="T5" fmla="*/ 0 h 36"/>
                  <a:gd name="T6" fmla="*/ 1 w 49"/>
                  <a:gd name="T7" fmla="*/ 6 h 36"/>
                  <a:gd name="T8" fmla="*/ 0 w 49"/>
                  <a:gd name="T9" fmla="*/ 35 h 36"/>
                  <a:gd name="T10" fmla="*/ 32 w 49"/>
                  <a:gd name="T11" fmla="*/ 33 h 36"/>
                </a:gdLst>
                <a:ahLst/>
                <a:cxnLst>
                  <a:cxn ang="0">
                    <a:pos x="T0" y="T1"/>
                  </a:cxn>
                  <a:cxn ang="0">
                    <a:pos x="T2" y="T3"/>
                  </a:cxn>
                  <a:cxn ang="0">
                    <a:pos x="T4" y="T5"/>
                  </a:cxn>
                  <a:cxn ang="0">
                    <a:pos x="T6" y="T7"/>
                  </a:cxn>
                  <a:cxn ang="0">
                    <a:pos x="T8" y="T9"/>
                  </a:cxn>
                  <a:cxn ang="0">
                    <a:pos x="T10" y="T11"/>
                  </a:cxn>
                </a:cxnLst>
                <a:rect l="0" t="0" r="r" b="b"/>
                <a:pathLst>
                  <a:path w="49" h="36">
                    <a:moveTo>
                      <a:pt x="32" y="33"/>
                    </a:moveTo>
                    <a:cubicBezTo>
                      <a:pt x="36" y="32"/>
                      <a:pt x="42" y="29"/>
                      <a:pt x="49" y="26"/>
                    </a:cubicBezTo>
                    <a:cubicBezTo>
                      <a:pt x="49" y="0"/>
                      <a:pt x="49" y="0"/>
                      <a:pt x="49" y="0"/>
                    </a:cubicBezTo>
                    <a:cubicBezTo>
                      <a:pt x="37" y="1"/>
                      <a:pt x="16" y="4"/>
                      <a:pt x="1" y="6"/>
                    </a:cubicBezTo>
                    <a:cubicBezTo>
                      <a:pt x="0" y="35"/>
                      <a:pt x="0" y="35"/>
                      <a:pt x="0" y="35"/>
                    </a:cubicBezTo>
                    <a:cubicBezTo>
                      <a:pt x="9" y="36"/>
                      <a:pt x="22" y="36"/>
                      <a:pt x="32" y="33"/>
                    </a:cubicBezTo>
                    <a:close/>
                  </a:path>
                </a:pathLst>
              </a:custGeom>
              <a:solidFill>
                <a:srgbClr val="E26C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1" name="任意多边形 262"/>
              <p:cNvSpPr/>
              <p:nvPr/>
            </p:nvSpPr>
            <p:spPr bwMode="auto">
              <a:xfrm>
                <a:off x="5433685" y="2550070"/>
                <a:ext cx="1244766" cy="1708392"/>
              </a:xfrm>
              <a:custGeom>
                <a:avLst/>
                <a:gdLst>
                  <a:gd name="T0" fmla="*/ 72 w 186"/>
                  <a:gd name="T1" fmla="*/ 248 h 256"/>
                  <a:gd name="T2" fmla="*/ 72 w 186"/>
                  <a:gd name="T3" fmla="*/ 248 h 256"/>
                  <a:gd name="T4" fmla="*/ 8 w 186"/>
                  <a:gd name="T5" fmla="*/ 157 h 256"/>
                  <a:gd name="T6" fmla="*/ 22 w 186"/>
                  <a:gd name="T7" fmla="*/ 72 h 256"/>
                  <a:gd name="T8" fmla="*/ 114 w 186"/>
                  <a:gd name="T9" fmla="*/ 8 h 256"/>
                  <a:gd name="T10" fmla="*/ 114 w 186"/>
                  <a:gd name="T11" fmla="*/ 8 h 256"/>
                  <a:gd name="T12" fmla="*/ 179 w 186"/>
                  <a:gd name="T13" fmla="*/ 99 h 256"/>
                  <a:gd name="T14" fmla="*/ 164 w 186"/>
                  <a:gd name="T15" fmla="*/ 184 h 256"/>
                  <a:gd name="T16" fmla="*/ 72 w 186"/>
                  <a:gd name="T17"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6" h="256">
                    <a:moveTo>
                      <a:pt x="72" y="248"/>
                    </a:moveTo>
                    <a:cubicBezTo>
                      <a:pt x="72" y="248"/>
                      <a:pt x="72" y="248"/>
                      <a:pt x="72" y="248"/>
                    </a:cubicBezTo>
                    <a:cubicBezTo>
                      <a:pt x="29" y="241"/>
                      <a:pt x="0" y="200"/>
                      <a:pt x="8" y="157"/>
                    </a:cubicBezTo>
                    <a:cubicBezTo>
                      <a:pt x="22" y="72"/>
                      <a:pt x="22" y="72"/>
                      <a:pt x="22" y="72"/>
                    </a:cubicBezTo>
                    <a:cubicBezTo>
                      <a:pt x="30" y="29"/>
                      <a:pt x="71" y="0"/>
                      <a:pt x="114" y="8"/>
                    </a:cubicBezTo>
                    <a:cubicBezTo>
                      <a:pt x="114" y="8"/>
                      <a:pt x="114" y="8"/>
                      <a:pt x="114" y="8"/>
                    </a:cubicBezTo>
                    <a:cubicBezTo>
                      <a:pt x="157" y="15"/>
                      <a:pt x="186" y="56"/>
                      <a:pt x="179" y="99"/>
                    </a:cubicBezTo>
                    <a:cubicBezTo>
                      <a:pt x="164" y="184"/>
                      <a:pt x="164" y="184"/>
                      <a:pt x="164" y="184"/>
                    </a:cubicBezTo>
                    <a:cubicBezTo>
                      <a:pt x="156" y="227"/>
                      <a:pt x="115" y="256"/>
                      <a:pt x="72" y="248"/>
                    </a:cubicBezTo>
                    <a:close/>
                  </a:path>
                </a:pathLst>
              </a:custGeom>
              <a:solidFill>
                <a:srgbClr val="E26C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2" name="任意多边形 263"/>
              <p:cNvSpPr/>
              <p:nvPr/>
            </p:nvSpPr>
            <p:spPr bwMode="auto">
              <a:xfrm>
                <a:off x="5433685" y="2541641"/>
                <a:ext cx="1129562" cy="1697152"/>
              </a:xfrm>
              <a:custGeom>
                <a:avLst/>
                <a:gdLst>
                  <a:gd name="T0" fmla="*/ 61 w 169"/>
                  <a:gd name="T1" fmla="*/ 247 h 254"/>
                  <a:gd name="T2" fmla="*/ 61 w 169"/>
                  <a:gd name="T3" fmla="*/ 247 h 254"/>
                  <a:gd name="T4" fmla="*/ 7 w 169"/>
                  <a:gd name="T5" fmla="*/ 165 h 254"/>
                  <a:gd name="T6" fmla="*/ 19 w 169"/>
                  <a:gd name="T7" fmla="*/ 66 h 254"/>
                  <a:gd name="T8" fmla="*/ 103 w 169"/>
                  <a:gd name="T9" fmla="*/ 7 h 254"/>
                  <a:gd name="T10" fmla="*/ 103 w 169"/>
                  <a:gd name="T11" fmla="*/ 7 h 254"/>
                  <a:gd name="T12" fmla="*/ 162 w 169"/>
                  <a:gd name="T13" fmla="*/ 91 h 254"/>
                  <a:gd name="T14" fmla="*/ 145 w 169"/>
                  <a:gd name="T15" fmla="*/ 188 h 254"/>
                  <a:gd name="T16" fmla="*/ 61 w 169"/>
                  <a:gd name="T17" fmla="*/ 247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254">
                    <a:moveTo>
                      <a:pt x="61" y="247"/>
                    </a:moveTo>
                    <a:cubicBezTo>
                      <a:pt x="61" y="247"/>
                      <a:pt x="61" y="247"/>
                      <a:pt x="61" y="247"/>
                    </a:cubicBezTo>
                    <a:cubicBezTo>
                      <a:pt x="22" y="240"/>
                      <a:pt x="0" y="204"/>
                      <a:pt x="7" y="165"/>
                    </a:cubicBezTo>
                    <a:cubicBezTo>
                      <a:pt x="19" y="66"/>
                      <a:pt x="19" y="66"/>
                      <a:pt x="19" y="66"/>
                    </a:cubicBezTo>
                    <a:cubicBezTo>
                      <a:pt x="26" y="27"/>
                      <a:pt x="63" y="0"/>
                      <a:pt x="103" y="7"/>
                    </a:cubicBezTo>
                    <a:cubicBezTo>
                      <a:pt x="103" y="7"/>
                      <a:pt x="103" y="7"/>
                      <a:pt x="103" y="7"/>
                    </a:cubicBezTo>
                    <a:cubicBezTo>
                      <a:pt x="143" y="14"/>
                      <a:pt x="169" y="52"/>
                      <a:pt x="162" y="91"/>
                    </a:cubicBezTo>
                    <a:cubicBezTo>
                      <a:pt x="145" y="188"/>
                      <a:pt x="145" y="188"/>
                      <a:pt x="145" y="188"/>
                    </a:cubicBezTo>
                    <a:cubicBezTo>
                      <a:pt x="139" y="228"/>
                      <a:pt x="101" y="254"/>
                      <a:pt x="61" y="247"/>
                    </a:cubicBezTo>
                    <a:close/>
                  </a:path>
                </a:pathLst>
              </a:custGeom>
              <a:solidFill>
                <a:srgbClr val="EF8E7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3" name="任意多边形 264"/>
              <p:cNvSpPr/>
              <p:nvPr/>
            </p:nvSpPr>
            <p:spPr bwMode="auto">
              <a:xfrm>
                <a:off x="5633185" y="3322781"/>
                <a:ext cx="140493" cy="207930"/>
              </a:xfrm>
              <a:custGeom>
                <a:avLst/>
                <a:gdLst>
                  <a:gd name="T0" fmla="*/ 1 w 21"/>
                  <a:gd name="T1" fmla="*/ 14 h 31"/>
                  <a:gd name="T2" fmla="*/ 8 w 21"/>
                  <a:gd name="T3" fmla="*/ 30 h 31"/>
                  <a:gd name="T4" fmla="*/ 19 w 21"/>
                  <a:gd name="T5" fmla="*/ 17 h 31"/>
                  <a:gd name="T6" fmla="*/ 13 w 21"/>
                  <a:gd name="T7" fmla="*/ 1 h 31"/>
                  <a:gd name="T8" fmla="*/ 1 w 21"/>
                  <a:gd name="T9" fmla="*/ 14 h 31"/>
                </a:gdLst>
                <a:ahLst/>
                <a:cxnLst>
                  <a:cxn ang="0">
                    <a:pos x="T0" y="T1"/>
                  </a:cxn>
                  <a:cxn ang="0">
                    <a:pos x="T2" y="T3"/>
                  </a:cxn>
                  <a:cxn ang="0">
                    <a:pos x="T4" y="T5"/>
                  </a:cxn>
                  <a:cxn ang="0">
                    <a:pos x="T6" y="T7"/>
                  </a:cxn>
                  <a:cxn ang="0">
                    <a:pos x="T8" y="T9"/>
                  </a:cxn>
                </a:cxnLst>
                <a:rect l="0" t="0" r="r" b="b"/>
                <a:pathLst>
                  <a:path w="21" h="31">
                    <a:moveTo>
                      <a:pt x="1" y="14"/>
                    </a:moveTo>
                    <a:cubicBezTo>
                      <a:pt x="0" y="22"/>
                      <a:pt x="3" y="29"/>
                      <a:pt x="8" y="30"/>
                    </a:cubicBezTo>
                    <a:cubicBezTo>
                      <a:pt x="13" y="31"/>
                      <a:pt x="18" y="25"/>
                      <a:pt x="19" y="17"/>
                    </a:cubicBezTo>
                    <a:cubicBezTo>
                      <a:pt x="21" y="9"/>
                      <a:pt x="18" y="2"/>
                      <a:pt x="13" y="1"/>
                    </a:cubicBezTo>
                    <a:cubicBezTo>
                      <a:pt x="8" y="0"/>
                      <a:pt x="3" y="6"/>
                      <a:pt x="1" y="14"/>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4" name="任意多边形 265"/>
              <p:cNvSpPr/>
              <p:nvPr/>
            </p:nvSpPr>
            <p:spPr bwMode="auto">
              <a:xfrm>
                <a:off x="6122098" y="3415505"/>
                <a:ext cx="140493" cy="207930"/>
              </a:xfrm>
              <a:custGeom>
                <a:avLst/>
                <a:gdLst>
                  <a:gd name="T0" fmla="*/ 1 w 21"/>
                  <a:gd name="T1" fmla="*/ 14 h 31"/>
                  <a:gd name="T2" fmla="*/ 8 w 21"/>
                  <a:gd name="T3" fmla="*/ 30 h 31"/>
                  <a:gd name="T4" fmla="*/ 19 w 21"/>
                  <a:gd name="T5" fmla="*/ 17 h 31"/>
                  <a:gd name="T6" fmla="*/ 13 w 21"/>
                  <a:gd name="T7" fmla="*/ 1 h 31"/>
                  <a:gd name="T8" fmla="*/ 1 w 21"/>
                  <a:gd name="T9" fmla="*/ 14 h 31"/>
                </a:gdLst>
                <a:ahLst/>
                <a:cxnLst>
                  <a:cxn ang="0">
                    <a:pos x="T0" y="T1"/>
                  </a:cxn>
                  <a:cxn ang="0">
                    <a:pos x="T2" y="T3"/>
                  </a:cxn>
                  <a:cxn ang="0">
                    <a:pos x="T4" y="T5"/>
                  </a:cxn>
                  <a:cxn ang="0">
                    <a:pos x="T6" y="T7"/>
                  </a:cxn>
                  <a:cxn ang="0">
                    <a:pos x="T8" y="T9"/>
                  </a:cxn>
                </a:cxnLst>
                <a:rect l="0" t="0" r="r" b="b"/>
                <a:pathLst>
                  <a:path w="21" h="31">
                    <a:moveTo>
                      <a:pt x="1" y="14"/>
                    </a:moveTo>
                    <a:cubicBezTo>
                      <a:pt x="0" y="22"/>
                      <a:pt x="3" y="29"/>
                      <a:pt x="8" y="30"/>
                    </a:cubicBezTo>
                    <a:cubicBezTo>
                      <a:pt x="13" y="31"/>
                      <a:pt x="18" y="25"/>
                      <a:pt x="19" y="17"/>
                    </a:cubicBezTo>
                    <a:cubicBezTo>
                      <a:pt x="21" y="9"/>
                      <a:pt x="18" y="2"/>
                      <a:pt x="13" y="1"/>
                    </a:cubicBezTo>
                    <a:cubicBezTo>
                      <a:pt x="8" y="0"/>
                      <a:pt x="3" y="6"/>
                      <a:pt x="1" y="14"/>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5" name="任意多边形 266"/>
              <p:cNvSpPr/>
              <p:nvPr/>
            </p:nvSpPr>
            <p:spPr bwMode="auto">
              <a:xfrm>
                <a:off x="6442422" y="3468894"/>
                <a:ext cx="368092" cy="455196"/>
              </a:xfrm>
              <a:custGeom>
                <a:avLst/>
                <a:gdLst>
                  <a:gd name="T0" fmla="*/ 5 w 55"/>
                  <a:gd name="T1" fmla="*/ 29 h 68"/>
                  <a:gd name="T2" fmla="*/ 17 w 55"/>
                  <a:gd name="T3" fmla="*/ 65 h 68"/>
                  <a:gd name="T4" fmla="*/ 50 w 55"/>
                  <a:gd name="T5" fmla="*/ 39 h 68"/>
                  <a:gd name="T6" fmla="*/ 38 w 55"/>
                  <a:gd name="T7" fmla="*/ 3 h 68"/>
                  <a:gd name="T8" fmla="*/ 5 w 55"/>
                  <a:gd name="T9" fmla="*/ 29 h 68"/>
                </a:gdLst>
                <a:ahLst/>
                <a:cxnLst>
                  <a:cxn ang="0">
                    <a:pos x="T0" y="T1"/>
                  </a:cxn>
                  <a:cxn ang="0">
                    <a:pos x="T2" y="T3"/>
                  </a:cxn>
                  <a:cxn ang="0">
                    <a:pos x="T4" y="T5"/>
                  </a:cxn>
                  <a:cxn ang="0">
                    <a:pos x="T6" y="T7"/>
                  </a:cxn>
                  <a:cxn ang="0">
                    <a:pos x="T8" y="T9"/>
                  </a:cxn>
                </a:cxnLst>
                <a:rect l="0" t="0" r="r" b="b"/>
                <a:pathLst>
                  <a:path w="55" h="68">
                    <a:moveTo>
                      <a:pt x="5" y="29"/>
                    </a:moveTo>
                    <a:cubicBezTo>
                      <a:pt x="0" y="47"/>
                      <a:pt x="5" y="63"/>
                      <a:pt x="17" y="65"/>
                    </a:cubicBezTo>
                    <a:cubicBezTo>
                      <a:pt x="29" y="68"/>
                      <a:pt x="44" y="56"/>
                      <a:pt x="50" y="39"/>
                    </a:cubicBezTo>
                    <a:cubicBezTo>
                      <a:pt x="55" y="21"/>
                      <a:pt x="50" y="5"/>
                      <a:pt x="38" y="3"/>
                    </a:cubicBezTo>
                    <a:cubicBezTo>
                      <a:pt x="26" y="0"/>
                      <a:pt x="11" y="12"/>
                      <a:pt x="5" y="29"/>
                    </a:cubicBezTo>
                    <a:close/>
                  </a:path>
                </a:pathLst>
              </a:custGeom>
              <a:solidFill>
                <a:srgbClr val="E26C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7" name="任意多边形 267"/>
              <p:cNvSpPr/>
              <p:nvPr/>
            </p:nvSpPr>
            <p:spPr bwMode="auto">
              <a:xfrm>
                <a:off x="5487072" y="2420817"/>
                <a:ext cx="1371209" cy="1123941"/>
              </a:xfrm>
              <a:custGeom>
                <a:avLst/>
                <a:gdLst>
                  <a:gd name="T0" fmla="*/ 3 w 205"/>
                  <a:gd name="T1" fmla="*/ 60 h 168"/>
                  <a:gd name="T2" fmla="*/ 3 w 205"/>
                  <a:gd name="T3" fmla="*/ 54 h 168"/>
                  <a:gd name="T4" fmla="*/ 8 w 205"/>
                  <a:gd name="T5" fmla="*/ 43 h 168"/>
                  <a:gd name="T6" fmla="*/ 23 w 205"/>
                  <a:gd name="T7" fmla="*/ 24 h 168"/>
                  <a:gd name="T8" fmla="*/ 36 w 205"/>
                  <a:gd name="T9" fmla="*/ 16 h 168"/>
                  <a:gd name="T10" fmla="*/ 169 w 205"/>
                  <a:gd name="T11" fmla="*/ 35 h 168"/>
                  <a:gd name="T12" fmla="*/ 172 w 205"/>
                  <a:gd name="T13" fmla="*/ 41 h 168"/>
                  <a:gd name="T14" fmla="*/ 200 w 205"/>
                  <a:gd name="T15" fmla="*/ 82 h 168"/>
                  <a:gd name="T16" fmla="*/ 205 w 205"/>
                  <a:gd name="T17" fmla="*/ 93 h 168"/>
                  <a:gd name="T18" fmla="*/ 205 w 205"/>
                  <a:gd name="T19" fmla="*/ 102 h 168"/>
                  <a:gd name="T20" fmla="*/ 181 w 205"/>
                  <a:gd name="T21" fmla="*/ 157 h 168"/>
                  <a:gd name="T22" fmla="*/ 173 w 205"/>
                  <a:gd name="T23" fmla="*/ 163 h 168"/>
                  <a:gd name="T24" fmla="*/ 169 w 205"/>
                  <a:gd name="T25" fmla="*/ 164 h 168"/>
                  <a:gd name="T26" fmla="*/ 149 w 205"/>
                  <a:gd name="T27" fmla="*/ 157 h 168"/>
                  <a:gd name="T28" fmla="*/ 149 w 205"/>
                  <a:gd name="T29" fmla="*/ 157 h 168"/>
                  <a:gd name="T30" fmla="*/ 148 w 205"/>
                  <a:gd name="T31" fmla="*/ 156 h 168"/>
                  <a:gd name="T32" fmla="*/ 144 w 205"/>
                  <a:gd name="T33" fmla="*/ 116 h 168"/>
                  <a:gd name="T34" fmla="*/ 126 w 205"/>
                  <a:gd name="T35" fmla="*/ 99 h 168"/>
                  <a:gd name="T36" fmla="*/ 6 w 205"/>
                  <a:gd name="T37" fmla="*/ 104 h 168"/>
                  <a:gd name="T38" fmla="*/ 1 w 205"/>
                  <a:gd name="T39" fmla="*/ 87 h 168"/>
                  <a:gd name="T40" fmla="*/ 0 w 205"/>
                  <a:gd name="T41" fmla="*/ 78 h 168"/>
                  <a:gd name="T42" fmla="*/ 3 w 205"/>
                  <a:gd name="T43" fmla="*/ 6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5" h="168">
                    <a:moveTo>
                      <a:pt x="3" y="60"/>
                    </a:moveTo>
                    <a:cubicBezTo>
                      <a:pt x="3" y="58"/>
                      <a:pt x="3" y="56"/>
                      <a:pt x="3" y="54"/>
                    </a:cubicBezTo>
                    <a:cubicBezTo>
                      <a:pt x="3" y="50"/>
                      <a:pt x="5" y="46"/>
                      <a:pt x="8" y="43"/>
                    </a:cubicBezTo>
                    <a:cubicBezTo>
                      <a:pt x="13" y="37"/>
                      <a:pt x="18" y="31"/>
                      <a:pt x="23" y="24"/>
                    </a:cubicBezTo>
                    <a:cubicBezTo>
                      <a:pt x="25" y="19"/>
                      <a:pt x="30" y="16"/>
                      <a:pt x="36" y="16"/>
                    </a:cubicBezTo>
                    <a:cubicBezTo>
                      <a:pt x="95" y="18"/>
                      <a:pt x="138" y="0"/>
                      <a:pt x="169" y="35"/>
                    </a:cubicBezTo>
                    <a:cubicBezTo>
                      <a:pt x="170" y="37"/>
                      <a:pt x="171" y="39"/>
                      <a:pt x="172" y="41"/>
                    </a:cubicBezTo>
                    <a:cubicBezTo>
                      <a:pt x="176" y="57"/>
                      <a:pt x="187" y="71"/>
                      <a:pt x="200" y="82"/>
                    </a:cubicBezTo>
                    <a:cubicBezTo>
                      <a:pt x="203" y="85"/>
                      <a:pt x="205" y="89"/>
                      <a:pt x="205" y="93"/>
                    </a:cubicBezTo>
                    <a:cubicBezTo>
                      <a:pt x="205" y="96"/>
                      <a:pt x="205" y="99"/>
                      <a:pt x="205" y="102"/>
                    </a:cubicBezTo>
                    <a:cubicBezTo>
                      <a:pt x="205" y="123"/>
                      <a:pt x="188" y="147"/>
                      <a:pt x="181" y="157"/>
                    </a:cubicBezTo>
                    <a:cubicBezTo>
                      <a:pt x="179" y="160"/>
                      <a:pt x="176" y="162"/>
                      <a:pt x="173" y="163"/>
                    </a:cubicBezTo>
                    <a:cubicBezTo>
                      <a:pt x="172" y="163"/>
                      <a:pt x="171" y="164"/>
                      <a:pt x="169" y="164"/>
                    </a:cubicBezTo>
                    <a:cubicBezTo>
                      <a:pt x="162" y="168"/>
                      <a:pt x="152" y="165"/>
                      <a:pt x="149" y="157"/>
                    </a:cubicBezTo>
                    <a:cubicBezTo>
                      <a:pt x="149" y="157"/>
                      <a:pt x="149" y="157"/>
                      <a:pt x="149" y="157"/>
                    </a:cubicBezTo>
                    <a:cubicBezTo>
                      <a:pt x="148" y="156"/>
                      <a:pt x="148" y="156"/>
                      <a:pt x="148" y="156"/>
                    </a:cubicBezTo>
                    <a:cubicBezTo>
                      <a:pt x="147" y="152"/>
                      <a:pt x="142" y="136"/>
                      <a:pt x="144" y="116"/>
                    </a:cubicBezTo>
                    <a:cubicBezTo>
                      <a:pt x="145" y="106"/>
                      <a:pt x="136" y="97"/>
                      <a:pt x="126" y="99"/>
                    </a:cubicBezTo>
                    <a:cubicBezTo>
                      <a:pt x="102" y="103"/>
                      <a:pt x="61" y="108"/>
                      <a:pt x="6" y="104"/>
                    </a:cubicBezTo>
                    <a:cubicBezTo>
                      <a:pt x="5" y="98"/>
                      <a:pt x="3" y="92"/>
                      <a:pt x="1" y="87"/>
                    </a:cubicBezTo>
                    <a:cubicBezTo>
                      <a:pt x="0" y="84"/>
                      <a:pt x="0" y="81"/>
                      <a:pt x="0" y="78"/>
                    </a:cubicBezTo>
                    <a:cubicBezTo>
                      <a:pt x="2" y="72"/>
                      <a:pt x="3" y="66"/>
                      <a:pt x="3" y="60"/>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8" name="任意多边形 268"/>
              <p:cNvSpPr/>
              <p:nvPr/>
            </p:nvSpPr>
            <p:spPr bwMode="auto">
              <a:xfrm>
                <a:off x="5621945" y="3783597"/>
                <a:ext cx="421479" cy="207930"/>
              </a:xfrm>
              <a:custGeom>
                <a:avLst/>
                <a:gdLst>
                  <a:gd name="T0" fmla="*/ 42 w 63"/>
                  <a:gd name="T1" fmla="*/ 20 h 31"/>
                  <a:gd name="T2" fmla="*/ 56 w 63"/>
                  <a:gd name="T3" fmla="*/ 25 h 31"/>
                  <a:gd name="T4" fmla="*/ 63 w 63"/>
                  <a:gd name="T5" fmla="*/ 7 h 31"/>
                  <a:gd name="T6" fmla="*/ 26 w 63"/>
                  <a:gd name="T7" fmla="*/ 9 h 31"/>
                  <a:gd name="T8" fmla="*/ 1 w 63"/>
                  <a:gd name="T9" fmla="*/ 0 h 31"/>
                  <a:gd name="T10" fmla="*/ 14 w 63"/>
                  <a:gd name="T11" fmla="*/ 31 h 31"/>
                  <a:gd name="T12" fmla="*/ 42 w 63"/>
                  <a:gd name="T13" fmla="*/ 20 h 31"/>
                </a:gdLst>
                <a:ahLst/>
                <a:cxnLst>
                  <a:cxn ang="0">
                    <a:pos x="T0" y="T1"/>
                  </a:cxn>
                  <a:cxn ang="0">
                    <a:pos x="T2" y="T3"/>
                  </a:cxn>
                  <a:cxn ang="0">
                    <a:pos x="T4" y="T5"/>
                  </a:cxn>
                  <a:cxn ang="0">
                    <a:pos x="T6" y="T7"/>
                  </a:cxn>
                  <a:cxn ang="0">
                    <a:pos x="T8" y="T9"/>
                  </a:cxn>
                  <a:cxn ang="0">
                    <a:pos x="T10" y="T11"/>
                  </a:cxn>
                  <a:cxn ang="0">
                    <a:pos x="T12" y="T13"/>
                  </a:cxn>
                </a:cxnLst>
                <a:rect l="0" t="0" r="r" b="b"/>
                <a:pathLst>
                  <a:path w="63" h="31">
                    <a:moveTo>
                      <a:pt x="42" y="20"/>
                    </a:moveTo>
                    <a:cubicBezTo>
                      <a:pt x="48" y="21"/>
                      <a:pt x="52" y="23"/>
                      <a:pt x="56" y="25"/>
                    </a:cubicBezTo>
                    <a:cubicBezTo>
                      <a:pt x="62" y="17"/>
                      <a:pt x="63" y="7"/>
                      <a:pt x="63" y="7"/>
                    </a:cubicBezTo>
                    <a:cubicBezTo>
                      <a:pt x="63" y="7"/>
                      <a:pt x="40" y="13"/>
                      <a:pt x="26" y="9"/>
                    </a:cubicBezTo>
                    <a:cubicBezTo>
                      <a:pt x="12" y="6"/>
                      <a:pt x="1" y="0"/>
                      <a:pt x="1" y="0"/>
                    </a:cubicBezTo>
                    <a:cubicBezTo>
                      <a:pt x="1" y="0"/>
                      <a:pt x="0" y="21"/>
                      <a:pt x="14" y="31"/>
                    </a:cubicBezTo>
                    <a:cubicBezTo>
                      <a:pt x="19" y="24"/>
                      <a:pt x="27" y="18"/>
                      <a:pt x="42" y="20"/>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80" name="任意多边形 269"/>
              <p:cNvSpPr/>
              <p:nvPr/>
            </p:nvSpPr>
            <p:spPr bwMode="auto">
              <a:xfrm>
                <a:off x="5714671" y="3904420"/>
                <a:ext cx="280985" cy="132064"/>
              </a:xfrm>
              <a:custGeom>
                <a:avLst/>
                <a:gdLst>
                  <a:gd name="T0" fmla="*/ 42 w 42"/>
                  <a:gd name="T1" fmla="*/ 7 h 20"/>
                  <a:gd name="T2" fmla="*/ 28 w 42"/>
                  <a:gd name="T3" fmla="*/ 2 h 20"/>
                  <a:gd name="T4" fmla="*/ 0 w 42"/>
                  <a:gd name="T5" fmla="*/ 13 h 20"/>
                  <a:gd name="T6" fmla="*/ 14 w 42"/>
                  <a:gd name="T7" fmla="*/ 19 h 20"/>
                  <a:gd name="T8" fmla="*/ 42 w 42"/>
                  <a:gd name="T9" fmla="*/ 7 h 20"/>
                </a:gdLst>
                <a:ahLst/>
                <a:cxnLst>
                  <a:cxn ang="0">
                    <a:pos x="T0" y="T1"/>
                  </a:cxn>
                  <a:cxn ang="0">
                    <a:pos x="T2" y="T3"/>
                  </a:cxn>
                  <a:cxn ang="0">
                    <a:pos x="T4" y="T5"/>
                  </a:cxn>
                  <a:cxn ang="0">
                    <a:pos x="T6" y="T7"/>
                  </a:cxn>
                  <a:cxn ang="0">
                    <a:pos x="T8" y="T9"/>
                  </a:cxn>
                </a:cxnLst>
                <a:rect l="0" t="0" r="r" b="b"/>
                <a:pathLst>
                  <a:path w="42" h="20">
                    <a:moveTo>
                      <a:pt x="42" y="7"/>
                    </a:moveTo>
                    <a:cubicBezTo>
                      <a:pt x="38" y="5"/>
                      <a:pt x="34" y="3"/>
                      <a:pt x="28" y="2"/>
                    </a:cubicBezTo>
                    <a:cubicBezTo>
                      <a:pt x="13" y="0"/>
                      <a:pt x="5" y="6"/>
                      <a:pt x="0" y="13"/>
                    </a:cubicBezTo>
                    <a:cubicBezTo>
                      <a:pt x="3" y="16"/>
                      <a:pt x="8" y="18"/>
                      <a:pt x="14" y="19"/>
                    </a:cubicBezTo>
                    <a:cubicBezTo>
                      <a:pt x="28" y="20"/>
                      <a:pt x="37" y="14"/>
                      <a:pt x="42" y="7"/>
                    </a:cubicBezTo>
                    <a:close/>
                  </a:path>
                </a:pathLst>
              </a:custGeom>
              <a:solidFill>
                <a:srgbClr val="FF979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83" name="任意多边形 270"/>
              <p:cNvSpPr/>
              <p:nvPr/>
            </p:nvSpPr>
            <p:spPr bwMode="auto">
              <a:xfrm>
                <a:off x="5613516" y="3210386"/>
                <a:ext cx="179830" cy="59007"/>
              </a:xfrm>
              <a:custGeom>
                <a:avLst/>
                <a:gdLst>
                  <a:gd name="T0" fmla="*/ 2 w 27"/>
                  <a:gd name="T1" fmla="*/ 9 h 9"/>
                  <a:gd name="T2" fmla="*/ 3 w 27"/>
                  <a:gd name="T3" fmla="*/ 9 h 9"/>
                  <a:gd name="T4" fmla="*/ 24 w 27"/>
                  <a:gd name="T5" fmla="*/ 8 h 9"/>
                  <a:gd name="T6" fmla="*/ 26 w 27"/>
                  <a:gd name="T7" fmla="*/ 7 h 9"/>
                  <a:gd name="T8" fmla="*/ 25 w 27"/>
                  <a:gd name="T9" fmla="*/ 4 h 9"/>
                  <a:gd name="T10" fmla="*/ 2 w 27"/>
                  <a:gd name="T11" fmla="*/ 5 h 9"/>
                  <a:gd name="T12" fmla="*/ 1 w 27"/>
                  <a:gd name="T13" fmla="*/ 7 h 9"/>
                  <a:gd name="T14" fmla="*/ 2 w 27"/>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9">
                    <a:moveTo>
                      <a:pt x="2" y="9"/>
                    </a:moveTo>
                    <a:cubicBezTo>
                      <a:pt x="2" y="9"/>
                      <a:pt x="3" y="9"/>
                      <a:pt x="3" y="9"/>
                    </a:cubicBezTo>
                    <a:cubicBezTo>
                      <a:pt x="13" y="5"/>
                      <a:pt x="23" y="8"/>
                      <a:pt x="24" y="8"/>
                    </a:cubicBezTo>
                    <a:cubicBezTo>
                      <a:pt x="25" y="9"/>
                      <a:pt x="26" y="8"/>
                      <a:pt x="26" y="7"/>
                    </a:cubicBezTo>
                    <a:cubicBezTo>
                      <a:pt x="27" y="6"/>
                      <a:pt x="26" y="5"/>
                      <a:pt x="25" y="4"/>
                    </a:cubicBezTo>
                    <a:cubicBezTo>
                      <a:pt x="24" y="4"/>
                      <a:pt x="14" y="0"/>
                      <a:pt x="2" y="5"/>
                    </a:cubicBezTo>
                    <a:cubicBezTo>
                      <a:pt x="1" y="5"/>
                      <a:pt x="0" y="6"/>
                      <a:pt x="1" y="7"/>
                    </a:cubicBezTo>
                    <a:cubicBezTo>
                      <a:pt x="1" y="8"/>
                      <a:pt x="1" y="8"/>
                      <a:pt x="2" y="9"/>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84" name="任意多边形 271"/>
              <p:cNvSpPr/>
              <p:nvPr/>
            </p:nvSpPr>
            <p:spPr bwMode="auto">
              <a:xfrm>
                <a:off x="6169867" y="3308730"/>
                <a:ext cx="165782" cy="87107"/>
              </a:xfrm>
              <a:custGeom>
                <a:avLst/>
                <a:gdLst>
                  <a:gd name="T0" fmla="*/ 23 w 25"/>
                  <a:gd name="T1" fmla="*/ 13 h 13"/>
                  <a:gd name="T2" fmla="*/ 24 w 25"/>
                  <a:gd name="T3" fmla="*/ 13 h 13"/>
                  <a:gd name="T4" fmla="*/ 24 w 25"/>
                  <a:gd name="T5" fmla="*/ 10 h 13"/>
                  <a:gd name="T6" fmla="*/ 3 w 25"/>
                  <a:gd name="T7" fmla="*/ 0 h 13"/>
                  <a:gd name="T8" fmla="*/ 0 w 25"/>
                  <a:gd name="T9" fmla="*/ 2 h 13"/>
                  <a:gd name="T10" fmla="*/ 2 w 25"/>
                  <a:gd name="T11" fmla="*/ 5 h 13"/>
                  <a:gd name="T12" fmla="*/ 21 w 25"/>
                  <a:gd name="T13" fmla="*/ 13 h 13"/>
                  <a:gd name="T14" fmla="*/ 23 w 25"/>
                  <a:gd name="T15" fmla="*/ 1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13">
                    <a:moveTo>
                      <a:pt x="23" y="13"/>
                    </a:moveTo>
                    <a:cubicBezTo>
                      <a:pt x="23" y="13"/>
                      <a:pt x="24" y="13"/>
                      <a:pt x="24" y="13"/>
                    </a:cubicBezTo>
                    <a:cubicBezTo>
                      <a:pt x="25" y="12"/>
                      <a:pt x="25" y="10"/>
                      <a:pt x="24" y="10"/>
                    </a:cubicBezTo>
                    <a:cubicBezTo>
                      <a:pt x="15" y="1"/>
                      <a:pt x="3" y="0"/>
                      <a:pt x="3" y="0"/>
                    </a:cubicBezTo>
                    <a:cubicBezTo>
                      <a:pt x="2" y="0"/>
                      <a:pt x="1" y="1"/>
                      <a:pt x="0" y="2"/>
                    </a:cubicBezTo>
                    <a:cubicBezTo>
                      <a:pt x="0" y="3"/>
                      <a:pt x="1" y="5"/>
                      <a:pt x="2" y="5"/>
                    </a:cubicBezTo>
                    <a:cubicBezTo>
                      <a:pt x="3" y="5"/>
                      <a:pt x="13" y="5"/>
                      <a:pt x="21" y="13"/>
                    </a:cubicBezTo>
                    <a:cubicBezTo>
                      <a:pt x="21" y="13"/>
                      <a:pt x="22" y="13"/>
                      <a:pt x="23" y="13"/>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86" name="任意多边形 272"/>
              <p:cNvSpPr/>
              <p:nvPr/>
            </p:nvSpPr>
            <p:spPr bwMode="auto">
              <a:xfrm>
                <a:off x="5768057" y="3370547"/>
                <a:ext cx="188260" cy="314704"/>
              </a:xfrm>
              <a:custGeom>
                <a:avLst/>
                <a:gdLst>
                  <a:gd name="T0" fmla="*/ 14 w 28"/>
                  <a:gd name="T1" fmla="*/ 47 h 47"/>
                  <a:gd name="T2" fmla="*/ 16 w 28"/>
                  <a:gd name="T3" fmla="*/ 45 h 47"/>
                  <a:gd name="T4" fmla="*/ 14 w 28"/>
                  <a:gd name="T5" fmla="*/ 43 h 47"/>
                  <a:gd name="T6" fmla="*/ 5 w 28"/>
                  <a:gd name="T7" fmla="*/ 39 h 47"/>
                  <a:gd name="T8" fmla="*/ 5 w 28"/>
                  <a:gd name="T9" fmla="*/ 34 h 47"/>
                  <a:gd name="T10" fmla="*/ 8 w 28"/>
                  <a:gd name="T11" fmla="*/ 31 h 47"/>
                  <a:gd name="T12" fmla="*/ 16 w 28"/>
                  <a:gd name="T13" fmla="*/ 32 h 47"/>
                  <a:gd name="T14" fmla="*/ 18 w 28"/>
                  <a:gd name="T15" fmla="*/ 32 h 47"/>
                  <a:gd name="T16" fmla="*/ 19 w 28"/>
                  <a:gd name="T17" fmla="*/ 31 h 47"/>
                  <a:gd name="T18" fmla="*/ 28 w 28"/>
                  <a:gd name="T19" fmla="*/ 3 h 47"/>
                  <a:gd name="T20" fmla="*/ 27 w 28"/>
                  <a:gd name="T21" fmla="*/ 0 h 47"/>
                  <a:gd name="T22" fmla="*/ 24 w 28"/>
                  <a:gd name="T23" fmla="*/ 2 h 47"/>
                  <a:gd name="T24" fmla="*/ 16 w 28"/>
                  <a:gd name="T25" fmla="*/ 27 h 47"/>
                  <a:gd name="T26" fmla="*/ 6 w 28"/>
                  <a:gd name="T27" fmla="*/ 27 h 47"/>
                  <a:gd name="T28" fmla="*/ 1 w 28"/>
                  <a:gd name="T29" fmla="*/ 33 h 47"/>
                  <a:gd name="T30" fmla="*/ 2 w 28"/>
                  <a:gd name="T31" fmla="*/ 41 h 47"/>
                  <a:gd name="T32" fmla="*/ 13 w 28"/>
                  <a:gd name="T33" fmla="*/ 47 h 47"/>
                  <a:gd name="T34" fmla="*/ 14 w 28"/>
                  <a:gd name="T35"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47">
                    <a:moveTo>
                      <a:pt x="14" y="47"/>
                    </a:moveTo>
                    <a:cubicBezTo>
                      <a:pt x="15" y="47"/>
                      <a:pt x="16" y="46"/>
                      <a:pt x="16" y="45"/>
                    </a:cubicBezTo>
                    <a:cubicBezTo>
                      <a:pt x="16" y="44"/>
                      <a:pt x="15" y="43"/>
                      <a:pt x="14" y="43"/>
                    </a:cubicBezTo>
                    <a:cubicBezTo>
                      <a:pt x="12" y="43"/>
                      <a:pt x="7" y="42"/>
                      <a:pt x="5" y="39"/>
                    </a:cubicBezTo>
                    <a:cubicBezTo>
                      <a:pt x="4" y="38"/>
                      <a:pt x="4" y="36"/>
                      <a:pt x="5" y="34"/>
                    </a:cubicBezTo>
                    <a:cubicBezTo>
                      <a:pt x="5" y="32"/>
                      <a:pt x="6" y="31"/>
                      <a:pt x="8" y="31"/>
                    </a:cubicBezTo>
                    <a:cubicBezTo>
                      <a:pt x="11" y="29"/>
                      <a:pt x="15" y="31"/>
                      <a:pt x="16" y="32"/>
                    </a:cubicBezTo>
                    <a:cubicBezTo>
                      <a:pt x="16" y="32"/>
                      <a:pt x="17" y="32"/>
                      <a:pt x="18" y="32"/>
                    </a:cubicBezTo>
                    <a:cubicBezTo>
                      <a:pt x="18" y="32"/>
                      <a:pt x="19" y="31"/>
                      <a:pt x="19" y="31"/>
                    </a:cubicBezTo>
                    <a:cubicBezTo>
                      <a:pt x="28" y="3"/>
                      <a:pt x="28" y="3"/>
                      <a:pt x="28" y="3"/>
                    </a:cubicBezTo>
                    <a:cubicBezTo>
                      <a:pt x="28" y="2"/>
                      <a:pt x="28" y="1"/>
                      <a:pt x="27" y="0"/>
                    </a:cubicBezTo>
                    <a:cubicBezTo>
                      <a:pt x="26" y="0"/>
                      <a:pt x="24" y="1"/>
                      <a:pt x="24" y="2"/>
                    </a:cubicBezTo>
                    <a:cubicBezTo>
                      <a:pt x="16" y="27"/>
                      <a:pt x="16" y="27"/>
                      <a:pt x="16" y="27"/>
                    </a:cubicBezTo>
                    <a:cubicBezTo>
                      <a:pt x="13" y="26"/>
                      <a:pt x="10" y="25"/>
                      <a:pt x="6" y="27"/>
                    </a:cubicBezTo>
                    <a:cubicBezTo>
                      <a:pt x="4" y="28"/>
                      <a:pt x="2" y="30"/>
                      <a:pt x="1" y="33"/>
                    </a:cubicBezTo>
                    <a:cubicBezTo>
                      <a:pt x="0" y="36"/>
                      <a:pt x="0" y="39"/>
                      <a:pt x="2" y="41"/>
                    </a:cubicBezTo>
                    <a:cubicBezTo>
                      <a:pt x="5" y="46"/>
                      <a:pt x="13" y="47"/>
                      <a:pt x="13" y="47"/>
                    </a:cubicBezTo>
                    <a:cubicBezTo>
                      <a:pt x="14" y="47"/>
                      <a:pt x="14" y="47"/>
                      <a:pt x="14" y="47"/>
                    </a:cubicBezTo>
                    <a:close/>
                  </a:path>
                </a:pathLst>
              </a:custGeom>
              <a:solidFill>
                <a:srgbClr val="E26C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grpSp>
        <p:nvGrpSpPr>
          <p:cNvPr id="287" name="组合 286"/>
          <p:cNvGrpSpPr/>
          <p:nvPr/>
        </p:nvGrpSpPr>
        <p:grpSpPr>
          <a:xfrm>
            <a:off x="10171430" y="2550795"/>
            <a:ext cx="1473200" cy="303530"/>
            <a:chOff x="6063142" y="1984388"/>
            <a:chExt cx="1398340" cy="288000"/>
          </a:xfrm>
        </p:grpSpPr>
        <p:sp>
          <p:nvSpPr>
            <p:cNvPr id="290" name="文本框 289"/>
            <p:cNvSpPr txBox="1"/>
            <p:nvPr/>
          </p:nvSpPr>
          <p:spPr>
            <a:xfrm>
              <a:off x="6361240" y="2002666"/>
              <a:ext cx="1100242" cy="232642"/>
            </a:xfrm>
            <a:prstGeom prst="rect">
              <a:avLst/>
            </a:prstGeom>
            <a:noFill/>
          </p:spPr>
          <p:txBody>
            <a:bodyPr wrap="square" rtlCol="0">
              <a:spAutoFit/>
            </a:bodyPr>
            <a:lstStyle/>
            <a:p>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rPr>
                <a:t>核心高价值客户</a:t>
              </a:r>
              <a:endParaRPr lang="zh-CN" altLang="en-US" sz="10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291" name="组合 290"/>
            <p:cNvGrpSpPr>
              <a:grpSpLocks noChangeAspect="1"/>
            </p:cNvGrpSpPr>
            <p:nvPr/>
          </p:nvGrpSpPr>
          <p:grpSpPr>
            <a:xfrm>
              <a:off x="6063142" y="1984388"/>
              <a:ext cx="289104" cy="288000"/>
              <a:chOff x="4486273" y="1989700"/>
              <a:chExt cx="3219454" cy="3207158"/>
            </a:xfrm>
          </p:grpSpPr>
          <p:sp>
            <p:nvSpPr>
              <p:cNvPr id="292" name="椭圆 291"/>
              <p:cNvSpPr/>
              <p:nvPr/>
            </p:nvSpPr>
            <p:spPr bwMode="auto">
              <a:xfrm>
                <a:off x="4486273" y="1989700"/>
                <a:ext cx="3219454" cy="3207158"/>
              </a:xfrm>
              <a:prstGeom prst="ellipse">
                <a:avLst/>
              </a:pr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96" name="任意多边形 138"/>
              <p:cNvSpPr/>
              <p:nvPr/>
            </p:nvSpPr>
            <p:spPr bwMode="auto">
              <a:xfrm>
                <a:off x="5275730" y="4331532"/>
                <a:ext cx="1645793" cy="818690"/>
              </a:xfrm>
              <a:custGeom>
                <a:avLst/>
                <a:gdLst>
                  <a:gd name="connsiteX0" fmla="*/ 481083 w 980008"/>
                  <a:gd name="connsiteY0" fmla="*/ 555 h 487499"/>
                  <a:gd name="connsiteX1" fmla="*/ 496487 w 980008"/>
                  <a:gd name="connsiteY1" fmla="*/ 731 h 487499"/>
                  <a:gd name="connsiteX2" fmla="*/ 598470 w 980008"/>
                  <a:gd name="connsiteY2" fmla="*/ 30894 h 487499"/>
                  <a:gd name="connsiteX3" fmla="*/ 979963 w 980008"/>
                  <a:gd name="connsiteY3" fmla="*/ 362682 h 487499"/>
                  <a:gd name="connsiteX4" fmla="*/ 979072 w 980008"/>
                  <a:gd name="connsiteY4" fmla="*/ 369170 h 487499"/>
                  <a:gd name="connsiteX5" fmla="*/ 940771 w 980008"/>
                  <a:gd name="connsiteY5" fmla="*/ 389879 h 487499"/>
                  <a:gd name="connsiteX6" fmla="*/ 455389 w 980008"/>
                  <a:gd name="connsiteY6" fmla="*/ 487499 h 487499"/>
                  <a:gd name="connsiteX7" fmla="*/ 84575 w 980008"/>
                  <a:gd name="connsiteY7" fmla="*/ 431651 h 487499"/>
                  <a:gd name="connsiteX8" fmla="*/ 14744 w 980008"/>
                  <a:gd name="connsiteY8" fmla="*/ 406190 h 487499"/>
                  <a:gd name="connsiteX9" fmla="*/ 7699 w 980008"/>
                  <a:gd name="connsiteY9" fmla="*/ 391136 h 487499"/>
                  <a:gd name="connsiteX10" fmla="*/ 1679 w 980008"/>
                  <a:gd name="connsiteY10" fmla="*/ 362682 h 487499"/>
                  <a:gd name="connsiteX11" fmla="*/ 1679 w 980008"/>
                  <a:gd name="connsiteY11" fmla="*/ 328749 h 487499"/>
                  <a:gd name="connsiteX12" fmla="*/ 394504 w 980008"/>
                  <a:gd name="connsiteY12" fmla="*/ 23353 h 487499"/>
                  <a:gd name="connsiteX13" fmla="*/ 481083 w 980008"/>
                  <a:gd name="connsiteY13" fmla="*/ 555 h 48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0008" h="487499">
                    <a:moveTo>
                      <a:pt x="481083" y="555"/>
                    </a:moveTo>
                    <a:cubicBezTo>
                      <a:pt x="488933" y="-211"/>
                      <a:pt x="494599" y="-211"/>
                      <a:pt x="496487" y="731"/>
                    </a:cubicBezTo>
                    <a:cubicBezTo>
                      <a:pt x="507818" y="-3039"/>
                      <a:pt x="572030" y="12042"/>
                      <a:pt x="598470" y="30894"/>
                    </a:cubicBezTo>
                    <a:cubicBezTo>
                      <a:pt x="749556" y="136463"/>
                      <a:pt x="983740" y="208099"/>
                      <a:pt x="979963" y="362682"/>
                    </a:cubicBezTo>
                    <a:lnTo>
                      <a:pt x="979072" y="369170"/>
                    </a:lnTo>
                    <a:lnTo>
                      <a:pt x="940771" y="389879"/>
                    </a:lnTo>
                    <a:cubicBezTo>
                      <a:pt x="791584" y="452739"/>
                      <a:pt x="627562" y="487499"/>
                      <a:pt x="455389" y="487499"/>
                    </a:cubicBezTo>
                    <a:cubicBezTo>
                      <a:pt x="326260" y="487499"/>
                      <a:pt x="201715" y="467947"/>
                      <a:pt x="84575" y="431651"/>
                    </a:cubicBezTo>
                    <a:lnTo>
                      <a:pt x="14744" y="406190"/>
                    </a:lnTo>
                    <a:lnTo>
                      <a:pt x="7699" y="391136"/>
                    </a:lnTo>
                    <a:cubicBezTo>
                      <a:pt x="4512" y="381062"/>
                      <a:pt x="2624" y="371165"/>
                      <a:pt x="1679" y="362682"/>
                    </a:cubicBezTo>
                    <a:cubicBezTo>
                      <a:pt x="1679" y="351371"/>
                      <a:pt x="-2098" y="340060"/>
                      <a:pt x="1679" y="328749"/>
                    </a:cubicBezTo>
                    <a:cubicBezTo>
                      <a:pt x="16788" y="181707"/>
                      <a:pt x="243417" y="121381"/>
                      <a:pt x="394504" y="23353"/>
                    </a:cubicBezTo>
                    <a:cubicBezTo>
                      <a:pt x="414334" y="12042"/>
                      <a:pt x="457535" y="2852"/>
                      <a:pt x="481083" y="555"/>
                    </a:cubicBezTo>
                    <a:close/>
                  </a:path>
                </a:pathLst>
              </a:custGeom>
              <a:solidFill>
                <a:srgbClr val="7ECE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97" name="任意多边形 139"/>
              <p:cNvSpPr/>
              <p:nvPr/>
            </p:nvSpPr>
            <p:spPr bwMode="auto">
              <a:xfrm>
                <a:off x="5722761" y="4313099"/>
                <a:ext cx="722486" cy="482546"/>
              </a:xfrm>
              <a:custGeom>
                <a:avLst/>
                <a:gdLst>
                  <a:gd name="T0" fmla="*/ 8 w 114"/>
                  <a:gd name="T1" fmla="*/ 25 h 76"/>
                  <a:gd name="T2" fmla="*/ 53 w 114"/>
                  <a:gd name="T3" fmla="*/ 74 h 76"/>
                  <a:gd name="T4" fmla="*/ 114 w 114"/>
                  <a:gd name="T5" fmla="*/ 26 h 76"/>
                  <a:gd name="T6" fmla="*/ 71 w 114"/>
                  <a:gd name="T7" fmla="*/ 0 h 76"/>
                  <a:gd name="T8" fmla="*/ 39 w 114"/>
                  <a:gd name="T9" fmla="*/ 2 h 76"/>
                  <a:gd name="T10" fmla="*/ 8 w 114"/>
                  <a:gd name="T11" fmla="*/ 25 h 76"/>
                </a:gdLst>
                <a:ahLst/>
                <a:cxnLst>
                  <a:cxn ang="0">
                    <a:pos x="T0" y="T1"/>
                  </a:cxn>
                  <a:cxn ang="0">
                    <a:pos x="T2" y="T3"/>
                  </a:cxn>
                  <a:cxn ang="0">
                    <a:pos x="T4" y="T5"/>
                  </a:cxn>
                  <a:cxn ang="0">
                    <a:pos x="T6" y="T7"/>
                  </a:cxn>
                  <a:cxn ang="0">
                    <a:pos x="T8" y="T9"/>
                  </a:cxn>
                  <a:cxn ang="0">
                    <a:pos x="T10" y="T11"/>
                  </a:cxn>
                </a:cxnLst>
                <a:rect l="0" t="0" r="r" b="b"/>
                <a:pathLst>
                  <a:path w="114" h="76">
                    <a:moveTo>
                      <a:pt x="8" y="25"/>
                    </a:moveTo>
                    <a:cubicBezTo>
                      <a:pt x="8" y="25"/>
                      <a:pt x="0" y="72"/>
                      <a:pt x="53" y="74"/>
                    </a:cubicBezTo>
                    <a:cubicBezTo>
                      <a:pt x="106" y="76"/>
                      <a:pt x="114" y="26"/>
                      <a:pt x="114" y="26"/>
                    </a:cubicBezTo>
                    <a:cubicBezTo>
                      <a:pt x="71" y="0"/>
                      <a:pt x="71" y="0"/>
                      <a:pt x="71" y="0"/>
                    </a:cubicBezTo>
                    <a:cubicBezTo>
                      <a:pt x="39" y="2"/>
                      <a:pt x="39" y="2"/>
                      <a:pt x="39" y="2"/>
                    </a:cubicBezTo>
                    <a:lnTo>
                      <a:pt x="8" y="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98" name="任意多边形 140"/>
              <p:cNvSpPr/>
              <p:nvPr/>
            </p:nvSpPr>
            <p:spPr bwMode="auto">
              <a:xfrm>
                <a:off x="5925376" y="4353089"/>
                <a:ext cx="341247" cy="314587"/>
              </a:xfrm>
              <a:custGeom>
                <a:avLst/>
                <a:gdLst>
                  <a:gd name="T0" fmla="*/ 35 w 54"/>
                  <a:gd name="T1" fmla="*/ 7 h 50"/>
                  <a:gd name="T2" fmla="*/ 1 w 54"/>
                  <a:gd name="T3" fmla="*/ 10 h 50"/>
                  <a:gd name="T4" fmla="*/ 0 w 54"/>
                  <a:gd name="T5" fmla="*/ 24 h 50"/>
                  <a:gd name="T6" fmla="*/ 53 w 54"/>
                  <a:gd name="T7" fmla="*/ 25 h 50"/>
                  <a:gd name="T8" fmla="*/ 54 w 54"/>
                  <a:gd name="T9" fmla="*/ 0 h 50"/>
                  <a:gd name="T10" fmla="*/ 35 w 54"/>
                  <a:gd name="T11" fmla="*/ 7 h 50"/>
                </a:gdLst>
                <a:ahLst/>
                <a:cxnLst>
                  <a:cxn ang="0">
                    <a:pos x="T0" y="T1"/>
                  </a:cxn>
                  <a:cxn ang="0">
                    <a:pos x="T2" y="T3"/>
                  </a:cxn>
                  <a:cxn ang="0">
                    <a:pos x="T4" y="T5"/>
                  </a:cxn>
                  <a:cxn ang="0">
                    <a:pos x="T6" y="T7"/>
                  </a:cxn>
                  <a:cxn ang="0">
                    <a:pos x="T8" y="T9"/>
                  </a:cxn>
                  <a:cxn ang="0">
                    <a:pos x="T10" y="T11"/>
                  </a:cxn>
                </a:cxnLst>
                <a:rect l="0" t="0" r="r" b="b"/>
                <a:pathLst>
                  <a:path w="54" h="50">
                    <a:moveTo>
                      <a:pt x="35" y="7"/>
                    </a:moveTo>
                    <a:cubicBezTo>
                      <a:pt x="24" y="11"/>
                      <a:pt x="10" y="10"/>
                      <a:pt x="1" y="10"/>
                    </a:cubicBezTo>
                    <a:cubicBezTo>
                      <a:pt x="0" y="24"/>
                      <a:pt x="0" y="24"/>
                      <a:pt x="0" y="24"/>
                    </a:cubicBezTo>
                    <a:cubicBezTo>
                      <a:pt x="0" y="49"/>
                      <a:pt x="52" y="50"/>
                      <a:pt x="53" y="25"/>
                    </a:cubicBezTo>
                    <a:cubicBezTo>
                      <a:pt x="54" y="0"/>
                      <a:pt x="54" y="0"/>
                      <a:pt x="54" y="0"/>
                    </a:cubicBezTo>
                    <a:cubicBezTo>
                      <a:pt x="47" y="3"/>
                      <a:pt x="40" y="6"/>
                      <a:pt x="35" y="7"/>
                    </a:cubicBezTo>
                    <a:close/>
                  </a:path>
                </a:pathLst>
              </a:custGeom>
              <a:solidFill>
                <a:srgbClr val="FFC2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99" name="任意多边形 141"/>
              <p:cNvSpPr/>
              <p:nvPr/>
            </p:nvSpPr>
            <p:spPr bwMode="auto">
              <a:xfrm>
                <a:off x="5930708" y="3985181"/>
                <a:ext cx="343914" cy="221278"/>
              </a:xfrm>
              <a:custGeom>
                <a:avLst/>
                <a:gdLst>
                  <a:gd name="T0" fmla="*/ 54 w 54"/>
                  <a:gd name="T1" fmla="*/ 2 h 35"/>
                  <a:gd name="T2" fmla="*/ 1 w 54"/>
                  <a:gd name="T3" fmla="*/ 0 h 35"/>
                  <a:gd name="T4" fmla="*/ 0 w 54"/>
                  <a:gd name="T5" fmla="*/ 35 h 35"/>
                  <a:gd name="T6" fmla="*/ 53 w 54"/>
                  <a:gd name="T7" fmla="*/ 29 h 35"/>
                  <a:gd name="T8" fmla="*/ 54 w 54"/>
                  <a:gd name="T9" fmla="*/ 2 h 35"/>
                </a:gdLst>
                <a:ahLst/>
                <a:cxnLst>
                  <a:cxn ang="0">
                    <a:pos x="T0" y="T1"/>
                  </a:cxn>
                  <a:cxn ang="0">
                    <a:pos x="T2" y="T3"/>
                  </a:cxn>
                  <a:cxn ang="0">
                    <a:pos x="T4" y="T5"/>
                  </a:cxn>
                  <a:cxn ang="0">
                    <a:pos x="T6" y="T7"/>
                  </a:cxn>
                  <a:cxn ang="0">
                    <a:pos x="T8" y="T9"/>
                  </a:cxn>
                </a:cxnLst>
                <a:rect l="0" t="0" r="r" b="b"/>
                <a:pathLst>
                  <a:path w="54" h="35">
                    <a:moveTo>
                      <a:pt x="54" y="2"/>
                    </a:moveTo>
                    <a:cubicBezTo>
                      <a:pt x="1" y="0"/>
                      <a:pt x="1" y="0"/>
                      <a:pt x="1" y="0"/>
                    </a:cubicBezTo>
                    <a:cubicBezTo>
                      <a:pt x="0" y="35"/>
                      <a:pt x="0" y="35"/>
                      <a:pt x="0" y="35"/>
                    </a:cubicBezTo>
                    <a:cubicBezTo>
                      <a:pt x="17" y="34"/>
                      <a:pt x="40" y="31"/>
                      <a:pt x="53" y="29"/>
                    </a:cubicBezTo>
                    <a:lnTo>
                      <a:pt x="54" y="2"/>
                    </a:lnTo>
                    <a:close/>
                  </a:path>
                </a:pathLst>
              </a:custGeom>
              <a:solidFill>
                <a:srgbClr val="FFC2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02" name="任意多边形 142"/>
              <p:cNvSpPr/>
              <p:nvPr/>
            </p:nvSpPr>
            <p:spPr bwMode="auto">
              <a:xfrm>
                <a:off x="5930708" y="4169136"/>
                <a:ext cx="335915" cy="253270"/>
              </a:xfrm>
              <a:custGeom>
                <a:avLst/>
                <a:gdLst>
                  <a:gd name="T0" fmla="*/ 34 w 53"/>
                  <a:gd name="T1" fmla="*/ 36 h 40"/>
                  <a:gd name="T2" fmla="*/ 53 w 53"/>
                  <a:gd name="T3" fmla="*/ 29 h 40"/>
                  <a:gd name="T4" fmla="*/ 53 w 53"/>
                  <a:gd name="T5" fmla="*/ 0 h 40"/>
                  <a:gd name="T6" fmla="*/ 0 w 53"/>
                  <a:gd name="T7" fmla="*/ 6 h 40"/>
                  <a:gd name="T8" fmla="*/ 0 w 53"/>
                  <a:gd name="T9" fmla="*/ 39 h 40"/>
                  <a:gd name="T10" fmla="*/ 34 w 53"/>
                  <a:gd name="T11" fmla="*/ 36 h 40"/>
                </a:gdLst>
                <a:ahLst/>
                <a:cxnLst>
                  <a:cxn ang="0">
                    <a:pos x="T0" y="T1"/>
                  </a:cxn>
                  <a:cxn ang="0">
                    <a:pos x="T2" y="T3"/>
                  </a:cxn>
                  <a:cxn ang="0">
                    <a:pos x="T4" y="T5"/>
                  </a:cxn>
                  <a:cxn ang="0">
                    <a:pos x="T6" y="T7"/>
                  </a:cxn>
                  <a:cxn ang="0">
                    <a:pos x="T8" y="T9"/>
                  </a:cxn>
                  <a:cxn ang="0">
                    <a:pos x="T10" y="T11"/>
                  </a:cxn>
                </a:cxnLst>
                <a:rect l="0" t="0" r="r" b="b"/>
                <a:pathLst>
                  <a:path w="53" h="40">
                    <a:moveTo>
                      <a:pt x="34" y="36"/>
                    </a:moveTo>
                    <a:cubicBezTo>
                      <a:pt x="39" y="35"/>
                      <a:pt x="46" y="32"/>
                      <a:pt x="53" y="29"/>
                    </a:cubicBezTo>
                    <a:cubicBezTo>
                      <a:pt x="53" y="0"/>
                      <a:pt x="53" y="0"/>
                      <a:pt x="53" y="0"/>
                    </a:cubicBezTo>
                    <a:cubicBezTo>
                      <a:pt x="40" y="2"/>
                      <a:pt x="17" y="5"/>
                      <a:pt x="0" y="6"/>
                    </a:cubicBezTo>
                    <a:cubicBezTo>
                      <a:pt x="0" y="39"/>
                      <a:pt x="0" y="39"/>
                      <a:pt x="0" y="39"/>
                    </a:cubicBezTo>
                    <a:cubicBezTo>
                      <a:pt x="9" y="39"/>
                      <a:pt x="23" y="40"/>
                      <a:pt x="34" y="36"/>
                    </a:cubicBezTo>
                    <a:close/>
                  </a:path>
                </a:pathLst>
              </a:custGeom>
              <a:solidFill>
                <a:srgbClr val="FCA49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03" name="任意多边形 143"/>
              <p:cNvSpPr/>
              <p:nvPr/>
            </p:nvSpPr>
            <p:spPr bwMode="auto">
              <a:xfrm>
                <a:off x="5384178" y="2612194"/>
                <a:ext cx="1295674" cy="1772888"/>
              </a:xfrm>
              <a:custGeom>
                <a:avLst/>
                <a:gdLst>
                  <a:gd name="T0" fmla="*/ 79 w 204"/>
                  <a:gd name="T1" fmla="*/ 272 h 280"/>
                  <a:gd name="T2" fmla="*/ 79 w 204"/>
                  <a:gd name="T3" fmla="*/ 272 h 280"/>
                  <a:gd name="T4" fmla="*/ 8 w 204"/>
                  <a:gd name="T5" fmla="*/ 171 h 280"/>
                  <a:gd name="T6" fmla="*/ 25 w 204"/>
                  <a:gd name="T7" fmla="*/ 79 h 280"/>
                  <a:gd name="T8" fmla="*/ 125 w 204"/>
                  <a:gd name="T9" fmla="*/ 8 h 280"/>
                  <a:gd name="T10" fmla="*/ 125 w 204"/>
                  <a:gd name="T11" fmla="*/ 8 h 280"/>
                  <a:gd name="T12" fmla="*/ 195 w 204"/>
                  <a:gd name="T13" fmla="*/ 109 h 280"/>
                  <a:gd name="T14" fmla="*/ 179 w 204"/>
                  <a:gd name="T15" fmla="*/ 201 h 280"/>
                  <a:gd name="T16" fmla="*/ 79 w 204"/>
                  <a:gd name="T17" fmla="*/ 27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280">
                    <a:moveTo>
                      <a:pt x="79" y="272"/>
                    </a:moveTo>
                    <a:cubicBezTo>
                      <a:pt x="79" y="272"/>
                      <a:pt x="79" y="272"/>
                      <a:pt x="79" y="272"/>
                    </a:cubicBezTo>
                    <a:cubicBezTo>
                      <a:pt x="32" y="264"/>
                      <a:pt x="0" y="219"/>
                      <a:pt x="8" y="171"/>
                    </a:cubicBezTo>
                    <a:cubicBezTo>
                      <a:pt x="25" y="79"/>
                      <a:pt x="25" y="79"/>
                      <a:pt x="25" y="79"/>
                    </a:cubicBezTo>
                    <a:cubicBezTo>
                      <a:pt x="33" y="32"/>
                      <a:pt x="78" y="0"/>
                      <a:pt x="125" y="8"/>
                    </a:cubicBezTo>
                    <a:cubicBezTo>
                      <a:pt x="125" y="8"/>
                      <a:pt x="125" y="8"/>
                      <a:pt x="125" y="8"/>
                    </a:cubicBezTo>
                    <a:cubicBezTo>
                      <a:pt x="172" y="17"/>
                      <a:pt x="204" y="62"/>
                      <a:pt x="195" y="109"/>
                    </a:cubicBezTo>
                    <a:cubicBezTo>
                      <a:pt x="179" y="201"/>
                      <a:pt x="179" y="201"/>
                      <a:pt x="179" y="201"/>
                    </a:cubicBezTo>
                    <a:cubicBezTo>
                      <a:pt x="171" y="248"/>
                      <a:pt x="126" y="280"/>
                      <a:pt x="79" y="272"/>
                    </a:cubicBezTo>
                    <a:close/>
                  </a:path>
                </a:pathLst>
              </a:custGeom>
              <a:solidFill>
                <a:srgbClr val="FCA49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04" name="任意多边形 144"/>
              <p:cNvSpPr/>
              <p:nvPr/>
            </p:nvSpPr>
            <p:spPr bwMode="auto">
              <a:xfrm>
                <a:off x="5384178" y="2604196"/>
                <a:ext cx="1175705" cy="1759557"/>
              </a:xfrm>
              <a:custGeom>
                <a:avLst/>
                <a:gdLst>
                  <a:gd name="T0" fmla="*/ 67 w 185"/>
                  <a:gd name="T1" fmla="*/ 271 h 278"/>
                  <a:gd name="T2" fmla="*/ 67 w 185"/>
                  <a:gd name="T3" fmla="*/ 271 h 278"/>
                  <a:gd name="T4" fmla="*/ 7 w 185"/>
                  <a:gd name="T5" fmla="*/ 180 h 278"/>
                  <a:gd name="T6" fmla="*/ 20 w 185"/>
                  <a:gd name="T7" fmla="*/ 72 h 278"/>
                  <a:gd name="T8" fmla="*/ 113 w 185"/>
                  <a:gd name="T9" fmla="*/ 7 h 278"/>
                  <a:gd name="T10" fmla="*/ 113 w 185"/>
                  <a:gd name="T11" fmla="*/ 7 h 278"/>
                  <a:gd name="T12" fmla="*/ 178 w 185"/>
                  <a:gd name="T13" fmla="*/ 100 h 278"/>
                  <a:gd name="T14" fmla="*/ 159 w 185"/>
                  <a:gd name="T15" fmla="*/ 206 h 278"/>
                  <a:gd name="T16" fmla="*/ 67 w 185"/>
                  <a:gd name="T17" fmla="*/ 271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278">
                    <a:moveTo>
                      <a:pt x="67" y="271"/>
                    </a:moveTo>
                    <a:cubicBezTo>
                      <a:pt x="67" y="271"/>
                      <a:pt x="67" y="271"/>
                      <a:pt x="67" y="271"/>
                    </a:cubicBezTo>
                    <a:cubicBezTo>
                      <a:pt x="24" y="263"/>
                      <a:pt x="0" y="224"/>
                      <a:pt x="7" y="180"/>
                    </a:cubicBezTo>
                    <a:cubicBezTo>
                      <a:pt x="20" y="72"/>
                      <a:pt x="20" y="72"/>
                      <a:pt x="20" y="72"/>
                    </a:cubicBezTo>
                    <a:cubicBezTo>
                      <a:pt x="28" y="29"/>
                      <a:pt x="69" y="0"/>
                      <a:pt x="113" y="7"/>
                    </a:cubicBezTo>
                    <a:cubicBezTo>
                      <a:pt x="113" y="7"/>
                      <a:pt x="113" y="7"/>
                      <a:pt x="113" y="7"/>
                    </a:cubicBezTo>
                    <a:cubicBezTo>
                      <a:pt x="156" y="15"/>
                      <a:pt x="185" y="56"/>
                      <a:pt x="178" y="100"/>
                    </a:cubicBezTo>
                    <a:cubicBezTo>
                      <a:pt x="159" y="206"/>
                      <a:pt x="159" y="206"/>
                      <a:pt x="159" y="206"/>
                    </a:cubicBezTo>
                    <a:cubicBezTo>
                      <a:pt x="152" y="249"/>
                      <a:pt x="110" y="278"/>
                      <a:pt x="67" y="271"/>
                    </a:cubicBezTo>
                    <a:close/>
                  </a:path>
                </a:pathLst>
              </a:custGeom>
              <a:solidFill>
                <a:srgbClr val="FFC2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05" name="任意多边形 145"/>
              <p:cNvSpPr/>
              <p:nvPr/>
            </p:nvSpPr>
            <p:spPr bwMode="auto">
              <a:xfrm>
                <a:off x="5594793" y="3414658"/>
                <a:ext cx="138632" cy="215946"/>
              </a:xfrm>
              <a:custGeom>
                <a:avLst/>
                <a:gdLst>
                  <a:gd name="T0" fmla="*/ 1 w 22"/>
                  <a:gd name="T1" fmla="*/ 15 h 34"/>
                  <a:gd name="T2" fmla="*/ 8 w 22"/>
                  <a:gd name="T3" fmla="*/ 33 h 34"/>
                  <a:gd name="T4" fmla="*/ 21 w 22"/>
                  <a:gd name="T5" fmla="*/ 18 h 34"/>
                  <a:gd name="T6" fmla="*/ 14 w 22"/>
                  <a:gd name="T7" fmla="*/ 1 h 34"/>
                  <a:gd name="T8" fmla="*/ 1 w 22"/>
                  <a:gd name="T9" fmla="*/ 15 h 34"/>
                </a:gdLst>
                <a:ahLst/>
                <a:cxnLst>
                  <a:cxn ang="0">
                    <a:pos x="T0" y="T1"/>
                  </a:cxn>
                  <a:cxn ang="0">
                    <a:pos x="T2" y="T3"/>
                  </a:cxn>
                  <a:cxn ang="0">
                    <a:pos x="T4" y="T5"/>
                  </a:cxn>
                  <a:cxn ang="0">
                    <a:pos x="T6" y="T7"/>
                  </a:cxn>
                  <a:cxn ang="0">
                    <a:pos x="T8" y="T9"/>
                  </a:cxn>
                </a:cxnLst>
                <a:rect l="0" t="0" r="r" b="b"/>
                <a:pathLst>
                  <a:path w="22" h="34">
                    <a:moveTo>
                      <a:pt x="1" y="15"/>
                    </a:moveTo>
                    <a:cubicBezTo>
                      <a:pt x="0" y="24"/>
                      <a:pt x="3" y="32"/>
                      <a:pt x="8" y="33"/>
                    </a:cubicBezTo>
                    <a:cubicBezTo>
                      <a:pt x="14" y="34"/>
                      <a:pt x="19" y="27"/>
                      <a:pt x="21" y="18"/>
                    </a:cubicBezTo>
                    <a:cubicBezTo>
                      <a:pt x="22" y="10"/>
                      <a:pt x="19" y="2"/>
                      <a:pt x="14" y="1"/>
                    </a:cubicBezTo>
                    <a:cubicBezTo>
                      <a:pt x="8" y="0"/>
                      <a:pt x="3" y="6"/>
                      <a:pt x="1" y="1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06" name="任意多边形 146"/>
              <p:cNvSpPr/>
              <p:nvPr/>
            </p:nvSpPr>
            <p:spPr bwMode="auto">
              <a:xfrm>
                <a:off x="6101332" y="3510634"/>
                <a:ext cx="141299" cy="215946"/>
              </a:xfrm>
              <a:custGeom>
                <a:avLst/>
                <a:gdLst>
                  <a:gd name="T0" fmla="*/ 1 w 22"/>
                  <a:gd name="T1" fmla="*/ 15 h 34"/>
                  <a:gd name="T2" fmla="*/ 8 w 22"/>
                  <a:gd name="T3" fmla="*/ 33 h 34"/>
                  <a:gd name="T4" fmla="*/ 21 w 22"/>
                  <a:gd name="T5" fmla="*/ 19 h 34"/>
                  <a:gd name="T6" fmla="*/ 14 w 22"/>
                  <a:gd name="T7" fmla="*/ 1 h 34"/>
                  <a:gd name="T8" fmla="*/ 1 w 22"/>
                  <a:gd name="T9" fmla="*/ 15 h 34"/>
                </a:gdLst>
                <a:ahLst/>
                <a:cxnLst>
                  <a:cxn ang="0">
                    <a:pos x="T0" y="T1"/>
                  </a:cxn>
                  <a:cxn ang="0">
                    <a:pos x="T2" y="T3"/>
                  </a:cxn>
                  <a:cxn ang="0">
                    <a:pos x="T4" y="T5"/>
                  </a:cxn>
                  <a:cxn ang="0">
                    <a:pos x="T6" y="T7"/>
                  </a:cxn>
                  <a:cxn ang="0">
                    <a:pos x="T8" y="T9"/>
                  </a:cxn>
                </a:cxnLst>
                <a:rect l="0" t="0" r="r" b="b"/>
                <a:pathLst>
                  <a:path w="22" h="34">
                    <a:moveTo>
                      <a:pt x="1" y="15"/>
                    </a:moveTo>
                    <a:cubicBezTo>
                      <a:pt x="0" y="24"/>
                      <a:pt x="3" y="32"/>
                      <a:pt x="8" y="33"/>
                    </a:cubicBezTo>
                    <a:cubicBezTo>
                      <a:pt x="14" y="34"/>
                      <a:pt x="19" y="27"/>
                      <a:pt x="21" y="19"/>
                    </a:cubicBezTo>
                    <a:cubicBezTo>
                      <a:pt x="22" y="10"/>
                      <a:pt x="19" y="2"/>
                      <a:pt x="14" y="1"/>
                    </a:cubicBezTo>
                    <a:cubicBezTo>
                      <a:pt x="8" y="0"/>
                      <a:pt x="2" y="6"/>
                      <a:pt x="1" y="15"/>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07" name="任意多边形 147"/>
              <p:cNvSpPr/>
              <p:nvPr/>
            </p:nvSpPr>
            <p:spPr bwMode="auto">
              <a:xfrm>
                <a:off x="6431915" y="3566621"/>
                <a:ext cx="386570" cy="469215"/>
              </a:xfrm>
              <a:custGeom>
                <a:avLst/>
                <a:gdLst>
                  <a:gd name="T0" fmla="*/ 6 w 61"/>
                  <a:gd name="T1" fmla="*/ 32 h 74"/>
                  <a:gd name="T2" fmla="*/ 19 w 61"/>
                  <a:gd name="T3" fmla="*/ 71 h 74"/>
                  <a:gd name="T4" fmla="*/ 55 w 61"/>
                  <a:gd name="T5" fmla="*/ 42 h 74"/>
                  <a:gd name="T6" fmla="*/ 42 w 61"/>
                  <a:gd name="T7" fmla="*/ 3 h 74"/>
                  <a:gd name="T8" fmla="*/ 6 w 61"/>
                  <a:gd name="T9" fmla="*/ 32 h 74"/>
                </a:gdLst>
                <a:ahLst/>
                <a:cxnLst>
                  <a:cxn ang="0">
                    <a:pos x="T0" y="T1"/>
                  </a:cxn>
                  <a:cxn ang="0">
                    <a:pos x="T2" y="T3"/>
                  </a:cxn>
                  <a:cxn ang="0">
                    <a:pos x="T4" y="T5"/>
                  </a:cxn>
                  <a:cxn ang="0">
                    <a:pos x="T6" y="T7"/>
                  </a:cxn>
                  <a:cxn ang="0">
                    <a:pos x="T8" y="T9"/>
                  </a:cxn>
                </a:cxnLst>
                <a:rect l="0" t="0" r="r" b="b"/>
                <a:pathLst>
                  <a:path w="61" h="74">
                    <a:moveTo>
                      <a:pt x="6" y="32"/>
                    </a:moveTo>
                    <a:cubicBezTo>
                      <a:pt x="0" y="51"/>
                      <a:pt x="6" y="69"/>
                      <a:pt x="19" y="71"/>
                    </a:cubicBezTo>
                    <a:cubicBezTo>
                      <a:pt x="33" y="74"/>
                      <a:pt x="48" y="61"/>
                      <a:pt x="55" y="42"/>
                    </a:cubicBezTo>
                    <a:cubicBezTo>
                      <a:pt x="61" y="23"/>
                      <a:pt x="55" y="6"/>
                      <a:pt x="42" y="3"/>
                    </a:cubicBezTo>
                    <a:cubicBezTo>
                      <a:pt x="28" y="0"/>
                      <a:pt x="12" y="13"/>
                      <a:pt x="6" y="32"/>
                    </a:cubicBezTo>
                    <a:close/>
                  </a:path>
                </a:pathLst>
              </a:custGeom>
              <a:solidFill>
                <a:srgbClr val="FCA49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08" name="任意多边形 148"/>
              <p:cNvSpPr/>
              <p:nvPr/>
            </p:nvSpPr>
            <p:spPr bwMode="auto">
              <a:xfrm>
                <a:off x="5360185" y="2433572"/>
                <a:ext cx="1503621" cy="1261017"/>
              </a:xfrm>
              <a:custGeom>
                <a:avLst/>
                <a:gdLst>
                  <a:gd name="T0" fmla="*/ 176 w 237"/>
                  <a:gd name="T1" fmla="*/ 110 h 199"/>
                  <a:gd name="T2" fmla="*/ 17 w 237"/>
                  <a:gd name="T3" fmla="*/ 120 h 199"/>
                  <a:gd name="T4" fmla="*/ 28 w 237"/>
                  <a:gd name="T5" fmla="*/ 23 h 199"/>
                  <a:gd name="T6" fmla="*/ 203 w 237"/>
                  <a:gd name="T7" fmla="*/ 52 h 199"/>
                  <a:gd name="T8" fmla="*/ 237 w 237"/>
                  <a:gd name="T9" fmla="*/ 119 h 199"/>
                  <a:gd name="T10" fmla="*/ 206 w 237"/>
                  <a:gd name="T11" fmla="*/ 185 h 199"/>
                  <a:gd name="T12" fmla="*/ 184 w 237"/>
                  <a:gd name="T13" fmla="*/ 199 h 199"/>
                  <a:gd name="T14" fmla="*/ 175 w 237"/>
                  <a:gd name="T15" fmla="*/ 178 h 199"/>
                  <a:gd name="T16" fmla="*/ 176 w 237"/>
                  <a:gd name="T17" fmla="*/ 11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199">
                    <a:moveTo>
                      <a:pt x="176" y="110"/>
                    </a:moveTo>
                    <a:cubicBezTo>
                      <a:pt x="176" y="110"/>
                      <a:pt x="116" y="128"/>
                      <a:pt x="17" y="120"/>
                    </a:cubicBezTo>
                    <a:cubicBezTo>
                      <a:pt x="5" y="118"/>
                      <a:pt x="0" y="19"/>
                      <a:pt x="28" y="23"/>
                    </a:cubicBezTo>
                    <a:cubicBezTo>
                      <a:pt x="109" y="32"/>
                      <a:pt x="166" y="0"/>
                      <a:pt x="203" y="52"/>
                    </a:cubicBezTo>
                    <a:cubicBezTo>
                      <a:pt x="203" y="52"/>
                      <a:pt x="237" y="62"/>
                      <a:pt x="237" y="119"/>
                    </a:cubicBezTo>
                    <a:cubicBezTo>
                      <a:pt x="237" y="149"/>
                      <a:pt x="206" y="185"/>
                      <a:pt x="206" y="185"/>
                    </a:cubicBezTo>
                    <a:cubicBezTo>
                      <a:pt x="206" y="185"/>
                      <a:pt x="194" y="185"/>
                      <a:pt x="184" y="199"/>
                    </a:cubicBezTo>
                    <a:cubicBezTo>
                      <a:pt x="184" y="199"/>
                      <a:pt x="180" y="188"/>
                      <a:pt x="175" y="178"/>
                    </a:cubicBezTo>
                    <a:cubicBezTo>
                      <a:pt x="175" y="178"/>
                      <a:pt x="162" y="145"/>
                      <a:pt x="176" y="110"/>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09" name="任意多边形 149"/>
              <p:cNvSpPr/>
              <p:nvPr/>
            </p:nvSpPr>
            <p:spPr bwMode="auto">
              <a:xfrm>
                <a:off x="5576130" y="3897204"/>
                <a:ext cx="445222" cy="213280"/>
              </a:xfrm>
              <a:custGeom>
                <a:avLst/>
                <a:gdLst>
                  <a:gd name="T0" fmla="*/ 46 w 70"/>
                  <a:gd name="T1" fmla="*/ 21 h 34"/>
                  <a:gd name="T2" fmla="*/ 62 w 70"/>
                  <a:gd name="T3" fmla="*/ 27 h 34"/>
                  <a:gd name="T4" fmla="*/ 70 w 70"/>
                  <a:gd name="T5" fmla="*/ 7 h 34"/>
                  <a:gd name="T6" fmla="*/ 29 w 70"/>
                  <a:gd name="T7" fmla="*/ 10 h 34"/>
                  <a:gd name="T8" fmla="*/ 2 w 70"/>
                  <a:gd name="T9" fmla="*/ 0 h 34"/>
                  <a:gd name="T10" fmla="*/ 15 w 70"/>
                  <a:gd name="T11" fmla="*/ 34 h 34"/>
                  <a:gd name="T12" fmla="*/ 46 w 70"/>
                  <a:gd name="T13" fmla="*/ 21 h 34"/>
                </a:gdLst>
                <a:ahLst/>
                <a:cxnLst>
                  <a:cxn ang="0">
                    <a:pos x="T0" y="T1"/>
                  </a:cxn>
                  <a:cxn ang="0">
                    <a:pos x="T2" y="T3"/>
                  </a:cxn>
                  <a:cxn ang="0">
                    <a:pos x="T4" y="T5"/>
                  </a:cxn>
                  <a:cxn ang="0">
                    <a:pos x="T6" y="T7"/>
                  </a:cxn>
                  <a:cxn ang="0">
                    <a:pos x="T8" y="T9"/>
                  </a:cxn>
                  <a:cxn ang="0">
                    <a:pos x="T10" y="T11"/>
                  </a:cxn>
                  <a:cxn ang="0">
                    <a:pos x="T12" y="T13"/>
                  </a:cxn>
                </a:cxnLst>
                <a:rect l="0" t="0" r="r" b="b"/>
                <a:pathLst>
                  <a:path w="70" h="34">
                    <a:moveTo>
                      <a:pt x="46" y="21"/>
                    </a:moveTo>
                    <a:cubicBezTo>
                      <a:pt x="53" y="22"/>
                      <a:pt x="58" y="24"/>
                      <a:pt x="62" y="27"/>
                    </a:cubicBezTo>
                    <a:cubicBezTo>
                      <a:pt x="68" y="18"/>
                      <a:pt x="70" y="7"/>
                      <a:pt x="70" y="7"/>
                    </a:cubicBezTo>
                    <a:cubicBezTo>
                      <a:pt x="70" y="7"/>
                      <a:pt x="45" y="13"/>
                      <a:pt x="29" y="10"/>
                    </a:cubicBezTo>
                    <a:cubicBezTo>
                      <a:pt x="14" y="6"/>
                      <a:pt x="2" y="0"/>
                      <a:pt x="2" y="0"/>
                    </a:cubicBezTo>
                    <a:cubicBezTo>
                      <a:pt x="2" y="0"/>
                      <a:pt x="0" y="22"/>
                      <a:pt x="15" y="34"/>
                    </a:cubicBezTo>
                    <a:cubicBezTo>
                      <a:pt x="21" y="26"/>
                      <a:pt x="30" y="19"/>
                      <a:pt x="46" y="21"/>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0" name="任意多边形 150"/>
              <p:cNvSpPr/>
              <p:nvPr/>
            </p:nvSpPr>
            <p:spPr bwMode="auto">
              <a:xfrm>
                <a:off x="5672106" y="4017173"/>
                <a:ext cx="295926" cy="143964"/>
              </a:xfrm>
              <a:custGeom>
                <a:avLst/>
                <a:gdLst>
                  <a:gd name="T0" fmla="*/ 47 w 47"/>
                  <a:gd name="T1" fmla="*/ 8 h 23"/>
                  <a:gd name="T2" fmla="*/ 31 w 47"/>
                  <a:gd name="T3" fmla="*/ 2 h 23"/>
                  <a:gd name="T4" fmla="*/ 0 w 47"/>
                  <a:gd name="T5" fmla="*/ 15 h 23"/>
                  <a:gd name="T6" fmla="*/ 16 w 47"/>
                  <a:gd name="T7" fmla="*/ 21 h 23"/>
                  <a:gd name="T8" fmla="*/ 47 w 47"/>
                  <a:gd name="T9" fmla="*/ 8 h 23"/>
                </a:gdLst>
                <a:ahLst/>
                <a:cxnLst>
                  <a:cxn ang="0">
                    <a:pos x="T0" y="T1"/>
                  </a:cxn>
                  <a:cxn ang="0">
                    <a:pos x="T2" y="T3"/>
                  </a:cxn>
                  <a:cxn ang="0">
                    <a:pos x="T4" y="T5"/>
                  </a:cxn>
                  <a:cxn ang="0">
                    <a:pos x="T6" y="T7"/>
                  </a:cxn>
                  <a:cxn ang="0">
                    <a:pos x="T8" y="T9"/>
                  </a:cxn>
                </a:cxnLst>
                <a:rect l="0" t="0" r="r" b="b"/>
                <a:pathLst>
                  <a:path w="47" h="23">
                    <a:moveTo>
                      <a:pt x="47" y="8"/>
                    </a:moveTo>
                    <a:cubicBezTo>
                      <a:pt x="43" y="5"/>
                      <a:pt x="38" y="3"/>
                      <a:pt x="31" y="2"/>
                    </a:cubicBezTo>
                    <a:cubicBezTo>
                      <a:pt x="15" y="0"/>
                      <a:pt x="6" y="7"/>
                      <a:pt x="0" y="15"/>
                    </a:cubicBezTo>
                    <a:cubicBezTo>
                      <a:pt x="4" y="18"/>
                      <a:pt x="10" y="20"/>
                      <a:pt x="16" y="21"/>
                    </a:cubicBezTo>
                    <a:cubicBezTo>
                      <a:pt x="32" y="23"/>
                      <a:pt x="41" y="16"/>
                      <a:pt x="47" y="8"/>
                    </a:cubicBezTo>
                    <a:close/>
                  </a:path>
                </a:pathLst>
              </a:custGeom>
              <a:solidFill>
                <a:srgbClr val="FF8D8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1" name="任意多边形 151"/>
              <p:cNvSpPr/>
              <p:nvPr/>
            </p:nvSpPr>
            <p:spPr bwMode="auto">
              <a:xfrm>
                <a:off x="6248965" y="4694336"/>
                <a:ext cx="719031" cy="445400"/>
              </a:xfrm>
              <a:custGeom>
                <a:avLst/>
                <a:gdLst>
                  <a:gd name="connsiteX0" fmla="*/ 116634 w 428156"/>
                  <a:gd name="connsiteY0" fmla="*/ 0 h 265219"/>
                  <a:gd name="connsiteX1" fmla="*/ 384967 w 428156"/>
                  <a:gd name="connsiteY1" fmla="*/ 86616 h 265219"/>
                  <a:gd name="connsiteX2" fmla="*/ 407998 w 428156"/>
                  <a:gd name="connsiteY2" fmla="*/ 114684 h 265219"/>
                  <a:gd name="connsiteX3" fmla="*/ 428156 w 428156"/>
                  <a:gd name="connsiteY3" fmla="*/ 141734 h 265219"/>
                  <a:gd name="connsiteX4" fmla="*/ 361246 w 428156"/>
                  <a:gd name="connsiteY4" fmla="*/ 173843 h 265219"/>
                  <a:gd name="connsiteX5" fmla="*/ 3361 w 428156"/>
                  <a:gd name="connsiteY5" fmla="*/ 265050 h 265219"/>
                  <a:gd name="connsiteX6" fmla="*/ 0 w 428156"/>
                  <a:gd name="connsiteY6" fmla="*/ 265219 h 265219"/>
                  <a:gd name="connsiteX7" fmla="*/ 17892 w 428156"/>
                  <a:gd name="connsiteY7" fmla="*/ 224535 h 265219"/>
                  <a:gd name="connsiteX8" fmla="*/ 116634 w 428156"/>
                  <a:gd name="connsiteY8" fmla="*/ 0 h 265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8156" h="265219">
                    <a:moveTo>
                      <a:pt x="116634" y="0"/>
                    </a:moveTo>
                    <a:lnTo>
                      <a:pt x="384967" y="86616"/>
                    </a:lnTo>
                    <a:cubicBezTo>
                      <a:pt x="384967" y="86616"/>
                      <a:pt x="393471" y="96031"/>
                      <a:pt x="407998" y="114684"/>
                    </a:cubicBezTo>
                    <a:lnTo>
                      <a:pt x="428156" y="141734"/>
                    </a:lnTo>
                    <a:lnTo>
                      <a:pt x="361246" y="173843"/>
                    </a:lnTo>
                    <a:cubicBezTo>
                      <a:pt x="249356" y="220988"/>
                      <a:pt x="129121" y="252327"/>
                      <a:pt x="3361" y="265050"/>
                    </a:cubicBezTo>
                    <a:lnTo>
                      <a:pt x="0" y="265219"/>
                    </a:lnTo>
                    <a:lnTo>
                      <a:pt x="17892" y="224535"/>
                    </a:lnTo>
                    <a:cubicBezTo>
                      <a:pt x="116634" y="0"/>
                      <a:pt x="116634" y="0"/>
                      <a:pt x="116634" y="0"/>
                    </a:cubicBezTo>
                    <a:close/>
                  </a:path>
                </a:pathLst>
              </a:custGeom>
              <a:solidFill>
                <a:srgbClr val="7ECE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2" name="任意多边形 152"/>
              <p:cNvSpPr/>
              <p:nvPr/>
            </p:nvSpPr>
            <p:spPr bwMode="auto">
              <a:xfrm>
                <a:off x="5640114" y="3441318"/>
                <a:ext cx="37324" cy="55987"/>
              </a:xfrm>
              <a:custGeom>
                <a:avLst/>
                <a:gdLst>
                  <a:gd name="T0" fmla="*/ 6 w 6"/>
                  <a:gd name="T1" fmla="*/ 5 h 9"/>
                  <a:gd name="T2" fmla="*/ 4 w 6"/>
                  <a:gd name="T3" fmla="*/ 1 h 9"/>
                  <a:gd name="T4" fmla="*/ 1 w 6"/>
                  <a:gd name="T5" fmla="*/ 4 h 9"/>
                  <a:gd name="T6" fmla="*/ 2 w 6"/>
                  <a:gd name="T7" fmla="*/ 8 h 9"/>
                  <a:gd name="T8" fmla="*/ 6 w 6"/>
                  <a:gd name="T9" fmla="*/ 5 h 9"/>
                </a:gdLst>
                <a:ahLst/>
                <a:cxnLst>
                  <a:cxn ang="0">
                    <a:pos x="T0" y="T1"/>
                  </a:cxn>
                  <a:cxn ang="0">
                    <a:pos x="T2" y="T3"/>
                  </a:cxn>
                  <a:cxn ang="0">
                    <a:pos x="T4" y="T5"/>
                  </a:cxn>
                  <a:cxn ang="0">
                    <a:pos x="T6" y="T7"/>
                  </a:cxn>
                  <a:cxn ang="0">
                    <a:pos x="T8" y="T9"/>
                  </a:cxn>
                </a:cxnLst>
                <a:rect l="0" t="0" r="r" b="b"/>
                <a:pathLst>
                  <a:path w="6" h="9">
                    <a:moveTo>
                      <a:pt x="6" y="5"/>
                    </a:moveTo>
                    <a:cubicBezTo>
                      <a:pt x="6" y="3"/>
                      <a:pt x="6" y="1"/>
                      <a:pt x="4" y="1"/>
                    </a:cubicBezTo>
                    <a:cubicBezTo>
                      <a:pt x="3" y="0"/>
                      <a:pt x="1" y="2"/>
                      <a:pt x="1" y="4"/>
                    </a:cubicBezTo>
                    <a:cubicBezTo>
                      <a:pt x="0" y="6"/>
                      <a:pt x="1" y="8"/>
                      <a:pt x="2" y="8"/>
                    </a:cubicBezTo>
                    <a:cubicBezTo>
                      <a:pt x="3" y="9"/>
                      <a:pt x="5" y="7"/>
                      <a:pt x="6"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3" name="任意多边形 153"/>
              <p:cNvSpPr/>
              <p:nvPr/>
            </p:nvSpPr>
            <p:spPr bwMode="auto">
              <a:xfrm>
                <a:off x="5650778" y="3473310"/>
                <a:ext cx="26660" cy="37324"/>
              </a:xfrm>
              <a:custGeom>
                <a:avLst/>
                <a:gdLst>
                  <a:gd name="T0" fmla="*/ 4 w 4"/>
                  <a:gd name="T1" fmla="*/ 4 h 6"/>
                  <a:gd name="T2" fmla="*/ 3 w 4"/>
                  <a:gd name="T3" fmla="*/ 1 h 6"/>
                  <a:gd name="T4" fmla="*/ 0 w 4"/>
                  <a:gd name="T5" fmla="*/ 3 h 6"/>
                  <a:gd name="T6" fmla="*/ 1 w 4"/>
                  <a:gd name="T7" fmla="*/ 6 h 6"/>
                  <a:gd name="T8" fmla="*/ 4 w 4"/>
                  <a:gd name="T9" fmla="*/ 4 h 6"/>
                </a:gdLst>
                <a:ahLst/>
                <a:cxnLst>
                  <a:cxn ang="0">
                    <a:pos x="T0" y="T1"/>
                  </a:cxn>
                  <a:cxn ang="0">
                    <a:pos x="T2" y="T3"/>
                  </a:cxn>
                  <a:cxn ang="0">
                    <a:pos x="T4" y="T5"/>
                  </a:cxn>
                  <a:cxn ang="0">
                    <a:pos x="T6" y="T7"/>
                  </a:cxn>
                  <a:cxn ang="0">
                    <a:pos x="T8" y="T9"/>
                  </a:cxn>
                </a:cxnLst>
                <a:rect l="0" t="0" r="r" b="b"/>
                <a:pathLst>
                  <a:path w="4" h="6">
                    <a:moveTo>
                      <a:pt x="4" y="4"/>
                    </a:moveTo>
                    <a:cubicBezTo>
                      <a:pt x="4" y="2"/>
                      <a:pt x="4" y="1"/>
                      <a:pt x="3" y="1"/>
                    </a:cubicBezTo>
                    <a:cubicBezTo>
                      <a:pt x="2" y="0"/>
                      <a:pt x="1" y="1"/>
                      <a:pt x="0" y="3"/>
                    </a:cubicBezTo>
                    <a:cubicBezTo>
                      <a:pt x="0" y="4"/>
                      <a:pt x="0" y="6"/>
                      <a:pt x="1" y="6"/>
                    </a:cubicBezTo>
                    <a:cubicBezTo>
                      <a:pt x="2" y="6"/>
                      <a:pt x="3" y="5"/>
                      <a:pt x="4" y="4"/>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4" name="任意多边形 154"/>
              <p:cNvSpPr/>
              <p:nvPr/>
            </p:nvSpPr>
            <p:spPr bwMode="auto">
              <a:xfrm>
                <a:off x="6141321" y="3542626"/>
                <a:ext cx="37324" cy="50655"/>
              </a:xfrm>
              <a:custGeom>
                <a:avLst/>
                <a:gdLst>
                  <a:gd name="T0" fmla="*/ 6 w 6"/>
                  <a:gd name="T1" fmla="*/ 5 h 8"/>
                  <a:gd name="T2" fmla="*/ 4 w 6"/>
                  <a:gd name="T3" fmla="*/ 1 h 8"/>
                  <a:gd name="T4" fmla="*/ 1 w 6"/>
                  <a:gd name="T5" fmla="*/ 4 h 8"/>
                  <a:gd name="T6" fmla="*/ 2 w 6"/>
                  <a:gd name="T7" fmla="*/ 8 h 8"/>
                  <a:gd name="T8" fmla="*/ 6 w 6"/>
                  <a:gd name="T9" fmla="*/ 5 h 8"/>
                </a:gdLst>
                <a:ahLst/>
                <a:cxnLst>
                  <a:cxn ang="0">
                    <a:pos x="T0" y="T1"/>
                  </a:cxn>
                  <a:cxn ang="0">
                    <a:pos x="T2" y="T3"/>
                  </a:cxn>
                  <a:cxn ang="0">
                    <a:pos x="T4" y="T5"/>
                  </a:cxn>
                  <a:cxn ang="0">
                    <a:pos x="T6" y="T7"/>
                  </a:cxn>
                  <a:cxn ang="0">
                    <a:pos x="T8" y="T9"/>
                  </a:cxn>
                </a:cxnLst>
                <a:rect l="0" t="0" r="r" b="b"/>
                <a:pathLst>
                  <a:path w="6" h="8">
                    <a:moveTo>
                      <a:pt x="6" y="5"/>
                    </a:moveTo>
                    <a:cubicBezTo>
                      <a:pt x="6" y="3"/>
                      <a:pt x="6" y="1"/>
                      <a:pt x="4" y="1"/>
                    </a:cubicBezTo>
                    <a:cubicBezTo>
                      <a:pt x="3" y="0"/>
                      <a:pt x="2" y="1"/>
                      <a:pt x="1" y="4"/>
                    </a:cubicBezTo>
                    <a:cubicBezTo>
                      <a:pt x="0" y="6"/>
                      <a:pt x="1" y="8"/>
                      <a:pt x="2" y="8"/>
                    </a:cubicBezTo>
                    <a:cubicBezTo>
                      <a:pt x="3" y="8"/>
                      <a:pt x="5" y="7"/>
                      <a:pt x="6"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5" name="任意多边形 155"/>
              <p:cNvSpPr/>
              <p:nvPr/>
            </p:nvSpPr>
            <p:spPr bwMode="auto">
              <a:xfrm>
                <a:off x="6151985" y="3574618"/>
                <a:ext cx="26660" cy="37324"/>
              </a:xfrm>
              <a:custGeom>
                <a:avLst/>
                <a:gdLst>
                  <a:gd name="T0" fmla="*/ 4 w 4"/>
                  <a:gd name="T1" fmla="*/ 4 h 6"/>
                  <a:gd name="T2" fmla="*/ 3 w 4"/>
                  <a:gd name="T3" fmla="*/ 0 h 6"/>
                  <a:gd name="T4" fmla="*/ 0 w 4"/>
                  <a:gd name="T5" fmla="*/ 3 h 6"/>
                  <a:gd name="T6" fmla="*/ 1 w 4"/>
                  <a:gd name="T7" fmla="*/ 6 h 6"/>
                  <a:gd name="T8" fmla="*/ 4 w 4"/>
                  <a:gd name="T9" fmla="*/ 4 h 6"/>
                </a:gdLst>
                <a:ahLst/>
                <a:cxnLst>
                  <a:cxn ang="0">
                    <a:pos x="T0" y="T1"/>
                  </a:cxn>
                  <a:cxn ang="0">
                    <a:pos x="T2" y="T3"/>
                  </a:cxn>
                  <a:cxn ang="0">
                    <a:pos x="T4" y="T5"/>
                  </a:cxn>
                  <a:cxn ang="0">
                    <a:pos x="T6" y="T7"/>
                  </a:cxn>
                  <a:cxn ang="0">
                    <a:pos x="T8" y="T9"/>
                  </a:cxn>
                </a:cxnLst>
                <a:rect l="0" t="0" r="r" b="b"/>
                <a:pathLst>
                  <a:path w="4" h="6">
                    <a:moveTo>
                      <a:pt x="4" y="4"/>
                    </a:moveTo>
                    <a:cubicBezTo>
                      <a:pt x="4" y="2"/>
                      <a:pt x="4" y="1"/>
                      <a:pt x="3" y="0"/>
                    </a:cubicBezTo>
                    <a:cubicBezTo>
                      <a:pt x="2" y="0"/>
                      <a:pt x="1" y="1"/>
                      <a:pt x="0" y="3"/>
                    </a:cubicBezTo>
                    <a:cubicBezTo>
                      <a:pt x="0" y="4"/>
                      <a:pt x="0" y="6"/>
                      <a:pt x="1" y="6"/>
                    </a:cubicBezTo>
                    <a:cubicBezTo>
                      <a:pt x="2" y="6"/>
                      <a:pt x="3" y="5"/>
                      <a:pt x="4" y="4"/>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6" name="任意多边形 156"/>
              <p:cNvSpPr/>
              <p:nvPr/>
            </p:nvSpPr>
            <p:spPr bwMode="auto">
              <a:xfrm>
                <a:off x="5581462" y="3294689"/>
                <a:ext cx="183955" cy="63984"/>
              </a:xfrm>
              <a:custGeom>
                <a:avLst/>
                <a:gdLst>
                  <a:gd name="T0" fmla="*/ 2 w 29"/>
                  <a:gd name="T1" fmla="*/ 9 h 10"/>
                  <a:gd name="T2" fmla="*/ 4 w 29"/>
                  <a:gd name="T3" fmla="*/ 10 h 10"/>
                  <a:gd name="T4" fmla="*/ 26 w 29"/>
                  <a:gd name="T5" fmla="*/ 9 h 10"/>
                  <a:gd name="T6" fmla="*/ 29 w 29"/>
                  <a:gd name="T7" fmla="*/ 7 h 10"/>
                  <a:gd name="T8" fmla="*/ 27 w 29"/>
                  <a:gd name="T9" fmla="*/ 4 h 10"/>
                  <a:gd name="T10" fmla="*/ 2 w 29"/>
                  <a:gd name="T11" fmla="*/ 5 h 10"/>
                  <a:gd name="T12" fmla="*/ 1 w 29"/>
                  <a:gd name="T13" fmla="*/ 8 h 10"/>
                  <a:gd name="T14" fmla="*/ 2 w 29"/>
                  <a:gd name="T15" fmla="*/ 9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10">
                    <a:moveTo>
                      <a:pt x="2" y="9"/>
                    </a:moveTo>
                    <a:cubicBezTo>
                      <a:pt x="3" y="10"/>
                      <a:pt x="3" y="10"/>
                      <a:pt x="4" y="10"/>
                    </a:cubicBezTo>
                    <a:cubicBezTo>
                      <a:pt x="15" y="5"/>
                      <a:pt x="26" y="9"/>
                      <a:pt x="26" y="9"/>
                    </a:cubicBezTo>
                    <a:cubicBezTo>
                      <a:pt x="27" y="9"/>
                      <a:pt x="28" y="8"/>
                      <a:pt x="29" y="7"/>
                    </a:cubicBezTo>
                    <a:cubicBezTo>
                      <a:pt x="29" y="6"/>
                      <a:pt x="28" y="5"/>
                      <a:pt x="27" y="4"/>
                    </a:cubicBezTo>
                    <a:cubicBezTo>
                      <a:pt x="27" y="4"/>
                      <a:pt x="15" y="0"/>
                      <a:pt x="2" y="5"/>
                    </a:cubicBezTo>
                    <a:cubicBezTo>
                      <a:pt x="1" y="6"/>
                      <a:pt x="0" y="7"/>
                      <a:pt x="1" y="8"/>
                    </a:cubicBezTo>
                    <a:cubicBezTo>
                      <a:pt x="1" y="9"/>
                      <a:pt x="2" y="9"/>
                      <a:pt x="2" y="9"/>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7" name="任意多边形 157"/>
              <p:cNvSpPr/>
              <p:nvPr/>
            </p:nvSpPr>
            <p:spPr bwMode="auto">
              <a:xfrm>
                <a:off x="6159984" y="3382666"/>
                <a:ext cx="165292" cy="90644"/>
              </a:xfrm>
              <a:custGeom>
                <a:avLst/>
                <a:gdLst>
                  <a:gd name="T0" fmla="*/ 25 w 26"/>
                  <a:gd name="T1" fmla="*/ 13 h 14"/>
                  <a:gd name="T2" fmla="*/ 26 w 26"/>
                  <a:gd name="T3" fmla="*/ 13 h 14"/>
                  <a:gd name="T4" fmla="*/ 25 w 26"/>
                  <a:gd name="T5" fmla="*/ 9 h 14"/>
                  <a:gd name="T6" fmla="*/ 2 w 26"/>
                  <a:gd name="T7" fmla="*/ 0 h 14"/>
                  <a:gd name="T8" fmla="*/ 0 w 26"/>
                  <a:gd name="T9" fmla="*/ 2 h 14"/>
                  <a:gd name="T10" fmla="*/ 2 w 26"/>
                  <a:gd name="T11" fmla="*/ 5 h 14"/>
                  <a:gd name="T12" fmla="*/ 22 w 26"/>
                  <a:gd name="T13" fmla="*/ 13 h 14"/>
                  <a:gd name="T14" fmla="*/ 25 w 26"/>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4">
                    <a:moveTo>
                      <a:pt x="25" y="13"/>
                    </a:moveTo>
                    <a:cubicBezTo>
                      <a:pt x="25" y="13"/>
                      <a:pt x="25" y="13"/>
                      <a:pt x="26" y="13"/>
                    </a:cubicBezTo>
                    <a:cubicBezTo>
                      <a:pt x="26" y="12"/>
                      <a:pt x="26" y="10"/>
                      <a:pt x="25" y="9"/>
                    </a:cubicBezTo>
                    <a:cubicBezTo>
                      <a:pt x="15" y="0"/>
                      <a:pt x="3" y="0"/>
                      <a:pt x="2" y="0"/>
                    </a:cubicBezTo>
                    <a:cubicBezTo>
                      <a:pt x="1" y="0"/>
                      <a:pt x="0" y="1"/>
                      <a:pt x="0" y="2"/>
                    </a:cubicBezTo>
                    <a:cubicBezTo>
                      <a:pt x="0" y="4"/>
                      <a:pt x="1" y="5"/>
                      <a:pt x="2" y="5"/>
                    </a:cubicBezTo>
                    <a:cubicBezTo>
                      <a:pt x="2" y="5"/>
                      <a:pt x="14" y="5"/>
                      <a:pt x="22" y="13"/>
                    </a:cubicBezTo>
                    <a:cubicBezTo>
                      <a:pt x="23" y="13"/>
                      <a:pt x="24" y="14"/>
                      <a:pt x="25" y="13"/>
                    </a:cubicBezTo>
                    <a:close/>
                  </a:path>
                </a:pathLst>
              </a:custGeom>
              <a:solidFill>
                <a:srgbClr val="242B5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8" name="任意多边形 158"/>
              <p:cNvSpPr/>
              <p:nvPr/>
            </p:nvSpPr>
            <p:spPr bwMode="auto">
              <a:xfrm>
                <a:off x="5714762" y="3459981"/>
                <a:ext cx="178623" cy="295926"/>
              </a:xfrm>
              <a:custGeom>
                <a:avLst/>
                <a:gdLst>
                  <a:gd name="T0" fmla="*/ 13 w 28"/>
                  <a:gd name="T1" fmla="*/ 47 h 47"/>
                  <a:gd name="T2" fmla="*/ 15 w 28"/>
                  <a:gd name="T3" fmla="*/ 46 h 47"/>
                  <a:gd name="T4" fmla="*/ 14 w 28"/>
                  <a:gd name="T5" fmla="*/ 43 h 47"/>
                  <a:gd name="T6" fmla="*/ 5 w 28"/>
                  <a:gd name="T7" fmla="*/ 39 h 47"/>
                  <a:gd name="T8" fmla="*/ 4 w 28"/>
                  <a:gd name="T9" fmla="*/ 34 h 47"/>
                  <a:gd name="T10" fmla="*/ 7 w 28"/>
                  <a:gd name="T11" fmla="*/ 31 h 47"/>
                  <a:gd name="T12" fmla="*/ 15 w 28"/>
                  <a:gd name="T13" fmla="*/ 32 h 47"/>
                  <a:gd name="T14" fmla="*/ 17 w 28"/>
                  <a:gd name="T15" fmla="*/ 32 h 47"/>
                  <a:gd name="T16" fmla="*/ 18 w 28"/>
                  <a:gd name="T17" fmla="*/ 31 h 47"/>
                  <a:gd name="T18" fmla="*/ 27 w 28"/>
                  <a:gd name="T19" fmla="*/ 3 h 47"/>
                  <a:gd name="T20" fmla="*/ 26 w 28"/>
                  <a:gd name="T21" fmla="*/ 1 h 47"/>
                  <a:gd name="T22" fmla="*/ 24 w 28"/>
                  <a:gd name="T23" fmla="*/ 2 h 47"/>
                  <a:gd name="T24" fmla="*/ 15 w 28"/>
                  <a:gd name="T25" fmla="*/ 27 h 47"/>
                  <a:gd name="T26" fmla="*/ 6 w 28"/>
                  <a:gd name="T27" fmla="*/ 27 h 47"/>
                  <a:gd name="T28" fmla="*/ 1 w 28"/>
                  <a:gd name="T29" fmla="*/ 33 h 47"/>
                  <a:gd name="T30" fmla="*/ 1 w 28"/>
                  <a:gd name="T31" fmla="*/ 41 h 47"/>
                  <a:gd name="T32" fmla="*/ 13 w 28"/>
                  <a:gd name="T33" fmla="*/ 47 h 47"/>
                  <a:gd name="T34" fmla="*/ 13 w 28"/>
                  <a:gd name="T35"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47">
                    <a:moveTo>
                      <a:pt x="13" y="47"/>
                    </a:moveTo>
                    <a:cubicBezTo>
                      <a:pt x="14" y="47"/>
                      <a:pt x="15" y="47"/>
                      <a:pt x="15" y="46"/>
                    </a:cubicBezTo>
                    <a:cubicBezTo>
                      <a:pt x="15" y="45"/>
                      <a:pt x="15" y="44"/>
                      <a:pt x="14" y="43"/>
                    </a:cubicBezTo>
                    <a:cubicBezTo>
                      <a:pt x="12" y="43"/>
                      <a:pt x="7" y="42"/>
                      <a:pt x="5" y="39"/>
                    </a:cubicBezTo>
                    <a:cubicBezTo>
                      <a:pt x="4" y="38"/>
                      <a:pt x="4" y="36"/>
                      <a:pt x="4" y="34"/>
                    </a:cubicBezTo>
                    <a:cubicBezTo>
                      <a:pt x="5" y="32"/>
                      <a:pt x="6" y="31"/>
                      <a:pt x="7" y="31"/>
                    </a:cubicBezTo>
                    <a:cubicBezTo>
                      <a:pt x="10" y="30"/>
                      <a:pt x="14" y="31"/>
                      <a:pt x="15" y="32"/>
                    </a:cubicBezTo>
                    <a:cubicBezTo>
                      <a:pt x="16" y="32"/>
                      <a:pt x="17" y="32"/>
                      <a:pt x="17" y="32"/>
                    </a:cubicBezTo>
                    <a:cubicBezTo>
                      <a:pt x="18" y="32"/>
                      <a:pt x="18" y="31"/>
                      <a:pt x="18" y="31"/>
                    </a:cubicBezTo>
                    <a:cubicBezTo>
                      <a:pt x="27" y="3"/>
                      <a:pt x="27" y="3"/>
                      <a:pt x="27" y="3"/>
                    </a:cubicBezTo>
                    <a:cubicBezTo>
                      <a:pt x="28" y="2"/>
                      <a:pt x="27" y="1"/>
                      <a:pt x="26" y="1"/>
                    </a:cubicBezTo>
                    <a:cubicBezTo>
                      <a:pt x="25" y="0"/>
                      <a:pt x="24" y="1"/>
                      <a:pt x="24" y="2"/>
                    </a:cubicBezTo>
                    <a:cubicBezTo>
                      <a:pt x="15" y="27"/>
                      <a:pt x="15" y="27"/>
                      <a:pt x="15" y="27"/>
                    </a:cubicBezTo>
                    <a:cubicBezTo>
                      <a:pt x="13" y="27"/>
                      <a:pt x="9" y="26"/>
                      <a:pt x="6" y="27"/>
                    </a:cubicBezTo>
                    <a:cubicBezTo>
                      <a:pt x="3" y="28"/>
                      <a:pt x="2" y="30"/>
                      <a:pt x="1" y="33"/>
                    </a:cubicBezTo>
                    <a:cubicBezTo>
                      <a:pt x="0" y="36"/>
                      <a:pt x="0" y="39"/>
                      <a:pt x="1" y="41"/>
                    </a:cubicBezTo>
                    <a:cubicBezTo>
                      <a:pt x="5" y="46"/>
                      <a:pt x="13" y="47"/>
                      <a:pt x="13" y="47"/>
                    </a:cubicBezTo>
                    <a:cubicBezTo>
                      <a:pt x="13" y="47"/>
                      <a:pt x="13" y="47"/>
                      <a:pt x="13" y="47"/>
                    </a:cubicBezTo>
                    <a:close/>
                  </a:path>
                </a:pathLst>
              </a:custGeom>
              <a:solidFill>
                <a:srgbClr val="FCA49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sp>
        <p:nvSpPr>
          <p:cNvPr id="319" name="文本框 318"/>
          <p:cNvSpPr txBox="1"/>
          <p:nvPr/>
        </p:nvSpPr>
        <p:spPr>
          <a:xfrm>
            <a:off x="1781175" y="3310255"/>
            <a:ext cx="74612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市场推广</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0" name="文本框 319"/>
          <p:cNvSpPr txBox="1"/>
          <p:nvPr/>
        </p:nvSpPr>
        <p:spPr>
          <a:xfrm>
            <a:off x="2831465" y="3109595"/>
            <a:ext cx="1097280"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获取产品信息</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1" name="文本框 320"/>
          <p:cNvSpPr txBox="1"/>
          <p:nvPr/>
        </p:nvSpPr>
        <p:spPr>
          <a:xfrm>
            <a:off x="2150110" y="2334260"/>
            <a:ext cx="73723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首次进店</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2" name="文本框 321"/>
          <p:cNvSpPr txBox="1"/>
          <p:nvPr/>
        </p:nvSpPr>
        <p:spPr>
          <a:xfrm>
            <a:off x="3472815" y="2243455"/>
            <a:ext cx="106997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确定销售方案</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3" name="文本框 322"/>
          <p:cNvSpPr txBox="1"/>
          <p:nvPr/>
        </p:nvSpPr>
        <p:spPr>
          <a:xfrm>
            <a:off x="4886325" y="2355850"/>
            <a:ext cx="74612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购买成交</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4" name="文本框 323"/>
          <p:cNvSpPr txBox="1"/>
          <p:nvPr/>
        </p:nvSpPr>
        <p:spPr>
          <a:xfrm>
            <a:off x="5576570" y="2739390"/>
            <a:ext cx="73723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加入会员</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5" name="文本框 324"/>
          <p:cNvSpPr txBox="1"/>
          <p:nvPr/>
        </p:nvSpPr>
        <p:spPr>
          <a:xfrm>
            <a:off x="6584950" y="2560320"/>
            <a:ext cx="73723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活动推送</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6" name="文本框 325"/>
          <p:cNvSpPr txBox="1"/>
          <p:nvPr/>
        </p:nvSpPr>
        <p:spPr>
          <a:xfrm>
            <a:off x="7691120" y="2943225"/>
            <a:ext cx="73723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二次购买</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7" name="文本框 326"/>
          <p:cNvSpPr txBox="1"/>
          <p:nvPr/>
        </p:nvSpPr>
        <p:spPr>
          <a:xfrm>
            <a:off x="8004810" y="2066290"/>
            <a:ext cx="73723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线上商城</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8" name="文本框 327"/>
          <p:cNvSpPr txBox="1"/>
          <p:nvPr/>
        </p:nvSpPr>
        <p:spPr>
          <a:xfrm>
            <a:off x="9307830" y="3115945"/>
            <a:ext cx="73723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激活卡券</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9" name="文本框 328"/>
          <p:cNvSpPr txBox="1"/>
          <p:nvPr/>
        </p:nvSpPr>
        <p:spPr>
          <a:xfrm>
            <a:off x="10855960" y="3062605"/>
            <a:ext cx="421640"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传播</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0" name="文本框 329"/>
          <p:cNvSpPr txBox="1"/>
          <p:nvPr/>
        </p:nvSpPr>
        <p:spPr>
          <a:xfrm>
            <a:off x="9207500" y="2247265"/>
            <a:ext cx="737235" cy="274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会员活动</a:t>
            </a:r>
            <a:endParaRPr kumimoji="0" lang="zh-CN" altLang="en-US" sz="12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1" name="椭圆 330"/>
          <p:cNvSpPr/>
          <p:nvPr/>
        </p:nvSpPr>
        <p:spPr>
          <a:xfrm>
            <a:off x="10693400" y="3123565"/>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2" name="椭圆 331"/>
          <p:cNvSpPr/>
          <p:nvPr/>
        </p:nvSpPr>
        <p:spPr>
          <a:xfrm>
            <a:off x="2159635" y="3074035"/>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3" name="椭圆 332"/>
          <p:cNvSpPr/>
          <p:nvPr/>
        </p:nvSpPr>
        <p:spPr>
          <a:xfrm>
            <a:off x="2717800" y="2630170"/>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4" name="椭圆 333"/>
          <p:cNvSpPr/>
          <p:nvPr/>
        </p:nvSpPr>
        <p:spPr>
          <a:xfrm>
            <a:off x="3422650" y="2853690"/>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5" name="椭圆 334"/>
          <p:cNvSpPr/>
          <p:nvPr/>
        </p:nvSpPr>
        <p:spPr>
          <a:xfrm>
            <a:off x="4487545" y="2591435"/>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6" name="椭圆 335"/>
          <p:cNvSpPr/>
          <p:nvPr/>
        </p:nvSpPr>
        <p:spPr>
          <a:xfrm>
            <a:off x="4949825" y="2242820"/>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7" name="椭圆 336"/>
          <p:cNvSpPr/>
          <p:nvPr/>
        </p:nvSpPr>
        <p:spPr>
          <a:xfrm>
            <a:off x="6056630" y="2523490"/>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8" name="椭圆 337"/>
          <p:cNvSpPr/>
          <p:nvPr/>
        </p:nvSpPr>
        <p:spPr>
          <a:xfrm>
            <a:off x="6558280" y="3042285"/>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9" name="椭圆 338"/>
          <p:cNvSpPr/>
          <p:nvPr/>
        </p:nvSpPr>
        <p:spPr>
          <a:xfrm>
            <a:off x="7690485" y="2821940"/>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40" name="椭圆 339"/>
          <p:cNvSpPr/>
          <p:nvPr/>
        </p:nvSpPr>
        <p:spPr>
          <a:xfrm>
            <a:off x="8305800" y="2379980"/>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41" name="椭圆 340"/>
          <p:cNvSpPr/>
          <p:nvPr/>
        </p:nvSpPr>
        <p:spPr>
          <a:xfrm>
            <a:off x="9036685" y="2457450"/>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42" name="椭圆 341"/>
          <p:cNvSpPr/>
          <p:nvPr/>
        </p:nvSpPr>
        <p:spPr>
          <a:xfrm>
            <a:off x="9812655" y="2909570"/>
            <a:ext cx="90805" cy="90805"/>
          </a:xfrm>
          <a:prstGeom prst="ellipse">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矩形 6"/>
          <p:cNvSpPr/>
          <p:nvPr/>
        </p:nvSpPr>
        <p:spPr>
          <a:xfrm>
            <a:off x="1627505" y="4342765"/>
            <a:ext cx="9993630" cy="37655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品牌消费者场景：新品发布、人群破圈、会员</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复购</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 name="矩形 21"/>
          <p:cNvSpPr/>
          <p:nvPr/>
        </p:nvSpPr>
        <p:spPr>
          <a:xfrm>
            <a:off x="2135924" y="4975860"/>
            <a:ext cx="883234" cy="1046519"/>
          </a:xfrm>
          <a:prstGeom prst="rect">
            <a:avLst/>
          </a:prstGeom>
          <a:solidFill>
            <a:schemeClr val="accent3">
              <a:lumMod val="20000"/>
              <a:lumOff val="80000"/>
              <a:alpha val="0"/>
            </a:schemeClr>
          </a:solidFill>
          <a:ln w="127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曝光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点击人数</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 name="矩形 22"/>
          <p:cNvSpPr/>
          <p:nvPr/>
        </p:nvSpPr>
        <p:spPr>
          <a:xfrm>
            <a:off x="3122930" y="4975860"/>
            <a:ext cx="1329055" cy="1046480"/>
          </a:xfrm>
          <a:prstGeom prst="rect">
            <a:avLst/>
          </a:prstGeom>
          <a:solidFill>
            <a:schemeClr val="accent3">
              <a:lumMod val="20000"/>
              <a:lumOff val="80000"/>
              <a:alpha val="0"/>
            </a:schemeClr>
          </a:solidFill>
          <a:ln w="127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短视频</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直播观看人</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数店铺商品刘览</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无品牌搜索人数</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 name="矩形 23"/>
          <p:cNvSpPr/>
          <p:nvPr/>
        </p:nvSpPr>
        <p:spPr>
          <a:xfrm>
            <a:off x="4542790" y="4975860"/>
            <a:ext cx="1146810" cy="1046480"/>
          </a:xfrm>
          <a:prstGeom prst="rect">
            <a:avLst/>
          </a:prstGeom>
          <a:solidFill>
            <a:schemeClr val="accent3">
              <a:lumMod val="20000"/>
              <a:lumOff val="80000"/>
              <a:alpha val="0"/>
            </a:schemeClr>
          </a:solidFill>
          <a:ln w="127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互动</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订阅</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试用</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浏览</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搜索人数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 name="矩形 24"/>
          <p:cNvSpPr/>
          <p:nvPr/>
        </p:nvSpPr>
        <p:spPr>
          <a:xfrm>
            <a:off x="5762625" y="4975860"/>
            <a:ext cx="1140460" cy="1046480"/>
          </a:xfrm>
          <a:prstGeom prst="rect">
            <a:avLst/>
          </a:prstGeom>
          <a:solidFill>
            <a:schemeClr val="accent3">
              <a:lumMod val="20000"/>
              <a:lumOff val="80000"/>
              <a:alpha val="0"/>
            </a:schemeClr>
          </a:solidFill>
          <a:ln w="127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入会未购</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收藏加购</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购前咨询人数</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 name="矩形 25"/>
          <p:cNvSpPr/>
          <p:nvPr/>
        </p:nvSpPr>
        <p:spPr>
          <a:xfrm>
            <a:off x="6968490" y="4975860"/>
            <a:ext cx="1035685" cy="1046480"/>
          </a:xfrm>
          <a:prstGeom prst="rect">
            <a:avLst/>
          </a:prstGeom>
          <a:solidFill>
            <a:schemeClr val="accent3">
              <a:lumMod val="20000"/>
              <a:lumOff val="80000"/>
              <a:alpha val="0"/>
            </a:schemeClr>
          </a:solidFill>
          <a:ln w="127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2"/>
                </a:solidFill>
                <a:latin typeface="微软雅黑" panose="020B0503020204020204" charset="-122"/>
                <a:ea typeface="微软雅黑" panose="020B0503020204020204" charset="-122"/>
                <a:cs typeface="微软雅黑" panose="020B0503020204020204" charset="-122"/>
              </a:rPr>
              <a:t>UD/</a:t>
            </a:r>
            <a:r>
              <a:rPr lang="zh-SG" altLang="en-US" sz="1000">
                <a:solidFill>
                  <a:schemeClr val="tx2"/>
                </a:solidFill>
                <a:latin typeface="微软雅黑" panose="020B0503020204020204" charset="-122"/>
                <a:ea typeface="微软雅黑" panose="020B0503020204020204" charset="-122"/>
                <a:cs typeface="微软雅黑" panose="020B0503020204020204" charset="-122"/>
              </a:rPr>
              <a:t>流量宝</a:t>
            </a:r>
            <a:r>
              <a:rPr lang="en-US" altLang="zh-SG" sz="1000">
                <a:solidFill>
                  <a:schemeClr val="tx2"/>
                </a:solidFill>
                <a:latin typeface="微软雅黑" panose="020B0503020204020204" charset="-122"/>
                <a:ea typeface="微软雅黑" panose="020B0503020204020204" charset="-122"/>
                <a:cs typeface="微软雅黑" panose="020B0503020204020204" charset="-122"/>
              </a:rPr>
              <a:t>/</a:t>
            </a:r>
            <a:endParaRPr lang="en-US" altLang="zh-SG"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SG" altLang="en-US" sz="1000">
                <a:solidFill>
                  <a:schemeClr val="tx2"/>
                </a:solidFill>
                <a:latin typeface="微软雅黑" panose="020B0503020204020204" charset="-122"/>
                <a:ea typeface="微软雅黑" panose="020B0503020204020204" charset="-122"/>
                <a:cs typeface="微软雅黑" panose="020B0503020204020204" charset="-122"/>
              </a:rPr>
              <a:t>品牌一方</a:t>
            </a:r>
            <a:endParaRPr lang="zh-SG"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7" name="矩形 26"/>
          <p:cNvSpPr/>
          <p:nvPr/>
        </p:nvSpPr>
        <p:spPr>
          <a:xfrm>
            <a:off x="8102600" y="4975860"/>
            <a:ext cx="1024255" cy="1046480"/>
          </a:xfrm>
          <a:prstGeom prst="rect">
            <a:avLst/>
          </a:prstGeom>
          <a:solidFill>
            <a:schemeClr val="accent3">
              <a:lumMod val="20000"/>
              <a:lumOff val="80000"/>
              <a:alpha val="0"/>
            </a:schemeClr>
          </a:solidFill>
          <a:ln w="127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首次购买人数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 name="矩形 27"/>
          <p:cNvSpPr/>
          <p:nvPr/>
        </p:nvSpPr>
        <p:spPr>
          <a:xfrm>
            <a:off x="9186545" y="4975860"/>
            <a:ext cx="1059815" cy="1046480"/>
          </a:xfrm>
          <a:prstGeom prst="rect">
            <a:avLst/>
          </a:prstGeom>
          <a:solidFill>
            <a:schemeClr val="accent3">
              <a:lumMod val="20000"/>
              <a:lumOff val="80000"/>
              <a:alpha val="0"/>
            </a:schemeClr>
          </a:solidFill>
          <a:ln w="127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非会员复购</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人数非会员口碑传播人数</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 name="矩形 28"/>
          <p:cNvSpPr/>
          <p:nvPr/>
        </p:nvSpPr>
        <p:spPr>
          <a:xfrm>
            <a:off x="10304996" y="4975860"/>
            <a:ext cx="1204963" cy="1046519"/>
          </a:xfrm>
          <a:prstGeom prst="rect">
            <a:avLst/>
          </a:prstGeom>
          <a:solidFill>
            <a:schemeClr val="accent3">
              <a:lumMod val="20000"/>
              <a:lumOff val="80000"/>
              <a:alpha val="0"/>
            </a:schemeClr>
          </a:solidFill>
          <a:ln w="127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会员复购</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人数会员口碑</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传播人数</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1624547" y="5299161"/>
            <a:ext cx="438150" cy="398780"/>
          </a:xfrm>
          <a:prstGeom prst="rect">
            <a:avLst/>
          </a:prstGeom>
          <a:noFill/>
        </p:spPr>
        <p:txBody>
          <a:bodyPr wrap="none">
            <a:spAutoFit/>
          </a:bodyPr>
          <a:lstStyle/>
          <a:p>
            <a:pPr algn="ctr"/>
            <a:r>
              <a:rPr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基础</a:t>
            </a:r>
            <a:endParaRPr lang="en-US" altLang="zh-CN"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指标</a:t>
            </a:r>
            <a:endParaRPr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1625184" y="6096048"/>
            <a:ext cx="436880" cy="398780"/>
          </a:xfrm>
          <a:prstGeom prst="rect">
            <a:avLst/>
          </a:prstGeom>
          <a:noFill/>
        </p:spPr>
        <p:txBody>
          <a:bodyPr wrap="none">
            <a:spAutoFit/>
          </a:bodyPr>
          <a:lstStyle/>
          <a:p>
            <a:pPr algn="ctr"/>
            <a:r>
              <a:rPr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运营</a:t>
            </a:r>
            <a:endParaRPr lang="en-US" altLang="zh-CN"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指标</a:t>
            </a:r>
            <a:endParaRPr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32" name="组合 31"/>
          <p:cNvGrpSpPr/>
          <p:nvPr/>
        </p:nvGrpSpPr>
        <p:grpSpPr>
          <a:xfrm rot="5400000">
            <a:off x="4168775" y="4225925"/>
            <a:ext cx="112395" cy="4177665"/>
            <a:chOff x="442913" y="981075"/>
            <a:chExt cx="112712" cy="1266825"/>
          </a:xfrm>
        </p:grpSpPr>
        <p:cxnSp>
          <p:nvCxnSpPr>
            <p:cNvPr id="33" name="直接箭头连接符 32"/>
            <p:cNvCxnSpPr/>
            <p:nvPr/>
          </p:nvCxnSpPr>
          <p:spPr>
            <a:xfrm>
              <a:off x="499269" y="981075"/>
              <a:ext cx="0" cy="1261013"/>
            </a:xfrm>
            <a:prstGeom prst="straightConnector1">
              <a:avLst/>
            </a:prstGeom>
            <a:ln w="12700">
              <a:solidFill>
                <a:schemeClr val="accent1">
                  <a:lumMod val="60000"/>
                  <a:lumOff val="40000"/>
                </a:schemeClr>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34" name="直接连接符 33"/>
            <p:cNvCxnSpPr/>
            <p:nvPr/>
          </p:nvCxnSpPr>
          <p:spPr>
            <a:xfrm>
              <a:off x="442913" y="981075"/>
              <a:ext cx="112712"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5" name="直接连接符 34"/>
            <p:cNvCxnSpPr/>
            <p:nvPr/>
          </p:nvCxnSpPr>
          <p:spPr>
            <a:xfrm>
              <a:off x="442913" y="2247900"/>
              <a:ext cx="112712"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grpSp>
      <p:grpSp>
        <p:nvGrpSpPr>
          <p:cNvPr id="36" name="组合 35"/>
          <p:cNvGrpSpPr/>
          <p:nvPr/>
        </p:nvGrpSpPr>
        <p:grpSpPr>
          <a:xfrm rot="5400000">
            <a:off x="9927590" y="4789170"/>
            <a:ext cx="112395" cy="3051810"/>
            <a:chOff x="442913" y="981075"/>
            <a:chExt cx="112712" cy="1266825"/>
          </a:xfrm>
        </p:grpSpPr>
        <p:cxnSp>
          <p:nvCxnSpPr>
            <p:cNvPr id="43" name="直接箭头连接符 42"/>
            <p:cNvCxnSpPr/>
            <p:nvPr/>
          </p:nvCxnSpPr>
          <p:spPr>
            <a:xfrm>
              <a:off x="499269" y="981075"/>
              <a:ext cx="0" cy="1261013"/>
            </a:xfrm>
            <a:prstGeom prst="straightConnector1">
              <a:avLst/>
            </a:prstGeom>
            <a:ln w="12700">
              <a:solidFill>
                <a:schemeClr val="accent1">
                  <a:lumMod val="60000"/>
                  <a:lumOff val="40000"/>
                </a:schemeClr>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44" name="直接连接符 43"/>
            <p:cNvCxnSpPr/>
            <p:nvPr/>
          </p:nvCxnSpPr>
          <p:spPr>
            <a:xfrm>
              <a:off x="442913" y="981075"/>
              <a:ext cx="112712"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66" name="直接连接符 65"/>
            <p:cNvCxnSpPr/>
            <p:nvPr/>
          </p:nvCxnSpPr>
          <p:spPr>
            <a:xfrm>
              <a:off x="442913" y="2247900"/>
              <a:ext cx="112712"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grpSp>
      <p:sp>
        <p:nvSpPr>
          <p:cNvPr id="67" name="文本框 66"/>
          <p:cNvSpPr txBox="1"/>
          <p:nvPr/>
        </p:nvSpPr>
        <p:spPr>
          <a:xfrm>
            <a:off x="2756535" y="6191885"/>
            <a:ext cx="3134360" cy="245110"/>
          </a:xfrm>
          <a:prstGeom prst="rect">
            <a:avLst/>
          </a:prstGeom>
          <a:solidFill>
            <a:schemeClr val="accent1">
              <a:lumMod val="60000"/>
              <a:lumOff val="40000"/>
            </a:schemeClr>
          </a:solidFill>
        </p:spPr>
        <p:txBody>
          <a:bodyPr wrap="square">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人群触达率</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触达频次</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人群流转率</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心智份额</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兴趣度</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3" name="文本框 72"/>
          <p:cNvSpPr txBox="1"/>
          <p:nvPr/>
        </p:nvSpPr>
        <p:spPr>
          <a:xfrm>
            <a:off x="8902541" y="6193315"/>
            <a:ext cx="2217980" cy="245110"/>
          </a:xfrm>
          <a:prstGeom prst="rect">
            <a:avLst/>
          </a:prstGeom>
          <a:solidFill>
            <a:schemeClr val="accent1">
              <a:lumMod val="60000"/>
              <a:lumOff val="40000"/>
            </a:schemeClr>
          </a:solidFill>
        </p:spPr>
        <p:txBody>
          <a:bodyPr wrap="square">
            <a:spAutoFit/>
          </a:bodyPr>
          <a:lstStyle/>
          <a:p>
            <a:pPr lvl="0" algn="ctr">
              <a:buClrTx/>
              <a:buSzTx/>
              <a:buFontTx/>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人群触达率/达频次/人群流转率/LTV</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4" name="文本框 73"/>
          <p:cNvSpPr txBox="1"/>
          <p:nvPr/>
        </p:nvSpPr>
        <p:spPr>
          <a:xfrm>
            <a:off x="6416675" y="6193155"/>
            <a:ext cx="1946275" cy="245110"/>
          </a:xfrm>
          <a:prstGeom prst="rect">
            <a:avLst/>
          </a:prstGeom>
          <a:solidFill>
            <a:schemeClr val="accent1">
              <a:lumMod val="60000"/>
              <a:lumOff val="40000"/>
            </a:schemeClr>
          </a:solidFill>
        </p:spPr>
        <p:txBody>
          <a:bodyPr wrap="square">
            <a:spAutoFit/>
          </a:bodyPr>
          <a:lstStyle/>
          <a:p>
            <a:pPr lvl="0" algn="ctr">
              <a:buClrTx/>
              <a:buSzTx/>
              <a:buFontTx/>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外投洞察/二次追投/人群流转率</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5" name="矩形 74"/>
          <p:cNvSpPr/>
          <p:nvPr/>
        </p:nvSpPr>
        <p:spPr>
          <a:xfrm>
            <a:off x="608965" y="4067175"/>
            <a:ext cx="879475" cy="2532380"/>
          </a:xfrm>
          <a:prstGeom prst="rect">
            <a:avLst/>
          </a:prstGeom>
          <a:gradFill flip="none" rotWithShape="1">
            <a:gsLst>
              <a:gs pos="100000">
                <a:schemeClr val="accent1">
                  <a:lumMod val="60000"/>
                  <a:lumOff val="40000"/>
                </a:schemeClr>
              </a:gs>
              <a:gs pos="18000">
                <a:schemeClr val="accent1"/>
              </a:gs>
            </a:gsLst>
            <a:lin ang="2700000" scaled="1"/>
          </a:gradFill>
          <a:ln>
            <a:no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运营</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lvl="0" algn="ctr">
              <a:spcBef>
                <a:spcPts val="0"/>
              </a:spcBef>
              <a:spcAft>
                <a:spcPts val="0"/>
              </a:spcAft>
              <a:buClrTx/>
              <a:buSzTx/>
              <a:buFontTx/>
              <a:defRPr/>
            </a:pPr>
            <a:r>
              <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场景</a:t>
            </a:r>
            <a:endParaRPr lang="zh-CN" altLang="en-US" sz="16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94" name="组合 93"/>
          <p:cNvGrpSpPr/>
          <p:nvPr/>
        </p:nvGrpSpPr>
        <p:grpSpPr>
          <a:xfrm rot="5400000">
            <a:off x="4796155" y="982345"/>
            <a:ext cx="112395" cy="6389370"/>
            <a:chOff x="442913" y="981075"/>
            <a:chExt cx="112712" cy="1266825"/>
          </a:xfrm>
        </p:grpSpPr>
        <p:cxnSp>
          <p:nvCxnSpPr>
            <p:cNvPr id="95" name="直接箭头连接符 94"/>
            <p:cNvCxnSpPr/>
            <p:nvPr/>
          </p:nvCxnSpPr>
          <p:spPr>
            <a:xfrm>
              <a:off x="499269" y="981075"/>
              <a:ext cx="0" cy="1261013"/>
            </a:xfrm>
            <a:prstGeom prst="straightConnector1">
              <a:avLst/>
            </a:prstGeom>
            <a:ln w="12700">
              <a:solidFill>
                <a:schemeClr val="accent6"/>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96" name="直接连接符 95"/>
            <p:cNvCxnSpPr/>
            <p:nvPr/>
          </p:nvCxnSpPr>
          <p:spPr>
            <a:xfrm>
              <a:off x="442913" y="981075"/>
              <a:ext cx="112712" cy="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8" name="直接连接符 97"/>
            <p:cNvCxnSpPr/>
            <p:nvPr/>
          </p:nvCxnSpPr>
          <p:spPr>
            <a:xfrm>
              <a:off x="442913" y="2247900"/>
              <a:ext cx="112712" cy="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grpSp>
      <p:sp>
        <p:nvSpPr>
          <p:cNvPr id="99" name="文本框 98"/>
          <p:cNvSpPr txBox="1"/>
          <p:nvPr/>
        </p:nvSpPr>
        <p:spPr>
          <a:xfrm>
            <a:off x="4599940" y="4067175"/>
            <a:ext cx="1089660" cy="275590"/>
          </a:xfrm>
          <a:prstGeom prst="rect">
            <a:avLst/>
          </a:prstGeom>
          <a:solidFill>
            <a:schemeClr val="bg1"/>
          </a:solidFill>
        </p:spPr>
        <p:txBody>
          <a:bodyPr wrap="square">
            <a:spAutoFit/>
          </a:bodyPr>
          <a:lstStyle/>
          <a:p>
            <a:pPr algn="ct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公域投放</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00" name="组合 99"/>
          <p:cNvGrpSpPr/>
          <p:nvPr/>
        </p:nvGrpSpPr>
        <p:grpSpPr>
          <a:xfrm rot="5400000">
            <a:off x="9805670" y="2418080"/>
            <a:ext cx="112395" cy="3518535"/>
            <a:chOff x="442913" y="981075"/>
            <a:chExt cx="112712" cy="1266825"/>
          </a:xfrm>
        </p:grpSpPr>
        <p:cxnSp>
          <p:nvCxnSpPr>
            <p:cNvPr id="101" name="直接箭头连接符 100"/>
            <p:cNvCxnSpPr/>
            <p:nvPr/>
          </p:nvCxnSpPr>
          <p:spPr>
            <a:xfrm>
              <a:off x="499269" y="981075"/>
              <a:ext cx="0" cy="1261013"/>
            </a:xfrm>
            <a:prstGeom prst="straightConnector1">
              <a:avLst/>
            </a:prstGeom>
            <a:ln w="12700">
              <a:solidFill>
                <a:schemeClr val="accent6"/>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102" name="直接连接符 101"/>
            <p:cNvCxnSpPr/>
            <p:nvPr/>
          </p:nvCxnSpPr>
          <p:spPr>
            <a:xfrm>
              <a:off x="442913" y="981075"/>
              <a:ext cx="112712" cy="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03" name="直接连接符 102"/>
            <p:cNvCxnSpPr/>
            <p:nvPr/>
          </p:nvCxnSpPr>
          <p:spPr>
            <a:xfrm>
              <a:off x="442913" y="2247900"/>
              <a:ext cx="112712" cy="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grpSp>
      <p:sp>
        <p:nvSpPr>
          <p:cNvPr id="104" name="文本框 103"/>
          <p:cNvSpPr txBox="1"/>
          <p:nvPr/>
        </p:nvSpPr>
        <p:spPr>
          <a:xfrm>
            <a:off x="9546590" y="4039235"/>
            <a:ext cx="1089660" cy="275590"/>
          </a:xfrm>
          <a:prstGeom prst="rect">
            <a:avLst/>
          </a:prstGeom>
          <a:solidFill>
            <a:schemeClr val="bg1"/>
          </a:solidFill>
        </p:spPr>
        <p:txBody>
          <a:bodyPr wrap="square">
            <a:spAutoFit/>
          </a:bodyPr>
          <a:lstStyle/>
          <a:p>
            <a:pPr algn="ct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私域投放</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3" name="图片 2"/>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 name="文本框 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36028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a:t>
            </a:r>
            <a:r>
              <a:rPr sz="2500">
                <a:solidFill>
                  <a:srgbClr val="213271"/>
                </a:solidFill>
                <a:effectLst/>
                <a:latin typeface="微软雅黑" panose="020B0503020204020204" charset="-122"/>
                <a:ea typeface="微软雅黑" panose="020B0503020204020204" charset="-122"/>
                <a:cs typeface="微软雅黑" panose="020B0503020204020204" charset="-122"/>
              </a:rPr>
              <a:t>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不同阶段车企竞争力分析</a:t>
            </a:r>
            <a:endParaRPr lang="zh-CN" altLang="en-US"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圆角矩形 11"/>
          <p:cNvSpPr/>
          <p:nvPr/>
        </p:nvSpPr>
        <p:spPr>
          <a:xfrm>
            <a:off x="558800" y="1132205"/>
            <a:ext cx="1896745" cy="5437505"/>
          </a:xfrm>
          <a:prstGeom prst="roundRect">
            <a:avLst>
              <a:gd name="adj" fmla="val 0"/>
            </a:avLst>
          </a:prstGeom>
          <a:solidFill>
            <a:schemeClr val="accent1">
              <a:alpha val="10000"/>
            </a:schemeClr>
          </a:solidFill>
          <a:ln w="9525" cap="flat" cmpd="sng" algn="ctr">
            <a:solidFill>
              <a:schemeClr val="accent1">
                <a:alpha val="40000"/>
              </a:schemeClr>
            </a:solidFill>
            <a:prstDash val="solid"/>
            <a:miter lim="800000"/>
          </a:ln>
          <a:effectLst/>
        </p:spPr>
        <p:txBody>
          <a:bodyPr rtlCol="0" anchor="ctr"/>
          <a:lstStyle/>
          <a:p>
            <a:pPr algn="ctr"/>
            <a:endParaRPr lang="zh-CN" altLang="en-US"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6" name="圆角矩形 11"/>
          <p:cNvSpPr/>
          <p:nvPr/>
        </p:nvSpPr>
        <p:spPr>
          <a:xfrm>
            <a:off x="2713990" y="3180715"/>
            <a:ext cx="2225675" cy="571500"/>
          </a:xfrm>
          <a:prstGeom prst="roundRect">
            <a:avLst>
              <a:gd name="adj" fmla="val 0"/>
            </a:avLst>
          </a:prstGeom>
          <a:gradFill>
            <a:gsLst>
              <a:gs pos="33000">
                <a:schemeClr val="accent1">
                  <a:lumMod val="20000"/>
                  <a:lumOff val="80000"/>
                  <a:alpha val="0"/>
                </a:schemeClr>
              </a:gs>
              <a:gs pos="100000">
                <a:schemeClr val="accent1">
                  <a:lumMod val="20000"/>
                  <a:lumOff val="80000"/>
                </a:schemeClr>
              </a:gs>
            </a:gsLst>
            <a:lin ang="21594000" scaled="0"/>
          </a:gradFill>
          <a:ln w="9525" cap="flat" cmpd="sng" algn="ctr">
            <a:noFill/>
            <a:prstDash val="solid"/>
            <a:miter lim="800000"/>
          </a:ln>
          <a:effectLst/>
        </p:spPr>
        <p:txBody>
          <a:bodyPr rtlCol="0" anchor="ctr"/>
          <a:lstStyle/>
          <a:p>
            <a:pPr indent="0" algn="l">
              <a:buFont typeface="微软雅黑" panose="020B0503020204020204" charset="-122"/>
              <a:buNone/>
            </a:pPr>
            <a:r>
              <a:rPr lang="zh-CN" sz="1100" dirty="0">
                <a:solidFill>
                  <a:schemeClr val="tx2"/>
                </a:solidFill>
                <a:latin typeface="微软雅黑" panose="020B0503020204020204" charset="-122"/>
                <a:ea typeface="微软雅黑" panose="020B0503020204020204" charset="-122"/>
                <a:cs typeface="微软雅黑" panose="020B0503020204020204" charset="-122"/>
                <a:sym typeface="+mn-ea"/>
              </a:rPr>
              <a:t>指汽车作为一个产品的技术核心、功能、质量等方面的竞争力</a:t>
            </a:r>
            <a:endParaRPr lang="zh-CN" sz="1100" kern="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6" name="Rectangle: Top Corners Rounded 32"/>
          <p:cNvSpPr/>
          <p:nvPr/>
        </p:nvSpPr>
        <p:spPr>
          <a:xfrm>
            <a:off x="684269" y="1225690"/>
            <a:ext cx="1619394" cy="360000"/>
          </a:xfrm>
          <a:prstGeom prst="round2SameRect">
            <a:avLst>
              <a:gd name="adj1" fmla="val 6470"/>
              <a:gd name="adj2" fmla="val 0"/>
            </a:avLst>
          </a:prstGeom>
          <a:solidFill>
            <a:schemeClr val="accent1"/>
          </a:solidFill>
          <a:ln w="9525" cap="flat" cmpd="sng" algn="ctr">
            <a:noFill/>
            <a:prstDash val="solid"/>
            <a:miter lim="800000"/>
          </a:ln>
          <a:effectLst/>
        </p:spPr>
        <p:txBody>
          <a:bodyPr rtlCol="0" anchor="ctr"/>
          <a:lstStyle/>
          <a:p>
            <a:pPr algn="ctr"/>
            <a:r>
              <a:rPr lang="zh-CN" altLang="en-US" sz="1400" kern="0" dirty="0">
                <a:solidFill>
                  <a:prstClr val="white"/>
                </a:solidFill>
                <a:latin typeface="微软雅黑" panose="020B0503020204020204" charset="-122"/>
                <a:ea typeface="微软雅黑" panose="020B0503020204020204" charset="-122"/>
                <a:cs typeface="微软雅黑" panose="020B0503020204020204" charset="-122"/>
                <a:sym typeface="微软雅黑" panose="020B0503020204020204" charset="-122"/>
              </a:rPr>
              <a:t>供需时代</a:t>
            </a: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 name="Rectangle: Top Corners Rounded 32"/>
          <p:cNvSpPr/>
          <p:nvPr/>
        </p:nvSpPr>
        <p:spPr>
          <a:xfrm>
            <a:off x="684530" y="1793875"/>
            <a:ext cx="1619250" cy="761365"/>
          </a:xfrm>
          <a:prstGeom prst="rect">
            <a:avLst/>
          </a:prstGeom>
          <a:solidFill>
            <a:srgbClr val="FFFFFF"/>
          </a:solidFill>
          <a:ln w="12700" cap="flat" cmpd="sng" algn="ctr">
            <a:solidFill>
              <a:schemeClr val="accent1">
                <a:alpha val="40000"/>
              </a:schemeClr>
            </a:solidFill>
            <a:prstDash val="dash"/>
            <a:miter lim="800000"/>
          </a:ln>
          <a:effectLst/>
        </p:spPr>
        <p:txBody>
          <a:bodyPr lIns="82296" tIns="41148" rIns="82296" bIns="41148" rtlCol="0" anchor="ctr"/>
          <a:lstStyle/>
          <a:p>
            <a:pPr algn="ctr"/>
            <a:r>
              <a:rPr lang="zh-CN" altLang="en-US" sz="1200"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车企视角下的</a:t>
            </a:r>
            <a:endParaRPr lang="zh-CN" altLang="en-US" sz="1200"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600" b="1"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业务竞争逻辑</a:t>
            </a:r>
            <a:endParaRPr lang="zh-CN" altLang="en-US" sz="1600" b="1"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5" name="Rectangle: Top Corners Rounded 32"/>
          <p:cNvSpPr/>
          <p:nvPr/>
        </p:nvSpPr>
        <p:spPr>
          <a:xfrm>
            <a:off x="697865" y="2846705"/>
            <a:ext cx="1619250" cy="980440"/>
          </a:xfrm>
          <a:prstGeom prst="rect">
            <a:avLst/>
          </a:prstGeom>
          <a:solidFill>
            <a:srgbClr val="FFFFFF"/>
          </a:solidFill>
          <a:ln w="12700" cap="flat" cmpd="sng" algn="ctr">
            <a:solidFill>
              <a:schemeClr val="accent1">
                <a:alpha val="40000"/>
              </a:schemeClr>
            </a:solidFill>
            <a:prstDash val="dash"/>
            <a:miter lim="800000"/>
          </a:ln>
          <a:effectLst/>
        </p:spPr>
        <p:txBody>
          <a:bodyPr lIns="82296" tIns="41148" rIns="82296" bIns="41148" rtlCol="0" anchor="ctr"/>
          <a:lstStyle/>
          <a:p>
            <a:pPr algn="ctr"/>
            <a:r>
              <a:rPr lang="zh-CN" altLang="en-US" sz="1200"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不同阶段车企</a:t>
            </a:r>
            <a:endParaRPr lang="zh-CN" altLang="en-US" sz="1600" b="1"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600" b="1"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所属核心竞争力</a:t>
            </a:r>
            <a:endParaRPr lang="zh-CN" altLang="en-US" sz="1600" b="1"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等腰三角形 24"/>
          <p:cNvSpPr>
            <a:spLocks noChangeAspect="1"/>
          </p:cNvSpPr>
          <p:nvPr/>
        </p:nvSpPr>
        <p:spPr>
          <a:xfrm rot="10800000">
            <a:off x="1231265" y="2635885"/>
            <a:ext cx="525780" cy="288290"/>
          </a:xfrm>
          <a:prstGeom prst="triangle">
            <a:avLst/>
          </a:prstGeom>
          <a:gradFill>
            <a:gsLst>
              <a:gs pos="92000">
                <a:schemeClr val="accent1">
                  <a:alpha val="0"/>
                </a:schemeClr>
              </a:gs>
              <a:gs pos="0">
                <a:schemeClr val="accent1"/>
              </a:gs>
            </a:gsLst>
            <a:lin ang="5400000" scaled="1"/>
          </a:gradFill>
          <a:ln w="12700" cap="flat" cmpd="sng" algn="ctr">
            <a:noFill/>
            <a:prstDash val="solid"/>
            <a:miter lim="800000"/>
          </a:ln>
          <a:effectLst/>
        </p:spPr>
        <p:txBody>
          <a:bodyPr rtlCol="0" anchor="ctr">
            <a:noAutofit/>
          </a:bodyPr>
          <a:lstStyle/>
          <a:p>
            <a:pPr lvl="0" algn="ctr">
              <a:buClrTx/>
              <a:buSzTx/>
              <a:buFontTx/>
            </a:pPr>
            <a:endParaRPr lang="zh-CN" altLang="en-US">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9" name="Rectangle: Top Corners Rounded 32"/>
          <p:cNvSpPr/>
          <p:nvPr/>
        </p:nvSpPr>
        <p:spPr>
          <a:xfrm>
            <a:off x="697865" y="4147185"/>
            <a:ext cx="1619250" cy="2237740"/>
          </a:xfrm>
          <a:prstGeom prst="rect">
            <a:avLst/>
          </a:prstGeom>
          <a:solidFill>
            <a:srgbClr val="FFFFFF"/>
          </a:solidFill>
          <a:ln w="12700" cap="flat" cmpd="sng" algn="ctr">
            <a:solidFill>
              <a:schemeClr val="accent1">
                <a:alpha val="40000"/>
              </a:schemeClr>
            </a:solidFill>
            <a:prstDash val="dash"/>
            <a:miter lim="800000"/>
          </a:ln>
          <a:effectLst/>
        </p:spPr>
        <p:txBody>
          <a:bodyPr lIns="82296" tIns="41148" rIns="82296" bIns="41148" rtlCol="0" anchor="ctr"/>
          <a:lstStyle/>
          <a:p>
            <a:pPr algn="ctr"/>
            <a:r>
              <a:rPr lang="zh-CN" altLang="en-US" sz="1200"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各时代下的</a:t>
            </a:r>
            <a:endParaRPr lang="zh-CN" altLang="en-US" sz="1200"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600" b="1"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车企破局之道与主要的经营价值目标</a:t>
            </a:r>
            <a:endParaRPr lang="zh-CN" altLang="en-US" sz="1600" b="1"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38" name="组合 437"/>
          <p:cNvGrpSpPr/>
          <p:nvPr/>
        </p:nvGrpSpPr>
        <p:grpSpPr>
          <a:xfrm>
            <a:off x="2647961" y="1224280"/>
            <a:ext cx="2442221" cy="331805"/>
            <a:chOff x="3457586" y="2179141"/>
            <a:chExt cx="2442221" cy="331805"/>
          </a:xfrm>
          <a:solidFill>
            <a:schemeClr val="accent1">
              <a:lumMod val="60000"/>
              <a:lumOff val="40000"/>
            </a:schemeClr>
          </a:solidFill>
        </p:grpSpPr>
        <p:sp>
          <p:nvSpPr>
            <p:cNvPr id="150" name="箭头: V 形 19"/>
            <p:cNvSpPr/>
            <p:nvPr/>
          </p:nvSpPr>
          <p:spPr>
            <a:xfrm>
              <a:off x="3457586" y="2179141"/>
              <a:ext cx="2442221" cy="331805"/>
            </a:xfrm>
            <a:prstGeom prst="chevron">
              <a:avLst>
                <a:gd name="adj" fmla="val 37908"/>
              </a:avLst>
            </a:prstGeom>
            <a:grpFill/>
            <a:ln w="9525" cap="rnd" cmpd="sng">
              <a:noFill/>
              <a:prstDash val="solid"/>
              <a:round/>
            </a:ln>
            <a:effectLst>
              <a:outerShdw dist="35921" dir="2700000" algn="ctr" rotWithShape="0">
                <a:srgbClr val="E7E6E6"/>
              </a:outerShdw>
            </a:effectLst>
          </p:spPr>
          <p:txBody>
            <a:bodyPr/>
            <a:lstStyle/>
            <a:p>
              <a:endParaRPr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34" name="文本框 433"/>
            <p:cNvSpPr txBox="1"/>
            <p:nvPr/>
          </p:nvSpPr>
          <p:spPr>
            <a:xfrm>
              <a:off x="4056397" y="2230612"/>
              <a:ext cx="1244600" cy="227965"/>
            </a:xfrm>
            <a:prstGeom prst="rect">
              <a:avLst/>
            </a:prstGeom>
            <a:grpFill/>
          </p:spPr>
          <p:txBody>
            <a:bodyPr vert="horz" wrap="none" lIns="0" tIns="12700" rIns="0" bIns="0" rtlCol="0">
              <a:spAutoFit/>
            </a:bodyPr>
            <a:lstStyle/>
            <a:p>
              <a:pPr algn="ctr"/>
              <a:r>
                <a:rPr lang="zh-CN" altLang="en-US" sz="1400" b="1" dirty="0">
                  <a:solidFill>
                    <a:srgbClr val="FFFFFF"/>
                  </a:solidFill>
                  <a:effectLst/>
                  <a:latin typeface="微软雅黑" panose="020B0503020204020204" charset="-122"/>
                  <a:ea typeface="微软雅黑" panose="020B0503020204020204" charset="-122"/>
                  <a:cs typeface="微软雅黑" panose="020B0503020204020204" charset="-122"/>
                </a:rPr>
                <a:t>①</a:t>
              </a:r>
              <a:r>
                <a:rPr lang="en-US" sz="1400" b="1" dirty="0">
                  <a:solidFill>
                    <a:srgbClr val="FFFFFF"/>
                  </a:solidFill>
                  <a:effectLst/>
                  <a:latin typeface="微软雅黑" panose="020B0503020204020204" charset="-122"/>
                  <a:ea typeface="微软雅黑" panose="020B0503020204020204" charset="-122"/>
                  <a:cs typeface="微软雅黑" panose="020B0503020204020204" charset="-122"/>
                </a:rPr>
                <a:t>“</a:t>
              </a:r>
              <a:r>
                <a:rPr lang="zh-CN" altLang="en-US" sz="1400" b="1" dirty="0">
                  <a:solidFill>
                    <a:srgbClr val="FFFFFF"/>
                  </a:solidFill>
                  <a:effectLst/>
                  <a:latin typeface="微软雅黑" panose="020B0503020204020204" charset="-122"/>
                  <a:ea typeface="微软雅黑" panose="020B0503020204020204" charset="-122"/>
                  <a:cs typeface="微软雅黑" panose="020B0503020204020204" charset="-122"/>
                </a:rPr>
                <a:t>供不应求</a:t>
              </a:r>
              <a:r>
                <a:rPr lang="en-US" sz="1400" b="1" dirty="0">
                  <a:solidFill>
                    <a:srgbClr val="FFFFFF"/>
                  </a:solidFill>
                  <a:effectLst/>
                  <a:latin typeface="微软雅黑" panose="020B0503020204020204" charset="-122"/>
                  <a:ea typeface="微软雅黑" panose="020B0503020204020204" charset="-122"/>
                  <a:cs typeface="微软雅黑" panose="020B0503020204020204" charset="-122"/>
                </a:rPr>
                <a:t>”</a:t>
              </a:r>
              <a:endParaRPr lang="en-US" sz="14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grpSp>
      <p:grpSp>
        <p:nvGrpSpPr>
          <p:cNvPr id="152" name="组合 151"/>
          <p:cNvGrpSpPr/>
          <p:nvPr/>
        </p:nvGrpSpPr>
        <p:grpSpPr>
          <a:xfrm>
            <a:off x="5217160" y="1224280"/>
            <a:ext cx="3197860" cy="332105"/>
            <a:chOff x="3457586" y="2179141"/>
            <a:chExt cx="2442221" cy="331805"/>
          </a:xfrm>
          <a:solidFill>
            <a:schemeClr val="accent1">
              <a:lumMod val="60000"/>
              <a:lumOff val="40000"/>
            </a:schemeClr>
          </a:solidFill>
        </p:grpSpPr>
        <p:sp>
          <p:nvSpPr>
            <p:cNvPr id="153" name="箭头: V 形 19"/>
            <p:cNvSpPr/>
            <p:nvPr/>
          </p:nvSpPr>
          <p:spPr>
            <a:xfrm>
              <a:off x="3457586" y="2179141"/>
              <a:ext cx="2442221" cy="331805"/>
            </a:xfrm>
            <a:prstGeom prst="chevron">
              <a:avLst>
                <a:gd name="adj" fmla="val 37908"/>
              </a:avLst>
            </a:prstGeom>
            <a:grpFill/>
            <a:ln w="9525" cap="rnd" cmpd="sng">
              <a:noFill/>
              <a:prstDash val="solid"/>
              <a:round/>
            </a:ln>
            <a:effectLst>
              <a:outerShdw dist="35921" dir="2700000" algn="ctr" rotWithShape="0">
                <a:srgbClr val="E7E6E6"/>
              </a:outerShdw>
            </a:effectLst>
          </p:spPr>
          <p:txBody>
            <a:bodyPr/>
            <a:lstStyle/>
            <a:p>
              <a:endParaRPr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4" name="文本框 153"/>
            <p:cNvSpPr txBox="1"/>
            <p:nvPr/>
          </p:nvSpPr>
          <p:spPr>
            <a:xfrm>
              <a:off x="4017829" y="2222973"/>
              <a:ext cx="1322705" cy="227759"/>
            </a:xfrm>
            <a:prstGeom prst="rect">
              <a:avLst/>
            </a:prstGeom>
            <a:grpFill/>
            <a:extLst>
              <a:ext uri="{909E8E84-426E-40DD-AFC4-6F175D3DCCD1}">
                <a14:hiddenFill xmlns:a14="http://schemas.microsoft.com/office/drawing/2010/main">
                  <a:grpFill/>
                </a14:hiddenFill>
              </a:ext>
            </a:extLst>
          </p:spPr>
          <p:txBody>
            <a:bodyPr vert="horz" wrap="square" lIns="0" tIns="12700" rIns="0" bIns="0" rtlCol="0">
              <a:spAutoFit/>
            </a:bodyPr>
            <a:lstStyle/>
            <a:p>
              <a:pPr algn="ctr"/>
              <a:r>
                <a:rPr lang="zh-CN" altLang="en-US" sz="1400" b="1" dirty="0">
                  <a:solidFill>
                    <a:srgbClr val="FFFFFF"/>
                  </a:solidFill>
                  <a:effectLst/>
                  <a:latin typeface="微软雅黑" panose="020B0503020204020204" charset="-122"/>
                  <a:ea typeface="微软雅黑" panose="020B0503020204020204" charset="-122"/>
                  <a:cs typeface="微软雅黑" panose="020B0503020204020204" charset="-122"/>
                </a:rPr>
                <a:t>②</a:t>
              </a:r>
              <a:r>
                <a:rPr lang="en-US" sz="1400" b="1" dirty="0">
                  <a:solidFill>
                    <a:srgbClr val="FFFFFF"/>
                  </a:solidFill>
                  <a:effectLst/>
                  <a:latin typeface="微软雅黑" panose="020B0503020204020204" charset="-122"/>
                  <a:ea typeface="微软雅黑" panose="020B0503020204020204" charset="-122"/>
                  <a:cs typeface="微软雅黑" panose="020B0503020204020204" charset="-122"/>
                </a:rPr>
                <a:t>“</a:t>
              </a:r>
              <a:r>
                <a:rPr lang="zh-CN" altLang="en-US" sz="1400" b="1" dirty="0">
                  <a:solidFill>
                    <a:srgbClr val="FFFFFF"/>
                  </a:solidFill>
                  <a:effectLst/>
                  <a:latin typeface="微软雅黑" panose="020B0503020204020204" charset="-122"/>
                  <a:ea typeface="微软雅黑" panose="020B0503020204020204" charset="-122"/>
                  <a:cs typeface="微软雅黑" panose="020B0503020204020204" charset="-122"/>
                </a:rPr>
                <a:t>供需平衡</a:t>
              </a:r>
              <a:r>
                <a:rPr lang="en-US" sz="1400" b="1" dirty="0">
                  <a:solidFill>
                    <a:srgbClr val="FFFFFF"/>
                  </a:solidFill>
                  <a:effectLst/>
                  <a:latin typeface="微软雅黑" panose="020B0503020204020204" charset="-122"/>
                  <a:ea typeface="微软雅黑" panose="020B0503020204020204" charset="-122"/>
                  <a:cs typeface="微软雅黑" panose="020B0503020204020204" charset="-122"/>
                </a:rPr>
                <a:t>”</a:t>
              </a:r>
              <a:endParaRPr lang="en-US" sz="14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grpSp>
      <p:grpSp>
        <p:nvGrpSpPr>
          <p:cNvPr id="155" name="组合 154"/>
          <p:cNvGrpSpPr/>
          <p:nvPr/>
        </p:nvGrpSpPr>
        <p:grpSpPr>
          <a:xfrm>
            <a:off x="8465185" y="1224280"/>
            <a:ext cx="1917065" cy="332105"/>
            <a:chOff x="3457586" y="2179141"/>
            <a:chExt cx="2442221" cy="331805"/>
          </a:xfrm>
          <a:solidFill>
            <a:schemeClr val="accent1">
              <a:lumMod val="60000"/>
              <a:lumOff val="40000"/>
            </a:schemeClr>
          </a:solidFill>
        </p:grpSpPr>
        <p:sp>
          <p:nvSpPr>
            <p:cNvPr id="156" name="箭头: V 形 19"/>
            <p:cNvSpPr/>
            <p:nvPr/>
          </p:nvSpPr>
          <p:spPr>
            <a:xfrm>
              <a:off x="3457586" y="2179141"/>
              <a:ext cx="2442221" cy="331805"/>
            </a:xfrm>
            <a:prstGeom prst="chevron">
              <a:avLst>
                <a:gd name="adj" fmla="val 37908"/>
              </a:avLst>
            </a:prstGeom>
            <a:grpFill/>
            <a:ln w="9525" cap="rnd" cmpd="sng">
              <a:noFill/>
              <a:prstDash val="dash"/>
              <a:round/>
            </a:ln>
            <a:effectLst>
              <a:outerShdw dist="35921" dir="2700000" algn="ctr" rotWithShape="0">
                <a:srgbClr val="E7E6E6"/>
              </a:outerShdw>
            </a:effectLst>
          </p:spPr>
          <p:txBody>
            <a:bodyPr/>
            <a:lstStyle/>
            <a:p>
              <a:endParaRPr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7" name="文本框 156"/>
            <p:cNvSpPr txBox="1"/>
            <p:nvPr/>
          </p:nvSpPr>
          <p:spPr>
            <a:xfrm>
              <a:off x="3809479" y="2231797"/>
              <a:ext cx="1865439" cy="227759"/>
            </a:xfrm>
            <a:prstGeom prst="rect">
              <a:avLst/>
            </a:prstGeom>
            <a:grpFill/>
            <a:extLst>
              <a:ext uri="{909E8E84-426E-40DD-AFC4-6F175D3DCCD1}">
                <a14:hiddenFill xmlns:a14="http://schemas.microsoft.com/office/drawing/2010/main">
                  <a:grpFill/>
                </a14:hiddenFill>
              </a:ext>
            </a:extLst>
          </p:spPr>
          <p:txBody>
            <a:bodyPr vert="horz" wrap="square" lIns="0" tIns="12700" rIns="0" bIns="0" rtlCol="0">
              <a:spAutoFit/>
            </a:bodyPr>
            <a:lstStyle/>
            <a:p>
              <a:pPr algn="ctr"/>
              <a:r>
                <a:rPr lang="zh-CN" altLang="en-US" sz="1400" b="1" dirty="0">
                  <a:solidFill>
                    <a:schemeClr val="bg1"/>
                  </a:solidFill>
                  <a:effectLst/>
                  <a:latin typeface="微软雅黑" panose="020B0503020204020204" charset="-122"/>
                  <a:ea typeface="微软雅黑" panose="020B0503020204020204" charset="-122"/>
                  <a:cs typeface="微软雅黑" panose="020B0503020204020204" charset="-122"/>
                </a:rPr>
                <a:t>③</a:t>
              </a:r>
              <a:r>
                <a:rPr lang="en-US" sz="1400" b="1" dirty="0">
                  <a:solidFill>
                    <a:schemeClr val="bg1"/>
                  </a:solidFill>
                  <a:effectLst/>
                  <a:latin typeface="微软雅黑" panose="020B0503020204020204" charset="-122"/>
                  <a:ea typeface="微软雅黑" panose="020B0503020204020204" charset="-122"/>
                  <a:cs typeface="微软雅黑" panose="020B0503020204020204" charset="-122"/>
                </a:rPr>
                <a:t>“</a:t>
              </a:r>
              <a:r>
                <a:rPr lang="zh-CN" altLang="en-US" sz="1400" b="1" dirty="0">
                  <a:solidFill>
                    <a:schemeClr val="bg1"/>
                  </a:solidFill>
                  <a:effectLst/>
                  <a:latin typeface="微软雅黑" panose="020B0503020204020204" charset="-122"/>
                  <a:ea typeface="微软雅黑" panose="020B0503020204020204" charset="-122"/>
                  <a:cs typeface="微软雅黑" panose="020B0503020204020204" charset="-122"/>
                </a:rPr>
                <a:t>供需错配</a:t>
              </a:r>
              <a:r>
                <a:rPr lang="en-US" sz="1400" b="1" dirty="0">
                  <a:solidFill>
                    <a:schemeClr val="bg1"/>
                  </a:solidFill>
                  <a:effectLst/>
                  <a:latin typeface="微软雅黑" panose="020B0503020204020204" charset="-122"/>
                  <a:ea typeface="微软雅黑" panose="020B0503020204020204" charset="-122"/>
                  <a:cs typeface="微软雅黑" panose="020B0503020204020204" charset="-122"/>
                </a:rPr>
                <a:t>”</a:t>
              </a:r>
              <a:endParaRPr lang="en-US" sz="1400" b="1" dirty="0">
                <a:solidFill>
                  <a:schemeClr val="bg1"/>
                </a:solidFill>
                <a:effectLst/>
                <a:latin typeface="微软雅黑" panose="020B0503020204020204" charset="-122"/>
                <a:ea typeface="微软雅黑" panose="020B0503020204020204" charset="-122"/>
                <a:cs typeface="微软雅黑" panose="020B0503020204020204" charset="-122"/>
              </a:endParaRPr>
            </a:p>
          </p:txBody>
        </p:sp>
      </p:grpSp>
      <p:sp>
        <p:nvSpPr>
          <p:cNvPr id="30" name="文本框 29"/>
          <p:cNvSpPr txBox="1"/>
          <p:nvPr/>
        </p:nvSpPr>
        <p:spPr>
          <a:xfrm>
            <a:off x="2596515" y="1700530"/>
            <a:ext cx="2393315" cy="768350"/>
          </a:xfrm>
          <a:prstGeom prst="rect">
            <a:avLst/>
          </a:prstGeom>
          <a:noFill/>
        </p:spPr>
        <p:txBody>
          <a:bodyPr wrap="square" rtlCol="0">
            <a:spAutoFit/>
          </a:bodyPr>
          <a:lstStyle/>
          <a:p>
            <a:pPr marL="171450" indent="-171450" algn="l">
              <a:buFont typeface="微软雅黑" panose="020B0503020204020204" charset="-122"/>
              <a:buChar char="•"/>
            </a:pPr>
            <a:r>
              <a:rPr lang="en-US" altLang="zh-CN" sz="11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供不应求</a:t>
            </a:r>
            <a:r>
              <a:rPr lang="en-US" altLang="zh-CN" sz="11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时代，</a:t>
            </a: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rPr>
              <a:t>卖方市场</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产品质量过硬即可实现销售，车企最大的挑战是</a:t>
            </a: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rPr>
              <a:t>技术壁垒与产能限制</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1" name="文本框 160"/>
          <p:cNvSpPr txBox="1"/>
          <p:nvPr/>
        </p:nvSpPr>
        <p:spPr>
          <a:xfrm>
            <a:off x="5177155" y="1700530"/>
            <a:ext cx="3172460" cy="937260"/>
          </a:xfrm>
          <a:prstGeom prst="rect">
            <a:avLst/>
          </a:prstGeom>
          <a:noFill/>
        </p:spPr>
        <p:txBody>
          <a:bodyPr wrap="square" rtlCol="0">
            <a:spAutoFit/>
          </a:bodyPr>
          <a:lstStyle/>
          <a:p>
            <a:pPr marL="171450" indent="-171450" algn="l">
              <a:buFont typeface="微软雅黑" panose="020B0503020204020204" charset="-122"/>
              <a:buChar char="•"/>
            </a:pPr>
            <a:r>
              <a:rPr lang="en-US" altLang="zh-CN" sz="11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供需平衡</a:t>
            </a:r>
            <a:r>
              <a:rPr lang="en-US" altLang="zh-CN" sz="11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时代，</a:t>
            </a: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rPr>
              <a:t>竞争加剧</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量产规模降低成本与价格，全国范围内的市场需求提升；竞争格局固化；相同细分市场内的产品日趋同质化；</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车企</a:t>
            </a: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rPr>
              <a:t>扩大和下沉渠道</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以抢占市场份额。</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31" name="组合 30"/>
          <p:cNvGrpSpPr/>
          <p:nvPr/>
        </p:nvGrpSpPr>
        <p:grpSpPr>
          <a:xfrm>
            <a:off x="10340975" y="1224280"/>
            <a:ext cx="1475740" cy="332740"/>
            <a:chOff x="3457586" y="2179141"/>
            <a:chExt cx="2442221" cy="331805"/>
          </a:xfrm>
          <a:solidFill>
            <a:schemeClr val="tx1">
              <a:lumMod val="50000"/>
              <a:lumOff val="50000"/>
            </a:schemeClr>
          </a:solidFill>
        </p:grpSpPr>
        <p:sp>
          <p:nvSpPr>
            <p:cNvPr id="163" name="箭头: V 形 19"/>
            <p:cNvSpPr/>
            <p:nvPr/>
          </p:nvSpPr>
          <p:spPr>
            <a:xfrm>
              <a:off x="3457586" y="2179141"/>
              <a:ext cx="2442221" cy="331805"/>
            </a:xfrm>
            <a:prstGeom prst="chevron">
              <a:avLst>
                <a:gd name="adj" fmla="val 37908"/>
              </a:avLst>
            </a:prstGeom>
            <a:solidFill>
              <a:schemeClr val="accent5"/>
            </a:solidFill>
            <a:ln w="9525" cap="rnd" cmpd="sng">
              <a:noFill/>
              <a:prstDash val="solid"/>
              <a:round/>
            </a:ln>
            <a:effectLst>
              <a:outerShdw dist="35921" dir="2700000" algn="ctr" rotWithShape="0">
                <a:srgbClr val="E7E6E6"/>
              </a:outerShdw>
            </a:effectLst>
          </p:spPr>
          <p:txBody>
            <a:bodyPr/>
            <a:lstStyle/>
            <a:p>
              <a:endParaRPr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4" name="文本框 163"/>
            <p:cNvSpPr txBox="1"/>
            <p:nvPr/>
          </p:nvSpPr>
          <p:spPr>
            <a:xfrm>
              <a:off x="3813048" y="2232964"/>
              <a:ext cx="1846796" cy="227324"/>
            </a:xfrm>
            <a:prstGeom prst="rect">
              <a:avLst/>
            </a:prstGeom>
            <a:noFill/>
          </p:spPr>
          <p:txBody>
            <a:bodyPr vert="horz" wrap="square" lIns="0" tIns="12700" rIns="0" bIns="0" rtlCol="0">
              <a:spAutoFit/>
            </a:bodyPr>
            <a:lstStyle/>
            <a:p>
              <a:pPr algn="ctr"/>
              <a:r>
                <a:rPr lang="zh-CN" altLang="en-US" sz="1400" b="1" dirty="0">
                  <a:solidFill>
                    <a:srgbClr val="FFFFFF"/>
                  </a:solidFill>
                  <a:effectLst/>
                  <a:latin typeface="微软雅黑" panose="020B0503020204020204" charset="-122"/>
                  <a:ea typeface="微软雅黑" panose="020B0503020204020204" charset="-122"/>
                  <a:cs typeface="微软雅黑" panose="020B0503020204020204" charset="-122"/>
                </a:rPr>
                <a:t>④</a:t>
              </a:r>
              <a:r>
                <a:rPr lang="en-US" altLang="zh-CN" sz="1400" b="1" dirty="0">
                  <a:solidFill>
                    <a:srgbClr val="FFFFFF"/>
                  </a:solidFill>
                  <a:effectLst/>
                  <a:latin typeface="微软雅黑" panose="020B0503020204020204" charset="-122"/>
                  <a:ea typeface="微软雅黑" panose="020B0503020204020204" charset="-122"/>
                  <a:cs typeface="微软雅黑" panose="020B0503020204020204" charset="-122"/>
                </a:rPr>
                <a:t>“</a:t>
              </a:r>
              <a:r>
                <a:rPr lang="zh-CN" altLang="en-US" sz="1400" b="1" dirty="0">
                  <a:solidFill>
                    <a:srgbClr val="FFFFFF"/>
                  </a:solidFill>
                  <a:effectLst/>
                  <a:latin typeface="微软雅黑" panose="020B0503020204020204" charset="-122"/>
                  <a:ea typeface="微软雅黑" panose="020B0503020204020204" charset="-122"/>
                  <a:cs typeface="微软雅黑" panose="020B0503020204020204" charset="-122"/>
                </a:rPr>
                <a:t>再平衡</a:t>
              </a:r>
              <a:r>
                <a:rPr lang="en-US" altLang="zh-CN" sz="1400" b="1" dirty="0">
                  <a:solidFill>
                    <a:srgbClr val="FFFFFF"/>
                  </a:solidFill>
                  <a:effectLst/>
                  <a:latin typeface="微软雅黑" panose="020B0503020204020204" charset="-122"/>
                  <a:ea typeface="微软雅黑" panose="020B0503020204020204" charset="-122"/>
                  <a:cs typeface="微软雅黑" panose="020B0503020204020204" charset="-122"/>
                </a:rPr>
                <a:t>”</a:t>
              </a:r>
              <a:endParaRPr lang="en-US" altLang="zh-CN" sz="14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grpSp>
      <p:sp>
        <p:nvSpPr>
          <p:cNvPr id="165" name="文本框 164"/>
          <p:cNvSpPr txBox="1"/>
          <p:nvPr/>
        </p:nvSpPr>
        <p:spPr>
          <a:xfrm>
            <a:off x="8749030" y="1748155"/>
            <a:ext cx="3067685" cy="937260"/>
          </a:xfrm>
          <a:prstGeom prst="rect">
            <a:avLst/>
          </a:prstGeom>
          <a:noFill/>
        </p:spPr>
        <p:txBody>
          <a:bodyPr wrap="square" rtlCol="0">
            <a:spAutoFit/>
          </a:bodyPr>
          <a:lstStyle/>
          <a:p>
            <a:pPr marL="171450" indent="-171450" algn="l">
              <a:buFont typeface="微软雅黑" panose="020B0503020204020204" charset="-122"/>
              <a:buChar char="•"/>
            </a:pPr>
            <a:r>
              <a:rPr lang="en-US" altLang="zh-CN" sz="11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供需错配</a:t>
            </a:r>
            <a:r>
              <a:rPr lang="en-US" altLang="zh-CN" sz="11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时代，</a:t>
            </a: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rPr>
              <a:t>买方市场；</a:t>
            </a:r>
            <a:endParaRPr lang="zh-CN" altLang="en-US" sz="1100" b="1" dirty="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价格战的时代已过，产品供大于求伴随消费者需求提升，</a:t>
            </a:r>
            <a:r>
              <a:rPr lang="en-US" altLang="zh-CN" sz="1100" b="1"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rPr>
              <a:t>客源流量</a:t>
            </a:r>
            <a:r>
              <a:rPr lang="en-US" altLang="zh-CN" sz="1100" b="1"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rPr>
              <a:t>的获取是关键</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车企通过个性化产品打造和品牌亲密度培育，获取高价值线索流量支撑变现。</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7" name="宇神Design-独家版式库-5-2"/>
          <p:cNvSpPr>
            <a:spLocks noEditPoints="1"/>
          </p:cNvSpPr>
          <p:nvPr/>
        </p:nvSpPr>
        <p:spPr bwMode="auto">
          <a:xfrm>
            <a:off x="6599555" y="2954020"/>
            <a:ext cx="1620000" cy="15875"/>
          </a:xfrm>
          <a:custGeom>
            <a:avLst/>
            <a:gdLst>
              <a:gd name="T0" fmla="*/ 726 w 726"/>
              <a:gd name="T1" fmla="*/ 10 h 10"/>
              <a:gd name="T2" fmla="*/ 722 w 726"/>
              <a:gd name="T3" fmla="*/ 0 h 10"/>
              <a:gd name="T4" fmla="*/ 688 w 726"/>
              <a:gd name="T5" fmla="*/ 10 h 10"/>
              <a:gd name="T6" fmla="*/ 708 w 726"/>
              <a:gd name="T7" fmla="*/ 0 h 10"/>
              <a:gd name="T8" fmla="*/ 688 w 726"/>
              <a:gd name="T9" fmla="*/ 10 h 10"/>
              <a:gd name="T10" fmla="*/ 674 w 726"/>
              <a:gd name="T11" fmla="*/ 10 h 10"/>
              <a:gd name="T12" fmla="*/ 653 w 726"/>
              <a:gd name="T13" fmla="*/ 0 h 10"/>
              <a:gd name="T14" fmla="*/ 619 w 726"/>
              <a:gd name="T15" fmla="*/ 10 h 10"/>
              <a:gd name="T16" fmla="*/ 640 w 726"/>
              <a:gd name="T17" fmla="*/ 0 h 10"/>
              <a:gd name="T18" fmla="*/ 619 w 726"/>
              <a:gd name="T19" fmla="*/ 10 h 10"/>
              <a:gd name="T20" fmla="*/ 605 w 726"/>
              <a:gd name="T21" fmla="*/ 10 h 10"/>
              <a:gd name="T22" fmla="*/ 584 w 726"/>
              <a:gd name="T23" fmla="*/ 0 h 10"/>
              <a:gd name="T24" fmla="*/ 550 w 726"/>
              <a:gd name="T25" fmla="*/ 10 h 10"/>
              <a:gd name="T26" fmla="*/ 571 w 726"/>
              <a:gd name="T27" fmla="*/ 0 h 10"/>
              <a:gd name="T28" fmla="*/ 550 w 726"/>
              <a:gd name="T29" fmla="*/ 10 h 10"/>
              <a:gd name="T30" fmla="*/ 536 w 726"/>
              <a:gd name="T31" fmla="*/ 10 h 10"/>
              <a:gd name="T32" fmla="*/ 516 w 726"/>
              <a:gd name="T33" fmla="*/ 0 h 10"/>
              <a:gd name="T34" fmla="*/ 481 w 726"/>
              <a:gd name="T35" fmla="*/ 10 h 10"/>
              <a:gd name="T36" fmla="*/ 502 w 726"/>
              <a:gd name="T37" fmla="*/ 0 h 10"/>
              <a:gd name="T38" fmla="*/ 481 w 726"/>
              <a:gd name="T39" fmla="*/ 10 h 10"/>
              <a:gd name="T40" fmla="*/ 468 w 726"/>
              <a:gd name="T41" fmla="*/ 10 h 10"/>
              <a:gd name="T42" fmla="*/ 447 w 726"/>
              <a:gd name="T43" fmla="*/ 0 h 10"/>
              <a:gd name="T44" fmla="*/ 412 w 726"/>
              <a:gd name="T45" fmla="*/ 10 h 10"/>
              <a:gd name="T46" fmla="*/ 433 w 726"/>
              <a:gd name="T47" fmla="*/ 0 h 10"/>
              <a:gd name="T48" fmla="*/ 412 w 726"/>
              <a:gd name="T49" fmla="*/ 10 h 10"/>
              <a:gd name="T50" fmla="*/ 399 w 726"/>
              <a:gd name="T51" fmla="*/ 10 h 10"/>
              <a:gd name="T52" fmla="*/ 378 w 726"/>
              <a:gd name="T53" fmla="*/ 0 h 10"/>
              <a:gd name="T54" fmla="*/ 344 w 726"/>
              <a:gd name="T55" fmla="*/ 10 h 10"/>
              <a:gd name="T56" fmla="*/ 364 w 726"/>
              <a:gd name="T57" fmla="*/ 0 h 10"/>
              <a:gd name="T58" fmla="*/ 344 w 726"/>
              <a:gd name="T59" fmla="*/ 10 h 10"/>
              <a:gd name="T60" fmla="*/ 330 w 726"/>
              <a:gd name="T61" fmla="*/ 10 h 10"/>
              <a:gd name="T62" fmla="*/ 309 w 726"/>
              <a:gd name="T63" fmla="*/ 0 h 10"/>
              <a:gd name="T64" fmla="*/ 275 w 726"/>
              <a:gd name="T65" fmla="*/ 10 h 10"/>
              <a:gd name="T66" fmla="*/ 295 w 726"/>
              <a:gd name="T67" fmla="*/ 0 h 10"/>
              <a:gd name="T68" fmla="*/ 275 w 726"/>
              <a:gd name="T69" fmla="*/ 10 h 10"/>
              <a:gd name="T70" fmla="*/ 261 w 726"/>
              <a:gd name="T71" fmla="*/ 10 h 10"/>
              <a:gd name="T72" fmla="*/ 240 w 726"/>
              <a:gd name="T73" fmla="*/ 0 h 10"/>
              <a:gd name="T74" fmla="*/ 206 w 726"/>
              <a:gd name="T75" fmla="*/ 10 h 10"/>
              <a:gd name="T76" fmla="*/ 227 w 726"/>
              <a:gd name="T77" fmla="*/ 0 h 10"/>
              <a:gd name="T78" fmla="*/ 206 w 726"/>
              <a:gd name="T79" fmla="*/ 10 h 10"/>
              <a:gd name="T80" fmla="*/ 192 w 726"/>
              <a:gd name="T81" fmla="*/ 10 h 10"/>
              <a:gd name="T82" fmla="*/ 172 w 726"/>
              <a:gd name="T83" fmla="*/ 0 h 10"/>
              <a:gd name="T84" fmla="*/ 137 w 726"/>
              <a:gd name="T85" fmla="*/ 10 h 10"/>
              <a:gd name="T86" fmla="*/ 158 w 726"/>
              <a:gd name="T87" fmla="*/ 0 h 10"/>
              <a:gd name="T88" fmla="*/ 137 w 726"/>
              <a:gd name="T89" fmla="*/ 10 h 10"/>
              <a:gd name="T90" fmla="*/ 123 w 726"/>
              <a:gd name="T91" fmla="*/ 10 h 10"/>
              <a:gd name="T92" fmla="*/ 103 w 726"/>
              <a:gd name="T93" fmla="*/ 0 h 10"/>
              <a:gd name="T94" fmla="*/ 68 w 726"/>
              <a:gd name="T95" fmla="*/ 10 h 10"/>
              <a:gd name="T96" fmla="*/ 89 w 726"/>
              <a:gd name="T97" fmla="*/ 0 h 10"/>
              <a:gd name="T98" fmla="*/ 68 w 726"/>
              <a:gd name="T99" fmla="*/ 10 h 10"/>
              <a:gd name="T100" fmla="*/ 55 w 726"/>
              <a:gd name="T101" fmla="*/ 10 h 10"/>
              <a:gd name="T102" fmla="*/ 34 w 726"/>
              <a:gd name="T103" fmla="*/ 0 h 10"/>
              <a:gd name="T104" fmla="*/ 0 w 726"/>
              <a:gd name="T105" fmla="*/ 10 h 10"/>
              <a:gd name="T106" fmla="*/ 20 w 726"/>
              <a:gd name="T107" fmla="*/ 0 h 10"/>
              <a:gd name="T108" fmla="*/ 0 w 726"/>
              <a:gd name="T10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6" h="10">
                <a:moveTo>
                  <a:pt x="722" y="10"/>
                </a:moveTo>
                <a:lnTo>
                  <a:pt x="726" y="10"/>
                </a:lnTo>
                <a:lnTo>
                  <a:pt x="726" y="0"/>
                </a:lnTo>
                <a:lnTo>
                  <a:pt x="722" y="0"/>
                </a:lnTo>
                <a:lnTo>
                  <a:pt x="722" y="10"/>
                </a:lnTo>
                <a:moveTo>
                  <a:pt x="688" y="10"/>
                </a:moveTo>
                <a:lnTo>
                  <a:pt x="708" y="10"/>
                </a:lnTo>
                <a:lnTo>
                  <a:pt x="708" y="0"/>
                </a:lnTo>
                <a:lnTo>
                  <a:pt x="688" y="0"/>
                </a:lnTo>
                <a:lnTo>
                  <a:pt x="688" y="10"/>
                </a:lnTo>
                <a:moveTo>
                  <a:pt x="653" y="10"/>
                </a:moveTo>
                <a:lnTo>
                  <a:pt x="674" y="10"/>
                </a:lnTo>
                <a:lnTo>
                  <a:pt x="674" y="0"/>
                </a:lnTo>
                <a:lnTo>
                  <a:pt x="653" y="0"/>
                </a:lnTo>
                <a:lnTo>
                  <a:pt x="653" y="10"/>
                </a:lnTo>
                <a:moveTo>
                  <a:pt x="619" y="10"/>
                </a:moveTo>
                <a:lnTo>
                  <a:pt x="640" y="10"/>
                </a:lnTo>
                <a:lnTo>
                  <a:pt x="640" y="0"/>
                </a:lnTo>
                <a:lnTo>
                  <a:pt x="619" y="0"/>
                </a:lnTo>
                <a:lnTo>
                  <a:pt x="619" y="10"/>
                </a:lnTo>
                <a:moveTo>
                  <a:pt x="584" y="10"/>
                </a:moveTo>
                <a:lnTo>
                  <a:pt x="605" y="10"/>
                </a:lnTo>
                <a:lnTo>
                  <a:pt x="605" y="0"/>
                </a:lnTo>
                <a:lnTo>
                  <a:pt x="584" y="0"/>
                </a:lnTo>
                <a:lnTo>
                  <a:pt x="584" y="10"/>
                </a:lnTo>
                <a:moveTo>
                  <a:pt x="550" y="10"/>
                </a:moveTo>
                <a:lnTo>
                  <a:pt x="571" y="10"/>
                </a:lnTo>
                <a:lnTo>
                  <a:pt x="571" y="0"/>
                </a:lnTo>
                <a:lnTo>
                  <a:pt x="550" y="0"/>
                </a:lnTo>
                <a:lnTo>
                  <a:pt x="550" y="10"/>
                </a:lnTo>
                <a:moveTo>
                  <a:pt x="516" y="10"/>
                </a:moveTo>
                <a:lnTo>
                  <a:pt x="536" y="10"/>
                </a:lnTo>
                <a:lnTo>
                  <a:pt x="536" y="0"/>
                </a:lnTo>
                <a:lnTo>
                  <a:pt x="516" y="0"/>
                </a:lnTo>
                <a:lnTo>
                  <a:pt x="516" y="10"/>
                </a:lnTo>
                <a:moveTo>
                  <a:pt x="481" y="10"/>
                </a:moveTo>
                <a:lnTo>
                  <a:pt x="502" y="10"/>
                </a:lnTo>
                <a:lnTo>
                  <a:pt x="502" y="0"/>
                </a:lnTo>
                <a:lnTo>
                  <a:pt x="481" y="0"/>
                </a:lnTo>
                <a:lnTo>
                  <a:pt x="481" y="10"/>
                </a:lnTo>
                <a:moveTo>
                  <a:pt x="447" y="10"/>
                </a:moveTo>
                <a:lnTo>
                  <a:pt x="468" y="10"/>
                </a:lnTo>
                <a:lnTo>
                  <a:pt x="468" y="0"/>
                </a:lnTo>
                <a:lnTo>
                  <a:pt x="447" y="0"/>
                </a:lnTo>
                <a:lnTo>
                  <a:pt x="447" y="10"/>
                </a:lnTo>
                <a:moveTo>
                  <a:pt x="412" y="10"/>
                </a:moveTo>
                <a:lnTo>
                  <a:pt x="433" y="10"/>
                </a:lnTo>
                <a:lnTo>
                  <a:pt x="433" y="0"/>
                </a:lnTo>
                <a:lnTo>
                  <a:pt x="412" y="0"/>
                </a:lnTo>
                <a:lnTo>
                  <a:pt x="412" y="10"/>
                </a:lnTo>
                <a:moveTo>
                  <a:pt x="378" y="10"/>
                </a:moveTo>
                <a:lnTo>
                  <a:pt x="399" y="10"/>
                </a:lnTo>
                <a:lnTo>
                  <a:pt x="399" y="0"/>
                </a:lnTo>
                <a:lnTo>
                  <a:pt x="378" y="0"/>
                </a:lnTo>
                <a:lnTo>
                  <a:pt x="378" y="10"/>
                </a:lnTo>
                <a:moveTo>
                  <a:pt x="344" y="10"/>
                </a:moveTo>
                <a:lnTo>
                  <a:pt x="364" y="10"/>
                </a:lnTo>
                <a:lnTo>
                  <a:pt x="364" y="0"/>
                </a:lnTo>
                <a:lnTo>
                  <a:pt x="344" y="0"/>
                </a:lnTo>
                <a:lnTo>
                  <a:pt x="344" y="10"/>
                </a:lnTo>
                <a:moveTo>
                  <a:pt x="309" y="10"/>
                </a:moveTo>
                <a:lnTo>
                  <a:pt x="330" y="10"/>
                </a:lnTo>
                <a:lnTo>
                  <a:pt x="330" y="0"/>
                </a:lnTo>
                <a:lnTo>
                  <a:pt x="309" y="0"/>
                </a:lnTo>
                <a:lnTo>
                  <a:pt x="309" y="10"/>
                </a:lnTo>
                <a:moveTo>
                  <a:pt x="275" y="10"/>
                </a:moveTo>
                <a:lnTo>
                  <a:pt x="295" y="10"/>
                </a:lnTo>
                <a:lnTo>
                  <a:pt x="295" y="0"/>
                </a:lnTo>
                <a:lnTo>
                  <a:pt x="275" y="0"/>
                </a:lnTo>
                <a:lnTo>
                  <a:pt x="275" y="10"/>
                </a:lnTo>
                <a:moveTo>
                  <a:pt x="240" y="10"/>
                </a:moveTo>
                <a:lnTo>
                  <a:pt x="261" y="10"/>
                </a:lnTo>
                <a:lnTo>
                  <a:pt x="261" y="0"/>
                </a:lnTo>
                <a:lnTo>
                  <a:pt x="240" y="0"/>
                </a:lnTo>
                <a:lnTo>
                  <a:pt x="240" y="10"/>
                </a:lnTo>
                <a:moveTo>
                  <a:pt x="206" y="10"/>
                </a:moveTo>
                <a:lnTo>
                  <a:pt x="227" y="10"/>
                </a:lnTo>
                <a:lnTo>
                  <a:pt x="227" y="0"/>
                </a:lnTo>
                <a:lnTo>
                  <a:pt x="206" y="0"/>
                </a:lnTo>
                <a:lnTo>
                  <a:pt x="206" y="10"/>
                </a:lnTo>
                <a:moveTo>
                  <a:pt x="172" y="10"/>
                </a:moveTo>
                <a:lnTo>
                  <a:pt x="192" y="10"/>
                </a:lnTo>
                <a:lnTo>
                  <a:pt x="192" y="0"/>
                </a:lnTo>
                <a:lnTo>
                  <a:pt x="172" y="0"/>
                </a:lnTo>
                <a:lnTo>
                  <a:pt x="172" y="10"/>
                </a:lnTo>
                <a:moveTo>
                  <a:pt x="137" y="10"/>
                </a:moveTo>
                <a:lnTo>
                  <a:pt x="158" y="10"/>
                </a:lnTo>
                <a:lnTo>
                  <a:pt x="158" y="0"/>
                </a:lnTo>
                <a:lnTo>
                  <a:pt x="137" y="0"/>
                </a:lnTo>
                <a:lnTo>
                  <a:pt x="137" y="10"/>
                </a:lnTo>
                <a:moveTo>
                  <a:pt x="103" y="10"/>
                </a:moveTo>
                <a:lnTo>
                  <a:pt x="123" y="10"/>
                </a:lnTo>
                <a:lnTo>
                  <a:pt x="123" y="0"/>
                </a:lnTo>
                <a:lnTo>
                  <a:pt x="103" y="0"/>
                </a:lnTo>
                <a:lnTo>
                  <a:pt x="103" y="10"/>
                </a:lnTo>
                <a:moveTo>
                  <a:pt x="68" y="10"/>
                </a:moveTo>
                <a:lnTo>
                  <a:pt x="89" y="10"/>
                </a:lnTo>
                <a:lnTo>
                  <a:pt x="89" y="0"/>
                </a:lnTo>
                <a:lnTo>
                  <a:pt x="68" y="0"/>
                </a:lnTo>
                <a:lnTo>
                  <a:pt x="68" y="10"/>
                </a:lnTo>
                <a:moveTo>
                  <a:pt x="34" y="10"/>
                </a:moveTo>
                <a:lnTo>
                  <a:pt x="55" y="10"/>
                </a:lnTo>
                <a:lnTo>
                  <a:pt x="55" y="0"/>
                </a:lnTo>
                <a:lnTo>
                  <a:pt x="34" y="0"/>
                </a:lnTo>
                <a:lnTo>
                  <a:pt x="34" y="10"/>
                </a:lnTo>
                <a:moveTo>
                  <a:pt x="0" y="10"/>
                </a:moveTo>
                <a:lnTo>
                  <a:pt x="20" y="10"/>
                </a:lnTo>
                <a:lnTo>
                  <a:pt x="20" y="0"/>
                </a:lnTo>
                <a:lnTo>
                  <a:pt x="0" y="0"/>
                </a:lnTo>
                <a:lnTo>
                  <a:pt x="0" y="10"/>
                </a:lnTo>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1800" b="1" i="0" u="none" strike="noStrike" kern="0" cap="none" spc="0" normalizeH="0" baseline="0" noProof="0" dirty="0">
              <a:ln>
                <a:noFill/>
              </a:ln>
              <a:solidFill>
                <a:srgbClr val="3F3F3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2" name="宇神Design-独家版式库-5-3"/>
          <p:cNvSpPr>
            <a:spLocks noChangeArrowheads="1"/>
          </p:cNvSpPr>
          <p:nvPr/>
        </p:nvSpPr>
        <p:spPr bwMode="auto">
          <a:xfrm>
            <a:off x="8219440" y="2924810"/>
            <a:ext cx="71755" cy="7112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1800" b="1" i="0" u="none" strike="noStrike" kern="0" cap="none" spc="0" normalizeH="0" baseline="0" noProof="0" dirty="0">
              <a:ln>
                <a:noFill/>
              </a:ln>
              <a:solidFill>
                <a:srgbClr val="3F3F3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3" name="矩形: 圆角 23"/>
          <p:cNvSpPr/>
          <p:nvPr/>
        </p:nvSpPr>
        <p:spPr>
          <a:xfrm>
            <a:off x="5362575" y="2823845"/>
            <a:ext cx="1211580" cy="356870"/>
          </a:xfrm>
          <a:prstGeom prst="roundRect">
            <a:avLst>
              <a:gd name="adj" fmla="val 8000"/>
            </a:avLst>
          </a:prstGeom>
          <a:solidFill>
            <a:schemeClr val="accent1">
              <a:lumMod val="60000"/>
              <a:lumOff val="40000"/>
            </a:schemeClr>
          </a:solidFill>
          <a:ln w="6350" cap="flat">
            <a:no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endParaRPr lang="zh-CN" altLang="en-US">
              <a:solidFill>
                <a:srgbClr val="FFFFFF"/>
              </a:solidFill>
              <a:latin typeface="微软雅黑" panose="020B0503020204020204" charset="-122"/>
              <a:ea typeface="微软雅黑" panose="020B0503020204020204" charset="-122"/>
            </a:endParaRPr>
          </a:p>
        </p:txBody>
      </p:sp>
      <p:sp>
        <p:nvSpPr>
          <p:cNvPr id="34" name="文本框 77"/>
          <p:cNvSpPr txBox="1"/>
          <p:nvPr/>
        </p:nvSpPr>
        <p:spPr>
          <a:xfrm>
            <a:off x="5561330" y="2904490"/>
            <a:ext cx="457200" cy="18415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pPr algn="ctr"/>
            <a:r>
              <a:rPr lang="zh-CN" sz="1200" b="1" dirty="0">
                <a:solidFill>
                  <a:srgbClr val="FFFFFF"/>
                </a:solidFill>
                <a:effectLst/>
                <a:latin typeface="微软雅黑" panose="020B0503020204020204" charset="-122"/>
                <a:ea typeface="微软雅黑" panose="020B0503020204020204" charset="-122"/>
                <a:cs typeface="微软雅黑" panose="020B0503020204020204" charset="-122"/>
              </a:rPr>
              <a:t>渠道力</a:t>
            </a:r>
            <a:endParaRPr lang="zh-CN" sz="12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pic>
        <p:nvPicPr>
          <p:cNvPr id="37" name="图片 36" descr="系统平台"/>
          <p:cNvPicPr>
            <a:picLocks noChangeAspect="1"/>
          </p:cNvPicPr>
          <p:nvPr>
            <p:custDataLst>
              <p:tags r:id="rId3"/>
            </p:custDataLst>
          </p:nvPr>
        </p:nvPicPr>
        <p:blipFill>
          <a:blip r:embed="rId4"/>
          <a:stretch>
            <a:fillRect/>
          </a:stretch>
        </p:blipFill>
        <p:spPr>
          <a:xfrm>
            <a:off x="6245225" y="2875915"/>
            <a:ext cx="241300" cy="241300"/>
          </a:xfrm>
          <a:prstGeom prst="rect">
            <a:avLst/>
          </a:prstGeom>
        </p:spPr>
      </p:pic>
      <p:grpSp>
        <p:nvGrpSpPr>
          <p:cNvPr id="38" name="组合 37"/>
          <p:cNvGrpSpPr/>
          <p:nvPr/>
        </p:nvGrpSpPr>
        <p:grpSpPr>
          <a:xfrm>
            <a:off x="2708275" y="2823845"/>
            <a:ext cx="2291080" cy="356870"/>
            <a:chOff x="4265" y="4393"/>
            <a:chExt cx="3608" cy="562"/>
          </a:xfrm>
          <a:solidFill>
            <a:schemeClr val="accent1">
              <a:lumMod val="60000"/>
              <a:lumOff val="40000"/>
            </a:schemeClr>
          </a:solidFill>
        </p:grpSpPr>
        <p:sp>
          <p:nvSpPr>
            <p:cNvPr id="177" name="宇神Design-独家版式库-5-2"/>
            <p:cNvSpPr>
              <a:spLocks noEditPoints="1"/>
            </p:cNvSpPr>
            <p:nvPr/>
          </p:nvSpPr>
          <p:spPr bwMode="auto">
            <a:xfrm>
              <a:off x="6035" y="4595"/>
              <a:ext cx="1815" cy="25"/>
            </a:xfrm>
            <a:custGeom>
              <a:avLst/>
              <a:gdLst>
                <a:gd name="T0" fmla="*/ 726 w 726"/>
                <a:gd name="T1" fmla="*/ 10 h 10"/>
                <a:gd name="T2" fmla="*/ 722 w 726"/>
                <a:gd name="T3" fmla="*/ 0 h 10"/>
                <a:gd name="T4" fmla="*/ 688 w 726"/>
                <a:gd name="T5" fmla="*/ 10 h 10"/>
                <a:gd name="T6" fmla="*/ 708 w 726"/>
                <a:gd name="T7" fmla="*/ 0 h 10"/>
                <a:gd name="T8" fmla="*/ 688 w 726"/>
                <a:gd name="T9" fmla="*/ 10 h 10"/>
                <a:gd name="T10" fmla="*/ 674 w 726"/>
                <a:gd name="T11" fmla="*/ 10 h 10"/>
                <a:gd name="T12" fmla="*/ 653 w 726"/>
                <a:gd name="T13" fmla="*/ 0 h 10"/>
                <a:gd name="T14" fmla="*/ 619 w 726"/>
                <a:gd name="T15" fmla="*/ 10 h 10"/>
                <a:gd name="T16" fmla="*/ 640 w 726"/>
                <a:gd name="T17" fmla="*/ 0 h 10"/>
                <a:gd name="T18" fmla="*/ 619 w 726"/>
                <a:gd name="T19" fmla="*/ 10 h 10"/>
                <a:gd name="T20" fmla="*/ 605 w 726"/>
                <a:gd name="T21" fmla="*/ 10 h 10"/>
                <a:gd name="T22" fmla="*/ 584 w 726"/>
                <a:gd name="T23" fmla="*/ 0 h 10"/>
                <a:gd name="T24" fmla="*/ 550 w 726"/>
                <a:gd name="T25" fmla="*/ 10 h 10"/>
                <a:gd name="T26" fmla="*/ 571 w 726"/>
                <a:gd name="T27" fmla="*/ 0 h 10"/>
                <a:gd name="T28" fmla="*/ 550 w 726"/>
                <a:gd name="T29" fmla="*/ 10 h 10"/>
                <a:gd name="T30" fmla="*/ 536 w 726"/>
                <a:gd name="T31" fmla="*/ 10 h 10"/>
                <a:gd name="T32" fmla="*/ 516 w 726"/>
                <a:gd name="T33" fmla="*/ 0 h 10"/>
                <a:gd name="T34" fmla="*/ 481 w 726"/>
                <a:gd name="T35" fmla="*/ 10 h 10"/>
                <a:gd name="T36" fmla="*/ 502 w 726"/>
                <a:gd name="T37" fmla="*/ 0 h 10"/>
                <a:gd name="T38" fmla="*/ 481 w 726"/>
                <a:gd name="T39" fmla="*/ 10 h 10"/>
                <a:gd name="T40" fmla="*/ 468 w 726"/>
                <a:gd name="T41" fmla="*/ 10 h 10"/>
                <a:gd name="T42" fmla="*/ 447 w 726"/>
                <a:gd name="T43" fmla="*/ 0 h 10"/>
                <a:gd name="T44" fmla="*/ 412 w 726"/>
                <a:gd name="T45" fmla="*/ 10 h 10"/>
                <a:gd name="T46" fmla="*/ 433 w 726"/>
                <a:gd name="T47" fmla="*/ 0 h 10"/>
                <a:gd name="T48" fmla="*/ 412 w 726"/>
                <a:gd name="T49" fmla="*/ 10 h 10"/>
                <a:gd name="T50" fmla="*/ 399 w 726"/>
                <a:gd name="T51" fmla="*/ 10 h 10"/>
                <a:gd name="T52" fmla="*/ 378 w 726"/>
                <a:gd name="T53" fmla="*/ 0 h 10"/>
                <a:gd name="T54" fmla="*/ 344 w 726"/>
                <a:gd name="T55" fmla="*/ 10 h 10"/>
                <a:gd name="T56" fmla="*/ 364 w 726"/>
                <a:gd name="T57" fmla="*/ 0 h 10"/>
                <a:gd name="T58" fmla="*/ 344 w 726"/>
                <a:gd name="T59" fmla="*/ 10 h 10"/>
                <a:gd name="T60" fmla="*/ 330 w 726"/>
                <a:gd name="T61" fmla="*/ 10 h 10"/>
                <a:gd name="T62" fmla="*/ 309 w 726"/>
                <a:gd name="T63" fmla="*/ 0 h 10"/>
                <a:gd name="T64" fmla="*/ 275 w 726"/>
                <a:gd name="T65" fmla="*/ 10 h 10"/>
                <a:gd name="T66" fmla="*/ 295 w 726"/>
                <a:gd name="T67" fmla="*/ 0 h 10"/>
                <a:gd name="T68" fmla="*/ 275 w 726"/>
                <a:gd name="T69" fmla="*/ 10 h 10"/>
                <a:gd name="T70" fmla="*/ 261 w 726"/>
                <a:gd name="T71" fmla="*/ 10 h 10"/>
                <a:gd name="T72" fmla="*/ 240 w 726"/>
                <a:gd name="T73" fmla="*/ 0 h 10"/>
                <a:gd name="T74" fmla="*/ 206 w 726"/>
                <a:gd name="T75" fmla="*/ 10 h 10"/>
                <a:gd name="T76" fmla="*/ 227 w 726"/>
                <a:gd name="T77" fmla="*/ 0 h 10"/>
                <a:gd name="T78" fmla="*/ 206 w 726"/>
                <a:gd name="T79" fmla="*/ 10 h 10"/>
                <a:gd name="T80" fmla="*/ 192 w 726"/>
                <a:gd name="T81" fmla="*/ 10 h 10"/>
                <a:gd name="T82" fmla="*/ 172 w 726"/>
                <a:gd name="T83" fmla="*/ 0 h 10"/>
                <a:gd name="T84" fmla="*/ 137 w 726"/>
                <a:gd name="T85" fmla="*/ 10 h 10"/>
                <a:gd name="T86" fmla="*/ 158 w 726"/>
                <a:gd name="T87" fmla="*/ 0 h 10"/>
                <a:gd name="T88" fmla="*/ 137 w 726"/>
                <a:gd name="T89" fmla="*/ 10 h 10"/>
                <a:gd name="T90" fmla="*/ 123 w 726"/>
                <a:gd name="T91" fmla="*/ 10 h 10"/>
                <a:gd name="T92" fmla="*/ 103 w 726"/>
                <a:gd name="T93" fmla="*/ 0 h 10"/>
                <a:gd name="T94" fmla="*/ 68 w 726"/>
                <a:gd name="T95" fmla="*/ 10 h 10"/>
                <a:gd name="T96" fmla="*/ 89 w 726"/>
                <a:gd name="T97" fmla="*/ 0 h 10"/>
                <a:gd name="T98" fmla="*/ 68 w 726"/>
                <a:gd name="T99" fmla="*/ 10 h 10"/>
                <a:gd name="T100" fmla="*/ 55 w 726"/>
                <a:gd name="T101" fmla="*/ 10 h 10"/>
                <a:gd name="T102" fmla="*/ 34 w 726"/>
                <a:gd name="T103" fmla="*/ 0 h 10"/>
                <a:gd name="T104" fmla="*/ 0 w 726"/>
                <a:gd name="T105" fmla="*/ 10 h 10"/>
                <a:gd name="T106" fmla="*/ 20 w 726"/>
                <a:gd name="T107" fmla="*/ 0 h 10"/>
                <a:gd name="T108" fmla="*/ 0 w 726"/>
                <a:gd name="T10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6" h="10">
                  <a:moveTo>
                    <a:pt x="722" y="10"/>
                  </a:moveTo>
                  <a:lnTo>
                    <a:pt x="726" y="10"/>
                  </a:lnTo>
                  <a:lnTo>
                    <a:pt x="726" y="0"/>
                  </a:lnTo>
                  <a:lnTo>
                    <a:pt x="722" y="0"/>
                  </a:lnTo>
                  <a:lnTo>
                    <a:pt x="722" y="10"/>
                  </a:lnTo>
                  <a:moveTo>
                    <a:pt x="688" y="10"/>
                  </a:moveTo>
                  <a:lnTo>
                    <a:pt x="708" y="10"/>
                  </a:lnTo>
                  <a:lnTo>
                    <a:pt x="708" y="0"/>
                  </a:lnTo>
                  <a:lnTo>
                    <a:pt x="688" y="0"/>
                  </a:lnTo>
                  <a:lnTo>
                    <a:pt x="688" y="10"/>
                  </a:lnTo>
                  <a:moveTo>
                    <a:pt x="653" y="10"/>
                  </a:moveTo>
                  <a:lnTo>
                    <a:pt x="674" y="10"/>
                  </a:lnTo>
                  <a:lnTo>
                    <a:pt x="674" y="0"/>
                  </a:lnTo>
                  <a:lnTo>
                    <a:pt x="653" y="0"/>
                  </a:lnTo>
                  <a:lnTo>
                    <a:pt x="653" y="10"/>
                  </a:lnTo>
                  <a:moveTo>
                    <a:pt x="619" y="10"/>
                  </a:moveTo>
                  <a:lnTo>
                    <a:pt x="640" y="10"/>
                  </a:lnTo>
                  <a:lnTo>
                    <a:pt x="640" y="0"/>
                  </a:lnTo>
                  <a:lnTo>
                    <a:pt x="619" y="0"/>
                  </a:lnTo>
                  <a:lnTo>
                    <a:pt x="619" y="10"/>
                  </a:lnTo>
                  <a:moveTo>
                    <a:pt x="584" y="10"/>
                  </a:moveTo>
                  <a:lnTo>
                    <a:pt x="605" y="10"/>
                  </a:lnTo>
                  <a:lnTo>
                    <a:pt x="605" y="0"/>
                  </a:lnTo>
                  <a:lnTo>
                    <a:pt x="584" y="0"/>
                  </a:lnTo>
                  <a:lnTo>
                    <a:pt x="584" y="10"/>
                  </a:lnTo>
                  <a:moveTo>
                    <a:pt x="550" y="10"/>
                  </a:moveTo>
                  <a:lnTo>
                    <a:pt x="571" y="10"/>
                  </a:lnTo>
                  <a:lnTo>
                    <a:pt x="571" y="0"/>
                  </a:lnTo>
                  <a:lnTo>
                    <a:pt x="550" y="0"/>
                  </a:lnTo>
                  <a:lnTo>
                    <a:pt x="550" y="10"/>
                  </a:lnTo>
                  <a:moveTo>
                    <a:pt x="516" y="10"/>
                  </a:moveTo>
                  <a:lnTo>
                    <a:pt x="536" y="10"/>
                  </a:lnTo>
                  <a:lnTo>
                    <a:pt x="536" y="0"/>
                  </a:lnTo>
                  <a:lnTo>
                    <a:pt x="516" y="0"/>
                  </a:lnTo>
                  <a:lnTo>
                    <a:pt x="516" y="10"/>
                  </a:lnTo>
                  <a:moveTo>
                    <a:pt x="481" y="10"/>
                  </a:moveTo>
                  <a:lnTo>
                    <a:pt x="502" y="10"/>
                  </a:lnTo>
                  <a:lnTo>
                    <a:pt x="502" y="0"/>
                  </a:lnTo>
                  <a:lnTo>
                    <a:pt x="481" y="0"/>
                  </a:lnTo>
                  <a:lnTo>
                    <a:pt x="481" y="10"/>
                  </a:lnTo>
                  <a:moveTo>
                    <a:pt x="447" y="10"/>
                  </a:moveTo>
                  <a:lnTo>
                    <a:pt x="468" y="10"/>
                  </a:lnTo>
                  <a:lnTo>
                    <a:pt x="468" y="0"/>
                  </a:lnTo>
                  <a:lnTo>
                    <a:pt x="447" y="0"/>
                  </a:lnTo>
                  <a:lnTo>
                    <a:pt x="447" y="10"/>
                  </a:lnTo>
                  <a:moveTo>
                    <a:pt x="412" y="10"/>
                  </a:moveTo>
                  <a:lnTo>
                    <a:pt x="433" y="10"/>
                  </a:lnTo>
                  <a:lnTo>
                    <a:pt x="433" y="0"/>
                  </a:lnTo>
                  <a:lnTo>
                    <a:pt x="412" y="0"/>
                  </a:lnTo>
                  <a:lnTo>
                    <a:pt x="412" y="10"/>
                  </a:lnTo>
                  <a:moveTo>
                    <a:pt x="378" y="10"/>
                  </a:moveTo>
                  <a:lnTo>
                    <a:pt x="399" y="10"/>
                  </a:lnTo>
                  <a:lnTo>
                    <a:pt x="399" y="0"/>
                  </a:lnTo>
                  <a:lnTo>
                    <a:pt x="378" y="0"/>
                  </a:lnTo>
                  <a:lnTo>
                    <a:pt x="378" y="10"/>
                  </a:lnTo>
                  <a:moveTo>
                    <a:pt x="344" y="10"/>
                  </a:moveTo>
                  <a:lnTo>
                    <a:pt x="364" y="10"/>
                  </a:lnTo>
                  <a:lnTo>
                    <a:pt x="364" y="0"/>
                  </a:lnTo>
                  <a:lnTo>
                    <a:pt x="344" y="0"/>
                  </a:lnTo>
                  <a:lnTo>
                    <a:pt x="344" y="10"/>
                  </a:lnTo>
                  <a:moveTo>
                    <a:pt x="309" y="10"/>
                  </a:moveTo>
                  <a:lnTo>
                    <a:pt x="330" y="10"/>
                  </a:lnTo>
                  <a:lnTo>
                    <a:pt x="330" y="0"/>
                  </a:lnTo>
                  <a:lnTo>
                    <a:pt x="309" y="0"/>
                  </a:lnTo>
                  <a:lnTo>
                    <a:pt x="309" y="10"/>
                  </a:lnTo>
                  <a:moveTo>
                    <a:pt x="275" y="10"/>
                  </a:moveTo>
                  <a:lnTo>
                    <a:pt x="295" y="10"/>
                  </a:lnTo>
                  <a:lnTo>
                    <a:pt x="295" y="0"/>
                  </a:lnTo>
                  <a:lnTo>
                    <a:pt x="275" y="0"/>
                  </a:lnTo>
                  <a:lnTo>
                    <a:pt x="275" y="10"/>
                  </a:lnTo>
                  <a:moveTo>
                    <a:pt x="240" y="10"/>
                  </a:moveTo>
                  <a:lnTo>
                    <a:pt x="261" y="10"/>
                  </a:lnTo>
                  <a:lnTo>
                    <a:pt x="261" y="0"/>
                  </a:lnTo>
                  <a:lnTo>
                    <a:pt x="240" y="0"/>
                  </a:lnTo>
                  <a:lnTo>
                    <a:pt x="240" y="10"/>
                  </a:lnTo>
                  <a:moveTo>
                    <a:pt x="206" y="10"/>
                  </a:moveTo>
                  <a:lnTo>
                    <a:pt x="227" y="10"/>
                  </a:lnTo>
                  <a:lnTo>
                    <a:pt x="227" y="0"/>
                  </a:lnTo>
                  <a:lnTo>
                    <a:pt x="206" y="0"/>
                  </a:lnTo>
                  <a:lnTo>
                    <a:pt x="206" y="10"/>
                  </a:lnTo>
                  <a:moveTo>
                    <a:pt x="172" y="10"/>
                  </a:moveTo>
                  <a:lnTo>
                    <a:pt x="192" y="10"/>
                  </a:lnTo>
                  <a:lnTo>
                    <a:pt x="192" y="0"/>
                  </a:lnTo>
                  <a:lnTo>
                    <a:pt x="172" y="0"/>
                  </a:lnTo>
                  <a:lnTo>
                    <a:pt x="172" y="10"/>
                  </a:lnTo>
                  <a:moveTo>
                    <a:pt x="137" y="10"/>
                  </a:moveTo>
                  <a:lnTo>
                    <a:pt x="158" y="10"/>
                  </a:lnTo>
                  <a:lnTo>
                    <a:pt x="158" y="0"/>
                  </a:lnTo>
                  <a:lnTo>
                    <a:pt x="137" y="0"/>
                  </a:lnTo>
                  <a:lnTo>
                    <a:pt x="137" y="10"/>
                  </a:lnTo>
                  <a:moveTo>
                    <a:pt x="103" y="10"/>
                  </a:moveTo>
                  <a:lnTo>
                    <a:pt x="123" y="10"/>
                  </a:lnTo>
                  <a:lnTo>
                    <a:pt x="123" y="0"/>
                  </a:lnTo>
                  <a:lnTo>
                    <a:pt x="103" y="0"/>
                  </a:lnTo>
                  <a:lnTo>
                    <a:pt x="103" y="10"/>
                  </a:lnTo>
                  <a:moveTo>
                    <a:pt x="68" y="10"/>
                  </a:moveTo>
                  <a:lnTo>
                    <a:pt x="89" y="10"/>
                  </a:lnTo>
                  <a:lnTo>
                    <a:pt x="89" y="0"/>
                  </a:lnTo>
                  <a:lnTo>
                    <a:pt x="68" y="0"/>
                  </a:lnTo>
                  <a:lnTo>
                    <a:pt x="68" y="10"/>
                  </a:lnTo>
                  <a:moveTo>
                    <a:pt x="34" y="10"/>
                  </a:moveTo>
                  <a:lnTo>
                    <a:pt x="55" y="10"/>
                  </a:lnTo>
                  <a:lnTo>
                    <a:pt x="55" y="0"/>
                  </a:lnTo>
                  <a:lnTo>
                    <a:pt x="34" y="0"/>
                  </a:lnTo>
                  <a:lnTo>
                    <a:pt x="34" y="10"/>
                  </a:lnTo>
                  <a:moveTo>
                    <a:pt x="0" y="10"/>
                  </a:moveTo>
                  <a:lnTo>
                    <a:pt x="20" y="10"/>
                  </a:lnTo>
                  <a:lnTo>
                    <a:pt x="20" y="0"/>
                  </a:lnTo>
                  <a:lnTo>
                    <a:pt x="0" y="0"/>
                  </a:lnTo>
                  <a:lnTo>
                    <a:pt x="0" y="10"/>
                  </a:lnTo>
                </a:path>
              </a:pathLst>
            </a:custGeom>
            <a:grpFill/>
            <a:ln>
              <a:solidFill>
                <a:srgbClr val="000000">
                  <a:alpha val="0"/>
                </a:srgbClr>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1800" b="1" i="0" u="none" strike="noStrike" kern="0" cap="none" spc="0" normalizeH="0" baseline="0" noProof="0" dirty="0">
                <a:ln>
                  <a:noFill/>
                </a:ln>
                <a:solidFill>
                  <a:srgbClr val="3F3F3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78" name="宇神Design-独家版式库-5-3"/>
            <p:cNvSpPr>
              <a:spLocks noChangeArrowheads="1"/>
            </p:cNvSpPr>
            <p:nvPr/>
          </p:nvSpPr>
          <p:spPr bwMode="auto">
            <a:xfrm>
              <a:off x="7761" y="4552"/>
              <a:ext cx="113" cy="112"/>
            </a:xfrm>
            <a:prstGeom prst="ellipse">
              <a:avLst/>
            </a:prstGeom>
            <a:grpFill/>
            <a:ln>
              <a:solidFill>
                <a:srgbClr val="000000">
                  <a:alpha val="0"/>
                </a:srgbClr>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1800" b="1" i="0" u="none" strike="noStrike" kern="0" cap="none" spc="0" normalizeH="0" baseline="0" noProof="0" dirty="0">
                <a:ln>
                  <a:noFill/>
                </a:ln>
                <a:solidFill>
                  <a:srgbClr val="3F3F3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79" name="矩形: 圆角 23"/>
            <p:cNvSpPr/>
            <p:nvPr/>
          </p:nvSpPr>
          <p:spPr>
            <a:xfrm>
              <a:off x="4265" y="4393"/>
              <a:ext cx="1908" cy="562"/>
            </a:xfrm>
            <a:prstGeom prst="roundRect">
              <a:avLst>
                <a:gd name="adj" fmla="val 8000"/>
              </a:avLst>
            </a:prstGeom>
            <a:grpFill/>
            <a:ln w="6350" cap="flat">
              <a:solidFill>
                <a:srgbClr val="000000">
                  <a:alpha val="0"/>
                </a:srgb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endParaRPr lang="zh-CN" altLang="en-US">
                <a:solidFill>
                  <a:srgbClr val="FFFFFF"/>
                </a:solidFill>
                <a:latin typeface="微软雅黑" panose="020B0503020204020204" charset="-122"/>
                <a:ea typeface="微软雅黑" panose="020B0503020204020204" charset="-122"/>
              </a:endParaRPr>
            </a:p>
          </p:txBody>
        </p:sp>
        <p:sp>
          <p:nvSpPr>
            <p:cNvPr id="180" name="文本框 77"/>
            <p:cNvSpPr txBox="1"/>
            <p:nvPr/>
          </p:nvSpPr>
          <p:spPr>
            <a:xfrm>
              <a:off x="4578" y="4520"/>
              <a:ext cx="720" cy="290"/>
            </a:xfrm>
            <a:prstGeom prst="rect">
              <a:avLst/>
            </a:prstGeom>
            <a:grpFill/>
            <a:ln>
              <a:solidFill>
                <a:srgbClr val="000000">
                  <a:alpha val="0"/>
                </a:srgbClr>
              </a:solidFill>
            </a:ln>
          </p:spPr>
          <p:txBody>
            <a:bodyPr wrap="none" lIns="0" tIns="0" rIns="0" bIns="0" rtlCol="0">
              <a:sp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pPr algn="ctr"/>
              <a:r>
                <a:rPr lang="zh-CN" sz="1200" b="1" dirty="0">
                  <a:solidFill>
                    <a:srgbClr val="FFFFFF"/>
                  </a:solidFill>
                  <a:effectLst/>
                  <a:latin typeface="微软雅黑" panose="020B0503020204020204" charset="-122"/>
                  <a:ea typeface="微软雅黑" panose="020B0503020204020204" charset="-122"/>
                  <a:cs typeface="微软雅黑" panose="020B0503020204020204" charset="-122"/>
                </a:rPr>
                <a:t>产品力</a:t>
              </a:r>
              <a:endParaRPr lang="zh-CN" sz="12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pic>
          <p:nvPicPr>
            <p:cNvPr id="182" name="图形 8"/>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80" y="4461"/>
              <a:ext cx="356" cy="356"/>
            </a:xfrm>
            <a:prstGeom prst="rect">
              <a:avLst/>
            </a:prstGeom>
          </p:spPr>
        </p:pic>
      </p:grpSp>
      <p:sp>
        <p:nvSpPr>
          <p:cNvPr id="39" name="宇神Design-独家版式库-5-2"/>
          <p:cNvSpPr>
            <a:spLocks noEditPoints="1"/>
          </p:cNvSpPr>
          <p:nvPr/>
        </p:nvSpPr>
        <p:spPr bwMode="auto">
          <a:xfrm>
            <a:off x="10052685" y="2995930"/>
            <a:ext cx="1512000" cy="15875"/>
          </a:xfrm>
          <a:custGeom>
            <a:avLst/>
            <a:gdLst>
              <a:gd name="T0" fmla="*/ 726 w 726"/>
              <a:gd name="T1" fmla="*/ 10 h 10"/>
              <a:gd name="T2" fmla="*/ 722 w 726"/>
              <a:gd name="T3" fmla="*/ 0 h 10"/>
              <a:gd name="T4" fmla="*/ 688 w 726"/>
              <a:gd name="T5" fmla="*/ 10 h 10"/>
              <a:gd name="T6" fmla="*/ 708 w 726"/>
              <a:gd name="T7" fmla="*/ 0 h 10"/>
              <a:gd name="T8" fmla="*/ 688 w 726"/>
              <a:gd name="T9" fmla="*/ 10 h 10"/>
              <a:gd name="T10" fmla="*/ 674 w 726"/>
              <a:gd name="T11" fmla="*/ 10 h 10"/>
              <a:gd name="T12" fmla="*/ 653 w 726"/>
              <a:gd name="T13" fmla="*/ 0 h 10"/>
              <a:gd name="T14" fmla="*/ 619 w 726"/>
              <a:gd name="T15" fmla="*/ 10 h 10"/>
              <a:gd name="T16" fmla="*/ 640 w 726"/>
              <a:gd name="T17" fmla="*/ 0 h 10"/>
              <a:gd name="T18" fmla="*/ 619 w 726"/>
              <a:gd name="T19" fmla="*/ 10 h 10"/>
              <a:gd name="T20" fmla="*/ 605 w 726"/>
              <a:gd name="T21" fmla="*/ 10 h 10"/>
              <a:gd name="T22" fmla="*/ 584 w 726"/>
              <a:gd name="T23" fmla="*/ 0 h 10"/>
              <a:gd name="T24" fmla="*/ 550 w 726"/>
              <a:gd name="T25" fmla="*/ 10 h 10"/>
              <a:gd name="T26" fmla="*/ 571 w 726"/>
              <a:gd name="T27" fmla="*/ 0 h 10"/>
              <a:gd name="T28" fmla="*/ 550 w 726"/>
              <a:gd name="T29" fmla="*/ 10 h 10"/>
              <a:gd name="T30" fmla="*/ 536 w 726"/>
              <a:gd name="T31" fmla="*/ 10 h 10"/>
              <a:gd name="T32" fmla="*/ 516 w 726"/>
              <a:gd name="T33" fmla="*/ 0 h 10"/>
              <a:gd name="T34" fmla="*/ 481 w 726"/>
              <a:gd name="T35" fmla="*/ 10 h 10"/>
              <a:gd name="T36" fmla="*/ 502 w 726"/>
              <a:gd name="T37" fmla="*/ 0 h 10"/>
              <a:gd name="T38" fmla="*/ 481 w 726"/>
              <a:gd name="T39" fmla="*/ 10 h 10"/>
              <a:gd name="T40" fmla="*/ 468 w 726"/>
              <a:gd name="T41" fmla="*/ 10 h 10"/>
              <a:gd name="T42" fmla="*/ 447 w 726"/>
              <a:gd name="T43" fmla="*/ 0 h 10"/>
              <a:gd name="T44" fmla="*/ 412 w 726"/>
              <a:gd name="T45" fmla="*/ 10 h 10"/>
              <a:gd name="T46" fmla="*/ 433 w 726"/>
              <a:gd name="T47" fmla="*/ 0 h 10"/>
              <a:gd name="T48" fmla="*/ 412 w 726"/>
              <a:gd name="T49" fmla="*/ 10 h 10"/>
              <a:gd name="T50" fmla="*/ 399 w 726"/>
              <a:gd name="T51" fmla="*/ 10 h 10"/>
              <a:gd name="T52" fmla="*/ 378 w 726"/>
              <a:gd name="T53" fmla="*/ 0 h 10"/>
              <a:gd name="T54" fmla="*/ 344 w 726"/>
              <a:gd name="T55" fmla="*/ 10 h 10"/>
              <a:gd name="T56" fmla="*/ 364 w 726"/>
              <a:gd name="T57" fmla="*/ 0 h 10"/>
              <a:gd name="T58" fmla="*/ 344 w 726"/>
              <a:gd name="T59" fmla="*/ 10 h 10"/>
              <a:gd name="T60" fmla="*/ 330 w 726"/>
              <a:gd name="T61" fmla="*/ 10 h 10"/>
              <a:gd name="T62" fmla="*/ 309 w 726"/>
              <a:gd name="T63" fmla="*/ 0 h 10"/>
              <a:gd name="T64" fmla="*/ 275 w 726"/>
              <a:gd name="T65" fmla="*/ 10 h 10"/>
              <a:gd name="T66" fmla="*/ 295 w 726"/>
              <a:gd name="T67" fmla="*/ 0 h 10"/>
              <a:gd name="T68" fmla="*/ 275 w 726"/>
              <a:gd name="T69" fmla="*/ 10 h 10"/>
              <a:gd name="T70" fmla="*/ 261 w 726"/>
              <a:gd name="T71" fmla="*/ 10 h 10"/>
              <a:gd name="T72" fmla="*/ 240 w 726"/>
              <a:gd name="T73" fmla="*/ 0 h 10"/>
              <a:gd name="T74" fmla="*/ 206 w 726"/>
              <a:gd name="T75" fmla="*/ 10 h 10"/>
              <a:gd name="T76" fmla="*/ 227 w 726"/>
              <a:gd name="T77" fmla="*/ 0 h 10"/>
              <a:gd name="T78" fmla="*/ 206 w 726"/>
              <a:gd name="T79" fmla="*/ 10 h 10"/>
              <a:gd name="T80" fmla="*/ 192 w 726"/>
              <a:gd name="T81" fmla="*/ 10 h 10"/>
              <a:gd name="T82" fmla="*/ 172 w 726"/>
              <a:gd name="T83" fmla="*/ 0 h 10"/>
              <a:gd name="T84" fmla="*/ 137 w 726"/>
              <a:gd name="T85" fmla="*/ 10 h 10"/>
              <a:gd name="T86" fmla="*/ 158 w 726"/>
              <a:gd name="T87" fmla="*/ 0 h 10"/>
              <a:gd name="T88" fmla="*/ 137 w 726"/>
              <a:gd name="T89" fmla="*/ 10 h 10"/>
              <a:gd name="T90" fmla="*/ 123 w 726"/>
              <a:gd name="T91" fmla="*/ 10 h 10"/>
              <a:gd name="T92" fmla="*/ 103 w 726"/>
              <a:gd name="T93" fmla="*/ 0 h 10"/>
              <a:gd name="T94" fmla="*/ 68 w 726"/>
              <a:gd name="T95" fmla="*/ 10 h 10"/>
              <a:gd name="T96" fmla="*/ 89 w 726"/>
              <a:gd name="T97" fmla="*/ 0 h 10"/>
              <a:gd name="T98" fmla="*/ 68 w 726"/>
              <a:gd name="T99" fmla="*/ 10 h 10"/>
              <a:gd name="T100" fmla="*/ 55 w 726"/>
              <a:gd name="T101" fmla="*/ 10 h 10"/>
              <a:gd name="T102" fmla="*/ 34 w 726"/>
              <a:gd name="T103" fmla="*/ 0 h 10"/>
              <a:gd name="T104" fmla="*/ 0 w 726"/>
              <a:gd name="T105" fmla="*/ 10 h 10"/>
              <a:gd name="T106" fmla="*/ 20 w 726"/>
              <a:gd name="T107" fmla="*/ 0 h 10"/>
              <a:gd name="T108" fmla="*/ 0 w 726"/>
              <a:gd name="T10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6" h="10">
                <a:moveTo>
                  <a:pt x="722" y="10"/>
                </a:moveTo>
                <a:lnTo>
                  <a:pt x="726" y="10"/>
                </a:lnTo>
                <a:lnTo>
                  <a:pt x="726" y="0"/>
                </a:lnTo>
                <a:lnTo>
                  <a:pt x="722" y="0"/>
                </a:lnTo>
                <a:lnTo>
                  <a:pt x="722" y="10"/>
                </a:lnTo>
                <a:moveTo>
                  <a:pt x="688" y="10"/>
                </a:moveTo>
                <a:lnTo>
                  <a:pt x="708" y="10"/>
                </a:lnTo>
                <a:lnTo>
                  <a:pt x="708" y="0"/>
                </a:lnTo>
                <a:lnTo>
                  <a:pt x="688" y="0"/>
                </a:lnTo>
                <a:lnTo>
                  <a:pt x="688" y="10"/>
                </a:lnTo>
                <a:moveTo>
                  <a:pt x="653" y="10"/>
                </a:moveTo>
                <a:lnTo>
                  <a:pt x="674" y="10"/>
                </a:lnTo>
                <a:lnTo>
                  <a:pt x="674" y="0"/>
                </a:lnTo>
                <a:lnTo>
                  <a:pt x="653" y="0"/>
                </a:lnTo>
                <a:lnTo>
                  <a:pt x="653" y="10"/>
                </a:lnTo>
                <a:moveTo>
                  <a:pt x="619" y="10"/>
                </a:moveTo>
                <a:lnTo>
                  <a:pt x="640" y="10"/>
                </a:lnTo>
                <a:lnTo>
                  <a:pt x="640" y="0"/>
                </a:lnTo>
                <a:lnTo>
                  <a:pt x="619" y="0"/>
                </a:lnTo>
                <a:lnTo>
                  <a:pt x="619" y="10"/>
                </a:lnTo>
                <a:moveTo>
                  <a:pt x="584" y="10"/>
                </a:moveTo>
                <a:lnTo>
                  <a:pt x="605" y="10"/>
                </a:lnTo>
                <a:lnTo>
                  <a:pt x="605" y="0"/>
                </a:lnTo>
                <a:lnTo>
                  <a:pt x="584" y="0"/>
                </a:lnTo>
                <a:lnTo>
                  <a:pt x="584" y="10"/>
                </a:lnTo>
                <a:moveTo>
                  <a:pt x="550" y="10"/>
                </a:moveTo>
                <a:lnTo>
                  <a:pt x="571" y="10"/>
                </a:lnTo>
                <a:lnTo>
                  <a:pt x="571" y="0"/>
                </a:lnTo>
                <a:lnTo>
                  <a:pt x="550" y="0"/>
                </a:lnTo>
                <a:lnTo>
                  <a:pt x="550" y="10"/>
                </a:lnTo>
                <a:moveTo>
                  <a:pt x="516" y="10"/>
                </a:moveTo>
                <a:lnTo>
                  <a:pt x="536" y="10"/>
                </a:lnTo>
                <a:lnTo>
                  <a:pt x="536" y="0"/>
                </a:lnTo>
                <a:lnTo>
                  <a:pt x="516" y="0"/>
                </a:lnTo>
                <a:lnTo>
                  <a:pt x="516" y="10"/>
                </a:lnTo>
                <a:moveTo>
                  <a:pt x="481" y="10"/>
                </a:moveTo>
                <a:lnTo>
                  <a:pt x="502" y="10"/>
                </a:lnTo>
                <a:lnTo>
                  <a:pt x="502" y="0"/>
                </a:lnTo>
                <a:lnTo>
                  <a:pt x="481" y="0"/>
                </a:lnTo>
                <a:lnTo>
                  <a:pt x="481" y="10"/>
                </a:lnTo>
                <a:moveTo>
                  <a:pt x="447" y="10"/>
                </a:moveTo>
                <a:lnTo>
                  <a:pt x="468" y="10"/>
                </a:lnTo>
                <a:lnTo>
                  <a:pt x="468" y="0"/>
                </a:lnTo>
                <a:lnTo>
                  <a:pt x="447" y="0"/>
                </a:lnTo>
                <a:lnTo>
                  <a:pt x="447" y="10"/>
                </a:lnTo>
                <a:moveTo>
                  <a:pt x="412" y="10"/>
                </a:moveTo>
                <a:lnTo>
                  <a:pt x="433" y="10"/>
                </a:lnTo>
                <a:lnTo>
                  <a:pt x="433" y="0"/>
                </a:lnTo>
                <a:lnTo>
                  <a:pt x="412" y="0"/>
                </a:lnTo>
                <a:lnTo>
                  <a:pt x="412" y="10"/>
                </a:lnTo>
                <a:moveTo>
                  <a:pt x="378" y="10"/>
                </a:moveTo>
                <a:lnTo>
                  <a:pt x="399" y="10"/>
                </a:lnTo>
                <a:lnTo>
                  <a:pt x="399" y="0"/>
                </a:lnTo>
                <a:lnTo>
                  <a:pt x="378" y="0"/>
                </a:lnTo>
                <a:lnTo>
                  <a:pt x="378" y="10"/>
                </a:lnTo>
                <a:moveTo>
                  <a:pt x="344" y="10"/>
                </a:moveTo>
                <a:lnTo>
                  <a:pt x="364" y="10"/>
                </a:lnTo>
                <a:lnTo>
                  <a:pt x="364" y="0"/>
                </a:lnTo>
                <a:lnTo>
                  <a:pt x="344" y="0"/>
                </a:lnTo>
                <a:lnTo>
                  <a:pt x="344" y="10"/>
                </a:lnTo>
                <a:moveTo>
                  <a:pt x="309" y="10"/>
                </a:moveTo>
                <a:lnTo>
                  <a:pt x="330" y="10"/>
                </a:lnTo>
                <a:lnTo>
                  <a:pt x="330" y="0"/>
                </a:lnTo>
                <a:lnTo>
                  <a:pt x="309" y="0"/>
                </a:lnTo>
                <a:lnTo>
                  <a:pt x="309" y="10"/>
                </a:lnTo>
                <a:moveTo>
                  <a:pt x="275" y="10"/>
                </a:moveTo>
                <a:lnTo>
                  <a:pt x="295" y="10"/>
                </a:lnTo>
                <a:lnTo>
                  <a:pt x="295" y="0"/>
                </a:lnTo>
                <a:lnTo>
                  <a:pt x="275" y="0"/>
                </a:lnTo>
                <a:lnTo>
                  <a:pt x="275" y="10"/>
                </a:lnTo>
                <a:moveTo>
                  <a:pt x="240" y="10"/>
                </a:moveTo>
                <a:lnTo>
                  <a:pt x="261" y="10"/>
                </a:lnTo>
                <a:lnTo>
                  <a:pt x="261" y="0"/>
                </a:lnTo>
                <a:lnTo>
                  <a:pt x="240" y="0"/>
                </a:lnTo>
                <a:lnTo>
                  <a:pt x="240" y="10"/>
                </a:lnTo>
                <a:moveTo>
                  <a:pt x="206" y="10"/>
                </a:moveTo>
                <a:lnTo>
                  <a:pt x="227" y="10"/>
                </a:lnTo>
                <a:lnTo>
                  <a:pt x="227" y="0"/>
                </a:lnTo>
                <a:lnTo>
                  <a:pt x="206" y="0"/>
                </a:lnTo>
                <a:lnTo>
                  <a:pt x="206" y="10"/>
                </a:lnTo>
                <a:moveTo>
                  <a:pt x="172" y="10"/>
                </a:moveTo>
                <a:lnTo>
                  <a:pt x="192" y="10"/>
                </a:lnTo>
                <a:lnTo>
                  <a:pt x="192" y="0"/>
                </a:lnTo>
                <a:lnTo>
                  <a:pt x="172" y="0"/>
                </a:lnTo>
                <a:lnTo>
                  <a:pt x="172" y="10"/>
                </a:lnTo>
                <a:moveTo>
                  <a:pt x="137" y="10"/>
                </a:moveTo>
                <a:lnTo>
                  <a:pt x="158" y="10"/>
                </a:lnTo>
                <a:lnTo>
                  <a:pt x="158" y="0"/>
                </a:lnTo>
                <a:lnTo>
                  <a:pt x="137" y="0"/>
                </a:lnTo>
                <a:lnTo>
                  <a:pt x="137" y="10"/>
                </a:lnTo>
                <a:moveTo>
                  <a:pt x="103" y="10"/>
                </a:moveTo>
                <a:lnTo>
                  <a:pt x="123" y="10"/>
                </a:lnTo>
                <a:lnTo>
                  <a:pt x="123" y="0"/>
                </a:lnTo>
                <a:lnTo>
                  <a:pt x="103" y="0"/>
                </a:lnTo>
                <a:lnTo>
                  <a:pt x="103" y="10"/>
                </a:lnTo>
                <a:moveTo>
                  <a:pt x="68" y="10"/>
                </a:moveTo>
                <a:lnTo>
                  <a:pt x="89" y="10"/>
                </a:lnTo>
                <a:lnTo>
                  <a:pt x="89" y="0"/>
                </a:lnTo>
                <a:lnTo>
                  <a:pt x="68" y="0"/>
                </a:lnTo>
                <a:lnTo>
                  <a:pt x="68" y="10"/>
                </a:lnTo>
                <a:moveTo>
                  <a:pt x="34" y="10"/>
                </a:moveTo>
                <a:lnTo>
                  <a:pt x="55" y="10"/>
                </a:lnTo>
                <a:lnTo>
                  <a:pt x="55" y="0"/>
                </a:lnTo>
                <a:lnTo>
                  <a:pt x="34" y="0"/>
                </a:lnTo>
                <a:lnTo>
                  <a:pt x="34" y="10"/>
                </a:lnTo>
                <a:moveTo>
                  <a:pt x="0" y="10"/>
                </a:moveTo>
                <a:lnTo>
                  <a:pt x="20" y="10"/>
                </a:lnTo>
                <a:lnTo>
                  <a:pt x="20" y="0"/>
                </a:lnTo>
                <a:lnTo>
                  <a:pt x="0" y="0"/>
                </a:lnTo>
                <a:lnTo>
                  <a:pt x="0" y="10"/>
                </a:lnTo>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1800" b="1" i="0" u="none" strike="noStrike" kern="0" cap="none" spc="0" normalizeH="0" baseline="0" noProof="0" dirty="0">
              <a:ln>
                <a:noFill/>
              </a:ln>
              <a:solidFill>
                <a:srgbClr val="3F3F3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40" name="矩形: 圆角 23"/>
          <p:cNvSpPr/>
          <p:nvPr/>
        </p:nvSpPr>
        <p:spPr>
          <a:xfrm>
            <a:off x="8748395" y="2823845"/>
            <a:ext cx="1379855" cy="356870"/>
          </a:xfrm>
          <a:prstGeom prst="roundRect">
            <a:avLst>
              <a:gd name="adj" fmla="val 8000"/>
            </a:avLst>
          </a:prstGeom>
          <a:solidFill>
            <a:schemeClr val="accent1">
              <a:lumMod val="60000"/>
              <a:lumOff val="40000"/>
            </a:schemeClr>
          </a:solidFill>
          <a:ln w="6350" cap="flat">
            <a:no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endParaRPr lang="zh-CN" altLang="en-US">
              <a:solidFill>
                <a:srgbClr val="FFFFFF"/>
              </a:solidFill>
              <a:latin typeface="微软雅黑" panose="020B0503020204020204" charset="-122"/>
              <a:ea typeface="微软雅黑" panose="020B0503020204020204" charset="-122"/>
            </a:endParaRPr>
          </a:p>
        </p:txBody>
      </p:sp>
      <p:sp>
        <p:nvSpPr>
          <p:cNvPr id="189" name="文本框 77"/>
          <p:cNvSpPr txBox="1"/>
          <p:nvPr/>
        </p:nvSpPr>
        <p:spPr>
          <a:xfrm>
            <a:off x="8890000" y="2908935"/>
            <a:ext cx="762000" cy="18415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pPr algn="ctr"/>
            <a:r>
              <a:rPr lang="zh-CN" sz="1200" b="1" dirty="0">
                <a:solidFill>
                  <a:srgbClr val="FFFFFF"/>
                </a:solidFill>
                <a:effectLst/>
                <a:latin typeface="微软雅黑" panose="020B0503020204020204" charset="-122"/>
                <a:ea typeface="微软雅黑" panose="020B0503020204020204" charset="-122"/>
                <a:cs typeface="微软雅黑" panose="020B0503020204020204" charset="-122"/>
              </a:rPr>
              <a:t>用户运营力</a:t>
            </a:r>
            <a:endParaRPr lang="zh-CN" sz="12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41" name="宇神Design-独家版式库-5-3"/>
          <p:cNvSpPr>
            <a:spLocks noChangeArrowheads="1"/>
          </p:cNvSpPr>
          <p:nvPr/>
        </p:nvSpPr>
        <p:spPr bwMode="auto">
          <a:xfrm>
            <a:off x="11541125" y="2973070"/>
            <a:ext cx="71755" cy="7112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1800" b="1" i="0" u="none" strike="noStrike" kern="0" cap="none" spc="0" normalizeH="0" baseline="0" noProof="0" dirty="0">
              <a:ln>
                <a:noFill/>
              </a:ln>
              <a:solidFill>
                <a:srgbClr val="3F3F3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42" name="等腰三角形 41"/>
          <p:cNvSpPr>
            <a:spLocks noChangeAspect="1"/>
          </p:cNvSpPr>
          <p:nvPr/>
        </p:nvSpPr>
        <p:spPr>
          <a:xfrm rot="10800000">
            <a:off x="1231265" y="3986530"/>
            <a:ext cx="525780" cy="288290"/>
          </a:xfrm>
          <a:prstGeom prst="triangle">
            <a:avLst/>
          </a:prstGeom>
          <a:gradFill>
            <a:gsLst>
              <a:gs pos="92000">
                <a:schemeClr val="accent1">
                  <a:alpha val="0"/>
                </a:schemeClr>
              </a:gs>
              <a:gs pos="0">
                <a:schemeClr val="accent1"/>
              </a:gs>
            </a:gsLst>
            <a:lin ang="5400000" scaled="1"/>
          </a:gradFill>
          <a:ln w="12700" cap="flat" cmpd="sng" algn="ctr">
            <a:noFill/>
            <a:prstDash val="solid"/>
            <a:miter lim="800000"/>
          </a:ln>
          <a:effectLst/>
        </p:spPr>
        <p:txBody>
          <a:bodyPr rtlCol="0" anchor="ctr">
            <a:noAutofit/>
          </a:bodyPr>
          <a:lstStyle/>
          <a:p>
            <a:pPr lvl="0" algn="ctr">
              <a:buClrTx/>
              <a:buSzTx/>
              <a:buFontTx/>
            </a:pPr>
            <a:endParaRPr lang="zh-CN" altLang="en-US">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cxnSp>
        <p:nvCxnSpPr>
          <p:cNvPr id="43" name="直接连接符 42"/>
          <p:cNvCxnSpPr/>
          <p:nvPr/>
        </p:nvCxnSpPr>
        <p:spPr>
          <a:xfrm>
            <a:off x="2743200" y="4042410"/>
            <a:ext cx="2324100" cy="0"/>
          </a:xfrm>
          <a:prstGeom prst="line">
            <a:avLst/>
          </a:prstGeom>
          <a:ln w="1270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cxnSp>
        <p:nvCxnSpPr>
          <p:cNvPr id="44" name="直接连接符 43"/>
          <p:cNvCxnSpPr/>
          <p:nvPr/>
        </p:nvCxnSpPr>
        <p:spPr>
          <a:xfrm flipV="1">
            <a:off x="5074920" y="4029075"/>
            <a:ext cx="10795" cy="2508885"/>
          </a:xfrm>
          <a:prstGeom prst="line">
            <a:avLst/>
          </a:prstGeom>
          <a:ln w="1270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sp>
        <p:nvSpPr>
          <p:cNvPr id="45" name="圆角矩形 11"/>
          <p:cNvSpPr/>
          <p:nvPr/>
        </p:nvSpPr>
        <p:spPr>
          <a:xfrm>
            <a:off x="3850640" y="4224020"/>
            <a:ext cx="1089025" cy="358140"/>
          </a:xfrm>
          <a:prstGeom prst="roundRect">
            <a:avLst>
              <a:gd name="adj" fmla="val 0"/>
            </a:avLst>
          </a:prstGeom>
          <a:gradFill>
            <a:gsLst>
              <a:gs pos="15000">
                <a:schemeClr val="accent5">
                  <a:lumMod val="20000"/>
                  <a:lumOff val="80000"/>
                  <a:alpha val="0"/>
                </a:schemeClr>
              </a:gs>
              <a:gs pos="100000">
                <a:schemeClr val="accent5">
                  <a:lumMod val="20000"/>
                  <a:lumOff val="80000"/>
                </a:schemeClr>
              </a:gs>
            </a:gsLst>
            <a:lin ang="21594000" scaled="0"/>
          </a:gradFill>
          <a:ln w="9525" cap="flat" cmpd="sng" algn="ctr">
            <a:noFill/>
            <a:prstDash val="solid"/>
            <a:miter lim="800000"/>
          </a:ln>
          <a:effectLst/>
        </p:spPr>
        <p:txBody>
          <a:bodyPr rtlCol="0" anchor="ctr"/>
          <a:lstStyle/>
          <a:p>
            <a:pPr indent="0" algn="ctr">
              <a:buFont typeface="微软雅黑" panose="020B0503020204020204" charset="-122"/>
              <a:buNone/>
            </a:pPr>
            <a:r>
              <a:rPr lang="en-US" altLang="zh-CN" sz="1400" b="1" kern="0" dirty="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400" b="1" kern="0" dirty="0">
                <a:solidFill>
                  <a:schemeClr val="tx2"/>
                </a:solidFill>
                <a:latin typeface="微软雅黑" panose="020B0503020204020204" charset="-122"/>
                <a:ea typeface="微软雅黑" panose="020B0503020204020204" charset="-122"/>
                <a:cs typeface="微软雅黑" panose="020B0503020204020204" charset="-122"/>
                <a:sym typeface="+mn-ea"/>
              </a:rPr>
              <a:t>产品力</a:t>
            </a:r>
            <a:endParaRPr lang="zh-CN" altLang="en-US" sz="1400" b="1" kern="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45"/>
          <p:cNvSpPr txBox="1"/>
          <p:nvPr/>
        </p:nvSpPr>
        <p:spPr>
          <a:xfrm>
            <a:off x="2673985" y="4824730"/>
            <a:ext cx="2393315" cy="306705"/>
          </a:xfrm>
          <a:prstGeom prst="rect">
            <a:avLst/>
          </a:prstGeom>
          <a:noFill/>
        </p:spPr>
        <p:txBody>
          <a:bodyPr wrap="square" rtlCol="0">
            <a:spAutoFit/>
          </a:bodyPr>
          <a:lstStyle/>
          <a:p>
            <a:pPr indent="0" algn="l">
              <a:buFont typeface="微软雅黑" panose="020B0503020204020204" charset="-122"/>
              <a:buNone/>
            </a:pPr>
            <a:r>
              <a:rPr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产品为王、技术引领</a:t>
            </a:r>
            <a:r>
              <a:rPr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a:t>
            </a:r>
            <a:endParaRPr lang="en-US" altLang="zh-CN"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2673985" y="5215890"/>
            <a:ext cx="2393315" cy="429895"/>
          </a:xfrm>
          <a:prstGeom prst="rect">
            <a:avLst/>
          </a:prstGeom>
          <a:noFill/>
        </p:spPr>
        <p:txBody>
          <a:bodyPr wrap="square" rtlCol="0">
            <a:spAutoFit/>
          </a:bodyPr>
          <a:lstStyle/>
          <a:p>
            <a:pPr indent="0" algn="l">
              <a:buFont typeface="微软雅黑" panose="020B0503020204020204" charset="-122"/>
              <a:buNone/>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通过技术创新，推出质量与品质过硬的产品，建立品牌护城河</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8" name="圆角矩形 11"/>
          <p:cNvSpPr/>
          <p:nvPr/>
        </p:nvSpPr>
        <p:spPr>
          <a:xfrm>
            <a:off x="2680335" y="5857875"/>
            <a:ext cx="1322070" cy="543560"/>
          </a:xfrm>
          <a:prstGeom prst="roundRect">
            <a:avLst>
              <a:gd name="adj" fmla="val 0"/>
            </a:avLst>
          </a:prstGeom>
          <a:noFill/>
          <a:ln w="9525" cap="flat" cmpd="sng" algn="ctr">
            <a:solidFill>
              <a:schemeClr val="accent5"/>
            </a:solidFill>
            <a:prstDash val="solid"/>
            <a:miter lim="800000"/>
          </a:ln>
          <a:effectLst/>
        </p:spPr>
        <p:txBody>
          <a:bodyPr rtlCol="0" anchor="ctr">
            <a:noAutofit/>
          </a:bodyPr>
          <a:lstStyle/>
          <a:p>
            <a:pPr lvl="0" algn="ctr">
              <a:buClrTx/>
              <a:buSzTx/>
              <a:buFont typeface="微软雅黑" panose="020B0503020204020204" charset="-122"/>
            </a:pPr>
            <a:r>
              <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rPr>
              <a:t>业务线索价值</a:t>
            </a: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 typeface="微软雅黑" panose="020B0503020204020204" charset="-122"/>
            </a:pPr>
            <a:r>
              <a:rPr lang="zh-CN" sz="1100" dirty="0">
                <a:solidFill>
                  <a:schemeClr val="tx2"/>
                </a:solidFill>
                <a:latin typeface="微软雅黑" panose="020B0503020204020204" charset="-122"/>
                <a:ea typeface="微软雅黑" panose="020B0503020204020204" charset="-122"/>
                <a:cs typeface="微软雅黑" panose="020B0503020204020204" charset="-122"/>
                <a:sym typeface="+mn-ea"/>
              </a:rPr>
              <a:t>新车、二手车客户</a:t>
            </a:r>
            <a:endParaRPr lang="zh-CN"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49" name="组合 48"/>
          <p:cNvGrpSpPr/>
          <p:nvPr/>
        </p:nvGrpSpPr>
        <p:grpSpPr>
          <a:xfrm>
            <a:off x="4380230" y="5872480"/>
            <a:ext cx="541020" cy="529590"/>
            <a:chOff x="4265" y="4393"/>
            <a:chExt cx="1908" cy="562"/>
          </a:xfrm>
          <a:solidFill>
            <a:schemeClr val="accent5"/>
          </a:solidFill>
        </p:grpSpPr>
        <p:sp>
          <p:nvSpPr>
            <p:cNvPr id="50" name="矩形: 圆角 23"/>
            <p:cNvSpPr/>
            <p:nvPr/>
          </p:nvSpPr>
          <p:spPr>
            <a:xfrm>
              <a:off x="4265" y="4393"/>
              <a:ext cx="1908" cy="562"/>
            </a:xfrm>
            <a:prstGeom prst="roundRect">
              <a:avLst>
                <a:gd name="adj" fmla="val 8000"/>
              </a:avLst>
            </a:prstGeom>
            <a:grpFill/>
            <a:ln w="6350" cap="flat">
              <a:no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endParaRPr lang="zh-CN" altLang="en-US">
                <a:solidFill>
                  <a:srgbClr val="FFFFFF"/>
                </a:solidFill>
                <a:latin typeface="微软雅黑" panose="020B0503020204020204" charset="-122"/>
                <a:ea typeface="微软雅黑" panose="020B0503020204020204" charset="-122"/>
              </a:endParaRPr>
            </a:p>
          </p:txBody>
        </p:sp>
        <p:sp>
          <p:nvSpPr>
            <p:cNvPr id="51" name="文本框 77"/>
            <p:cNvSpPr txBox="1"/>
            <p:nvPr/>
          </p:nvSpPr>
          <p:spPr>
            <a:xfrm>
              <a:off x="4460" y="4460"/>
              <a:ext cx="1458" cy="410"/>
            </a:xfrm>
            <a:prstGeom prst="rect">
              <a:avLst/>
            </a:prstGeom>
            <a:grpFill/>
          </p:spPr>
          <p:txBody>
            <a:bodyPr wrap="square" lIns="0" tIns="0" rIns="0" bIns="0" rtlCol="0">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pPr algn="ctr"/>
              <a:r>
                <a:rPr lang="zh-CN" sz="1200" b="1" dirty="0">
                  <a:solidFill>
                    <a:srgbClr val="FFFFFF"/>
                  </a:solidFill>
                  <a:effectLst/>
                  <a:latin typeface="微软雅黑" panose="020B0503020204020204" charset="-122"/>
                  <a:ea typeface="微软雅黑" panose="020B0503020204020204" charset="-122"/>
                  <a:cs typeface="微软雅黑" panose="020B0503020204020204" charset="-122"/>
                </a:rPr>
                <a:t>产品变现</a:t>
              </a:r>
              <a:endParaRPr lang="zh-CN" sz="12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grpSp>
      <p:cxnSp>
        <p:nvCxnSpPr>
          <p:cNvPr id="52" name="直接连接符 51"/>
          <p:cNvCxnSpPr/>
          <p:nvPr/>
        </p:nvCxnSpPr>
        <p:spPr>
          <a:xfrm>
            <a:off x="5425440" y="4042410"/>
            <a:ext cx="2865755" cy="0"/>
          </a:xfrm>
          <a:prstGeom prst="line">
            <a:avLst/>
          </a:prstGeom>
          <a:ln w="1270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cxnSp>
        <p:nvCxnSpPr>
          <p:cNvPr id="53" name="直接连接符 52"/>
          <p:cNvCxnSpPr/>
          <p:nvPr/>
        </p:nvCxnSpPr>
        <p:spPr>
          <a:xfrm flipH="1" flipV="1">
            <a:off x="8303895" y="4055110"/>
            <a:ext cx="3810" cy="2535555"/>
          </a:xfrm>
          <a:prstGeom prst="line">
            <a:avLst/>
          </a:prstGeom>
          <a:ln w="1270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pic>
        <p:nvPicPr>
          <p:cNvPr id="54" name="图片 53" descr="客户"/>
          <p:cNvPicPr>
            <a:picLocks noChangeAspect="1"/>
          </p:cNvPicPr>
          <p:nvPr/>
        </p:nvPicPr>
        <p:blipFill>
          <a:blip r:embed="rId8"/>
          <a:stretch>
            <a:fillRect/>
          </a:stretch>
        </p:blipFill>
        <p:spPr>
          <a:xfrm>
            <a:off x="9750425" y="2908300"/>
            <a:ext cx="213360" cy="213360"/>
          </a:xfrm>
          <a:prstGeom prst="rect">
            <a:avLst/>
          </a:prstGeom>
        </p:spPr>
      </p:pic>
      <p:grpSp>
        <p:nvGrpSpPr>
          <p:cNvPr id="55" name="组合 54"/>
          <p:cNvGrpSpPr/>
          <p:nvPr/>
        </p:nvGrpSpPr>
        <p:grpSpPr>
          <a:xfrm>
            <a:off x="2680335" y="4187825"/>
            <a:ext cx="1088390" cy="394335"/>
            <a:chOff x="4221" y="6595"/>
            <a:chExt cx="1714" cy="740"/>
          </a:xfrm>
          <a:solidFill>
            <a:schemeClr val="accent5"/>
          </a:solidFill>
        </p:grpSpPr>
        <p:sp>
          <p:nvSpPr>
            <p:cNvPr id="56" name="圆角矩形 11"/>
            <p:cNvSpPr/>
            <p:nvPr/>
          </p:nvSpPr>
          <p:spPr>
            <a:xfrm>
              <a:off x="4221" y="6595"/>
              <a:ext cx="1359" cy="740"/>
            </a:xfrm>
            <a:prstGeom prst="roundRect">
              <a:avLst>
                <a:gd name="adj" fmla="val 0"/>
              </a:avLst>
            </a:prstGeom>
            <a:grpFill/>
            <a:ln w="9525" cap="flat" cmpd="sng" algn="ctr">
              <a:noFill/>
              <a:prstDash val="solid"/>
              <a:miter lim="800000"/>
            </a:ln>
            <a:effectLst/>
          </p:spPr>
          <p:txBody>
            <a:bodyPr rtlCol="0" anchor="ctr"/>
            <a:lstStyle/>
            <a:p>
              <a:pPr indent="0" algn="l">
                <a:buFont typeface="微软雅黑" panose="020B0503020204020204" charset="-122"/>
                <a:buNone/>
              </a:pPr>
              <a:endParaRPr lang="zh-CN" altLang="en-US" sz="1100" kern="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57" name="椭圆 56"/>
            <p:cNvSpPr/>
            <p:nvPr/>
          </p:nvSpPr>
          <p:spPr>
            <a:xfrm>
              <a:off x="5231" y="6595"/>
              <a:ext cx="705" cy="740"/>
            </a:xfrm>
            <a:prstGeom prst="ellips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58" name="文本框 57"/>
          <p:cNvSpPr txBox="1"/>
          <p:nvPr/>
        </p:nvSpPr>
        <p:spPr>
          <a:xfrm>
            <a:off x="2647950" y="4227195"/>
            <a:ext cx="1089025" cy="306705"/>
          </a:xfrm>
          <a:prstGeom prst="rect">
            <a:avLst/>
          </a:prstGeom>
          <a:noFill/>
        </p:spPr>
        <p:txBody>
          <a:bodyPr wrap="square" rtlCol="0">
            <a:spAutoFit/>
          </a:bodyPr>
          <a:lstStyle/>
          <a:p>
            <a:pPr indent="0" algn="l">
              <a:buFont typeface="微软雅黑" panose="020B0503020204020204" charset="-122"/>
              <a:buNone/>
            </a:pP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第</a:t>
            </a: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1</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级驱动</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9" name="右箭头 58"/>
          <p:cNvSpPr/>
          <p:nvPr/>
        </p:nvSpPr>
        <p:spPr>
          <a:xfrm>
            <a:off x="4092575" y="5994400"/>
            <a:ext cx="195580" cy="304800"/>
          </a:xfrm>
          <a:prstGeom prst="rightArrow">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6" name="圆角矩形 11"/>
          <p:cNvSpPr/>
          <p:nvPr/>
        </p:nvSpPr>
        <p:spPr>
          <a:xfrm>
            <a:off x="6595745" y="4301490"/>
            <a:ext cx="1623060" cy="358140"/>
          </a:xfrm>
          <a:prstGeom prst="roundRect">
            <a:avLst>
              <a:gd name="adj" fmla="val 0"/>
            </a:avLst>
          </a:prstGeom>
          <a:gradFill>
            <a:gsLst>
              <a:gs pos="15000">
                <a:schemeClr val="accent5">
                  <a:lumMod val="20000"/>
                  <a:lumOff val="80000"/>
                  <a:alpha val="0"/>
                </a:schemeClr>
              </a:gs>
              <a:gs pos="100000">
                <a:schemeClr val="accent5">
                  <a:lumMod val="20000"/>
                  <a:lumOff val="80000"/>
                </a:schemeClr>
              </a:gs>
            </a:gsLst>
            <a:lin ang="21594000" scaled="0"/>
          </a:gradFill>
          <a:ln w="9525" cap="flat" cmpd="sng" algn="ctr">
            <a:noFill/>
            <a:prstDash val="solid"/>
            <a:miter lim="800000"/>
          </a:ln>
          <a:effectLst/>
        </p:spPr>
        <p:txBody>
          <a:bodyPr rtlCol="0" anchor="ctr">
            <a:noAutofit/>
          </a:bodyPr>
          <a:lstStyle/>
          <a:p>
            <a:pPr lvl="0" algn="ctr">
              <a:buClrTx/>
              <a:buSzTx/>
              <a:buFont typeface="微软雅黑" panose="020B0503020204020204" charset="-122"/>
            </a:pPr>
            <a:r>
              <a:rPr lang="en-US" altLang="zh-CN" sz="1400" b="1" kern="0" dirty="0">
                <a:solidFill>
                  <a:schemeClr val="tx2"/>
                </a:solidFill>
                <a:latin typeface="微软雅黑" panose="020B0503020204020204" charset="-122"/>
                <a:ea typeface="微软雅黑" panose="020B0503020204020204" charset="-122"/>
                <a:cs typeface="微软雅黑" panose="020B0503020204020204" charset="-122"/>
                <a:sym typeface="+mn-ea"/>
              </a:rPr>
              <a:t>产品力+渠道力</a:t>
            </a:r>
            <a:endParaRPr lang="en-US" altLang="zh-CN" sz="1400" b="1" kern="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67" name="文本框 66"/>
          <p:cNvSpPr txBox="1"/>
          <p:nvPr/>
        </p:nvSpPr>
        <p:spPr>
          <a:xfrm>
            <a:off x="5419090" y="4824730"/>
            <a:ext cx="2393315" cy="306705"/>
          </a:xfrm>
          <a:prstGeom prst="rect">
            <a:avLst/>
          </a:prstGeom>
          <a:noFill/>
        </p:spPr>
        <p:txBody>
          <a:bodyPr wrap="square" rtlCol="0">
            <a:spAutoFit/>
          </a:bodyPr>
          <a:lstStyle/>
          <a:p>
            <a:pPr indent="0" algn="l">
              <a:buFont typeface="微软雅黑" panose="020B0503020204020204" charset="-122"/>
              <a:buNone/>
            </a:pPr>
            <a:r>
              <a:rPr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渠道为王、抢占市场</a:t>
            </a:r>
            <a:r>
              <a:rPr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a:t>
            </a:r>
            <a:endParaRPr lang="en-US" altLang="zh-CN"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3" name="文本框 72"/>
          <p:cNvSpPr txBox="1"/>
          <p:nvPr/>
        </p:nvSpPr>
        <p:spPr>
          <a:xfrm>
            <a:off x="5419090" y="5243195"/>
            <a:ext cx="2676525" cy="429895"/>
          </a:xfrm>
          <a:prstGeom prst="rect">
            <a:avLst/>
          </a:prstGeom>
          <a:noFill/>
        </p:spPr>
        <p:txBody>
          <a:bodyPr wrap="square" rtlCol="0">
            <a:spAutoFit/>
          </a:bodyPr>
          <a:lstStyle/>
          <a:p>
            <a:pPr indent="0" algn="l">
              <a:buFont typeface="微软雅黑" panose="020B0503020204020204" charset="-122"/>
              <a:buNone/>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拓展渠道以提供便捷优质的营销服务体验，获得客户认可，形成附加价值。</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4" name="圆角矩形 11"/>
          <p:cNvSpPr/>
          <p:nvPr/>
        </p:nvSpPr>
        <p:spPr>
          <a:xfrm>
            <a:off x="5425440" y="5842000"/>
            <a:ext cx="1322070" cy="543560"/>
          </a:xfrm>
          <a:prstGeom prst="roundRect">
            <a:avLst>
              <a:gd name="adj" fmla="val 0"/>
            </a:avLst>
          </a:prstGeom>
          <a:noFill/>
          <a:ln w="9525" cap="flat" cmpd="sng" algn="ctr">
            <a:solidFill>
              <a:schemeClr val="accent5"/>
            </a:solidFill>
            <a:prstDash val="solid"/>
            <a:miter lim="800000"/>
          </a:ln>
          <a:effectLst/>
        </p:spPr>
        <p:txBody>
          <a:bodyPr rtlCol="0" anchor="ctr">
            <a:noAutofit/>
          </a:bodyPr>
          <a:lstStyle/>
          <a:p>
            <a:pPr lvl="0" algn="ctr">
              <a:buClrTx/>
              <a:buSzTx/>
              <a:buFont typeface="微软雅黑" panose="020B0503020204020204" charset="-122"/>
            </a:pPr>
            <a:r>
              <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rPr>
              <a:t>业务线索价值</a:t>
            </a: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 typeface="微软雅黑" panose="020B0503020204020204" charset="-122"/>
            </a:pPr>
            <a:r>
              <a:rPr lang="zh-CN" sz="1100" dirty="0">
                <a:solidFill>
                  <a:schemeClr val="tx2"/>
                </a:solidFill>
                <a:latin typeface="微软雅黑" panose="020B0503020204020204" charset="-122"/>
                <a:ea typeface="微软雅黑" panose="020B0503020204020204" charset="-122"/>
                <a:cs typeface="微软雅黑" panose="020B0503020204020204" charset="-122"/>
                <a:sym typeface="+mn-ea"/>
              </a:rPr>
              <a:t>全量保客</a:t>
            </a:r>
            <a:endParaRPr lang="zh-CN"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81" name="组合 80"/>
          <p:cNvGrpSpPr/>
          <p:nvPr/>
        </p:nvGrpSpPr>
        <p:grpSpPr>
          <a:xfrm>
            <a:off x="7125335" y="5856605"/>
            <a:ext cx="897255" cy="266700"/>
            <a:chOff x="4265" y="4393"/>
            <a:chExt cx="1908" cy="562"/>
          </a:xfrm>
          <a:solidFill>
            <a:schemeClr val="accent5"/>
          </a:solidFill>
        </p:grpSpPr>
        <p:sp>
          <p:nvSpPr>
            <p:cNvPr id="82" name="矩形: 圆角 23"/>
            <p:cNvSpPr/>
            <p:nvPr/>
          </p:nvSpPr>
          <p:spPr>
            <a:xfrm>
              <a:off x="4265" y="4393"/>
              <a:ext cx="1908" cy="562"/>
            </a:xfrm>
            <a:prstGeom prst="roundRect">
              <a:avLst>
                <a:gd name="adj" fmla="val 8000"/>
              </a:avLst>
            </a:prstGeom>
            <a:grpFill/>
            <a:ln w="6350" cap="flat">
              <a:no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endParaRPr lang="zh-CN" altLang="en-US">
                <a:solidFill>
                  <a:srgbClr val="FFFFFF"/>
                </a:solidFill>
                <a:latin typeface="微软雅黑" panose="020B0503020204020204" charset="-122"/>
                <a:ea typeface="微软雅黑" panose="020B0503020204020204" charset="-122"/>
              </a:endParaRPr>
            </a:p>
          </p:txBody>
        </p:sp>
        <p:sp>
          <p:nvSpPr>
            <p:cNvPr id="84" name="文本框 77"/>
            <p:cNvSpPr txBox="1"/>
            <p:nvPr/>
          </p:nvSpPr>
          <p:spPr>
            <a:xfrm>
              <a:off x="4460" y="4460"/>
              <a:ext cx="1458" cy="410"/>
            </a:xfrm>
            <a:prstGeom prst="rect">
              <a:avLst/>
            </a:prstGeom>
            <a:noFill/>
            <a:extLst>
              <a:ext uri="{909E8E84-426E-40DD-AFC4-6F175D3DCCD1}">
                <a14:hiddenFill xmlns:a14="http://schemas.microsoft.com/office/drawing/2010/main">
                  <a:grpFill/>
                </a14:hiddenFill>
              </a:ext>
            </a:extLst>
          </p:spPr>
          <p:txBody>
            <a:bodyPr wrap="square" lIns="0" tIns="0" rIns="0" bIns="0" rtlCol="0">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pPr algn="ctr"/>
              <a:r>
                <a:rPr lang="zh-CN" sz="1200" b="1" dirty="0">
                  <a:solidFill>
                    <a:srgbClr val="FFFFFF"/>
                  </a:solidFill>
                  <a:effectLst/>
                  <a:latin typeface="微软雅黑" panose="020B0503020204020204" charset="-122"/>
                  <a:ea typeface="微软雅黑" panose="020B0503020204020204" charset="-122"/>
                  <a:cs typeface="微软雅黑" panose="020B0503020204020204" charset="-122"/>
                </a:rPr>
                <a:t>服务变现</a:t>
              </a:r>
              <a:endParaRPr lang="zh-CN" sz="12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grpSp>
      <p:grpSp>
        <p:nvGrpSpPr>
          <p:cNvPr id="85" name="组合 84"/>
          <p:cNvGrpSpPr/>
          <p:nvPr/>
        </p:nvGrpSpPr>
        <p:grpSpPr>
          <a:xfrm>
            <a:off x="5425440" y="4265295"/>
            <a:ext cx="1088390" cy="394335"/>
            <a:chOff x="4221" y="6595"/>
            <a:chExt cx="1714" cy="740"/>
          </a:xfrm>
          <a:solidFill>
            <a:schemeClr val="accent5"/>
          </a:solidFill>
        </p:grpSpPr>
        <p:sp>
          <p:nvSpPr>
            <p:cNvPr id="87" name="圆角矩形 11"/>
            <p:cNvSpPr/>
            <p:nvPr/>
          </p:nvSpPr>
          <p:spPr>
            <a:xfrm>
              <a:off x="4221" y="6595"/>
              <a:ext cx="1359" cy="740"/>
            </a:xfrm>
            <a:prstGeom prst="roundRect">
              <a:avLst>
                <a:gd name="adj" fmla="val 0"/>
              </a:avLst>
            </a:prstGeom>
            <a:grpFill/>
            <a:ln w="9525" cap="flat" cmpd="sng" algn="ctr">
              <a:noFill/>
              <a:prstDash val="solid"/>
              <a:miter lim="800000"/>
            </a:ln>
            <a:effectLst/>
          </p:spPr>
          <p:txBody>
            <a:bodyPr rtlCol="0" anchor="ctr"/>
            <a:lstStyle/>
            <a:p>
              <a:pPr indent="0" algn="l">
                <a:buFont typeface="微软雅黑" panose="020B0503020204020204" charset="-122"/>
                <a:buNone/>
              </a:pPr>
              <a:endParaRPr lang="zh-CN" altLang="en-US" sz="1100" kern="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88" name="椭圆 87"/>
            <p:cNvSpPr/>
            <p:nvPr/>
          </p:nvSpPr>
          <p:spPr>
            <a:xfrm>
              <a:off x="5231" y="6595"/>
              <a:ext cx="705" cy="740"/>
            </a:xfrm>
            <a:prstGeom prst="ellips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89" name="文本框 88"/>
          <p:cNvSpPr txBox="1"/>
          <p:nvPr/>
        </p:nvSpPr>
        <p:spPr>
          <a:xfrm>
            <a:off x="5398135" y="4301490"/>
            <a:ext cx="1088390" cy="306705"/>
          </a:xfrm>
          <a:prstGeom prst="rect">
            <a:avLst/>
          </a:prstGeom>
          <a:noFill/>
        </p:spPr>
        <p:txBody>
          <a:bodyPr wrap="square" rtlCol="0">
            <a:spAutoFit/>
          </a:bodyPr>
          <a:lstStyle/>
          <a:p>
            <a:pPr indent="0" algn="l">
              <a:buFont typeface="微软雅黑" panose="020B0503020204020204" charset="-122"/>
              <a:buNone/>
            </a:pP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第</a:t>
            </a: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2</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级驱动</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0" name="右箭头 89"/>
          <p:cNvSpPr/>
          <p:nvPr/>
        </p:nvSpPr>
        <p:spPr>
          <a:xfrm>
            <a:off x="6837680" y="5978525"/>
            <a:ext cx="195580" cy="304800"/>
          </a:xfrm>
          <a:prstGeom prst="rightArrow">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91" name="矩形 90"/>
          <p:cNvSpPr/>
          <p:nvPr/>
        </p:nvSpPr>
        <p:spPr>
          <a:xfrm>
            <a:off x="8096250" y="5006975"/>
            <a:ext cx="461645" cy="57594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95" name="组合 94"/>
          <p:cNvGrpSpPr/>
          <p:nvPr/>
        </p:nvGrpSpPr>
        <p:grpSpPr>
          <a:xfrm>
            <a:off x="7125335" y="6228715"/>
            <a:ext cx="897255" cy="266700"/>
            <a:chOff x="4265" y="4393"/>
            <a:chExt cx="1908" cy="562"/>
          </a:xfrm>
          <a:solidFill>
            <a:srgbClr val="F4D1CC"/>
          </a:solidFill>
        </p:grpSpPr>
        <p:sp>
          <p:nvSpPr>
            <p:cNvPr id="96" name="矩形: 圆角 23"/>
            <p:cNvSpPr/>
            <p:nvPr/>
          </p:nvSpPr>
          <p:spPr>
            <a:xfrm>
              <a:off x="4265" y="4393"/>
              <a:ext cx="1908" cy="562"/>
            </a:xfrm>
            <a:prstGeom prst="roundRect">
              <a:avLst>
                <a:gd name="adj" fmla="val 8000"/>
              </a:avLst>
            </a:prstGeom>
            <a:solidFill>
              <a:schemeClr val="accent5">
                <a:lumMod val="20000"/>
                <a:lumOff val="80000"/>
              </a:schemeClr>
            </a:solidFill>
            <a:ln w="6350" cap="flat">
              <a:no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97" name="文本框 77"/>
            <p:cNvSpPr txBox="1"/>
            <p:nvPr/>
          </p:nvSpPr>
          <p:spPr>
            <a:xfrm>
              <a:off x="4460" y="4460"/>
              <a:ext cx="1458" cy="410"/>
            </a:xfrm>
            <a:prstGeom prst="rect">
              <a:avLst/>
            </a:prstGeom>
            <a:noFill/>
            <a:extLst>
              <a:ext uri="{909E8E84-426E-40DD-AFC4-6F175D3DCCD1}">
                <a14:hiddenFill xmlns:a14="http://schemas.microsoft.com/office/drawing/2010/main">
                  <a:grpFill/>
                </a14:hiddenFill>
              </a:ext>
            </a:extLst>
          </p:spPr>
          <p:txBody>
            <a:bodyPr wrap="square" lIns="0" tIns="0" rIns="0" bIns="0" rtlCol="0">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pPr algn="ctr"/>
              <a:r>
                <a:rPr lang="zh-CN" sz="1200" b="1" dirty="0">
                  <a:solidFill>
                    <a:schemeClr val="tx2"/>
                  </a:solidFill>
                  <a:effectLst/>
                  <a:latin typeface="微软雅黑" panose="020B0503020204020204" charset="-122"/>
                  <a:ea typeface="微软雅黑" panose="020B0503020204020204" charset="-122"/>
                  <a:cs typeface="微软雅黑" panose="020B0503020204020204" charset="-122"/>
                </a:rPr>
                <a:t>产品变现</a:t>
              </a:r>
              <a:endParaRPr lang="zh-CN" sz="12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cxnSp>
        <p:nvCxnSpPr>
          <p:cNvPr id="98" name="直接连接符 97"/>
          <p:cNvCxnSpPr/>
          <p:nvPr/>
        </p:nvCxnSpPr>
        <p:spPr>
          <a:xfrm>
            <a:off x="8748395" y="4042410"/>
            <a:ext cx="2865755" cy="0"/>
          </a:xfrm>
          <a:prstGeom prst="line">
            <a:avLst/>
          </a:prstGeom>
          <a:ln w="12700" cap="flat" cmpd="sng" algn="ctr">
            <a:solidFill>
              <a:schemeClr val="accent5"/>
            </a:solidFill>
            <a:prstDash val="dash"/>
            <a:miter lim="800000"/>
          </a:ln>
        </p:spPr>
        <p:style>
          <a:lnRef idx="0">
            <a:schemeClr val="accent1"/>
          </a:lnRef>
          <a:fillRef idx="0">
            <a:srgbClr val="FFFFFF"/>
          </a:fillRef>
          <a:effectRef idx="0">
            <a:srgbClr val="FFFFFF"/>
          </a:effectRef>
          <a:fontRef idx="minor">
            <a:schemeClr val="tx1"/>
          </a:fontRef>
        </p:style>
      </p:cxnSp>
      <p:cxnSp>
        <p:nvCxnSpPr>
          <p:cNvPr id="99" name="直接连接符 98"/>
          <p:cNvCxnSpPr/>
          <p:nvPr/>
        </p:nvCxnSpPr>
        <p:spPr>
          <a:xfrm flipV="1">
            <a:off x="11612880" y="4042410"/>
            <a:ext cx="13970" cy="2591435"/>
          </a:xfrm>
          <a:prstGeom prst="line">
            <a:avLst/>
          </a:prstGeom>
          <a:ln w="12700" cap="flat" cmpd="sng" algn="ctr">
            <a:solidFill>
              <a:schemeClr val="accent5"/>
            </a:solidFill>
            <a:prstDash val="dash"/>
            <a:miter lim="800000"/>
          </a:ln>
        </p:spPr>
        <p:style>
          <a:lnRef idx="0">
            <a:schemeClr val="accent1"/>
          </a:lnRef>
          <a:fillRef idx="0">
            <a:srgbClr val="FFFFFF"/>
          </a:fillRef>
          <a:effectRef idx="0">
            <a:srgbClr val="FFFFFF"/>
          </a:effectRef>
          <a:fontRef idx="minor">
            <a:schemeClr val="tx1"/>
          </a:fontRef>
        </p:style>
      </p:cxnSp>
      <p:sp>
        <p:nvSpPr>
          <p:cNvPr id="100" name="矩形 99"/>
          <p:cNvSpPr/>
          <p:nvPr/>
        </p:nvSpPr>
        <p:spPr>
          <a:xfrm>
            <a:off x="8546465" y="3827780"/>
            <a:ext cx="1172210" cy="399415"/>
          </a:xfrm>
          <a:prstGeom prst="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solidFill>
                  <a:schemeClr val="bg1"/>
                </a:solidFill>
                <a:latin typeface="微软雅黑" panose="020B0503020204020204" charset="-122"/>
                <a:ea typeface="微软雅黑" panose="020B0503020204020204" charset="-122"/>
                <a:cs typeface="微软雅黑" panose="020B0503020204020204" charset="-122"/>
              </a:rPr>
              <a:t>当前时代</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8674735" y="4824730"/>
            <a:ext cx="2393315" cy="306705"/>
          </a:xfrm>
          <a:prstGeom prst="rect">
            <a:avLst/>
          </a:prstGeom>
          <a:noFill/>
        </p:spPr>
        <p:txBody>
          <a:bodyPr wrap="square" rtlCol="0">
            <a:spAutoFit/>
          </a:bodyPr>
          <a:lstStyle/>
          <a:p>
            <a:pPr indent="0" algn="l">
              <a:buFont typeface="微软雅黑" panose="020B0503020204020204" charset="-122"/>
              <a:buNone/>
            </a:pPr>
            <a:r>
              <a:rPr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用户为王、共赢共生</a:t>
            </a:r>
            <a:r>
              <a:rPr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a:t>
            </a:r>
            <a:endParaRPr lang="en-US" altLang="zh-CN"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02" name="文本框 101"/>
          <p:cNvSpPr txBox="1"/>
          <p:nvPr/>
        </p:nvSpPr>
        <p:spPr>
          <a:xfrm>
            <a:off x="8674735" y="5121275"/>
            <a:ext cx="2676525" cy="429895"/>
          </a:xfrm>
          <a:prstGeom prst="rect">
            <a:avLst/>
          </a:prstGeom>
          <a:noFill/>
        </p:spPr>
        <p:txBody>
          <a:bodyPr wrap="square" rtlCol="0">
            <a:spAutoFit/>
          </a:bodyPr>
          <a:lstStyle/>
          <a:p>
            <a:pPr indent="0" algn="l">
              <a:buFont typeface="微软雅黑" panose="020B0503020204020204" charset="-122"/>
              <a:buNone/>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从用户需求出发布局品牌生态，实现业务线索与品牌用户流量的双变现</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3" name="圆角矩形 11"/>
          <p:cNvSpPr/>
          <p:nvPr/>
        </p:nvSpPr>
        <p:spPr>
          <a:xfrm>
            <a:off x="8674735" y="6118860"/>
            <a:ext cx="872490" cy="450215"/>
          </a:xfrm>
          <a:prstGeom prst="roundRect">
            <a:avLst>
              <a:gd name="adj" fmla="val 0"/>
            </a:avLst>
          </a:prstGeom>
          <a:noFill/>
          <a:ln w="9525" cap="flat" cmpd="sng" algn="ctr">
            <a:solidFill>
              <a:schemeClr val="accent5"/>
            </a:solidFill>
            <a:prstDash val="solid"/>
            <a:miter lim="800000"/>
          </a:ln>
          <a:effectLst/>
        </p:spPr>
        <p:txBody>
          <a:bodyPr rtlCol="0" anchor="ctr">
            <a:noAutofit/>
          </a:bodyPr>
          <a:lstStyle/>
          <a:p>
            <a:pPr lvl="0" algn="ctr">
              <a:buClrTx/>
              <a:buSzTx/>
              <a:buFont typeface="微软雅黑" panose="020B0503020204020204" charset="-122"/>
            </a:pPr>
            <a:r>
              <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rPr>
              <a:t>业务线索</a:t>
            </a: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 typeface="微软雅黑" panose="020B0503020204020204" charset="-122"/>
            </a:pPr>
            <a:r>
              <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rPr>
              <a:t>价值</a:t>
            </a: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05" name="右箭头 104"/>
          <p:cNvSpPr/>
          <p:nvPr/>
        </p:nvSpPr>
        <p:spPr>
          <a:xfrm>
            <a:off x="9683750" y="6173470"/>
            <a:ext cx="195580" cy="304800"/>
          </a:xfrm>
          <a:prstGeom prst="rightArrow">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12" name="组合 111"/>
          <p:cNvGrpSpPr/>
          <p:nvPr/>
        </p:nvGrpSpPr>
        <p:grpSpPr>
          <a:xfrm>
            <a:off x="8687435" y="5581650"/>
            <a:ext cx="859790" cy="448945"/>
            <a:chOff x="4265" y="4393"/>
            <a:chExt cx="1908" cy="562"/>
          </a:xfrm>
          <a:solidFill>
            <a:srgbClr val="F4D1CC"/>
          </a:solidFill>
        </p:grpSpPr>
        <p:sp>
          <p:nvSpPr>
            <p:cNvPr id="113" name="矩形: 圆角 23"/>
            <p:cNvSpPr/>
            <p:nvPr/>
          </p:nvSpPr>
          <p:spPr>
            <a:xfrm>
              <a:off x="4265" y="4393"/>
              <a:ext cx="1908" cy="562"/>
            </a:xfrm>
            <a:prstGeom prst="roundRect">
              <a:avLst>
                <a:gd name="adj" fmla="val 8000"/>
              </a:avLst>
            </a:prstGeom>
            <a:noFill/>
            <a:ln w="9525" cap="flat" cmpd="sng" algn="ctr">
              <a:solidFill>
                <a:schemeClr val="accent5"/>
              </a:solidFill>
              <a:prstDash val="solid"/>
              <a:miter lim="800000"/>
            </a:ln>
            <a:effectLst/>
          </p:spPr>
          <p:txBody>
            <a:bodyPr rot="0" spcFirstLastPara="0" vert="horz" wrap="square" lIns="91440" tIns="45720" rIns="91440" bIns="45720" numCol="1" spcCol="0" rtlCol="0" fromWordArt="0" anchor="ctr" anchorCtr="0" forceAA="0" compatLnSpc="0">
              <a:noAutofit/>
            </a:bodyPr>
            <a:lstStyle/>
            <a:p>
              <a:pPr lvl="0" algn="ctr">
                <a:buClrTx/>
                <a:buSzTx/>
                <a:buFont typeface="微软雅黑" panose="020B0503020204020204" charset="-122"/>
              </a:pP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16" name="文本框 77"/>
            <p:cNvSpPr/>
            <p:nvPr/>
          </p:nvSpPr>
          <p:spPr>
            <a:xfrm>
              <a:off x="4326" y="4460"/>
              <a:ext cx="1752" cy="410"/>
            </a:xfrm>
            <a:prstGeom prst="rect">
              <a:avLst/>
            </a:prstGeom>
            <a:noFill/>
            <a:ln w="9525" cap="flat" cmpd="sng" algn="ctr">
              <a:solidFill>
                <a:srgbClr val="000000">
                  <a:alpha val="0"/>
                </a:srgbClr>
              </a:solidFill>
              <a:prstDash val="solid"/>
              <a:miter lim="800000"/>
            </a:ln>
            <a:effectLst/>
          </p:spPr>
          <p:txBody>
            <a:bodyPr wrap="square" lIns="91440" tIns="45720" rIns="91440" bIns="45720" rtlCol="0" anchor="ctr">
              <a:noAutofit/>
            </a:bodyPr>
            <a:lstStyle/>
            <a:p>
              <a:pPr lvl="0" algn="ctr">
                <a:buClrTx/>
                <a:buSzTx/>
                <a:buFont typeface="微软雅黑" panose="020B0503020204020204" charset="-122"/>
              </a:pPr>
              <a:r>
                <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rPr>
                <a:t>全量用户流量价值</a:t>
              </a: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sp>
        <p:nvSpPr>
          <p:cNvPr id="117" name="右箭头 116"/>
          <p:cNvSpPr/>
          <p:nvPr/>
        </p:nvSpPr>
        <p:spPr>
          <a:xfrm>
            <a:off x="9683750" y="5673090"/>
            <a:ext cx="195580" cy="304800"/>
          </a:xfrm>
          <a:prstGeom prst="rightArrow">
            <a:avLst/>
          </a:prstGeom>
          <a:no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18" name="组合 117"/>
          <p:cNvGrpSpPr/>
          <p:nvPr/>
        </p:nvGrpSpPr>
        <p:grpSpPr>
          <a:xfrm>
            <a:off x="10003155" y="5581650"/>
            <a:ext cx="1470660" cy="448945"/>
            <a:chOff x="4265" y="4393"/>
            <a:chExt cx="1908" cy="562"/>
          </a:xfrm>
          <a:solidFill>
            <a:schemeClr val="accent5"/>
          </a:solidFill>
        </p:grpSpPr>
        <p:sp>
          <p:nvSpPr>
            <p:cNvPr id="104" name="矩形: 圆角 23"/>
            <p:cNvSpPr/>
            <p:nvPr/>
          </p:nvSpPr>
          <p:spPr>
            <a:xfrm>
              <a:off x="4265" y="4393"/>
              <a:ext cx="1908" cy="562"/>
            </a:xfrm>
            <a:prstGeom prst="roundRect">
              <a:avLst>
                <a:gd name="adj" fmla="val 8000"/>
              </a:avLst>
            </a:prstGeom>
            <a:grpFill/>
            <a:ln w="6350" cap="flat">
              <a:no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endParaRPr lang="zh-CN" altLang="en-US">
                <a:solidFill>
                  <a:srgbClr val="FFFFFF"/>
                </a:solidFill>
                <a:latin typeface="微软雅黑" panose="020B0503020204020204" charset="-122"/>
                <a:ea typeface="微软雅黑" panose="020B0503020204020204" charset="-122"/>
              </a:endParaRPr>
            </a:p>
          </p:txBody>
        </p:sp>
        <p:sp>
          <p:nvSpPr>
            <p:cNvPr id="120" name="文本框 77"/>
            <p:cNvSpPr txBox="1"/>
            <p:nvPr/>
          </p:nvSpPr>
          <p:spPr>
            <a:xfrm>
              <a:off x="4460" y="4460"/>
              <a:ext cx="1458" cy="410"/>
            </a:xfrm>
            <a:prstGeom prst="rect">
              <a:avLst/>
            </a:prstGeom>
            <a:noFill/>
            <a:extLst>
              <a:ext uri="{909E8E84-426E-40DD-AFC4-6F175D3DCCD1}">
                <a14:hiddenFill xmlns:a14="http://schemas.microsoft.com/office/drawing/2010/main">
                  <a:grpFill/>
                </a14:hiddenFill>
              </a:ext>
            </a:extLst>
          </p:spPr>
          <p:txBody>
            <a:bodyPr wrap="square" lIns="0" tIns="0" rIns="0" bIns="0" rtlCol="0">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pPr algn="ctr"/>
              <a:r>
                <a:rPr lang="zh-CN" sz="1200" b="1" dirty="0">
                  <a:solidFill>
                    <a:srgbClr val="FFFFFF"/>
                  </a:solidFill>
                  <a:effectLst/>
                  <a:latin typeface="微软雅黑" panose="020B0503020204020204" charset="-122"/>
                  <a:ea typeface="微软雅黑" panose="020B0503020204020204" charset="-122"/>
                  <a:cs typeface="微软雅黑" panose="020B0503020204020204" charset="-122"/>
                </a:rPr>
                <a:t>价值裂变</a:t>
              </a:r>
              <a:r>
                <a:rPr lang="en-US" altLang="zh-CN" sz="1200" b="1" dirty="0">
                  <a:solidFill>
                    <a:srgbClr val="FFFFFF"/>
                  </a:solidFill>
                  <a:effectLst/>
                  <a:latin typeface="微软雅黑" panose="020B0503020204020204" charset="-122"/>
                  <a:ea typeface="微软雅黑" panose="020B0503020204020204" charset="-122"/>
                  <a:cs typeface="微软雅黑" panose="020B0503020204020204" charset="-122"/>
                </a:rPr>
                <a:t>+</a:t>
              </a:r>
              <a:endParaRPr lang="en-US" altLang="zh-CN" sz="1200" b="1" dirty="0">
                <a:solidFill>
                  <a:srgbClr val="FFFFFF"/>
                </a:solidFill>
                <a:effectLst/>
                <a:latin typeface="微软雅黑" panose="020B0503020204020204" charset="-122"/>
                <a:ea typeface="微软雅黑" panose="020B0503020204020204" charset="-122"/>
                <a:cs typeface="微软雅黑" panose="020B0503020204020204" charset="-122"/>
              </a:endParaRPr>
            </a:p>
            <a:p>
              <a:pPr algn="ctr"/>
              <a:r>
                <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rPr>
                <a:t>生态衍生变现</a:t>
              </a:r>
              <a:endPar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grpSp>
      <p:grpSp>
        <p:nvGrpSpPr>
          <p:cNvPr id="106" name="组合 105"/>
          <p:cNvGrpSpPr/>
          <p:nvPr/>
        </p:nvGrpSpPr>
        <p:grpSpPr>
          <a:xfrm>
            <a:off x="10003155" y="6159500"/>
            <a:ext cx="1470660" cy="450215"/>
            <a:chOff x="4265" y="4393"/>
            <a:chExt cx="1908" cy="562"/>
          </a:xfrm>
          <a:solidFill>
            <a:srgbClr val="F4D1CC"/>
          </a:solidFill>
        </p:grpSpPr>
        <p:sp>
          <p:nvSpPr>
            <p:cNvPr id="107" name="矩形: 圆角 23"/>
            <p:cNvSpPr/>
            <p:nvPr/>
          </p:nvSpPr>
          <p:spPr>
            <a:xfrm>
              <a:off x="4265" y="4393"/>
              <a:ext cx="1908" cy="562"/>
            </a:xfrm>
            <a:prstGeom prst="roundRect">
              <a:avLst>
                <a:gd name="adj" fmla="val 8000"/>
              </a:avLst>
            </a:prstGeom>
            <a:solidFill>
              <a:schemeClr val="accent5">
                <a:lumMod val="20000"/>
                <a:lumOff val="80000"/>
              </a:schemeClr>
            </a:solidFill>
            <a:ln w="6350" cap="flat">
              <a:no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108" name="文本框 77"/>
            <p:cNvSpPr txBox="1"/>
            <p:nvPr/>
          </p:nvSpPr>
          <p:spPr>
            <a:xfrm>
              <a:off x="4460" y="4460"/>
              <a:ext cx="1458" cy="410"/>
            </a:xfrm>
            <a:prstGeom prst="rect">
              <a:avLst/>
            </a:prstGeom>
            <a:noFill/>
            <a:extLst>
              <a:ext uri="{909E8E84-426E-40DD-AFC4-6F175D3DCCD1}">
                <a14:hiddenFill xmlns:a14="http://schemas.microsoft.com/office/drawing/2010/main">
                  <a:grpFill/>
                </a14:hiddenFill>
              </a:ext>
            </a:extLst>
          </p:spPr>
          <p:txBody>
            <a:bodyPr wrap="square" lIns="0" tIns="0" rIns="0" bIns="0" rtlCol="0">
              <a:noAutofit/>
            </a:bodyPr>
            <a:lstStyle>
              <a:defPPr>
                <a:defRPr lang="zh-CN"/>
              </a:defPPr>
              <a:lvl1pPr marL="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1pPr>
              <a:lvl2pPr marL="457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2pPr>
              <a:lvl3pPr marL="914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3pPr>
              <a:lvl4pPr marL="1371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4pPr>
              <a:lvl5pPr marL="18288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5pPr>
              <a:lvl6pPr marL="22860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6pPr>
              <a:lvl7pPr marL="27432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7pPr>
              <a:lvl8pPr marL="32004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8pPr>
              <a:lvl9pPr marL="3657600" algn="l" defTabSz="914400" rtl="0" eaLnBrk="1" latinLnBrk="0" hangingPunct="1">
                <a:defRPr sz="1800" kern="1200">
                  <a:solidFill>
                    <a:srgbClr val="000000"/>
                  </a:solidFill>
                  <a:latin typeface="vivo type 简 Regular" panose="02000500000000000000" pitchFamily="2" charset="-122"/>
                  <a:ea typeface="vivo type 简 Regular" panose="02000500000000000000" pitchFamily="2" charset="-122"/>
                  <a:cs typeface="+mn-ea"/>
                </a:defRPr>
              </a:lvl9pPr>
            </a:lstStyle>
            <a:p>
              <a:pPr algn="ctr"/>
              <a:r>
                <a:rPr lang="zh-CN" sz="1200" b="1" dirty="0">
                  <a:solidFill>
                    <a:schemeClr val="tx2"/>
                  </a:solidFill>
                  <a:effectLst/>
                  <a:latin typeface="微软雅黑" panose="020B0503020204020204" charset="-122"/>
                  <a:ea typeface="微软雅黑" panose="020B0503020204020204" charset="-122"/>
                  <a:cs typeface="微软雅黑" panose="020B0503020204020204" charset="-122"/>
                </a:rPr>
                <a:t>全生命周期</a:t>
              </a:r>
              <a:endParaRPr lang="zh-CN" sz="1200" b="1" dirty="0">
                <a:solidFill>
                  <a:schemeClr val="tx2"/>
                </a:solidFill>
                <a:effectLst/>
                <a:latin typeface="微软雅黑" panose="020B0503020204020204" charset="-122"/>
                <a:ea typeface="微软雅黑" panose="020B0503020204020204" charset="-122"/>
                <a:cs typeface="微软雅黑" panose="020B0503020204020204" charset="-122"/>
              </a:endParaRPr>
            </a:p>
            <a:p>
              <a:pPr algn="ctr"/>
              <a:r>
                <a:rPr lang="zh-CN" sz="1200" b="1" dirty="0">
                  <a:solidFill>
                    <a:schemeClr val="tx2"/>
                  </a:solidFill>
                  <a:effectLst/>
                  <a:latin typeface="微软雅黑" panose="020B0503020204020204" charset="-122"/>
                  <a:ea typeface="微软雅黑" panose="020B0503020204020204" charset="-122"/>
                  <a:cs typeface="微软雅黑" panose="020B0503020204020204" charset="-122"/>
                </a:rPr>
                <a:t>业务变现</a:t>
              </a:r>
              <a:endParaRPr lang="zh-CN" sz="12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sp>
        <p:nvSpPr>
          <p:cNvPr id="126" name="圆角矩形 11"/>
          <p:cNvSpPr/>
          <p:nvPr/>
        </p:nvSpPr>
        <p:spPr>
          <a:xfrm>
            <a:off x="9885045" y="4212590"/>
            <a:ext cx="1623060" cy="511175"/>
          </a:xfrm>
          <a:prstGeom prst="roundRect">
            <a:avLst>
              <a:gd name="adj" fmla="val 0"/>
            </a:avLst>
          </a:prstGeom>
          <a:gradFill>
            <a:gsLst>
              <a:gs pos="15000">
                <a:schemeClr val="accent5">
                  <a:lumMod val="20000"/>
                  <a:lumOff val="80000"/>
                  <a:alpha val="0"/>
                </a:schemeClr>
              </a:gs>
              <a:gs pos="100000">
                <a:schemeClr val="accent5">
                  <a:lumMod val="20000"/>
                  <a:lumOff val="80000"/>
                </a:schemeClr>
              </a:gs>
            </a:gsLst>
            <a:lin ang="21594000" scaled="0"/>
          </a:gradFill>
          <a:ln w="9525" cap="flat" cmpd="sng" algn="ctr">
            <a:noFill/>
            <a:prstDash val="solid"/>
            <a:miter lim="800000"/>
          </a:ln>
          <a:effectLst/>
        </p:spPr>
        <p:txBody>
          <a:bodyPr rtlCol="0" anchor="ctr">
            <a:noAutofit/>
          </a:bodyPr>
          <a:lstStyle/>
          <a:p>
            <a:pPr lvl="0" algn="ctr">
              <a:buClrTx/>
              <a:buSzTx/>
              <a:buFont typeface="微软雅黑" panose="020B0503020204020204" charset="-122"/>
            </a:pPr>
            <a:r>
              <a:rPr lang="en-US" altLang="zh-CN" sz="1400" b="1" kern="0" dirty="0">
                <a:solidFill>
                  <a:schemeClr val="tx2"/>
                </a:solidFill>
                <a:latin typeface="微软雅黑" panose="020B0503020204020204" charset="-122"/>
                <a:ea typeface="微软雅黑" panose="020B0503020204020204" charset="-122"/>
                <a:cs typeface="微软雅黑" panose="020B0503020204020204" charset="-122"/>
                <a:sym typeface="+mn-ea"/>
              </a:rPr>
              <a:t>产品力+渠道力+用户运营力</a:t>
            </a:r>
            <a:endParaRPr lang="en-US" altLang="zh-CN" sz="1400" b="1" kern="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127" name="组合 126"/>
          <p:cNvGrpSpPr/>
          <p:nvPr/>
        </p:nvGrpSpPr>
        <p:grpSpPr>
          <a:xfrm>
            <a:off x="8714740" y="4316730"/>
            <a:ext cx="1088390" cy="394335"/>
            <a:chOff x="4221" y="6595"/>
            <a:chExt cx="1714" cy="740"/>
          </a:xfrm>
          <a:solidFill>
            <a:schemeClr val="accent5"/>
          </a:solidFill>
        </p:grpSpPr>
        <p:sp>
          <p:nvSpPr>
            <p:cNvPr id="128" name="圆角矩形 11"/>
            <p:cNvSpPr/>
            <p:nvPr/>
          </p:nvSpPr>
          <p:spPr>
            <a:xfrm>
              <a:off x="4221" y="6595"/>
              <a:ext cx="1359" cy="740"/>
            </a:xfrm>
            <a:prstGeom prst="roundRect">
              <a:avLst>
                <a:gd name="adj" fmla="val 0"/>
              </a:avLst>
            </a:prstGeom>
            <a:grpFill/>
            <a:ln w="9525" cap="flat" cmpd="sng" algn="ctr">
              <a:noFill/>
              <a:prstDash val="solid"/>
              <a:miter lim="800000"/>
            </a:ln>
            <a:effectLst/>
          </p:spPr>
          <p:txBody>
            <a:bodyPr rtlCol="0" anchor="ctr"/>
            <a:lstStyle/>
            <a:p>
              <a:pPr indent="0" algn="l">
                <a:buFont typeface="微软雅黑" panose="020B0503020204020204" charset="-122"/>
                <a:buNone/>
              </a:pPr>
              <a:endParaRPr lang="zh-CN" altLang="en-US" sz="1100" kern="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29" name="椭圆 128"/>
            <p:cNvSpPr/>
            <p:nvPr/>
          </p:nvSpPr>
          <p:spPr>
            <a:xfrm>
              <a:off x="5231" y="6595"/>
              <a:ext cx="705" cy="740"/>
            </a:xfrm>
            <a:prstGeom prst="ellips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109" name="文本框 108"/>
          <p:cNvSpPr txBox="1"/>
          <p:nvPr/>
        </p:nvSpPr>
        <p:spPr>
          <a:xfrm>
            <a:off x="8687435" y="4352925"/>
            <a:ext cx="1088390" cy="306705"/>
          </a:xfrm>
          <a:prstGeom prst="rect">
            <a:avLst/>
          </a:prstGeom>
          <a:noFill/>
        </p:spPr>
        <p:txBody>
          <a:bodyPr wrap="square" rtlCol="0">
            <a:spAutoFit/>
          </a:bodyPr>
          <a:lstStyle/>
          <a:p>
            <a:pPr indent="0" algn="l">
              <a:buFont typeface="微软雅黑" panose="020B0503020204020204" charset="-122"/>
              <a:buNone/>
            </a:pP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第</a:t>
            </a: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3</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级驱动</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1" name="圆角矩形 11"/>
          <p:cNvSpPr/>
          <p:nvPr/>
        </p:nvSpPr>
        <p:spPr>
          <a:xfrm>
            <a:off x="5351145" y="3180715"/>
            <a:ext cx="2940685" cy="572770"/>
          </a:xfrm>
          <a:prstGeom prst="roundRect">
            <a:avLst>
              <a:gd name="adj" fmla="val 0"/>
            </a:avLst>
          </a:prstGeom>
          <a:gradFill>
            <a:gsLst>
              <a:gs pos="33000">
                <a:schemeClr val="accent1">
                  <a:lumMod val="20000"/>
                  <a:lumOff val="80000"/>
                  <a:alpha val="0"/>
                </a:schemeClr>
              </a:gs>
              <a:gs pos="100000">
                <a:schemeClr val="accent1">
                  <a:lumMod val="20000"/>
                  <a:lumOff val="80000"/>
                </a:schemeClr>
              </a:gs>
            </a:gsLst>
            <a:lin ang="21594000" scaled="0"/>
          </a:gradFill>
          <a:ln w="9525" cap="flat" cmpd="sng" algn="ctr">
            <a:noFill/>
            <a:prstDash val="solid"/>
            <a:miter lim="800000"/>
          </a:ln>
          <a:effectLst/>
        </p:spPr>
        <p:txBody>
          <a:bodyPr rtlCol="0" anchor="ctr">
            <a:noAutofit/>
          </a:bodyPr>
          <a:lstStyle/>
          <a:p>
            <a:pPr lvl="0" algn="l">
              <a:buClrTx/>
              <a:buSzTx/>
              <a:buFont typeface="微软雅黑" panose="020B0503020204020204" charset="-122"/>
            </a:pPr>
            <a:r>
              <a:rPr lang="zh-CN" sz="1100" dirty="0">
                <a:solidFill>
                  <a:schemeClr val="tx2"/>
                </a:solidFill>
                <a:latin typeface="微软雅黑" panose="020B0503020204020204" charset="-122"/>
                <a:ea typeface="微软雅黑" panose="020B0503020204020204" charset="-122"/>
                <a:cs typeface="微软雅黑" panose="020B0503020204020204" charset="-122"/>
                <a:sym typeface="+mn-ea"/>
              </a:rPr>
              <a:t>指经销网络覆盖的地域广度和多级渠道分布的深度，以及渠道营销与服务质量</a:t>
            </a:r>
            <a:endParaRPr lang="zh-CN"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10" name="圆角矩形 11"/>
          <p:cNvSpPr/>
          <p:nvPr/>
        </p:nvSpPr>
        <p:spPr>
          <a:xfrm>
            <a:off x="8749030" y="3179445"/>
            <a:ext cx="2863215" cy="572770"/>
          </a:xfrm>
          <a:prstGeom prst="roundRect">
            <a:avLst>
              <a:gd name="adj" fmla="val 0"/>
            </a:avLst>
          </a:prstGeom>
          <a:gradFill>
            <a:gsLst>
              <a:gs pos="33000">
                <a:schemeClr val="accent1">
                  <a:lumMod val="20000"/>
                  <a:lumOff val="80000"/>
                  <a:alpha val="0"/>
                </a:schemeClr>
              </a:gs>
              <a:gs pos="100000">
                <a:schemeClr val="accent1">
                  <a:lumMod val="20000"/>
                  <a:lumOff val="80000"/>
                </a:schemeClr>
              </a:gs>
            </a:gsLst>
            <a:lin ang="21594000" scaled="0"/>
          </a:gradFill>
          <a:ln w="9525" cap="flat" cmpd="sng" algn="ctr">
            <a:noFill/>
            <a:prstDash val="solid"/>
            <a:miter lim="800000"/>
          </a:ln>
          <a:effectLst/>
        </p:spPr>
        <p:txBody>
          <a:bodyPr rtlCol="0" anchor="ctr">
            <a:noAutofit/>
          </a:bodyPr>
          <a:lstStyle/>
          <a:p>
            <a:pPr lvl="0" algn="l">
              <a:buClrTx/>
              <a:buSzTx/>
              <a:buFont typeface="微软雅黑" panose="020B0503020204020204" charset="-122"/>
            </a:pPr>
            <a:r>
              <a:rPr lang="zh-CN" sz="1100" dirty="0">
                <a:solidFill>
                  <a:schemeClr val="tx2"/>
                </a:solidFill>
                <a:latin typeface="微软雅黑" panose="020B0503020204020204" charset="-122"/>
                <a:ea typeface="微软雅黑" panose="020B0503020204020204" charset="-122"/>
                <a:cs typeface="微软雅黑" panose="020B0503020204020204" charset="-122"/>
                <a:sym typeface="+mn-ea"/>
              </a:rPr>
              <a:t>指以用户需求为核心，培养和维系品牌与用户亲密关系的精益化运营能力</a:t>
            </a:r>
            <a:endParaRPr lang="zh-CN"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11" name="组合 10"/>
          <p:cNvGrpSpPr/>
          <p:nvPr/>
        </p:nvGrpSpPr>
        <p:grpSpPr>
          <a:xfrm>
            <a:off x="4671060" y="5012373"/>
            <a:ext cx="679450" cy="575310"/>
            <a:chOff x="7356" y="7804"/>
            <a:chExt cx="1070" cy="906"/>
          </a:xfrm>
        </p:grpSpPr>
        <p:sp>
          <p:nvSpPr>
            <p:cNvPr id="61" name="矩形 60"/>
            <p:cNvSpPr/>
            <p:nvPr/>
          </p:nvSpPr>
          <p:spPr>
            <a:xfrm>
              <a:off x="7700" y="7804"/>
              <a:ext cx="727" cy="90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21" name="菱形 120"/>
            <p:cNvSpPr/>
            <p:nvPr/>
          </p:nvSpPr>
          <p:spPr>
            <a:xfrm rot="5400000">
              <a:off x="7458" y="7783"/>
              <a:ext cx="592" cy="797"/>
            </a:xfrm>
            <a:prstGeom prst="diamond">
              <a:avLst/>
            </a:prstGeom>
            <a:gradFill>
              <a:gsLst>
                <a:gs pos="0">
                  <a:schemeClr val="accent5"/>
                </a:gs>
                <a:gs pos="50000">
                  <a:schemeClr val="accent5">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 name="菱形 1"/>
            <p:cNvSpPr/>
            <p:nvPr/>
          </p:nvSpPr>
          <p:spPr>
            <a:xfrm rot="5400000">
              <a:off x="7658" y="7783"/>
              <a:ext cx="592" cy="797"/>
            </a:xfrm>
            <a:prstGeom prst="diamond">
              <a:avLst/>
            </a:prstGeom>
            <a:gradFill>
              <a:gsLst>
                <a:gs pos="0">
                  <a:schemeClr val="accent5"/>
                </a:gs>
                <a:gs pos="50000">
                  <a:schemeClr val="accent5">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12" name="组合 11"/>
          <p:cNvGrpSpPr/>
          <p:nvPr/>
        </p:nvGrpSpPr>
        <p:grpSpPr>
          <a:xfrm>
            <a:off x="7832090" y="5012373"/>
            <a:ext cx="679450" cy="575310"/>
            <a:chOff x="7356" y="7804"/>
            <a:chExt cx="1070" cy="906"/>
          </a:xfrm>
        </p:grpSpPr>
        <p:sp>
          <p:nvSpPr>
            <p:cNvPr id="13" name="矩形 12"/>
            <p:cNvSpPr/>
            <p:nvPr/>
          </p:nvSpPr>
          <p:spPr>
            <a:xfrm>
              <a:off x="7700" y="7804"/>
              <a:ext cx="727" cy="90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4" name="菱形 13"/>
            <p:cNvSpPr/>
            <p:nvPr/>
          </p:nvSpPr>
          <p:spPr>
            <a:xfrm rot="5400000">
              <a:off x="7458" y="7783"/>
              <a:ext cx="592" cy="797"/>
            </a:xfrm>
            <a:prstGeom prst="diamond">
              <a:avLst/>
            </a:prstGeom>
            <a:gradFill>
              <a:gsLst>
                <a:gs pos="0">
                  <a:schemeClr val="accent5"/>
                </a:gs>
                <a:gs pos="50000">
                  <a:schemeClr val="accent5">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菱形 14"/>
            <p:cNvSpPr/>
            <p:nvPr/>
          </p:nvSpPr>
          <p:spPr>
            <a:xfrm rot="5400000">
              <a:off x="7658" y="7783"/>
              <a:ext cx="592" cy="797"/>
            </a:xfrm>
            <a:prstGeom prst="diamond">
              <a:avLst/>
            </a:prstGeom>
            <a:gradFill>
              <a:gsLst>
                <a:gs pos="0">
                  <a:schemeClr val="accent5"/>
                </a:gs>
                <a:gs pos="50000">
                  <a:schemeClr val="accent5">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4" name="图片 3"/>
            <p:cNvPicPr>
              <a:picLocks noChangeAspect="1"/>
            </p:cNvPicPr>
            <p:nvPr userDrawn="1"/>
          </p:nvPicPr>
          <p:blipFill>
            <a:blip r:embed="rId9"/>
            <a:srcRect l="17002" t="-1765" r="56499" b="-1176"/>
            <a:stretch>
              <a:fillRect/>
            </a:stretch>
          </p:blipFill>
          <p:spPr>
            <a:xfrm>
              <a:off x="13761" y="549"/>
              <a:ext cx="1582" cy="525"/>
            </a:xfrm>
            <a:prstGeom prst="rect">
              <a:avLst/>
            </a:prstGeom>
          </p:spPr>
        </p:pic>
        <p:sp>
          <p:nvSpPr>
            <p:cNvPr id="7" name="文本框 6"/>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业务流程路径设计</a:t>
            </a:r>
            <a:endParaRPr lang="zh-CN" altLang="en-US"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2" name="组合 1"/>
          <p:cNvGrpSpPr/>
          <p:nvPr/>
        </p:nvGrpSpPr>
        <p:grpSpPr>
          <a:xfrm>
            <a:off x="783590" y="1385769"/>
            <a:ext cx="787400" cy="1761926"/>
            <a:chOff x="2334" y="2073"/>
            <a:chExt cx="1240" cy="2146"/>
          </a:xfrm>
        </p:grpSpPr>
        <p:sp>
          <p:nvSpPr>
            <p:cNvPr id="7" name="流程图: 离页连接符 6"/>
            <p:cNvSpPr/>
            <p:nvPr/>
          </p:nvSpPr>
          <p:spPr>
            <a:xfrm>
              <a:off x="2334" y="2089"/>
              <a:ext cx="1230" cy="2130"/>
            </a:xfrm>
            <a:prstGeom prst="flowChartOffpageConnector">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 name="流程图: 离页连接符 7"/>
            <p:cNvSpPr/>
            <p:nvPr/>
          </p:nvSpPr>
          <p:spPr>
            <a:xfrm>
              <a:off x="2344" y="2073"/>
              <a:ext cx="1230" cy="2050"/>
            </a:xfrm>
            <a:prstGeom prst="flowChartOffpageConnector">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solidFill>
                    <a:schemeClr val="accent1"/>
                  </a:solidFill>
                  <a:latin typeface="微软雅黑" panose="020B0503020204020204" charset="-122"/>
                  <a:ea typeface="微软雅黑" panose="020B0503020204020204" charset="-122"/>
                  <a:cs typeface="微软雅黑" panose="020B0503020204020204" charset="-122"/>
                </a:rPr>
                <a:t>产品设计阶段</a:t>
              </a:r>
              <a:endParaRPr lang="zh-CN" altLang="en-US" b="1">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9" name="燕尾形 8"/>
          <p:cNvSpPr/>
          <p:nvPr/>
        </p:nvSpPr>
        <p:spPr>
          <a:xfrm rot="5400000">
            <a:off x="267335" y="3524885"/>
            <a:ext cx="1819910" cy="787400"/>
          </a:xfrm>
          <a:prstGeom prst="chevron">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1" name="燕尾形 10"/>
          <p:cNvSpPr/>
          <p:nvPr/>
        </p:nvSpPr>
        <p:spPr>
          <a:xfrm rot="5400000">
            <a:off x="305435" y="3486785"/>
            <a:ext cx="1743710" cy="787400"/>
          </a:xfrm>
          <a:prstGeom prst="chevron">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vert270" rtlCol="0" anchor="ctr"/>
          <a:lstStyle/>
          <a:p>
            <a:pPr algn="ctr"/>
            <a:r>
              <a:rPr lang="zh-CN" altLang="en-US"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产品</a:t>
            </a:r>
            <a:endParaRPr lang="zh-CN" altLang="en-US"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开发</a:t>
            </a:r>
            <a:endParaRPr lang="zh-CN" altLang="en-US"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阶段</a:t>
            </a:r>
            <a:endParaRPr lang="zh-CN" altLang="en-US"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4" name="燕尾形 113"/>
          <p:cNvSpPr/>
          <p:nvPr/>
        </p:nvSpPr>
        <p:spPr>
          <a:xfrm rot="5400000">
            <a:off x="281940" y="5217795"/>
            <a:ext cx="1819910" cy="787400"/>
          </a:xfrm>
          <a:prstGeom prst="chevron">
            <a:avLst/>
          </a:prstGeom>
          <a:solidFill>
            <a:schemeClr val="accent5"/>
          </a:solidFill>
          <a:ln>
            <a:solidFill>
              <a:srgbClr val="A1342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15" name="燕尾形 114"/>
          <p:cNvSpPr/>
          <p:nvPr/>
        </p:nvSpPr>
        <p:spPr>
          <a:xfrm rot="5400000">
            <a:off x="320040" y="5192395"/>
            <a:ext cx="1743710" cy="787400"/>
          </a:xfrm>
          <a:prstGeom prst="chevron">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vert="vert270" rtlCol="0" anchor="ctr"/>
          <a:lstStyle/>
          <a:p>
            <a:pPr algn="ctr"/>
            <a:r>
              <a:rPr lang="zh-CN" altLang="en-US" b="1">
                <a:solidFill>
                  <a:schemeClr val="accent5"/>
                </a:solidFill>
                <a:latin typeface="微软雅黑" panose="020B0503020204020204" charset="-122"/>
                <a:ea typeface="微软雅黑" panose="020B0503020204020204" charset="-122"/>
                <a:cs typeface="微软雅黑" panose="020B0503020204020204" charset="-122"/>
              </a:rPr>
              <a:t>产品</a:t>
            </a:r>
            <a:endParaRPr lang="zh-CN" altLang="en-US" b="1">
              <a:solidFill>
                <a:schemeClr val="accent5"/>
              </a:solidFill>
              <a:latin typeface="微软雅黑" panose="020B0503020204020204" charset="-122"/>
              <a:ea typeface="微软雅黑" panose="020B0503020204020204" charset="-122"/>
              <a:cs typeface="微软雅黑" panose="020B0503020204020204" charset="-122"/>
            </a:endParaRPr>
          </a:p>
          <a:p>
            <a:pPr algn="ctr"/>
            <a:r>
              <a:rPr lang="zh-CN" altLang="en-US" b="1">
                <a:solidFill>
                  <a:schemeClr val="accent5"/>
                </a:solidFill>
                <a:latin typeface="微软雅黑" panose="020B0503020204020204" charset="-122"/>
                <a:ea typeface="微软雅黑" panose="020B0503020204020204" charset="-122"/>
                <a:cs typeface="微软雅黑" panose="020B0503020204020204" charset="-122"/>
              </a:rPr>
              <a:t>开发</a:t>
            </a:r>
            <a:endParaRPr lang="zh-CN" altLang="en-US" b="1">
              <a:solidFill>
                <a:schemeClr val="accent5"/>
              </a:solidFill>
              <a:latin typeface="微软雅黑" panose="020B0503020204020204" charset="-122"/>
              <a:ea typeface="微软雅黑" panose="020B0503020204020204" charset="-122"/>
              <a:cs typeface="微软雅黑" panose="020B0503020204020204" charset="-122"/>
            </a:endParaRPr>
          </a:p>
          <a:p>
            <a:pPr algn="ctr"/>
            <a:r>
              <a:rPr lang="zh-CN" altLang="en-US" b="1">
                <a:solidFill>
                  <a:schemeClr val="accent5"/>
                </a:solidFill>
                <a:latin typeface="微软雅黑" panose="020B0503020204020204" charset="-122"/>
                <a:ea typeface="微软雅黑" panose="020B0503020204020204" charset="-122"/>
                <a:cs typeface="微软雅黑" panose="020B0503020204020204" charset="-122"/>
              </a:rPr>
              <a:t>阶段</a:t>
            </a:r>
            <a:endParaRPr lang="zh-CN" altLang="en-US"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37" name="圆角矩形 136"/>
          <p:cNvSpPr/>
          <p:nvPr/>
        </p:nvSpPr>
        <p:spPr>
          <a:xfrm>
            <a:off x="2045970" y="1398905"/>
            <a:ext cx="1644650" cy="438150"/>
          </a:xfrm>
          <a:prstGeom prst="roundRect">
            <a:avLst/>
          </a:prstGeom>
          <a:gradFill>
            <a:gsLst>
              <a:gs pos="0">
                <a:schemeClr val="accent1">
                  <a:lumMod val="60000"/>
                  <a:lumOff val="40000"/>
                </a:schemeClr>
              </a:gs>
              <a:gs pos="100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生产管理与物流</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9" name="圆角矩形 138"/>
          <p:cNvSpPr/>
          <p:nvPr/>
        </p:nvSpPr>
        <p:spPr>
          <a:xfrm>
            <a:off x="2045970" y="3661410"/>
            <a:ext cx="1644650" cy="438150"/>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供应商</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1" name="圆角矩形 140"/>
          <p:cNvSpPr/>
          <p:nvPr/>
        </p:nvSpPr>
        <p:spPr>
          <a:xfrm>
            <a:off x="6548120" y="1398905"/>
            <a:ext cx="1644650" cy="438150"/>
          </a:xfrm>
          <a:prstGeom prst="roundRect">
            <a:avLst/>
          </a:prstGeom>
          <a:gradFill>
            <a:gsLst>
              <a:gs pos="0">
                <a:schemeClr val="accent1">
                  <a:lumMod val="60000"/>
                  <a:lumOff val="40000"/>
                </a:schemeClr>
              </a:gs>
              <a:gs pos="100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a:latin typeface="微软雅黑" panose="020B0503020204020204" charset="-122"/>
                <a:ea typeface="微软雅黑" panose="020B0503020204020204" charset="-122"/>
                <a:cs typeface="微软雅黑" panose="020B0503020204020204" charset="-122"/>
              </a:rPr>
              <a:t>生产基地</a:t>
            </a:r>
            <a:endParaRPr lang="zh-CN" altLang="en-US" sz="1400" b="1">
              <a:latin typeface="微软雅黑" panose="020B0503020204020204" charset="-122"/>
              <a:ea typeface="微软雅黑" panose="020B0503020204020204" charset="-122"/>
              <a:cs typeface="微软雅黑" panose="020B0503020204020204" charset="-122"/>
            </a:endParaRPr>
          </a:p>
        </p:txBody>
      </p:sp>
      <p:sp>
        <p:nvSpPr>
          <p:cNvPr id="142" name="圆角矩形 141"/>
          <p:cNvSpPr/>
          <p:nvPr/>
        </p:nvSpPr>
        <p:spPr>
          <a:xfrm>
            <a:off x="6548120" y="3661410"/>
            <a:ext cx="1644650" cy="438150"/>
          </a:xfrm>
          <a:prstGeom prst="roundRect">
            <a:avLst/>
          </a:prstGeom>
          <a:gradFill>
            <a:gsLst>
              <a:gs pos="0">
                <a:schemeClr val="accent1">
                  <a:lumMod val="60000"/>
                  <a:lumOff val="40000"/>
                </a:schemeClr>
              </a:gs>
              <a:gs pos="100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b="1">
                <a:latin typeface="微软雅黑" panose="020B0503020204020204" charset="-122"/>
                <a:ea typeface="微软雅黑" panose="020B0503020204020204" charset="-122"/>
                <a:cs typeface="微软雅黑" panose="020B0503020204020204" charset="-122"/>
              </a:rPr>
              <a:t>IT</a:t>
            </a:r>
            <a:r>
              <a:rPr lang="zh-CN" altLang="en-US" sz="1400" b="1">
                <a:latin typeface="微软雅黑" panose="020B0503020204020204" charset="-122"/>
                <a:ea typeface="微软雅黑" panose="020B0503020204020204" charset="-122"/>
                <a:cs typeface="微软雅黑" panose="020B0503020204020204" charset="-122"/>
              </a:rPr>
              <a:t>部门</a:t>
            </a:r>
            <a:endParaRPr lang="zh-CN" altLang="en-US" sz="1400" b="1">
              <a:latin typeface="微软雅黑" panose="020B0503020204020204" charset="-122"/>
              <a:ea typeface="微软雅黑" panose="020B0503020204020204" charset="-122"/>
              <a:cs typeface="微软雅黑" panose="020B0503020204020204" charset="-122"/>
            </a:endParaRPr>
          </a:p>
        </p:txBody>
      </p:sp>
      <p:sp>
        <p:nvSpPr>
          <p:cNvPr id="144" name="矩形 143"/>
          <p:cNvSpPr/>
          <p:nvPr/>
        </p:nvSpPr>
        <p:spPr>
          <a:xfrm>
            <a:off x="8642350" y="1301115"/>
            <a:ext cx="2697480" cy="1758950"/>
          </a:xfrm>
          <a:prstGeom prst="rect">
            <a:avLst/>
          </a:prstGeom>
          <a:gradFill>
            <a:gsLst>
              <a:gs pos="0">
                <a:schemeClr val="accent5">
                  <a:lumMod val="20000"/>
                  <a:lumOff val="80000"/>
                  <a:alpha val="0"/>
                </a:schemeClr>
              </a:gs>
              <a:gs pos="100000">
                <a:schemeClr val="accent5">
                  <a:lumMod val="20000"/>
                  <a:lumOff val="80000"/>
                </a:schemeClr>
              </a:gs>
            </a:gsLst>
            <a:lin ang="21594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8980170" y="1497965"/>
            <a:ext cx="2307590" cy="1383665"/>
          </a:xfrm>
          <a:prstGeom prst="rect">
            <a:avLst/>
          </a:prstGeom>
          <a:noFill/>
        </p:spPr>
        <p:txBody>
          <a:bodyPr wrap="square" rtlCol="0">
            <a:spAutoFit/>
          </a:bodyPr>
          <a:lstStyle/>
          <a:p>
            <a:pPr marL="285750" indent="-285750">
              <a:buFont typeface="Wingdings" panose="05000000000000000000" charset="0"/>
              <a:buChar char="l"/>
            </a:pPr>
            <a:r>
              <a:rPr lang="zh-CN" altLang="en-US" sz="1400">
                <a:solidFill>
                  <a:schemeClr val="tx2"/>
                </a:solidFill>
                <a:latin typeface="微软雅黑" panose="020B0503020204020204" charset="-122"/>
                <a:ea typeface="微软雅黑" panose="020B0503020204020204" charset="-122"/>
                <a:cs typeface="微软雅黑" panose="020B0503020204020204" charset="-122"/>
              </a:rPr>
              <a:t>生产管理与物流中心仅提出产品的输入与输出诉求；</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l"/>
            </a:pPr>
            <a:r>
              <a:rPr lang="zh-CN" altLang="en-US" sz="1400">
                <a:solidFill>
                  <a:schemeClr val="tx2"/>
                </a:solidFill>
                <a:latin typeface="微软雅黑" panose="020B0503020204020204" charset="-122"/>
                <a:ea typeface="微软雅黑" panose="020B0503020204020204" charset="-122"/>
                <a:cs typeface="微软雅黑" panose="020B0503020204020204" charset="-122"/>
              </a:rPr>
              <a:t>业务部门未充分整理需求并清晰反馈给</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IT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部门和供应商</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6" name="矩形 145"/>
          <p:cNvSpPr/>
          <p:nvPr/>
        </p:nvSpPr>
        <p:spPr>
          <a:xfrm>
            <a:off x="8642350" y="3436620"/>
            <a:ext cx="2697480" cy="1616710"/>
          </a:xfrm>
          <a:prstGeom prst="rect">
            <a:avLst/>
          </a:prstGeom>
          <a:gradFill>
            <a:gsLst>
              <a:gs pos="0">
                <a:schemeClr val="accent5">
                  <a:lumMod val="20000"/>
                  <a:lumOff val="80000"/>
                  <a:alpha val="0"/>
                </a:schemeClr>
              </a:gs>
              <a:gs pos="100000">
                <a:schemeClr val="accent5">
                  <a:lumMod val="20000"/>
                  <a:lumOff val="80000"/>
                </a:schemeClr>
              </a:gs>
            </a:gsLst>
            <a:lin ang="21594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47" name="文本框 146"/>
          <p:cNvSpPr txBox="1"/>
          <p:nvPr/>
        </p:nvSpPr>
        <p:spPr>
          <a:xfrm>
            <a:off x="8980170" y="3633470"/>
            <a:ext cx="2307590" cy="1168400"/>
          </a:xfrm>
          <a:prstGeom prst="rect">
            <a:avLst/>
          </a:prstGeom>
          <a:noFill/>
        </p:spPr>
        <p:txBody>
          <a:bodyPr wrap="square" rtlCol="0">
            <a:spAutoFit/>
          </a:bodyPr>
          <a:lstStyle/>
          <a:p>
            <a:pPr marL="285750" indent="-285750">
              <a:buFont typeface="Wingdings" panose="05000000000000000000" charset="0"/>
              <a:buChar char="l"/>
            </a:pPr>
            <a:r>
              <a:rPr lang="en-US" sz="1400">
                <a:solidFill>
                  <a:schemeClr val="tx2"/>
                </a:solidFill>
                <a:latin typeface="微软雅黑" panose="020B0503020204020204" charset="-122"/>
                <a:ea typeface="微软雅黑" panose="020B0503020204020204" charset="-122"/>
                <a:cs typeface="微软雅黑" panose="020B0503020204020204" charset="-122"/>
              </a:rPr>
              <a:t>IT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部门未与业务部门充分沟通业务诉求，盲目</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大干快上</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，企图借用供应商能力通过产品的牵引</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9" name="任意形状 248"/>
          <p:cNvSpPr/>
          <p:nvPr/>
        </p:nvSpPr>
        <p:spPr>
          <a:xfrm rot="19370445">
            <a:off x="8499475" y="3361690"/>
            <a:ext cx="419735" cy="344170"/>
          </a:xfrm>
          <a:custGeom>
            <a:avLst/>
            <a:gdLst>
              <a:gd name="connsiteX0" fmla="*/ 408131 w 721818"/>
              <a:gd name="connsiteY0" fmla="*/ 97738 h 601674"/>
              <a:gd name="connsiteX1" fmla="*/ 615162 w 721818"/>
              <a:gd name="connsiteY1" fmla="*/ 355594 h 601674"/>
              <a:gd name="connsiteX2" fmla="*/ 646609 w 721818"/>
              <a:gd name="connsiteY2" fmla="*/ 451255 h 601674"/>
              <a:gd name="connsiteX3" fmla="*/ 721818 w 721818"/>
              <a:gd name="connsiteY3" fmla="*/ 451256 h 601674"/>
              <a:gd name="connsiteX4" fmla="*/ 589350 w 721818"/>
              <a:gd name="connsiteY4" fmla="*/ 601674 h 601674"/>
              <a:gd name="connsiteX5" fmla="*/ 420981 w 721818"/>
              <a:gd name="connsiteY5" fmla="*/ 451256 h 601674"/>
              <a:gd name="connsiteX6" fmla="*/ 496190 w 721818"/>
              <a:gd name="connsiteY6" fmla="*/ 451256 h 601674"/>
              <a:gd name="connsiteX7" fmla="*/ 437521 w 721818"/>
              <a:gd name="connsiteY7" fmla="*/ 303030 h 601674"/>
              <a:gd name="connsiteX8" fmla="*/ 424792 w 721818"/>
              <a:gd name="connsiteY8" fmla="*/ 278449 h 601674"/>
              <a:gd name="connsiteX9" fmla="*/ 405333 w 721818"/>
              <a:gd name="connsiteY9" fmla="*/ 249265 h 601674"/>
              <a:gd name="connsiteX10" fmla="*/ 372120 w 721818"/>
              <a:gd name="connsiteY10" fmla="*/ 204491 h 601674"/>
              <a:gd name="connsiteX11" fmla="*/ 348091 w 721818"/>
              <a:gd name="connsiteY11" fmla="*/ 177580 h 601674"/>
              <a:gd name="connsiteX12" fmla="*/ 309511 w 721818"/>
              <a:gd name="connsiteY12" fmla="*/ 140089 h 601674"/>
              <a:gd name="connsiteX13" fmla="*/ 282234 w 721818"/>
              <a:gd name="connsiteY13" fmla="*/ 117128 h 601674"/>
              <a:gd name="connsiteX14" fmla="*/ 237579 w 721818"/>
              <a:gd name="connsiteY14" fmla="*/ 86111 h 601674"/>
              <a:gd name="connsiteX15" fmla="*/ 208796 w 721818"/>
              <a:gd name="connsiteY15" fmla="*/ 68260 h 601674"/>
              <a:gd name="connsiteX16" fmla="*/ 155309 w 721818"/>
              <a:gd name="connsiteY16" fmla="*/ 43133 h 601674"/>
              <a:gd name="connsiteX17" fmla="*/ 128908 w 721818"/>
              <a:gd name="connsiteY17" fmla="*/ 31745 h 601674"/>
              <a:gd name="connsiteX18" fmla="*/ 43743 w 721818"/>
              <a:gd name="connsiteY18" fmla="*/ 8495 h 601674"/>
              <a:gd name="connsiteX19" fmla="*/ 43743 w 721818"/>
              <a:gd name="connsiteY19" fmla="*/ 8495 h 601674"/>
              <a:gd name="connsiteX20" fmla="*/ 19916 w 721818"/>
              <a:gd name="connsiteY20" fmla="*/ 6362 h 601674"/>
              <a:gd name="connsiteX21" fmla="*/ 4078 w 721818"/>
              <a:gd name="connsiteY21" fmla="*/ 10223 h 601674"/>
              <a:gd name="connsiteX22" fmla="*/ 0 w 721818"/>
              <a:gd name="connsiteY22" fmla="*/ 0 h 601674"/>
              <a:gd name="connsiteX23" fmla="*/ 99280 w 721818"/>
              <a:gd name="connsiteY23" fmla="*/ 0 h 601674"/>
              <a:gd name="connsiteX24" fmla="*/ 408131 w 721818"/>
              <a:gd name="connsiteY24" fmla="*/ 97738 h 60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1818" h="601674">
                <a:moveTo>
                  <a:pt x="408131" y="97738"/>
                </a:moveTo>
                <a:cubicBezTo>
                  <a:pt x="497685" y="159951"/>
                  <a:pt x="570269" y="248849"/>
                  <a:pt x="615162" y="355594"/>
                </a:cubicBezTo>
                <a:cubicBezTo>
                  <a:pt x="627988" y="386093"/>
                  <a:pt x="638554" y="418049"/>
                  <a:pt x="646609" y="451255"/>
                </a:cubicBezTo>
                <a:lnTo>
                  <a:pt x="721818" y="451256"/>
                </a:lnTo>
                <a:lnTo>
                  <a:pt x="589350" y="601674"/>
                </a:lnTo>
                <a:lnTo>
                  <a:pt x="420981" y="451256"/>
                </a:lnTo>
                <a:lnTo>
                  <a:pt x="496190" y="451256"/>
                </a:lnTo>
                <a:lnTo>
                  <a:pt x="437521" y="303030"/>
                </a:lnTo>
                <a:lnTo>
                  <a:pt x="424792" y="278449"/>
                </a:lnTo>
                <a:lnTo>
                  <a:pt x="405333" y="249265"/>
                </a:lnTo>
                <a:lnTo>
                  <a:pt x="372120" y="204491"/>
                </a:lnTo>
                <a:lnTo>
                  <a:pt x="348091" y="177580"/>
                </a:lnTo>
                <a:lnTo>
                  <a:pt x="309511" y="140089"/>
                </a:lnTo>
                <a:lnTo>
                  <a:pt x="282234" y="117128"/>
                </a:lnTo>
                <a:lnTo>
                  <a:pt x="237579" y="86111"/>
                </a:lnTo>
                <a:lnTo>
                  <a:pt x="208796" y="68260"/>
                </a:lnTo>
                <a:lnTo>
                  <a:pt x="155309" y="43133"/>
                </a:lnTo>
                <a:lnTo>
                  <a:pt x="128908" y="31745"/>
                </a:lnTo>
                <a:lnTo>
                  <a:pt x="43743" y="8495"/>
                </a:lnTo>
                <a:lnTo>
                  <a:pt x="43743" y="8495"/>
                </a:lnTo>
                <a:lnTo>
                  <a:pt x="19916" y="6362"/>
                </a:lnTo>
                <a:lnTo>
                  <a:pt x="4078" y="10223"/>
                </a:lnTo>
                <a:lnTo>
                  <a:pt x="0" y="0"/>
                </a:lnTo>
                <a:lnTo>
                  <a:pt x="99280" y="0"/>
                </a:lnTo>
                <a:cubicBezTo>
                  <a:pt x="212053" y="0"/>
                  <a:pt x="318577" y="35526"/>
                  <a:pt x="408131" y="97738"/>
                </a:cubicBezTo>
                <a:close/>
              </a:path>
            </a:pathLst>
          </a:custGeom>
          <a:gradFill>
            <a:gsLst>
              <a:gs pos="0">
                <a:schemeClr val="accent5">
                  <a:alpha val="0"/>
                </a:schemeClr>
              </a:gs>
              <a:gs pos="100000">
                <a:schemeClr val="accent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solidFill>
                <a:schemeClr val="tx1"/>
              </a:solidFill>
              <a:latin typeface="微软雅黑" panose="020B0503020204020204" charset="-122"/>
              <a:ea typeface="微软雅黑" panose="020B0503020204020204" charset="-122"/>
              <a:cs typeface="微软雅黑" panose="020B0503020204020204" charset="-122"/>
              <a:sym typeface="+mn-ea"/>
            </a:endParaRPr>
          </a:p>
        </p:txBody>
      </p:sp>
      <p:cxnSp>
        <p:nvCxnSpPr>
          <p:cNvPr id="151" name="直接连接符 150"/>
          <p:cNvCxnSpPr/>
          <p:nvPr/>
        </p:nvCxnSpPr>
        <p:spPr>
          <a:xfrm>
            <a:off x="1809750" y="5163185"/>
            <a:ext cx="9530080" cy="0"/>
          </a:xfrm>
          <a:prstGeom prst="line">
            <a:avLst/>
          </a:prstGeom>
          <a:ln>
            <a:solidFill>
              <a:schemeClr val="accent5"/>
            </a:solidFill>
            <a:prstDash val="dash"/>
          </a:ln>
        </p:spPr>
        <p:style>
          <a:lnRef idx="2">
            <a:schemeClr val="accent1"/>
          </a:lnRef>
          <a:fillRef idx="0">
            <a:srgbClr val="FFFFFF"/>
          </a:fillRef>
          <a:effectRef idx="0">
            <a:srgbClr val="FFFFFF"/>
          </a:effectRef>
          <a:fontRef idx="minor">
            <a:schemeClr val="tx1"/>
          </a:fontRef>
        </p:style>
      </p:cxnSp>
      <p:sp>
        <p:nvSpPr>
          <p:cNvPr id="13" name="AutoShape 6"/>
          <p:cNvSpPr>
            <a:spLocks noChangeArrowheads="1"/>
          </p:cNvSpPr>
          <p:nvPr/>
        </p:nvSpPr>
        <p:spPr bwMode="auto">
          <a:xfrm>
            <a:off x="2153920" y="5358130"/>
            <a:ext cx="1343025" cy="1129030"/>
          </a:xfrm>
          <a:prstGeom prst="rect">
            <a:avLst/>
          </a:prstGeom>
          <a:solidFill>
            <a:schemeClr val="bg1"/>
          </a:solidFill>
          <a:ln w="19050">
            <a:solidFill>
              <a:schemeClr val="accent5"/>
            </a:solidFill>
            <a:miter lim="800000"/>
          </a:ln>
          <a:effectLst/>
        </p:spPr>
        <p:txBody>
          <a:bodyPr lIns="46791" tIns="46791" rIns="46791" bIns="46791" anchor="ctr"/>
          <a:lstStyle/>
          <a:p>
            <a:pPr algn="ctr" eaLnBrk="0" hangingPunct="0"/>
            <a:r>
              <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rPr>
              <a:t>项目延期</a:t>
            </a:r>
            <a:endPar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4" name="KMA6C131B"/>
          <p:cNvSpPr>
            <a:spLocks noChangeArrowheads="1"/>
          </p:cNvSpPr>
          <p:nvPr>
            <p:custDataLst>
              <p:tags r:id="rId3"/>
            </p:custDataLst>
          </p:nvPr>
        </p:nvSpPr>
        <p:spPr bwMode="auto">
          <a:xfrm>
            <a:off x="3654425" y="5409565"/>
            <a:ext cx="2679065" cy="1169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marL="285750" indent="-285750">
              <a:buFont typeface="Wingdings" panose="05000000000000000000" charset="0"/>
              <a:buChar char="l"/>
            </a:pPr>
            <a:r>
              <a:rPr lang="zh-CN" sz="1400">
                <a:solidFill>
                  <a:schemeClr val="tx2"/>
                </a:solidFill>
                <a:latin typeface="微软雅黑" panose="020B0503020204020204" charset="-122"/>
                <a:ea typeface="微软雅黑" panose="020B0503020204020204" charset="-122"/>
                <a:cs typeface="微软雅黑" panose="020B0503020204020204" charset="-122"/>
                <a:sym typeface="+mn-ea"/>
              </a:rPr>
              <a:t>预期希望实现的项目目标未达成，各基地仍然各自为战，各自进行按月的排产。</a:t>
            </a:r>
            <a:endParaRPr lang="zh-CN" sz="1400">
              <a:solidFill>
                <a:schemeClr val="tx2"/>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Wingdings" panose="05000000000000000000" charset="0"/>
              <a:buChar char="l"/>
            </a:pPr>
            <a:r>
              <a:rPr lang="en-US" sz="1400" dirty="0">
                <a:solidFill>
                  <a:schemeClr val="tx2"/>
                </a:solidFill>
                <a:latin typeface="微软雅黑" panose="020B0503020204020204" charset="-122"/>
                <a:ea typeface="微软雅黑" panose="020B0503020204020204" charset="-122"/>
                <a:cs typeface="微软雅黑" panose="020B0503020204020204" charset="-122"/>
              </a:rPr>
              <a:t>……</a:t>
            </a:r>
            <a:endParaRPr 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9" name="KMA6C131B"/>
          <p:cNvSpPr>
            <a:spLocks noChangeArrowheads="1"/>
          </p:cNvSpPr>
          <p:nvPr>
            <p:custDataLst>
              <p:tags r:id="rId4"/>
            </p:custDataLst>
          </p:nvPr>
        </p:nvSpPr>
        <p:spPr bwMode="auto">
          <a:xfrm>
            <a:off x="2415540" y="4290060"/>
            <a:ext cx="1250950" cy="877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buFont typeface="微软雅黑" panose="020B0503020204020204" charset="-122"/>
              <a:buNone/>
            </a:pPr>
            <a:r>
              <a:rPr lang="zh-CN" sz="1000">
                <a:solidFill>
                  <a:schemeClr val="tx2"/>
                </a:solidFill>
                <a:latin typeface="微软雅黑" panose="020B0503020204020204" charset="-122"/>
                <a:ea typeface="微软雅黑" panose="020B0503020204020204" charset="-122"/>
                <a:cs typeface="微软雅黑" panose="020B0503020204020204" charset="-122"/>
                <a:sym typeface="+mn-ea"/>
              </a:rPr>
              <a:t>产品定义和开发高度依赖供应商</a:t>
            </a:r>
            <a:endParaRPr lang="zh-CN"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5" name="KMA6C131B"/>
          <p:cNvSpPr>
            <a:spLocks noChangeArrowheads="1"/>
          </p:cNvSpPr>
          <p:nvPr>
            <p:custDataLst>
              <p:tags r:id="rId5"/>
            </p:custDataLst>
          </p:nvPr>
        </p:nvSpPr>
        <p:spPr bwMode="auto">
          <a:xfrm>
            <a:off x="3905250" y="4279900"/>
            <a:ext cx="2674620" cy="877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buFont typeface="微软雅黑" panose="020B0503020204020204" charset="-122"/>
              <a:buNone/>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未与生产管理与物流中心沟通业务诉求并形成便于供应商理解的产品语言</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162" name="直接箭头连接符 161"/>
          <p:cNvCxnSpPr/>
          <p:nvPr/>
        </p:nvCxnSpPr>
        <p:spPr>
          <a:xfrm>
            <a:off x="3350895" y="1882140"/>
            <a:ext cx="0" cy="1638935"/>
          </a:xfrm>
          <a:prstGeom prst="straightConnector1">
            <a:avLst/>
          </a:prstGeom>
          <a:ln w="19050">
            <a:solidFill>
              <a:schemeClr val="accent6">
                <a:lumMod val="60000"/>
                <a:lumOff val="40000"/>
              </a:schemeClr>
            </a:solidFill>
            <a:tailEnd type="triangle" w="lg" len="lg"/>
          </a:ln>
        </p:spPr>
        <p:style>
          <a:lnRef idx="2">
            <a:schemeClr val="accent1"/>
          </a:lnRef>
          <a:fillRef idx="0">
            <a:srgbClr val="FFFFFF"/>
          </a:fillRef>
          <a:effectRef idx="0">
            <a:srgbClr val="FFFFFF"/>
          </a:effectRef>
          <a:fontRef idx="minor">
            <a:schemeClr val="tx1"/>
          </a:fontRef>
        </p:style>
      </p:cxnSp>
      <p:cxnSp>
        <p:nvCxnSpPr>
          <p:cNvPr id="16" name="直接箭头连接符 15"/>
          <p:cNvCxnSpPr>
            <a:stCxn id="142" idx="1"/>
            <a:endCxn id="139" idx="3"/>
          </p:cNvCxnSpPr>
          <p:nvPr/>
        </p:nvCxnSpPr>
        <p:spPr>
          <a:xfrm flipH="1">
            <a:off x="3690620" y="3880485"/>
            <a:ext cx="2857500" cy="0"/>
          </a:xfrm>
          <a:prstGeom prst="straightConnector1">
            <a:avLst/>
          </a:prstGeom>
          <a:ln w="19050">
            <a:solidFill>
              <a:schemeClr val="accent6">
                <a:lumMod val="60000"/>
                <a:lumOff val="40000"/>
              </a:schemeClr>
            </a:solidFill>
            <a:tailEnd type="triangle" w="lg" len="lg"/>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flipH="1">
            <a:off x="3666490" y="1831340"/>
            <a:ext cx="2893695" cy="1842135"/>
          </a:xfrm>
          <a:prstGeom prst="straightConnector1">
            <a:avLst/>
          </a:prstGeom>
          <a:ln w="19050">
            <a:solidFill>
              <a:schemeClr val="accent6">
                <a:lumMod val="60000"/>
                <a:lumOff val="40000"/>
              </a:schemeClr>
            </a:solidFill>
            <a:prstDash val="dash"/>
            <a:tailEnd type="triangle" w="lg" len="lg"/>
          </a:ln>
        </p:spPr>
        <p:style>
          <a:lnRef idx="2">
            <a:schemeClr val="accent1"/>
          </a:lnRef>
          <a:fillRef idx="0">
            <a:srgbClr val="FFFFFF"/>
          </a:fillRef>
          <a:effectRef idx="0">
            <a:srgbClr val="FFFFFF"/>
          </a:effectRef>
          <a:fontRef idx="minor">
            <a:schemeClr val="tx1"/>
          </a:fontRef>
        </p:style>
      </p:cxnSp>
      <p:cxnSp>
        <p:nvCxnSpPr>
          <p:cNvPr id="166" name="直接箭头连接符 165"/>
          <p:cNvCxnSpPr>
            <a:stCxn id="137" idx="3"/>
            <a:endCxn id="141" idx="1"/>
          </p:cNvCxnSpPr>
          <p:nvPr/>
        </p:nvCxnSpPr>
        <p:spPr>
          <a:xfrm>
            <a:off x="3690620" y="1617980"/>
            <a:ext cx="2857500" cy="0"/>
          </a:xfrm>
          <a:prstGeom prst="straightConnector1">
            <a:avLst/>
          </a:prstGeom>
          <a:ln w="19050">
            <a:solidFill>
              <a:schemeClr val="accent6">
                <a:lumMod val="60000"/>
                <a:lumOff val="40000"/>
              </a:schemeClr>
            </a:solidFill>
            <a:prstDash val="dash"/>
            <a:tailEnd type="triangle" w="lg" len="lg"/>
          </a:ln>
        </p:spPr>
        <p:style>
          <a:lnRef idx="2">
            <a:schemeClr val="accent1"/>
          </a:lnRef>
          <a:fillRef idx="0">
            <a:srgbClr val="FFFFFF"/>
          </a:fillRef>
          <a:effectRef idx="0">
            <a:srgbClr val="FFFFFF"/>
          </a:effectRef>
          <a:fontRef idx="minor">
            <a:schemeClr val="tx1"/>
          </a:fontRef>
        </p:style>
      </p:cxnSp>
      <p:sp>
        <p:nvSpPr>
          <p:cNvPr id="18" name="KMA6C131B"/>
          <p:cNvSpPr>
            <a:spLocks noChangeArrowheads="1"/>
          </p:cNvSpPr>
          <p:nvPr>
            <p:custDataLst>
              <p:tags r:id="rId6"/>
            </p:custDataLst>
          </p:nvPr>
        </p:nvSpPr>
        <p:spPr bwMode="auto">
          <a:xfrm>
            <a:off x="2245995" y="2303145"/>
            <a:ext cx="1250950" cy="29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buFont typeface="微软雅黑" panose="020B0503020204020204" charset="-122"/>
              <a:buNone/>
            </a:pPr>
            <a:r>
              <a:rPr lang="zh-CN" altLang="en-US" sz="1200" dirty="0">
                <a:latin typeface="微软雅黑" panose="020B0503020204020204" charset="-122"/>
                <a:ea typeface="微软雅黑" panose="020B0503020204020204" charset="-122"/>
                <a:cs typeface="微软雅黑" panose="020B0503020204020204" charset="-122"/>
                <a:sym typeface="+mn-ea"/>
              </a:rPr>
              <a:t>业务诉求提出</a:t>
            </a:r>
            <a:endParaRPr lang="zh-CN" altLang="en-US" sz="1200" dirty="0">
              <a:latin typeface="微软雅黑" panose="020B0503020204020204" charset="-122"/>
              <a:ea typeface="微软雅黑" panose="020B0503020204020204" charset="-122"/>
              <a:cs typeface="微软雅黑" panose="020B0503020204020204" charset="-122"/>
              <a:sym typeface="+mn-ea"/>
            </a:endParaRPr>
          </a:p>
        </p:txBody>
      </p:sp>
      <p:sp>
        <p:nvSpPr>
          <p:cNvPr id="169" name="KMA6C131B"/>
          <p:cNvSpPr>
            <a:spLocks noChangeArrowheads="1"/>
          </p:cNvSpPr>
          <p:nvPr>
            <p:custDataLst>
              <p:tags r:id="rId7"/>
            </p:custDataLst>
          </p:nvPr>
        </p:nvSpPr>
        <p:spPr bwMode="auto">
          <a:xfrm>
            <a:off x="2459355" y="2776220"/>
            <a:ext cx="891540" cy="29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buFont typeface="微软雅黑" panose="020B0503020204020204" charset="-122"/>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rPr>
              <a:t>未对产品构建提供足够</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70" name="AutoShape 6"/>
          <p:cNvSpPr>
            <a:spLocks noChangeArrowheads="1"/>
          </p:cNvSpPr>
          <p:nvPr/>
        </p:nvSpPr>
        <p:spPr bwMode="auto">
          <a:xfrm>
            <a:off x="6775450" y="5358130"/>
            <a:ext cx="1343025" cy="1129030"/>
          </a:xfrm>
          <a:prstGeom prst="rect">
            <a:avLst/>
          </a:prstGeom>
          <a:solidFill>
            <a:schemeClr val="bg1"/>
          </a:solidFill>
          <a:ln w="19050">
            <a:solidFill>
              <a:schemeClr val="accent5"/>
            </a:solidFill>
            <a:miter lim="800000"/>
          </a:ln>
          <a:effectLst/>
        </p:spPr>
        <p:txBody>
          <a:bodyPr lIns="46791" tIns="46791" rIns="46791" bIns="46791" anchor="ctr">
            <a:noAutofit/>
          </a:bodyPr>
          <a:lstStyle/>
          <a:p>
            <a:pPr lvl="0" algn="ctr" eaLnBrk="0" hangingPunct="0">
              <a:buClrTx/>
              <a:buSzTx/>
              <a:buFontTx/>
            </a:pPr>
            <a:r>
              <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sym typeface="+mn-ea"/>
              </a:rPr>
              <a:t>资源浪费</a:t>
            </a:r>
            <a:endPar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71" name="KMA6C131B"/>
          <p:cNvSpPr>
            <a:spLocks noChangeArrowheads="1"/>
          </p:cNvSpPr>
          <p:nvPr>
            <p:custDataLst>
              <p:tags r:id="rId8"/>
            </p:custDataLst>
          </p:nvPr>
        </p:nvSpPr>
        <p:spPr bwMode="auto">
          <a:xfrm>
            <a:off x="8284845" y="5409565"/>
            <a:ext cx="3055620" cy="1169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marL="285750" indent="-285750">
              <a:buFont typeface="Wingdings" panose="05000000000000000000" charset="0"/>
              <a:buChar char="l"/>
            </a:pPr>
            <a:r>
              <a:rPr lang="zh-CN" sz="1400">
                <a:solidFill>
                  <a:schemeClr val="tx2"/>
                </a:solidFill>
                <a:latin typeface="微软雅黑" panose="020B0503020204020204" charset="-122"/>
                <a:ea typeface="微软雅黑" panose="020B0503020204020204" charset="-122"/>
                <a:cs typeface="微软雅黑" panose="020B0503020204020204" charset="-122"/>
                <a:sym typeface="+mn-ea"/>
              </a:rPr>
              <a:t>传统ERP和新ERP系统同时运营，执行主要依靠传统ERP系统，新ERP系统仅支持业务验证。</a:t>
            </a:r>
            <a:endParaRPr lang="zh-CN" sz="1400">
              <a:solidFill>
                <a:schemeClr val="tx2"/>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Wingdings" panose="05000000000000000000" charset="0"/>
              <a:buChar char="l"/>
            </a:pPr>
            <a:r>
              <a:rPr lang="en-US" sz="1400" dirty="0">
                <a:solidFill>
                  <a:schemeClr val="tx2"/>
                </a:solidFill>
                <a:latin typeface="微软雅黑" panose="020B0503020204020204" charset="-122"/>
                <a:ea typeface="微软雅黑" panose="020B0503020204020204" charset="-122"/>
                <a:cs typeface="微软雅黑" panose="020B0503020204020204" charset="-122"/>
              </a:rPr>
              <a:t>……</a:t>
            </a:r>
            <a:endParaRPr 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2" name="任意形状 248"/>
          <p:cNvSpPr/>
          <p:nvPr/>
        </p:nvSpPr>
        <p:spPr>
          <a:xfrm rot="19370445">
            <a:off x="8499475" y="1182370"/>
            <a:ext cx="419735" cy="344170"/>
          </a:xfrm>
          <a:custGeom>
            <a:avLst/>
            <a:gdLst>
              <a:gd name="connsiteX0" fmla="*/ 408131 w 721818"/>
              <a:gd name="connsiteY0" fmla="*/ 97738 h 601674"/>
              <a:gd name="connsiteX1" fmla="*/ 615162 w 721818"/>
              <a:gd name="connsiteY1" fmla="*/ 355594 h 601674"/>
              <a:gd name="connsiteX2" fmla="*/ 646609 w 721818"/>
              <a:gd name="connsiteY2" fmla="*/ 451255 h 601674"/>
              <a:gd name="connsiteX3" fmla="*/ 721818 w 721818"/>
              <a:gd name="connsiteY3" fmla="*/ 451256 h 601674"/>
              <a:gd name="connsiteX4" fmla="*/ 589350 w 721818"/>
              <a:gd name="connsiteY4" fmla="*/ 601674 h 601674"/>
              <a:gd name="connsiteX5" fmla="*/ 420981 w 721818"/>
              <a:gd name="connsiteY5" fmla="*/ 451256 h 601674"/>
              <a:gd name="connsiteX6" fmla="*/ 496190 w 721818"/>
              <a:gd name="connsiteY6" fmla="*/ 451256 h 601674"/>
              <a:gd name="connsiteX7" fmla="*/ 437521 w 721818"/>
              <a:gd name="connsiteY7" fmla="*/ 303030 h 601674"/>
              <a:gd name="connsiteX8" fmla="*/ 424792 w 721818"/>
              <a:gd name="connsiteY8" fmla="*/ 278449 h 601674"/>
              <a:gd name="connsiteX9" fmla="*/ 405333 w 721818"/>
              <a:gd name="connsiteY9" fmla="*/ 249265 h 601674"/>
              <a:gd name="connsiteX10" fmla="*/ 372120 w 721818"/>
              <a:gd name="connsiteY10" fmla="*/ 204491 h 601674"/>
              <a:gd name="connsiteX11" fmla="*/ 348091 w 721818"/>
              <a:gd name="connsiteY11" fmla="*/ 177580 h 601674"/>
              <a:gd name="connsiteX12" fmla="*/ 309511 w 721818"/>
              <a:gd name="connsiteY12" fmla="*/ 140089 h 601674"/>
              <a:gd name="connsiteX13" fmla="*/ 282234 w 721818"/>
              <a:gd name="connsiteY13" fmla="*/ 117128 h 601674"/>
              <a:gd name="connsiteX14" fmla="*/ 237579 w 721818"/>
              <a:gd name="connsiteY14" fmla="*/ 86111 h 601674"/>
              <a:gd name="connsiteX15" fmla="*/ 208796 w 721818"/>
              <a:gd name="connsiteY15" fmla="*/ 68260 h 601674"/>
              <a:gd name="connsiteX16" fmla="*/ 155309 w 721818"/>
              <a:gd name="connsiteY16" fmla="*/ 43133 h 601674"/>
              <a:gd name="connsiteX17" fmla="*/ 128908 w 721818"/>
              <a:gd name="connsiteY17" fmla="*/ 31745 h 601674"/>
              <a:gd name="connsiteX18" fmla="*/ 43743 w 721818"/>
              <a:gd name="connsiteY18" fmla="*/ 8495 h 601674"/>
              <a:gd name="connsiteX19" fmla="*/ 43743 w 721818"/>
              <a:gd name="connsiteY19" fmla="*/ 8495 h 601674"/>
              <a:gd name="connsiteX20" fmla="*/ 19916 w 721818"/>
              <a:gd name="connsiteY20" fmla="*/ 6362 h 601674"/>
              <a:gd name="connsiteX21" fmla="*/ 4078 w 721818"/>
              <a:gd name="connsiteY21" fmla="*/ 10223 h 601674"/>
              <a:gd name="connsiteX22" fmla="*/ 0 w 721818"/>
              <a:gd name="connsiteY22" fmla="*/ 0 h 601674"/>
              <a:gd name="connsiteX23" fmla="*/ 99280 w 721818"/>
              <a:gd name="connsiteY23" fmla="*/ 0 h 601674"/>
              <a:gd name="connsiteX24" fmla="*/ 408131 w 721818"/>
              <a:gd name="connsiteY24" fmla="*/ 97738 h 60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1818" h="601674">
                <a:moveTo>
                  <a:pt x="408131" y="97738"/>
                </a:moveTo>
                <a:cubicBezTo>
                  <a:pt x="497685" y="159951"/>
                  <a:pt x="570269" y="248849"/>
                  <a:pt x="615162" y="355594"/>
                </a:cubicBezTo>
                <a:cubicBezTo>
                  <a:pt x="627988" y="386093"/>
                  <a:pt x="638554" y="418049"/>
                  <a:pt x="646609" y="451255"/>
                </a:cubicBezTo>
                <a:lnTo>
                  <a:pt x="721818" y="451256"/>
                </a:lnTo>
                <a:lnTo>
                  <a:pt x="589350" y="601674"/>
                </a:lnTo>
                <a:lnTo>
                  <a:pt x="420981" y="451256"/>
                </a:lnTo>
                <a:lnTo>
                  <a:pt x="496190" y="451256"/>
                </a:lnTo>
                <a:lnTo>
                  <a:pt x="437521" y="303030"/>
                </a:lnTo>
                <a:lnTo>
                  <a:pt x="424792" y="278449"/>
                </a:lnTo>
                <a:lnTo>
                  <a:pt x="405333" y="249265"/>
                </a:lnTo>
                <a:lnTo>
                  <a:pt x="372120" y="204491"/>
                </a:lnTo>
                <a:lnTo>
                  <a:pt x="348091" y="177580"/>
                </a:lnTo>
                <a:lnTo>
                  <a:pt x="309511" y="140089"/>
                </a:lnTo>
                <a:lnTo>
                  <a:pt x="282234" y="117128"/>
                </a:lnTo>
                <a:lnTo>
                  <a:pt x="237579" y="86111"/>
                </a:lnTo>
                <a:lnTo>
                  <a:pt x="208796" y="68260"/>
                </a:lnTo>
                <a:lnTo>
                  <a:pt x="155309" y="43133"/>
                </a:lnTo>
                <a:lnTo>
                  <a:pt x="128908" y="31745"/>
                </a:lnTo>
                <a:lnTo>
                  <a:pt x="43743" y="8495"/>
                </a:lnTo>
                <a:lnTo>
                  <a:pt x="43743" y="8495"/>
                </a:lnTo>
                <a:lnTo>
                  <a:pt x="19916" y="6362"/>
                </a:lnTo>
                <a:lnTo>
                  <a:pt x="4078" y="10223"/>
                </a:lnTo>
                <a:lnTo>
                  <a:pt x="0" y="0"/>
                </a:lnTo>
                <a:lnTo>
                  <a:pt x="99280" y="0"/>
                </a:lnTo>
                <a:cubicBezTo>
                  <a:pt x="212053" y="0"/>
                  <a:pt x="318577" y="35526"/>
                  <a:pt x="408131" y="97738"/>
                </a:cubicBezTo>
                <a:close/>
              </a:path>
            </a:pathLst>
          </a:custGeom>
          <a:gradFill>
            <a:gsLst>
              <a:gs pos="0">
                <a:schemeClr val="accent5">
                  <a:alpha val="0"/>
                </a:schemeClr>
              </a:gs>
              <a:gs pos="100000">
                <a:schemeClr val="accent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73" name="KMA6C131B"/>
          <p:cNvSpPr>
            <a:spLocks noChangeArrowheads="1"/>
          </p:cNvSpPr>
          <p:nvPr>
            <p:custDataLst>
              <p:tags r:id="rId9"/>
            </p:custDataLst>
          </p:nvPr>
        </p:nvSpPr>
        <p:spPr bwMode="auto">
          <a:xfrm rot="19560000">
            <a:off x="4762500" y="2206625"/>
            <a:ext cx="1250950" cy="29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buFont typeface="微软雅黑" panose="020B0503020204020204" charset="-122"/>
              <a:buNone/>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业务咨询</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74" name="KMA6C131B"/>
          <p:cNvSpPr>
            <a:spLocks noChangeArrowheads="1"/>
          </p:cNvSpPr>
          <p:nvPr>
            <p:custDataLst>
              <p:tags r:id="rId10"/>
            </p:custDataLst>
          </p:nvPr>
        </p:nvSpPr>
        <p:spPr bwMode="auto">
          <a:xfrm rot="19560000">
            <a:off x="4408170" y="2648585"/>
            <a:ext cx="2156460" cy="29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lgn="ctr">
              <a:buFont typeface="微软雅黑" panose="020B0503020204020204" charset="-122"/>
              <a:buNone/>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未对诉求进行梳理总结，</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indent="0" algn="ctr">
              <a:buFont typeface="微软雅黑" panose="020B0503020204020204" charset="-122"/>
              <a:buNone/>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导致部分需求未被充分引入</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76" name="KMA6C131B"/>
          <p:cNvSpPr>
            <a:spLocks noChangeArrowheads="1"/>
          </p:cNvSpPr>
          <p:nvPr>
            <p:custDataLst>
              <p:tags r:id="rId11"/>
            </p:custDataLst>
          </p:nvPr>
        </p:nvSpPr>
        <p:spPr bwMode="auto">
          <a:xfrm>
            <a:off x="3905250" y="1295400"/>
            <a:ext cx="2426335" cy="29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buFont typeface="微软雅黑" panose="020B0503020204020204" charset="-122"/>
              <a:buNone/>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按需指派工厂端人员配合业务咨询</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descr="叹号"/>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53920" y="2791460"/>
            <a:ext cx="305435" cy="305435"/>
          </a:xfrm>
          <a:prstGeom prst="rect">
            <a:avLst/>
          </a:prstGeom>
        </p:spPr>
      </p:pic>
      <p:pic>
        <p:nvPicPr>
          <p:cNvPr id="6" name="图片 5" descr="叹号"/>
          <p:cNvPicPr>
            <a:picLocks noChangeAspect="1"/>
          </p:cNvPicPr>
          <p:nvPr/>
        </p:nvPicPr>
        <p:blipFill>
          <a:blip r:embed="rId12">
            <a:extLst>
              <a:ext uri="{96DAC541-7B7A-43D3-8B79-37D633B846F1}">
                <asvg:svgBlip xmlns:asvg="http://schemas.microsoft.com/office/drawing/2016/SVG/main" r:embed="rId14"/>
              </a:ext>
            </a:extLst>
          </a:blip>
          <a:stretch>
            <a:fillRect/>
          </a:stretch>
        </p:blipFill>
        <p:spPr>
          <a:xfrm>
            <a:off x="2110105" y="4326890"/>
            <a:ext cx="305435" cy="305435"/>
          </a:xfrm>
          <a:prstGeom prst="rect">
            <a:avLst/>
          </a:prstGeom>
        </p:spPr>
      </p:pic>
      <p:pic>
        <p:nvPicPr>
          <p:cNvPr id="22" name="图片 21" descr="叹号"/>
          <p:cNvPicPr>
            <a:picLocks noChangeAspect="1"/>
          </p:cNvPicPr>
          <p:nvPr/>
        </p:nvPicPr>
        <p:blipFill>
          <a:blip r:embed="rId12">
            <a:extLst>
              <a:ext uri="{96DAC541-7B7A-43D3-8B79-37D633B846F1}">
                <asvg:svgBlip xmlns:asvg="http://schemas.microsoft.com/office/drawing/2016/SVG/main" r:embed="rId15"/>
              </a:ext>
            </a:extLst>
          </a:blip>
          <a:stretch>
            <a:fillRect/>
          </a:stretch>
        </p:blipFill>
        <p:spPr>
          <a:xfrm>
            <a:off x="6331585" y="2070735"/>
            <a:ext cx="305435" cy="305435"/>
          </a:xfrm>
          <a:prstGeom prst="rect">
            <a:avLst/>
          </a:prstGeom>
        </p:spPr>
      </p:pic>
      <p:pic>
        <p:nvPicPr>
          <p:cNvPr id="23" name="图片 22" descr="叹号"/>
          <p:cNvPicPr>
            <a:picLocks noChangeAspect="1"/>
          </p:cNvPicPr>
          <p:nvPr/>
        </p:nvPicPr>
        <p:blipFill>
          <a:blip r:embed="rId12">
            <a:extLst>
              <a:ext uri="{96DAC541-7B7A-43D3-8B79-37D633B846F1}">
                <asvg:svgBlip xmlns:asvg="http://schemas.microsoft.com/office/drawing/2016/SVG/main" r:embed="rId15"/>
              </a:ext>
            </a:extLst>
          </a:blip>
          <a:stretch>
            <a:fillRect/>
          </a:stretch>
        </p:blipFill>
        <p:spPr>
          <a:xfrm>
            <a:off x="6421755" y="4326890"/>
            <a:ext cx="305435" cy="305435"/>
          </a:xfrm>
          <a:prstGeom prst="rect">
            <a:avLst/>
          </a:prstGeom>
        </p:spPr>
      </p:pic>
      <p:cxnSp>
        <p:nvCxnSpPr>
          <p:cNvPr id="4"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16"/>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企业构建降本增效流程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6" name="图片 5"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13" name="组合 12"/>
          <p:cNvGrpSpPr/>
          <p:nvPr/>
        </p:nvGrpSpPr>
        <p:grpSpPr>
          <a:xfrm>
            <a:off x="449580" y="2556510"/>
            <a:ext cx="3368040" cy="1463040"/>
            <a:chOff x="708" y="4026"/>
            <a:chExt cx="5304" cy="2304"/>
          </a:xfrm>
        </p:grpSpPr>
        <p:sp>
          <p:nvSpPr>
            <p:cNvPr id="8" name="圆角矩形 7"/>
            <p:cNvSpPr/>
            <p:nvPr/>
          </p:nvSpPr>
          <p:spPr>
            <a:xfrm>
              <a:off x="708" y="4026"/>
              <a:ext cx="5304" cy="2304"/>
            </a:xfrm>
            <a:prstGeom prst="roundRect">
              <a:avLst>
                <a:gd name="adj" fmla="val 6250"/>
              </a:avLst>
            </a:prstGeom>
            <a:no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9" name="圆角矩形 8"/>
            <p:cNvSpPr/>
            <p:nvPr/>
          </p:nvSpPr>
          <p:spPr>
            <a:xfrm>
              <a:off x="1004" y="5132"/>
              <a:ext cx="2197" cy="1015"/>
            </a:xfrm>
            <a:prstGeom prst="roundRect">
              <a:avLst>
                <a:gd name="adj" fmla="val 13300"/>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b="1">
                  <a:latin typeface="微软雅黑" panose="020B0503020204020204" charset="-122"/>
                  <a:ea typeface="微软雅黑" panose="020B0503020204020204" charset="-122"/>
                  <a:cs typeface="微软雅黑" panose="020B0503020204020204" charset="-122"/>
                </a:rPr>
                <a:t>AI</a:t>
              </a:r>
              <a:r>
                <a:rPr lang="zh-CN" altLang="en-US" sz="1200" b="1">
                  <a:latin typeface="微软雅黑" panose="020B0503020204020204" charset="-122"/>
                  <a:ea typeface="微软雅黑" panose="020B0503020204020204" charset="-122"/>
                  <a:cs typeface="微软雅黑" panose="020B0503020204020204" charset="-122"/>
                </a:rPr>
                <a:t>动态出价与</a:t>
              </a:r>
              <a:endParaRPr lang="zh-CN" altLang="en-US" sz="1200" b="1">
                <a:latin typeface="微软雅黑" panose="020B0503020204020204" charset="-122"/>
                <a:ea typeface="微软雅黑" panose="020B0503020204020204" charset="-122"/>
                <a:cs typeface="微软雅黑" panose="020B0503020204020204" charset="-122"/>
              </a:endParaRPr>
            </a:p>
            <a:p>
              <a:pPr algn="ctr"/>
              <a:r>
                <a:rPr lang="zh-CN" altLang="en-US" sz="1200" b="1">
                  <a:latin typeface="微软雅黑" panose="020B0503020204020204" charset="-122"/>
                  <a:ea typeface="微软雅黑" panose="020B0503020204020204" charset="-122"/>
                  <a:cs typeface="微软雅黑" panose="020B0503020204020204" charset="-122"/>
                </a:rPr>
                <a:t>创意优化</a:t>
              </a:r>
              <a:endParaRPr lang="zh-CN" altLang="en-US" sz="1200" b="1">
                <a:latin typeface="微软雅黑" panose="020B0503020204020204" charset="-122"/>
                <a:ea typeface="微软雅黑" panose="020B0503020204020204" charset="-122"/>
                <a:cs typeface="微软雅黑" panose="020B0503020204020204" charset="-122"/>
              </a:endParaRPr>
            </a:p>
          </p:txBody>
        </p:sp>
        <p:sp>
          <p:nvSpPr>
            <p:cNvPr id="11" name="圆角矩形 10"/>
            <p:cNvSpPr/>
            <p:nvPr/>
          </p:nvSpPr>
          <p:spPr>
            <a:xfrm>
              <a:off x="3490" y="5132"/>
              <a:ext cx="2197" cy="1015"/>
            </a:xfrm>
            <a:prstGeom prst="roundRect">
              <a:avLst>
                <a:gd name="adj" fmla="val 13300"/>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AI</a:t>
              </a:r>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动态出价与</a:t>
              </a:r>
              <a:endPar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创意优化</a:t>
              </a:r>
              <a:endPar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2" name="右箭头 11"/>
            <p:cNvSpPr/>
            <p:nvPr/>
          </p:nvSpPr>
          <p:spPr>
            <a:xfrm>
              <a:off x="3156" y="5535"/>
              <a:ext cx="310" cy="210"/>
            </a:xfrm>
            <a:prstGeom prst="rightArrow">
              <a:avLst>
                <a:gd name="adj1" fmla="val 50000"/>
                <a:gd name="adj2" fmla="val 82857"/>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76" name="KMA6C131B"/>
            <p:cNvSpPr>
              <a:spLocks noChangeArrowheads="1"/>
            </p:cNvSpPr>
            <p:nvPr>
              <p:custDataLst>
                <p:tags r:id="rId3"/>
              </p:custDataLst>
            </p:nvPr>
          </p:nvSpPr>
          <p:spPr bwMode="auto">
            <a:xfrm>
              <a:off x="911" y="4190"/>
              <a:ext cx="4899" cy="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lgn="ctr">
                <a:buFont typeface="微软雅黑" panose="020B0503020204020204" charset="-122"/>
                <a:buNone/>
              </a:pPr>
              <a:r>
                <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第一环节：精准狙击</a:t>
              </a:r>
              <a:endPar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a:p>
              <a:pPr indent="0" algn="ctr">
                <a:buFont typeface="微软雅黑" panose="020B0503020204020204" charset="-122"/>
                <a:buNone/>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（公域平台流量运营</a:t>
              </a:r>
              <a:r>
                <a:rPr lang="en-US" altLang="zh-CN" sz="1200"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品牌事件营销）</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4" name="组合 13"/>
          <p:cNvGrpSpPr/>
          <p:nvPr/>
        </p:nvGrpSpPr>
        <p:grpSpPr>
          <a:xfrm>
            <a:off x="3482340" y="4810125"/>
            <a:ext cx="4973320" cy="1283335"/>
            <a:chOff x="708" y="4026"/>
            <a:chExt cx="5304" cy="2304"/>
          </a:xfrm>
        </p:grpSpPr>
        <p:sp>
          <p:nvSpPr>
            <p:cNvPr id="15" name="圆角矩形 14"/>
            <p:cNvSpPr/>
            <p:nvPr/>
          </p:nvSpPr>
          <p:spPr>
            <a:xfrm>
              <a:off x="708" y="4026"/>
              <a:ext cx="5304" cy="2304"/>
            </a:xfrm>
            <a:prstGeom prst="roundRect">
              <a:avLst>
                <a:gd name="adj" fmla="val 6250"/>
              </a:avLst>
            </a:prstGeom>
            <a:no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6" name="圆角矩形 15"/>
            <p:cNvSpPr/>
            <p:nvPr/>
          </p:nvSpPr>
          <p:spPr>
            <a:xfrm>
              <a:off x="1004" y="4967"/>
              <a:ext cx="2415" cy="1180"/>
            </a:xfrm>
            <a:prstGeom prst="roundRect">
              <a:avLst>
                <a:gd name="adj" fmla="val 13300"/>
              </a:avLst>
            </a:prstGeom>
            <a:gradFill>
              <a:gsLst>
                <a:gs pos="0">
                  <a:schemeClr val="accent5"/>
                </a:gs>
                <a:gs pos="100000">
                  <a:schemeClr val="accent5">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200" b="1">
                  <a:latin typeface="微软雅黑" panose="020B0503020204020204" charset="-122"/>
                  <a:ea typeface="微软雅黑" panose="020B0503020204020204" charset="-122"/>
                  <a:cs typeface="微软雅黑" panose="020B0503020204020204" charset="-122"/>
                </a:rPr>
                <a:t>价值度量与归因分析</a:t>
              </a:r>
              <a:endParaRPr lang="zh-CN" sz="1200" b="1">
                <a:latin typeface="微软雅黑" panose="020B0503020204020204" charset="-122"/>
                <a:ea typeface="微软雅黑" panose="020B0503020204020204" charset="-122"/>
                <a:cs typeface="微软雅黑" panose="020B0503020204020204" charset="-122"/>
              </a:endParaRPr>
            </a:p>
          </p:txBody>
        </p:sp>
        <p:sp>
          <p:nvSpPr>
            <p:cNvPr id="17" name="圆角矩形 16"/>
            <p:cNvSpPr/>
            <p:nvPr/>
          </p:nvSpPr>
          <p:spPr>
            <a:xfrm>
              <a:off x="3698" y="4968"/>
              <a:ext cx="2038" cy="1180"/>
            </a:xfrm>
            <a:prstGeom prst="roundRect">
              <a:avLst>
                <a:gd name="adj" fmla="val 13300"/>
              </a:avLst>
            </a:prstGeom>
            <a:solidFill>
              <a:schemeClr val="bg1"/>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动态调整飞轮各环节策略</a:t>
              </a:r>
              <a:endParaRPr lang="en-US" altLang="zh-CN"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8" name="右箭头 17"/>
            <p:cNvSpPr/>
            <p:nvPr/>
          </p:nvSpPr>
          <p:spPr>
            <a:xfrm>
              <a:off x="3390" y="5385"/>
              <a:ext cx="310" cy="210"/>
            </a:xfrm>
            <a:prstGeom prst="rightArrow">
              <a:avLst>
                <a:gd name="adj1" fmla="val 50000"/>
                <a:gd name="adj2" fmla="val 82857"/>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9" name="KMA6C131B"/>
            <p:cNvSpPr>
              <a:spLocks noChangeArrowheads="1"/>
            </p:cNvSpPr>
            <p:nvPr>
              <p:custDataLst>
                <p:tags r:id="rId4"/>
              </p:custDataLst>
            </p:nvPr>
          </p:nvSpPr>
          <p:spPr bwMode="auto">
            <a:xfrm>
              <a:off x="911" y="4265"/>
              <a:ext cx="4899" cy="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lgn="ctr">
                <a:buFont typeface="微软雅黑" panose="020B0503020204020204" charset="-122"/>
                <a:buNone/>
              </a:pPr>
              <a:r>
                <a:rPr lang="zh-CN" sz="1400" b="1" dirty="0">
                  <a:solidFill>
                    <a:schemeClr val="tx2"/>
                  </a:solidFill>
                  <a:latin typeface="微软雅黑" panose="020B0503020204020204" charset="-122"/>
                  <a:ea typeface="微软雅黑" panose="020B0503020204020204" charset="-122"/>
                  <a:cs typeface="微软雅黑" panose="020B0503020204020204" charset="-122"/>
                  <a:sym typeface="+mn-ea"/>
                </a:rPr>
                <a:t>智能中枢：决策与调优（智能运营指挥中心）</a:t>
              </a:r>
              <a:endParaRPr lang="zh-CN" sz="14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sp>
        <p:nvSpPr>
          <p:cNvPr id="32" name="圆角矩形 31"/>
          <p:cNvSpPr/>
          <p:nvPr/>
        </p:nvSpPr>
        <p:spPr>
          <a:xfrm>
            <a:off x="9147175" y="5180330"/>
            <a:ext cx="1976120" cy="544830"/>
          </a:xfrm>
          <a:prstGeom prst="roundRect">
            <a:avLst>
              <a:gd name="adj" fmla="val 13300"/>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b="1">
                <a:latin typeface="微软雅黑" panose="020B0503020204020204" charset="-122"/>
                <a:ea typeface="微软雅黑" panose="020B0503020204020204" charset="-122"/>
                <a:cs typeface="微软雅黑" panose="020B0503020204020204" charset="-122"/>
              </a:rPr>
              <a:t>AI</a:t>
            </a:r>
            <a:r>
              <a:rPr lang="zh-CN" altLang="en-US" sz="1200" b="1">
                <a:latin typeface="微软雅黑" panose="020B0503020204020204" charset="-122"/>
                <a:ea typeface="微软雅黑" panose="020B0503020204020204" charset="-122"/>
                <a:cs typeface="微软雅黑" panose="020B0503020204020204" charset="-122"/>
              </a:rPr>
              <a:t>动态出价与</a:t>
            </a:r>
            <a:endParaRPr lang="zh-CN" altLang="en-US" sz="1200" b="1">
              <a:latin typeface="微软雅黑" panose="020B0503020204020204" charset="-122"/>
              <a:ea typeface="微软雅黑" panose="020B0503020204020204" charset="-122"/>
              <a:cs typeface="微软雅黑" panose="020B0503020204020204" charset="-122"/>
            </a:endParaRPr>
          </a:p>
          <a:p>
            <a:pPr algn="ctr"/>
            <a:r>
              <a:rPr lang="zh-CN" altLang="en-US" sz="1200" b="1">
                <a:latin typeface="微软雅黑" panose="020B0503020204020204" charset="-122"/>
                <a:ea typeface="微软雅黑" panose="020B0503020204020204" charset="-122"/>
                <a:cs typeface="微软雅黑" panose="020B0503020204020204" charset="-122"/>
              </a:rPr>
              <a:t>创意优化</a:t>
            </a:r>
            <a:endParaRPr lang="zh-CN" altLang="en-US" sz="1200" b="1">
              <a:latin typeface="微软雅黑" panose="020B0503020204020204" charset="-122"/>
              <a:ea typeface="微软雅黑" panose="020B0503020204020204" charset="-122"/>
              <a:cs typeface="微软雅黑" panose="020B0503020204020204" charset="-122"/>
            </a:endParaRPr>
          </a:p>
        </p:txBody>
      </p:sp>
      <p:sp>
        <p:nvSpPr>
          <p:cNvPr id="33" name="圆角矩形 32"/>
          <p:cNvSpPr/>
          <p:nvPr/>
        </p:nvSpPr>
        <p:spPr>
          <a:xfrm>
            <a:off x="4413885" y="1435735"/>
            <a:ext cx="3368040" cy="819785"/>
          </a:xfrm>
          <a:prstGeom prst="roundRect">
            <a:avLst>
              <a:gd name="adj" fmla="val 13300"/>
            </a:avLst>
          </a:prstGeom>
          <a:gradFill>
            <a:gsLst>
              <a:gs pos="0">
                <a:schemeClr val="accent1"/>
              </a:gs>
              <a:gs pos="100000">
                <a:schemeClr val="accent1">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charset="-122"/>
                <a:ea typeface="微软雅黑" panose="020B0503020204020204" charset="-122"/>
                <a:cs typeface="微软雅黑" panose="020B0503020204020204" charset="-122"/>
              </a:rPr>
              <a:t>核心挑战：公域流量成本高</a:t>
            </a:r>
            <a:endParaRPr lang="zh-CN" altLang="en-US" sz="1400" b="1">
              <a:latin typeface="微软雅黑" panose="020B0503020204020204" charset="-122"/>
              <a:ea typeface="微软雅黑" panose="020B0503020204020204" charset="-122"/>
              <a:cs typeface="微软雅黑" panose="020B0503020204020204" charset="-122"/>
            </a:endParaRPr>
          </a:p>
        </p:txBody>
      </p:sp>
      <p:cxnSp>
        <p:nvCxnSpPr>
          <p:cNvPr id="34" name="肘形连接符 33"/>
          <p:cNvCxnSpPr>
            <a:stCxn id="33" idx="1"/>
            <a:endCxn id="8" idx="0"/>
          </p:cNvCxnSpPr>
          <p:nvPr/>
        </p:nvCxnSpPr>
        <p:spPr>
          <a:xfrm rot="10800000" flipV="1">
            <a:off x="2132965" y="1845310"/>
            <a:ext cx="2280285" cy="710565"/>
          </a:xfrm>
          <a:prstGeom prst="bentConnector2">
            <a:avLst/>
          </a:prstGeom>
          <a:ln w="63500">
            <a:solidFill>
              <a:schemeClr val="accent1"/>
            </a:solidFill>
            <a:prstDash val="solid"/>
            <a:tailEnd type="triangle" w="med" len="lg"/>
          </a:ln>
        </p:spPr>
        <p:style>
          <a:lnRef idx="2">
            <a:schemeClr val="accent1"/>
          </a:lnRef>
          <a:fillRef idx="0">
            <a:srgbClr val="FFFFFF"/>
          </a:fillRef>
          <a:effectRef idx="0">
            <a:srgbClr val="FFFFFF"/>
          </a:effectRef>
          <a:fontRef idx="minor">
            <a:schemeClr val="tx1"/>
          </a:fontRef>
        </p:style>
      </p:cxnSp>
      <p:cxnSp>
        <p:nvCxnSpPr>
          <p:cNvPr id="35" name="肘形连接符 34"/>
          <p:cNvCxnSpPr>
            <a:stCxn id="8" idx="2"/>
            <a:endCxn id="36" idx="4"/>
          </p:cNvCxnSpPr>
          <p:nvPr/>
        </p:nvCxnSpPr>
        <p:spPr>
          <a:xfrm rot="5400000" flipV="1">
            <a:off x="3669030" y="2484120"/>
            <a:ext cx="3175" cy="3070860"/>
          </a:xfrm>
          <a:prstGeom prst="bentConnector3">
            <a:avLst>
              <a:gd name="adj1" fmla="val 13650000"/>
            </a:avLst>
          </a:prstGeom>
          <a:ln w="63500">
            <a:solidFill>
              <a:schemeClr val="accent1">
                <a:lumMod val="60000"/>
                <a:lumOff val="40000"/>
              </a:schemeClr>
            </a:solidFill>
            <a:prstDash val="solid"/>
            <a:tailEnd type="triangle" w="med" len="lg"/>
          </a:ln>
        </p:spPr>
        <p:style>
          <a:lnRef idx="2">
            <a:schemeClr val="accent1"/>
          </a:lnRef>
          <a:fillRef idx="0">
            <a:srgbClr val="FFFFFF"/>
          </a:fillRef>
          <a:effectRef idx="0">
            <a:srgbClr val="FFFFFF"/>
          </a:effectRef>
          <a:fontRef idx="minor">
            <a:schemeClr val="tx1"/>
          </a:fontRef>
        </p:style>
      </p:cxnSp>
      <p:cxnSp>
        <p:nvCxnSpPr>
          <p:cNvPr id="37" name="肘形连接符 36"/>
          <p:cNvCxnSpPr>
            <a:stCxn id="38" idx="4"/>
            <a:endCxn id="21" idx="2"/>
          </p:cNvCxnSpPr>
          <p:nvPr/>
        </p:nvCxnSpPr>
        <p:spPr>
          <a:xfrm rot="5400000" flipH="1" flipV="1">
            <a:off x="8307070" y="2508250"/>
            <a:ext cx="10160" cy="3032760"/>
          </a:xfrm>
          <a:prstGeom prst="bentConnector3">
            <a:avLst>
              <a:gd name="adj1" fmla="val -4325000"/>
            </a:avLst>
          </a:prstGeom>
          <a:ln w="63500">
            <a:solidFill>
              <a:schemeClr val="accent1">
                <a:lumMod val="60000"/>
                <a:lumOff val="40000"/>
              </a:schemeClr>
            </a:solidFill>
            <a:prstDash val="solid"/>
            <a:tailEnd type="triangle" w="med" len="lg"/>
          </a:ln>
        </p:spPr>
        <p:style>
          <a:lnRef idx="2">
            <a:schemeClr val="accent1"/>
          </a:lnRef>
          <a:fillRef idx="0">
            <a:srgbClr val="FFFFFF"/>
          </a:fillRef>
          <a:effectRef idx="0">
            <a:srgbClr val="FFFFFF"/>
          </a:effectRef>
          <a:fontRef idx="minor">
            <a:schemeClr val="tx1"/>
          </a:fontRef>
        </p:style>
      </p:cxnSp>
      <p:cxnSp>
        <p:nvCxnSpPr>
          <p:cNvPr id="39" name="肘形连接符 38"/>
          <p:cNvCxnSpPr>
            <a:stCxn id="21" idx="3"/>
            <a:endCxn id="32" idx="3"/>
          </p:cNvCxnSpPr>
          <p:nvPr/>
        </p:nvCxnSpPr>
        <p:spPr>
          <a:xfrm flipH="1">
            <a:off x="11123295" y="3288030"/>
            <a:ext cx="389255" cy="2164715"/>
          </a:xfrm>
          <a:prstGeom prst="bentConnector3">
            <a:avLst>
              <a:gd name="adj1" fmla="val -61175"/>
            </a:avLst>
          </a:prstGeom>
          <a:ln w="63500">
            <a:solidFill>
              <a:schemeClr val="accent1">
                <a:lumMod val="60000"/>
                <a:lumOff val="40000"/>
              </a:schemeClr>
            </a:solidFill>
            <a:prstDash val="solid"/>
            <a:tailEnd type="triangle" w="med" len="lg"/>
          </a:ln>
        </p:spPr>
        <p:style>
          <a:lnRef idx="2">
            <a:schemeClr val="accent1"/>
          </a:lnRef>
          <a:fillRef idx="0">
            <a:srgbClr val="FFFFFF"/>
          </a:fillRef>
          <a:effectRef idx="0">
            <a:srgbClr val="FFFFFF"/>
          </a:effectRef>
          <a:fontRef idx="minor">
            <a:schemeClr val="tx1"/>
          </a:fontRef>
        </p:style>
      </p:cxnSp>
      <p:cxnSp>
        <p:nvCxnSpPr>
          <p:cNvPr id="40" name="直接箭头连接符 39"/>
          <p:cNvCxnSpPr>
            <a:stCxn id="27" idx="2"/>
            <a:endCxn id="15" idx="0"/>
          </p:cNvCxnSpPr>
          <p:nvPr/>
        </p:nvCxnSpPr>
        <p:spPr>
          <a:xfrm>
            <a:off x="5969000" y="4019550"/>
            <a:ext cx="0" cy="790575"/>
          </a:xfrm>
          <a:prstGeom prst="straightConnector1">
            <a:avLst/>
          </a:prstGeom>
          <a:ln w="76200">
            <a:solidFill>
              <a:schemeClr val="accent5"/>
            </a:solidFill>
            <a:tailEnd type="triangle" w="lg" len="med"/>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32" idx="1"/>
            <a:endCxn id="15" idx="3"/>
          </p:cNvCxnSpPr>
          <p:nvPr/>
        </p:nvCxnSpPr>
        <p:spPr>
          <a:xfrm flipH="1" flipV="1">
            <a:off x="8455660" y="5452110"/>
            <a:ext cx="691515" cy="635"/>
          </a:xfrm>
          <a:prstGeom prst="straightConnector1">
            <a:avLst/>
          </a:prstGeom>
          <a:ln w="76200">
            <a:solidFill>
              <a:schemeClr val="accent5">
                <a:lumMod val="60000"/>
                <a:lumOff val="40000"/>
              </a:schemeClr>
            </a:solidFill>
            <a:tailEnd type="triangle" w="lg" len="med"/>
          </a:ln>
        </p:spPr>
        <p:style>
          <a:lnRef idx="2">
            <a:schemeClr val="accent1"/>
          </a:lnRef>
          <a:fillRef idx="0">
            <a:srgbClr val="FFFFFF"/>
          </a:fillRef>
          <a:effectRef idx="0">
            <a:srgbClr val="FFFFFF"/>
          </a:effectRef>
          <a:fontRef idx="minor">
            <a:schemeClr val="tx1"/>
          </a:fontRef>
        </p:style>
      </p:cxnSp>
      <p:grpSp>
        <p:nvGrpSpPr>
          <p:cNvPr id="42" name="组合 41"/>
          <p:cNvGrpSpPr/>
          <p:nvPr/>
        </p:nvGrpSpPr>
        <p:grpSpPr>
          <a:xfrm>
            <a:off x="4351020" y="2556510"/>
            <a:ext cx="3368040" cy="1463040"/>
            <a:chOff x="708" y="4026"/>
            <a:chExt cx="5304" cy="2304"/>
          </a:xfrm>
        </p:grpSpPr>
        <p:sp>
          <p:nvSpPr>
            <p:cNvPr id="43" name="圆角矩形 42"/>
            <p:cNvSpPr/>
            <p:nvPr/>
          </p:nvSpPr>
          <p:spPr>
            <a:xfrm>
              <a:off x="708" y="4026"/>
              <a:ext cx="5304" cy="2304"/>
            </a:xfrm>
            <a:prstGeom prst="roundRect">
              <a:avLst>
                <a:gd name="adj" fmla="val 6250"/>
              </a:avLst>
            </a:prstGeom>
            <a:no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4" name="圆角矩形 43"/>
            <p:cNvSpPr/>
            <p:nvPr/>
          </p:nvSpPr>
          <p:spPr>
            <a:xfrm>
              <a:off x="1004" y="5132"/>
              <a:ext cx="2197" cy="1015"/>
            </a:xfrm>
            <a:prstGeom prst="roundRect">
              <a:avLst>
                <a:gd name="adj" fmla="val 13300"/>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200" b="1">
                  <a:latin typeface="微软雅黑" panose="020B0503020204020204" charset="-122"/>
                  <a:ea typeface="微软雅黑" panose="020B0503020204020204" charset="-122"/>
                  <a:cs typeface="微软雅黑" panose="020B0503020204020204" charset="-122"/>
                </a:rPr>
                <a:t>无缝引导至私域</a:t>
              </a:r>
              <a:endParaRPr lang="zh-CN" sz="1200" b="1">
                <a:latin typeface="微软雅黑" panose="020B0503020204020204" charset="-122"/>
                <a:ea typeface="微软雅黑" panose="020B0503020204020204" charset="-122"/>
                <a:cs typeface="微软雅黑" panose="020B0503020204020204" charset="-122"/>
              </a:endParaRPr>
            </a:p>
          </p:txBody>
        </p:sp>
        <p:sp>
          <p:nvSpPr>
            <p:cNvPr id="45" name="圆角矩形 44"/>
            <p:cNvSpPr/>
            <p:nvPr/>
          </p:nvSpPr>
          <p:spPr>
            <a:xfrm>
              <a:off x="3490" y="5132"/>
              <a:ext cx="2197" cy="1015"/>
            </a:xfrm>
            <a:prstGeom prst="roundRect">
              <a:avLst>
                <a:gd name="adj" fmla="val 13300"/>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个性化</a:t>
              </a:r>
              <a:r>
                <a:rPr lang="en-US" altLang="zh-CN"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欢迎旅程</a:t>
              </a:r>
              <a:r>
                <a:rPr lang="en-US" altLang="zh-CN"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与智能体即刻服务</a:t>
              </a:r>
              <a:endParaRPr lang="zh-CN" altLang="en-US"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6" name="右箭头 45"/>
            <p:cNvSpPr/>
            <p:nvPr/>
          </p:nvSpPr>
          <p:spPr>
            <a:xfrm>
              <a:off x="3156" y="5535"/>
              <a:ext cx="310" cy="210"/>
            </a:xfrm>
            <a:prstGeom prst="rightArrow">
              <a:avLst>
                <a:gd name="adj1" fmla="val 50000"/>
                <a:gd name="adj2" fmla="val 82857"/>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7" name="KMA6C131B"/>
            <p:cNvSpPr>
              <a:spLocks noChangeArrowheads="1"/>
            </p:cNvSpPr>
            <p:nvPr>
              <p:custDataLst>
                <p:tags r:id="rId5"/>
              </p:custDataLst>
            </p:nvPr>
          </p:nvSpPr>
          <p:spPr bwMode="auto">
            <a:xfrm>
              <a:off x="911" y="4190"/>
              <a:ext cx="4899" cy="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lgn="ctr">
                <a:buFont typeface="微软雅黑" panose="020B0503020204020204" charset="-122"/>
                <a:buNone/>
              </a:pPr>
              <a:r>
                <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第二环节：高质承接</a:t>
              </a:r>
              <a:endPar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a:p>
              <a:pPr indent="0" algn="ctr">
                <a:buFont typeface="微软雅黑" panose="020B0503020204020204" charset="-122"/>
                <a:buNone/>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sz="1200" dirty="0">
                  <a:solidFill>
                    <a:schemeClr val="tx2"/>
                  </a:solidFill>
                  <a:latin typeface="微软雅黑" panose="020B0503020204020204" charset="-122"/>
                  <a:ea typeface="微软雅黑" panose="020B0503020204020204" charset="-122"/>
                  <a:cs typeface="微软雅黑" panose="020B0503020204020204" charset="-122"/>
                  <a:sym typeface="+mn-ea"/>
                </a:rPr>
                <a:t>私域流量与用户价值运营</a:t>
              </a: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54" name="组合 53"/>
          <p:cNvGrpSpPr/>
          <p:nvPr/>
        </p:nvGrpSpPr>
        <p:grpSpPr>
          <a:xfrm>
            <a:off x="8144510" y="2555240"/>
            <a:ext cx="3368040" cy="1463040"/>
            <a:chOff x="708" y="4026"/>
            <a:chExt cx="5304" cy="2304"/>
          </a:xfrm>
        </p:grpSpPr>
        <p:sp>
          <p:nvSpPr>
            <p:cNvPr id="55" name="圆角矩形 54"/>
            <p:cNvSpPr/>
            <p:nvPr/>
          </p:nvSpPr>
          <p:spPr>
            <a:xfrm>
              <a:off x="708" y="4026"/>
              <a:ext cx="5304" cy="2304"/>
            </a:xfrm>
            <a:prstGeom prst="roundRect">
              <a:avLst>
                <a:gd name="adj" fmla="val 6250"/>
              </a:avLst>
            </a:prstGeom>
            <a:no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6" name="圆角矩形 55"/>
            <p:cNvSpPr/>
            <p:nvPr/>
          </p:nvSpPr>
          <p:spPr>
            <a:xfrm>
              <a:off x="1004" y="5132"/>
              <a:ext cx="2197" cy="1015"/>
            </a:xfrm>
            <a:prstGeom prst="roundRect">
              <a:avLst>
                <a:gd name="adj" fmla="val 13300"/>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b="1">
                  <a:latin typeface="微软雅黑" panose="020B0503020204020204" charset="-122"/>
                  <a:ea typeface="微软雅黑" panose="020B0503020204020204" charset="-122"/>
                  <a:cs typeface="微软雅黑" panose="020B0503020204020204" charset="-122"/>
                </a:rPr>
                <a:t>AI</a:t>
              </a:r>
              <a:r>
                <a:rPr lang="zh-CN" altLang="en-US" sz="1200" b="1">
                  <a:latin typeface="微软雅黑" panose="020B0503020204020204" charset="-122"/>
                  <a:ea typeface="微软雅黑" panose="020B0503020204020204" charset="-122"/>
                  <a:cs typeface="微软雅黑" panose="020B0503020204020204" charset="-122"/>
                </a:rPr>
                <a:t>识别高潜力</a:t>
              </a:r>
              <a:endParaRPr lang="zh-CN" altLang="en-US" sz="1200" b="1">
                <a:latin typeface="微软雅黑" panose="020B0503020204020204" charset="-122"/>
                <a:ea typeface="微软雅黑" panose="020B0503020204020204" charset="-122"/>
                <a:cs typeface="微软雅黑" panose="020B0503020204020204" charset="-122"/>
              </a:endParaRPr>
            </a:p>
            <a:p>
              <a:pPr algn="ctr"/>
              <a:r>
                <a:rPr lang="en-US" altLang="zh-CN" sz="1200" b="1">
                  <a:latin typeface="微软雅黑" panose="020B0503020204020204" charset="-122"/>
                  <a:ea typeface="微软雅黑" panose="020B0503020204020204" charset="-122"/>
                  <a:cs typeface="微软雅黑" panose="020B0503020204020204" charset="-122"/>
                </a:rPr>
                <a:t>KOC</a:t>
              </a:r>
              <a:endParaRPr lang="en-US" altLang="zh-CN" sz="1200" b="1">
                <a:latin typeface="微软雅黑" panose="020B0503020204020204" charset="-122"/>
                <a:ea typeface="微软雅黑" panose="020B0503020204020204" charset="-122"/>
                <a:cs typeface="微软雅黑" panose="020B0503020204020204" charset="-122"/>
              </a:endParaRPr>
            </a:p>
          </p:txBody>
        </p:sp>
        <p:sp>
          <p:nvSpPr>
            <p:cNvPr id="57" name="圆角矩形 56"/>
            <p:cNvSpPr/>
            <p:nvPr/>
          </p:nvSpPr>
          <p:spPr>
            <a:xfrm>
              <a:off x="3490" y="5132"/>
              <a:ext cx="2197" cy="1015"/>
            </a:xfrm>
            <a:prstGeom prst="roundRect">
              <a:avLst>
                <a:gd name="adj" fmla="val 13300"/>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设计</a:t>
              </a:r>
              <a:r>
                <a:rPr lang="en-US" altLang="zh-CN"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微任务</a:t>
              </a:r>
              <a:r>
                <a:rPr lang="en-US" altLang="zh-CN"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激励漏斗与线下快闪体验</a:t>
              </a:r>
              <a:endParaRPr lang="zh-CN" altLang="en-US" sz="11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8" name="右箭头 57"/>
            <p:cNvSpPr/>
            <p:nvPr/>
          </p:nvSpPr>
          <p:spPr>
            <a:xfrm>
              <a:off x="3156" y="5535"/>
              <a:ext cx="310" cy="210"/>
            </a:xfrm>
            <a:prstGeom prst="rightArrow">
              <a:avLst>
                <a:gd name="adj1" fmla="val 50000"/>
                <a:gd name="adj2" fmla="val 82857"/>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 name="KMA6C131B"/>
            <p:cNvSpPr>
              <a:spLocks noChangeArrowheads="1"/>
            </p:cNvSpPr>
            <p:nvPr>
              <p:custDataLst>
                <p:tags r:id="rId6"/>
              </p:custDataLst>
            </p:nvPr>
          </p:nvSpPr>
          <p:spPr bwMode="auto">
            <a:xfrm>
              <a:off x="911" y="4190"/>
              <a:ext cx="4899" cy="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791" tIns="46791" rIns="46791" bIns="46791">
              <a:noAutofit/>
            </a:bodyPr>
            <a:lstStyle/>
            <a:p>
              <a:pPr indent="0" algn="ctr">
                <a:buFont typeface="微软雅黑" panose="020B0503020204020204" charset="-122"/>
                <a:buNone/>
              </a:pPr>
              <a:r>
                <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第三环节：价值裂变</a:t>
              </a:r>
              <a:endPar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a:p>
              <a:pPr indent="0" algn="ctr">
                <a:buFont typeface="微软雅黑" panose="020B0503020204020204" charset="-122"/>
                <a:buNone/>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sz="1200" dirty="0">
                  <a:solidFill>
                    <a:schemeClr val="tx2"/>
                  </a:solidFill>
                  <a:latin typeface="微软雅黑" panose="020B0503020204020204" charset="-122"/>
                  <a:ea typeface="微软雅黑" panose="020B0503020204020204" charset="-122"/>
                  <a:cs typeface="微软雅黑" panose="020B0503020204020204" charset="-122"/>
                  <a:sym typeface="+mn-ea"/>
                </a:rPr>
                <a:t>品牌活动运营</a:t>
              </a:r>
              <a:r>
                <a:rPr lang="en-US" altLang="zh-CN" sz="1200"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实体同城获客）</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10" name="图片 9"/>
            <p:cNvPicPr>
              <a:picLocks noChangeAspect="1"/>
            </p:cNvPicPr>
            <p:nvPr userDrawn="1"/>
          </p:nvPicPr>
          <p:blipFill>
            <a:blip r:embed="rId7"/>
            <a:srcRect l="17002" t="-1765" r="56499" b="-1176"/>
            <a:stretch>
              <a:fillRect/>
            </a:stretch>
          </p:blipFill>
          <p:spPr>
            <a:xfrm>
              <a:off x="13761" y="549"/>
              <a:ext cx="1582" cy="525"/>
            </a:xfrm>
            <a:prstGeom prst="rect">
              <a:avLst/>
            </a:prstGeom>
          </p:spPr>
        </p:pic>
        <p:sp>
          <p:nvSpPr>
            <p:cNvPr id="20" name="文本框 19"/>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运营流量转化策略流程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6" name="图片 5"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矩形: 圆角 6"/>
          <p:cNvSpPr/>
          <p:nvPr/>
        </p:nvSpPr>
        <p:spPr>
          <a:xfrm>
            <a:off x="3712210" y="2796540"/>
            <a:ext cx="1911350" cy="859790"/>
          </a:xfrm>
          <a:prstGeom prst="roundRect">
            <a:avLst>
              <a:gd name="adj" fmla="val 786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 name="文本框 9"/>
          <p:cNvSpPr txBox="1"/>
          <p:nvPr/>
        </p:nvSpPr>
        <p:spPr>
          <a:xfrm>
            <a:off x="3733165" y="3034665"/>
            <a:ext cx="1868805" cy="368300"/>
          </a:xfrm>
          <a:prstGeom prst="rect">
            <a:avLst/>
          </a:prstGeom>
          <a:noFill/>
        </p:spPr>
        <p:txBody>
          <a:bodyPr wrap="square" rtlCol="0">
            <a:spAutoFit/>
          </a:bodyPr>
          <a:lstStyle/>
          <a:p>
            <a:pPr algn="ctr"/>
            <a:r>
              <a:rPr lang="zh-CN" altLang="en-US" b="1" spc="1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抖音团购</a:t>
            </a:r>
            <a:r>
              <a:rPr lang="en-US" altLang="zh-CN" b="1" spc="1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lang="zh-CN" altLang="en-US" b="1" spc="1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直播</a:t>
            </a:r>
            <a:endParaRPr lang="zh-CN" altLang="en-US" b="1" spc="1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nvGrpSpPr>
          <p:cNvPr id="20" name="组合 19"/>
          <p:cNvGrpSpPr/>
          <p:nvPr/>
        </p:nvGrpSpPr>
        <p:grpSpPr>
          <a:xfrm rot="0">
            <a:off x="6749415" y="2796540"/>
            <a:ext cx="1911350" cy="859790"/>
            <a:chOff x="6770762" y="3094606"/>
            <a:chExt cx="1841137" cy="828043"/>
          </a:xfrm>
          <a:solidFill>
            <a:schemeClr val="accent2"/>
          </a:solidFill>
        </p:grpSpPr>
        <p:sp>
          <p:nvSpPr>
            <p:cNvPr id="21" name="矩形: 圆角 9"/>
            <p:cNvSpPr/>
            <p:nvPr/>
          </p:nvSpPr>
          <p:spPr>
            <a:xfrm>
              <a:off x="6770762" y="3094606"/>
              <a:ext cx="1841137" cy="828043"/>
            </a:xfrm>
            <a:prstGeom prst="roundRect">
              <a:avLst>
                <a:gd name="adj" fmla="val 7866"/>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2" name="文本框 21"/>
            <p:cNvSpPr txBox="1"/>
            <p:nvPr/>
          </p:nvSpPr>
          <p:spPr>
            <a:xfrm>
              <a:off x="6851999" y="3323961"/>
              <a:ext cx="1678665" cy="354764"/>
            </a:xfrm>
            <a:prstGeom prst="rect">
              <a:avLst/>
            </a:prstGeom>
            <a:noFill/>
            <a:extLst>
              <a:ext uri="{909E8E84-426E-40DD-AFC4-6F175D3DCCD1}">
                <a14:hiddenFill xmlns:a14="http://schemas.microsoft.com/office/drawing/2010/main">
                  <a:grpFill/>
                </a14:hiddenFill>
              </a:ext>
            </a:extLst>
          </p:spPr>
          <p:txBody>
            <a:bodyPr wrap="square" rtlCol="0">
              <a:spAutoFit/>
            </a:bodyPr>
            <a:lstStyle/>
            <a:p>
              <a:pPr algn="ctr"/>
              <a:r>
                <a:rPr lang="zh-CN" altLang="en-US" b="1" spc="1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抖音种草视频</a:t>
              </a:r>
              <a:endParaRPr lang="zh-CN" altLang="en-US" b="1" spc="1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grpSp>
        <p:nvGrpSpPr>
          <p:cNvPr id="23" name="组合 22"/>
          <p:cNvGrpSpPr/>
          <p:nvPr/>
        </p:nvGrpSpPr>
        <p:grpSpPr>
          <a:xfrm rot="0">
            <a:off x="9789160" y="2796540"/>
            <a:ext cx="1911350" cy="859790"/>
            <a:chOff x="9520072" y="3094606"/>
            <a:chExt cx="1841137" cy="828043"/>
          </a:xfrm>
          <a:solidFill>
            <a:schemeClr val="accent3"/>
          </a:solidFill>
        </p:grpSpPr>
        <p:sp>
          <p:nvSpPr>
            <p:cNvPr id="24" name="矩形: 圆角 12"/>
            <p:cNvSpPr/>
            <p:nvPr/>
          </p:nvSpPr>
          <p:spPr>
            <a:xfrm>
              <a:off x="9520072" y="3094606"/>
              <a:ext cx="1841137" cy="828043"/>
            </a:xfrm>
            <a:prstGeom prst="roundRect">
              <a:avLst>
                <a:gd name="adj" fmla="val 786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5" name="文本框 24"/>
            <p:cNvSpPr txBox="1"/>
            <p:nvPr/>
          </p:nvSpPr>
          <p:spPr>
            <a:xfrm>
              <a:off x="9526793" y="3323961"/>
              <a:ext cx="1803699" cy="354764"/>
            </a:xfrm>
            <a:prstGeom prst="rect">
              <a:avLst/>
            </a:prstGeom>
            <a:noFill/>
            <a:extLst>
              <a:ext uri="{909E8E84-426E-40DD-AFC4-6F175D3DCCD1}">
                <a14:hiddenFill xmlns:a14="http://schemas.microsoft.com/office/drawing/2010/main">
                  <a:grpFill/>
                </a14:hiddenFill>
              </a:ext>
            </a:extLst>
          </p:spPr>
          <p:txBody>
            <a:bodyPr wrap="square" rtlCol="0">
              <a:spAutoFit/>
            </a:bodyPr>
            <a:lstStyle/>
            <a:p>
              <a:pPr algn="ctr"/>
              <a:r>
                <a:rPr lang="zh-CN" altLang="en-US" b="1" spc="1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抖音销售</a:t>
              </a:r>
              <a:r>
                <a:rPr lang="en-US" altLang="zh-CN" b="1" spc="1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GMV</a:t>
              </a:r>
              <a:endParaRPr lang="zh-CN" altLang="en-US" b="1" spc="1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26" name="文本框 25"/>
          <p:cNvSpPr txBox="1"/>
          <p:nvPr/>
        </p:nvSpPr>
        <p:spPr>
          <a:xfrm>
            <a:off x="6683375" y="1344295"/>
            <a:ext cx="1998980" cy="737235"/>
          </a:xfrm>
          <a:prstGeom prst="rect">
            <a:avLst/>
          </a:prstGeom>
          <a:noFill/>
        </p:spPr>
        <p:txBody>
          <a:bodyPr wrap="square" rtlCol="0">
            <a:spAutoFit/>
          </a:bodyPr>
          <a:lstStyle/>
          <a:p>
            <a:pPr algn="ctr">
              <a:lnSpc>
                <a:spcPct val="150000"/>
              </a:lnSpc>
            </a:pPr>
            <a:r>
              <a:rPr lang="zh-CN" altLang="en-US" sz="1400" b="1" spc="150"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蓝</a:t>
            </a:r>
            <a:r>
              <a:rPr lang="en-US" altLang="zh-CN" sz="1400" b="1" spc="150"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V</a:t>
            </a:r>
            <a:r>
              <a:rPr lang="zh-CN" altLang="en-US" sz="1400" b="1" spc="150"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企业号</a:t>
            </a:r>
            <a:endParaRPr lang="en-US" altLang="zh-CN" sz="1400" b="1" spc="150"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50000"/>
              </a:lnSpc>
            </a:pPr>
            <a:r>
              <a:rPr lang="zh-CN" altLang="en-US" sz="1400" b="1" spc="150"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私域粉丝积累</a:t>
            </a:r>
            <a:endParaRPr lang="zh-CN" altLang="en-US" sz="1400" b="1" spc="150"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7" name="文本框 26"/>
          <p:cNvSpPr txBox="1"/>
          <p:nvPr/>
        </p:nvSpPr>
        <p:spPr>
          <a:xfrm>
            <a:off x="7729220" y="2119630"/>
            <a:ext cx="1127125" cy="645160"/>
          </a:xfrm>
          <a:prstGeom prst="rect">
            <a:avLst/>
          </a:prstGeom>
          <a:noFill/>
        </p:spPr>
        <p:txBody>
          <a:bodyPr wrap="square" rtlCol="0">
            <a:spAutoFit/>
          </a:bodyPr>
          <a:lstStyle/>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关注</a:t>
            </a:r>
            <a:endParaRPr lang="en-US" altLang="zh-CN"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粉丝沉淀</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28" name="直接箭头连接符 27"/>
          <p:cNvCxnSpPr/>
          <p:nvPr/>
        </p:nvCxnSpPr>
        <p:spPr>
          <a:xfrm flipV="1">
            <a:off x="7705090" y="2132330"/>
            <a:ext cx="0" cy="663575"/>
          </a:xfrm>
          <a:prstGeom prst="straightConnector1">
            <a:avLst/>
          </a:prstGeom>
          <a:ln w="38100">
            <a:gradFill>
              <a:gsLst>
                <a:gs pos="100000">
                  <a:schemeClr val="accent1"/>
                </a:gs>
                <a:gs pos="0">
                  <a:schemeClr val="accent1">
                    <a:lumMod val="60000"/>
                    <a:lumOff val="40000"/>
                  </a:schemeClr>
                </a:gs>
              </a:gsLst>
              <a:lin ang="5400000" scaled="1"/>
            </a:gradFill>
            <a:tailEnd type="stealth" w="lg" len="lg"/>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10732135" y="1778635"/>
            <a:ext cx="0" cy="1017905"/>
          </a:xfrm>
          <a:prstGeom prst="straightConnector1">
            <a:avLst/>
          </a:prstGeom>
          <a:ln w="38100">
            <a:gradFill>
              <a:gsLst>
                <a:gs pos="100000">
                  <a:schemeClr val="accent1"/>
                </a:gs>
                <a:gs pos="0">
                  <a:schemeClr val="accent1">
                    <a:lumMod val="60000"/>
                    <a:lumOff val="40000"/>
                  </a:schemeClr>
                </a:gs>
              </a:gsLst>
              <a:lin ang="5400000" scaled="1"/>
            </a:gradFill>
            <a:tailEnd type="stealth" w="lg" len="lg"/>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H="1">
            <a:off x="4631690" y="1758315"/>
            <a:ext cx="2338070" cy="0"/>
          </a:xfrm>
          <a:prstGeom prst="straightConnector1">
            <a:avLst/>
          </a:prstGeom>
          <a:ln w="38100">
            <a:gradFill flip="none" rotWithShape="1">
              <a:gsLst>
                <a:gs pos="0">
                  <a:schemeClr val="accent1"/>
                </a:gs>
                <a:gs pos="100000">
                  <a:schemeClr val="accent1">
                    <a:lumMod val="60000"/>
                    <a:lumOff val="40000"/>
                  </a:schemeClr>
                </a:gs>
              </a:gsLst>
              <a:lin ang="0" scaled="1"/>
              <a:tileRect/>
            </a:gradFill>
            <a:tailEnd type="none" w="lg" len="lg"/>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rot="10800000" flipH="1">
            <a:off x="8409940" y="1758315"/>
            <a:ext cx="2338070" cy="0"/>
          </a:xfrm>
          <a:prstGeom prst="straightConnector1">
            <a:avLst/>
          </a:prstGeom>
          <a:ln w="38100">
            <a:gradFill flip="none" rotWithShape="1">
              <a:gsLst>
                <a:gs pos="0">
                  <a:schemeClr val="accent1"/>
                </a:gs>
                <a:gs pos="100000">
                  <a:schemeClr val="accent1">
                    <a:lumMod val="60000"/>
                    <a:lumOff val="40000"/>
                  </a:schemeClr>
                </a:gs>
              </a:gsLst>
              <a:lin ang="0" scaled="1"/>
              <a:tileRect/>
            </a:gradFill>
            <a:tailEnd type="none" w="lg" len="lg"/>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9015730" y="1783080"/>
            <a:ext cx="1127125" cy="368300"/>
          </a:xfrm>
          <a:prstGeom prst="rect">
            <a:avLst/>
          </a:prstGeom>
          <a:noFill/>
        </p:spPr>
        <p:txBody>
          <a:bodyPr wrap="square" rtlCol="0">
            <a:spAutoFit/>
          </a:bodyPr>
          <a:lstStyle/>
          <a:p>
            <a:pPr algn="ct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粉丝复购</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8" name="文本框 47"/>
          <p:cNvSpPr txBox="1"/>
          <p:nvPr/>
        </p:nvSpPr>
        <p:spPr>
          <a:xfrm>
            <a:off x="5233670" y="1760855"/>
            <a:ext cx="1127125" cy="368300"/>
          </a:xfrm>
          <a:prstGeom prst="rect">
            <a:avLst/>
          </a:prstGeom>
          <a:noFill/>
        </p:spPr>
        <p:txBody>
          <a:bodyPr wrap="square" rtlCol="0">
            <a:spAutoFit/>
          </a:bodyPr>
          <a:lstStyle/>
          <a:p>
            <a:pPr algn="ct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活动造节</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9" name="文本框 48"/>
          <p:cNvSpPr txBox="1"/>
          <p:nvPr/>
        </p:nvSpPr>
        <p:spPr>
          <a:xfrm>
            <a:off x="5078095" y="1388110"/>
            <a:ext cx="1437640" cy="368300"/>
          </a:xfrm>
          <a:prstGeom prst="rect">
            <a:avLst/>
          </a:prstGeom>
          <a:noFill/>
        </p:spPr>
        <p:txBody>
          <a:bodyPr wrap="square" rtlCol="0">
            <a:spAutoFit/>
          </a:bodyPr>
          <a:lstStyle/>
          <a:p>
            <a:pPr algn="ct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针对性营销召回</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0" name="文本框 49"/>
          <p:cNvSpPr txBox="1"/>
          <p:nvPr/>
        </p:nvSpPr>
        <p:spPr>
          <a:xfrm>
            <a:off x="4678680" y="2051050"/>
            <a:ext cx="1127125" cy="645160"/>
          </a:xfrm>
          <a:prstGeom prst="rect">
            <a:avLst/>
          </a:prstGeom>
          <a:noFill/>
        </p:spPr>
        <p:txBody>
          <a:bodyPr wrap="square" rtlCol="0">
            <a:spAutoFit/>
          </a:bodyPr>
          <a:lstStyle/>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引流品</a:t>
            </a:r>
            <a:endParaRPr lang="en-US" altLang="zh-CN"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利润品</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1" name="文本框 50"/>
          <p:cNvSpPr txBox="1"/>
          <p:nvPr/>
        </p:nvSpPr>
        <p:spPr>
          <a:xfrm>
            <a:off x="3644265" y="4617085"/>
            <a:ext cx="1998980" cy="414020"/>
          </a:xfrm>
          <a:prstGeom prst="rect">
            <a:avLst/>
          </a:prstGeom>
          <a:noFill/>
        </p:spPr>
        <p:txBody>
          <a:bodyPr wrap="square" rtlCol="0">
            <a:spAutoFit/>
          </a:bodyPr>
          <a:lstStyle>
            <a:defPPr>
              <a:defRPr lang="zh-CN"/>
            </a:defPPr>
            <a:lvl1pPr algn="ctr">
              <a:lnSpc>
                <a:spcPct val="150000"/>
              </a:lnSpc>
              <a:defRPr sz="1400" b="1" spc="150">
                <a:solidFill>
                  <a:srgbClr val="FF5337"/>
                </a:solidFill>
                <a:latin typeface="微软雅黑" panose="020B0503020204020204" charset="-122"/>
                <a:ea typeface="微软雅黑" panose="020B0503020204020204" charset="-122"/>
              </a:defRPr>
            </a:lvl1pPr>
          </a:lstStyle>
          <a:p>
            <a:r>
              <a:rPr lang="zh-CN" altLang="en-US" dirty="0">
                <a:solidFill>
                  <a:schemeClr val="accent5"/>
                </a:solidFill>
                <a:cs typeface="微软雅黑" panose="020B0503020204020204" charset="-122"/>
                <a:sym typeface="Arial" panose="020B0604020202020204" pitchFamily="34" charset="0"/>
              </a:rPr>
              <a:t>品牌内容力</a:t>
            </a:r>
            <a:r>
              <a:rPr lang="en-US" altLang="zh-CN" dirty="0">
                <a:solidFill>
                  <a:schemeClr val="accent5"/>
                </a:solidFill>
                <a:cs typeface="微软雅黑" panose="020B0503020204020204" charset="-122"/>
                <a:sym typeface="Arial" panose="020B0604020202020204" pitchFamily="34" charset="0"/>
              </a:rPr>
              <a:t>/</a:t>
            </a:r>
            <a:r>
              <a:rPr lang="zh-CN" altLang="en-US" dirty="0">
                <a:solidFill>
                  <a:schemeClr val="accent5"/>
                </a:solidFill>
                <a:cs typeface="微软雅黑" panose="020B0503020204020204" charset="-122"/>
                <a:sym typeface="Arial" panose="020B0604020202020204" pitchFamily="34" charset="0"/>
              </a:rPr>
              <a:t>影响力</a:t>
            </a:r>
            <a:endParaRPr lang="zh-CN" altLang="en-US" dirty="0">
              <a:solidFill>
                <a:schemeClr val="accent5"/>
              </a:solidFill>
              <a:cs typeface="微软雅黑" panose="020B0503020204020204" charset="-122"/>
              <a:sym typeface="Arial" panose="020B0604020202020204" pitchFamily="34" charset="0"/>
            </a:endParaRPr>
          </a:p>
        </p:txBody>
      </p:sp>
      <p:sp>
        <p:nvSpPr>
          <p:cNvPr id="52" name="文本框 51"/>
          <p:cNvSpPr txBox="1"/>
          <p:nvPr/>
        </p:nvSpPr>
        <p:spPr>
          <a:xfrm>
            <a:off x="3608705" y="5917565"/>
            <a:ext cx="1998980" cy="414020"/>
          </a:xfrm>
          <a:prstGeom prst="rect">
            <a:avLst/>
          </a:prstGeom>
          <a:noFill/>
        </p:spPr>
        <p:txBody>
          <a:bodyPr wrap="square" rtlCol="0">
            <a:spAutoFit/>
          </a:bodyPr>
          <a:lstStyle>
            <a:defPPr>
              <a:defRPr lang="zh-CN"/>
            </a:defPPr>
            <a:lvl1pPr algn="ctr">
              <a:lnSpc>
                <a:spcPct val="150000"/>
              </a:lnSpc>
              <a:defRPr sz="1400" b="1" spc="150">
                <a:solidFill>
                  <a:srgbClr val="FF5337"/>
                </a:solidFill>
                <a:latin typeface="微软雅黑" panose="020B0503020204020204" charset="-122"/>
                <a:ea typeface="微软雅黑" panose="020B0503020204020204" charset="-122"/>
              </a:defRPr>
            </a:lvl1pPr>
          </a:lstStyle>
          <a:p>
            <a:r>
              <a:rPr lang="zh-CN" altLang="en-US" dirty="0">
                <a:solidFill>
                  <a:schemeClr val="accent5">
                    <a:lumMod val="60000"/>
                    <a:lumOff val="40000"/>
                  </a:schemeClr>
                </a:solidFill>
                <a:cs typeface="微软雅黑" panose="020B0503020204020204" charset="-122"/>
                <a:sym typeface="Arial" panose="020B0604020202020204" pitchFamily="34" charset="0"/>
              </a:rPr>
              <a:t>达人带货</a:t>
            </a:r>
            <a:r>
              <a:rPr lang="en-US" altLang="zh-CN" dirty="0">
                <a:solidFill>
                  <a:schemeClr val="accent5">
                    <a:lumMod val="60000"/>
                    <a:lumOff val="40000"/>
                  </a:schemeClr>
                </a:solidFill>
                <a:cs typeface="微软雅黑" panose="020B0503020204020204" charset="-122"/>
                <a:sym typeface="Arial" panose="020B0604020202020204" pitchFamily="34" charset="0"/>
              </a:rPr>
              <a:t>/</a:t>
            </a:r>
            <a:r>
              <a:rPr lang="zh-CN" altLang="en-US" dirty="0">
                <a:solidFill>
                  <a:schemeClr val="accent5">
                    <a:lumMod val="60000"/>
                    <a:lumOff val="40000"/>
                  </a:schemeClr>
                </a:solidFill>
                <a:cs typeface="微软雅黑" panose="020B0503020204020204" charset="-122"/>
                <a:sym typeface="Arial" panose="020B0604020202020204" pitchFamily="34" charset="0"/>
              </a:rPr>
              <a:t>直播</a:t>
            </a:r>
            <a:endParaRPr lang="zh-CN" altLang="en-US" dirty="0">
              <a:solidFill>
                <a:schemeClr val="accent5">
                  <a:lumMod val="60000"/>
                  <a:lumOff val="40000"/>
                </a:schemeClr>
              </a:solidFill>
              <a:cs typeface="微软雅黑" panose="020B0503020204020204" charset="-122"/>
              <a:sym typeface="Arial" panose="020B0604020202020204" pitchFamily="34" charset="0"/>
            </a:endParaRPr>
          </a:p>
        </p:txBody>
      </p:sp>
      <p:cxnSp>
        <p:nvCxnSpPr>
          <p:cNvPr id="53" name="直接箭头连接符 52"/>
          <p:cNvCxnSpPr/>
          <p:nvPr/>
        </p:nvCxnSpPr>
        <p:spPr>
          <a:xfrm>
            <a:off x="4599305" y="3656330"/>
            <a:ext cx="0" cy="1017905"/>
          </a:xfrm>
          <a:prstGeom prst="straightConnector1">
            <a:avLst/>
          </a:prstGeom>
          <a:ln w="38100">
            <a:gradFill>
              <a:gsLst>
                <a:gs pos="0">
                  <a:schemeClr val="accent1"/>
                </a:gs>
                <a:gs pos="100000">
                  <a:schemeClr val="accent1">
                    <a:lumMod val="60000"/>
                    <a:lumOff val="40000"/>
                  </a:schemeClr>
                </a:gs>
              </a:gsLst>
              <a:lin ang="5400000" scaled="1"/>
            </a:gradFill>
            <a:tailEnd type="stealth" w="lg" len="lg"/>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4599305" y="5010785"/>
            <a:ext cx="0" cy="1017905"/>
          </a:xfrm>
          <a:prstGeom prst="straightConnector1">
            <a:avLst/>
          </a:prstGeom>
          <a:ln w="38100">
            <a:gradFill>
              <a:gsLst>
                <a:gs pos="0">
                  <a:schemeClr val="accent5"/>
                </a:gs>
                <a:gs pos="100000">
                  <a:schemeClr val="accent5">
                    <a:lumMod val="60000"/>
                    <a:lumOff val="40000"/>
                  </a:schemeClr>
                </a:gs>
              </a:gsLst>
              <a:lin ang="5400000" scaled="1"/>
            </a:gradFill>
            <a:tailEnd type="stealth" w="lg" len="lg"/>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flipH="1">
            <a:off x="5590540" y="4846320"/>
            <a:ext cx="2145030" cy="0"/>
          </a:xfrm>
          <a:prstGeom prst="straightConnector1">
            <a:avLst/>
          </a:prstGeom>
          <a:ln w="38100">
            <a:gradFill flip="none" rotWithShape="1">
              <a:gsLst>
                <a:gs pos="0">
                  <a:schemeClr val="accent5">
                    <a:lumMod val="60000"/>
                    <a:lumOff val="40000"/>
                  </a:schemeClr>
                </a:gs>
                <a:gs pos="100000">
                  <a:schemeClr val="accent5"/>
                </a:gs>
              </a:gsLst>
              <a:lin ang="0" scaled="1"/>
              <a:tileRect/>
            </a:gradFill>
            <a:tailEnd type="none" w="lg"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7729220" y="3656330"/>
            <a:ext cx="0" cy="1190625"/>
          </a:xfrm>
          <a:prstGeom prst="straightConnector1">
            <a:avLst/>
          </a:prstGeom>
          <a:ln w="38100">
            <a:gradFill>
              <a:gsLst>
                <a:gs pos="100000">
                  <a:schemeClr val="accent5"/>
                </a:gs>
                <a:gs pos="0">
                  <a:schemeClr val="accent5">
                    <a:lumMod val="60000"/>
                    <a:lumOff val="40000"/>
                  </a:schemeClr>
                </a:gs>
              </a:gsLst>
              <a:lin ang="5400000" scaled="1"/>
            </a:gradFill>
            <a:tailEnd type="stealth" w="lg" len="lg"/>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H="1">
            <a:off x="5297170" y="6155055"/>
            <a:ext cx="5447665" cy="0"/>
          </a:xfrm>
          <a:prstGeom prst="straightConnector1">
            <a:avLst/>
          </a:prstGeom>
          <a:ln w="38100">
            <a:gradFill flip="none" rotWithShape="1">
              <a:gsLst>
                <a:gs pos="0">
                  <a:schemeClr val="accent5">
                    <a:lumMod val="60000"/>
                    <a:lumOff val="40000"/>
                  </a:schemeClr>
                </a:gs>
                <a:gs pos="100000">
                  <a:schemeClr val="accent5"/>
                </a:gs>
              </a:gsLst>
              <a:lin ang="0" scaled="1"/>
              <a:tileRect/>
            </a:gradFill>
            <a:tailEnd type="none" w="lg" len="lg"/>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flipV="1">
            <a:off x="10732135" y="3656330"/>
            <a:ext cx="0" cy="2498725"/>
          </a:xfrm>
          <a:prstGeom prst="straightConnector1">
            <a:avLst/>
          </a:prstGeom>
          <a:ln w="38100">
            <a:gradFill>
              <a:gsLst>
                <a:gs pos="100000">
                  <a:schemeClr val="accent5"/>
                </a:gs>
                <a:gs pos="0">
                  <a:schemeClr val="accent5">
                    <a:lumMod val="60000"/>
                    <a:lumOff val="40000"/>
                  </a:schemeClr>
                </a:gs>
              </a:gsLst>
              <a:lin ang="5400000" scaled="1"/>
            </a:gradFill>
            <a:tailEnd type="stealth" w="lg" len="lg"/>
          </a:ln>
        </p:spPr>
        <p:style>
          <a:lnRef idx="1">
            <a:schemeClr val="accent1"/>
          </a:lnRef>
          <a:fillRef idx="0">
            <a:schemeClr val="accent1"/>
          </a:fillRef>
          <a:effectRef idx="0">
            <a:schemeClr val="accent1"/>
          </a:effectRef>
          <a:fontRef idx="minor">
            <a:schemeClr val="tx1"/>
          </a:fontRef>
        </p:style>
      </p:cxnSp>
      <p:sp>
        <p:nvSpPr>
          <p:cNvPr id="66" name="矩形: 圆角 34"/>
          <p:cNvSpPr/>
          <p:nvPr/>
        </p:nvSpPr>
        <p:spPr>
          <a:xfrm>
            <a:off x="491490" y="1746250"/>
            <a:ext cx="1690370" cy="2381250"/>
          </a:xfrm>
          <a:prstGeom prst="roundRect">
            <a:avLst>
              <a:gd name="adj" fmla="val 4360"/>
            </a:avLst>
          </a:prstGeom>
          <a:noFill/>
          <a:ln w="38100">
            <a:solidFill>
              <a:schemeClr val="accent1">
                <a:lumMod val="60000"/>
                <a:lumOff val="40000"/>
              </a:schemeClr>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7" name="矩形: 圆角 35"/>
          <p:cNvSpPr/>
          <p:nvPr/>
        </p:nvSpPr>
        <p:spPr>
          <a:xfrm>
            <a:off x="668020" y="2327275"/>
            <a:ext cx="1340485" cy="320675"/>
          </a:xfrm>
          <a:prstGeom prst="roundRect">
            <a:avLst>
              <a:gd name="adj" fmla="val 7866"/>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8" name="文本框 67"/>
          <p:cNvSpPr txBox="1"/>
          <p:nvPr/>
        </p:nvSpPr>
        <p:spPr>
          <a:xfrm>
            <a:off x="760095" y="1864995"/>
            <a:ext cx="1229995" cy="368300"/>
          </a:xfrm>
          <a:prstGeom prst="rect">
            <a:avLst/>
          </a:prstGeom>
          <a:noFill/>
        </p:spPr>
        <p:txBody>
          <a:bodyPr wrap="square" rtlCol="0">
            <a:spAutoFit/>
          </a:bodyPr>
          <a:lstStyle/>
          <a:p>
            <a:pPr algn="ctr"/>
            <a:r>
              <a:rPr lang="zh-CN" altLang="en-US" b="1" spc="150"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rPr>
              <a:t>流量获取</a:t>
            </a:r>
            <a:endParaRPr lang="zh-CN" altLang="en-US" b="1" spc="150"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9" name="矩形: 圆角 37"/>
          <p:cNvSpPr/>
          <p:nvPr/>
        </p:nvSpPr>
        <p:spPr>
          <a:xfrm>
            <a:off x="668020" y="2752090"/>
            <a:ext cx="1340485" cy="320675"/>
          </a:xfrm>
          <a:prstGeom prst="roundRect">
            <a:avLst>
              <a:gd name="adj" fmla="val 7866"/>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0" name="矩形: 圆角 38"/>
          <p:cNvSpPr/>
          <p:nvPr/>
        </p:nvSpPr>
        <p:spPr>
          <a:xfrm>
            <a:off x="668020" y="3176270"/>
            <a:ext cx="1340485" cy="320675"/>
          </a:xfrm>
          <a:prstGeom prst="roundRect">
            <a:avLst>
              <a:gd name="adj" fmla="val 7866"/>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1" name="矩形: 圆角 39"/>
          <p:cNvSpPr/>
          <p:nvPr/>
        </p:nvSpPr>
        <p:spPr>
          <a:xfrm>
            <a:off x="668020" y="3597752"/>
            <a:ext cx="1340485" cy="320675"/>
          </a:xfrm>
          <a:prstGeom prst="roundRect">
            <a:avLst>
              <a:gd name="adj" fmla="val 7866"/>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76" name="直接箭头连接符 75"/>
          <p:cNvCxnSpPr/>
          <p:nvPr/>
        </p:nvCxnSpPr>
        <p:spPr>
          <a:xfrm flipH="1">
            <a:off x="1335405" y="4846320"/>
            <a:ext cx="2376805" cy="0"/>
          </a:xfrm>
          <a:prstGeom prst="straightConnector1">
            <a:avLst/>
          </a:prstGeom>
          <a:ln w="38100">
            <a:gradFill flip="none" rotWithShape="1">
              <a:gsLst>
                <a:gs pos="0">
                  <a:schemeClr val="accent1"/>
                </a:gs>
                <a:gs pos="100000">
                  <a:schemeClr val="accent1">
                    <a:lumMod val="60000"/>
                    <a:lumOff val="40000"/>
                  </a:schemeClr>
                </a:gs>
              </a:gsLst>
              <a:lin ang="10800000" scaled="1"/>
              <a:tileRect/>
            </a:gradFill>
            <a:tailEnd type="none" w="lg" len="lg"/>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flipV="1">
            <a:off x="1352550" y="4127500"/>
            <a:ext cx="0" cy="718820"/>
          </a:xfrm>
          <a:prstGeom prst="straightConnector1">
            <a:avLst/>
          </a:prstGeom>
          <a:ln w="38100">
            <a:gradFill>
              <a:gsLst>
                <a:gs pos="0">
                  <a:schemeClr val="accent1"/>
                </a:gs>
                <a:gs pos="100000">
                  <a:schemeClr val="accent1">
                    <a:lumMod val="60000"/>
                    <a:lumOff val="40000"/>
                  </a:schemeClr>
                </a:gs>
              </a:gsLst>
              <a:lin ang="5400000" scaled="1"/>
            </a:gradFill>
            <a:tailEnd type="stealth" w="lg" len="lg"/>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a:xfrm>
            <a:off x="2230120" y="3238500"/>
            <a:ext cx="1426845" cy="0"/>
          </a:xfrm>
          <a:prstGeom prst="straightConnector1">
            <a:avLst/>
          </a:prstGeom>
          <a:ln w="38100">
            <a:gradFill flip="none" rotWithShape="1">
              <a:gsLst>
                <a:gs pos="0">
                  <a:schemeClr val="accent1"/>
                </a:gs>
                <a:gs pos="100000">
                  <a:schemeClr val="accent1">
                    <a:lumMod val="60000"/>
                    <a:lumOff val="40000"/>
                  </a:schemeClr>
                </a:gs>
              </a:gsLst>
              <a:lin ang="10800000" scaled="1"/>
              <a:tileRect/>
            </a:gra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flipH="1">
            <a:off x="5622925" y="3238500"/>
            <a:ext cx="1119505" cy="0"/>
          </a:xfrm>
          <a:prstGeom prst="straightConnector1">
            <a:avLst/>
          </a:prstGeom>
          <a:ln w="38100">
            <a:gradFill flip="none" rotWithShape="1">
              <a:gsLst>
                <a:gs pos="0">
                  <a:schemeClr val="accent1"/>
                </a:gs>
                <a:gs pos="100000">
                  <a:schemeClr val="accent1">
                    <a:lumMod val="60000"/>
                    <a:lumOff val="40000"/>
                  </a:schemeClr>
                </a:gs>
              </a:gsLst>
              <a:lin ang="10800000" scaled="1"/>
              <a:tileRect/>
            </a:gra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flipH="1">
            <a:off x="8660765" y="3238500"/>
            <a:ext cx="1119505" cy="0"/>
          </a:xfrm>
          <a:prstGeom prst="straightConnector1">
            <a:avLst/>
          </a:prstGeom>
          <a:ln w="38100">
            <a:gradFill flip="none" rotWithShape="1">
              <a:gsLst>
                <a:gs pos="0">
                  <a:schemeClr val="accent1"/>
                </a:gs>
                <a:gs pos="100000">
                  <a:schemeClr val="accent1">
                    <a:lumMod val="60000"/>
                    <a:lumOff val="40000"/>
                  </a:schemeClr>
                </a:gs>
              </a:gsLst>
              <a:lin ang="10800000" scaled="1"/>
              <a:tileRect/>
            </a:gra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a:xfrm>
            <a:off x="2519998" y="3225800"/>
            <a:ext cx="1127125" cy="645160"/>
          </a:xfrm>
          <a:prstGeom prst="rect">
            <a:avLst/>
          </a:prstGeom>
          <a:noFill/>
        </p:spPr>
        <p:txBody>
          <a:bodyPr wrap="square" rtlCol="0">
            <a:spAutoFit/>
          </a:bodyPr>
          <a:lstStyle/>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帐号标签</a:t>
            </a:r>
            <a:endParaRPr lang="en-US" altLang="zh-CN"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权重提升</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2" name="文本框 81"/>
          <p:cNvSpPr txBox="1"/>
          <p:nvPr/>
        </p:nvSpPr>
        <p:spPr>
          <a:xfrm>
            <a:off x="2519998" y="2850515"/>
            <a:ext cx="1127125" cy="368300"/>
          </a:xfrm>
          <a:prstGeom prst="rect">
            <a:avLst/>
          </a:prstGeom>
          <a:noFill/>
        </p:spPr>
        <p:txBody>
          <a:bodyPr wrap="square" rtlCol="0">
            <a:spAutoFit/>
          </a:bodyPr>
          <a:lstStyle/>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获取公域</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3" name="文本框 82"/>
          <p:cNvSpPr txBox="1"/>
          <p:nvPr/>
        </p:nvSpPr>
        <p:spPr>
          <a:xfrm>
            <a:off x="5744210" y="3235325"/>
            <a:ext cx="1127125" cy="368300"/>
          </a:xfrm>
          <a:prstGeom prst="rect">
            <a:avLst/>
          </a:prstGeom>
          <a:noFill/>
        </p:spPr>
        <p:txBody>
          <a:bodyPr wrap="square" rtlCol="0">
            <a:spAutoFit/>
          </a:bodyPr>
          <a:lstStyle/>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订单转化</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4" name="文本框 83"/>
          <p:cNvSpPr txBox="1"/>
          <p:nvPr/>
        </p:nvSpPr>
        <p:spPr>
          <a:xfrm>
            <a:off x="1630680" y="4443730"/>
            <a:ext cx="1802130" cy="368300"/>
          </a:xfrm>
          <a:prstGeom prst="rect">
            <a:avLst/>
          </a:prstGeom>
          <a:noFill/>
        </p:spPr>
        <p:txBody>
          <a:bodyPr wrap="square" rtlCol="0">
            <a:spAutoFit/>
          </a:bodyPr>
          <a:lstStyle/>
          <a:p>
            <a:pPr algn="ct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内容驱动，流量升级</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5" name="文本框 84"/>
          <p:cNvSpPr txBox="1"/>
          <p:nvPr/>
        </p:nvSpPr>
        <p:spPr>
          <a:xfrm>
            <a:off x="1630680" y="4848225"/>
            <a:ext cx="1802130" cy="368300"/>
          </a:xfrm>
          <a:prstGeom prst="rect">
            <a:avLst/>
          </a:prstGeom>
          <a:noFill/>
        </p:spPr>
        <p:txBody>
          <a:bodyPr wrap="square" rtlCol="0">
            <a:spAutoFit/>
          </a:bodyPr>
          <a:lstStyle/>
          <a:p>
            <a:pPr algn="ct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同城</a:t>
            </a:r>
            <a:r>
              <a:rPr lang="en-US" altLang="zh-CN"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周边人群爆光</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6" name="文本框 85"/>
          <p:cNvSpPr txBox="1"/>
          <p:nvPr/>
        </p:nvSpPr>
        <p:spPr>
          <a:xfrm>
            <a:off x="4646930" y="5193030"/>
            <a:ext cx="1127125" cy="645160"/>
          </a:xfrm>
          <a:prstGeom prst="rect">
            <a:avLst/>
          </a:prstGeom>
          <a:noFill/>
        </p:spPr>
        <p:txBody>
          <a:bodyPr wrap="square" rtlCol="0">
            <a:spAutoFit/>
          </a:bodyPr>
          <a:lstStyle/>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持续</a:t>
            </a:r>
            <a:endParaRPr lang="en-US" altLang="zh-CN"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加热</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7" name="文本框 86"/>
          <p:cNvSpPr txBox="1"/>
          <p:nvPr/>
        </p:nvSpPr>
        <p:spPr>
          <a:xfrm>
            <a:off x="6175375" y="4868545"/>
            <a:ext cx="1127125" cy="368300"/>
          </a:xfrm>
          <a:prstGeom prst="rect">
            <a:avLst/>
          </a:prstGeom>
          <a:noFill/>
        </p:spPr>
        <p:txBody>
          <a:bodyPr wrap="square" rtlCol="0">
            <a:spAutoFit/>
          </a:bodyPr>
          <a:lstStyle/>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用户复购</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8" name="文本框 87"/>
          <p:cNvSpPr txBox="1"/>
          <p:nvPr/>
        </p:nvSpPr>
        <p:spPr>
          <a:xfrm>
            <a:off x="7571740" y="5781040"/>
            <a:ext cx="1127125" cy="368300"/>
          </a:xfrm>
          <a:prstGeom prst="rect">
            <a:avLst/>
          </a:prstGeom>
          <a:noFill/>
        </p:spPr>
        <p:txBody>
          <a:bodyPr wrap="square" rtlCol="0">
            <a:spAutoFit/>
          </a:bodyPr>
          <a:lstStyle/>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订单转化</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9" name="文本框 88"/>
          <p:cNvSpPr txBox="1"/>
          <p:nvPr/>
        </p:nvSpPr>
        <p:spPr>
          <a:xfrm>
            <a:off x="8839200" y="3235325"/>
            <a:ext cx="1127125" cy="368300"/>
          </a:xfrm>
          <a:prstGeom prst="rect">
            <a:avLst/>
          </a:prstGeom>
          <a:noFill/>
        </p:spPr>
        <p:txBody>
          <a:bodyPr wrap="square" rtlCol="0">
            <a:spAutoFit/>
          </a:bodyPr>
          <a:lstStyle/>
          <a:p>
            <a:pPr>
              <a:lnSpc>
                <a:spcPct val="150000"/>
              </a:lnSpc>
            </a:pPr>
            <a:r>
              <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粉丝复购</a:t>
            </a:r>
            <a:endParaRPr lang="zh-CN" altLang="en-US" sz="1200" spc="15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91" name="文本框 90"/>
          <p:cNvSpPr txBox="1"/>
          <p:nvPr/>
        </p:nvSpPr>
        <p:spPr>
          <a:xfrm>
            <a:off x="851535" y="2349818"/>
            <a:ext cx="97345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自然流量</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nvSpPr>
        <p:spPr>
          <a:xfrm>
            <a:off x="851535" y="2764473"/>
            <a:ext cx="97345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视频流量</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3" name="文本框 92"/>
          <p:cNvSpPr txBox="1"/>
          <p:nvPr/>
        </p:nvSpPr>
        <p:spPr>
          <a:xfrm>
            <a:off x="851535" y="3198813"/>
            <a:ext cx="97345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同城流量</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4" name="文本框 93"/>
          <p:cNvSpPr txBox="1"/>
          <p:nvPr/>
        </p:nvSpPr>
        <p:spPr>
          <a:xfrm>
            <a:off x="851535" y="3620294"/>
            <a:ext cx="97345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账号关注</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95" name="直接箭头连接符 94"/>
          <p:cNvCxnSpPr/>
          <p:nvPr/>
        </p:nvCxnSpPr>
        <p:spPr>
          <a:xfrm>
            <a:off x="4643755" y="1738630"/>
            <a:ext cx="0" cy="1057910"/>
          </a:xfrm>
          <a:prstGeom prst="straightConnector1">
            <a:avLst/>
          </a:prstGeom>
          <a:ln w="38100">
            <a:gradFill>
              <a:gsLst>
                <a:gs pos="100000">
                  <a:schemeClr val="accent1"/>
                </a:gs>
                <a:gs pos="0">
                  <a:schemeClr val="accent1">
                    <a:lumMod val="60000"/>
                    <a:lumOff val="40000"/>
                  </a:schemeClr>
                </a:gs>
              </a:gsLst>
              <a:lin ang="5400000" scaled="1"/>
            </a:gra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运营流量转化策略流程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6" name="图片 5"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41" name="圆角矩形 140"/>
          <p:cNvSpPr/>
          <p:nvPr/>
        </p:nvSpPr>
        <p:spPr>
          <a:xfrm>
            <a:off x="394487" y="2937086"/>
            <a:ext cx="11369125" cy="2014513"/>
          </a:xfrm>
          <a:prstGeom prst="roundRect">
            <a:avLst>
              <a:gd name="adj" fmla="val 0"/>
            </a:avLst>
          </a:prstGeom>
          <a:solidFill>
            <a:schemeClr val="accent5">
              <a:lumMod val="20000"/>
              <a:lumOff val="80000"/>
              <a:alpha val="3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57200"/>
            <a:r>
              <a:rPr kumimoji="1" lang="en-US" altLang="zh-CN" dirty="0">
                <a:solidFill>
                  <a:srgbClr val="FFFFFF"/>
                </a:solidFill>
                <a:latin typeface="微软雅黑" panose="020B0503020204020204" charset="-122"/>
                <a:ea typeface="微软雅黑" panose="020B0503020204020204" charset="-122"/>
                <a:cs typeface="微软雅黑" panose="020B0503020204020204" charset="-122"/>
              </a:rPr>
              <a:t> </a:t>
            </a:r>
            <a:endParaRPr kumimoji="1" lang="en-US" altLang="zh-CN"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8338804" y="1712092"/>
            <a:ext cx="492443" cy="276999"/>
          </a:xfrm>
          <a:prstGeom prst="rect">
            <a:avLst/>
          </a:prstGeom>
          <a:noFill/>
        </p:spPr>
        <p:txBody>
          <a:bodyPr wrap="none" rtlCol="0" anchor="ctr" anchorCtr="0">
            <a:spAutoFit/>
          </a:bodyPr>
          <a:lstStyle/>
          <a:p>
            <a:pPr algn="ctr" defTabSz="457200"/>
            <a:r>
              <a:rPr kumimoji="1" lang="zh-CN" altLang="en-US" sz="1200" dirty="0">
                <a:latin typeface="微软雅黑" panose="020B0503020204020204" charset="-122"/>
                <a:ea typeface="微软雅黑" panose="020B0503020204020204" charset="-122"/>
                <a:cs typeface="微软雅黑" panose="020B0503020204020204" charset="-122"/>
              </a:rPr>
              <a:t>通过</a:t>
            </a:r>
            <a:endParaRPr kumimoji="1" lang="zh-CN" altLang="en-US" sz="1200" dirty="0">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nvSpPr>
        <p:spPr>
          <a:xfrm>
            <a:off x="8732356" y="3672080"/>
            <a:ext cx="800219" cy="276999"/>
          </a:xfrm>
          <a:prstGeom prst="rect">
            <a:avLst/>
          </a:prstGeom>
          <a:noFill/>
        </p:spPr>
        <p:txBody>
          <a:bodyPr wrap="none" rtlCol="0" anchor="ctr" anchorCtr="0">
            <a:spAutoFit/>
          </a:bodyPr>
          <a:lstStyle/>
          <a:p>
            <a:pPr algn="ctr" defTabSz="457200"/>
            <a:r>
              <a:rPr kumimoji="1" lang="zh-CN" altLang="en-US" sz="1200" dirty="0">
                <a:latin typeface="微软雅黑" panose="020B0503020204020204" charset="-122"/>
                <a:ea typeface="微软雅黑" panose="020B0503020204020204" charset="-122"/>
                <a:cs typeface="微软雅黑" panose="020B0503020204020204" charset="-122"/>
              </a:rPr>
              <a:t>物料申请</a:t>
            </a:r>
            <a:endParaRPr kumimoji="1" lang="zh-CN" altLang="en-US" sz="1200" dirty="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10167786" y="2910709"/>
            <a:ext cx="492443" cy="276999"/>
          </a:xfrm>
          <a:prstGeom prst="rect">
            <a:avLst/>
          </a:prstGeom>
          <a:noFill/>
        </p:spPr>
        <p:txBody>
          <a:bodyPr wrap="none" rtlCol="0" anchor="ctr" anchorCtr="0">
            <a:spAutoFit/>
          </a:bodyPr>
          <a:lstStyle/>
          <a:p>
            <a:pPr algn="ctr" defTabSz="457200"/>
            <a:r>
              <a:rPr kumimoji="1" lang="zh-CN" altLang="en-US" sz="1200" dirty="0">
                <a:latin typeface="微软雅黑" panose="020B0503020204020204" charset="-122"/>
                <a:ea typeface="微软雅黑" panose="020B0503020204020204" charset="-122"/>
                <a:cs typeface="微软雅黑" panose="020B0503020204020204" charset="-122"/>
              </a:rPr>
              <a:t>通知</a:t>
            </a:r>
            <a:endParaRPr kumimoji="1" lang="zh-CN" altLang="en-US" sz="1200" dirty="0">
              <a:latin typeface="微软雅黑" panose="020B0503020204020204" charset="-122"/>
              <a:ea typeface="微软雅黑" panose="020B0503020204020204" charset="-122"/>
              <a:cs typeface="微软雅黑" panose="020B0503020204020204" charset="-122"/>
            </a:endParaRPr>
          </a:p>
        </p:txBody>
      </p:sp>
      <p:sp>
        <p:nvSpPr>
          <p:cNvPr id="7" name="剪去单角的矩形 6"/>
          <p:cNvSpPr/>
          <p:nvPr/>
        </p:nvSpPr>
        <p:spPr>
          <a:xfrm>
            <a:off x="489727" y="1888989"/>
            <a:ext cx="1148820" cy="360000"/>
          </a:xfrm>
          <a:prstGeom prst="snip1Rect">
            <a:avLst/>
          </a:prstGeom>
          <a:gradFill flip="none" rotWithShape="1">
            <a:gsLst>
              <a:gs pos="0">
                <a:schemeClr val="accent1">
                  <a:lumMod val="75000"/>
                  <a:lumOff val="25000"/>
                </a:schemeClr>
              </a:gs>
              <a:gs pos="99000">
                <a:schemeClr val="accent1"/>
              </a:gs>
            </a:gsLst>
            <a:lin ang="0" scaled="1"/>
            <a:tileRect/>
          </a:gradFill>
          <a:ln>
            <a:no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tIns="0" bIns="0" rtlCol="0" anchor="ctr" anchorCtr="0"/>
          <a:lstStyle/>
          <a:p>
            <a:pPr algn="ctr" defTabSz="457200"/>
            <a:r>
              <a:rPr kumimoji="1" lang="zh-CN" altLang="en-US" sz="1400" dirty="0">
                <a:latin typeface="微软雅黑" panose="020B0503020204020204" charset="-122"/>
                <a:ea typeface="微软雅黑" panose="020B0503020204020204" charset="-122"/>
                <a:cs typeface="微软雅黑" panose="020B0503020204020204" charset="-122"/>
              </a:rPr>
              <a:t>业务需求</a:t>
            </a:r>
            <a:endParaRPr kumimoji="1" lang="zh-CN" altLang="en-US" sz="1400" dirty="0">
              <a:latin typeface="微软雅黑" panose="020B0503020204020204" charset="-122"/>
              <a:ea typeface="微软雅黑" panose="020B0503020204020204" charset="-122"/>
              <a:cs typeface="微软雅黑" panose="020B0503020204020204" charset="-122"/>
            </a:endParaRPr>
          </a:p>
        </p:txBody>
      </p:sp>
      <p:sp>
        <p:nvSpPr>
          <p:cNvPr id="8" name="剪去单角的矩形 7"/>
          <p:cNvSpPr/>
          <p:nvPr/>
        </p:nvSpPr>
        <p:spPr>
          <a:xfrm>
            <a:off x="2158198" y="1888989"/>
            <a:ext cx="1148820" cy="360000"/>
          </a:xfrm>
          <a:prstGeom prst="snip1Rect">
            <a:avLst/>
          </a:prstGeom>
          <a:gradFill flip="none" rotWithShape="1">
            <a:gsLst>
              <a:gs pos="0">
                <a:schemeClr val="accent1">
                  <a:lumMod val="75000"/>
                  <a:lumOff val="25000"/>
                </a:schemeClr>
              </a:gs>
              <a:gs pos="99000">
                <a:schemeClr val="accent1"/>
              </a:gs>
            </a:gsLst>
            <a:lin ang="0" scaled="1"/>
            <a:tileRect/>
          </a:gradFill>
          <a:ln>
            <a:no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bIns="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业务受理</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9" name="剪去单角的矩形 8"/>
          <p:cNvSpPr/>
          <p:nvPr/>
        </p:nvSpPr>
        <p:spPr>
          <a:xfrm>
            <a:off x="3825862" y="1888989"/>
            <a:ext cx="1148820" cy="360000"/>
          </a:xfrm>
          <a:prstGeom prst="snip1Rect">
            <a:avLst/>
          </a:prstGeom>
          <a:gradFill flip="none" rotWithShape="1">
            <a:gsLst>
              <a:gs pos="0">
                <a:schemeClr val="accent1">
                  <a:lumMod val="75000"/>
                  <a:lumOff val="25000"/>
                </a:schemeClr>
              </a:gs>
              <a:gs pos="99000">
                <a:schemeClr val="accent1"/>
              </a:gs>
            </a:gsLst>
            <a:lin ang="0" scaled="1"/>
            <a:tileRect/>
          </a:gradFill>
          <a:ln>
            <a:no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bIns="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方案设计</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98" name="剪去单角的矩形 97"/>
          <p:cNvSpPr/>
          <p:nvPr/>
        </p:nvSpPr>
        <p:spPr>
          <a:xfrm>
            <a:off x="7218114" y="1879713"/>
            <a:ext cx="1148820" cy="360000"/>
          </a:xfrm>
          <a:prstGeom prst="snip1Rect">
            <a:avLst/>
          </a:prstGeom>
          <a:gradFill flip="none" rotWithShape="1">
            <a:gsLst>
              <a:gs pos="0">
                <a:schemeClr val="accent1">
                  <a:lumMod val="75000"/>
                  <a:lumOff val="25000"/>
                </a:schemeClr>
              </a:gs>
              <a:gs pos="99000">
                <a:schemeClr val="accent1"/>
              </a:gs>
            </a:gsLst>
            <a:lin ang="0" scaled="1"/>
            <a:tileRect/>
          </a:gradFill>
          <a:ln>
            <a:no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bIns="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方案会审</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99" name="剪去单角的矩形 98"/>
          <p:cNvSpPr/>
          <p:nvPr/>
        </p:nvSpPr>
        <p:spPr>
          <a:xfrm>
            <a:off x="8835426" y="1879713"/>
            <a:ext cx="1148400" cy="360000"/>
          </a:xfrm>
          <a:prstGeom prst="snip1Rect">
            <a:avLst/>
          </a:prstGeom>
          <a:gradFill flip="none" rotWithShape="1">
            <a:gsLst>
              <a:gs pos="0">
                <a:schemeClr val="accent1">
                  <a:lumMod val="75000"/>
                  <a:lumOff val="25000"/>
                </a:schemeClr>
              </a:gs>
              <a:gs pos="99000">
                <a:schemeClr val="accent1"/>
              </a:gs>
            </a:gsLst>
            <a:lin ang="0" scaled="1"/>
            <a:tileRect/>
          </a:gradFill>
          <a:ln>
            <a:no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bIns="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签约</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01" name="剪去单角的矩形 100"/>
          <p:cNvSpPr/>
          <p:nvPr/>
        </p:nvSpPr>
        <p:spPr>
          <a:xfrm>
            <a:off x="489727" y="3835843"/>
            <a:ext cx="1148820" cy="360000"/>
          </a:xfrm>
          <a:prstGeom prst="snip1Rect">
            <a:avLst/>
          </a:prstGeom>
          <a:solidFill>
            <a:schemeClr val="accent5">
              <a:lumMod val="60000"/>
              <a:lumOff val="40000"/>
            </a:schemeClr>
          </a:solidFill>
          <a:ln>
            <a:noFill/>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bIns="4572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资管录入</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02" name="剪去单角的矩形 101"/>
          <p:cNvSpPr/>
          <p:nvPr/>
        </p:nvSpPr>
        <p:spPr>
          <a:xfrm>
            <a:off x="3825862" y="3835843"/>
            <a:ext cx="1148820" cy="360000"/>
          </a:xfrm>
          <a:prstGeom prst="snip1Rect">
            <a:avLst/>
          </a:prstGeom>
          <a:solidFill>
            <a:schemeClr val="accent5">
              <a:lumMod val="60000"/>
              <a:lumOff val="40000"/>
            </a:schemeClr>
          </a:solidFill>
          <a:ln>
            <a:noFill/>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bIns="4572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进度上报</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04" name="剪去单角的矩形 103"/>
          <p:cNvSpPr/>
          <p:nvPr/>
        </p:nvSpPr>
        <p:spPr>
          <a:xfrm>
            <a:off x="5521590" y="3556748"/>
            <a:ext cx="1148820" cy="360000"/>
          </a:xfrm>
          <a:prstGeom prst="snip1Rect">
            <a:avLst/>
          </a:prstGeom>
          <a:solidFill>
            <a:schemeClr val="bg1"/>
          </a:solidFill>
          <a:ln w="6350">
            <a:solidFill>
              <a:schemeClr val="accent5"/>
            </a:solidFill>
            <a:prstDash val="solid"/>
          </a:ln>
          <a:effectLst>
            <a:outerShdw blurRad="101600" sx="102000" sy="102000" algn="ctr" rotWithShape="0">
              <a:schemeClr val="accent5">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57200"/>
            <a:r>
              <a:rPr kumimoji="1" lang="zh-CN" altLang="en-US" sz="1400" dirty="0">
                <a:solidFill>
                  <a:schemeClr val="accent5"/>
                </a:solidFill>
                <a:latin typeface="微软雅黑" panose="020B0503020204020204" charset="-122"/>
                <a:ea typeface="微软雅黑" panose="020B0503020204020204" charset="-122"/>
                <a:cs typeface="微软雅黑" panose="020B0503020204020204" charset="-122"/>
              </a:rPr>
              <a:t>进场施工</a:t>
            </a:r>
            <a:endParaRPr kumimoji="1" lang="zh-CN" altLang="en-US" sz="140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05" name="剪去单角的矩形 104"/>
          <p:cNvSpPr/>
          <p:nvPr/>
        </p:nvSpPr>
        <p:spPr>
          <a:xfrm>
            <a:off x="5521590" y="4241794"/>
            <a:ext cx="1148820" cy="360000"/>
          </a:xfrm>
          <a:prstGeom prst="snip1Rect">
            <a:avLst/>
          </a:prstGeom>
          <a:solidFill>
            <a:schemeClr val="bg1"/>
          </a:solidFill>
          <a:ln w="6350">
            <a:solidFill>
              <a:schemeClr val="accent5"/>
            </a:solidFill>
            <a:prstDash val="solid"/>
          </a:ln>
          <a:effectLst>
            <a:outerShdw blurRad="101600" sx="102000" sy="102000" algn="ctr" rotWithShape="0">
              <a:schemeClr val="accent5">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zh-CN" altLang="en-US" sz="1400" dirty="0">
                <a:solidFill>
                  <a:schemeClr val="accent5"/>
                </a:solidFill>
                <a:latin typeface="微软雅黑" panose="020B0503020204020204" charset="-122"/>
                <a:ea typeface="微软雅黑" panose="020B0503020204020204" charset="-122"/>
                <a:cs typeface="微软雅黑" panose="020B0503020204020204" charset="-122"/>
                <a:sym typeface="+mn-ea"/>
              </a:rPr>
              <a:t>物料领取</a:t>
            </a:r>
            <a:endParaRPr kumimoji="1" lang="zh-CN" altLang="en-US" sz="1400"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15" name="剪去单角的矩形 114"/>
          <p:cNvSpPr/>
          <p:nvPr/>
        </p:nvSpPr>
        <p:spPr>
          <a:xfrm>
            <a:off x="2158198" y="3835843"/>
            <a:ext cx="1148820" cy="360000"/>
          </a:xfrm>
          <a:prstGeom prst="snip1Rect">
            <a:avLst/>
          </a:prstGeom>
          <a:solidFill>
            <a:schemeClr val="accent5"/>
          </a:solidFill>
          <a:ln>
            <a:noFill/>
          </a:ln>
          <a:effectLst>
            <a:outerShdw blurRad="50800" dist="38100" dir="2700000" algn="tl"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0" rIns="91440" bIns="4572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资料上报</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16" name="剪去单角的矩形 115"/>
          <p:cNvSpPr/>
          <p:nvPr/>
        </p:nvSpPr>
        <p:spPr>
          <a:xfrm>
            <a:off x="489727" y="5817337"/>
            <a:ext cx="1148820" cy="360000"/>
          </a:xfrm>
          <a:prstGeom prst="snip1Rect">
            <a:avLst/>
          </a:prstGeom>
          <a:solidFill>
            <a:schemeClr val="accent1">
              <a:lumMod val="60000"/>
              <a:lumOff val="40000"/>
            </a:schemeClr>
          </a:solidFill>
          <a:ln>
            <a:no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tIns="0" rtlCol="0" anchor="ctr" anchorCtr="0"/>
          <a:lstStyle/>
          <a:p>
            <a:pPr algn="ctr" defTabSz="457200"/>
            <a:r>
              <a:rPr kumimoji="1" lang="zh-CN" altLang="en-US" sz="1400" dirty="0">
                <a:latin typeface="微软雅黑" panose="020B0503020204020204" charset="-122"/>
                <a:ea typeface="微软雅黑" panose="020B0503020204020204" charset="-122"/>
                <a:cs typeface="微软雅黑" panose="020B0503020204020204" charset="-122"/>
              </a:rPr>
              <a:t>验证交维</a:t>
            </a:r>
            <a:endParaRPr kumimoji="1" lang="zh-CN" altLang="en-US" sz="1400" dirty="0">
              <a:latin typeface="微软雅黑" panose="020B0503020204020204" charset="-122"/>
              <a:ea typeface="微软雅黑" panose="020B0503020204020204" charset="-122"/>
              <a:cs typeface="微软雅黑" panose="020B0503020204020204" charset="-122"/>
            </a:endParaRPr>
          </a:p>
        </p:txBody>
      </p:sp>
      <p:sp>
        <p:nvSpPr>
          <p:cNvPr id="117" name="剪去单角的矩形 116"/>
          <p:cNvSpPr/>
          <p:nvPr/>
        </p:nvSpPr>
        <p:spPr>
          <a:xfrm>
            <a:off x="9867260" y="3842203"/>
            <a:ext cx="1148820" cy="360000"/>
          </a:xfrm>
          <a:prstGeom prst="snip1Rect">
            <a:avLst/>
          </a:prstGeom>
          <a:solidFill>
            <a:schemeClr val="accent5">
              <a:lumMod val="60000"/>
              <a:lumOff val="40000"/>
            </a:schemeClr>
          </a:solidFill>
          <a:ln>
            <a:noFill/>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0" rIns="91440" bIns="4572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派工</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18" name="剪去单角的矩形 117"/>
          <p:cNvSpPr/>
          <p:nvPr/>
        </p:nvSpPr>
        <p:spPr>
          <a:xfrm>
            <a:off x="7218114" y="3842203"/>
            <a:ext cx="1148820" cy="360000"/>
          </a:xfrm>
          <a:prstGeom prst="snip1Rect">
            <a:avLst/>
          </a:prstGeom>
          <a:solidFill>
            <a:schemeClr val="accent5"/>
          </a:solidFill>
          <a:ln>
            <a:noFill/>
          </a:ln>
          <a:effectLst>
            <a:outerShdw blurRad="50800" dist="38100" dir="2700000" algn="tl"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0" rIns="91440" bIns="4572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出库配发</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14" name="文本框 113"/>
          <p:cNvSpPr txBox="1"/>
          <p:nvPr/>
        </p:nvSpPr>
        <p:spPr>
          <a:xfrm>
            <a:off x="560137" y="1456043"/>
            <a:ext cx="1008000" cy="306467"/>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客户经理</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9" name="剪去单角的矩形 118"/>
          <p:cNvSpPr/>
          <p:nvPr/>
        </p:nvSpPr>
        <p:spPr>
          <a:xfrm>
            <a:off x="5521590" y="1396971"/>
            <a:ext cx="1148820" cy="360000"/>
          </a:xfrm>
          <a:prstGeom prst="snip1Rect">
            <a:avLst/>
          </a:prstGeom>
          <a:solidFill>
            <a:schemeClr val="bg1"/>
          </a:solidFill>
          <a:ln w="6350">
            <a:solidFill>
              <a:schemeClr val="accent1"/>
            </a:solidFill>
            <a:prstDash val="solid"/>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57200"/>
            <a:r>
              <a:rPr kumimoji="1" lang="zh-CN" altLang="en-US" sz="1400" dirty="0">
                <a:solidFill>
                  <a:schemeClr val="accent1"/>
                </a:solidFill>
                <a:latin typeface="微软雅黑" panose="020B0503020204020204" charset="-122"/>
                <a:ea typeface="微软雅黑" panose="020B0503020204020204" charset="-122"/>
                <a:cs typeface="微软雅黑" panose="020B0503020204020204" charset="-122"/>
              </a:rPr>
              <a:t>投资审核</a:t>
            </a:r>
            <a:endParaRPr kumimoji="1" lang="zh-CN" altLang="en-US" sz="14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0" name="剪去单角的矩形 119"/>
          <p:cNvSpPr/>
          <p:nvPr/>
        </p:nvSpPr>
        <p:spPr>
          <a:xfrm>
            <a:off x="5521590" y="2398815"/>
            <a:ext cx="1148820" cy="360000"/>
          </a:xfrm>
          <a:prstGeom prst="snip1Rect">
            <a:avLst/>
          </a:prstGeom>
          <a:solidFill>
            <a:schemeClr val="bg1"/>
          </a:solidFill>
          <a:ln w="6350">
            <a:solidFill>
              <a:schemeClr val="accent1"/>
            </a:solidFill>
            <a:prstDash val="solid"/>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zh-CN" altLang="en-US" sz="1400" dirty="0">
                <a:solidFill>
                  <a:schemeClr val="accent1"/>
                </a:solidFill>
                <a:latin typeface="微软雅黑" panose="020B0503020204020204" charset="-122"/>
                <a:ea typeface="微软雅黑" panose="020B0503020204020204" charset="-122"/>
                <a:cs typeface="微软雅黑" panose="020B0503020204020204" charset="-122"/>
                <a:sym typeface="+mn-ea"/>
              </a:rPr>
              <a:t>方案审核</a:t>
            </a:r>
            <a:endParaRPr kumimoji="1" lang="zh-CN" altLang="en-US" sz="14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21" name="剪去单角的矩形 120"/>
          <p:cNvSpPr/>
          <p:nvPr/>
        </p:nvSpPr>
        <p:spPr>
          <a:xfrm>
            <a:off x="10452319" y="1879713"/>
            <a:ext cx="1148400" cy="360000"/>
          </a:xfrm>
          <a:prstGeom prst="snip1Rect">
            <a:avLst/>
          </a:prstGeom>
          <a:gradFill flip="none" rotWithShape="1">
            <a:gsLst>
              <a:gs pos="0">
                <a:schemeClr val="accent1">
                  <a:lumMod val="75000"/>
                  <a:lumOff val="25000"/>
                </a:schemeClr>
              </a:gs>
              <a:gs pos="99000">
                <a:schemeClr val="accent1"/>
              </a:gs>
            </a:gsLst>
            <a:lin ang="0" scaled="1"/>
            <a:tileRect/>
          </a:gradFill>
          <a:ln>
            <a:no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bIns="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协议备案</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22" name="剪去单角的矩形 121"/>
          <p:cNvSpPr/>
          <p:nvPr/>
        </p:nvSpPr>
        <p:spPr>
          <a:xfrm>
            <a:off x="10470253" y="4381347"/>
            <a:ext cx="1148820" cy="360000"/>
          </a:xfrm>
          <a:prstGeom prst="snip1Rect">
            <a:avLst/>
          </a:prstGeom>
          <a:solidFill>
            <a:schemeClr val="accent5">
              <a:lumMod val="60000"/>
              <a:lumOff val="40000"/>
            </a:schemeClr>
          </a:solidFill>
          <a:ln>
            <a:noFill/>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0" rIns="91440" bIns="4572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监理公司</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23" name="文本框 122"/>
          <p:cNvSpPr txBox="1"/>
          <p:nvPr/>
        </p:nvSpPr>
        <p:spPr>
          <a:xfrm>
            <a:off x="2228608" y="1456043"/>
            <a:ext cx="1008000" cy="306467"/>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县网络部</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4" name="文本框 123"/>
          <p:cNvSpPr txBox="1"/>
          <p:nvPr/>
        </p:nvSpPr>
        <p:spPr>
          <a:xfrm>
            <a:off x="3896272" y="1456043"/>
            <a:ext cx="1008000" cy="306467"/>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设计院</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5" name="文本框 124"/>
          <p:cNvSpPr txBox="1"/>
          <p:nvPr/>
        </p:nvSpPr>
        <p:spPr>
          <a:xfrm>
            <a:off x="5592000" y="967646"/>
            <a:ext cx="1008000" cy="306467"/>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支撑中心</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6" name="文本框 125"/>
          <p:cNvSpPr txBox="1"/>
          <p:nvPr/>
        </p:nvSpPr>
        <p:spPr>
          <a:xfrm>
            <a:off x="5592000" y="2015252"/>
            <a:ext cx="1008000" cy="306467"/>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建设管理人</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7" name="文本框 126"/>
          <p:cNvSpPr txBox="1"/>
          <p:nvPr/>
        </p:nvSpPr>
        <p:spPr>
          <a:xfrm>
            <a:off x="7172008" y="1047421"/>
            <a:ext cx="1249902" cy="715089"/>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包片负责人</a:t>
            </a:r>
            <a:endParaRPr kumimoji="1" lang="en-US" altLang="zh-CN" sz="1200" dirty="0">
              <a:solidFill>
                <a:schemeClr val="tx2"/>
              </a:solidFill>
              <a:latin typeface="微软雅黑" panose="020B0503020204020204" charset="-122"/>
              <a:ea typeface="微软雅黑" panose="020B0503020204020204" charset="-122"/>
              <a:cs typeface="微软雅黑" panose="020B0503020204020204" charset="-122"/>
            </a:endParaRPr>
          </a:p>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管理人</a:t>
            </a:r>
            <a:endParaRPr kumimoji="1" lang="en-US" altLang="zh-CN" sz="1200" dirty="0">
              <a:solidFill>
                <a:schemeClr val="tx2"/>
              </a:solidFill>
              <a:latin typeface="微软雅黑" panose="020B0503020204020204" charset="-122"/>
              <a:ea typeface="微软雅黑" panose="020B0503020204020204" charset="-122"/>
              <a:cs typeface="微软雅黑" panose="020B0503020204020204" charset="-122"/>
            </a:endParaRPr>
          </a:p>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设计院、监理</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8" name="文本框 127"/>
          <p:cNvSpPr txBox="1"/>
          <p:nvPr/>
        </p:nvSpPr>
        <p:spPr>
          <a:xfrm>
            <a:off x="8902590" y="1456043"/>
            <a:ext cx="1008000" cy="306467"/>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客户经理</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0" name="文本框 129"/>
          <p:cNvSpPr txBox="1"/>
          <p:nvPr/>
        </p:nvSpPr>
        <p:spPr>
          <a:xfrm>
            <a:off x="10522519" y="1456043"/>
            <a:ext cx="1008000" cy="306467"/>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支撑中心</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1" name="文本框 130"/>
          <p:cNvSpPr txBox="1"/>
          <p:nvPr/>
        </p:nvSpPr>
        <p:spPr>
          <a:xfrm>
            <a:off x="560137" y="3370406"/>
            <a:ext cx="1008000" cy="306467"/>
          </a:xfrm>
          <a:prstGeom prst="roundRect">
            <a:avLst/>
          </a:prstGeom>
          <a:solidFill>
            <a:schemeClr val="bg1">
              <a:alpha val="70000"/>
            </a:schemeClr>
          </a:solidFill>
        </p:spPr>
        <p:txBody>
          <a:bodyPr wrap="square" rtlCol="0" anchor="ctr" anchorCtr="0">
            <a:spAutoFit/>
          </a:bodyPr>
          <a:lstStyle>
            <a:defPPr>
              <a:defRPr lang="zh-CN"/>
            </a:defPPr>
            <a:lvl1pPr marR="0" lvl="0" indent="0" algn="ctr"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000000"/>
                </a:solidFill>
                <a:effectLst/>
                <a:uLnTx/>
                <a:uFillTx/>
                <a:latin typeface="思源黑体 CN Regular" panose="020B0500000000000000" pitchFamily="34" charset="-128"/>
                <a:ea typeface="思源黑体 CN Regular" panose="020B0500000000000000" pitchFamily="34" charset="-128"/>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rPr>
              <a:t>支撑中心</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2" name="文本框 131"/>
          <p:cNvSpPr txBox="1"/>
          <p:nvPr/>
        </p:nvSpPr>
        <p:spPr>
          <a:xfrm>
            <a:off x="2228608" y="3370406"/>
            <a:ext cx="1008000" cy="306467"/>
          </a:xfrm>
          <a:prstGeom prst="roundRect">
            <a:avLst/>
          </a:prstGeom>
          <a:solidFill>
            <a:schemeClr val="bg1">
              <a:alpha val="70000"/>
            </a:schemeClr>
          </a:solidFill>
        </p:spPr>
        <p:txBody>
          <a:bodyPr wrap="square" rtlCol="0" anchor="ctr" anchorCtr="0">
            <a:spAutoFit/>
          </a:bodyPr>
          <a:lstStyle>
            <a:defPPr>
              <a:defRPr lang="zh-CN"/>
            </a:defPPr>
            <a:lvl1pPr marR="0" lvl="0" indent="0" algn="ctr"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000000"/>
                </a:solidFill>
                <a:effectLst/>
                <a:uLnTx/>
                <a:uFillTx/>
                <a:latin typeface="思源黑体 CN Regular" panose="020B0500000000000000" pitchFamily="34" charset="-128"/>
                <a:ea typeface="思源黑体 CN Regular" panose="020B0500000000000000" pitchFamily="34" charset="-128"/>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rPr>
              <a:t>支撑人员</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3" name="文本框 132"/>
          <p:cNvSpPr txBox="1"/>
          <p:nvPr/>
        </p:nvSpPr>
        <p:spPr>
          <a:xfrm>
            <a:off x="3896272" y="3370406"/>
            <a:ext cx="1008000" cy="306467"/>
          </a:xfrm>
          <a:prstGeom prst="roundRect">
            <a:avLst/>
          </a:prstGeom>
          <a:solidFill>
            <a:schemeClr val="bg1">
              <a:alpha val="70000"/>
            </a:schemeClr>
          </a:solidFill>
        </p:spPr>
        <p:txBody>
          <a:bodyPr wrap="square" rtlCol="0" anchor="ctr" anchorCtr="0">
            <a:spAutoFit/>
          </a:bodyPr>
          <a:lstStyle>
            <a:defPPr>
              <a:defRPr lang="zh-CN"/>
            </a:defPPr>
            <a:lvl1pPr marR="0" lvl="0" indent="0" algn="ctr"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000000"/>
                </a:solidFill>
                <a:effectLst/>
                <a:uLnTx/>
                <a:uFillTx/>
                <a:latin typeface="思源黑体 CN Regular" panose="020B0500000000000000" pitchFamily="34" charset="-128"/>
                <a:ea typeface="思源黑体 CN Regular" panose="020B0500000000000000" pitchFamily="34" charset="-128"/>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rPr>
              <a:t>管理人员</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a:off x="5455658" y="3154179"/>
            <a:ext cx="1249902" cy="305406"/>
          </a:xfrm>
          <a:prstGeom prst="roundRect">
            <a:avLst/>
          </a:prstGeom>
          <a:solidFill>
            <a:schemeClr val="bg1">
              <a:alpha val="70000"/>
            </a:schemeClr>
          </a:solidFill>
        </p:spPr>
        <p:txBody>
          <a:bodyPr wrap="square" rtlCol="0" anchor="ctr" anchorCtr="0">
            <a:spAutoFit/>
          </a:bodyPr>
          <a:lstStyle>
            <a:defPPr>
              <a:defRPr lang="zh-CN"/>
            </a:defPPr>
            <a:lvl1pPr marR="0" lvl="0" indent="0" algn="ctr"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000000"/>
                </a:solidFill>
                <a:effectLst/>
                <a:uLnTx/>
                <a:uFillTx/>
                <a:latin typeface="思源黑体 CN Regular" panose="020B0500000000000000" pitchFamily="34" charset="-128"/>
                <a:ea typeface="思源黑体 CN Regular" panose="020B0500000000000000" pitchFamily="34" charset="-128"/>
              </a:defRPr>
            </a:lvl1pPr>
          </a:lstStyle>
          <a:p>
            <a:pPr lvl="0" algn="ct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入围施工单位</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35" name="文本框 134"/>
          <p:cNvSpPr txBox="1"/>
          <p:nvPr/>
        </p:nvSpPr>
        <p:spPr>
          <a:xfrm>
            <a:off x="7172008" y="3154476"/>
            <a:ext cx="1249902" cy="510185"/>
          </a:xfrm>
          <a:prstGeom prst="roundRect">
            <a:avLst/>
          </a:prstGeom>
          <a:solidFill>
            <a:schemeClr val="bg1">
              <a:alpha val="70000"/>
            </a:schemeClr>
          </a:solidFill>
        </p:spPr>
        <p:txBody>
          <a:bodyPr wrap="square" rtlCol="0" anchor="ctr" anchorCtr="0">
            <a:spAutoFit/>
          </a:bodyPr>
          <a:lstStyle>
            <a:defPPr>
              <a:defRPr lang="zh-CN"/>
            </a:defPPr>
            <a:lvl1pPr marR="0" lvl="0" indent="0" algn="ctr"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000000"/>
                </a:solidFill>
                <a:effectLst/>
                <a:uLnTx/>
                <a:uFillTx/>
                <a:latin typeface="思源黑体 CN Regular" panose="020B0500000000000000" pitchFamily="34" charset="-128"/>
                <a:ea typeface="思源黑体 CN Regular" panose="020B0500000000000000" pitchFamily="34" charset="-128"/>
              </a:defRPr>
            </a:lvl1pPr>
          </a:lstStyle>
          <a:p>
            <a:pPr lvl="0" algn="ct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全业支撑中心</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物料管理人员</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36" name="文本框 135"/>
          <p:cNvSpPr txBox="1"/>
          <p:nvPr/>
        </p:nvSpPr>
        <p:spPr>
          <a:xfrm>
            <a:off x="560137" y="5324924"/>
            <a:ext cx="1008000" cy="306467"/>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四方签字</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 name="剪去单角的矩形 10"/>
          <p:cNvSpPr/>
          <p:nvPr/>
        </p:nvSpPr>
        <p:spPr>
          <a:xfrm>
            <a:off x="7218114" y="5817337"/>
            <a:ext cx="1148820" cy="360000"/>
          </a:xfrm>
          <a:prstGeom prst="snip1Rect">
            <a:avLst/>
          </a:prstGeom>
          <a:solidFill>
            <a:schemeClr val="accent1">
              <a:lumMod val="60000"/>
              <a:lumOff val="40000"/>
            </a:schemeClr>
          </a:solidFill>
          <a:ln>
            <a:no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转资</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11" name="剪去单角的矩形 110"/>
          <p:cNvSpPr/>
          <p:nvPr/>
        </p:nvSpPr>
        <p:spPr>
          <a:xfrm>
            <a:off x="3838090" y="5817337"/>
            <a:ext cx="1148820" cy="360000"/>
          </a:xfrm>
          <a:prstGeom prst="snip1Rect">
            <a:avLst/>
          </a:prstGeom>
          <a:solidFill>
            <a:schemeClr val="accent1">
              <a:lumMod val="60000"/>
              <a:lumOff val="40000"/>
            </a:schemeClr>
          </a:solidFill>
          <a:ln>
            <a:no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账务报账</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12" name="剪去单角的矩形 111"/>
          <p:cNvSpPr/>
          <p:nvPr/>
        </p:nvSpPr>
        <p:spPr>
          <a:xfrm>
            <a:off x="9877909" y="5817337"/>
            <a:ext cx="1148820" cy="360000"/>
          </a:xfrm>
          <a:prstGeom prst="snip1Rect">
            <a:avLst/>
          </a:prstGeom>
          <a:solidFill>
            <a:schemeClr val="accent5"/>
          </a:solidFill>
          <a:ln>
            <a:noFill/>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numCol="1" spcCol="0" rtlCol="0" fromWordArt="0" anchor="ctr" anchorCtr="0" forceAA="0" compatLnSpc="1">
            <a:noAutofit/>
          </a:bodyPr>
          <a:lstStyle/>
          <a:p>
            <a:pPr lvl="0" algn="ctr" defTabSz="457200">
              <a:buClrTx/>
              <a:buSzTx/>
              <a:buFontTx/>
            </a:pPr>
            <a:r>
              <a:rPr kumimoji="1" lang="zh-CN" altLang="en-US" sz="1400" dirty="0">
                <a:latin typeface="微软雅黑" panose="020B0503020204020204" charset="-122"/>
                <a:ea typeface="微软雅黑" panose="020B0503020204020204" charset="-122"/>
                <a:cs typeface="微软雅黑" panose="020B0503020204020204" charset="-122"/>
                <a:sym typeface="+mn-ea"/>
              </a:rPr>
              <a:t>决算交付</a:t>
            </a:r>
            <a:endParaRPr kumimoji="1" lang="zh-CN" altLang="en-US" sz="1400" dirty="0">
              <a:latin typeface="微软雅黑" panose="020B0503020204020204" charset="-122"/>
              <a:ea typeface="微软雅黑" panose="020B0503020204020204" charset="-122"/>
              <a:cs typeface="微软雅黑" panose="020B0503020204020204" charset="-122"/>
              <a:sym typeface="+mn-ea"/>
            </a:endParaRPr>
          </a:p>
        </p:txBody>
      </p:sp>
      <p:sp>
        <p:nvSpPr>
          <p:cNvPr id="137" name="文本框 136"/>
          <p:cNvSpPr txBox="1"/>
          <p:nvPr/>
        </p:nvSpPr>
        <p:spPr>
          <a:xfrm>
            <a:off x="6901145" y="5324924"/>
            <a:ext cx="1807054" cy="306467"/>
          </a:xfrm>
          <a:prstGeom prst="roundRect">
            <a:avLst/>
          </a:prstGeom>
          <a:solidFill>
            <a:schemeClr val="accent1">
              <a:lumMod val="20000"/>
              <a:lumOff val="80000"/>
              <a:alpha val="44000"/>
            </a:schemeClr>
          </a:solidFill>
        </p:spPr>
        <p:txBody>
          <a:bodyPr wrap="square" rtlCol="0" anchor="ctr" anchorCtr="0">
            <a:spAutoFit/>
          </a:bodyPr>
          <a:lstStyle/>
          <a:p>
            <a:pPr algn="ctr" defTabSz="457200"/>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市公司全业务中心</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9" name="矩形 138"/>
          <p:cNvSpPr/>
          <p:nvPr/>
        </p:nvSpPr>
        <p:spPr>
          <a:xfrm>
            <a:off x="5255571" y="3027385"/>
            <a:ext cx="1661099" cy="1813121"/>
          </a:xfrm>
          <a:prstGeom prst="rect">
            <a:avLst/>
          </a:prstGeom>
          <a:ln w="6350">
            <a:solidFill>
              <a:schemeClr val="accent5"/>
            </a:solidFill>
            <a:prstDash val="lgDashDot"/>
            <a:headEnd type="oval"/>
            <a:tailEnd type="triangle"/>
          </a:ln>
        </p:spPr>
        <p:style>
          <a:lnRef idx="1">
            <a:schemeClr val="accent1"/>
          </a:lnRef>
          <a:fillRef idx="0">
            <a:schemeClr val="accent1"/>
          </a:fillRef>
          <a:effectRef idx="0">
            <a:schemeClr val="accent1"/>
          </a:effectRef>
          <a:fontRef idx="minor">
            <a:schemeClr val="tx1"/>
          </a:fontRef>
        </p:style>
        <p:txBody>
          <a:bodyPr rtlCol="0" anchor="ctr" anchorCtr="0"/>
          <a:lstStyle/>
          <a:p>
            <a:pPr algn="ctr" defTabSz="457200"/>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140" name="矩形 139"/>
          <p:cNvSpPr/>
          <p:nvPr/>
        </p:nvSpPr>
        <p:spPr>
          <a:xfrm>
            <a:off x="3259500" y="5170378"/>
            <a:ext cx="8341220" cy="1214759"/>
          </a:xfrm>
          <a:prstGeom prst="rect">
            <a:avLst/>
          </a:prstGeom>
          <a:ln w="6350">
            <a:solidFill>
              <a:schemeClr val="accent5"/>
            </a:solidFill>
            <a:prstDash val="lgDashDot"/>
            <a:headEnd type="oval"/>
            <a:tailEnd type="triangle"/>
          </a:ln>
        </p:spPr>
        <p:style>
          <a:lnRef idx="1">
            <a:schemeClr val="accent1"/>
          </a:lnRef>
          <a:fillRef idx="0">
            <a:schemeClr val="accent1"/>
          </a:fillRef>
          <a:effectRef idx="0">
            <a:schemeClr val="accent1"/>
          </a:effectRef>
          <a:fontRef idx="minor">
            <a:schemeClr val="tx1"/>
          </a:fontRef>
        </p:style>
        <p:txBody>
          <a:bodyPr rtlCol="0" anchor="ctr" anchorCtr="0"/>
          <a:lstStyle/>
          <a:p>
            <a:pPr algn="ctr" defTabSz="457200"/>
            <a:endParaRPr kumimoji="1" lang="zh-CN" altLang="en-US">
              <a:latin typeface="微软雅黑" panose="020B0503020204020204" charset="-122"/>
              <a:ea typeface="微软雅黑" panose="020B0503020204020204" charset="-122"/>
              <a:cs typeface="微软雅黑" panose="020B0503020204020204" charset="-122"/>
            </a:endParaRPr>
          </a:p>
        </p:txBody>
      </p:sp>
      <p:cxnSp>
        <p:nvCxnSpPr>
          <p:cNvPr id="12" name="直线箭头连接符 77"/>
          <p:cNvCxnSpPr/>
          <p:nvPr/>
        </p:nvCxnSpPr>
        <p:spPr>
          <a:xfrm>
            <a:off x="1695030" y="2077082"/>
            <a:ext cx="402407" cy="0"/>
          </a:xfrm>
          <a:prstGeom prst="straightConnector1">
            <a:avLst/>
          </a:prstGeom>
          <a:ln>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79"/>
          <p:cNvCxnSpPr/>
          <p:nvPr/>
        </p:nvCxnSpPr>
        <p:spPr>
          <a:xfrm>
            <a:off x="3380707" y="2077082"/>
            <a:ext cx="402407" cy="0"/>
          </a:xfrm>
          <a:prstGeom prst="straightConnector1">
            <a:avLst/>
          </a:prstGeom>
          <a:ln>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80"/>
          <p:cNvCxnSpPr/>
          <p:nvPr/>
        </p:nvCxnSpPr>
        <p:spPr>
          <a:xfrm>
            <a:off x="8445125" y="2077082"/>
            <a:ext cx="319088" cy="0"/>
          </a:xfrm>
          <a:prstGeom prst="straightConnector1">
            <a:avLst/>
          </a:prstGeom>
          <a:ln>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83"/>
          <p:cNvCxnSpPr/>
          <p:nvPr/>
        </p:nvCxnSpPr>
        <p:spPr>
          <a:xfrm>
            <a:off x="10068014" y="2077082"/>
            <a:ext cx="319088" cy="0"/>
          </a:xfrm>
          <a:prstGeom prst="straightConnector1">
            <a:avLst/>
          </a:prstGeom>
          <a:ln>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85"/>
          <p:cNvCxnSpPr/>
          <p:nvPr/>
        </p:nvCxnSpPr>
        <p:spPr>
          <a:xfrm>
            <a:off x="10736505" y="2372260"/>
            <a:ext cx="0" cy="1395257"/>
          </a:xfrm>
          <a:prstGeom prst="straightConnector1">
            <a:avLst/>
          </a:prstGeom>
          <a:ln>
            <a:solidFill>
              <a:schemeClr val="accent5">
                <a:lumMod val="60000"/>
                <a:lumOff val="40000"/>
              </a:schemeClr>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90"/>
          <p:cNvCxnSpPr/>
          <p:nvPr/>
        </p:nvCxnSpPr>
        <p:spPr>
          <a:xfrm>
            <a:off x="11381502" y="2372260"/>
            <a:ext cx="0" cy="1940578"/>
          </a:xfrm>
          <a:prstGeom prst="straightConnector1">
            <a:avLst/>
          </a:prstGeom>
          <a:ln>
            <a:solidFill>
              <a:schemeClr val="accent5">
                <a:lumMod val="60000"/>
                <a:lumOff val="40000"/>
              </a:schemeClr>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6" name="直线箭头连接符 95"/>
          <p:cNvCxnSpPr/>
          <p:nvPr/>
        </p:nvCxnSpPr>
        <p:spPr>
          <a:xfrm flipH="1">
            <a:off x="8421910" y="4022204"/>
            <a:ext cx="1333548" cy="0"/>
          </a:xfrm>
          <a:prstGeom prst="straightConnector1">
            <a:avLst/>
          </a:prstGeom>
          <a:ln>
            <a:solidFill>
              <a:schemeClr val="accent5">
                <a:lumMod val="60000"/>
                <a:lumOff val="40000"/>
              </a:schemeClr>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7" name="直线箭头连接符 96"/>
          <p:cNvCxnSpPr/>
          <p:nvPr/>
        </p:nvCxnSpPr>
        <p:spPr>
          <a:xfrm flipH="1">
            <a:off x="1674710" y="4022203"/>
            <a:ext cx="402407" cy="0"/>
          </a:xfrm>
          <a:prstGeom prst="straightConnector1">
            <a:avLst/>
          </a:prstGeom>
          <a:ln>
            <a:solidFill>
              <a:schemeClr val="accent5">
                <a:lumMod val="60000"/>
                <a:lumOff val="40000"/>
              </a:schemeClr>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0" name="直线箭头连接符 99"/>
          <p:cNvCxnSpPr/>
          <p:nvPr/>
        </p:nvCxnSpPr>
        <p:spPr>
          <a:xfrm flipH="1">
            <a:off x="3360387" y="4022203"/>
            <a:ext cx="402407" cy="0"/>
          </a:xfrm>
          <a:prstGeom prst="straightConnector1">
            <a:avLst/>
          </a:prstGeom>
          <a:ln>
            <a:solidFill>
              <a:schemeClr val="accent5">
                <a:lumMod val="60000"/>
                <a:lumOff val="40000"/>
              </a:schemeClr>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3" name="直线箭头连接符 102"/>
          <p:cNvCxnSpPr/>
          <p:nvPr/>
        </p:nvCxnSpPr>
        <p:spPr>
          <a:xfrm>
            <a:off x="1695030" y="5997337"/>
            <a:ext cx="2088084" cy="0"/>
          </a:xfrm>
          <a:prstGeom prst="straightConnector1">
            <a:avLst/>
          </a:prstGeom>
          <a:ln>
            <a:solidFill>
              <a:schemeClr val="accent1">
                <a:lumMod val="60000"/>
                <a:lumOff val="40000"/>
              </a:schemeClr>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6" name="直线箭头连接符 105"/>
          <p:cNvCxnSpPr/>
          <p:nvPr/>
        </p:nvCxnSpPr>
        <p:spPr>
          <a:xfrm>
            <a:off x="5094300" y="5997337"/>
            <a:ext cx="1932905" cy="0"/>
          </a:xfrm>
          <a:prstGeom prst="straightConnector1">
            <a:avLst/>
          </a:prstGeom>
          <a:ln>
            <a:solidFill>
              <a:schemeClr val="accent1">
                <a:lumMod val="60000"/>
                <a:lumOff val="40000"/>
              </a:schemeClr>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7" name="直线箭头连接符 106"/>
          <p:cNvCxnSpPr/>
          <p:nvPr/>
        </p:nvCxnSpPr>
        <p:spPr>
          <a:xfrm>
            <a:off x="8445125" y="5997337"/>
            <a:ext cx="1269970" cy="0"/>
          </a:xfrm>
          <a:prstGeom prst="straightConnector1">
            <a:avLst/>
          </a:prstGeom>
          <a:ln>
            <a:solidFill>
              <a:schemeClr val="accent5"/>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8" name="直线箭头连接符 107"/>
          <p:cNvCxnSpPr/>
          <p:nvPr/>
        </p:nvCxnSpPr>
        <p:spPr>
          <a:xfrm>
            <a:off x="1064137" y="4349735"/>
            <a:ext cx="0" cy="923440"/>
          </a:xfrm>
          <a:prstGeom prst="straightConnector1">
            <a:avLst/>
          </a:prstGeom>
          <a:ln>
            <a:solidFill>
              <a:schemeClr val="accent1">
                <a:lumMod val="60000"/>
                <a:lumOff val="40000"/>
              </a:schemeClr>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9" name="直线箭头连接符 108"/>
          <p:cNvCxnSpPr/>
          <p:nvPr/>
        </p:nvCxnSpPr>
        <p:spPr>
          <a:xfrm flipH="1">
            <a:off x="5003451" y="4022203"/>
            <a:ext cx="252120" cy="0"/>
          </a:xfrm>
          <a:prstGeom prst="straightConnector1">
            <a:avLst/>
          </a:prstGeom>
          <a:ln>
            <a:solidFill>
              <a:schemeClr val="accent5"/>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0" name="直线箭头连接符 109"/>
          <p:cNvCxnSpPr/>
          <p:nvPr/>
        </p:nvCxnSpPr>
        <p:spPr>
          <a:xfrm flipH="1">
            <a:off x="6872117" y="4022203"/>
            <a:ext cx="252120" cy="0"/>
          </a:xfrm>
          <a:prstGeom prst="straightConnector1">
            <a:avLst/>
          </a:prstGeom>
          <a:ln>
            <a:solidFill>
              <a:schemeClr val="accent5"/>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sp>
        <p:nvSpPr>
          <p:cNvPr id="113" name="文本框 112"/>
          <p:cNvSpPr txBox="1"/>
          <p:nvPr/>
        </p:nvSpPr>
        <p:spPr>
          <a:xfrm>
            <a:off x="10832749" y="3270876"/>
            <a:ext cx="492443" cy="276999"/>
          </a:xfrm>
          <a:prstGeom prst="rect">
            <a:avLst/>
          </a:prstGeom>
          <a:noFill/>
        </p:spPr>
        <p:txBody>
          <a:bodyPr wrap="none" rtlCol="0" anchor="ctr" anchorCtr="0">
            <a:spAutoFit/>
          </a:bodyPr>
          <a:lstStyle/>
          <a:p>
            <a:pPr algn="ctr" defTabSz="457200"/>
            <a:r>
              <a:rPr kumimoji="1" lang="zh-CN" altLang="en-US" sz="1200" dirty="0">
                <a:latin typeface="微软雅黑" panose="020B0503020204020204" charset="-122"/>
                <a:ea typeface="微软雅黑" panose="020B0503020204020204" charset="-122"/>
                <a:cs typeface="微软雅黑" panose="020B0503020204020204" charset="-122"/>
              </a:rPr>
              <a:t>通知</a:t>
            </a:r>
            <a:endParaRPr kumimoji="1" lang="zh-CN" altLang="en-US" sz="1200" dirty="0">
              <a:latin typeface="微软雅黑" panose="020B0503020204020204" charset="-122"/>
              <a:ea typeface="微软雅黑" panose="020B0503020204020204" charset="-122"/>
              <a:cs typeface="微软雅黑" panose="020B0503020204020204" charset="-122"/>
            </a:endParaRPr>
          </a:p>
        </p:txBody>
      </p:sp>
      <p:sp>
        <p:nvSpPr>
          <p:cNvPr id="18" name="左大括号 17"/>
          <p:cNvSpPr/>
          <p:nvPr/>
        </p:nvSpPr>
        <p:spPr>
          <a:xfrm>
            <a:off x="5191979" y="1553659"/>
            <a:ext cx="228035" cy="1007165"/>
          </a:xfrm>
          <a:prstGeom prst="leftBrace">
            <a:avLst>
              <a:gd name="adj1" fmla="val 53900"/>
              <a:gd name="adj2" fmla="val 50000"/>
            </a:avLst>
          </a:prstGeom>
          <a:ln>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nchorCtr="0"/>
          <a:lstStyle/>
          <a:p>
            <a:pPr algn="ctr" defTabSz="457200"/>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129" name="左大括号 128"/>
          <p:cNvSpPr/>
          <p:nvPr/>
        </p:nvSpPr>
        <p:spPr>
          <a:xfrm flipH="1">
            <a:off x="6757017" y="1553659"/>
            <a:ext cx="228035" cy="1007165"/>
          </a:xfrm>
          <a:prstGeom prst="leftBrace">
            <a:avLst>
              <a:gd name="adj1" fmla="val 53900"/>
              <a:gd name="adj2" fmla="val 50000"/>
            </a:avLst>
          </a:prstGeom>
          <a:ln>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nchorCtr="0"/>
          <a:lstStyle/>
          <a:p>
            <a:pPr algn="ctr" defTabSz="457200"/>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19" name="五角星 18"/>
          <p:cNvSpPr/>
          <p:nvPr/>
        </p:nvSpPr>
        <p:spPr>
          <a:xfrm>
            <a:off x="10382444" y="6214436"/>
            <a:ext cx="162630" cy="162630"/>
          </a:xfrm>
          <a:prstGeom prst="star5">
            <a:avLst>
              <a:gd name="adj" fmla="val 21920"/>
              <a:gd name="hf" fmla="val 105146"/>
              <a:gd name="vf" fmla="val 110557"/>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noAutofit/>
          </a:bodyPr>
          <a:lstStyle/>
          <a:p>
            <a:pPr algn="ctr" defTabSz="457200"/>
            <a:endParaRPr kumimoji="1" lang="zh-CN" altLang="en-US" sz="1400">
              <a:latin typeface="微软雅黑" panose="020B0503020204020204" charset="-122"/>
              <a:ea typeface="微软雅黑" panose="020B0503020204020204" charset="-122"/>
              <a:cs typeface="微软雅黑" panose="020B0503020204020204" charset="-122"/>
            </a:endParaRPr>
          </a:p>
        </p:txBody>
      </p:sp>
      <p:sp>
        <p:nvSpPr>
          <p:cNvPr id="30" name="五角星 29"/>
          <p:cNvSpPr/>
          <p:nvPr/>
        </p:nvSpPr>
        <p:spPr>
          <a:xfrm>
            <a:off x="7711209" y="4268420"/>
            <a:ext cx="162630" cy="162630"/>
          </a:xfrm>
          <a:prstGeom prst="star5">
            <a:avLst>
              <a:gd name="adj" fmla="val 21920"/>
              <a:gd name="hf" fmla="val 105146"/>
              <a:gd name="vf" fmla="val 110557"/>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bIns="0" numCol="1" spcCol="0" rtlCol="0" fromWordArt="0" anchor="ctr" anchorCtr="0" forceAA="0" compatLnSpc="1">
            <a:noAutofit/>
          </a:bodyPr>
          <a:lstStyle/>
          <a:p>
            <a:pPr lvl="0" algn="ctr" defTabSz="457200">
              <a:buClrTx/>
              <a:buSzTx/>
              <a:buFontTx/>
            </a:pPr>
            <a:endParaRPr kumimoji="1" lang="zh-CN" altLang="en-US" sz="140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2" name="五角星 31"/>
          <p:cNvSpPr/>
          <p:nvPr/>
        </p:nvSpPr>
        <p:spPr>
          <a:xfrm>
            <a:off x="7714162" y="2287977"/>
            <a:ext cx="162630" cy="162630"/>
          </a:xfrm>
          <a:prstGeom prst="star5">
            <a:avLst>
              <a:gd name="adj" fmla="val 21920"/>
              <a:gd name="hf" fmla="val 105146"/>
              <a:gd name="vf" fmla="val 110557"/>
            </a:avLst>
          </a:prstGeom>
          <a:gradFill flip="none" rotWithShape="1">
            <a:gsLst>
              <a:gs pos="0">
                <a:schemeClr val="accent1">
                  <a:lumMod val="75000"/>
                  <a:lumOff val="25000"/>
                </a:schemeClr>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tIns="0" bIns="0" rtlCol="0" anchor="ctr" anchorCtr="0"/>
          <a:lstStyle/>
          <a:p>
            <a:pPr algn="ctr" defTabSz="457200"/>
            <a:endParaRPr kumimoji="1" lang="zh-CN" altLang="en-US" sz="1400">
              <a:latin typeface="微软雅黑" panose="020B0503020204020204" charset="-122"/>
              <a:ea typeface="微软雅黑" panose="020B0503020204020204" charset="-122"/>
              <a:cs typeface="微软雅黑" panose="020B0503020204020204" charset="-122"/>
            </a:endParaRPr>
          </a:p>
        </p:txBody>
      </p:sp>
      <p:sp>
        <p:nvSpPr>
          <p:cNvPr id="90" name="五角星 89"/>
          <p:cNvSpPr/>
          <p:nvPr/>
        </p:nvSpPr>
        <p:spPr>
          <a:xfrm>
            <a:off x="2651293" y="4268420"/>
            <a:ext cx="162630" cy="162630"/>
          </a:xfrm>
          <a:prstGeom prst="star5">
            <a:avLst>
              <a:gd name="adj" fmla="val 21920"/>
              <a:gd name="hf" fmla="val 105146"/>
              <a:gd name="vf" fmla="val 110557"/>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0" bIns="0" numCol="1" spcCol="0" rtlCol="0" fromWordArt="0" anchor="ctr" anchorCtr="0" forceAA="0" compatLnSpc="1">
            <a:noAutofit/>
          </a:bodyPr>
          <a:lstStyle/>
          <a:p>
            <a:pPr lvl="0" algn="ctr" defTabSz="457200">
              <a:buClrTx/>
              <a:buSzTx/>
              <a:buFontTx/>
            </a:pPr>
            <a:endParaRPr kumimoji="1" lang="zh-CN" altLang="en-US" sz="140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cxnSp>
        <p:nvCxnSpPr>
          <p:cNvPr id="33" name="直线箭头连接符 84"/>
          <p:cNvCxnSpPr/>
          <p:nvPr/>
        </p:nvCxnSpPr>
        <p:spPr>
          <a:xfrm flipH="1">
            <a:off x="6997894" y="4574212"/>
            <a:ext cx="3384550" cy="0"/>
          </a:xfrm>
          <a:prstGeom prst="straightConnector1">
            <a:avLst/>
          </a:prstGeom>
          <a:ln>
            <a:solidFill>
              <a:schemeClr val="accent5">
                <a:lumMod val="60000"/>
                <a:lumOff val="40000"/>
              </a:schemeClr>
            </a:solidFill>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全域智能营销体验升维</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矩形 1"/>
          <p:cNvSpPr/>
          <p:nvPr/>
        </p:nvSpPr>
        <p:spPr>
          <a:xfrm>
            <a:off x="970915" y="2049145"/>
            <a:ext cx="735965" cy="1115695"/>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cs typeface="微软雅黑" panose="020B0503020204020204" charset="-122"/>
              </a:rPr>
              <a:t>数据层面</a:t>
            </a:r>
            <a:endParaRPr lang="zh-CN" altLang="en-US" sz="1600">
              <a:cs typeface="微软雅黑" panose="020B0503020204020204" charset="-122"/>
            </a:endParaRPr>
          </a:p>
        </p:txBody>
      </p:sp>
      <p:sp>
        <p:nvSpPr>
          <p:cNvPr id="3" name="矩形 2"/>
          <p:cNvSpPr/>
          <p:nvPr/>
        </p:nvSpPr>
        <p:spPr>
          <a:xfrm>
            <a:off x="970915" y="3897630"/>
            <a:ext cx="735965" cy="1115695"/>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cs typeface="微软雅黑" panose="020B0503020204020204" charset="-122"/>
              </a:rPr>
              <a:t>技术层面</a:t>
            </a:r>
            <a:endParaRPr lang="zh-CN" altLang="en-US" sz="1600">
              <a:cs typeface="微软雅黑" panose="020B0503020204020204" charset="-122"/>
            </a:endParaRPr>
          </a:p>
        </p:txBody>
      </p:sp>
      <p:sp>
        <p:nvSpPr>
          <p:cNvPr id="4" name="矩形 3"/>
          <p:cNvSpPr/>
          <p:nvPr/>
        </p:nvSpPr>
        <p:spPr>
          <a:xfrm>
            <a:off x="970915" y="5530850"/>
            <a:ext cx="735965" cy="781685"/>
          </a:xfrm>
          <a:prstGeom prst="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cs typeface="微软雅黑" panose="020B0503020204020204" charset="-122"/>
              </a:rPr>
              <a:t>潜力层面</a:t>
            </a:r>
            <a:endParaRPr lang="zh-CN" altLang="en-US" sz="1600">
              <a:cs typeface="微软雅黑" panose="020B0503020204020204" charset="-122"/>
            </a:endParaRPr>
          </a:p>
        </p:txBody>
      </p:sp>
      <p:cxnSp>
        <p:nvCxnSpPr>
          <p:cNvPr id="6" name="肘形连接符 5"/>
          <p:cNvCxnSpPr/>
          <p:nvPr/>
        </p:nvCxnSpPr>
        <p:spPr>
          <a:xfrm rot="10800000" flipH="1" flipV="1">
            <a:off x="970915" y="2651760"/>
            <a:ext cx="3175" cy="3314700"/>
          </a:xfrm>
          <a:prstGeom prst="bentConnector3">
            <a:avLst>
              <a:gd name="adj1" fmla="val -16500000"/>
            </a:avLst>
          </a:prstGeom>
          <a:ln>
            <a:solidFill>
              <a:schemeClr val="accent1"/>
            </a:solidFill>
            <a:prstDash val="sysDash"/>
            <a:tailEnd type="triangle"/>
          </a:ln>
        </p:spPr>
        <p:style>
          <a:lnRef idx="2">
            <a:schemeClr val="accent1"/>
          </a:lnRef>
          <a:fillRef idx="0">
            <a:srgbClr val="FFFFFF"/>
          </a:fillRef>
          <a:effectRef idx="0">
            <a:srgbClr val="FFFFFF"/>
          </a:effectRef>
          <a:fontRef idx="minor">
            <a:schemeClr val="tx1"/>
          </a:fontRef>
        </p:style>
      </p:cxnSp>
      <p:cxnSp>
        <p:nvCxnSpPr>
          <p:cNvPr id="7" name="肘形连接符 6"/>
          <p:cNvCxnSpPr/>
          <p:nvPr/>
        </p:nvCxnSpPr>
        <p:spPr>
          <a:xfrm rot="10800000" flipV="1">
            <a:off x="923290" y="2738755"/>
            <a:ext cx="30480" cy="3106420"/>
          </a:xfrm>
          <a:prstGeom prst="bentConnector3">
            <a:avLst>
              <a:gd name="adj1" fmla="val 975000"/>
            </a:avLst>
          </a:prstGeom>
          <a:ln>
            <a:solidFill>
              <a:schemeClr val="accent5"/>
            </a:solidFill>
            <a:prstDash val="sysDash"/>
            <a:headEnd type="triangle"/>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1339215" y="3225165"/>
            <a:ext cx="0" cy="589915"/>
          </a:xfrm>
          <a:prstGeom prst="line">
            <a:avLst/>
          </a:prstGeom>
          <a:ln>
            <a:solidFill>
              <a:schemeClr val="accent6">
                <a:lumMod val="60000"/>
                <a:lumOff val="40000"/>
              </a:schemeClr>
            </a:solidFill>
            <a:headEnd type="triangle"/>
            <a:tailEnd type="triangle"/>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flipV="1">
            <a:off x="1339215" y="5060315"/>
            <a:ext cx="0" cy="426085"/>
          </a:xfrm>
          <a:prstGeom prst="line">
            <a:avLst/>
          </a:prstGeom>
          <a:ln>
            <a:solidFill>
              <a:schemeClr val="accent6">
                <a:lumMod val="60000"/>
                <a:lumOff val="40000"/>
              </a:schemeClr>
            </a:solidFill>
            <a:headEnd type="triangle"/>
            <a:tailEnd type="triangle"/>
          </a:ln>
        </p:spPr>
        <p:style>
          <a:lnRef idx="2">
            <a:schemeClr val="accent1"/>
          </a:lnRef>
          <a:fillRef idx="0">
            <a:srgbClr val="FFFFFF"/>
          </a:fillRef>
          <a:effectRef idx="0">
            <a:srgbClr val="FFFFFF"/>
          </a:effectRef>
          <a:fontRef idx="minor">
            <a:schemeClr val="tx1"/>
          </a:fontRef>
        </p:style>
      </p:cxnSp>
      <p:sp>
        <p:nvSpPr>
          <p:cNvPr id="13" name="矩形 12"/>
          <p:cNvSpPr/>
          <p:nvPr/>
        </p:nvSpPr>
        <p:spPr>
          <a:xfrm>
            <a:off x="1866583" y="2049463"/>
            <a:ext cx="911860" cy="1121410"/>
          </a:xfrm>
          <a:prstGeom prst="rect">
            <a:avLst/>
          </a:prstGeom>
          <a:solidFill>
            <a:schemeClr val="accent1">
              <a:lumMod val="20000"/>
              <a:lumOff val="80000"/>
              <a:alpha val="50000"/>
            </a:schemeClr>
          </a:solidFill>
          <a:ln>
            <a:solidFill>
              <a:schemeClr val="accent1">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4" name="矩形 13"/>
          <p:cNvSpPr/>
          <p:nvPr/>
        </p:nvSpPr>
        <p:spPr>
          <a:xfrm>
            <a:off x="3161665" y="2473960"/>
            <a:ext cx="911860" cy="27241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应用软件</a:t>
            </a:r>
            <a:endParaRPr lang="zh-CN" altLang="en-US" sz="1200">
              <a:solidFill>
                <a:schemeClr val="accent1"/>
              </a:solidFill>
              <a:cs typeface="微软雅黑" panose="020B0503020204020204" charset="-122"/>
              <a:sym typeface="+mn-ea"/>
            </a:endParaRPr>
          </a:p>
        </p:txBody>
      </p:sp>
      <p:sp>
        <p:nvSpPr>
          <p:cNvPr id="15" name="矩形 14"/>
          <p:cNvSpPr/>
          <p:nvPr/>
        </p:nvSpPr>
        <p:spPr>
          <a:xfrm>
            <a:off x="3161665" y="2074545"/>
            <a:ext cx="911860" cy="27241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硬件本身</a:t>
            </a:r>
            <a:endParaRPr lang="zh-CN" altLang="en-US" sz="1200">
              <a:solidFill>
                <a:schemeClr val="accent1"/>
              </a:solidFill>
              <a:cs typeface="微软雅黑" panose="020B0503020204020204" charset="-122"/>
              <a:sym typeface="+mn-ea"/>
            </a:endParaRPr>
          </a:p>
        </p:txBody>
      </p:sp>
      <p:sp>
        <p:nvSpPr>
          <p:cNvPr id="16" name="矩形 15"/>
          <p:cNvSpPr/>
          <p:nvPr/>
        </p:nvSpPr>
        <p:spPr>
          <a:xfrm>
            <a:off x="3161665" y="2873375"/>
            <a:ext cx="911860" cy="272415"/>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1"/>
                </a:solidFill>
                <a:cs typeface="微软雅黑" panose="020B0503020204020204" charset="-122"/>
                <a:sym typeface="+mn-ea"/>
              </a:rPr>
              <a:t>用户行为</a:t>
            </a:r>
            <a:endParaRPr lang="zh-CN" altLang="en-US" sz="1200">
              <a:solidFill>
                <a:schemeClr val="accent1"/>
              </a:solidFill>
              <a:cs typeface="微软雅黑" panose="020B0503020204020204" charset="-122"/>
              <a:sym typeface="+mn-ea"/>
            </a:endParaRPr>
          </a:p>
        </p:txBody>
      </p:sp>
      <p:sp>
        <p:nvSpPr>
          <p:cNvPr id="17" name="矩形 16"/>
          <p:cNvSpPr/>
          <p:nvPr/>
        </p:nvSpPr>
        <p:spPr>
          <a:xfrm>
            <a:off x="1871345" y="5530850"/>
            <a:ext cx="9893935" cy="781685"/>
          </a:xfrm>
          <a:prstGeom prst="rect">
            <a:avLst/>
          </a:prstGeom>
          <a:solidFill>
            <a:schemeClr val="accent5">
              <a:alpha val="10000"/>
            </a:schemeClr>
          </a:solidFill>
          <a:ln>
            <a:solidFill>
              <a:schemeClr val="accent5"/>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18" name="矩形 17"/>
          <p:cNvSpPr/>
          <p:nvPr/>
        </p:nvSpPr>
        <p:spPr>
          <a:xfrm>
            <a:off x="1871345" y="3897630"/>
            <a:ext cx="911860" cy="255600"/>
          </a:xfrm>
          <a:prstGeom prst="rect">
            <a:avLst/>
          </a:prstGeom>
          <a:solidFill>
            <a:schemeClr val="accent1">
              <a:lumMod val="20000"/>
              <a:lumOff val="80000"/>
              <a:alpha val="20000"/>
            </a:schemeClr>
          </a:solidFill>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云服务</a:t>
            </a:r>
            <a:endParaRPr lang="zh-CN" altLang="en-US" sz="1200">
              <a:solidFill>
                <a:schemeClr val="tx2"/>
              </a:solidFill>
              <a:cs typeface="微软雅黑" panose="020B0503020204020204" charset="-122"/>
              <a:sym typeface="+mn-ea"/>
            </a:endParaRPr>
          </a:p>
        </p:txBody>
      </p:sp>
      <p:sp>
        <p:nvSpPr>
          <p:cNvPr id="20" name="矩形 19"/>
          <p:cNvSpPr/>
          <p:nvPr/>
        </p:nvSpPr>
        <p:spPr>
          <a:xfrm>
            <a:off x="1871345" y="4184980"/>
            <a:ext cx="911860" cy="255270"/>
          </a:xfrm>
          <a:prstGeom prst="rect">
            <a:avLst/>
          </a:prstGeom>
          <a:solidFill>
            <a:schemeClr val="accent1">
              <a:lumMod val="20000"/>
              <a:lumOff val="80000"/>
              <a:alpha val="20000"/>
            </a:schemeClr>
          </a:solidFill>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大数据</a:t>
            </a:r>
            <a:endParaRPr lang="zh-CN" altLang="en-US" sz="1200">
              <a:solidFill>
                <a:schemeClr val="tx2"/>
              </a:solidFill>
              <a:cs typeface="微软雅黑" panose="020B0503020204020204" charset="-122"/>
              <a:sym typeface="+mn-ea"/>
            </a:endParaRPr>
          </a:p>
        </p:txBody>
      </p:sp>
      <p:sp>
        <p:nvSpPr>
          <p:cNvPr id="21" name="矩形 20"/>
          <p:cNvSpPr/>
          <p:nvPr/>
        </p:nvSpPr>
        <p:spPr>
          <a:xfrm>
            <a:off x="1871345" y="4472000"/>
            <a:ext cx="911860" cy="255270"/>
          </a:xfrm>
          <a:prstGeom prst="rect">
            <a:avLst/>
          </a:prstGeom>
          <a:solidFill>
            <a:schemeClr val="accent1">
              <a:lumMod val="20000"/>
              <a:lumOff val="80000"/>
              <a:alpha val="20000"/>
            </a:schemeClr>
          </a:solidFill>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AI</a:t>
            </a:r>
            <a:endParaRPr lang="zh-CN" altLang="en-US" sz="1200">
              <a:solidFill>
                <a:schemeClr val="tx2"/>
              </a:solidFill>
              <a:cs typeface="微软雅黑" panose="020B0503020204020204" charset="-122"/>
              <a:sym typeface="+mn-ea"/>
            </a:endParaRPr>
          </a:p>
        </p:txBody>
      </p:sp>
      <p:sp>
        <p:nvSpPr>
          <p:cNvPr id="22" name="矩形 21"/>
          <p:cNvSpPr/>
          <p:nvPr/>
        </p:nvSpPr>
        <p:spPr>
          <a:xfrm>
            <a:off x="1871345" y="4759020"/>
            <a:ext cx="911860" cy="255270"/>
          </a:xfrm>
          <a:prstGeom prst="rect">
            <a:avLst/>
          </a:prstGeom>
          <a:solidFill>
            <a:schemeClr val="accent1">
              <a:lumMod val="20000"/>
              <a:lumOff val="80000"/>
              <a:alpha val="20000"/>
            </a:schemeClr>
          </a:solidFill>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a:t>
            </a:r>
            <a:endParaRPr lang="zh-CN" altLang="en-US" sz="1200">
              <a:solidFill>
                <a:schemeClr val="tx2"/>
              </a:solidFill>
              <a:cs typeface="微软雅黑" panose="020B0503020204020204" charset="-122"/>
              <a:sym typeface="+mn-ea"/>
            </a:endParaRPr>
          </a:p>
        </p:txBody>
      </p:sp>
      <p:sp>
        <p:nvSpPr>
          <p:cNvPr id="23" name="矩形 22"/>
          <p:cNvSpPr/>
          <p:nvPr/>
        </p:nvSpPr>
        <p:spPr>
          <a:xfrm>
            <a:off x="3161665" y="3912870"/>
            <a:ext cx="1580515" cy="1139190"/>
          </a:xfrm>
          <a:prstGeom prst="rect">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24" name="矩形 23"/>
          <p:cNvSpPr/>
          <p:nvPr/>
        </p:nvSpPr>
        <p:spPr>
          <a:xfrm>
            <a:off x="5129530" y="1870710"/>
            <a:ext cx="680085" cy="816610"/>
          </a:xfrm>
          <a:prstGeom prst="rect">
            <a:avLst/>
          </a:prstGeom>
          <a:solidFill>
            <a:schemeClr val="accent1">
              <a:lumMod val="20000"/>
              <a:lumOff val="80000"/>
              <a:alpha val="50000"/>
            </a:schemeClr>
          </a:solidFill>
          <a:ln>
            <a:solidFill>
              <a:schemeClr val="accent1">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5" name="矩形 24"/>
          <p:cNvSpPr/>
          <p:nvPr/>
        </p:nvSpPr>
        <p:spPr>
          <a:xfrm>
            <a:off x="5129530" y="2771775"/>
            <a:ext cx="680085" cy="669925"/>
          </a:xfrm>
          <a:prstGeom prst="rect">
            <a:avLst/>
          </a:prstGeom>
          <a:solidFill>
            <a:schemeClr val="accent1">
              <a:lumMod val="20000"/>
              <a:lumOff val="80000"/>
              <a:alpha val="50000"/>
            </a:schemeClr>
          </a:solidFill>
          <a:ln>
            <a:solidFill>
              <a:schemeClr val="accent1">
                <a:lumMod val="75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6" name="矩形 25"/>
          <p:cNvSpPr/>
          <p:nvPr/>
        </p:nvSpPr>
        <p:spPr>
          <a:xfrm>
            <a:off x="5120640" y="3728085"/>
            <a:ext cx="680085" cy="941705"/>
          </a:xfrm>
          <a:prstGeom prst="rect">
            <a:avLst/>
          </a:prstGeom>
          <a:solidFill>
            <a:schemeClr val="accent1">
              <a:lumMod val="20000"/>
              <a:lumOff val="80000"/>
              <a:alpha val="20000"/>
            </a:schemeClr>
          </a:solidFill>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lumMod val="60000"/>
                    <a:lumOff val="40000"/>
                  </a:schemeClr>
                </a:solidFill>
                <a:cs typeface="微软雅黑" panose="020B0503020204020204" charset="-122"/>
                <a:sym typeface="+mn-ea"/>
              </a:rPr>
              <a:t>广告</a:t>
            </a:r>
            <a:endParaRPr lang="zh-CN" altLang="en-US" sz="1200" b="1">
              <a:solidFill>
                <a:schemeClr val="accent1">
                  <a:lumMod val="60000"/>
                  <a:lumOff val="40000"/>
                </a:schemeClr>
              </a:solidFill>
              <a:cs typeface="微软雅黑" panose="020B0503020204020204" charset="-122"/>
              <a:sym typeface="+mn-ea"/>
            </a:endParaRPr>
          </a:p>
          <a:p>
            <a:pPr lvl="0" algn="ctr">
              <a:buClrTx/>
              <a:buSzTx/>
              <a:buFontTx/>
            </a:pPr>
            <a:r>
              <a:rPr lang="zh-CN" altLang="en-US" sz="1200" b="1">
                <a:solidFill>
                  <a:schemeClr val="accent1">
                    <a:lumMod val="60000"/>
                    <a:lumOff val="40000"/>
                  </a:schemeClr>
                </a:solidFill>
                <a:cs typeface="微软雅黑" panose="020B0503020204020204" charset="-122"/>
                <a:sym typeface="+mn-ea"/>
              </a:rPr>
              <a:t>主侧</a:t>
            </a:r>
            <a:endParaRPr lang="zh-CN" altLang="en-US" sz="1200" b="1">
              <a:solidFill>
                <a:schemeClr val="accent1">
                  <a:lumMod val="60000"/>
                  <a:lumOff val="40000"/>
                </a:schemeClr>
              </a:solidFill>
              <a:cs typeface="微软雅黑" panose="020B0503020204020204" charset="-122"/>
              <a:sym typeface="+mn-ea"/>
            </a:endParaRPr>
          </a:p>
        </p:txBody>
      </p:sp>
      <p:sp>
        <p:nvSpPr>
          <p:cNvPr id="27" name="矩形 26"/>
          <p:cNvSpPr/>
          <p:nvPr/>
        </p:nvSpPr>
        <p:spPr>
          <a:xfrm>
            <a:off x="5120640" y="4759325"/>
            <a:ext cx="680085" cy="459740"/>
          </a:xfrm>
          <a:prstGeom prst="rect">
            <a:avLst/>
          </a:prstGeom>
          <a:solidFill>
            <a:schemeClr val="accent1">
              <a:lumMod val="20000"/>
              <a:lumOff val="80000"/>
              <a:alpha val="20000"/>
            </a:schemeClr>
          </a:solidFill>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lumMod val="60000"/>
                    <a:lumOff val="40000"/>
                  </a:schemeClr>
                </a:solidFill>
                <a:cs typeface="微软雅黑" panose="020B0503020204020204" charset="-122"/>
                <a:sym typeface="+mn-ea"/>
              </a:rPr>
              <a:t>用户侧</a:t>
            </a:r>
            <a:endParaRPr lang="zh-CN" altLang="en-US" sz="1200" b="1">
              <a:solidFill>
                <a:schemeClr val="accent1">
                  <a:lumMod val="60000"/>
                  <a:lumOff val="40000"/>
                </a:schemeClr>
              </a:solidFill>
              <a:cs typeface="微软雅黑" panose="020B0503020204020204" charset="-122"/>
              <a:sym typeface="+mn-ea"/>
            </a:endParaRPr>
          </a:p>
        </p:txBody>
      </p:sp>
      <p:sp>
        <p:nvSpPr>
          <p:cNvPr id="28" name="矩形 27"/>
          <p:cNvSpPr/>
          <p:nvPr/>
        </p:nvSpPr>
        <p:spPr>
          <a:xfrm>
            <a:off x="6119495" y="1828165"/>
            <a:ext cx="895350" cy="397510"/>
          </a:xfrm>
          <a:prstGeom prst="rect">
            <a:avLst/>
          </a:prstGeom>
          <a:solidFill>
            <a:schemeClr val="accent1">
              <a:lumMod val="20000"/>
              <a:lumOff val="80000"/>
              <a:alpha val="50000"/>
            </a:schemeClr>
          </a:solidFill>
          <a:ln>
            <a:solidFill>
              <a:schemeClr val="accent1">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solidFill>
                <a:cs typeface="微软雅黑" panose="020B0503020204020204" charset="-122"/>
                <a:sym typeface="+mn-ea"/>
              </a:rPr>
              <a:t>投放策略</a:t>
            </a:r>
            <a:endParaRPr lang="zh-CN" altLang="en-US" sz="1200" b="1">
              <a:solidFill>
                <a:schemeClr val="accent1"/>
              </a:solidFill>
              <a:cs typeface="微软雅黑" panose="020B0503020204020204" charset="-122"/>
              <a:sym typeface="+mn-ea"/>
            </a:endParaRPr>
          </a:p>
        </p:txBody>
      </p:sp>
      <p:sp>
        <p:nvSpPr>
          <p:cNvPr id="29" name="矩形 28"/>
          <p:cNvSpPr/>
          <p:nvPr/>
        </p:nvSpPr>
        <p:spPr>
          <a:xfrm>
            <a:off x="6119495" y="2751455"/>
            <a:ext cx="895350" cy="708660"/>
          </a:xfrm>
          <a:prstGeom prst="rect">
            <a:avLst/>
          </a:prstGeom>
          <a:solidFill>
            <a:schemeClr val="accent1">
              <a:lumMod val="20000"/>
              <a:lumOff val="80000"/>
              <a:alpha val="50000"/>
            </a:schemeClr>
          </a:solidFill>
          <a:ln>
            <a:solidFill>
              <a:schemeClr val="accent1">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solidFill>
                <a:cs typeface="微软雅黑" panose="020B0503020204020204" charset="-122"/>
                <a:sym typeface="+mn-ea"/>
              </a:rPr>
              <a:t>更懂用户</a:t>
            </a:r>
            <a:endParaRPr lang="zh-CN" altLang="en-US" sz="1200" b="1">
              <a:solidFill>
                <a:schemeClr val="accent1"/>
              </a:solidFill>
              <a:cs typeface="微软雅黑" panose="020B0503020204020204" charset="-122"/>
              <a:sym typeface="+mn-ea"/>
            </a:endParaRPr>
          </a:p>
        </p:txBody>
      </p:sp>
      <p:sp>
        <p:nvSpPr>
          <p:cNvPr id="30" name="矩形 29"/>
          <p:cNvSpPr/>
          <p:nvPr/>
        </p:nvSpPr>
        <p:spPr>
          <a:xfrm>
            <a:off x="6119495" y="2289810"/>
            <a:ext cx="895350" cy="397510"/>
          </a:xfrm>
          <a:prstGeom prst="rect">
            <a:avLst/>
          </a:prstGeom>
          <a:solidFill>
            <a:schemeClr val="accent1">
              <a:lumMod val="20000"/>
              <a:lumOff val="80000"/>
              <a:alpha val="50000"/>
            </a:schemeClr>
          </a:solidFill>
          <a:ln>
            <a:solidFill>
              <a:schemeClr val="accent1">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solidFill>
                <a:cs typeface="微软雅黑" panose="020B0503020204020204" charset="-122"/>
                <a:sym typeface="+mn-ea"/>
              </a:rPr>
              <a:t>广告形式</a:t>
            </a:r>
            <a:endParaRPr lang="zh-CN" altLang="en-US" sz="1200" b="1">
              <a:solidFill>
                <a:schemeClr val="accent1"/>
              </a:solidFill>
              <a:cs typeface="微软雅黑" panose="020B0503020204020204" charset="-122"/>
              <a:sym typeface="+mn-ea"/>
            </a:endParaRPr>
          </a:p>
        </p:txBody>
      </p:sp>
      <p:sp>
        <p:nvSpPr>
          <p:cNvPr id="31" name="矩形 30"/>
          <p:cNvSpPr/>
          <p:nvPr/>
        </p:nvSpPr>
        <p:spPr>
          <a:xfrm>
            <a:off x="6119495" y="3728085"/>
            <a:ext cx="895350" cy="440690"/>
          </a:xfrm>
          <a:prstGeom prst="rect">
            <a:avLst/>
          </a:prstGeom>
          <a:solidFill>
            <a:schemeClr val="accent1">
              <a:lumMod val="20000"/>
              <a:lumOff val="80000"/>
              <a:alpha val="20000"/>
            </a:schemeClr>
          </a:solidFill>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lumMod val="60000"/>
                    <a:lumOff val="40000"/>
                  </a:schemeClr>
                </a:solidFill>
                <a:cs typeface="微软雅黑" panose="020B0503020204020204" charset="-122"/>
                <a:sym typeface="+mn-ea"/>
              </a:rPr>
              <a:t>广告制作</a:t>
            </a:r>
            <a:endParaRPr lang="zh-CN" altLang="en-US" sz="1200" b="1">
              <a:solidFill>
                <a:schemeClr val="accent1">
                  <a:lumMod val="60000"/>
                  <a:lumOff val="40000"/>
                </a:schemeClr>
              </a:solidFill>
              <a:cs typeface="微软雅黑" panose="020B0503020204020204" charset="-122"/>
              <a:sym typeface="+mn-ea"/>
            </a:endParaRPr>
          </a:p>
        </p:txBody>
      </p:sp>
      <p:sp>
        <p:nvSpPr>
          <p:cNvPr id="32" name="矩形 31"/>
          <p:cNvSpPr/>
          <p:nvPr/>
        </p:nvSpPr>
        <p:spPr>
          <a:xfrm>
            <a:off x="6119495" y="4229100"/>
            <a:ext cx="895350" cy="440690"/>
          </a:xfrm>
          <a:prstGeom prst="rect">
            <a:avLst/>
          </a:prstGeom>
          <a:solidFill>
            <a:schemeClr val="accent1">
              <a:lumMod val="20000"/>
              <a:lumOff val="80000"/>
              <a:alpha val="20000"/>
            </a:schemeClr>
          </a:solidFill>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lumMod val="60000"/>
                    <a:lumOff val="40000"/>
                  </a:schemeClr>
                </a:solidFill>
                <a:cs typeface="微软雅黑" panose="020B0503020204020204" charset="-122"/>
                <a:sym typeface="+mn-ea"/>
              </a:rPr>
              <a:t>跨端</a:t>
            </a:r>
            <a:r>
              <a:rPr lang="zh-CN" altLang="en-US" sz="1200" b="1">
                <a:solidFill>
                  <a:schemeClr val="accent1">
                    <a:lumMod val="60000"/>
                    <a:lumOff val="40000"/>
                  </a:schemeClr>
                </a:solidFill>
                <a:cs typeface="微软雅黑" panose="020B0503020204020204" charset="-122"/>
                <a:sym typeface="+mn-ea"/>
              </a:rPr>
              <a:t>/</a:t>
            </a:r>
            <a:r>
              <a:rPr lang="zh-CN" altLang="en-US" sz="1200" b="1">
                <a:solidFill>
                  <a:schemeClr val="accent1">
                    <a:lumMod val="60000"/>
                    <a:lumOff val="40000"/>
                  </a:schemeClr>
                </a:solidFill>
                <a:cs typeface="微软雅黑" panose="020B0503020204020204" charset="-122"/>
                <a:sym typeface="+mn-ea"/>
              </a:rPr>
              <a:t>平台投放</a:t>
            </a:r>
            <a:endParaRPr lang="zh-CN" altLang="en-US" sz="1200" b="1">
              <a:solidFill>
                <a:schemeClr val="accent1">
                  <a:lumMod val="60000"/>
                  <a:lumOff val="40000"/>
                </a:schemeClr>
              </a:solidFill>
              <a:cs typeface="微软雅黑" panose="020B0503020204020204" charset="-122"/>
              <a:sym typeface="+mn-ea"/>
            </a:endParaRPr>
          </a:p>
        </p:txBody>
      </p:sp>
      <p:sp>
        <p:nvSpPr>
          <p:cNvPr id="33" name="矩形 32"/>
          <p:cNvSpPr/>
          <p:nvPr/>
        </p:nvSpPr>
        <p:spPr>
          <a:xfrm>
            <a:off x="6119495" y="4759325"/>
            <a:ext cx="895350" cy="440690"/>
          </a:xfrm>
          <a:prstGeom prst="rect">
            <a:avLst/>
          </a:prstGeom>
          <a:solidFill>
            <a:schemeClr val="accent1">
              <a:lumMod val="20000"/>
              <a:lumOff val="80000"/>
              <a:alpha val="20000"/>
            </a:schemeClr>
          </a:solidFill>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lumMod val="60000"/>
                    <a:lumOff val="40000"/>
                  </a:schemeClr>
                </a:solidFill>
                <a:cs typeface="微软雅黑" panose="020B0503020204020204" charset="-122"/>
                <a:sym typeface="+mn-ea"/>
              </a:rPr>
              <a:t>互动更立体</a:t>
            </a:r>
            <a:endParaRPr lang="zh-CN" altLang="en-US" sz="1200" b="1">
              <a:solidFill>
                <a:schemeClr val="accent1">
                  <a:lumMod val="60000"/>
                  <a:lumOff val="40000"/>
                </a:schemeClr>
              </a:solidFill>
              <a:cs typeface="微软雅黑" panose="020B0503020204020204" charset="-122"/>
              <a:sym typeface="+mn-ea"/>
            </a:endParaRPr>
          </a:p>
        </p:txBody>
      </p:sp>
      <p:sp>
        <p:nvSpPr>
          <p:cNvPr id="35" name="矩形 34"/>
          <p:cNvSpPr/>
          <p:nvPr/>
        </p:nvSpPr>
        <p:spPr>
          <a:xfrm>
            <a:off x="7123430" y="1817370"/>
            <a:ext cx="4641850" cy="397510"/>
          </a:xfrm>
          <a:prstGeom prst="rect">
            <a:avLst/>
          </a:prstGeom>
          <a:solidFill>
            <a:schemeClr val="bg1">
              <a:alpha val="10000"/>
            </a:schemeClr>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l">
              <a:buClrTx/>
              <a:buSzTx/>
              <a:buFontTx/>
            </a:pPr>
            <a:endParaRPr lang="zh-CN" altLang="en-US" sz="1200">
              <a:solidFill>
                <a:schemeClr val="tx2"/>
              </a:solidFill>
              <a:cs typeface="微软雅黑" panose="020B0503020204020204" charset="-122"/>
              <a:sym typeface="+mn-ea"/>
            </a:endParaRPr>
          </a:p>
        </p:txBody>
      </p:sp>
      <p:sp>
        <p:nvSpPr>
          <p:cNvPr id="36" name="矩形 35"/>
          <p:cNvSpPr/>
          <p:nvPr/>
        </p:nvSpPr>
        <p:spPr>
          <a:xfrm>
            <a:off x="7123430" y="2740660"/>
            <a:ext cx="4641850" cy="708660"/>
          </a:xfrm>
          <a:prstGeom prst="rect">
            <a:avLst/>
          </a:prstGeom>
          <a:solidFill>
            <a:schemeClr val="bg1">
              <a:alpha val="10000"/>
            </a:schemeClr>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l">
              <a:buClrTx/>
              <a:buSzTx/>
              <a:buFontTx/>
            </a:pPr>
            <a:endParaRPr lang="zh-CN" altLang="en-US" sz="1200">
              <a:solidFill>
                <a:schemeClr val="tx2"/>
              </a:solidFill>
              <a:cs typeface="微软雅黑" panose="020B0503020204020204" charset="-122"/>
              <a:sym typeface="+mn-ea"/>
            </a:endParaRPr>
          </a:p>
        </p:txBody>
      </p:sp>
      <p:sp>
        <p:nvSpPr>
          <p:cNvPr id="37" name="矩形 36"/>
          <p:cNvSpPr/>
          <p:nvPr/>
        </p:nvSpPr>
        <p:spPr>
          <a:xfrm>
            <a:off x="7123430" y="2279015"/>
            <a:ext cx="4641850" cy="397510"/>
          </a:xfrm>
          <a:prstGeom prst="rect">
            <a:avLst/>
          </a:prstGeom>
          <a:solidFill>
            <a:schemeClr val="bg1">
              <a:alpha val="10000"/>
            </a:schemeClr>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l">
              <a:buClrTx/>
              <a:buSzTx/>
              <a:buFontTx/>
            </a:pPr>
            <a:endParaRPr lang="zh-CN" altLang="en-US" sz="1200">
              <a:solidFill>
                <a:schemeClr val="tx2"/>
              </a:solidFill>
              <a:cs typeface="微软雅黑" panose="020B0503020204020204" charset="-122"/>
              <a:sym typeface="+mn-ea"/>
            </a:endParaRPr>
          </a:p>
        </p:txBody>
      </p:sp>
      <p:sp>
        <p:nvSpPr>
          <p:cNvPr id="38" name="矩形 37"/>
          <p:cNvSpPr/>
          <p:nvPr/>
        </p:nvSpPr>
        <p:spPr>
          <a:xfrm>
            <a:off x="7123430" y="3728085"/>
            <a:ext cx="4641850" cy="440690"/>
          </a:xfrm>
          <a:prstGeom prst="rect">
            <a:avLst/>
          </a:prstGeom>
          <a:ln>
            <a:solidFill>
              <a:schemeClr val="accent1">
                <a:lumMod val="60000"/>
                <a:lumOff val="40000"/>
                <a:alpha val="9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39" name="矩形 38"/>
          <p:cNvSpPr/>
          <p:nvPr/>
        </p:nvSpPr>
        <p:spPr>
          <a:xfrm>
            <a:off x="7123430" y="4229100"/>
            <a:ext cx="4641850" cy="440690"/>
          </a:xfrm>
          <a:prstGeom prst="rect">
            <a:avLst/>
          </a:prstGeom>
          <a:ln>
            <a:solidFill>
              <a:schemeClr val="accent1">
                <a:lumMod val="60000"/>
                <a:lumOff val="40000"/>
                <a:alpha val="95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0" name="矩形 39"/>
          <p:cNvSpPr/>
          <p:nvPr/>
        </p:nvSpPr>
        <p:spPr>
          <a:xfrm>
            <a:off x="7123430" y="4759325"/>
            <a:ext cx="4641850" cy="440690"/>
          </a:xfrm>
          <a:prstGeom prst="rect">
            <a:avLst/>
          </a:prstGeom>
          <a:ln>
            <a:solidFill>
              <a:schemeClr val="accent1">
                <a:lumMod val="60000"/>
                <a:lumOff val="40000"/>
                <a:alpha val="95000"/>
              </a:schemeClr>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1" name="矩形 40"/>
          <p:cNvSpPr/>
          <p:nvPr/>
        </p:nvSpPr>
        <p:spPr>
          <a:xfrm>
            <a:off x="1871345" y="2049145"/>
            <a:ext cx="902335" cy="1122045"/>
          </a:xfrm>
          <a:prstGeom prst="rect">
            <a:avLst/>
          </a:prstGeom>
          <a:solidFill>
            <a:srgbClr val="000000">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tx2"/>
                </a:solidFill>
                <a:cs typeface="微软雅黑" panose="020B0503020204020204" charset="-122"/>
                <a:sym typeface="+mn-ea"/>
              </a:rPr>
              <a:t>系统层，</a:t>
            </a:r>
            <a:endParaRPr lang="zh-CN" altLang="en-US" sz="1200">
              <a:solidFill>
                <a:schemeClr val="tx2"/>
              </a:solidFill>
              <a:cs typeface="微软雅黑" panose="020B0503020204020204" charset="-122"/>
              <a:sym typeface="+mn-ea"/>
            </a:endParaRPr>
          </a:p>
          <a:p>
            <a:pPr lvl="0" algn="ctr">
              <a:buClrTx/>
              <a:buSzTx/>
              <a:buFontTx/>
            </a:pPr>
            <a:r>
              <a:rPr lang="zh-CN" altLang="en-US" sz="1200">
                <a:solidFill>
                  <a:schemeClr val="tx2"/>
                </a:solidFill>
                <a:cs typeface="微软雅黑" panose="020B0503020204020204" charset="-122"/>
                <a:sym typeface="+mn-ea"/>
              </a:rPr>
              <a:t>拥有更深层的对核心数据感知能力</a:t>
            </a:r>
            <a:endParaRPr lang="zh-CN" altLang="en-US" sz="1200">
              <a:solidFill>
                <a:schemeClr val="tx2"/>
              </a:solidFill>
              <a:cs typeface="微软雅黑" panose="020B0503020204020204" charset="-122"/>
              <a:sym typeface="+mn-ea"/>
            </a:endParaRPr>
          </a:p>
        </p:txBody>
      </p:sp>
      <p:cxnSp>
        <p:nvCxnSpPr>
          <p:cNvPr id="42" name="直接箭头连接符 41"/>
          <p:cNvCxnSpPr/>
          <p:nvPr/>
        </p:nvCxnSpPr>
        <p:spPr>
          <a:xfrm>
            <a:off x="2783205" y="2607310"/>
            <a:ext cx="378460" cy="0"/>
          </a:xfrm>
          <a:prstGeom prst="straightConnector1">
            <a:avLst/>
          </a:prstGeom>
          <a:ln>
            <a:solidFill>
              <a:schemeClr val="accent1"/>
            </a:solidFill>
            <a:tailEnd type="triangle"/>
          </a:ln>
        </p:spPr>
        <p:style>
          <a:lnRef idx="2">
            <a:schemeClr val="accent1"/>
          </a:lnRef>
          <a:fillRef idx="0">
            <a:srgbClr val="FFFFFF"/>
          </a:fillRef>
          <a:effectRef idx="0">
            <a:srgbClr val="FFFFFF"/>
          </a:effectRef>
          <a:fontRef idx="minor">
            <a:schemeClr val="tx1"/>
          </a:fontRef>
        </p:style>
      </p:cxnSp>
      <p:cxnSp>
        <p:nvCxnSpPr>
          <p:cNvPr id="43" name="肘形连接符 42"/>
          <p:cNvCxnSpPr>
            <a:stCxn id="15" idx="1"/>
            <a:endCxn id="16" idx="1"/>
          </p:cNvCxnSpPr>
          <p:nvPr/>
        </p:nvCxnSpPr>
        <p:spPr>
          <a:xfrm rot="10800000" flipH="1" flipV="1">
            <a:off x="3161665" y="2211070"/>
            <a:ext cx="3175" cy="798830"/>
          </a:xfrm>
          <a:prstGeom prst="bentConnector3">
            <a:avLst>
              <a:gd name="adj1" fmla="val -6780000"/>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cxnSp>
      <p:sp>
        <p:nvSpPr>
          <p:cNvPr id="44" name="上箭头 43"/>
          <p:cNvSpPr/>
          <p:nvPr/>
        </p:nvSpPr>
        <p:spPr>
          <a:xfrm rot="5400000">
            <a:off x="4179570" y="2208530"/>
            <a:ext cx="919480" cy="803275"/>
          </a:xfrm>
          <a:prstGeom prst="upArrow">
            <a:avLst>
              <a:gd name="adj1" fmla="val 64019"/>
              <a:gd name="adj2" fmla="val 50474"/>
            </a:avLst>
          </a:prstGeom>
          <a:gradFill>
            <a:gsLst>
              <a:gs pos="100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9" name="文本框 48"/>
          <p:cNvSpPr txBox="1"/>
          <p:nvPr/>
        </p:nvSpPr>
        <p:spPr>
          <a:xfrm>
            <a:off x="5129530" y="1969770"/>
            <a:ext cx="688975" cy="597535"/>
          </a:xfrm>
          <a:prstGeom prst="rect">
            <a:avLst/>
          </a:prstGeom>
          <a:noFill/>
        </p:spPr>
        <p:txBody>
          <a:bodyPr wrap="square" rtlCol="0" anchor="ctr" anchorCtr="0">
            <a:noAutofit/>
          </a:bodyPr>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广告</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主侧</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5129530" y="2887980"/>
            <a:ext cx="688975" cy="464185"/>
          </a:xfrm>
          <a:prstGeom prst="rect">
            <a:avLst/>
          </a:prstGeom>
          <a:noFill/>
          <a:ln>
            <a:noFill/>
          </a:ln>
        </p:spPr>
        <p:txBody>
          <a:bodyPr wrap="square" rtlCol="0" anchor="ctr" anchorCtr="0">
            <a:noAutofit/>
          </a:bodyPr>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用户侧</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51" name="肘形连接符 50"/>
          <p:cNvCxnSpPr>
            <a:stCxn id="28" idx="1"/>
            <a:endCxn id="30" idx="1"/>
          </p:cNvCxnSpPr>
          <p:nvPr/>
        </p:nvCxnSpPr>
        <p:spPr>
          <a:xfrm rot="10800000" flipH="1" flipV="1">
            <a:off x="6119495" y="2026285"/>
            <a:ext cx="3175" cy="461645"/>
          </a:xfrm>
          <a:prstGeom prst="bentConnector3">
            <a:avLst>
              <a:gd name="adj1" fmla="val -6300000"/>
            </a:avLst>
          </a:prstGeom>
          <a:ln>
            <a:headEnd type="triangle"/>
            <a:tailEnd type="triangle"/>
          </a:ln>
        </p:spPr>
        <p:style>
          <a:lnRef idx="2">
            <a:schemeClr val="accent1"/>
          </a:lnRef>
          <a:fillRef idx="0">
            <a:srgbClr val="FFFFFF"/>
          </a:fillRef>
          <a:effectRef idx="0">
            <a:srgbClr val="FFFFFF"/>
          </a:effectRef>
          <a:fontRef idx="minor">
            <a:schemeClr val="tx1"/>
          </a:fontRef>
        </p:style>
      </p:cxnSp>
      <p:cxnSp>
        <p:nvCxnSpPr>
          <p:cNvPr id="52" name="直接箭头连接符 51"/>
          <p:cNvCxnSpPr/>
          <p:nvPr/>
        </p:nvCxnSpPr>
        <p:spPr>
          <a:xfrm>
            <a:off x="5818505" y="2279015"/>
            <a:ext cx="92710" cy="0"/>
          </a:xfrm>
          <a:prstGeom prst="straightConnector1">
            <a:avLst/>
          </a:prstGeom>
          <a:ln>
            <a:tailEnd type="none"/>
          </a:ln>
        </p:spPr>
        <p:style>
          <a:lnRef idx="2">
            <a:schemeClr val="accent1"/>
          </a:lnRef>
          <a:fillRef idx="0">
            <a:srgbClr val="FFFFFF"/>
          </a:fillRef>
          <a:effectRef idx="0">
            <a:srgbClr val="FFFFFF"/>
          </a:effectRef>
          <a:fontRef idx="minor">
            <a:schemeClr val="tx1"/>
          </a:fontRef>
        </p:style>
      </p:cxnSp>
      <p:cxnSp>
        <p:nvCxnSpPr>
          <p:cNvPr id="53" name="直接箭头连接符 52"/>
          <p:cNvCxnSpPr/>
          <p:nvPr/>
        </p:nvCxnSpPr>
        <p:spPr>
          <a:xfrm>
            <a:off x="5818505" y="3070225"/>
            <a:ext cx="316230" cy="0"/>
          </a:xfrm>
          <a:prstGeom prst="straightConnector1">
            <a:avLst/>
          </a:prstGeom>
          <a:ln>
            <a:tailEnd type="triangle"/>
          </a:ln>
        </p:spPr>
        <p:style>
          <a:lnRef idx="2">
            <a:schemeClr val="accent1"/>
          </a:lnRef>
          <a:fillRef idx="0">
            <a:srgbClr val="FFFFFF"/>
          </a:fillRef>
          <a:effectRef idx="0">
            <a:srgbClr val="FFFFFF"/>
          </a:effectRef>
          <a:fontRef idx="minor">
            <a:schemeClr val="tx1"/>
          </a:fontRef>
        </p:style>
      </p:cxnSp>
      <p:sp>
        <p:nvSpPr>
          <p:cNvPr id="54" name="文本框 53"/>
          <p:cNvSpPr txBox="1"/>
          <p:nvPr/>
        </p:nvSpPr>
        <p:spPr>
          <a:xfrm>
            <a:off x="3250565" y="3938270"/>
            <a:ext cx="1403350" cy="1122045"/>
          </a:xfrm>
          <a:prstGeom prst="rect">
            <a:avLst/>
          </a:prstGeom>
          <a:noFill/>
        </p:spPr>
        <p:txBody>
          <a:bodyPr wrap="square" rtlCol="0" anchor="ctr" anchorCtr="0">
            <a:noAutofit/>
          </a:bodyPr>
          <a:p>
            <a:r>
              <a:rPr lang="zh-CN" altLang="en-US" sz="1200">
                <a:solidFill>
                  <a:schemeClr val="tx2"/>
                </a:solidFill>
                <a:latin typeface="微软雅黑" panose="020B0503020204020204" charset="-122"/>
                <a:ea typeface="微软雅黑" panose="020B0503020204020204" charset="-122"/>
                <a:cs typeface="微软雅黑" panose="020B0503020204020204" charset="-122"/>
              </a:rPr>
              <a:t>促进统一底层架构，推动各参与主体在硬件层、系统层、软件层、内容层上活动的协同、连接</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等腰三角形 54"/>
          <p:cNvSpPr/>
          <p:nvPr/>
        </p:nvSpPr>
        <p:spPr>
          <a:xfrm rot="5400000">
            <a:off x="2700020" y="4292600"/>
            <a:ext cx="602615" cy="266700"/>
          </a:xfrm>
          <a:prstGeom prst="triangle">
            <a:avLst/>
          </a:prstGeom>
          <a:gradFill>
            <a:gsLst>
              <a:gs pos="100000">
                <a:schemeClr val="accent1">
                  <a:lumMod val="60000"/>
                  <a:lumOff val="40000"/>
                  <a:alpha val="0"/>
                </a:schemeClr>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6" name="等腰三角形 55"/>
          <p:cNvSpPr/>
          <p:nvPr/>
        </p:nvSpPr>
        <p:spPr>
          <a:xfrm rot="5400000">
            <a:off x="4646295" y="4385945"/>
            <a:ext cx="602615" cy="266700"/>
          </a:xfrm>
          <a:prstGeom prst="triangle">
            <a:avLst/>
          </a:prstGeom>
          <a:gradFill>
            <a:gsLst>
              <a:gs pos="100000">
                <a:schemeClr val="accent1">
                  <a:lumMod val="60000"/>
                  <a:lumOff val="40000"/>
                  <a:alpha val="0"/>
                </a:schemeClr>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cxnSp>
        <p:nvCxnSpPr>
          <p:cNvPr id="57" name="直接箭头连接符 56"/>
          <p:cNvCxnSpPr/>
          <p:nvPr/>
        </p:nvCxnSpPr>
        <p:spPr>
          <a:xfrm>
            <a:off x="5822950" y="4979670"/>
            <a:ext cx="260350" cy="0"/>
          </a:xfrm>
          <a:prstGeom prst="straightConnector1">
            <a:avLst/>
          </a:prstGeom>
          <a:ln>
            <a:solidFill>
              <a:schemeClr val="accent1">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60" name="肘形连接符 59"/>
          <p:cNvCxnSpPr/>
          <p:nvPr/>
        </p:nvCxnSpPr>
        <p:spPr>
          <a:xfrm rot="10800000" flipH="1" flipV="1">
            <a:off x="6111240" y="4010660"/>
            <a:ext cx="3175" cy="461645"/>
          </a:xfrm>
          <a:prstGeom prst="bentConnector3">
            <a:avLst>
              <a:gd name="adj1" fmla="val -6300000"/>
            </a:avLst>
          </a:prstGeom>
          <a:ln>
            <a:solidFill>
              <a:schemeClr val="accent1">
                <a:lumMod val="60000"/>
                <a:lumOff val="40000"/>
              </a:schemeClr>
            </a:solidFill>
            <a:headEnd type="triangle"/>
            <a:tailEnd type="triangle"/>
          </a:ln>
        </p:spPr>
        <p:style>
          <a:lnRef idx="2">
            <a:schemeClr val="accent1"/>
          </a:lnRef>
          <a:fillRef idx="0">
            <a:srgbClr val="FFFFFF"/>
          </a:fillRef>
          <a:effectRef idx="0">
            <a:srgbClr val="FFFFFF"/>
          </a:effectRef>
          <a:fontRef idx="minor">
            <a:schemeClr val="tx1"/>
          </a:fontRef>
        </p:style>
      </p:cxnSp>
      <p:cxnSp>
        <p:nvCxnSpPr>
          <p:cNvPr id="61" name="直接箭头连接符 60"/>
          <p:cNvCxnSpPr/>
          <p:nvPr/>
        </p:nvCxnSpPr>
        <p:spPr>
          <a:xfrm>
            <a:off x="5810250" y="4263390"/>
            <a:ext cx="92710" cy="0"/>
          </a:xfrm>
          <a:prstGeom prst="straightConnector1">
            <a:avLst/>
          </a:prstGeom>
          <a:ln>
            <a:solidFill>
              <a:schemeClr val="accent2"/>
            </a:solidFill>
            <a:tailEnd type="none"/>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7211060" y="3832543"/>
            <a:ext cx="4622165" cy="231775"/>
          </a:xfrm>
          <a:prstGeom prst="rect">
            <a:avLst/>
          </a:prstGeom>
          <a:noFill/>
        </p:spPr>
        <p:txBody>
          <a:bodyPr wrap="square" rtlCol="0" anchor="ctr" anchorCtr="0">
            <a:noAutofit/>
          </a:bodyPr>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短期</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辅助广告内容生成</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如文案、图片等</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长期</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辅助投放决策</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3" name="文本框 62"/>
          <p:cNvSpPr txBox="1"/>
          <p:nvPr/>
        </p:nvSpPr>
        <p:spPr>
          <a:xfrm>
            <a:off x="7211060" y="4333558"/>
            <a:ext cx="4622165" cy="231775"/>
          </a:xfrm>
          <a:prstGeom prst="rect">
            <a:avLst/>
          </a:prstGeom>
          <a:noFill/>
        </p:spPr>
        <p:txBody>
          <a:bodyPr wrap="square" rtlCol="0" anchor="ctr" anchorCtr="0">
            <a:noAutofit/>
          </a:bodyPr>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促进跨屏</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跨终端广告内容延续呈现成为可能</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增强用户重复记忆</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以更低成本、更高效率的成本促使广告素材适应不同终端投放</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4" name="文本框 63"/>
          <p:cNvSpPr txBox="1"/>
          <p:nvPr/>
        </p:nvSpPr>
        <p:spPr>
          <a:xfrm>
            <a:off x="7211060" y="4863783"/>
            <a:ext cx="4622165" cy="231775"/>
          </a:xfrm>
          <a:prstGeom prst="rect">
            <a:avLst/>
          </a:prstGeom>
          <a:noFill/>
        </p:spPr>
        <p:txBody>
          <a:bodyPr wrap="square" rtlCol="0" anchor="ctr" anchorCtr="0">
            <a:noAutofit/>
          </a:bodyPr>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互动方式上</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眼动</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手势识别、裸眼</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3D</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等增强用户体验与沉浸感</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视觉感官上</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更加具有美感</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提升欣赏性</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1946275" y="5614670"/>
            <a:ext cx="9724390" cy="618490"/>
          </a:xfrm>
          <a:prstGeom prst="rect">
            <a:avLst/>
          </a:prstGeom>
          <a:noFill/>
        </p:spPr>
        <p:txBody>
          <a:bodyPr wrap="square" rtlCol="0" anchor="ctr" anchorCtr="0">
            <a:noAutofit/>
          </a:bodyPr>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原有市场开发度提升</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数据层面的注立与完造后</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生态型蝶体平合特更了解平台上相关参与主体</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提升了广告位、广信形式等方面的优化空间</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营销能力焕发新机；</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新的求场操械挖据。核心参与主体的活动临故画后</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其痛的常求有望被发现</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意味着可通过更多将在触点可的达并满足其滞求。</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6" name="文本框 65"/>
          <p:cNvSpPr txBox="1"/>
          <p:nvPr/>
        </p:nvSpPr>
        <p:spPr>
          <a:xfrm>
            <a:off x="1394460" y="3352165"/>
            <a:ext cx="452755" cy="375920"/>
          </a:xfrm>
          <a:prstGeom prst="rect">
            <a:avLst/>
          </a:prstGeom>
          <a:noFill/>
        </p:spPr>
        <p:txBody>
          <a:bodyPr wrap="square" rtlCol="0" anchor="ctr" anchorCtr="0">
            <a:no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相互成就</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7" name="文本框 66"/>
          <p:cNvSpPr txBox="1"/>
          <p:nvPr/>
        </p:nvSpPr>
        <p:spPr>
          <a:xfrm>
            <a:off x="1363980" y="5110480"/>
            <a:ext cx="452755" cy="375920"/>
          </a:xfrm>
          <a:prstGeom prst="rect">
            <a:avLst/>
          </a:prstGeom>
          <a:noFill/>
        </p:spPr>
        <p:txBody>
          <a:bodyPr wrap="square" rtlCol="0" anchor="ctr" anchorCtr="0">
            <a:no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间接释放</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8" name="文本框 67"/>
          <p:cNvSpPr txBox="1"/>
          <p:nvPr/>
        </p:nvSpPr>
        <p:spPr>
          <a:xfrm>
            <a:off x="160020" y="3757295"/>
            <a:ext cx="224155" cy="935355"/>
          </a:xfrm>
          <a:prstGeom prst="rect">
            <a:avLst/>
          </a:prstGeom>
          <a:noFill/>
        </p:spPr>
        <p:txBody>
          <a:bodyPr wrap="square" rtlCol="0" anchor="ctr" anchorCtr="0">
            <a:noAutofit/>
          </a:bodyPr>
          <a:p>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直接推动</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9" name="文本框 68"/>
          <p:cNvSpPr txBox="1"/>
          <p:nvPr/>
        </p:nvSpPr>
        <p:spPr>
          <a:xfrm>
            <a:off x="641350" y="3757295"/>
            <a:ext cx="224155" cy="935355"/>
          </a:xfrm>
          <a:prstGeom prst="rect">
            <a:avLst/>
          </a:prstGeom>
          <a:noFill/>
        </p:spPr>
        <p:txBody>
          <a:bodyPr wrap="square" rtlCol="0" anchor="ctr" anchorCtr="0">
            <a:noAutofit/>
          </a:bodyPr>
          <a:p>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反哺</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0" name="文本框 69"/>
          <p:cNvSpPr txBox="1"/>
          <p:nvPr/>
        </p:nvSpPr>
        <p:spPr>
          <a:xfrm>
            <a:off x="7178675" y="1900238"/>
            <a:ext cx="3437890" cy="231775"/>
          </a:xfrm>
          <a:prstGeom prst="rect">
            <a:avLst/>
          </a:prstGeom>
          <a:noFill/>
        </p:spPr>
        <p:txBody>
          <a:bodyPr wrap="square" rtlCol="0" anchor="ctr" anchorCtr="0">
            <a:noAutofit/>
          </a:bodyPr>
          <a:p>
            <a:pPr marL="171450" indent="-171450" algn="l">
              <a:buFont typeface="Wingdings" panose="05000000000000000000" charset="0"/>
              <a:buChar char="l"/>
            </a:pPr>
            <a:r>
              <a:rPr lang="zh-CN" altLang="en-US" sz="1200">
                <a:solidFill>
                  <a:schemeClr val="tx2"/>
                </a:solidFill>
                <a:cs typeface="微软雅黑" panose="020B0503020204020204" charset="-122"/>
                <a:sym typeface="+mn-ea"/>
              </a:rPr>
              <a:t>充分分析用户数据,赋能广告投放</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7178675" y="2361883"/>
            <a:ext cx="4492625" cy="231775"/>
          </a:xfrm>
          <a:prstGeom prst="rect">
            <a:avLst/>
          </a:prstGeom>
          <a:noFill/>
        </p:spPr>
        <p:txBody>
          <a:bodyPr wrap="square" rtlCol="0" anchor="ctr" anchorCtr="0">
            <a:noAutofit/>
          </a:bodyPr>
          <a:p>
            <a:pPr marL="171450" lvl="0" indent="-171450" algn="l">
              <a:buClrTx/>
              <a:buSzTx/>
              <a:buFont typeface="Wingdings" panose="05000000000000000000" charset="0"/>
              <a:buChar char="l"/>
            </a:pPr>
            <a:r>
              <a:rPr lang="zh-CN" altLang="en-US" sz="1200">
                <a:solidFill>
                  <a:schemeClr val="tx2"/>
                </a:solidFill>
                <a:cs typeface="微软雅黑" panose="020B0503020204020204" charset="-122"/>
                <a:sym typeface="+mn-ea"/>
              </a:rPr>
              <a:t>根据投后数据分析,调整广告形式,降低用户广告感知度,让广告更软、更原生的出现</a:t>
            </a:r>
            <a:endParaRPr lang="zh-CN" altLang="en-US" sz="1200">
              <a:solidFill>
                <a:schemeClr val="tx2"/>
              </a:solidFill>
              <a:cs typeface="微软雅黑" panose="020B0503020204020204" charset="-122"/>
              <a:sym typeface="+mn-ea"/>
            </a:endParaRPr>
          </a:p>
        </p:txBody>
      </p:sp>
      <p:sp>
        <p:nvSpPr>
          <p:cNvPr id="72" name="文本框 71"/>
          <p:cNvSpPr txBox="1"/>
          <p:nvPr/>
        </p:nvSpPr>
        <p:spPr>
          <a:xfrm>
            <a:off x="7178675" y="2901633"/>
            <a:ext cx="4427855" cy="386715"/>
          </a:xfrm>
          <a:prstGeom prst="rect">
            <a:avLst/>
          </a:prstGeom>
          <a:noFill/>
        </p:spPr>
        <p:txBody>
          <a:bodyPr wrap="square" rtlCol="0" anchor="ctr" anchorCtr="0">
            <a:noAutofit/>
          </a:bodyPr>
          <a:p>
            <a:pPr marL="171450" lvl="0" indent="-171450" algn="l">
              <a:buClrTx/>
              <a:buSzTx/>
              <a:buFont typeface="Wingdings" panose="05000000000000000000" charset="0"/>
              <a:buChar char="l"/>
            </a:pPr>
            <a:r>
              <a:rPr lang="zh-CN" altLang="en-US" sz="1200">
                <a:solidFill>
                  <a:schemeClr val="tx2"/>
                </a:solidFill>
                <a:cs typeface="微软雅黑" panose="020B0503020204020204" charset="-122"/>
                <a:sym typeface="+mn-ea"/>
              </a:rPr>
              <a:t>推荐更精准、更个性化,决策更高效；跨端/跨平台的无缝衔接；覆盖情绪价值:减少推送或推送低广告痕迹</a:t>
            </a:r>
            <a:endParaRPr lang="zh-CN" altLang="en-US" sz="1200">
              <a:solidFill>
                <a:schemeClr val="tx2"/>
              </a:solidFill>
              <a:cs typeface="微软雅黑" panose="020B0503020204020204" charset="-122"/>
              <a:sym typeface="+mn-ea"/>
            </a:endParaRPr>
          </a:p>
        </p:txBody>
      </p:sp>
      <p:sp>
        <p:nvSpPr>
          <p:cNvPr id="76" name="文本框 75"/>
          <p:cNvSpPr txBox="1"/>
          <p:nvPr/>
        </p:nvSpPr>
        <p:spPr>
          <a:xfrm>
            <a:off x="606425" y="1033145"/>
            <a:ext cx="11000740" cy="583565"/>
          </a:xfrm>
          <a:prstGeom prst="rect">
            <a:avLst/>
          </a:prstGeom>
          <a:noFill/>
        </p:spPr>
        <p:txBody>
          <a:bodyPr wrap="square" rtlCol="0">
            <a:spAutoFit/>
          </a:bodyPr>
          <a:p>
            <a:r>
              <a:rPr lang="zh-CN" altLang="en-US" sz="1600">
                <a:solidFill>
                  <a:schemeClr val="tx2"/>
                </a:solidFill>
                <a:latin typeface="微软雅黑" panose="020B0503020204020204" charset="-122"/>
                <a:ea typeface="微软雅黑" panose="020B0503020204020204" charset="-122"/>
                <a:cs typeface="微软雅黑" panose="020B0503020204020204" charset="-122"/>
              </a:rPr>
              <a:t>通过系统化拆解了生态型媒体平台如何通过</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数据</a:t>
            </a:r>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技术</a:t>
            </a:r>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场景</a:t>
            </a:r>
            <a:r>
              <a:rPr lang="zh-CN" altLang="en-US" sz="1600">
                <a:solidFill>
                  <a:schemeClr val="tx2"/>
                </a:solidFill>
                <a:latin typeface="微软雅黑" panose="020B0503020204020204" charset="-122"/>
                <a:ea typeface="微软雅黑" panose="020B0503020204020204" charset="-122"/>
                <a:cs typeface="微软雅黑" panose="020B0503020204020204" charset="-122"/>
              </a:rPr>
              <a:t>三重革新，重构智能营销价值链，最终实现用户感知与商业价值的双升级。</a:t>
            </a:r>
            <a:endParaRPr lang="zh-CN" altLang="en-US" sz="1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4126230" y="2065020"/>
            <a:ext cx="955040" cy="1122045"/>
          </a:xfrm>
          <a:prstGeom prst="rect">
            <a:avLst/>
          </a:prstGeom>
          <a:noFill/>
        </p:spPr>
        <p:txBody>
          <a:bodyPr wrap="square" rtlCol="0" anchor="ctr" anchorCtr="0">
            <a:noAutofit/>
          </a:bodyPr>
          <a:p>
            <a:r>
              <a:rPr lang="zh-CN" altLang="en-US" sz="1000">
                <a:solidFill>
                  <a:schemeClr val="accent1"/>
                </a:solidFill>
                <a:latin typeface="微软雅黑" panose="020B0503020204020204" charset="-122"/>
                <a:ea typeface="微软雅黑" panose="020B0503020204020204" charset="-122"/>
                <a:cs typeface="微软雅黑" panose="020B0503020204020204" charset="-122"/>
              </a:rPr>
              <a:t>数据拉通、</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a:p>
            <a:r>
              <a:rPr lang="zh-CN" altLang="en-US" sz="1000">
                <a:solidFill>
                  <a:schemeClr val="accent1"/>
                </a:solidFill>
                <a:latin typeface="微软雅黑" panose="020B0503020204020204" charset="-122"/>
                <a:ea typeface="微软雅黑" panose="020B0503020204020204" charset="-122"/>
                <a:cs typeface="微软雅黑" panose="020B0503020204020204" charset="-122"/>
              </a:rPr>
              <a:t>数据归一、</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a:p>
            <a:r>
              <a:rPr lang="zh-CN" altLang="en-US" sz="1000">
                <a:solidFill>
                  <a:schemeClr val="accent1"/>
                </a:solidFill>
                <a:latin typeface="微软雅黑" panose="020B0503020204020204" charset="-122"/>
                <a:ea typeface="微软雅黑" panose="020B0503020204020204" charset="-122"/>
                <a:cs typeface="微软雅黑" panose="020B0503020204020204" charset="-122"/>
              </a:rPr>
              <a:t>数据标签</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8738235" y="348615"/>
            <a:ext cx="3219450" cy="332740"/>
            <a:chOff x="13761" y="549"/>
            <a:chExt cx="5070" cy="524"/>
          </a:xfrm>
        </p:grpSpPr>
        <p:pic>
          <p:nvPicPr>
            <p:cNvPr id="34" name="图片 3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任意多边形 57"/>
          <p:cNvSpPr/>
          <p:nvPr/>
        </p:nvSpPr>
        <p:spPr>
          <a:xfrm>
            <a:off x="1104900" y="1318895"/>
            <a:ext cx="10335260" cy="122618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7015" h="1639">
                <a:moveTo>
                  <a:pt x="0" y="1639"/>
                </a:moveTo>
                <a:cubicBezTo>
                  <a:pt x="791" y="1075"/>
                  <a:pt x="2836" y="505"/>
                  <a:pt x="4334" y="299"/>
                </a:cubicBezTo>
                <a:lnTo>
                  <a:pt x="4545" y="268"/>
                </a:lnTo>
                <a:lnTo>
                  <a:pt x="4760" y="239"/>
                </a:lnTo>
                <a:lnTo>
                  <a:pt x="4976" y="211"/>
                </a:lnTo>
                <a:lnTo>
                  <a:pt x="5196" y="184"/>
                </a:lnTo>
                <a:lnTo>
                  <a:pt x="5418" y="160"/>
                </a:lnTo>
                <a:lnTo>
                  <a:pt x="5643" y="137"/>
                </a:lnTo>
                <a:lnTo>
                  <a:pt x="5870" y="115"/>
                </a:lnTo>
                <a:lnTo>
                  <a:pt x="6100" y="96"/>
                </a:lnTo>
                <a:lnTo>
                  <a:pt x="6331" y="78"/>
                </a:lnTo>
                <a:lnTo>
                  <a:pt x="6565" y="62"/>
                </a:lnTo>
                <a:lnTo>
                  <a:pt x="6802" y="47"/>
                </a:lnTo>
                <a:lnTo>
                  <a:pt x="7040" y="35"/>
                </a:lnTo>
                <a:lnTo>
                  <a:pt x="7280" y="24"/>
                </a:lnTo>
                <a:lnTo>
                  <a:pt x="7522" y="16"/>
                </a:lnTo>
                <a:lnTo>
                  <a:pt x="7766" y="9"/>
                </a:lnTo>
                <a:lnTo>
                  <a:pt x="8011" y="4"/>
                </a:lnTo>
                <a:lnTo>
                  <a:pt x="8258" y="1"/>
                </a:lnTo>
                <a:lnTo>
                  <a:pt x="8507" y="0"/>
                </a:lnTo>
                <a:lnTo>
                  <a:pt x="8756" y="1"/>
                </a:lnTo>
                <a:lnTo>
                  <a:pt x="9003" y="4"/>
                </a:lnTo>
                <a:lnTo>
                  <a:pt x="9249" y="9"/>
                </a:lnTo>
                <a:lnTo>
                  <a:pt x="9493" y="16"/>
                </a:lnTo>
                <a:lnTo>
                  <a:pt x="9735" y="24"/>
                </a:lnTo>
                <a:lnTo>
                  <a:pt x="9975" y="35"/>
                </a:lnTo>
                <a:lnTo>
                  <a:pt x="10213" y="47"/>
                </a:lnTo>
                <a:lnTo>
                  <a:pt x="10449" y="62"/>
                </a:lnTo>
                <a:lnTo>
                  <a:pt x="10683" y="78"/>
                </a:lnTo>
                <a:lnTo>
                  <a:pt x="10915" y="96"/>
                </a:lnTo>
                <a:lnTo>
                  <a:pt x="11144" y="115"/>
                </a:lnTo>
                <a:lnTo>
                  <a:pt x="11372" y="137"/>
                </a:lnTo>
                <a:lnTo>
                  <a:pt x="11596" y="160"/>
                </a:lnTo>
                <a:lnTo>
                  <a:pt x="11818" y="184"/>
                </a:lnTo>
                <a:lnTo>
                  <a:pt x="12038" y="211"/>
                </a:lnTo>
                <a:lnTo>
                  <a:pt x="12255" y="239"/>
                </a:lnTo>
                <a:lnTo>
                  <a:pt x="12469" y="268"/>
                </a:lnTo>
                <a:lnTo>
                  <a:pt x="12681" y="299"/>
                </a:lnTo>
                <a:cubicBezTo>
                  <a:pt x="14568" y="551"/>
                  <a:pt x="16367" y="1195"/>
                  <a:pt x="17015" y="1639"/>
                </a:cubicBezTo>
                <a:lnTo>
                  <a:pt x="0" y="1639"/>
                </a:lnTo>
                <a:close/>
              </a:path>
            </a:pathLst>
          </a:custGeom>
          <a:gradFill>
            <a:gsLst>
              <a:gs pos="0">
                <a:schemeClr val="accent1">
                  <a:lumMod val="20000"/>
                  <a:lumOff val="80000"/>
                  <a:alpha val="0"/>
                </a:schemeClr>
              </a:gs>
              <a:gs pos="100000">
                <a:schemeClr val="accent1">
                  <a:lumMod val="20000"/>
                  <a:lumOff val="80000"/>
                  <a:alpha val="20000"/>
                </a:schemeClr>
              </a:gs>
            </a:gsLst>
            <a:lin ang="16200000" scaled="0"/>
          </a:gradFill>
          <a:ln>
            <a:gradFill>
              <a:gsLst>
                <a:gs pos="0">
                  <a:schemeClr val="accent1"/>
                </a:gs>
                <a:gs pos="100000">
                  <a:schemeClr val="accent1">
                    <a:alpha val="0"/>
                  </a:schemeClr>
                </a:gs>
              </a:gsLst>
              <a:lin ang="5400000" scaled="1"/>
            </a:gra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3" name="矩形 2"/>
          <p:cNvSpPr/>
          <p:nvPr/>
        </p:nvSpPr>
        <p:spPr>
          <a:xfrm>
            <a:off x="856615" y="3321050"/>
            <a:ext cx="1600200" cy="2260600"/>
          </a:xfrm>
          <a:prstGeom prst="rect">
            <a:avLst/>
          </a:prstGeom>
          <a:solidFill>
            <a:schemeClr val="accent1">
              <a:lumMod val="20000"/>
              <a:lumOff val="80000"/>
              <a:alpha val="50000"/>
            </a:schemeClr>
          </a:solidFill>
          <a:ln>
            <a:solidFill>
              <a:schemeClr val="accent1">
                <a:lumMod val="60000"/>
                <a:lumOff val="40000"/>
                <a:alpha val="7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数字支付</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a:t>
            </a:r>
            <a:r>
              <a:rPr sz="2500">
                <a:solidFill>
                  <a:schemeClr val="tx2"/>
                </a:solidFill>
                <a:effectLst/>
                <a:latin typeface="微软雅黑" panose="020B0503020204020204" charset="-122"/>
                <a:ea typeface="微软雅黑" panose="020B0503020204020204" charset="-122"/>
                <a:cs typeface="微软雅黑" panose="020B0503020204020204" charset="-122"/>
              </a:rPr>
              <a:t>生态业务流程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850900" y="2604135"/>
            <a:ext cx="10756900" cy="133350"/>
          </a:xfrm>
          <a:prstGeom prst="rect">
            <a:avLst/>
          </a:prstGeom>
          <a:gradFill>
            <a:gsLst>
              <a:gs pos="0">
                <a:schemeClr val="accent1"/>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8" name="梯形 27"/>
          <p:cNvSpPr/>
          <p:nvPr/>
        </p:nvSpPr>
        <p:spPr>
          <a:xfrm>
            <a:off x="850900" y="2083435"/>
            <a:ext cx="10756900" cy="520700"/>
          </a:xfrm>
          <a:prstGeom prst="trapezoid">
            <a:avLst>
              <a:gd name="adj" fmla="val 187465"/>
            </a:avLst>
          </a:prstGeom>
          <a:gradFill>
            <a:gsLst>
              <a:gs pos="0">
                <a:schemeClr val="accent1">
                  <a:lumMod val="60000"/>
                  <a:lumOff val="40000"/>
                  <a:alpha val="0"/>
                </a:schemeClr>
              </a:gs>
              <a:gs pos="100000">
                <a:schemeClr val="accent1">
                  <a:lumMod val="60000"/>
                  <a:lumOff val="40000"/>
                  <a:alpha val="70000"/>
                </a:schemeClr>
              </a:gs>
            </a:gsLst>
          </a:gradFill>
        </p:spPr>
        <p:style>
          <a:lnRef idx="0">
            <a:srgbClr val="FFFFFF"/>
          </a:lnRef>
          <a:fillRef idx="2">
            <a:schemeClr val="accent1"/>
          </a:fillRef>
          <a:effectRef idx="0">
            <a:srgbClr val="FFFFFF"/>
          </a:effectRef>
          <a:fontRef idx="minor">
            <a:schemeClr val="dk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圆角矩形 3"/>
          <p:cNvSpPr/>
          <p:nvPr/>
        </p:nvSpPr>
        <p:spPr>
          <a:xfrm>
            <a:off x="1040130" y="3679825"/>
            <a:ext cx="126555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2"/>
                </a:solidFill>
                <a:cs typeface="微软雅黑" panose="020B0503020204020204" charset="-122"/>
              </a:rPr>
              <a:t>应用开发者</a:t>
            </a:r>
            <a:endParaRPr lang="zh-CN" altLang="en-US" sz="1400">
              <a:solidFill>
                <a:schemeClr val="tx2"/>
              </a:solidFill>
              <a:cs typeface="微软雅黑" panose="020B0503020204020204" charset="-122"/>
            </a:endParaRPr>
          </a:p>
        </p:txBody>
      </p:sp>
      <p:sp>
        <p:nvSpPr>
          <p:cNvPr id="8" name="矩形 7"/>
          <p:cNvSpPr/>
          <p:nvPr/>
        </p:nvSpPr>
        <p:spPr>
          <a:xfrm>
            <a:off x="1028065" y="3100705"/>
            <a:ext cx="1322070" cy="429895"/>
          </a:xfrm>
          <a:prstGeom prst="rect">
            <a:avLst/>
          </a:prstGeom>
          <a:solidFill>
            <a:schemeClr val="accent1">
              <a:lumMod val="60000"/>
              <a:lumOff val="40000"/>
            </a:schemeClr>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cs typeface="微软雅黑" panose="020B0503020204020204" charset="-122"/>
                <a:sym typeface="+mn-ea"/>
              </a:rPr>
              <a:t>开发者伙伴</a:t>
            </a:r>
            <a:endParaRPr lang="zh-CN" altLang="en-US" sz="1400" b="1">
              <a:cs typeface="微软雅黑" panose="020B0503020204020204" charset="-122"/>
              <a:sym typeface="+mn-ea"/>
            </a:endParaRPr>
          </a:p>
        </p:txBody>
      </p:sp>
      <p:sp>
        <p:nvSpPr>
          <p:cNvPr id="9" name="矩形 8"/>
          <p:cNvSpPr/>
          <p:nvPr/>
        </p:nvSpPr>
        <p:spPr>
          <a:xfrm>
            <a:off x="3328035" y="3244215"/>
            <a:ext cx="1322070" cy="584200"/>
          </a:xfrm>
          <a:prstGeom prst="rect">
            <a:avLst/>
          </a:prstGeom>
          <a:solidFill>
            <a:schemeClr val="accent1">
              <a:lumMod val="60000"/>
              <a:lumOff val="40000"/>
            </a:schemeClr>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cs typeface="微软雅黑" panose="020B0503020204020204" charset="-122"/>
                <a:sym typeface="+mn-ea"/>
              </a:rPr>
              <a:t>SaaS</a:t>
            </a:r>
            <a:r>
              <a:rPr lang="zh-CN" altLang="en-US" sz="1200" b="1">
                <a:cs typeface="微软雅黑" panose="020B0503020204020204" charset="-122"/>
                <a:sym typeface="+mn-ea"/>
              </a:rPr>
              <a:t>应用</a:t>
            </a:r>
            <a:endParaRPr lang="zh-CN" altLang="en-US" sz="1200" b="1">
              <a:cs typeface="微软雅黑" panose="020B0503020204020204" charset="-122"/>
              <a:sym typeface="+mn-ea"/>
            </a:endParaRPr>
          </a:p>
          <a:p>
            <a:pPr lvl="0" algn="ctr">
              <a:buClrTx/>
              <a:buSzTx/>
              <a:buFontTx/>
            </a:pPr>
            <a:r>
              <a:rPr lang="zh-CN" altLang="en-US" sz="800" b="1">
                <a:cs typeface="微软雅黑" panose="020B0503020204020204" charset="-122"/>
                <a:sym typeface="+mn-ea"/>
              </a:rPr>
              <a:t>"</a:t>
            </a:r>
            <a:r>
              <a:rPr lang="zh-CN" altLang="en-US" sz="800" b="1">
                <a:cs typeface="微软雅黑" panose="020B0503020204020204" charset="-122"/>
                <a:sym typeface="+mn-ea"/>
              </a:rPr>
              <a:t>行业垂直解决方案</a:t>
            </a:r>
            <a:r>
              <a:rPr lang="zh-CN" altLang="en-US" sz="800" b="1">
                <a:cs typeface="微软雅黑" panose="020B0503020204020204" charset="-122"/>
                <a:sym typeface="+mn-ea"/>
              </a:rPr>
              <a:t>"</a:t>
            </a:r>
            <a:endParaRPr lang="zh-CN" altLang="en-US" sz="800" b="1">
              <a:cs typeface="微软雅黑" panose="020B0503020204020204" charset="-122"/>
              <a:sym typeface="+mn-ea"/>
            </a:endParaRPr>
          </a:p>
        </p:txBody>
      </p:sp>
      <p:sp>
        <p:nvSpPr>
          <p:cNvPr id="11" name="矩形 10"/>
          <p:cNvSpPr/>
          <p:nvPr/>
        </p:nvSpPr>
        <p:spPr>
          <a:xfrm>
            <a:off x="3359785" y="4982210"/>
            <a:ext cx="1322070" cy="584200"/>
          </a:xfrm>
          <a:prstGeom prst="rect">
            <a:avLst/>
          </a:prstGeom>
          <a:solidFill>
            <a:schemeClr val="accent1">
              <a:lumMod val="60000"/>
              <a:lumOff val="40000"/>
            </a:schemeClr>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cs typeface="微软雅黑" panose="020B0503020204020204" charset="-122"/>
                <a:sym typeface="+mn-ea"/>
              </a:rPr>
              <a:t>基础支付</a:t>
            </a:r>
            <a:endParaRPr lang="zh-CN" altLang="en-US" sz="1200" b="1">
              <a:cs typeface="微软雅黑" panose="020B0503020204020204" charset="-122"/>
              <a:sym typeface="+mn-ea"/>
            </a:endParaRPr>
          </a:p>
          <a:p>
            <a:pPr lvl="0" algn="ctr">
              <a:buClrTx/>
              <a:buSzTx/>
              <a:buFontTx/>
            </a:pPr>
            <a:r>
              <a:rPr lang="zh-CN" altLang="en-US" sz="800" b="1">
                <a:cs typeface="微软雅黑" panose="020B0503020204020204" charset="-122"/>
                <a:sym typeface="+mn-ea"/>
              </a:rPr>
              <a:t>"</a:t>
            </a:r>
            <a:r>
              <a:rPr lang="zh-CN" altLang="en-US" sz="800" b="1">
                <a:cs typeface="微软雅黑" panose="020B0503020204020204" charset="-122"/>
                <a:sym typeface="+mn-ea"/>
              </a:rPr>
              <a:t>稳定高效支付通道</a:t>
            </a:r>
            <a:r>
              <a:rPr lang="zh-CN" altLang="en-US" sz="800" b="1">
                <a:cs typeface="微软雅黑" panose="020B0503020204020204" charset="-122"/>
                <a:sym typeface="+mn-ea"/>
              </a:rPr>
              <a:t>"</a:t>
            </a:r>
            <a:endParaRPr lang="zh-CN" altLang="en-US" sz="800" b="1">
              <a:cs typeface="微软雅黑" panose="020B0503020204020204" charset="-122"/>
              <a:sym typeface="+mn-ea"/>
            </a:endParaRPr>
          </a:p>
        </p:txBody>
      </p:sp>
      <p:sp>
        <p:nvSpPr>
          <p:cNvPr id="12" name="矩形 11"/>
          <p:cNvSpPr/>
          <p:nvPr/>
        </p:nvSpPr>
        <p:spPr>
          <a:xfrm>
            <a:off x="4942205" y="4982210"/>
            <a:ext cx="1584960" cy="584200"/>
          </a:xfrm>
          <a:prstGeom prst="rect">
            <a:avLst/>
          </a:prstGeom>
          <a:solidFill>
            <a:schemeClr val="accent1">
              <a:lumMod val="60000"/>
              <a:lumOff val="40000"/>
            </a:schemeClr>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cs typeface="微软雅黑" panose="020B0503020204020204" charset="-122"/>
                <a:sym typeface="+mn-ea"/>
              </a:rPr>
              <a:t>场景实施伙伴</a:t>
            </a:r>
            <a:endParaRPr lang="zh-CN" altLang="en-US" sz="1200" b="1">
              <a:cs typeface="微软雅黑" panose="020B0503020204020204" charset="-122"/>
              <a:sym typeface="+mn-ea"/>
            </a:endParaRPr>
          </a:p>
          <a:p>
            <a:pPr lvl="0" algn="ctr">
              <a:buClrTx/>
              <a:buSzTx/>
              <a:buFontTx/>
            </a:pPr>
            <a:r>
              <a:rPr lang="en-US" altLang="zh-CN" sz="800">
                <a:cs typeface="微软雅黑" panose="020B0503020204020204" charset="-122"/>
                <a:sym typeface="+mn-ea"/>
              </a:rPr>
              <a:t>"</a:t>
            </a:r>
            <a:r>
              <a:rPr lang="zh-CN" altLang="en-US" sz="800">
                <a:cs typeface="微软雅黑" panose="020B0503020204020204" charset="-122"/>
                <a:sym typeface="+mn-ea"/>
              </a:rPr>
              <a:t>定制化落地全链路服务</a:t>
            </a:r>
            <a:r>
              <a:rPr lang="en-US" altLang="zh-CN" sz="800">
                <a:cs typeface="微软雅黑" panose="020B0503020204020204" charset="-122"/>
                <a:sym typeface="+mn-ea"/>
              </a:rPr>
              <a:t>"</a:t>
            </a:r>
            <a:endParaRPr lang="en-US" altLang="zh-CN" sz="800">
              <a:cs typeface="微软雅黑" panose="020B0503020204020204" charset="-122"/>
              <a:sym typeface="+mn-ea"/>
            </a:endParaRPr>
          </a:p>
        </p:txBody>
      </p:sp>
      <p:sp>
        <p:nvSpPr>
          <p:cNvPr id="18" name="矩形 17"/>
          <p:cNvSpPr/>
          <p:nvPr/>
        </p:nvSpPr>
        <p:spPr>
          <a:xfrm>
            <a:off x="10466070" y="3397885"/>
            <a:ext cx="1142365" cy="2085340"/>
          </a:xfrm>
          <a:prstGeom prst="rect">
            <a:avLst/>
          </a:prstGeom>
          <a:solidFill>
            <a:schemeClr val="accent1">
              <a:lumMod val="20000"/>
              <a:lumOff val="80000"/>
              <a:alpha val="50000"/>
            </a:schemeClr>
          </a:solidFill>
          <a:ln>
            <a:solidFill>
              <a:schemeClr val="accent1">
                <a:lumMod val="60000"/>
                <a:lumOff val="40000"/>
                <a:alpha val="7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1" name="右箭头 40"/>
          <p:cNvSpPr/>
          <p:nvPr/>
        </p:nvSpPr>
        <p:spPr>
          <a:xfrm rot="16200000">
            <a:off x="1521460" y="2789555"/>
            <a:ext cx="259080" cy="260985"/>
          </a:xfrm>
          <a:prstGeom prst="rightArrow">
            <a:avLst/>
          </a:prstGeom>
          <a:gradFill>
            <a:gsLst>
              <a:gs pos="0">
                <a:schemeClr val="accent1">
                  <a:lumMod val="60000"/>
                  <a:lumOff val="40000"/>
                  <a:alpha val="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2" name="右箭头 41"/>
          <p:cNvSpPr/>
          <p:nvPr/>
        </p:nvSpPr>
        <p:spPr>
          <a:xfrm rot="5400000" flipV="1">
            <a:off x="2867660" y="2816860"/>
            <a:ext cx="259080" cy="260985"/>
          </a:xfrm>
          <a:prstGeom prst="rightArrow">
            <a:avLst/>
          </a:prstGeom>
          <a:gradFill>
            <a:gsLst>
              <a:gs pos="0">
                <a:schemeClr val="accent1">
                  <a:lumMod val="60000"/>
                  <a:lumOff val="40000"/>
                  <a:alpha val="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3" name="右箭头 42"/>
          <p:cNvSpPr/>
          <p:nvPr/>
        </p:nvSpPr>
        <p:spPr>
          <a:xfrm rot="16200000">
            <a:off x="4187190" y="2789555"/>
            <a:ext cx="259080" cy="260985"/>
          </a:xfrm>
          <a:prstGeom prst="rightArrow">
            <a:avLst/>
          </a:prstGeom>
          <a:gradFill>
            <a:gsLst>
              <a:gs pos="0">
                <a:schemeClr val="accent1">
                  <a:lumMod val="60000"/>
                  <a:lumOff val="40000"/>
                  <a:alpha val="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4" name="右箭头 43"/>
          <p:cNvSpPr/>
          <p:nvPr/>
        </p:nvSpPr>
        <p:spPr>
          <a:xfrm rot="5400000" flipV="1">
            <a:off x="5533390" y="2816860"/>
            <a:ext cx="259080" cy="260985"/>
          </a:xfrm>
          <a:prstGeom prst="rightArrow">
            <a:avLst/>
          </a:prstGeom>
          <a:gradFill>
            <a:gsLst>
              <a:gs pos="0">
                <a:schemeClr val="accent1">
                  <a:lumMod val="60000"/>
                  <a:lumOff val="40000"/>
                  <a:alpha val="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7" name="右箭头 46"/>
          <p:cNvSpPr/>
          <p:nvPr/>
        </p:nvSpPr>
        <p:spPr>
          <a:xfrm rot="16200000">
            <a:off x="6903720" y="2789555"/>
            <a:ext cx="259080" cy="260985"/>
          </a:xfrm>
          <a:prstGeom prst="rightArrow">
            <a:avLst/>
          </a:prstGeom>
          <a:gradFill>
            <a:gsLst>
              <a:gs pos="0">
                <a:schemeClr val="accent1">
                  <a:lumMod val="60000"/>
                  <a:lumOff val="40000"/>
                  <a:alpha val="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8" name="右箭头 47"/>
          <p:cNvSpPr/>
          <p:nvPr/>
        </p:nvSpPr>
        <p:spPr>
          <a:xfrm rot="5400000" flipV="1">
            <a:off x="8249920" y="2816860"/>
            <a:ext cx="259080" cy="260985"/>
          </a:xfrm>
          <a:prstGeom prst="rightArrow">
            <a:avLst/>
          </a:prstGeom>
          <a:gradFill>
            <a:gsLst>
              <a:gs pos="0">
                <a:schemeClr val="accent1">
                  <a:lumMod val="60000"/>
                  <a:lumOff val="40000"/>
                  <a:alpha val="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9" name="右箭头 48"/>
          <p:cNvSpPr/>
          <p:nvPr/>
        </p:nvSpPr>
        <p:spPr>
          <a:xfrm rot="16200000">
            <a:off x="9558020" y="2789555"/>
            <a:ext cx="259080" cy="260985"/>
          </a:xfrm>
          <a:prstGeom prst="rightArrow">
            <a:avLst/>
          </a:prstGeom>
          <a:gradFill>
            <a:gsLst>
              <a:gs pos="0">
                <a:schemeClr val="accent1">
                  <a:lumMod val="60000"/>
                  <a:lumOff val="40000"/>
                  <a:alpha val="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50" name="右箭头 49"/>
          <p:cNvSpPr/>
          <p:nvPr/>
        </p:nvSpPr>
        <p:spPr>
          <a:xfrm rot="5400000" flipV="1">
            <a:off x="10904220" y="2816860"/>
            <a:ext cx="259080" cy="260985"/>
          </a:xfrm>
          <a:prstGeom prst="rightArrow">
            <a:avLst/>
          </a:prstGeom>
          <a:gradFill>
            <a:gsLst>
              <a:gs pos="0">
                <a:schemeClr val="accent1">
                  <a:lumMod val="60000"/>
                  <a:lumOff val="40000"/>
                  <a:alpha val="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cxnSp>
        <p:nvCxnSpPr>
          <p:cNvPr id="51" name="直接连接符 50"/>
          <p:cNvCxnSpPr/>
          <p:nvPr/>
        </p:nvCxnSpPr>
        <p:spPr>
          <a:xfrm>
            <a:off x="2711450" y="4296410"/>
            <a:ext cx="2172335" cy="0"/>
          </a:xfrm>
          <a:prstGeom prst="line">
            <a:avLst/>
          </a:prstGeom>
          <a:ln>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52" name="直接连接符 51"/>
          <p:cNvCxnSpPr/>
          <p:nvPr/>
        </p:nvCxnSpPr>
        <p:spPr>
          <a:xfrm>
            <a:off x="2741295" y="4442460"/>
            <a:ext cx="2200275" cy="0"/>
          </a:xfrm>
          <a:prstGeom prst="line">
            <a:avLst/>
          </a:prstGeom>
          <a:ln>
            <a:solidFill>
              <a:schemeClr val="accent5"/>
            </a:solidFill>
            <a:headEnd type="triangle"/>
          </a:ln>
        </p:spPr>
        <p:style>
          <a:lnRef idx="2">
            <a:schemeClr val="accent1"/>
          </a:lnRef>
          <a:fillRef idx="0">
            <a:srgbClr val="FFFFFF"/>
          </a:fillRef>
          <a:effectRef idx="0">
            <a:srgbClr val="FFFFFF"/>
          </a:effectRef>
          <a:fontRef idx="minor">
            <a:schemeClr val="tx1"/>
          </a:fontRef>
        </p:style>
      </p:cxnSp>
      <p:sp>
        <p:nvSpPr>
          <p:cNvPr id="60" name="矩形 59"/>
          <p:cNvSpPr/>
          <p:nvPr/>
        </p:nvSpPr>
        <p:spPr>
          <a:xfrm>
            <a:off x="851535" y="5848350"/>
            <a:ext cx="10756900" cy="588010"/>
          </a:xfrm>
          <a:prstGeom prst="rect">
            <a:avLst/>
          </a:prstGeom>
          <a:gradFill>
            <a:gsLst>
              <a:gs pos="0">
                <a:schemeClr val="accent5"/>
              </a:gs>
              <a:gs pos="100000">
                <a:schemeClr val="accent5">
                  <a:lumMod val="60000"/>
                  <a:lumOff val="40000"/>
                </a:schemeClr>
              </a:gs>
            </a:gsLst>
            <a:lin ang="0" scaled="0"/>
          </a:gra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cs typeface="微软雅黑" panose="020B0503020204020204" charset="-122"/>
              </a:rPr>
              <a:t>围绕</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支付业务流</a:t>
            </a:r>
            <a:r>
              <a:rPr lang="en-US" altLang="en-US" b="1">
                <a:latin typeface="微软雅黑" panose="020B0503020204020204" charset="-122"/>
                <a:ea typeface="微软雅黑" panose="020B0503020204020204" charset="-122"/>
                <a:cs typeface="微软雅黑" panose="020B0503020204020204" charset="-122"/>
              </a:rPr>
              <a:t>→</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生态协作流</a:t>
            </a:r>
            <a:r>
              <a:rPr lang="en-US" altLang="en-US" b="1">
                <a:latin typeface="微软雅黑" panose="020B0503020204020204" charset="-122"/>
                <a:ea typeface="微软雅黑" panose="020B0503020204020204" charset="-122"/>
                <a:cs typeface="微软雅黑" panose="020B0503020204020204" charset="-122"/>
              </a:rPr>
              <a:t>→</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商业价值流</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，构建数字支付</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新生态</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61" name="圆角矩形 60"/>
          <p:cNvSpPr/>
          <p:nvPr/>
        </p:nvSpPr>
        <p:spPr>
          <a:xfrm>
            <a:off x="1040130" y="4140200"/>
            <a:ext cx="126555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olidFill>
                  <a:schemeClr val="tx2"/>
                </a:solidFill>
                <a:cs typeface="微软雅黑" panose="020B0503020204020204" charset="-122"/>
              </a:rPr>
              <a:t>SaaS</a:t>
            </a:r>
            <a:r>
              <a:rPr lang="zh-CN" altLang="en-US" sz="1400">
                <a:solidFill>
                  <a:schemeClr val="tx2"/>
                </a:solidFill>
                <a:cs typeface="微软雅黑" panose="020B0503020204020204" charset="-122"/>
              </a:rPr>
              <a:t>软件商</a:t>
            </a:r>
            <a:endParaRPr lang="zh-CN" altLang="en-US" sz="1400">
              <a:solidFill>
                <a:schemeClr val="tx2"/>
              </a:solidFill>
              <a:cs typeface="微软雅黑" panose="020B0503020204020204" charset="-122"/>
            </a:endParaRPr>
          </a:p>
        </p:txBody>
      </p:sp>
      <p:sp>
        <p:nvSpPr>
          <p:cNvPr id="62" name="圆角矩形 61"/>
          <p:cNvSpPr/>
          <p:nvPr/>
        </p:nvSpPr>
        <p:spPr>
          <a:xfrm>
            <a:off x="1040130" y="4600575"/>
            <a:ext cx="126555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2"/>
                </a:solidFill>
                <a:cs typeface="微软雅黑" panose="020B0503020204020204" charset="-122"/>
              </a:rPr>
              <a:t>传统软件商</a:t>
            </a:r>
            <a:endParaRPr lang="zh-CN" altLang="en-US" sz="1400">
              <a:solidFill>
                <a:schemeClr val="tx2"/>
              </a:solidFill>
              <a:cs typeface="微软雅黑" panose="020B0503020204020204" charset="-122"/>
            </a:endParaRPr>
          </a:p>
        </p:txBody>
      </p:sp>
      <p:sp>
        <p:nvSpPr>
          <p:cNvPr id="63" name="圆角矩形 62"/>
          <p:cNvSpPr/>
          <p:nvPr/>
        </p:nvSpPr>
        <p:spPr>
          <a:xfrm>
            <a:off x="1040130" y="5060950"/>
            <a:ext cx="126555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2"/>
                </a:solidFill>
                <a:cs typeface="微软雅黑" panose="020B0503020204020204" charset="-122"/>
              </a:rPr>
              <a:t>接口服务商</a:t>
            </a:r>
            <a:endParaRPr lang="zh-CN" altLang="en-US" sz="1400">
              <a:solidFill>
                <a:schemeClr val="tx2"/>
              </a:solidFill>
              <a:cs typeface="微软雅黑" panose="020B0503020204020204" charset="-122"/>
            </a:endParaRPr>
          </a:p>
        </p:txBody>
      </p:sp>
      <p:sp>
        <p:nvSpPr>
          <p:cNvPr id="315" name="任意多边形: 形状 280"/>
          <p:cNvSpPr/>
          <p:nvPr/>
        </p:nvSpPr>
        <p:spPr>
          <a:xfrm rot="5400000">
            <a:off x="2697480" y="3296920"/>
            <a:ext cx="429895" cy="6318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64" name="文本框 63"/>
          <p:cNvSpPr txBox="1"/>
          <p:nvPr/>
        </p:nvSpPr>
        <p:spPr>
          <a:xfrm>
            <a:off x="2477135" y="3175635"/>
            <a:ext cx="83248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应用上架</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5" name="任意多边形: 形状 280"/>
          <p:cNvSpPr/>
          <p:nvPr/>
        </p:nvSpPr>
        <p:spPr>
          <a:xfrm rot="16200000" flipH="1">
            <a:off x="2697480" y="4892040"/>
            <a:ext cx="429895" cy="6318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66" name="文本框 65"/>
          <p:cNvSpPr txBox="1"/>
          <p:nvPr/>
        </p:nvSpPr>
        <p:spPr>
          <a:xfrm>
            <a:off x="2502535" y="5391150"/>
            <a:ext cx="83248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能力输出</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7" name="文本框 66"/>
          <p:cNvSpPr txBox="1"/>
          <p:nvPr/>
        </p:nvSpPr>
        <p:spPr>
          <a:xfrm>
            <a:off x="3531870" y="3984625"/>
            <a:ext cx="832485" cy="275590"/>
          </a:xfrm>
          <a:prstGeom prst="rect">
            <a:avLst/>
          </a:prstGeom>
          <a:noFill/>
        </p:spPr>
        <p:txBody>
          <a:bodyPr wrap="square" rtlCol="0">
            <a:spAutoFit/>
          </a:bodyP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入驻</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68" name="文本框 67"/>
          <p:cNvSpPr txBox="1"/>
          <p:nvPr/>
        </p:nvSpPr>
        <p:spPr>
          <a:xfrm>
            <a:off x="3531870" y="4460240"/>
            <a:ext cx="832485" cy="275590"/>
          </a:xfrm>
          <a:prstGeom prst="rect">
            <a:avLst/>
          </a:prstGeom>
          <a:noFill/>
        </p:spPr>
        <p:txBody>
          <a:bodyPr wrap="square" rtlCol="0">
            <a:spAutoFit/>
          </a:bodyP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标准输出</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69" name="梯形 322"/>
          <p:cNvSpPr/>
          <p:nvPr>
            <p:custDataLst>
              <p:tags r:id="rId1"/>
            </p:custDataLst>
          </p:nvPr>
        </p:nvSpPr>
        <p:spPr>
          <a:xfrm rot="10800000">
            <a:off x="4883785" y="3443605"/>
            <a:ext cx="1691640" cy="891540"/>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697627">
                <a:moveTo>
                  <a:pt x="0" y="697627"/>
                </a:moveTo>
                <a:cubicBezTo>
                  <a:pt x="142112" y="493080"/>
                  <a:pt x="223106" y="307190"/>
                  <a:pt x="197267" y="0"/>
                </a:cubicBezTo>
                <a:lnTo>
                  <a:pt x="745261" y="0"/>
                </a:lnTo>
                <a:cubicBezTo>
                  <a:pt x="747414" y="269867"/>
                  <a:pt x="823278" y="399774"/>
                  <a:pt x="965390" y="697627"/>
                </a:cubicBezTo>
                <a:lnTo>
                  <a:pt x="0" y="697627"/>
                </a:lnTo>
                <a:close/>
              </a:path>
            </a:pathLst>
          </a:custGeom>
          <a:gradFill flip="none" rotWithShape="1">
            <a:gsLst>
              <a:gs pos="42000">
                <a:schemeClr val="accent5">
                  <a:lumMod val="20000"/>
                  <a:lumOff val="80000"/>
                </a:schemeClr>
              </a:gs>
              <a:gs pos="0">
                <a:schemeClr val="accent5">
                  <a:lumMod val="20000"/>
                  <a:lumOff val="80000"/>
                  <a:alpha val="0"/>
                </a:schemeClr>
              </a:gs>
              <a:gs pos="67000">
                <a:schemeClr val="accent5">
                  <a:lumMod val="20000"/>
                  <a:lumOff val="80000"/>
                </a:schemeClr>
              </a:gs>
              <a:gs pos="100000">
                <a:schemeClr val="accent5">
                  <a:lumMod val="20000"/>
                  <a:lumOff val="80000"/>
                  <a:alpha val="0"/>
                </a:schemeClr>
              </a:gs>
            </a:gsLst>
            <a:lin ang="16200000" scaled="1"/>
          </a:gradFill>
          <a:ln>
            <a:gradFill flip="none" rotWithShape="1">
              <a:gsLst>
                <a:gs pos="50500">
                  <a:schemeClr val="accent5"/>
                </a:gs>
                <a:gs pos="0">
                  <a:schemeClr val="accent5">
                    <a:alpha val="0"/>
                  </a:schemeClr>
                </a:gs>
                <a:gs pos="100000">
                  <a:schemeClr val="accent5">
                    <a:alpha val="0"/>
                  </a:schemeClr>
                </a:gs>
              </a:gsLst>
              <a:lin ang="5400000" scaled="1"/>
              <a:tileRect/>
            </a:gradFill>
          </a:ln>
        </p:spPr>
        <p:style>
          <a:lnRef idx="2">
            <a:srgbClr val="3D41F1">
              <a:shade val="50000"/>
            </a:srgbClr>
          </a:lnRef>
          <a:fillRef idx="1">
            <a:srgbClr val="3D41F1"/>
          </a:fillRef>
          <a:effectRef idx="0">
            <a:srgbClr val="3D41F1"/>
          </a:effectRef>
          <a:fontRef idx="minor">
            <a:srgbClr val="FFFFFF"/>
          </a:fontRef>
        </p:style>
        <p:txBody>
          <a:bodyPr rtlCol="0" anchor="ctr"/>
          <a:p>
            <a:pPr algn="ctr"/>
            <a:endParaRPr lang="zh-CN" altLang="en-US" sz="18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0" name="不完整圆 235"/>
          <p:cNvSpPr/>
          <p:nvPr/>
        </p:nvSpPr>
        <p:spPr>
          <a:xfrm>
            <a:off x="5163820" y="4261485"/>
            <a:ext cx="1179830" cy="20129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flip="none" rotWithShape="1">
            <a:gsLst>
              <a:gs pos="19000">
                <a:schemeClr val="accent5">
                  <a:lumMod val="20000"/>
                  <a:lumOff val="80000"/>
                  <a:alpha val="0"/>
                </a:schemeClr>
              </a:gs>
              <a:gs pos="100000">
                <a:schemeClr val="accent5">
                  <a:lumMod val="20000"/>
                  <a:lumOff val="80000"/>
                </a:schemeClr>
              </a:gs>
            </a:gsLst>
            <a:path path="circle">
              <a:fillToRect l="50000" t="50000" r="50000" b="50000"/>
            </a:path>
            <a:tileRect/>
          </a:gradFill>
          <a:ln w="11684">
            <a:gradFill flip="none" rotWithShape="1">
              <a:gsLst>
                <a:gs pos="0">
                  <a:schemeClr val="accent5">
                    <a:lumMod val="20000"/>
                    <a:lumOff val="80000"/>
                    <a:alpha val="0"/>
                  </a:schemeClr>
                </a:gs>
                <a:gs pos="100000">
                  <a:schemeClr val="accent5">
                    <a:lumMod val="20000"/>
                    <a:lumOff val="80000"/>
                  </a:schemeClr>
                </a:gs>
              </a:gsLst>
              <a:lin ang="5400000" scaled="1"/>
              <a:tileRect/>
            </a:gra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p>
            <a:pPr lvl="0" algn="ctr">
              <a:buClrTx/>
              <a:buSzTx/>
              <a:buFontTx/>
            </a:pPr>
            <a:endParaRPr lang="zh-CN" altLang="en-US" sz="165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71" name="文本框 70"/>
          <p:cNvSpPr txBox="1"/>
          <p:nvPr/>
        </p:nvSpPr>
        <p:spPr>
          <a:xfrm>
            <a:off x="4967605" y="3746500"/>
            <a:ext cx="1536065" cy="275590"/>
          </a:xfrm>
          <a:prstGeom prst="rect">
            <a:avLst/>
          </a:prstGeom>
          <a:noFill/>
        </p:spPr>
        <p:txBody>
          <a:bodyPr wrap="square" rtlCol="0">
            <a:spAutoFit/>
          </a:bodyPr>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数字开放平台</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73" name="直接连接符 72"/>
          <p:cNvCxnSpPr/>
          <p:nvPr/>
        </p:nvCxnSpPr>
        <p:spPr>
          <a:xfrm>
            <a:off x="5925503" y="4525328"/>
            <a:ext cx="0" cy="394970"/>
          </a:xfrm>
          <a:prstGeom prst="line">
            <a:avLst/>
          </a:prstGeom>
          <a:ln>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74" name="直接连接符 73"/>
          <p:cNvCxnSpPr/>
          <p:nvPr/>
        </p:nvCxnSpPr>
        <p:spPr>
          <a:xfrm flipV="1">
            <a:off x="5735638" y="4513263"/>
            <a:ext cx="0" cy="394970"/>
          </a:xfrm>
          <a:prstGeom prst="line">
            <a:avLst/>
          </a:prstGeom>
          <a:ln>
            <a:solidFill>
              <a:schemeClr val="accent5"/>
            </a:solidFill>
            <a:tailEnd type="triangle"/>
          </a:ln>
        </p:spPr>
        <p:style>
          <a:lnRef idx="2">
            <a:schemeClr val="accent1"/>
          </a:lnRef>
          <a:fillRef idx="0">
            <a:srgbClr val="FFFFFF"/>
          </a:fillRef>
          <a:effectRef idx="0">
            <a:srgbClr val="FFFFFF"/>
          </a:effectRef>
          <a:fontRef idx="minor">
            <a:schemeClr val="tx1"/>
          </a:fontRef>
        </p:style>
      </p:cxnSp>
      <p:sp>
        <p:nvSpPr>
          <p:cNvPr id="75" name="文本框 74"/>
          <p:cNvSpPr txBox="1"/>
          <p:nvPr/>
        </p:nvSpPr>
        <p:spPr>
          <a:xfrm>
            <a:off x="5069205" y="4600575"/>
            <a:ext cx="784225" cy="275590"/>
          </a:xfrm>
          <a:prstGeom prst="rect">
            <a:avLst/>
          </a:prstGeom>
          <a:noFill/>
        </p:spPr>
        <p:txBody>
          <a:bodyPr wrap="square" rtlCol="0">
            <a:spAutoFit/>
          </a:bodyP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入驻</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6" name="文本框 75"/>
          <p:cNvSpPr txBox="1"/>
          <p:nvPr/>
        </p:nvSpPr>
        <p:spPr>
          <a:xfrm>
            <a:off x="5796280" y="4600575"/>
            <a:ext cx="784225" cy="275590"/>
          </a:xfrm>
          <a:prstGeom prst="rect">
            <a:avLst/>
          </a:prstGeom>
          <a:noFill/>
        </p:spPr>
        <p:txBody>
          <a:bodyPr wrap="square" rtlCol="0">
            <a:spAutoFit/>
          </a:bodyP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派单</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79" name="组合 78"/>
          <p:cNvGrpSpPr/>
          <p:nvPr/>
        </p:nvGrpSpPr>
        <p:grpSpPr>
          <a:xfrm>
            <a:off x="6681470" y="3853815"/>
            <a:ext cx="1101725" cy="146050"/>
            <a:chOff x="10522" y="6403"/>
            <a:chExt cx="3511" cy="230"/>
          </a:xfrm>
        </p:grpSpPr>
        <p:cxnSp>
          <p:nvCxnSpPr>
            <p:cNvPr id="77" name="直接连接符 76"/>
            <p:cNvCxnSpPr/>
            <p:nvPr/>
          </p:nvCxnSpPr>
          <p:spPr>
            <a:xfrm>
              <a:off x="10522" y="6403"/>
              <a:ext cx="3421" cy="0"/>
            </a:xfrm>
            <a:prstGeom prst="line">
              <a:avLst/>
            </a:prstGeom>
            <a:ln>
              <a:solidFill>
                <a:schemeClr val="accent5"/>
              </a:solidFill>
              <a:tailEnd type="triangle"/>
            </a:ln>
          </p:spPr>
          <p:style>
            <a:lnRef idx="2">
              <a:schemeClr val="accent1"/>
            </a:lnRef>
            <a:fillRef idx="0">
              <a:srgbClr val="FFFFFF"/>
            </a:fillRef>
            <a:effectRef idx="0">
              <a:srgbClr val="FFFFFF"/>
            </a:effectRef>
            <a:fontRef idx="minor">
              <a:schemeClr val="tx1"/>
            </a:fontRef>
          </p:style>
        </p:cxnSp>
        <p:cxnSp>
          <p:nvCxnSpPr>
            <p:cNvPr id="78" name="直接连接符 77"/>
            <p:cNvCxnSpPr/>
            <p:nvPr/>
          </p:nvCxnSpPr>
          <p:spPr>
            <a:xfrm>
              <a:off x="10569" y="6633"/>
              <a:ext cx="3465" cy="0"/>
            </a:xfrm>
            <a:prstGeom prst="line">
              <a:avLst/>
            </a:prstGeom>
            <a:ln>
              <a:solidFill>
                <a:schemeClr val="accent5"/>
              </a:solidFill>
              <a:headEnd type="triangle"/>
            </a:ln>
          </p:spPr>
          <p:style>
            <a:lnRef idx="2">
              <a:schemeClr val="accent1"/>
            </a:lnRef>
            <a:fillRef idx="0">
              <a:srgbClr val="FFFFFF"/>
            </a:fillRef>
            <a:effectRef idx="0">
              <a:srgbClr val="FFFFFF"/>
            </a:effectRef>
            <a:fontRef idx="minor">
              <a:schemeClr val="tx1"/>
            </a:fontRef>
          </p:style>
        </p:cxnSp>
      </p:grpSp>
      <p:sp>
        <p:nvSpPr>
          <p:cNvPr id="80" name="文本框 79"/>
          <p:cNvSpPr txBox="1"/>
          <p:nvPr/>
        </p:nvSpPr>
        <p:spPr>
          <a:xfrm>
            <a:off x="6579870" y="3526790"/>
            <a:ext cx="1363980" cy="275590"/>
          </a:xfrm>
          <a:prstGeom prst="rect">
            <a:avLst/>
          </a:prstGeom>
          <a:noFill/>
        </p:spPr>
        <p:txBody>
          <a:bodyPr wrap="square" rtlCol="0">
            <a:spAutoFit/>
          </a:bodyP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解决方案获取</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6579870" y="4059555"/>
            <a:ext cx="1363980" cy="275590"/>
          </a:xfrm>
          <a:prstGeom prst="rect">
            <a:avLst/>
          </a:prstGeom>
          <a:noFill/>
        </p:spPr>
        <p:txBody>
          <a:bodyPr wrap="square" rtlCol="0">
            <a:spAutoFit/>
          </a:bodyP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场景合作需求</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82" name="矩形 81"/>
          <p:cNvSpPr/>
          <p:nvPr/>
        </p:nvSpPr>
        <p:spPr>
          <a:xfrm>
            <a:off x="7943850" y="3372485"/>
            <a:ext cx="1600200" cy="2260600"/>
          </a:xfrm>
          <a:prstGeom prst="rect">
            <a:avLst/>
          </a:prstGeom>
          <a:solidFill>
            <a:schemeClr val="accent1">
              <a:lumMod val="20000"/>
              <a:lumOff val="80000"/>
              <a:alpha val="50000"/>
            </a:schemeClr>
          </a:solidFill>
          <a:ln>
            <a:solidFill>
              <a:schemeClr val="accent1">
                <a:lumMod val="60000"/>
                <a:lumOff val="40000"/>
                <a:alpha val="7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3" name="圆角矩形 82"/>
          <p:cNvSpPr/>
          <p:nvPr/>
        </p:nvSpPr>
        <p:spPr>
          <a:xfrm>
            <a:off x="8127365" y="3731260"/>
            <a:ext cx="126555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2"/>
                </a:solidFill>
                <a:cs typeface="微软雅黑" panose="020B0503020204020204" charset="-122"/>
              </a:rPr>
              <a:t>银行</a:t>
            </a:r>
            <a:endParaRPr lang="zh-CN" altLang="en-US" sz="1400">
              <a:solidFill>
                <a:schemeClr val="tx2"/>
              </a:solidFill>
              <a:cs typeface="微软雅黑" panose="020B0503020204020204" charset="-122"/>
            </a:endParaRPr>
          </a:p>
        </p:txBody>
      </p:sp>
      <p:sp>
        <p:nvSpPr>
          <p:cNvPr id="84" name="矩形 83"/>
          <p:cNvSpPr/>
          <p:nvPr/>
        </p:nvSpPr>
        <p:spPr>
          <a:xfrm>
            <a:off x="8115300" y="3152140"/>
            <a:ext cx="1322070" cy="429895"/>
          </a:xfrm>
          <a:prstGeom prst="rect">
            <a:avLst/>
          </a:prstGeom>
          <a:solidFill>
            <a:schemeClr val="accent1">
              <a:lumMod val="60000"/>
              <a:lumOff val="40000"/>
            </a:schemeClr>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收单合作伙伴</a:t>
            </a:r>
            <a:endParaRPr lang="zh-CN" altLang="en-US" sz="1400" b="1">
              <a:cs typeface="微软雅黑" panose="020B0503020204020204" charset="-122"/>
            </a:endParaRPr>
          </a:p>
        </p:txBody>
      </p:sp>
      <p:sp>
        <p:nvSpPr>
          <p:cNvPr id="85" name="圆角矩形 84"/>
          <p:cNvSpPr/>
          <p:nvPr/>
        </p:nvSpPr>
        <p:spPr>
          <a:xfrm>
            <a:off x="8127365" y="4191635"/>
            <a:ext cx="126555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400">
                <a:solidFill>
                  <a:schemeClr val="tx2"/>
                </a:solidFill>
                <a:cs typeface="微软雅黑" panose="020B0503020204020204" charset="-122"/>
              </a:rPr>
              <a:t>第三方支付</a:t>
            </a:r>
            <a:endParaRPr lang="zh-CN" sz="1400">
              <a:solidFill>
                <a:schemeClr val="tx2"/>
              </a:solidFill>
              <a:cs typeface="微软雅黑" panose="020B0503020204020204" charset="-122"/>
            </a:endParaRPr>
          </a:p>
        </p:txBody>
      </p:sp>
      <p:sp>
        <p:nvSpPr>
          <p:cNvPr id="86" name="圆角矩形 85"/>
          <p:cNvSpPr/>
          <p:nvPr/>
        </p:nvSpPr>
        <p:spPr>
          <a:xfrm>
            <a:off x="8127365" y="4652010"/>
            <a:ext cx="126555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2"/>
                </a:solidFill>
                <a:cs typeface="微软雅黑" panose="020B0503020204020204" charset="-122"/>
              </a:rPr>
              <a:t>聚合支付商</a:t>
            </a:r>
            <a:endParaRPr lang="zh-CN" altLang="en-US" sz="1400">
              <a:solidFill>
                <a:schemeClr val="tx2"/>
              </a:solidFill>
              <a:cs typeface="微软雅黑" panose="020B0503020204020204" charset="-122"/>
            </a:endParaRPr>
          </a:p>
        </p:txBody>
      </p:sp>
      <p:sp>
        <p:nvSpPr>
          <p:cNvPr id="87" name="圆角矩形 86"/>
          <p:cNvSpPr/>
          <p:nvPr/>
        </p:nvSpPr>
        <p:spPr>
          <a:xfrm>
            <a:off x="8127365" y="5112385"/>
            <a:ext cx="126555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2"/>
                </a:solidFill>
                <a:cs typeface="微软雅黑" panose="020B0503020204020204" charset="-122"/>
              </a:rPr>
              <a:t>行业支付商</a:t>
            </a:r>
            <a:endParaRPr lang="zh-CN" altLang="en-US" sz="1400">
              <a:solidFill>
                <a:schemeClr val="tx2"/>
              </a:solidFill>
              <a:cs typeface="微软雅黑" panose="020B0503020204020204" charset="-122"/>
            </a:endParaRPr>
          </a:p>
        </p:txBody>
      </p:sp>
      <p:sp>
        <p:nvSpPr>
          <p:cNvPr id="88" name="任意多边形: 形状 280"/>
          <p:cNvSpPr/>
          <p:nvPr/>
        </p:nvSpPr>
        <p:spPr>
          <a:xfrm rot="5400000">
            <a:off x="9860280" y="3800475"/>
            <a:ext cx="429895" cy="6318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89" name="任意多边形: 形状 280"/>
          <p:cNvSpPr/>
          <p:nvPr/>
        </p:nvSpPr>
        <p:spPr>
          <a:xfrm rot="16200000" flipH="1">
            <a:off x="9805670" y="4481195"/>
            <a:ext cx="429895" cy="6318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0" name="文本框 89"/>
          <p:cNvSpPr txBox="1"/>
          <p:nvPr/>
        </p:nvSpPr>
        <p:spPr>
          <a:xfrm>
            <a:off x="9551035" y="3606800"/>
            <a:ext cx="97218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数字化升级</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1" name="文本框 90"/>
          <p:cNvSpPr txBox="1"/>
          <p:nvPr/>
        </p:nvSpPr>
        <p:spPr>
          <a:xfrm>
            <a:off x="9558020" y="5022215"/>
            <a:ext cx="97218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场景需求</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圆角矩形 91"/>
          <p:cNvSpPr/>
          <p:nvPr/>
        </p:nvSpPr>
        <p:spPr>
          <a:xfrm>
            <a:off x="10548620" y="3606800"/>
            <a:ext cx="97599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tx2"/>
                </a:solidFill>
                <a:cs typeface="微软雅黑" panose="020B0503020204020204" charset="-122"/>
                <a:sym typeface="+mn-ea"/>
              </a:rPr>
              <a:t>商户</a:t>
            </a:r>
            <a:endParaRPr lang="zh-CN" altLang="en-US" sz="1400">
              <a:solidFill>
                <a:schemeClr val="tx2"/>
              </a:solidFill>
              <a:cs typeface="微软雅黑" panose="020B0503020204020204" charset="-122"/>
              <a:sym typeface="+mn-ea"/>
            </a:endParaRPr>
          </a:p>
        </p:txBody>
      </p:sp>
      <p:sp>
        <p:nvSpPr>
          <p:cNvPr id="93" name="圆角矩形 92"/>
          <p:cNvSpPr/>
          <p:nvPr/>
        </p:nvSpPr>
        <p:spPr>
          <a:xfrm>
            <a:off x="10548620" y="4662170"/>
            <a:ext cx="975995" cy="320040"/>
          </a:xfrm>
          <a:prstGeom prst="roundRect">
            <a:avLst>
              <a:gd name="adj" fmla="val 50000"/>
            </a:avLst>
          </a:prstGeom>
          <a:solidFill>
            <a:schemeClr val="bg1"/>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tx2"/>
                </a:solidFill>
                <a:cs typeface="微软雅黑" panose="020B0503020204020204" charset="-122"/>
                <a:sym typeface="+mn-ea"/>
              </a:rPr>
              <a:t>消费者</a:t>
            </a:r>
            <a:endParaRPr lang="zh-CN" altLang="en-US" sz="1400">
              <a:solidFill>
                <a:schemeClr val="tx2"/>
              </a:solidFill>
              <a:cs typeface="微软雅黑" panose="020B0503020204020204" charset="-122"/>
              <a:sym typeface="+mn-ea"/>
            </a:endParaRPr>
          </a:p>
        </p:txBody>
      </p:sp>
      <p:cxnSp>
        <p:nvCxnSpPr>
          <p:cNvPr id="94" name="直接箭头连接符 93"/>
          <p:cNvCxnSpPr/>
          <p:nvPr/>
        </p:nvCxnSpPr>
        <p:spPr>
          <a:xfrm>
            <a:off x="11036935" y="3971290"/>
            <a:ext cx="0" cy="605155"/>
          </a:xfrm>
          <a:prstGeom prst="straightConnector1">
            <a:avLst/>
          </a:prstGeom>
          <a:ln>
            <a:solidFill>
              <a:schemeClr val="accent1">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cxnSp>
        <p:nvCxnSpPr>
          <p:cNvPr id="95" name="肘形连接符 94"/>
          <p:cNvCxnSpPr/>
          <p:nvPr/>
        </p:nvCxnSpPr>
        <p:spPr>
          <a:xfrm rot="5400000" flipH="1" flipV="1">
            <a:off x="7851775" y="1771650"/>
            <a:ext cx="1799590" cy="5789930"/>
          </a:xfrm>
          <a:prstGeom prst="bentConnector4">
            <a:avLst>
              <a:gd name="adj1" fmla="val -10726"/>
              <a:gd name="adj2" fmla="val 104113"/>
            </a:avLst>
          </a:prstGeom>
          <a:ln>
            <a:solidFill>
              <a:schemeClr val="accent2"/>
            </a:solidFill>
            <a:prstDash val="dash"/>
            <a:tailEnd type="triangle" w="lg" len="med"/>
          </a:ln>
        </p:spPr>
        <p:style>
          <a:lnRef idx="2">
            <a:schemeClr val="accent1"/>
          </a:lnRef>
          <a:fillRef idx="0">
            <a:srgbClr val="FFFFFF"/>
          </a:fillRef>
          <a:effectRef idx="0">
            <a:srgbClr val="FFFFFF"/>
          </a:effectRef>
          <a:fontRef idx="minor">
            <a:schemeClr val="tx1"/>
          </a:fontRef>
        </p:style>
      </p:cxnSp>
      <p:sp>
        <p:nvSpPr>
          <p:cNvPr id="96" name="标题 2"/>
          <p:cNvSpPr>
            <a:spLocks noGrp="1"/>
          </p:cNvSpPr>
          <p:nvPr/>
        </p:nvSpPr>
        <p:spPr>
          <a:xfrm>
            <a:off x="4066540" y="1475740"/>
            <a:ext cx="3949065" cy="422275"/>
          </a:xfrm>
          <a:prstGeom prst="rect">
            <a:avLst/>
          </a:prstGeom>
          <a:ln w="12700">
            <a:miter lim="400000"/>
          </a:ln>
        </p:spPr>
        <p:txBody>
          <a:bodyPr vert="horz" wrap="square" lIns="25400" tIns="25400" rIns="25400" bIns="25400" rtlCol="0" anchor="ctr">
            <a:prstTxWarp prst="textArchUp">
              <a:avLst/>
            </a:prstTxWarp>
            <a:no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lang="en-US" altLang="zh-CN" sz="1600">
                <a:solidFill>
                  <a:schemeClr val="accent1"/>
                </a:solidFill>
                <a:effectLst/>
                <a:latin typeface="微软雅黑" panose="020B0503020204020204" charset="-122"/>
                <a:ea typeface="微软雅黑" panose="020B0503020204020204" charset="-122"/>
                <a:cs typeface="微软雅黑" panose="020B0503020204020204" charset="-122"/>
              </a:rPr>
              <a:t>“</a:t>
            </a:r>
            <a:r>
              <a:rPr sz="1600">
                <a:solidFill>
                  <a:schemeClr val="accent1"/>
                </a:solidFill>
                <a:effectLst/>
                <a:latin typeface="微软雅黑" panose="020B0503020204020204" charset="-122"/>
                <a:ea typeface="微软雅黑" panose="020B0503020204020204" charset="-122"/>
                <a:cs typeface="微软雅黑" panose="020B0503020204020204" charset="-122"/>
              </a:rPr>
              <a:t>支付</a:t>
            </a:r>
            <a:r>
              <a:rPr lang="en-US" altLang="zh-CN" sz="1600">
                <a:solidFill>
                  <a:schemeClr val="accent1"/>
                </a:solidFill>
                <a:effectLst/>
                <a:latin typeface="微软雅黑" panose="020B0503020204020204" charset="-122"/>
                <a:ea typeface="微软雅黑" panose="020B0503020204020204" charset="-122"/>
                <a:cs typeface="微软雅黑" panose="020B0503020204020204" charset="-122"/>
              </a:rPr>
              <a:t>+”</a:t>
            </a:r>
            <a:r>
              <a:rPr sz="1600">
                <a:solidFill>
                  <a:schemeClr val="accent1"/>
                </a:solidFill>
                <a:effectLst/>
                <a:latin typeface="微软雅黑" panose="020B0503020204020204" charset="-122"/>
                <a:ea typeface="微软雅黑" panose="020B0503020204020204" charset="-122"/>
                <a:cs typeface="微软雅黑" panose="020B0503020204020204" charset="-122"/>
              </a:rPr>
              <a:t>生态</a:t>
            </a:r>
            <a:endParaRPr sz="1600" b="0">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6" name="不完整圆 235"/>
          <p:cNvSpPr/>
          <p:nvPr/>
        </p:nvSpPr>
        <p:spPr>
          <a:xfrm>
            <a:off x="4883785" y="3329305"/>
            <a:ext cx="1696720" cy="20129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flip="none" rotWithShape="1">
            <a:gsLst>
              <a:gs pos="19000">
                <a:schemeClr val="accent5">
                  <a:lumMod val="20000"/>
                  <a:lumOff val="80000"/>
                  <a:alpha val="0"/>
                </a:schemeClr>
              </a:gs>
              <a:gs pos="100000">
                <a:schemeClr val="accent5">
                  <a:lumMod val="20000"/>
                  <a:lumOff val="80000"/>
                </a:schemeClr>
              </a:gs>
            </a:gsLst>
            <a:path path="circle">
              <a:fillToRect l="50000" t="50000" r="50000" b="50000"/>
            </a:path>
            <a:tileRect/>
          </a:gradFill>
          <a:ln w="11684">
            <a:gradFill flip="none" rotWithShape="1">
              <a:gsLst>
                <a:gs pos="0">
                  <a:schemeClr val="accent5">
                    <a:lumMod val="20000"/>
                    <a:lumOff val="80000"/>
                    <a:alpha val="0"/>
                  </a:schemeClr>
                </a:gs>
                <a:gs pos="100000">
                  <a:schemeClr val="accent5">
                    <a:lumMod val="20000"/>
                    <a:lumOff val="80000"/>
                  </a:schemeClr>
                </a:gs>
              </a:gsLst>
              <a:lin ang="5400000" scaled="1"/>
              <a:tileRect/>
            </a:gra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p>
            <a:pPr lvl="0" algn="ctr">
              <a:buClrTx/>
              <a:buSzTx/>
              <a:buFontTx/>
            </a:pPr>
            <a:endParaRPr lang="zh-CN" altLang="en-US" sz="165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grpSp>
        <p:nvGrpSpPr>
          <p:cNvPr id="24" name="组合 23"/>
          <p:cNvGrpSpPr/>
          <p:nvPr/>
        </p:nvGrpSpPr>
        <p:grpSpPr>
          <a:xfrm>
            <a:off x="3225800" y="1692910"/>
            <a:ext cx="1026160" cy="770890"/>
            <a:chOff x="5212" y="2576"/>
            <a:chExt cx="1616" cy="1214"/>
          </a:xfrm>
        </p:grpSpPr>
        <p:sp>
          <p:nvSpPr>
            <p:cNvPr id="198" name="©显眼包PPT1-1"/>
            <p:cNvSpPr/>
            <p:nvPr/>
          </p:nvSpPr>
          <p:spPr>
            <a:xfrm rot="5400000">
              <a:off x="5655" y="2576"/>
              <a:ext cx="731" cy="730"/>
            </a:xfrm>
            <a:prstGeom prst="hexagon">
              <a:avLst/>
            </a:prstGeom>
            <a:gradFill flip="none" rotWithShape="1">
              <a:gsLst>
                <a:gs pos="10000">
                  <a:schemeClr val="accent1">
                    <a:lumMod val="60000"/>
                    <a:lumOff val="40000"/>
                    <a:alpha val="0"/>
                  </a:schemeClr>
                </a:gs>
                <a:gs pos="100000">
                  <a:schemeClr val="accent1">
                    <a:lumMod val="60000"/>
                    <a:lumOff val="40000"/>
                    <a:alpha val="33000"/>
                  </a:schemeClr>
                </a:gs>
              </a:gsLst>
              <a:lin ang="10800000" scaled="1"/>
              <a:tileRect/>
            </a:gradFill>
            <a:ln w="9525">
              <a:gradFill flip="none" rotWithShape="1">
                <a:gsLst>
                  <a:gs pos="7000">
                    <a:schemeClr val="accent1">
                      <a:lumMod val="60000"/>
                      <a:lumOff val="40000"/>
                    </a:schemeClr>
                  </a:gs>
                  <a:gs pos="84000">
                    <a:schemeClr val="accent1">
                      <a:lumMod val="60000"/>
                      <a:lumOff val="40000"/>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微软雅黑" panose="020B0503020204020204" charset="-122"/>
              </a:endParaRPr>
            </a:p>
          </p:txBody>
        </p:sp>
        <p:grpSp>
          <p:nvGrpSpPr>
            <p:cNvPr id="16" name="组合 15"/>
            <p:cNvGrpSpPr/>
            <p:nvPr/>
          </p:nvGrpSpPr>
          <p:grpSpPr>
            <a:xfrm rot="0">
              <a:off x="5212" y="3049"/>
              <a:ext cx="1616" cy="741"/>
              <a:chOff x="6573188" y="2968936"/>
              <a:chExt cx="1399540" cy="743470"/>
            </a:xfrm>
          </p:grpSpPr>
          <p:grpSp>
            <p:nvGrpSpPr>
              <p:cNvPr id="102" name="组合 101"/>
              <p:cNvGrpSpPr/>
              <p:nvPr/>
            </p:nvGrpSpPr>
            <p:grpSpPr>
              <a:xfrm>
                <a:off x="6573188" y="2968936"/>
                <a:ext cx="1399540" cy="743470"/>
                <a:chOff x="6855551" y="3109240"/>
                <a:chExt cx="834814" cy="443474"/>
              </a:xfrm>
            </p:grpSpPr>
            <p:sp>
              <p:nvSpPr>
                <p:cNvPr id="17" name="©显眼包PPT1-3"/>
                <p:cNvSpPr/>
                <p:nvPr/>
              </p:nvSpPr>
              <p:spPr>
                <a:xfrm>
                  <a:off x="6855551" y="3109240"/>
                  <a:ext cx="834814" cy="412335"/>
                </a:xfrm>
                <a:custGeom>
                  <a:avLst/>
                  <a:gdLst>
                    <a:gd name="connsiteX0" fmla="*/ 0 w 888777"/>
                    <a:gd name="connsiteY0" fmla="*/ 419295 h 519149"/>
                    <a:gd name="connsiteX1" fmla="*/ 271413 w 888777"/>
                    <a:gd name="connsiteY1" fmla="*/ 511302 h 519149"/>
                    <a:gd name="connsiteX2" fmla="*/ 444389 w 888777"/>
                    <a:gd name="connsiteY2" fmla="*/ 519149 h 519149"/>
                    <a:gd name="connsiteX3" fmla="*/ 444388 w 888777"/>
                    <a:gd name="connsiteY3" fmla="*/ 519149 h 519149"/>
                    <a:gd name="connsiteX4" fmla="*/ 0 w 888777"/>
                    <a:gd name="connsiteY4" fmla="*/ 419295 h 519149"/>
                    <a:gd name="connsiteX5" fmla="*/ 0 w 888777"/>
                    <a:gd name="connsiteY5" fmla="*/ 0 h 519149"/>
                    <a:gd name="connsiteX6" fmla="*/ 888777 w 888777"/>
                    <a:gd name="connsiteY6" fmla="*/ 0 h 519149"/>
                    <a:gd name="connsiteX7" fmla="*/ 888777 w 888777"/>
                    <a:gd name="connsiteY7" fmla="*/ 122940 h 519149"/>
                    <a:gd name="connsiteX8" fmla="*/ 888777 w 888777"/>
                    <a:gd name="connsiteY8" fmla="*/ 245879 h 519149"/>
                    <a:gd name="connsiteX9" fmla="*/ 888777 w 888777"/>
                    <a:gd name="connsiteY9" fmla="*/ 416722 h 519149"/>
                    <a:gd name="connsiteX10" fmla="*/ 887624 w 888777"/>
                    <a:gd name="connsiteY10" fmla="*/ 416722 h 519149"/>
                    <a:gd name="connsiteX11" fmla="*/ 879750 w 888777"/>
                    <a:gd name="connsiteY11" fmla="*/ 399171 h 519149"/>
                    <a:gd name="connsiteX12" fmla="*/ 444389 w 888777"/>
                    <a:gd name="connsiteY12" fmla="*/ 319441 h 519149"/>
                    <a:gd name="connsiteX13" fmla="*/ 0 w 888777"/>
                    <a:gd name="connsiteY13" fmla="*/ 419295 h 519149"/>
                    <a:gd name="connsiteX14" fmla="*/ 1154 w 888777"/>
                    <a:gd name="connsiteY14" fmla="*/ 416722 h 519149"/>
                    <a:gd name="connsiteX15" fmla="*/ 0 w 888777"/>
                    <a:gd name="connsiteY15" fmla="*/ 416722 h 519149"/>
                    <a:gd name="connsiteX16" fmla="*/ 0 w 888777"/>
                    <a:gd name="connsiteY16" fmla="*/ 245879 h 519149"/>
                    <a:gd name="connsiteX17" fmla="*/ 0 w 888777"/>
                    <a:gd name="connsiteY17" fmla="*/ 122940 h 51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88777" h="519149">
                      <a:moveTo>
                        <a:pt x="0" y="419295"/>
                      </a:moveTo>
                      <a:cubicBezTo>
                        <a:pt x="0" y="460656"/>
                        <a:pt x="111915" y="496144"/>
                        <a:pt x="271413" y="511302"/>
                      </a:cubicBezTo>
                      <a:lnTo>
                        <a:pt x="444389" y="519149"/>
                      </a:lnTo>
                      <a:lnTo>
                        <a:pt x="444388" y="519149"/>
                      </a:lnTo>
                      <a:cubicBezTo>
                        <a:pt x="198959" y="519149"/>
                        <a:pt x="0" y="474443"/>
                        <a:pt x="0" y="419295"/>
                      </a:cubicBezTo>
                      <a:close/>
                      <a:moveTo>
                        <a:pt x="0" y="0"/>
                      </a:moveTo>
                      <a:lnTo>
                        <a:pt x="888777" y="0"/>
                      </a:lnTo>
                      <a:lnTo>
                        <a:pt x="888777" y="122940"/>
                      </a:lnTo>
                      <a:lnTo>
                        <a:pt x="888777" y="245879"/>
                      </a:lnTo>
                      <a:lnTo>
                        <a:pt x="888777" y="416722"/>
                      </a:lnTo>
                      <a:lnTo>
                        <a:pt x="887624" y="416722"/>
                      </a:lnTo>
                      <a:lnTo>
                        <a:pt x="879750" y="399171"/>
                      </a:lnTo>
                      <a:cubicBezTo>
                        <a:pt x="838312" y="353669"/>
                        <a:pt x="659139" y="319441"/>
                        <a:pt x="444389" y="319441"/>
                      </a:cubicBezTo>
                      <a:cubicBezTo>
                        <a:pt x="198960" y="319441"/>
                        <a:pt x="0" y="364147"/>
                        <a:pt x="0" y="419295"/>
                      </a:cubicBezTo>
                      <a:lnTo>
                        <a:pt x="1154" y="416722"/>
                      </a:lnTo>
                      <a:lnTo>
                        <a:pt x="0" y="416722"/>
                      </a:lnTo>
                      <a:lnTo>
                        <a:pt x="0" y="245879"/>
                      </a:lnTo>
                      <a:lnTo>
                        <a:pt x="0" y="122940"/>
                      </a:lnTo>
                      <a:close/>
                    </a:path>
                  </a:pathLst>
                </a:custGeom>
                <a:gradFill flip="none" rotWithShape="1">
                  <a:gsLst>
                    <a:gs pos="100000">
                      <a:schemeClr val="accent1">
                        <a:lumMod val="60000"/>
                        <a:lumOff val="40000"/>
                        <a:alpha val="45000"/>
                      </a:schemeClr>
                    </a:gs>
                    <a:gs pos="22000">
                      <a:schemeClr val="accent1">
                        <a:lumMod val="60000"/>
                        <a:lumOff val="40000"/>
                        <a:alpha val="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cs typeface="微软雅黑" panose="020B0503020204020204" charset="-122"/>
                  </a:endParaRPr>
                </a:p>
              </p:txBody>
            </p:sp>
            <p:sp>
              <p:nvSpPr>
                <p:cNvPr id="19" name="©显眼包PPT1-4"/>
                <p:cNvSpPr/>
                <p:nvPr/>
              </p:nvSpPr>
              <p:spPr>
                <a:xfrm>
                  <a:off x="6855551" y="3362957"/>
                  <a:ext cx="834814" cy="158618"/>
                </a:xfrm>
                <a:prstGeom prst="ellipse">
                  <a:avLst/>
                </a:prstGeom>
                <a:gradFill flip="none" rotWithShape="1">
                  <a:gsLst>
                    <a:gs pos="50000">
                      <a:schemeClr val="accent1">
                        <a:lumMod val="60000"/>
                        <a:lumOff val="40000"/>
                        <a:alpha val="0"/>
                      </a:schemeClr>
                    </a:gs>
                    <a:gs pos="0">
                      <a:schemeClr val="accent1">
                        <a:lumMod val="60000"/>
                        <a:lumOff val="40000"/>
                        <a:alpha val="45000"/>
                      </a:schemeClr>
                    </a:gs>
                    <a:gs pos="100000">
                      <a:schemeClr val="accent1">
                        <a:lumMod val="60000"/>
                        <a:lumOff val="40000"/>
                        <a:alpha val="45000"/>
                      </a:schemeClr>
                    </a:gs>
                  </a:gsLst>
                  <a:lin ang="0" scaled="1"/>
                  <a:tileRect/>
                </a:gradFill>
                <a:ln w="12700">
                  <a:gradFill flip="none" rotWithShape="1">
                    <a:gsLst>
                      <a:gs pos="17000">
                        <a:schemeClr val="accent1">
                          <a:lumMod val="60000"/>
                          <a:lumOff val="40000"/>
                          <a:alpha val="0"/>
                        </a:schemeClr>
                      </a:gs>
                      <a:gs pos="70000">
                        <a:schemeClr val="accent1">
                          <a:lumMod val="60000"/>
                          <a:lumOff val="40000"/>
                        </a:schemeClr>
                      </a:gs>
                      <a:gs pos="100000">
                        <a:schemeClr val="accent1">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微软雅黑" panose="020B0503020204020204" charset="-122"/>
                  </a:endParaRPr>
                </a:p>
              </p:txBody>
            </p:sp>
            <p:sp>
              <p:nvSpPr>
                <p:cNvPr id="20" name="©显眼包PPT1-5"/>
                <p:cNvSpPr/>
                <p:nvPr/>
              </p:nvSpPr>
              <p:spPr>
                <a:xfrm>
                  <a:off x="6924576" y="3392369"/>
                  <a:ext cx="696764" cy="93519"/>
                </a:xfrm>
                <a:prstGeom prst="ellipse">
                  <a:avLst/>
                </a:prstGeom>
                <a:gradFill>
                  <a:gsLst>
                    <a:gs pos="0">
                      <a:schemeClr val="bg1">
                        <a:alpha val="0"/>
                      </a:schemeClr>
                    </a:gs>
                    <a:gs pos="99000">
                      <a:schemeClr val="bg1">
                        <a:alpha val="70000"/>
                      </a:schemeClr>
                    </a:gs>
                  </a:gsLst>
                  <a:lin ang="54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cs typeface="微软雅黑" panose="020B0503020204020204" charset="-122"/>
                  </a:endParaRPr>
                </a:p>
              </p:txBody>
            </p:sp>
            <p:sp>
              <p:nvSpPr>
                <p:cNvPr id="21" name="©显眼包PPT1-6"/>
                <p:cNvSpPr/>
                <p:nvPr/>
              </p:nvSpPr>
              <p:spPr>
                <a:xfrm>
                  <a:off x="6855551" y="3394096"/>
                  <a:ext cx="834814" cy="158618"/>
                </a:xfrm>
                <a:prstGeom prst="ellipse">
                  <a:avLst/>
                </a:prstGeom>
                <a:noFill/>
                <a:ln w="6350">
                  <a:gradFill flip="none" rotWithShape="1">
                    <a:gsLst>
                      <a:gs pos="53000">
                        <a:schemeClr val="accent1">
                          <a:lumMod val="60000"/>
                          <a:lumOff val="40000"/>
                          <a:alpha val="0"/>
                        </a:schemeClr>
                      </a:gs>
                      <a:gs pos="100000">
                        <a:schemeClr val="accent1">
                          <a:lumMod val="60000"/>
                          <a:lumOff val="40000"/>
                          <a:alpha val="66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微软雅黑" panose="020B0503020204020204" charset="-122"/>
                  </a:endParaRPr>
                </a:p>
              </p:txBody>
            </p:sp>
          </p:grpSp>
          <p:sp>
            <p:nvSpPr>
              <p:cNvPr id="22" name="©显眼包PPT1-7"/>
              <p:cNvSpPr txBox="1"/>
              <p:nvPr/>
            </p:nvSpPr>
            <p:spPr>
              <a:xfrm>
                <a:off x="6573188" y="3027222"/>
                <a:ext cx="1399540" cy="388661"/>
              </a:xfrm>
              <a:prstGeom prst="rect">
                <a:avLst/>
              </a:prstGeom>
              <a:noFill/>
            </p:spPr>
            <p:txBody>
              <a:bodyPr wrap="square" lIns="0" tIns="0" rIns="0" bIns="0" rtlCol="0">
                <a:spAutoFit/>
              </a:bodyPr>
              <a:lstStyle/>
              <a:p>
                <a:pPr algn="ctr"/>
                <a:r>
                  <a:rPr lang="zh-CN" sz="1600" dirty="0">
                    <a:gradFill>
                      <a:gsLst>
                        <a:gs pos="1000">
                          <a:schemeClr val="accent1">
                            <a:lumMod val="60000"/>
                            <a:lumOff val="40000"/>
                          </a:schemeClr>
                        </a:gs>
                        <a:gs pos="80000">
                          <a:schemeClr val="accent1"/>
                        </a:gs>
                      </a:gsLst>
                      <a:lin ang="5400000" scaled="1"/>
                    </a:gradFill>
                    <a:latin typeface="+mj-ea"/>
                    <a:ea typeface="+mj-ea"/>
                    <a:cs typeface="微软雅黑" panose="020B0503020204020204" charset="-122"/>
                  </a:rPr>
                  <a:t>数字支付</a:t>
                </a:r>
                <a:endParaRPr lang="zh-CN" sz="1600" dirty="0">
                  <a:gradFill>
                    <a:gsLst>
                      <a:gs pos="1000">
                        <a:schemeClr val="accent1">
                          <a:lumMod val="60000"/>
                          <a:lumOff val="40000"/>
                        </a:schemeClr>
                      </a:gs>
                      <a:gs pos="80000">
                        <a:schemeClr val="accent1"/>
                      </a:gs>
                    </a:gsLst>
                    <a:lin ang="5400000" scaled="1"/>
                  </a:gradFill>
                  <a:latin typeface="+mj-ea"/>
                  <a:ea typeface="+mj-ea"/>
                  <a:cs typeface="微软雅黑" panose="020B0503020204020204" charset="-122"/>
                </a:endParaRPr>
              </a:p>
            </p:txBody>
          </p:sp>
        </p:grpSp>
        <p:pic>
          <p:nvPicPr>
            <p:cNvPr id="23" name="图片 22" descr="支付方式"/>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20" y="2709"/>
              <a:ext cx="398" cy="398"/>
            </a:xfrm>
            <a:prstGeom prst="rect">
              <a:avLst/>
            </a:prstGeom>
          </p:spPr>
        </p:pic>
      </p:grpSp>
      <p:grpSp>
        <p:nvGrpSpPr>
          <p:cNvPr id="135" name="组合 134"/>
          <p:cNvGrpSpPr/>
          <p:nvPr/>
        </p:nvGrpSpPr>
        <p:grpSpPr>
          <a:xfrm>
            <a:off x="4885690" y="1692910"/>
            <a:ext cx="1026160" cy="770890"/>
            <a:chOff x="7646" y="2666"/>
            <a:chExt cx="1616" cy="1214"/>
          </a:xfrm>
        </p:grpSpPr>
        <p:grpSp>
          <p:nvGrpSpPr>
            <p:cNvPr id="25" name="组合 24"/>
            <p:cNvGrpSpPr/>
            <p:nvPr/>
          </p:nvGrpSpPr>
          <p:grpSpPr>
            <a:xfrm>
              <a:off x="7646" y="2666"/>
              <a:ext cx="1616" cy="1214"/>
              <a:chOff x="5212" y="2576"/>
              <a:chExt cx="1616" cy="1214"/>
            </a:xfrm>
          </p:grpSpPr>
          <p:sp>
            <p:nvSpPr>
              <p:cNvPr id="26" name="©显眼包PPT1-1"/>
              <p:cNvSpPr/>
              <p:nvPr/>
            </p:nvSpPr>
            <p:spPr>
              <a:xfrm rot="5400000">
                <a:off x="5655" y="2576"/>
                <a:ext cx="731" cy="730"/>
              </a:xfrm>
              <a:prstGeom prst="hexagon">
                <a:avLst/>
              </a:prstGeom>
              <a:gradFill flip="none" rotWithShape="1">
                <a:gsLst>
                  <a:gs pos="10000">
                    <a:schemeClr val="accent1">
                      <a:lumMod val="60000"/>
                      <a:lumOff val="40000"/>
                      <a:alpha val="0"/>
                    </a:schemeClr>
                  </a:gs>
                  <a:gs pos="100000">
                    <a:schemeClr val="accent1">
                      <a:lumMod val="60000"/>
                      <a:lumOff val="40000"/>
                      <a:alpha val="33000"/>
                    </a:schemeClr>
                  </a:gs>
                </a:gsLst>
                <a:lin ang="10800000" scaled="1"/>
                <a:tileRect/>
              </a:gradFill>
              <a:ln w="9525">
                <a:gradFill flip="none" rotWithShape="1">
                  <a:gsLst>
                    <a:gs pos="7000">
                      <a:schemeClr val="accent1">
                        <a:lumMod val="60000"/>
                        <a:lumOff val="40000"/>
                      </a:schemeClr>
                    </a:gs>
                    <a:gs pos="84000">
                      <a:schemeClr val="accent1">
                        <a:lumMod val="60000"/>
                        <a:lumOff val="40000"/>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微软雅黑" panose="020B0503020204020204" charset="-122"/>
                </a:endParaRPr>
              </a:p>
            </p:txBody>
          </p:sp>
          <p:grpSp>
            <p:nvGrpSpPr>
              <p:cNvPr id="27" name="组合 26"/>
              <p:cNvGrpSpPr/>
              <p:nvPr/>
            </p:nvGrpSpPr>
            <p:grpSpPr>
              <a:xfrm rot="0">
                <a:off x="5212" y="3049"/>
                <a:ext cx="1616" cy="741"/>
                <a:chOff x="6573188" y="2968936"/>
                <a:chExt cx="1399540" cy="743470"/>
              </a:xfrm>
            </p:grpSpPr>
            <p:grpSp>
              <p:nvGrpSpPr>
                <p:cNvPr id="29" name="组合 28"/>
                <p:cNvGrpSpPr/>
                <p:nvPr/>
              </p:nvGrpSpPr>
              <p:grpSpPr>
                <a:xfrm>
                  <a:off x="6573188" y="2968936"/>
                  <a:ext cx="1399540" cy="743470"/>
                  <a:chOff x="6855551" y="3109240"/>
                  <a:chExt cx="834814" cy="443474"/>
                </a:xfrm>
              </p:grpSpPr>
              <p:sp>
                <p:nvSpPr>
                  <p:cNvPr id="30" name="©显眼包PPT1-3"/>
                  <p:cNvSpPr/>
                  <p:nvPr/>
                </p:nvSpPr>
                <p:spPr>
                  <a:xfrm>
                    <a:off x="6855551" y="3109240"/>
                    <a:ext cx="834814" cy="412335"/>
                  </a:xfrm>
                  <a:custGeom>
                    <a:avLst/>
                    <a:gdLst>
                      <a:gd name="connsiteX0" fmla="*/ 0 w 888777"/>
                      <a:gd name="connsiteY0" fmla="*/ 419295 h 519149"/>
                      <a:gd name="connsiteX1" fmla="*/ 271413 w 888777"/>
                      <a:gd name="connsiteY1" fmla="*/ 511302 h 519149"/>
                      <a:gd name="connsiteX2" fmla="*/ 444389 w 888777"/>
                      <a:gd name="connsiteY2" fmla="*/ 519149 h 519149"/>
                      <a:gd name="connsiteX3" fmla="*/ 444388 w 888777"/>
                      <a:gd name="connsiteY3" fmla="*/ 519149 h 519149"/>
                      <a:gd name="connsiteX4" fmla="*/ 0 w 888777"/>
                      <a:gd name="connsiteY4" fmla="*/ 419295 h 519149"/>
                      <a:gd name="connsiteX5" fmla="*/ 0 w 888777"/>
                      <a:gd name="connsiteY5" fmla="*/ 0 h 519149"/>
                      <a:gd name="connsiteX6" fmla="*/ 888777 w 888777"/>
                      <a:gd name="connsiteY6" fmla="*/ 0 h 519149"/>
                      <a:gd name="connsiteX7" fmla="*/ 888777 w 888777"/>
                      <a:gd name="connsiteY7" fmla="*/ 122940 h 519149"/>
                      <a:gd name="connsiteX8" fmla="*/ 888777 w 888777"/>
                      <a:gd name="connsiteY8" fmla="*/ 245879 h 519149"/>
                      <a:gd name="connsiteX9" fmla="*/ 888777 w 888777"/>
                      <a:gd name="connsiteY9" fmla="*/ 416722 h 519149"/>
                      <a:gd name="connsiteX10" fmla="*/ 887624 w 888777"/>
                      <a:gd name="connsiteY10" fmla="*/ 416722 h 519149"/>
                      <a:gd name="connsiteX11" fmla="*/ 879750 w 888777"/>
                      <a:gd name="connsiteY11" fmla="*/ 399171 h 519149"/>
                      <a:gd name="connsiteX12" fmla="*/ 444389 w 888777"/>
                      <a:gd name="connsiteY12" fmla="*/ 319441 h 519149"/>
                      <a:gd name="connsiteX13" fmla="*/ 0 w 888777"/>
                      <a:gd name="connsiteY13" fmla="*/ 419295 h 519149"/>
                      <a:gd name="connsiteX14" fmla="*/ 1154 w 888777"/>
                      <a:gd name="connsiteY14" fmla="*/ 416722 h 519149"/>
                      <a:gd name="connsiteX15" fmla="*/ 0 w 888777"/>
                      <a:gd name="connsiteY15" fmla="*/ 416722 h 519149"/>
                      <a:gd name="connsiteX16" fmla="*/ 0 w 888777"/>
                      <a:gd name="connsiteY16" fmla="*/ 245879 h 519149"/>
                      <a:gd name="connsiteX17" fmla="*/ 0 w 888777"/>
                      <a:gd name="connsiteY17" fmla="*/ 122940 h 51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88777" h="519149">
                        <a:moveTo>
                          <a:pt x="0" y="419295"/>
                        </a:moveTo>
                        <a:cubicBezTo>
                          <a:pt x="0" y="460656"/>
                          <a:pt x="111915" y="496144"/>
                          <a:pt x="271413" y="511302"/>
                        </a:cubicBezTo>
                        <a:lnTo>
                          <a:pt x="444389" y="519149"/>
                        </a:lnTo>
                        <a:lnTo>
                          <a:pt x="444388" y="519149"/>
                        </a:lnTo>
                        <a:cubicBezTo>
                          <a:pt x="198959" y="519149"/>
                          <a:pt x="0" y="474443"/>
                          <a:pt x="0" y="419295"/>
                        </a:cubicBezTo>
                        <a:close/>
                        <a:moveTo>
                          <a:pt x="0" y="0"/>
                        </a:moveTo>
                        <a:lnTo>
                          <a:pt x="888777" y="0"/>
                        </a:lnTo>
                        <a:lnTo>
                          <a:pt x="888777" y="122940"/>
                        </a:lnTo>
                        <a:lnTo>
                          <a:pt x="888777" y="245879"/>
                        </a:lnTo>
                        <a:lnTo>
                          <a:pt x="888777" y="416722"/>
                        </a:lnTo>
                        <a:lnTo>
                          <a:pt x="887624" y="416722"/>
                        </a:lnTo>
                        <a:lnTo>
                          <a:pt x="879750" y="399171"/>
                        </a:lnTo>
                        <a:cubicBezTo>
                          <a:pt x="838312" y="353669"/>
                          <a:pt x="659139" y="319441"/>
                          <a:pt x="444389" y="319441"/>
                        </a:cubicBezTo>
                        <a:cubicBezTo>
                          <a:pt x="198960" y="319441"/>
                          <a:pt x="0" y="364147"/>
                          <a:pt x="0" y="419295"/>
                        </a:cubicBezTo>
                        <a:lnTo>
                          <a:pt x="1154" y="416722"/>
                        </a:lnTo>
                        <a:lnTo>
                          <a:pt x="0" y="416722"/>
                        </a:lnTo>
                        <a:lnTo>
                          <a:pt x="0" y="245879"/>
                        </a:lnTo>
                        <a:lnTo>
                          <a:pt x="0" y="122940"/>
                        </a:lnTo>
                        <a:close/>
                      </a:path>
                    </a:pathLst>
                  </a:custGeom>
                  <a:gradFill flip="none" rotWithShape="1">
                    <a:gsLst>
                      <a:gs pos="100000">
                        <a:schemeClr val="accent1">
                          <a:lumMod val="60000"/>
                          <a:lumOff val="40000"/>
                          <a:alpha val="45000"/>
                        </a:schemeClr>
                      </a:gs>
                      <a:gs pos="22000">
                        <a:schemeClr val="accent1">
                          <a:lumMod val="60000"/>
                          <a:lumOff val="40000"/>
                          <a:alpha val="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cs typeface="微软雅黑" panose="020B0503020204020204" charset="-122"/>
                    </a:endParaRPr>
                  </a:p>
                </p:txBody>
              </p:sp>
              <p:sp>
                <p:nvSpPr>
                  <p:cNvPr id="31" name="©显眼包PPT1-4"/>
                  <p:cNvSpPr/>
                  <p:nvPr/>
                </p:nvSpPr>
                <p:spPr>
                  <a:xfrm>
                    <a:off x="6855551" y="3362957"/>
                    <a:ext cx="834814" cy="158618"/>
                  </a:xfrm>
                  <a:prstGeom prst="ellipse">
                    <a:avLst/>
                  </a:prstGeom>
                  <a:gradFill flip="none" rotWithShape="1">
                    <a:gsLst>
                      <a:gs pos="50000">
                        <a:schemeClr val="accent1">
                          <a:lumMod val="60000"/>
                          <a:lumOff val="40000"/>
                          <a:alpha val="0"/>
                        </a:schemeClr>
                      </a:gs>
                      <a:gs pos="0">
                        <a:schemeClr val="accent1">
                          <a:lumMod val="60000"/>
                          <a:lumOff val="40000"/>
                          <a:alpha val="45000"/>
                        </a:schemeClr>
                      </a:gs>
                      <a:gs pos="100000">
                        <a:schemeClr val="accent1">
                          <a:lumMod val="60000"/>
                          <a:lumOff val="40000"/>
                          <a:alpha val="45000"/>
                        </a:schemeClr>
                      </a:gs>
                    </a:gsLst>
                    <a:lin ang="0" scaled="1"/>
                    <a:tileRect/>
                  </a:gradFill>
                  <a:ln w="12700">
                    <a:gradFill flip="none" rotWithShape="1">
                      <a:gsLst>
                        <a:gs pos="17000">
                          <a:schemeClr val="accent1">
                            <a:lumMod val="60000"/>
                            <a:lumOff val="40000"/>
                            <a:alpha val="0"/>
                          </a:schemeClr>
                        </a:gs>
                        <a:gs pos="70000">
                          <a:schemeClr val="accent1">
                            <a:lumMod val="60000"/>
                            <a:lumOff val="40000"/>
                          </a:schemeClr>
                        </a:gs>
                        <a:gs pos="100000">
                          <a:schemeClr val="accent1">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微软雅黑" panose="020B0503020204020204" charset="-122"/>
                    </a:endParaRPr>
                  </a:p>
                </p:txBody>
              </p:sp>
              <p:sp>
                <p:nvSpPr>
                  <p:cNvPr id="32" name="©显眼包PPT1-5"/>
                  <p:cNvSpPr/>
                  <p:nvPr/>
                </p:nvSpPr>
                <p:spPr>
                  <a:xfrm>
                    <a:off x="6924576" y="3392369"/>
                    <a:ext cx="696764" cy="93519"/>
                  </a:xfrm>
                  <a:prstGeom prst="ellipse">
                    <a:avLst/>
                  </a:prstGeom>
                  <a:gradFill>
                    <a:gsLst>
                      <a:gs pos="0">
                        <a:schemeClr val="bg1">
                          <a:alpha val="0"/>
                        </a:schemeClr>
                      </a:gs>
                      <a:gs pos="99000">
                        <a:schemeClr val="bg1">
                          <a:alpha val="70000"/>
                        </a:schemeClr>
                      </a:gs>
                    </a:gsLst>
                    <a:lin ang="54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cs typeface="微软雅黑" panose="020B0503020204020204" charset="-122"/>
                    </a:endParaRPr>
                  </a:p>
                </p:txBody>
              </p:sp>
              <p:sp>
                <p:nvSpPr>
                  <p:cNvPr id="33" name="©显眼包PPT1-6"/>
                  <p:cNvSpPr/>
                  <p:nvPr/>
                </p:nvSpPr>
                <p:spPr>
                  <a:xfrm>
                    <a:off x="6855551" y="3394096"/>
                    <a:ext cx="834814" cy="158618"/>
                  </a:xfrm>
                  <a:prstGeom prst="ellipse">
                    <a:avLst/>
                  </a:prstGeom>
                  <a:noFill/>
                  <a:ln w="6350">
                    <a:gradFill flip="none" rotWithShape="1">
                      <a:gsLst>
                        <a:gs pos="53000">
                          <a:schemeClr val="accent1">
                            <a:lumMod val="60000"/>
                            <a:lumOff val="40000"/>
                            <a:alpha val="0"/>
                          </a:schemeClr>
                        </a:gs>
                        <a:gs pos="100000">
                          <a:schemeClr val="accent1">
                            <a:lumMod val="60000"/>
                            <a:lumOff val="40000"/>
                            <a:alpha val="66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微软雅黑" panose="020B0503020204020204" charset="-122"/>
                    </a:endParaRPr>
                  </a:p>
                </p:txBody>
              </p:sp>
            </p:grpSp>
            <p:sp>
              <p:nvSpPr>
                <p:cNvPr id="34" name="©显眼包PPT1-7"/>
                <p:cNvSpPr txBox="1"/>
                <p:nvPr/>
              </p:nvSpPr>
              <p:spPr>
                <a:xfrm>
                  <a:off x="6573188" y="3027222"/>
                  <a:ext cx="1399540" cy="388290"/>
                </a:xfrm>
                <a:prstGeom prst="rect">
                  <a:avLst/>
                </a:prstGeom>
                <a:noFill/>
              </p:spPr>
              <p:txBody>
                <a:bodyPr wrap="square" lIns="0" tIns="0" rIns="0" bIns="0" rtlCol="0">
                  <a:spAutoFit/>
                </a:bodyPr>
                <a:lstStyle/>
                <a:p>
                  <a:pPr algn="ctr"/>
                  <a:r>
                    <a:rPr lang="zh-CN" altLang="en-US" sz="1600" dirty="0">
                      <a:gradFill>
                        <a:gsLst>
                          <a:gs pos="1000">
                            <a:schemeClr val="accent1">
                              <a:lumMod val="60000"/>
                              <a:lumOff val="40000"/>
                            </a:schemeClr>
                          </a:gs>
                          <a:gs pos="80000">
                            <a:schemeClr val="accent1"/>
                          </a:gs>
                        </a:gsLst>
                        <a:lin ang="5400000" scaled="1"/>
                      </a:gradFill>
                      <a:latin typeface="+mj-ea"/>
                      <a:ea typeface="+mj-ea"/>
                      <a:cs typeface="微软雅黑" panose="020B0503020204020204" charset="-122"/>
                    </a:rPr>
                    <a:t>场景</a:t>
                  </a:r>
                  <a:r>
                    <a:rPr lang="en-US" altLang="zh-CN" sz="1600" dirty="0">
                      <a:gradFill>
                        <a:gsLst>
                          <a:gs pos="1000">
                            <a:schemeClr val="accent1">
                              <a:lumMod val="60000"/>
                              <a:lumOff val="40000"/>
                            </a:schemeClr>
                          </a:gs>
                          <a:gs pos="80000">
                            <a:schemeClr val="accent1"/>
                          </a:gs>
                        </a:gsLst>
                        <a:lin ang="5400000" scaled="1"/>
                      </a:gradFill>
                      <a:latin typeface="+mj-ea"/>
                      <a:ea typeface="+mj-ea"/>
                      <a:cs typeface="微软雅黑" panose="020B0503020204020204" charset="-122"/>
                    </a:rPr>
                    <a:t>SaaS</a:t>
                  </a:r>
                  <a:endParaRPr lang="en-US" altLang="zh-CN" sz="1600" dirty="0">
                    <a:gradFill>
                      <a:gsLst>
                        <a:gs pos="1000">
                          <a:schemeClr val="accent1">
                            <a:lumMod val="60000"/>
                            <a:lumOff val="40000"/>
                          </a:schemeClr>
                        </a:gs>
                        <a:gs pos="80000">
                          <a:schemeClr val="accent1"/>
                        </a:gs>
                      </a:gsLst>
                      <a:lin ang="5400000" scaled="1"/>
                    </a:gradFill>
                    <a:latin typeface="+mj-ea"/>
                    <a:ea typeface="+mj-ea"/>
                    <a:cs typeface="微软雅黑" panose="020B0503020204020204" charset="-122"/>
                  </a:endParaRPr>
                </a:p>
              </p:txBody>
            </p:sp>
          </p:grpSp>
        </p:grpSp>
        <p:pic>
          <p:nvPicPr>
            <p:cNvPr id="131" name="图片 130" descr="saas (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75" y="2798"/>
              <a:ext cx="326" cy="326"/>
            </a:xfrm>
            <a:prstGeom prst="rect">
              <a:avLst/>
            </a:prstGeom>
          </p:spPr>
        </p:pic>
      </p:grpSp>
      <p:grpSp>
        <p:nvGrpSpPr>
          <p:cNvPr id="136" name="组合 135"/>
          <p:cNvGrpSpPr/>
          <p:nvPr/>
        </p:nvGrpSpPr>
        <p:grpSpPr>
          <a:xfrm>
            <a:off x="6545580" y="1692910"/>
            <a:ext cx="1026160" cy="770890"/>
            <a:chOff x="10158" y="2666"/>
            <a:chExt cx="1616" cy="1214"/>
          </a:xfrm>
        </p:grpSpPr>
        <p:grpSp>
          <p:nvGrpSpPr>
            <p:cNvPr id="36" name="组合 35"/>
            <p:cNvGrpSpPr/>
            <p:nvPr/>
          </p:nvGrpSpPr>
          <p:grpSpPr>
            <a:xfrm>
              <a:off x="10158" y="2666"/>
              <a:ext cx="1616" cy="1214"/>
              <a:chOff x="5212" y="2576"/>
              <a:chExt cx="1616" cy="1214"/>
            </a:xfrm>
          </p:grpSpPr>
          <p:sp>
            <p:nvSpPr>
              <p:cNvPr id="37" name="©显眼包PPT1-1"/>
              <p:cNvSpPr/>
              <p:nvPr/>
            </p:nvSpPr>
            <p:spPr>
              <a:xfrm rot="5400000">
                <a:off x="5655" y="2576"/>
                <a:ext cx="731" cy="730"/>
              </a:xfrm>
              <a:prstGeom prst="hexagon">
                <a:avLst/>
              </a:prstGeom>
              <a:gradFill flip="none" rotWithShape="1">
                <a:gsLst>
                  <a:gs pos="10000">
                    <a:schemeClr val="accent1">
                      <a:lumMod val="60000"/>
                      <a:lumOff val="40000"/>
                      <a:alpha val="0"/>
                    </a:schemeClr>
                  </a:gs>
                  <a:gs pos="100000">
                    <a:schemeClr val="accent1">
                      <a:lumMod val="60000"/>
                      <a:lumOff val="40000"/>
                      <a:alpha val="33000"/>
                    </a:schemeClr>
                  </a:gs>
                </a:gsLst>
                <a:lin ang="10800000" scaled="1"/>
                <a:tileRect/>
              </a:gradFill>
              <a:ln w="9525">
                <a:gradFill flip="none" rotWithShape="1">
                  <a:gsLst>
                    <a:gs pos="7000">
                      <a:schemeClr val="accent1">
                        <a:lumMod val="60000"/>
                        <a:lumOff val="40000"/>
                      </a:schemeClr>
                    </a:gs>
                    <a:gs pos="84000">
                      <a:schemeClr val="accent1">
                        <a:lumMod val="60000"/>
                        <a:lumOff val="40000"/>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微软雅黑" panose="020B0503020204020204" charset="-122"/>
                </a:endParaRPr>
              </a:p>
            </p:txBody>
          </p:sp>
          <p:grpSp>
            <p:nvGrpSpPr>
              <p:cNvPr id="38" name="组合 37"/>
              <p:cNvGrpSpPr/>
              <p:nvPr/>
            </p:nvGrpSpPr>
            <p:grpSpPr>
              <a:xfrm rot="0">
                <a:off x="5212" y="3049"/>
                <a:ext cx="1616" cy="741"/>
                <a:chOff x="6573188" y="2968936"/>
                <a:chExt cx="1399540" cy="743470"/>
              </a:xfrm>
            </p:grpSpPr>
            <p:grpSp>
              <p:nvGrpSpPr>
                <p:cNvPr id="39" name="组合 38"/>
                <p:cNvGrpSpPr/>
                <p:nvPr/>
              </p:nvGrpSpPr>
              <p:grpSpPr>
                <a:xfrm>
                  <a:off x="6573188" y="2968936"/>
                  <a:ext cx="1399540" cy="743470"/>
                  <a:chOff x="6855551" y="3109240"/>
                  <a:chExt cx="834814" cy="443474"/>
                </a:xfrm>
              </p:grpSpPr>
              <p:sp>
                <p:nvSpPr>
                  <p:cNvPr id="40" name="©显眼包PPT1-3"/>
                  <p:cNvSpPr/>
                  <p:nvPr/>
                </p:nvSpPr>
                <p:spPr>
                  <a:xfrm>
                    <a:off x="6855551" y="3109240"/>
                    <a:ext cx="834814" cy="412335"/>
                  </a:xfrm>
                  <a:custGeom>
                    <a:avLst/>
                    <a:gdLst>
                      <a:gd name="connsiteX0" fmla="*/ 0 w 888777"/>
                      <a:gd name="connsiteY0" fmla="*/ 419295 h 519149"/>
                      <a:gd name="connsiteX1" fmla="*/ 271413 w 888777"/>
                      <a:gd name="connsiteY1" fmla="*/ 511302 h 519149"/>
                      <a:gd name="connsiteX2" fmla="*/ 444389 w 888777"/>
                      <a:gd name="connsiteY2" fmla="*/ 519149 h 519149"/>
                      <a:gd name="connsiteX3" fmla="*/ 444388 w 888777"/>
                      <a:gd name="connsiteY3" fmla="*/ 519149 h 519149"/>
                      <a:gd name="connsiteX4" fmla="*/ 0 w 888777"/>
                      <a:gd name="connsiteY4" fmla="*/ 419295 h 519149"/>
                      <a:gd name="connsiteX5" fmla="*/ 0 w 888777"/>
                      <a:gd name="connsiteY5" fmla="*/ 0 h 519149"/>
                      <a:gd name="connsiteX6" fmla="*/ 888777 w 888777"/>
                      <a:gd name="connsiteY6" fmla="*/ 0 h 519149"/>
                      <a:gd name="connsiteX7" fmla="*/ 888777 w 888777"/>
                      <a:gd name="connsiteY7" fmla="*/ 122940 h 519149"/>
                      <a:gd name="connsiteX8" fmla="*/ 888777 w 888777"/>
                      <a:gd name="connsiteY8" fmla="*/ 245879 h 519149"/>
                      <a:gd name="connsiteX9" fmla="*/ 888777 w 888777"/>
                      <a:gd name="connsiteY9" fmla="*/ 416722 h 519149"/>
                      <a:gd name="connsiteX10" fmla="*/ 887624 w 888777"/>
                      <a:gd name="connsiteY10" fmla="*/ 416722 h 519149"/>
                      <a:gd name="connsiteX11" fmla="*/ 879750 w 888777"/>
                      <a:gd name="connsiteY11" fmla="*/ 399171 h 519149"/>
                      <a:gd name="connsiteX12" fmla="*/ 444389 w 888777"/>
                      <a:gd name="connsiteY12" fmla="*/ 319441 h 519149"/>
                      <a:gd name="connsiteX13" fmla="*/ 0 w 888777"/>
                      <a:gd name="connsiteY13" fmla="*/ 419295 h 519149"/>
                      <a:gd name="connsiteX14" fmla="*/ 1154 w 888777"/>
                      <a:gd name="connsiteY14" fmla="*/ 416722 h 519149"/>
                      <a:gd name="connsiteX15" fmla="*/ 0 w 888777"/>
                      <a:gd name="connsiteY15" fmla="*/ 416722 h 519149"/>
                      <a:gd name="connsiteX16" fmla="*/ 0 w 888777"/>
                      <a:gd name="connsiteY16" fmla="*/ 245879 h 519149"/>
                      <a:gd name="connsiteX17" fmla="*/ 0 w 888777"/>
                      <a:gd name="connsiteY17" fmla="*/ 122940 h 51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88777" h="519149">
                        <a:moveTo>
                          <a:pt x="0" y="419295"/>
                        </a:moveTo>
                        <a:cubicBezTo>
                          <a:pt x="0" y="460656"/>
                          <a:pt x="111915" y="496144"/>
                          <a:pt x="271413" y="511302"/>
                        </a:cubicBezTo>
                        <a:lnTo>
                          <a:pt x="444389" y="519149"/>
                        </a:lnTo>
                        <a:lnTo>
                          <a:pt x="444388" y="519149"/>
                        </a:lnTo>
                        <a:cubicBezTo>
                          <a:pt x="198959" y="519149"/>
                          <a:pt x="0" y="474443"/>
                          <a:pt x="0" y="419295"/>
                        </a:cubicBezTo>
                        <a:close/>
                        <a:moveTo>
                          <a:pt x="0" y="0"/>
                        </a:moveTo>
                        <a:lnTo>
                          <a:pt x="888777" y="0"/>
                        </a:lnTo>
                        <a:lnTo>
                          <a:pt x="888777" y="122940"/>
                        </a:lnTo>
                        <a:lnTo>
                          <a:pt x="888777" y="245879"/>
                        </a:lnTo>
                        <a:lnTo>
                          <a:pt x="888777" y="416722"/>
                        </a:lnTo>
                        <a:lnTo>
                          <a:pt x="887624" y="416722"/>
                        </a:lnTo>
                        <a:lnTo>
                          <a:pt x="879750" y="399171"/>
                        </a:lnTo>
                        <a:cubicBezTo>
                          <a:pt x="838312" y="353669"/>
                          <a:pt x="659139" y="319441"/>
                          <a:pt x="444389" y="319441"/>
                        </a:cubicBezTo>
                        <a:cubicBezTo>
                          <a:pt x="198960" y="319441"/>
                          <a:pt x="0" y="364147"/>
                          <a:pt x="0" y="419295"/>
                        </a:cubicBezTo>
                        <a:lnTo>
                          <a:pt x="1154" y="416722"/>
                        </a:lnTo>
                        <a:lnTo>
                          <a:pt x="0" y="416722"/>
                        </a:lnTo>
                        <a:lnTo>
                          <a:pt x="0" y="245879"/>
                        </a:lnTo>
                        <a:lnTo>
                          <a:pt x="0" y="122940"/>
                        </a:lnTo>
                        <a:close/>
                      </a:path>
                    </a:pathLst>
                  </a:custGeom>
                  <a:gradFill flip="none" rotWithShape="1">
                    <a:gsLst>
                      <a:gs pos="100000">
                        <a:schemeClr val="accent1">
                          <a:lumMod val="60000"/>
                          <a:lumOff val="40000"/>
                          <a:alpha val="45000"/>
                        </a:schemeClr>
                      </a:gs>
                      <a:gs pos="22000">
                        <a:schemeClr val="accent1">
                          <a:lumMod val="60000"/>
                          <a:lumOff val="40000"/>
                          <a:alpha val="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cs typeface="微软雅黑" panose="020B0503020204020204" charset="-122"/>
                    </a:endParaRPr>
                  </a:p>
                </p:txBody>
              </p:sp>
              <p:sp>
                <p:nvSpPr>
                  <p:cNvPr id="45" name="©显眼包PPT1-4"/>
                  <p:cNvSpPr/>
                  <p:nvPr/>
                </p:nvSpPr>
                <p:spPr>
                  <a:xfrm>
                    <a:off x="6855551" y="3362957"/>
                    <a:ext cx="834814" cy="158618"/>
                  </a:xfrm>
                  <a:prstGeom prst="ellipse">
                    <a:avLst/>
                  </a:prstGeom>
                  <a:gradFill flip="none" rotWithShape="1">
                    <a:gsLst>
                      <a:gs pos="50000">
                        <a:schemeClr val="accent1">
                          <a:lumMod val="60000"/>
                          <a:lumOff val="40000"/>
                          <a:alpha val="0"/>
                        </a:schemeClr>
                      </a:gs>
                      <a:gs pos="0">
                        <a:schemeClr val="accent1">
                          <a:lumMod val="60000"/>
                          <a:lumOff val="40000"/>
                          <a:alpha val="45000"/>
                        </a:schemeClr>
                      </a:gs>
                      <a:gs pos="100000">
                        <a:schemeClr val="accent1">
                          <a:lumMod val="60000"/>
                          <a:lumOff val="40000"/>
                          <a:alpha val="45000"/>
                        </a:schemeClr>
                      </a:gs>
                    </a:gsLst>
                    <a:lin ang="0" scaled="1"/>
                    <a:tileRect/>
                  </a:gradFill>
                  <a:ln w="12700">
                    <a:gradFill flip="none" rotWithShape="1">
                      <a:gsLst>
                        <a:gs pos="17000">
                          <a:schemeClr val="accent1">
                            <a:lumMod val="60000"/>
                            <a:lumOff val="40000"/>
                            <a:alpha val="0"/>
                          </a:schemeClr>
                        </a:gs>
                        <a:gs pos="70000">
                          <a:schemeClr val="accent1">
                            <a:lumMod val="60000"/>
                            <a:lumOff val="40000"/>
                          </a:schemeClr>
                        </a:gs>
                        <a:gs pos="100000">
                          <a:schemeClr val="accent1">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微软雅黑" panose="020B0503020204020204" charset="-122"/>
                    </a:endParaRPr>
                  </a:p>
                </p:txBody>
              </p:sp>
              <p:sp>
                <p:nvSpPr>
                  <p:cNvPr id="46" name="©显眼包PPT1-5"/>
                  <p:cNvSpPr/>
                  <p:nvPr/>
                </p:nvSpPr>
                <p:spPr>
                  <a:xfrm>
                    <a:off x="6924576" y="3392369"/>
                    <a:ext cx="696764" cy="93519"/>
                  </a:xfrm>
                  <a:prstGeom prst="ellipse">
                    <a:avLst/>
                  </a:prstGeom>
                  <a:gradFill>
                    <a:gsLst>
                      <a:gs pos="0">
                        <a:schemeClr val="bg1">
                          <a:alpha val="0"/>
                        </a:schemeClr>
                      </a:gs>
                      <a:gs pos="99000">
                        <a:schemeClr val="bg1">
                          <a:alpha val="70000"/>
                        </a:schemeClr>
                      </a:gs>
                    </a:gsLst>
                    <a:lin ang="54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cs typeface="微软雅黑" panose="020B0503020204020204" charset="-122"/>
                    </a:endParaRPr>
                  </a:p>
                </p:txBody>
              </p:sp>
              <p:sp>
                <p:nvSpPr>
                  <p:cNvPr id="53" name="©显眼包PPT1-6"/>
                  <p:cNvSpPr/>
                  <p:nvPr/>
                </p:nvSpPr>
                <p:spPr>
                  <a:xfrm>
                    <a:off x="6855551" y="3394096"/>
                    <a:ext cx="834814" cy="158618"/>
                  </a:xfrm>
                  <a:prstGeom prst="ellipse">
                    <a:avLst/>
                  </a:prstGeom>
                  <a:noFill/>
                  <a:ln w="6350">
                    <a:gradFill flip="none" rotWithShape="1">
                      <a:gsLst>
                        <a:gs pos="53000">
                          <a:schemeClr val="accent1">
                            <a:lumMod val="60000"/>
                            <a:lumOff val="40000"/>
                            <a:alpha val="0"/>
                          </a:schemeClr>
                        </a:gs>
                        <a:gs pos="100000">
                          <a:schemeClr val="accent1">
                            <a:lumMod val="60000"/>
                            <a:lumOff val="40000"/>
                            <a:alpha val="66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微软雅黑" panose="020B0503020204020204" charset="-122"/>
                    </a:endParaRPr>
                  </a:p>
                </p:txBody>
              </p:sp>
            </p:grpSp>
            <p:sp>
              <p:nvSpPr>
                <p:cNvPr id="54" name="©显眼包PPT1-7"/>
                <p:cNvSpPr txBox="1"/>
                <p:nvPr/>
              </p:nvSpPr>
              <p:spPr>
                <a:xfrm>
                  <a:off x="6573188" y="3027222"/>
                  <a:ext cx="1399540" cy="388290"/>
                </a:xfrm>
                <a:prstGeom prst="rect">
                  <a:avLst/>
                </a:prstGeom>
                <a:noFill/>
              </p:spPr>
              <p:txBody>
                <a:bodyPr wrap="square" lIns="0" tIns="0" rIns="0" bIns="0" rtlCol="0">
                  <a:spAutoFit/>
                </a:bodyPr>
                <a:lstStyle/>
                <a:p>
                  <a:pPr algn="ctr"/>
                  <a:r>
                    <a:rPr lang="zh-CN" sz="1600" dirty="0">
                      <a:gradFill>
                        <a:gsLst>
                          <a:gs pos="1000">
                            <a:schemeClr val="accent1">
                              <a:lumMod val="60000"/>
                              <a:lumOff val="40000"/>
                            </a:schemeClr>
                          </a:gs>
                          <a:gs pos="80000">
                            <a:schemeClr val="accent1"/>
                          </a:gs>
                        </a:gsLst>
                        <a:lin ang="5400000" scaled="1"/>
                      </a:gradFill>
                      <a:latin typeface="+mj-ea"/>
                      <a:ea typeface="+mj-ea"/>
                      <a:cs typeface="微软雅黑" panose="020B0503020204020204" charset="-122"/>
                    </a:rPr>
                    <a:t>数字营销</a:t>
                  </a:r>
                  <a:endParaRPr lang="en-US" altLang="zh-CN" sz="1600" dirty="0">
                    <a:gradFill>
                      <a:gsLst>
                        <a:gs pos="1000">
                          <a:schemeClr val="accent1">
                            <a:lumMod val="60000"/>
                            <a:lumOff val="40000"/>
                          </a:schemeClr>
                        </a:gs>
                        <a:gs pos="80000">
                          <a:schemeClr val="accent1"/>
                        </a:gs>
                      </a:gsLst>
                      <a:lin ang="5400000" scaled="1"/>
                    </a:gradFill>
                    <a:latin typeface="+mj-ea"/>
                    <a:ea typeface="+mj-ea"/>
                    <a:cs typeface="微软雅黑" panose="020B0503020204020204" charset="-122"/>
                  </a:endParaRPr>
                </a:p>
              </p:txBody>
            </p:sp>
          </p:grpSp>
        </p:grpSp>
        <p:pic>
          <p:nvPicPr>
            <p:cNvPr id="132" name="图片 131" descr="数字营销2"/>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09" y="2815"/>
              <a:ext cx="315" cy="315"/>
            </a:xfrm>
            <a:prstGeom prst="rect">
              <a:avLst/>
            </a:prstGeom>
          </p:spPr>
        </p:pic>
      </p:grpSp>
      <p:grpSp>
        <p:nvGrpSpPr>
          <p:cNvPr id="137" name="组合 136"/>
          <p:cNvGrpSpPr/>
          <p:nvPr/>
        </p:nvGrpSpPr>
        <p:grpSpPr>
          <a:xfrm>
            <a:off x="8205470" y="1692910"/>
            <a:ext cx="1026160" cy="770890"/>
            <a:chOff x="12670" y="2666"/>
            <a:chExt cx="1616" cy="1214"/>
          </a:xfrm>
        </p:grpSpPr>
        <p:grpSp>
          <p:nvGrpSpPr>
            <p:cNvPr id="56" name="组合 55"/>
            <p:cNvGrpSpPr/>
            <p:nvPr/>
          </p:nvGrpSpPr>
          <p:grpSpPr>
            <a:xfrm>
              <a:off x="12670" y="2666"/>
              <a:ext cx="1616" cy="1214"/>
              <a:chOff x="5212" y="2576"/>
              <a:chExt cx="1616" cy="1214"/>
            </a:xfrm>
          </p:grpSpPr>
          <p:sp>
            <p:nvSpPr>
              <p:cNvPr id="57" name="©显眼包PPT1-1"/>
              <p:cNvSpPr/>
              <p:nvPr/>
            </p:nvSpPr>
            <p:spPr>
              <a:xfrm rot="5400000">
                <a:off x="5655" y="2576"/>
                <a:ext cx="731" cy="730"/>
              </a:xfrm>
              <a:prstGeom prst="hexagon">
                <a:avLst/>
              </a:prstGeom>
              <a:gradFill flip="none" rotWithShape="1">
                <a:gsLst>
                  <a:gs pos="10000">
                    <a:schemeClr val="accent1">
                      <a:lumMod val="60000"/>
                      <a:lumOff val="40000"/>
                      <a:alpha val="0"/>
                    </a:schemeClr>
                  </a:gs>
                  <a:gs pos="100000">
                    <a:schemeClr val="accent1">
                      <a:lumMod val="60000"/>
                      <a:lumOff val="40000"/>
                      <a:alpha val="33000"/>
                    </a:schemeClr>
                  </a:gs>
                </a:gsLst>
                <a:lin ang="10800000" scaled="1"/>
                <a:tileRect/>
              </a:gradFill>
              <a:ln w="9525">
                <a:gradFill flip="none" rotWithShape="1">
                  <a:gsLst>
                    <a:gs pos="7000">
                      <a:schemeClr val="accent1">
                        <a:lumMod val="60000"/>
                        <a:lumOff val="40000"/>
                      </a:schemeClr>
                    </a:gs>
                    <a:gs pos="84000">
                      <a:schemeClr val="accent1">
                        <a:lumMod val="60000"/>
                        <a:lumOff val="40000"/>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微软雅黑" panose="020B0503020204020204" charset="-122"/>
                </a:endParaRPr>
              </a:p>
            </p:txBody>
          </p:sp>
          <p:grpSp>
            <p:nvGrpSpPr>
              <p:cNvPr id="59" name="组合 58"/>
              <p:cNvGrpSpPr/>
              <p:nvPr/>
            </p:nvGrpSpPr>
            <p:grpSpPr>
              <a:xfrm rot="0">
                <a:off x="5212" y="3049"/>
                <a:ext cx="1616" cy="741"/>
                <a:chOff x="6573188" y="2968936"/>
                <a:chExt cx="1399540" cy="743470"/>
              </a:xfrm>
            </p:grpSpPr>
            <p:grpSp>
              <p:nvGrpSpPr>
                <p:cNvPr id="72" name="组合 71"/>
                <p:cNvGrpSpPr/>
                <p:nvPr/>
              </p:nvGrpSpPr>
              <p:grpSpPr>
                <a:xfrm>
                  <a:off x="6573188" y="2968936"/>
                  <a:ext cx="1399540" cy="743470"/>
                  <a:chOff x="6855551" y="3109240"/>
                  <a:chExt cx="834814" cy="443474"/>
                </a:xfrm>
              </p:grpSpPr>
              <p:sp>
                <p:nvSpPr>
                  <p:cNvPr id="97" name="©显眼包PPT1-3"/>
                  <p:cNvSpPr/>
                  <p:nvPr/>
                </p:nvSpPr>
                <p:spPr>
                  <a:xfrm>
                    <a:off x="6855551" y="3109240"/>
                    <a:ext cx="834814" cy="412335"/>
                  </a:xfrm>
                  <a:custGeom>
                    <a:avLst/>
                    <a:gdLst>
                      <a:gd name="connsiteX0" fmla="*/ 0 w 888777"/>
                      <a:gd name="connsiteY0" fmla="*/ 419295 h 519149"/>
                      <a:gd name="connsiteX1" fmla="*/ 271413 w 888777"/>
                      <a:gd name="connsiteY1" fmla="*/ 511302 h 519149"/>
                      <a:gd name="connsiteX2" fmla="*/ 444389 w 888777"/>
                      <a:gd name="connsiteY2" fmla="*/ 519149 h 519149"/>
                      <a:gd name="connsiteX3" fmla="*/ 444388 w 888777"/>
                      <a:gd name="connsiteY3" fmla="*/ 519149 h 519149"/>
                      <a:gd name="connsiteX4" fmla="*/ 0 w 888777"/>
                      <a:gd name="connsiteY4" fmla="*/ 419295 h 519149"/>
                      <a:gd name="connsiteX5" fmla="*/ 0 w 888777"/>
                      <a:gd name="connsiteY5" fmla="*/ 0 h 519149"/>
                      <a:gd name="connsiteX6" fmla="*/ 888777 w 888777"/>
                      <a:gd name="connsiteY6" fmla="*/ 0 h 519149"/>
                      <a:gd name="connsiteX7" fmla="*/ 888777 w 888777"/>
                      <a:gd name="connsiteY7" fmla="*/ 122940 h 519149"/>
                      <a:gd name="connsiteX8" fmla="*/ 888777 w 888777"/>
                      <a:gd name="connsiteY8" fmla="*/ 245879 h 519149"/>
                      <a:gd name="connsiteX9" fmla="*/ 888777 w 888777"/>
                      <a:gd name="connsiteY9" fmla="*/ 416722 h 519149"/>
                      <a:gd name="connsiteX10" fmla="*/ 887624 w 888777"/>
                      <a:gd name="connsiteY10" fmla="*/ 416722 h 519149"/>
                      <a:gd name="connsiteX11" fmla="*/ 879750 w 888777"/>
                      <a:gd name="connsiteY11" fmla="*/ 399171 h 519149"/>
                      <a:gd name="connsiteX12" fmla="*/ 444389 w 888777"/>
                      <a:gd name="connsiteY12" fmla="*/ 319441 h 519149"/>
                      <a:gd name="connsiteX13" fmla="*/ 0 w 888777"/>
                      <a:gd name="connsiteY13" fmla="*/ 419295 h 519149"/>
                      <a:gd name="connsiteX14" fmla="*/ 1154 w 888777"/>
                      <a:gd name="connsiteY14" fmla="*/ 416722 h 519149"/>
                      <a:gd name="connsiteX15" fmla="*/ 0 w 888777"/>
                      <a:gd name="connsiteY15" fmla="*/ 416722 h 519149"/>
                      <a:gd name="connsiteX16" fmla="*/ 0 w 888777"/>
                      <a:gd name="connsiteY16" fmla="*/ 245879 h 519149"/>
                      <a:gd name="connsiteX17" fmla="*/ 0 w 888777"/>
                      <a:gd name="connsiteY17" fmla="*/ 122940 h 51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88777" h="519149">
                        <a:moveTo>
                          <a:pt x="0" y="419295"/>
                        </a:moveTo>
                        <a:cubicBezTo>
                          <a:pt x="0" y="460656"/>
                          <a:pt x="111915" y="496144"/>
                          <a:pt x="271413" y="511302"/>
                        </a:cubicBezTo>
                        <a:lnTo>
                          <a:pt x="444389" y="519149"/>
                        </a:lnTo>
                        <a:lnTo>
                          <a:pt x="444388" y="519149"/>
                        </a:lnTo>
                        <a:cubicBezTo>
                          <a:pt x="198959" y="519149"/>
                          <a:pt x="0" y="474443"/>
                          <a:pt x="0" y="419295"/>
                        </a:cubicBezTo>
                        <a:close/>
                        <a:moveTo>
                          <a:pt x="0" y="0"/>
                        </a:moveTo>
                        <a:lnTo>
                          <a:pt x="888777" y="0"/>
                        </a:lnTo>
                        <a:lnTo>
                          <a:pt x="888777" y="122940"/>
                        </a:lnTo>
                        <a:lnTo>
                          <a:pt x="888777" y="245879"/>
                        </a:lnTo>
                        <a:lnTo>
                          <a:pt x="888777" y="416722"/>
                        </a:lnTo>
                        <a:lnTo>
                          <a:pt x="887624" y="416722"/>
                        </a:lnTo>
                        <a:lnTo>
                          <a:pt x="879750" y="399171"/>
                        </a:lnTo>
                        <a:cubicBezTo>
                          <a:pt x="838312" y="353669"/>
                          <a:pt x="659139" y="319441"/>
                          <a:pt x="444389" y="319441"/>
                        </a:cubicBezTo>
                        <a:cubicBezTo>
                          <a:pt x="198960" y="319441"/>
                          <a:pt x="0" y="364147"/>
                          <a:pt x="0" y="419295"/>
                        </a:cubicBezTo>
                        <a:lnTo>
                          <a:pt x="1154" y="416722"/>
                        </a:lnTo>
                        <a:lnTo>
                          <a:pt x="0" y="416722"/>
                        </a:lnTo>
                        <a:lnTo>
                          <a:pt x="0" y="245879"/>
                        </a:lnTo>
                        <a:lnTo>
                          <a:pt x="0" y="122940"/>
                        </a:lnTo>
                        <a:close/>
                      </a:path>
                    </a:pathLst>
                  </a:custGeom>
                  <a:gradFill flip="none" rotWithShape="1">
                    <a:gsLst>
                      <a:gs pos="100000">
                        <a:schemeClr val="accent1">
                          <a:lumMod val="60000"/>
                          <a:lumOff val="40000"/>
                          <a:alpha val="45000"/>
                        </a:schemeClr>
                      </a:gs>
                      <a:gs pos="22000">
                        <a:schemeClr val="accent1">
                          <a:lumMod val="60000"/>
                          <a:lumOff val="40000"/>
                          <a:alpha val="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cs typeface="微软雅黑" panose="020B0503020204020204" charset="-122"/>
                    </a:endParaRPr>
                  </a:p>
                </p:txBody>
              </p:sp>
              <p:sp>
                <p:nvSpPr>
                  <p:cNvPr id="98" name="©显眼包PPT1-4"/>
                  <p:cNvSpPr/>
                  <p:nvPr/>
                </p:nvSpPr>
                <p:spPr>
                  <a:xfrm>
                    <a:off x="6855551" y="3362957"/>
                    <a:ext cx="834814" cy="158618"/>
                  </a:xfrm>
                  <a:prstGeom prst="ellipse">
                    <a:avLst/>
                  </a:prstGeom>
                  <a:gradFill flip="none" rotWithShape="1">
                    <a:gsLst>
                      <a:gs pos="50000">
                        <a:schemeClr val="accent1">
                          <a:lumMod val="60000"/>
                          <a:lumOff val="40000"/>
                          <a:alpha val="0"/>
                        </a:schemeClr>
                      </a:gs>
                      <a:gs pos="0">
                        <a:schemeClr val="accent1">
                          <a:lumMod val="60000"/>
                          <a:lumOff val="40000"/>
                          <a:alpha val="45000"/>
                        </a:schemeClr>
                      </a:gs>
                      <a:gs pos="100000">
                        <a:schemeClr val="accent1">
                          <a:lumMod val="60000"/>
                          <a:lumOff val="40000"/>
                          <a:alpha val="45000"/>
                        </a:schemeClr>
                      </a:gs>
                    </a:gsLst>
                    <a:lin ang="0" scaled="1"/>
                    <a:tileRect/>
                  </a:gradFill>
                  <a:ln w="12700">
                    <a:gradFill flip="none" rotWithShape="1">
                      <a:gsLst>
                        <a:gs pos="17000">
                          <a:schemeClr val="accent1">
                            <a:lumMod val="60000"/>
                            <a:lumOff val="40000"/>
                            <a:alpha val="0"/>
                          </a:schemeClr>
                        </a:gs>
                        <a:gs pos="70000">
                          <a:schemeClr val="accent1">
                            <a:lumMod val="60000"/>
                            <a:lumOff val="40000"/>
                          </a:schemeClr>
                        </a:gs>
                        <a:gs pos="100000">
                          <a:schemeClr val="accent1">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微软雅黑" panose="020B0503020204020204" charset="-122"/>
                    </a:endParaRPr>
                  </a:p>
                </p:txBody>
              </p:sp>
              <p:sp>
                <p:nvSpPr>
                  <p:cNvPr id="99" name="©显眼包PPT1-5"/>
                  <p:cNvSpPr/>
                  <p:nvPr/>
                </p:nvSpPr>
                <p:spPr>
                  <a:xfrm>
                    <a:off x="6924576" y="3392369"/>
                    <a:ext cx="696764" cy="93519"/>
                  </a:xfrm>
                  <a:prstGeom prst="ellipse">
                    <a:avLst/>
                  </a:prstGeom>
                  <a:gradFill>
                    <a:gsLst>
                      <a:gs pos="0">
                        <a:schemeClr val="bg1">
                          <a:alpha val="0"/>
                        </a:schemeClr>
                      </a:gs>
                      <a:gs pos="99000">
                        <a:schemeClr val="bg1">
                          <a:alpha val="70000"/>
                        </a:schemeClr>
                      </a:gs>
                    </a:gsLst>
                    <a:lin ang="54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cs typeface="微软雅黑" panose="020B0503020204020204" charset="-122"/>
                    </a:endParaRPr>
                  </a:p>
                </p:txBody>
              </p:sp>
              <p:sp>
                <p:nvSpPr>
                  <p:cNvPr id="100" name="©显眼包PPT1-6"/>
                  <p:cNvSpPr/>
                  <p:nvPr/>
                </p:nvSpPr>
                <p:spPr>
                  <a:xfrm>
                    <a:off x="6855551" y="3394096"/>
                    <a:ext cx="834814" cy="158618"/>
                  </a:xfrm>
                  <a:prstGeom prst="ellipse">
                    <a:avLst/>
                  </a:prstGeom>
                  <a:noFill/>
                  <a:ln w="6350">
                    <a:gradFill flip="none" rotWithShape="1">
                      <a:gsLst>
                        <a:gs pos="53000">
                          <a:schemeClr val="accent1">
                            <a:lumMod val="60000"/>
                            <a:lumOff val="40000"/>
                            <a:alpha val="0"/>
                          </a:schemeClr>
                        </a:gs>
                        <a:gs pos="100000">
                          <a:schemeClr val="accent1">
                            <a:lumMod val="60000"/>
                            <a:lumOff val="40000"/>
                            <a:alpha val="66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微软雅黑" panose="020B0503020204020204" charset="-122"/>
                    </a:endParaRPr>
                  </a:p>
                </p:txBody>
              </p:sp>
            </p:grpSp>
            <p:sp>
              <p:nvSpPr>
                <p:cNvPr id="101" name="©显眼包PPT1-7"/>
                <p:cNvSpPr txBox="1"/>
                <p:nvPr/>
              </p:nvSpPr>
              <p:spPr>
                <a:xfrm>
                  <a:off x="6573188" y="3027222"/>
                  <a:ext cx="1399540" cy="388290"/>
                </a:xfrm>
                <a:prstGeom prst="rect">
                  <a:avLst/>
                </a:prstGeom>
                <a:noFill/>
              </p:spPr>
              <p:txBody>
                <a:bodyPr wrap="square" lIns="0" tIns="0" rIns="0" bIns="0" rtlCol="0">
                  <a:spAutoFit/>
                </a:bodyPr>
                <a:lstStyle/>
                <a:p>
                  <a:pPr algn="ctr"/>
                  <a:r>
                    <a:rPr lang="zh-CN" sz="1600" dirty="0">
                      <a:gradFill>
                        <a:gsLst>
                          <a:gs pos="1000">
                            <a:schemeClr val="accent1">
                              <a:lumMod val="60000"/>
                              <a:lumOff val="40000"/>
                            </a:schemeClr>
                          </a:gs>
                          <a:gs pos="80000">
                            <a:schemeClr val="accent1"/>
                          </a:gs>
                        </a:gsLst>
                        <a:lin ang="5400000" scaled="1"/>
                      </a:gradFill>
                      <a:latin typeface="+mj-ea"/>
                      <a:ea typeface="+mj-ea"/>
                      <a:cs typeface="微软雅黑" panose="020B0503020204020204" charset="-122"/>
                    </a:rPr>
                    <a:t>增值业务</a:t>
                  </a:r>
                  <a:endParaRPr lang="zh-CN" sz="1600" dirty="0">
                    <a:gradFill>
                      <a:gsLst>
                        <a:gs pos="1000">
                          <a:schemeClr val="accent1">
                            <a:lumMod val="60000"/>
                            <a:lumOff val="40000"/>
                          </a:schemeClr>
                        </a:gs>
                        <a:gs pos="80000">
                          <a:schemeClr val="accent1"/>
                        </a:gs>
                      </a:gsLst>
                      <a:lin ang="5400000" scaled="1"/>
                    </a:gradFill>
                    <a:latin typeface="+mj-ea"/>
                    <a:ea typeface="+mj-ea"/>
                    <a:cs typeface="微软雅黑" panose="020B0503020204020204" charset="-122"/>
                  </a:endParaRPr>
                </a:p>
              </p:txBody>
            </p:sp>
          </p:grpSp>
        </p:grpSp>
        <p:pic>
          <p:nvPicPr>
            <p:cNvPr id="133" name="图片 132" descr="一级菜单：增值业务"/>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278" y="2767"/>
              <a:ext cx="400" cy="400"/>
            </a:xfrm>
            <a:prstGeom prst="rect">
              <a:avLst/>
            </a:prstGeom>
          </p:spPr>
        </p:pic>
      </p:grpSp>
      <p:pic>
        <p:nvPicPr>
          <p:cNvPr id="134" name="图片 133" descr="屋顶资源管理"/>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55600" y="186055"/>
            <a:ext cx="549910" cy="549910"/>
          </a:xfrm>
          <a:prstGeom prst="rect">
            <a:avLst/>
          </a:prstGeom>
        </p:spPr>
      </p:pic>
      <p:cxnSp>
        <p:nvCxnSpPr>
          <p:cNvPr id="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8738235" y="348615"/>
            <a:ext cx="3219450" cy="332740"/>
            <a:chOff x="13761" y="549"/>
            <a:chExt cx="5070" cy="524"/>
          </a:xfrm>
        </p:grpSpPr>
        <p:pic>
          <p:nvPicPr>
            <p:cNvPr id="13" name="图片 12"/>
            <p:cNvPicPr>
              <a:picLocks noChangeAspect="1"/>
            </p:cNvPicPr>
            <p:nvPr userDrawn="1"/>
          </p:nvPicPr>
          <p:blipFill>
            <a:blip r:embed="rId12"/>
            <a:srcRect l="17002" t="-1765" r="56499" b="-1176"/>
            <a:stretch>
              <a:fillRect/>
            </a:stretch>
          </p:blipFill>
          <p:spPr>
            <a:xfrm>
              <a:off x="13761" y="549"/>
              <a:ext cx="1582" cy="525"/>
            </a:xfrm>
            <a:prstGeom prst="rect">
              <a:avLst/>
            </a:prstGeom>
          </p:spPr>
        </p:pic>
        <p:sp>
          <p:nvSpPr>
            <p:cNvPr id="14" name="文本框 1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nvSpPr>
        <p:spPr>
          <a:xfrm>
            <a:off x="3128010" y="1899285"/>
            <a:ext cx="8256905" cy="4018280"/>
          </a:xfrm>
          <a:prstGeom prst="rect">
            <a:avLst/>
          </a:prstGeom>
          <a:solidFill>
            <a:schemeClr val="accent1">
              <a:lumMod val="20000"/>
              <a:lumOff val="80000"/>
              <a:alpha val="20000"/>
            </a:schemeClr>
          </a:solidFill>
          <a:ln>
            <a:solidFill>
              <a:schemeClr val="accent1">
                <a:lumMod val="60000"/>
                <a:lumOff val="40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66" name="直接连接符 65"/>
          <p:cNvCxnSpPr/>
          <p:nvPr/>
        </p:nvCxnSpPr>
        <p:spPr>
          <a:xfrm>
            <a:off x="6767195" y="4758690"/>
            <a:ext cx="1520825" cy="0"/>
          </a:xfrm>
          <a:prstGeom prst="line">
            <a:avLst/>
          </a:prstGeom>
          <a:ln>
            <a:solidFill>
              <a:schemeClr val="accent2"/>
            </a:solidFill>
            <a:prstDash val="sysDash"/>
          </a:ln>
        </p:spPr>
        <p:style>
          <a:lnRef idx="2">
            <a:schemeClr val="accent1"/>
          </a:lnRef>
          <a:fillRef idx="0">
            <a:srgbClr val="FFFFFF"/>
          </a:fillRef>
          <a:effectRef idx="0">
            <a:srgbClr val="FFFFFF"/>
          </a:effectRef>
          <a:fontRef idx="minor">
            <a:schemeClr val="tx1"/>
          </a:fontRef>
        </p:style>
      </p:cxnSp>
      <p:cxnSp>
        <p:nvCxnSpPr>
          <p:cNvPr id="65" name="直接连接符 64"/>
          <p:cNvCxnSpPr>
            <a:stCxn id="40" idx="3"/>
            <a:endCxn id="42" idx="3"/>
          </p:cNvCxnSpPr>
          <p:nvPr/>
        </p:nvCxnSpPr>
        <p:spPr>
          <a:xfrm>
            <a:off x="6791325" y="3927475"/>
            <a:ext cx="1520825" cy="0"/>
          </a:xfrm>
          <a:prstGeom prst="line">
            <a:avLst/>
          </a:prstGeom>
          <a:ln>
            <a:solidFill>
              <a:schemeClr val="accent2"/>
            </a:solidFill>
            <a:prstDash val="sysDash"/>
          </a:ln>
        </p:spPr>
        <p:style>
          <a:lnRef idx="2">
            <a:schemeClr val="accent1"/>
          </a:lnRef>
          <a:fillRef idx="0">
            <a:srgbClr val="FFFFFF"/>
          </a:fillRef>
          <a:effectRef idx="0">
            <a:srgbClr val="FFFFFF"/>
          </a:effectRef>
          <a:fontRef idx="minor">
            <a:schemeClr val="tx1"/>
          </a:fontRef>
        </p:style>
      </p:cxnSp>
      <p:sp>
        <p:nvSpPr>
          <p:cNvPr id="34" name="椭圆 33"/>
          <p:cNvSpPr/>
          <p:nvPr/>
        </p:nvSpPr>
        <p:spPr>
          <a:xfrm>
            <a:off x="4027805" y="2310130"/>
            <a:ext cx="6453505" cy="3080385"/>
          </a:xfrm>
          <a:prstGeom prst="ellipse">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 name="矩形 1"/>
          <p:cNvSpPr/>
          <p:nvPr/>
        </p:nvSpPr>
        <p:spPr>
          <a:xfrm>
            <a:off x="743585" y="1208405"/>
            <a:ext cx="2075180" cy="4709160"/>
          </a:xfrm>
          <a:prstGeom prst="rect">
            <a:avLst/>
          </a:prstGeom>
          <a:solidFill>
            <a:schemeClr val="accent5">
              <a:lumMod val="20000"/>
              <a:lumOff val="80000"/>
              <a:alpha val="20000"/>
            </a:schemeClr>
          </a:solidFill>
          <a:ln>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企业数据化转型逻辑图</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圆角矩形 2"/>
          <p:cNvSpPr/>
          <p:nvPr/>
        </p:nvSpPr>
        <p:spPr>
          <a:xfrm>
            <a:off x="1071880" y="1457960"/>
            <a:ext cx="1472565" cy="407670"/>
          </a:xfrm>
          <a:prstGeom prst="roundRect">
            <a:avLst/>
          </a:prstGeom>
          <a:gradFill>
            <a:gsLst>
              <a:gs pos="0">
                <a:schemeClr val="accent5"/>
              </a:gs>
              <a:gs pos="100000">
                <a:schemeClr val="accent5">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cs typeface="微软雅黑" panose="020B0503020204020204" charset="-122"/>
              </a:rPr>
              <a:t>价值</a:t>
            </a:r>
            <a:endParaRPr lang="zh-CN" altLang="en-US">
              <a:cs typeface="微软雅黑" panose="020B0503020204020204" charset="-122"/>
            </a:endParaRPr>
          </a:p>
        </p:txBody>
      </p:sp>
      <p:sp>
        <p:nvSpPr>
          <p:cNvPr id="4" name="圆角矩形 3"/>
          <p:cNvSpPr/>
          <p:nvPr/>
        </p:nvSpPr>
        <p:spPr>
          <a:xfrm>
            <a:off x="743585" y="6045200"/>
            <a:ext cx="2074545" cy="407670"/>
          </a:xfrm>
          <a:prstGeom prst="roundRect">
            <a:avLst/>
          </a:prstGeom>
          <a:gradFill>
            <a:gsLst>
              <a:gs pos="0">
                <a:schemeClr val="accent1"/>
              </a:gs>
              <a:gs pos="100000">
                <a:schemeClr val="accent1">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cs typeface="微软雅黑" panose="020B0503020204020204" charset="-122"/>
              </a:rPr>
              <a:t>痛点</a:t>
            </a:r>
            <a:endParaRPr lang="zh-CN" altLang="en-US">
              <a:cs typeface="微软雅黑" panose="020B0503020204020204" charset="-122"/>
            </a:endParaRPr>
          </a:p>
        </p:txBody>
      </p:sp>
      <p:sp>
        <p:nvSpPr>
          <p:cNvPr id="6" name="圆角矩形 5"/>
          <p:cNvSpPr/>
          <p:nvPr/>
        </p:nvSpPr>
        <p:spPr>
          <a:xfrm>
            <a:off x="3128010" y="1208405"/>
            <a:ext cx="8256905" cy="566420"/>
          </a:xfrm>
          <a:prstGeom prst="roundRect">
            <a:avLst/>
          </a:prstGeom>
          <a:gradFill>
            <a:gsLst>
              <a:gs pos="0">
                <a:schemeClr val="accent1"/>
              </a:gs>
              <a:gs pos="100000">
                <a:schemeClr val="accent1">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cs typeface="微软雅黑" panose="020B0503020204020204" charset="-122"/>
                <a:sym typeface="+mn-ea"/>
              </a:rPr>
              <a:t>支撑企业数字化转型的基础数据统一，推动企业数字化转型中的业务可视化</a:t>
            </a:r>
            <a:endParaRPr lang="zh-CN" altLang="en-US">
              <a:cs typeface="微软雅黑" panose="020B0503020204020204" charset="-122"/>
              <a:sym typeface="+mn-ea"/>
            </a:endParaRPr>
          </a:p>
        </p:txBody>
      </p:sp>
      <p:sp>
        <p:nvSpPr>
          <p:cNvPr id="7" name="圆角矩形 6"/>
          <p:cNvSpPr/>
          <p:nvPr/>
        </p:nvSpPr>
        <p:spPr>
          <a:xfrm>
            <a:off x="3128010" y="6045200"/>
            <a:ext cx="1522730" cy="4076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accent1"/>
                </a:solidFill>
                <a:cs typeface="微软雅黑" panose="020B0503020204020204" charset="-122"/>
              </a:rPr>
              <a:t>数据资产管理混乱</a:t>
            </a:r>
            <a:endParaRPr lang="zh-CN" altLang="en-US" sz="1200" b="1">
              <a:solidFill>
                <a:schemeClr val="accent1"/>
              </a:solidFill>
              <a:cs typeface="微软雅黑" panose="020B0503020204020204" charset="-122"/>
            </a:endParaRPr>
          </a:p>
        </p:txBody>
      </p:sp>
      <p:sp>
        <p:nvSpPr>
          <p:cNvPr id="8" name="圆角矩形 7"/>
          <p:cNvSpPr/>
          <p:nvPr/>
        </p:nvSpPr>
        <p:spPr>
          <a:xfrm>
            <a:off x="4810760" y="6045200"/>
            <a:ext cx="1522730" cy="4076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solidFill>
                <a:cs typeface="微软雅黑" panose="020B0503020204020204" charset="-122"/>
                <a:sym typeface="+mn-ea"/>
              </a:rPr>
              <a:t>数据孤单普遍存在</a:t>
            </a:r>
            <a:endParaRPr lang="zh-CN" altLang="en-US" sz="1200" b="1">
              <a:solidFill>
                <a:schemeClr val="accent1"/>
              </a:solidFill>
              <a:cs typeface="微软雅黑" panose="020B0503020204020204" charset="-122"/>
              <a:sym typeface="+mn-ea"/>
            </a:endParaRPr>
          </a:p>
        </p:txBody>
      </p:sp>
      <p:sp>
        <p:nvSpPr>
          <p:cNvPr id="9" name="圆角矩形 8"/>
          <p:cNvSpPr/>
          <p:nvPr/>
        </p:nvSpPr>
        <p:spPr>
          <a:xfrm>
            <a:off x="9859010" y="6045200"/>
            <a:ext cx="1522730" cy="4076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solidFill>
                <a:cs typeface="微软雅黑" panose="020B0503020204020204" charset="-122"/>
                <a:sym typeface="+mn-ea"/>
              </a:rPr>
              <a:t>数据价值急待释放</a:t>
            </a:r>
            <a:endParaRPr lang="zh-CN" altLang="en-US" sz="1200" b="1">
              <a:solidFill>
                <a:schemeClr val="accent1"/>
              </a:solidFill>
              <a:cs typeface="微软雅黑" panose="020B0503020204020204" charset="-122"/>
              <a:sym typeface="+mn-ea"/>
            </a:endParaRPr>
          </a:p>
        </p:txBody>
      </p:sp>
      <p:sp>
        <p:nvSpPr>
          <p:cNvPr id="11" name="圆角矩形 10"/>
          <p:cNvSpPr/>
          <p:nvPr/>
        </p:nvSpPr>
        <p:spPr>
          <a:xfrm>
            <a:off x="6493510" y="6045200"/>
            <a:ext cx="1522730" cy="4076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solidFill>
                <a:cs typeface="微软雅黑" panose="020B0503020204020204" charset="-122"/>
                <a:sym typeface="+mn-ea"/>
              </a:rPr>
              <a:t>数据治理体系欠缺</a:t>
            </a:r>
            <a:endParaRPr lang="zh-CN" altLang="en-US" sz="1200" b="1">
              <a:solidFill>
                <a:schemeClr val="accent1"/>
              </a:solidFill>
              <a:cs typeface="微软雅黑" panose="020B0503020204020204" charset="-122"/>
              <a:sym typeface="+mn-ea"/>
            </a:endParaRPr>
          </a:p>
        </p:txBody>
      </p:sp>
      <p:sp>
        <p:nvSpPr>
          <p:cNvPr id="12" name="圆角矩形 11"/>
          <p:cNvSpPr/>
          <p:nvPr/>
        </p:nvSpPr>
        <p:spPr>
          <a:xfrm>
            <a:off x="8176260" y="6045200"/>
            <a:ext cx="1522730" cy="4076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solidFill>
                <a:cs typeface="微软雅黑" panose="020B0503020204020204" charset="-122"/>
                <a:sym typeface="+mn-ea"/>
              </a:rPr>
              <a:t>数据分析不成体系</a:t>
            </a:r>
            <a:endParaRPr lang="zh-CN" altLang="en-US" sz="1200" b="1">
              <a:solidFill>
                <a:schemeClr val="accent1"/>
              </a:solidFill>
              <a:cs typeface="微软雅黑" panose="020B0503020204020204" charset="-122"/>
              <a:sym typeface="+mn-ea"/>
            </a:endParaRPr>
          </a:p>
        </p:txBody>
      </p:sp>
      <p:sp>
        <p:nvSpPr>
          <p:cNvPr id="13" name="圆角矩形 12"/>
          <p:cNvSpPr/>
          <p:nvPr/>
        </p:nvSpPr>
        <p:spPr>
          <a:xfrm>
            <a:off x="1071880" y="2286000"/>
            <a:ext cx="1472565" cy="3222625"/>
          </a:xfrm>
          <a:prstGeom prst="roundRect">
            <a:avLst>
              <a:gd name="adj" fmla="val 10176"/>
            </a:avLst>
          </a:prstGeom>
          <a:solidFill>
            <a:schemeClr val="bg1"/>
          </a:solidFill>
          <a:ln>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0" name="菱形 89"/>
          <p:cNvSpPr/>
          <p:nvPr/>
        </p:nvSpPr>
        <p:spPr>
          <a:xfrm>
            <a:off x="1542415" y="1941195"/>
            <a:ext cx="532130" cy="558165"/>
          </a:xfrm>
          <a:prstGeom prst="diamond">
            <a:avLst/>
          </a:prstGeom>
          <a:gradFill>
            <a:gsLst>
              <a:gs pos="0">
                <a:schemeClr val="accent5"/>
              </a:gs>
              <a:gs pos="50000">
                <a:schemeClr val="accent5">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4" name="菱形 13"/>
          <p:cNvSpPr/>
          <p:nvPr/>
        </p:nvSpPr>
        <p:spPr>
          <a:xfrm>
            <a:off x="1542415" y="5574030"/>
            <a:ext cx="532130" cy="558165"/>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5" name="燕尾形 14"/>
          <p:cNvSpPr/>
          <p:nvPr/>
        </p:nvSpPr>
        <p:spPr>
          <a:xfrm rot="16200000">
            <a:off x="1406525" y="2839720"/>
            <a:ext cx="741680" cy="990600"/>
          </a:xfrm>
          <a:prstGeom prst="chevron">
            <a:avLst>
              <a:gd name="adj" fmla="val 27478"/>
            </a:avLst>
          </a:prstGeom>
          <a:solidFill>
            <a:schemeClr val="accent5">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 name="燕尾形 15"/>
          <p:cNvSpPr/>
          <p:nvPr/>
        </p:nvSpPr>
        <p:spPr>
          <a:xfrm rot="16200000">
            <a:off x="1406525" y="3554095"/>
            <a:ext cx="741680" cy="990600"/>
          </a:xfrm>
          <a:prstGeom prst="chevron">
            <a:avLst>
              <a:gd name="adj" fmla="val 27478"/>
            </a:avLst>
          </a:prstGeom>
          <a:solidFill>
            <a:schemeClr val="accent5">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7" name="燕尾形 16"/>
          <p:cNvSpPr/>
          <p:nvPr/>
        </p:nvSpPr>
        <p:spPr>
          <a:xfrm rot="16200000">
            <a:off x="1406525" y="4268470"/>
            <a:ext cx="741680" cy="990600"/>
          </a:xfrm>
          <a:prstGeom prst="chevron">
            <a:avLst>
              <a:gd name="adj" fmla="val 27478"/>
            </a:avLst>
          </a:prstGeom>
          <a:solidFill>
            <a:schemeClr val="accent5">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25" name="组合 24"/>
          <p:cNvGrpSpPr/>
          <p:nvPr/>
        </p:nvGrpSpPr>
        <p:grpSpPr>
          <a:xfrm>
            <a:off x="4912360" y="4617720"/>
            <a:ext cx="774065" cy="774065"/>
            <a:chOff x="4633" y="4642"/>
            <a:chExt cx="1624" cy="1624"/>
          </a:xfrm>
        </p:grpSpPr>
        <p:sp>
          <p:nvSpPr>
            <p:cNvPr id="26" name="椭圆 25"/>
            <p:cNvSpPr/>
            <p:nvPr/>
          </p:nvSpPr>
          <p:spPr>
            <a:xfrm>
              <a:off x="4691" y="4700"/>
              <a:ext cx="1508" cy="1508"/>
            </a:xfrm>
            <a:prstGeom prst="ellipse">
              <a:avLst/>
            </a:prstGeom>
            <a:gradFill>
              <a:gsLst>
                <a:gs pos="0">
                  <a:schemeClr val="accent1">
                    <a:lumMod val="80000"/>
                    <a:lumOff val="20000"/>
                  </a:schemeClr>
                </a:gs>
                <a:gs pos="100000">
                  <a:schemeClr val="accent1"/>
                </a:gs>
              </a:gsLst>
              <a:lin ang="5400000" scaled="0"/>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cs typeface="微软雅黑" panose="020B0503020204020204" charset="-122"/>
              </a:endParaRPr>
            </a:p>
          </p:txBody>
        </p:sp>
        <p:sp>
          <p:nvSpPr>
            <p:cNvPr id="27" name="椭圆 26"/>
            <p:cNvSpPr/>
            <p:nvPr/>
          </p:nvSpPr>
          <p:spPr>
            <a:xfrm>
              <a:off x="4633" y="4642"/>
              <a:ext cx="1624" cy="1624"/>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28" name="组合 27"/>
          <p:cNvGrpSpPr/>
          <p:nvPr/>
        </p:nvGrpSpPr>
        <p:grpSpPr>
          <a:xfrm>
            <a:off x="8854440" y="4617085"/>
            <a:ext cx="774065" cy="774065"/>
            <a:chOff x="4633" y="4642"/>
            <a:chExt cx="1624" cy="1624"/>
          </a:xfrm>
        </p:grpSpPr>
        <p:sp>
          <p:nvSpPr>
            <p:cNvPr id="29" name="椭圆 28"/>
            <p:cNvSpPr/>
            <p:nvPr/>
          </p:nvSpPr>
          <p:spPr>
            <a:xfrm>
              <a:off x="4691" y="4700"/>
              <a:ext cx="1508" cy="1508"/>
            </a:xfrm>
            <a:prstGeom prst="ellipse">
              <a:avLst/>
            </a:prstGeom>
            <a:gradFill>
              <a:gsLst>
                <a:gs pos="0">
                  <a:schemeClr val="accent1">
                    <a:lumMod val="80000"/>
                    <a:lumOff val="20000"/>
                  </a:schemeClr>
                </a:gs>
                <a:gs pos="100000">
                  <a:schemeClr val="accent1"/>
                </a:gs>
              </a:gsLst>
              <a:lin ang="5400000" scaled="0"/>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cs typeface="微软雅黑" panose="020B0503020204020204" charset="-122"/>
              </a:endParaRPr>
            </a:p>
          </p:txBody>
        </p:sp>
        <p:sp>
          <p:nvSpPr>
            <p:cNvPr id="30" name="椭圆 29"/>
            <p:cNvSpPr/>
            <p:nvPr/>
          </p:nvSpPr>
          <p:spPr>
            <a:xfrm>
              <a:off x="4633" y="4642"/>
              <a:ext cx="1624" cy="1624"/>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36" name="椭圆 35"/>
          <p:cNvSpPr/>
          <p:nvPr/>
        </p:nvSpPr>
        <p:spPr>
          <a:xfrm>
            <a:off x="5800725" y="3766185"/>
            <a:ext cx="2870835" cy="1202055"/>
          </a:xfrm>
          <a:prstGeom prst="ellipse">
            <a:avLst/>
          </a:prstGeom>
          <a:noFill/>
          <a:ln>
            <a:gradFill>
              <a:gsLst>
                <a:gs pos="0">
                  <a:schemeClr val="accent1">
                    <a:lumMod val="60000"/>
                    <a:lumOff val="40000"/>
                  </a:schemeClr>
                </a:gs>
                <a:gs pos="30000">
                  <a:schemeClr val="accent1">
                    <a:lumMod val="60000"/>
                    <a:lumOff val="40000"/>
                    <a:alpha val="0"/>
                  </a:schemeClr>
                </a:gs>
                <a:gs pos="71000">
                  <a:schemeClr val="accent1">
                    <a:lumMod val="60000"/>
                    <a:lumOff val="40000"/>
                    <a:alpha val="0"/>
                  </a:schemeClr>
                </a:gs>
                <a:gs pos="100000">
                  <a:schemeClr val="accent1">
                    <a:lumMod val="60000"/>
                    <a:lumOff val="40000"/>
                  </a:schemeClr>
                </a:gs>
              </a:gsLst>
              <a:lin ang="0" scaled="1"/>
            </a:gra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0">
              <a:cs typeface="微软雅黑" panose="020B0503020204020204" charset="-122"/>
            </a:endParaRPr>
          </a:p>
        </p:txBody>
      </p:sp>
      <p:sp>
        <p:nvSpPr>
          <p:cNvPr id="38" name="矩形 37"/>
          <p:cNvSpPr/>
          <p:nvPr/>
        </p:nvSpPr>
        <p:spPr>
          <a:xfrm>
            <a:off x="5546725" y="4240530"/>
            <a:ext cx="594360" cy="285750"/>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cs typeface="微软雅黑" panose="020B0503020204020204" charset="-122"/>
                <a:sym typeface="+mn-ea"/>
              </a:rPr>
              <a:t>研发</a:t>
            </a:r>
            <a:endParaRPr lang="zh-CN" altLang="en-US" sz="1000">
              <a:cs typeface="微软雅黑" panose="020B0503020204020204" charset="-122"/>
              <a:sym typeface="+mn-ea"/>
            </a:endParaRPr>
          </a:p>
        </p:txBody>
      </p:sp>
      <p:sp>
        <p:nvSpPr>
          <p:cNvPr id="39" name="矩形 38"/>
          <p:cNvSpPr/>
          <p:nvPr/>
        </p:nvSpPr>
        <p:spPr>
          <a:xfrm>
            <a:off x="6172835" y="4617403"/>
            <a:ext cx="594360" cy="285750"/>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cs typeface="微软雅黑" panose="020B0503020204020204" charset="-122"/>
                <a:sym typeface="+mn-ea"/>
              </a:rPr>
              <a:t>营销</a:t>
            </a:r>
            <a:endParaRPr lang="zh-CN" altLang="en-US" sz="1000">
              <a:cs typeface="微软雅黑" panose="020B0503020204020204" charset="-122"/>
              <a:sym typeface="+mn-ea"/>
            </a:endParaRPr>
          </a:p>
        </p:txBody>
      </p:sp>
      <p:sp>
        <p:nvSpPr>
          <p:cNvPr id="40" name="矩形 39"/>
          <p:cNvSpPr/>
          <p:nvPr/>
        </p:nvSpPr>
        <p:spPr>
          <a:xfrm>
            <a:off x="6196965" y="3784283"/>
            <a:ext cx="594360" cy="285750"/>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cs typeface="微软雅黑" panose="020B0503020204020204" charset="-122"/>
              </a:rPr>
              <a:t>计划</a:t>
            </a:r>
            <a:endParaRPr lang="zh-CN" altLang="en-US" sz="1000">
              <a:cs typeface="微软雅黑" panose="020B0503020204020204" charset="-122"/>
            </a:endParaRPr>
          </a:p>
        </p:txBody>
      </p:sp>
      <p:sp>
        <p:nvSpPr>
          <p:cNvPr id="41" name="矩形 40"/>
          <p:cNvSpPr/>
          <p:nvPr/>
        </p:nvSpPr>
        <p:spPr>
          <a:xfrm>
            <a:off x="8312150" y="4224655"/>
            <a:ext cx="594360" cy="285750"/>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cs typeface="微软雅黑" panose="020B0503020204020204" charset="-122"/>
                <a:sym typeface="+mn-ea"/>
              </a:rPr>
              <a:t>品质</a:t>
            </a:r>
            <a:endParaRPr lang="zh-CN" altLang="en-US" sz="1000">
              <a:cs typeface="微软雅黑" panose="020B0503020204020204" charset="-122"/>
              <a:sym typeface="+mn-ea"/>
            </a:endParaRPr>
          </a:p>
        </p:txBody>
      </p:sp>
      <p:sp>
        <p:nvSpPr>
          <p:cNvPr id="42" name="矩形 41"/>
          <p:cNvSpPr/>
          <p:nvPr/>
        </p:nvSpPr>
        <p:spPr>
          <a:xfrm>
            <a:off x="7717790" y="3784283"/>
            <a:ext cx="594360" cy="285750"/>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cs typeface="微软雅黑" panose="020B0503020204020204" charset="-122"/>
                <a:sym typeface="+mn-ea"/>
              </a:rPr>
              <a:t>制造</a:t>
            </a:r>
            <a:endParaRPr lang="zh-CN" altLang="en-US" sz="1000">
              <a:cs typeface="微软雅黑" panose="020B0503020204020204" charset="-122"/>
              <a:sym typeface="+mn-ea"/>
            </a:endParaRPr>
          </a:p>
        </p:txBody>
      </p:sp>
      <p:sp>
        <p:nvSpPr>
          <p:cNvPr id="43" name="矩形 42"/>
          <p:cNvSpPr/>
          <p:nvPr/>
        </p:nvSpPr>
        <p:spPr>
          <a:xfrm>
            <a:off x="6938645" y="3784283"/>
            <a:ext cx="594360" cy="285750"/>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cs typeface="微软雅黑" panose="020B0503020204020204" charset="-122"/>
                <a:sym typeface="+mn-ea"/>
              </a:rPr>
              <a:t>采购</a:t>
            </a:r>
            <a:endParaRPr lang="zh-CN" altLang="en-US" sz="1000">
              <a:cs typeface="微软雅黑" panose="020B0503020204020204" charset="-122"/>
              <a:sym typeface="+mn-ea"/>
            </a:endParaRPr>
          </a:p>
        </p:txBody>
      </p:sp>
      <p:sp>
        <p:nvSpPr>
          <p:cNvPr id="44" name="矩形 43"/>
          <p:cNvSpPr/>
          <p:nvPr/>
        </p:nvSpPr>
        <p:spPr>
          <a:xfrm>
            <a:off x="6958965" y="4617403"/>
            <a:ext cx="594360" cy="285750"/>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cs typeface="微软雅黑" panose="020B0503020204020204" charset="-122"/>
                <a:sym typeface="+mn-ea"/>
              </a:rPr>
              <a:t>终端</a:t>
            </a:r>
            <a:endParaRPr lang="zh-CN" altLang="en-US" sz="1000">
              <a:cs typeface="微软雅黑" panose="020B0503020204020204" charset="-122"/>
              <a:sym typeface="+mn-ea"/>
            </a:endParaRPr>
          </a:p>
        </p:txBody>
      </p:sp>
      <p:sp>
        <p:nvSpPr>
          <p:cNvPr id="45" name="矩形 44"/>
          <p:cNvSpPr/>
          <p:nvPr/>
        </p:nvSpPr>
        <p:spPr>
          <a:xfrm>
            <a:off x="7710805" y="4617403"/>
            <a:ext cx="594360" cy="285750"/>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cs typeface="微软雅黑" panose="020B0503020204020204" charset="-122"/>
                <a:sym typeface="+mn-ea"/>
              </a:rPr>
              <a:t>储运</a:t>
            </a:r>
            <a:endParaRPr lang="zh-CN" altLang="en-US" sz="1000">
              <a:cs typeface="微软雅黑" panose="020B0503020204020204" charset="-122"/>
              <a:sym typeface="+mn-ea"/>
            </a:endParaRPr>
          </a:p>
        </p:txBody>
      </p:sp>
      <p:sp>
        <p:nvSpPr>
          <p:cNvPr id="48" name="文本框 47"/>
          <p:cNvSpPr txBox="1"/>
          <p:nvPr/>
        </p:nvSpPr>
        <p:spPr>
          <a:xfrm>
            <a:off x="1212850" y="2403475"/>
            <a:ext cx="1197610" cy="521970"/>
          </a:xfrm>
          <a:prstGeom prst="rect">
            <a:avLst/>
          </a:prstGeom>
          <a:noFill/>
        </p:spPr>
        <p:txBody>
          <a:bodyPr wrap="square" rtlCol="0">
            <a:spAutoFit/>
          </a:bodyPr>
          <a:p>
            <a:pPr algn="ct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企业数字化转型阶段</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1281430" y="3186430"/>
            <a:ext cx="99123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驱动创新</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1295400" y="3896360"/>
            <a:ext cx="97726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智能决策</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1295400" y="4625340"/>
            <a:ext cx="97726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数据洞察</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4986020" y="4743768"/>
            <a:ext cx="626745"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数据平台</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8928100" y="4743133"/>
            <a:ext cx="626745"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数据治理</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3968115" y="5444490"/>
            <a:ext cx="1364615" cy="398780"/>
          </a:xfrm>
          <a:prstGeom prst="rect">
            <a:avLst/>
          </a:prstGeom>
          <a:noFill/>
        </p:spPr>
        <p:txBody>
          <a:bodyPr wrap="square" rtlCol="0">
            <a:spAutoFit/>
          </a:bodyPr>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云原生数字基座</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低代码开发平台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nvSpPr>
        <p:spPr>
          <a:xfrm>
            <a:off x="5302250" y="5444490"/>
            <a:ext cx="1493520" cy="398780"/>
          </a:xfrm>
          <a:prstGeom prst="rect">
            <a:avLst/>
          </a:prstGeom>
          <a:noFill/>
        </p:spPr>
        <p:txBody>
          <a:bodyPr wrap="square" rtlCol="0">
            <a:spAutoFit/>
          </a:bodyPr>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数据资产管理平台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智能化平台运营</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8547735" y="5440680"/>
            <a:ext cx="1844040" cy="398780"/>
          </a:xfrm>
          <a:prstGeom prst="rect">
            <a:avLst/>
          </a:prstGeom>
          <a:noFill/>
        </p:spPr>
        <p:txBody>
          <a:bodyPr wrap="square" rtlCol="0">
            <a:spAutoFit/>
          </a:bodyPr>
          <a:p>
            <a:pPr marL="171450" indent="-171450" algn="l">
              <a:buFont typeface="Wingdings" panose="05000000000000000000" charset="0"/>
              <a:buChar char="l"/>
            </a:pP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数字化转型治理框架</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数据血缘溯源</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nvSpPr>
        <p:spPr>
          <a:xfrm>
            <a:off x="6059170" y="2785745"/>
            <a:ext cx="1207770" cy="398780"/>
          </a:xfrm>
          <a:prstGeom prst="rect">
            <a:avLst/>
          </a:prstGeom>
          <a:noFill/>
        </p:spPr>
        <p:txBody>
          <a:bodyPr wrap="square" rtlCol="0">
            <a:spAutoFit/>
          </a:bodyPr>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战略分解落地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聚焦经营重点</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7325995" y="2785745"/>
            <a:ext cx="1414780" cy="398780"/>
          </a:xfrm>
          <a:prstGeom prst="rect">
            <a:avLst/>
          </a:prstGeom>
          <a:noFill/>
        </p:spPr>
        <p:txBody>
          <a:bodyPr wrap="square" rtlCol="0">
            <a:spAutoFit/>
          </a:bodyPr>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全价值链可视化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智能报表中枢</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7" name="等腰三角形 66"/>
          <p:cNvSpPr/>
          <p:nvPr/>
        </p:nvSpPr>
        <p:spPr>
          <a:xfrm rot="3360000">
            <a:off x="5936615" y="4040505"/>
            <a:ext cx="90805" cy="73660"/>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8" name="等腰三角形 67"/>
          <p:cNvSpPr/>
          <p:nvPr/>
        </p:nvSpPr>
        <p:spPr>
          <a:xfrm rot="18240000" flipV="1">
            <a:off x="5958205" y="4638675"/>
            <a:ext cx="90805" cy="73660"/>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 name="等腰三角形 68"/>
          <p:cNvSpPr/>
          <p:nvPr/>
        </p:nvSpPr>
        <p:spPr>
          <a:xfrm rot="5220000">
            <a:off x="6823075" y="3890010"/>
            <a:ext cx="90805" cy="73660"/>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0" name="等腰三角形 69"/>
          <p:cNvSpPr/>
          <p:nvPr/>
        </p:nvSpPr>
        <p:spPr>
          <a:xfrm rot="5220000">
            <a:off x="6823075" y="4721225"/>
            <a:ext cx="90805" cy="73660"/>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1" name="等腰三角形 70"/>
          <p:cNvSpPr/>
          <p:nvPr/>
        </p:nvSpPr>
        <p:spPr>
          <a:xfrm rot="5220000">
            <a:off x="7597140" y="3890010"/>
            <a:ext cx="90805" cy="73660"/>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2" name="等腰三角形 71"/>
          <p:cNvSpPr/>
          <p:nvPr/>
        </p:nvSpPr>
        <p:spPr>
          <a:xfrm rot="5220000">
            <a:off x="7597140" y="4720590"/>
            <a:ext cx="90805" cy="73660"/>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3" name="等腰三角形 72"/>
          <p:cNvSpPr/>
          <p:nvPr/>
        </p:nvSpPr>
        <p:spPr>
          <a:xfrm rot="780000">
            <a:off x="8465820" y="4028440"/>
            <a:ext cx="90805" cy="73660"/>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4" name="等腰三角形 73"/>
          <p:cNvSpPr/>
          <p:nvPr/>
        </p:nvSpPr>
        <p:spPr>
          <a:xfrm rot="6480000">
            <a:off x="8434070" y="4635500"/>
            <a:ext cx="90805" cy="73660"/>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93" name="组合 92"/>
          <p:cNvGrpSpPr/>
          <p:nvPr/>
        </p:nvGrpSpPr>
        <p:grpSpPr>
          <a:xfrm>
            <a:off x="3785870" y="2885440"/>
            <a:ext cx="774065" cy="774065"/>
            <a:chOff x="4633" y="4642"/>
            <a:chExt cx="1624" cy="1624"/>
          </a:xfrm>
        </p:grpSpPr>
        <p:sp>
          <p:nvSpPr>
            <p:cNvPr id="94" name="椭圆 93"/>
            <p:cNvSpPr/>
            <p:nvPr/>
          </p:nvSpPr>
          <p:spPr>
            <a:xfrm>
              <a:off x="4691" y="4700"/>
              <a:ext cx="1508" cy="1508"/>
            </a:xfrm>
            <a:prstGeom prst="ellipse">
              <a:avLst/>
            </a:prstGeom>
            <a:gradFill>
              <a:gsLst>
                <a:gs pos="0">
                  <a:schemeClr val="accent1">
                    <a:lumMod val="80000"/>
                    <a:lumOff val="20000"/>
                  </a:schemeClr>
                </a:gs>
                <a:gs pos="100000">
                  <a:schemeClr val="accent1"/>
                </a:gs>
              </a:gsLst>
              <a:lin ang="5400000" scaled="0"/>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cs typeface="微软雅黑" panose="020B0503020204020204" charset="-122"/>
              </a:endParaRPr>
            </a:p>
          </p:txBody>
        </p:sp>
        <p:sp>
          <p:nvSpPr>
            <p:cNvPr id="95" name="椭圆 94"/>
            <p:cNvSpPr/>
            <p:nvPr/>
          </p:nvSpPr>
          <p:spPr>
            <a:xfrm>
              <a:off x="4633" y="4642"/>
              <a:ext cx="1624" cy="1624"/>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96" name="文本框 95"/>
          <p:cNvSpPr txBox="1"/>
          <p:nvPr/>
        </p:nvSpPr>
        <p:spPr>
          <a:xfrm>
            <a:off x="3859530" y="3011488"/>
            <a:ext cx="626745"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数据运营</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97" name="组合 96"/>
          <p:cNvGrpSpPr/>
          <p:nvPr/>
        </p:nvGrpSpPr>
        <p:grpSpPr>
          <a:xfrm>
            <a:off x="6857365" y="1963420"/>
            <a:ext cx="774065" cy="774065"/>
            <a:chOff x="4633" y="4642"/>
            <a:chExt cx="1624" cy="1624"/>
          </a:xfrm>
        </p:grpSpPr>
        <p:sp>
          <p:nvSpPr>
            <p:cNvPr id="98" name="椭圆 97"/>
            <p:cNvSpPr/>
            <p:nvPr/>
          </p:nvSpPr>
          <p:spPr>
            <a:xfrm>
              <a:off x="4691" y="4700"/>
              <a:ext cx="1508" cy="1508"/>
            </a:xfrm>
            <a:prstGeom prst="ellipse">
              <a:avLst/>
            </a:prstGeom>
            <a:gradFill>
              <a:gsLst>
                <a:gs pos="0">
                  <a:schemeClr val="accent1">
                    <a:lumMod val="80000"/>
                    <a:lumOff val="20000"/>
                  </a:schemeClr>
                </a:gs>
                <a:gs pos="100000">
                  <a:schemeClr val="accent1"/>
                </a:gs>
              </a:gsLst>
              <a:lin ang="5400000" scaled="0"/>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cs typeface="微软雅黑" panose="020B0503020204020204" charset="-122"/>
              </a:endParaRPr>
            </a:p>
          </p:txBody>
        </p:sp>
        <p:sp>
          <p:nvSpPr>
            <p:cNvPr id="99" name="椭圆 98"/>
            <p:cNvSpPr/>
            <p:nvPr/>
          </p:nvSpPr>
          <p:spPr>
            <a:xfrm>
              <a:off x="4633" y="4642"/>
              <a:ext cx="1624" cy="1624"/>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100" name="文本框 99"/>
          <p:cNvSpPr txBox="1"/>
          <p:nvPr/>
        </p:nvSpPr>
        <p:spPr>
          <a:xfrm>
            <a:off x="6931025" y="2089468"/>
            <a:ext cx="626745"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数据分析</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101" name="组合 100"/>
          <p:cNvGrpSpPr/>
          <p:nvPr/>
        </p:nvGrpSpPr>
        <p:grpSpPr>
          <a:xfrm>
            <a:off x="10011410" y="2931795"/>
            <a:ext cx="774065" cy="774065"/>
            <a:chOff x="4633" y="4642"/>
            <a:chExt cx="1624" cy="1624"/>
          </a:xfrm>
        </p:grpSpPr>
        <p:sp>
          <p:nvSpPr>
            <p:cNvPr id="102" name="椭圆 101"/>
            <p:cNvSpPr/>
            <p:nvPr/>
          </p:nvSpPr>
          <p:spPr>
            <a:xfrm>
              <a:off x="4691" y="4700"/>
              <a:ext cx="1508" cy="1508"/>
            </a:xfrm>
            <a:prstGeom prst="ellipse">
              <a:avLst/>
            </a:prstGeom>
            <a:gradFill>
              <a:gsLst>
                <a:gs pos="0">
                  <a:schemeClr val="accent1">
                    <a:lumMod val="80000"/>
                    <a:lumOff val="20000"/>
                  </a:schemeClr>
                </a:gs>
                <a:gs pos="100000">
                  <a:schemeClr val="accent1"/>
                </a:gs>
              </a:gsLst>
              <a:lin ang="5400000" scaled="0"/>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cs typeface="微软雅黑" panose="020B0503020204020204" charset="-122"/>
              </a:endParaRPr>
            </a:p>
          </p:txBody>
        </p:sp>
        <p:sp>
          <p:nvSpPr>
            <p:cNvPr id="103" name="椭圆 102"/>
            <p:cNvSpPr/>
            <p:nvPr/>
          </p:nvSpPr>
          <p:spPr>
            <a:xfrm>
              <a:off x="4633" y="4642"/>
              <a:ext cx="1624" cy="1624"/>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104" name="文本框 103"/>
          <p:cNvSpPr txBox="1"/>
          <p:nvPr/>
        </p:nvSpPr>
        <p:spPr>
          <a:xfrm>
            <a:off x="10085070" y="3057843"/>
            <a:ext cx="626745"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数据服务</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115" name="组合 114"/>
          <p:cNvGrpSpPr/>
          <p:nvPr/>
        </p:nvGrpSpPr>
        <p:grpSpPr>
          <a:xfrm>
            <a:off x="6119495" y="3258185"/>
            <a:ext cx="2339340" cy="430530"/>
            <a:chOff x="9637" y="5196"/>
            <a:chExt cx="3684" cy="678"/>
          </a:xfrm>
        </p:grpSpPr>
        <p:sp>
          <p:nvSpPr>
            <p:cNvPr id="37" name="矩形 36"/>
            <p:cNvSpPr/>
            <p:nvPr/>
          </p:nvSpPr>
          <p:spPr>
            <a:xfrm>
              <a:off x="12541" y="5196"/>
              <a:ext cx="780" cy="375"/>
            </a:xfrm>
            <a:prstGeom prst="rect">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b="1">
                  <a:solidFill>
                    <a:schemeClr val="accent1">
                      <a:lumMod val="60000"/>
                      <a:lumOff val="40000"/>
                    </a:schemeClr>
                  </a:solidFill>
                  <a:cs typeface="微软雅黑" panose="020B0503020204020204" charset="-122"/>
                  <a:sym typeface="+mn-ea"/>
                </a:rPr>
                <a:t>运营</a:t>
              </a:r>
              <a:endParaRPr lang="en-US" altLang="zh-CN" sz="1000" b="1">
                <a:solidFill>
                  <a:schemeClr val="accent1">
                    <a:lumMod val="60000"/>
                    <a:lumOff val="40000"/>
                  </a:schemeClr>
                </a:solidFill>
                <a:cs typeface="微软雅黑" panose="020B0503020204020204" charset="-122"/>
                <a:sym typeface="+mn-ea"/>
              </a:endParaRPr>
            </a:p>
          </p:txBody>
        </p:sp>
        <p:sp>
          <p:nvSpPr>
            <p:cNvPr id="109" name="矩形 108"/>
            <p:cNvSpPr/>
            <p:nvPr/>
          </p:nvSpPr>
          <p:spPr>
            <a:xfrm>
              <a:off x="11573" y="5196"/>
              <a:ext cx="780" cy="375"/>
            </a:xfrm>
            <a:prstGeom prst="rect">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b="1">
                  <a:solidFill>
                    <a:schemeClr val="accent1">
                      <a:lumMod val="60000"/>
                      <a:lumOff val="40000"/>
                    </a:schemeClr>
                  </a:solidFill>
                  <a:cs typeface="微软雅黑" panose="020B0503020204020204" charset="-122"/>
                  <a:sym typeface="+mn-ea"/>
                </a:rPr>
                <a:t>市场</a:t>
              </a:r>
              <a:endParaRPr lang="en-US" altLang="zh-CN" sz="1000" b="1">
                <a:solidFill>
                  <a:schemeClr val="accent1">
                    <a:lumMod val="60000"/>
                    <a:lumOff val="40000"/>
                  </a:schemeClr>
                </a:solidFill>
                <a:cs typeface="微软雅黑" panose="020B0503020204020204" charset="-122"/>
                <a:sym typeface="+mn-ea"/>
              </a:endParaRPr>
            </a:p>
          </p:txBody>
        </p:sp>
        <p:sp>
          <p:nvSpPr>
            <p:cNvPr id="110" name="矩形 109"/>
            <p:cNvSpPr/>
            <p:nvPr/>
          </p:nvSpPr>
          <p:spPr>
            <a:xfrm>
              <a:off x="10605" y="5196"/>
              <a:ext cx="780" cy="375"/>
            </a:xfrm>
            <a:prstGeom prst="rect">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b="1">
                  <a:solidFill>
                    <a:schemeClr val="accent1">
                      <a:lumMod val="60000"/>
                      <a:lumOff val="40000"/>
                    </a:schemeClr>
                  </a:solidFill>
                  <a:cs typeface="微软雅黑" panose="020B0503020204020204" charset="-122"/>
                  <a:sym typeface="+mn-ea"/>
                </a:rPr>
                <a:t>财务</a:t>
              </a:r>
              <a:endParaRPr lang="en-US" altLang="zh-CN" sz="1000" b="1">
                <a:solidFill>
                  <a:schemeClr val="accent1">
                    <a:lumMod val="60000"/>
                    <a:lumOff val="40000"/>
                  </a:schemeClr>
                </a:solidFill>
                <a:cs typeface="微软雅黑" panose="020B0503020204020204" charset="-122"/>
                <a:sym typeface="+mn-ea"/>
              </a:endParaRPr>
            </a:p>
          </p:txBody>
        </p:sp>
        <p:sp>
          <p:nvSpPr>
            <p:cNvPr id="111" name="矩形 110"/>
            <p:cNvSpPr/>
            <p:nvPr/>
          </p:nvSpPr>
          <p:spPr>
            <a:xfrm>
              <a:off x="9637" y="5196"/>
              <a:ext cx="780" cy="375"/>
            </a:xfrm>
            <a:prstGeom prst="rect">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b="1">
                  <a:solidFill>
                    <a:schemeClr val="accent1">
                      <a:lumMod val="60000"/>
                      <a:lumOff val="40000"/>
                    </a:schemeClr>
                  </a:solidFill>
                  <a:cs typeface="微软雅黑" panose="020B0503020204020204" charset="-122"/>
                </a:rPr>
                <a:t>HR</a:t>
              </a:r>
              <a:endParaRPr lang="en-US" altLang="zh-CN" sz="1000" b="1">
                <a:solidFill>
                  <a:schemeClr val="accent1">
                    <a:lumMod val="60000"/>
                    <a:lumOff val="40000"/>
                  </a:schemeClr>
                </a:solidFill>
                <a:cs typeface="微软雅黑" panose="020B0503020204020204" charset="-122"/>
              </a:endParaRPr>
            </a:p>
          </p:txBody>
        </p:sp>
        <p:sp>
          <p:nvSpPr>
            <p:cNvPr id="248" name="紫荆的职场Point99-4"/>
            <p:cNvSpPr/>
            <p:nvPr/>
          </p:nvSpPr>
          <p:spPr>
            <a:xfrm rot="10800000" flipH="1">
              <a:off x="9882" y="5638"/>
              <a:ext cx="291" cy="236"/>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2" name="紫荆的职场Point99-4"/>
            <p:cNvSpPr/>
            <p:nvPr/>
          </p:nvSpPr>
          <p:spPr>
            <a:xfrm rot="10800000" flipH="1">
              <a:off x="10878" y="5638"/>
              <a:ext cx="291" cy="236"/>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3" name="紫荆的职场Point99-4"/>
            <p:cNvSpPr/>
            <p:nvPr/>
          </p:nvSpPr>
          <p:spPr>
            <a:xfrm rot="10800000" flipH="1">
              <a:off x="11806" y="5638"/>
              <a:ext cx="291" cy="236"/>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4" name="紫荆的职场Point99-4"/>
            <p:cNvSpPr/>
            <p:nvPr/>
          </p:nvSpPr>
          <p:spPr>
            <a:xfrm rot="10800000" flipH="1">
              <a:off x="12799" y="5638"/>
              <a:ext cx="291" cy="236"/>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31" name="组合 30"/>
          <p:cNvGrpSpPr/>
          <p:nvPr/>
        </p:nvGrpSpPr>
        <p:grpSpPr>
          <a:xfrm>
            <a:off x="3455670" y="3850005"/>
            <a:ext cx="1574800" cy="675640"/>
            <a:chOff x="5503" y="6157"/>
            <a:chExt cx="2480" cy="1064"/>
          </a:xfrm>
        </p:grpSpPr>
        <p:grpSp>
          <p:nvGrpSpPr>
            <p:cNvPr id="23" name="组合 22"/>
            <p:cNvGrpSpPr/>
            <p:nvPr/>
          </p:nvGrpSpPr>
          <p:grpSpPr>
            <a:xfrm>
              <a:off x="5503" y="6157"/>
              <a:ext cx="2480" cy="1064"/>
              <a:chOff x="5455" y="5960"/>
              <a:chExt cx="2480" cy="1064"/>
            </a:xfrm>
          </p:grpSpPr>
          <p:sp>
            <p:nvSpPr>
              <p:cNvPr id="19" name="矩形 18"/>
              <p:cNvSpPr/>
              <p:nvPr/>
            </p:nvSpPr>
            <p:spPr>
              <a:xfrm>
                <a:off x="5455" y="5960"/>
                <a:ext cx="2480" cy="106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2" name="文本框 21"/>
              <p:cNvSpPr txBox="1"/>
              <p:nvPr/>
            </p:nvSpPr>
            <p:spPr>
              <a:xfrm>
                <a:off x="5455" y="5960"/>
                <a:ext cx="2480" cy="1063"/>
              </a:xfrm>
              <a:prstGeom prst="rect">
                <a:avLst/>
              </a:prstGeom>
              <a:solidFill>
                <a:schemeClr val="accent1">
                  <a:lumMod val="20000"/>
                  <a:lumOff val="80000"/>
                  <a:alpha val="20000"/>
                </a:schemeClr>
              </a:solidFill>
              <a:ln>
                <a:noFill/>
              </a:ln>
            </p:spPr>
            <p:txBody>
              <a:bodyPr wrap="square" rtlCol="0" anchor="t">
                <a:noAutofit/>
              </a:bodyPr>
              <a:p>
                <a:pPr marL="171450" lvl="0" indent="-171450" algn="l">
                  <a:buClrTx/>
                  <a:buSzTx/>
                  <a:buFont typeface="Wingdings" panose="05000000000000000000" charset="0"/>
                  <a:buChar char="l"/>
                </a:pPr>
                <a:endPar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sp>
          <p:nvSpPr>
            <p:cNvPr id="24" name="文本框 23"/>
            <p:cNvSpPr txBox="1"/>
            <p:nvPr/>
          </p:nvSpPr>
          <p:spPr>
            <a:xfrm>
              <a:off x="5503" y="6181"/>
              <a:ext cx="2481" cy="1016"/>
            </a:xfrm>
            <a:prstGeom prst="rect">
              <a:avLst/>
            </a:prstGeom>
            <a:noFill/>
            <a:ln>
              <a:noFill/>
            </a:ln>
          </p:spPr>
          <p:txBody>
            <a:bodyPr wrap="square" rtlCol="0">
              <a:spAutoFit/>
            </a:bodyPr>
            <a:p>
              <a:pPr marL="171450" indent="-171450" algn="l">
                <a:buFont typeface="Wingdings" panose="05000000000000000000" charset="0"/>
                <a:buChar char="l"/>
              </a:pPr>
              <a:r>
                <a:rPr lang="zh-CN" altLang="en-US" sz="900">
                  <a:solidFill>
                    <a:schemeClr val="tx2"/>
                  </a:solidFill>
                  <a:latin typeface="微软雅黑" panose="020B0503020204020204" charset="-122"/>
                  <a:ea typeface="微软雅黑" panose="020B0503020204020204" charset="-122"/>
                  <a:cs typeface="微软雅黑" panose="020B0503020204020204" charset="-122"/>
                </a:rPr>
                <a:t>数字化人才梯队建设</a:t>
              </a:r>
              <a:endParaRPr lang="zh-CN" altLang="en-US" sz="9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900">
                  <a:solidFill>
                    <a:schemeClr val="tx2"/>
                  </a:solidFill>
                  <a:latin typeface="微软雅黑" panose="020B0503020204020204" charset="-122"/>
                  <a:ea typeface="微软雅黑" panose="020B0503020204020204" charset="-122"/>
                  <a:cs typeface="微软雅黑" panose="020B0503020204020204" charset="-122"/>
                </a:rPr>
                <a:t>数字化文化培育</a:t>
              </a:r>
              <a:endParaRPr lang="zh-CN" altLang="en-US" sz="9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en-US" altLang="zh-CN" sz="9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900">
                  <a:solidFill>
                    <a:schemeClr val="tx2"/>
                  </a:solidFill>
                  <a:latin typeface="微软雅黑" panose="020B0503020204020204" charset="-122"/>
                  <a:ea typeface="微软雅黑" panose="020B0503020204020204" charset="-122"/>
                  <a:cs typeface="微软雅黑" panose="020B0503020204020204" charset="-122"/>
                </a:rPr>
                <a:t>驱动业务转型</a:t>
              </a:r>
              <a:endParaRPr lang="zh-CN" altLang="en-US" sz="9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900">
                  <a:solidFill>
                    <a:schemeClr val="tx2"/>
                  </a:solidFill>
                  <a:latin typeface="微软雅黑" panose="020B0503020204020204" charset="-122"/>
                  <a:ea typeface="微软雅黑" panose="020B0503020204020204" charset="-122"/>
                  <a:cs typeface="微软雅黑" panose="020B0503020204020204" charset="-122"/>
                </a:rPr>
                <a:t>聚焦转型内生力</a:t>
              </a:r>
              <a:endParaRPr lang="zh-CN" altLang="en-US" sz="9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32" name="组合 31"/>
          <p:cNvGrpSpPr/>
          <p:nvPr/>
        </p:nvGrpSpPr>
        <p:grpSpPr>
          <a:xfrm>
            <a:off x="9628505" y="3784600"/>
            <a:ext cx="1575435" cy="675640"/>
            <a:chOff x="5503" y="6157"/>
            <a:chExt cx="2481" cy="1064"/>
          </a:xfrm>
        </p:grpSpPr>
        <p:grpSp>
          <p:nvGrpSpPr>
            <p:cNvPr id="33" name="组合 32"/>
            <p:cNvGrpSpPr/>
            <p:nvPr/>
          </p:nvGrpSpPr>
          <p:grpSpPr>
            <a:xfrm>
              <a:off x="5503" y="6157"/>
              <a:ext cx="2480" cy="1064"/>
              <a:chOff x="5455" y="5960"/>
              <a:chExt cx="2480" cy="1064"/>
            </a:xfrm>
          </p:grpSpPr>
          <p:sp>
            <p:nvSpPr>
              <p:cNvPr id="35" name="矩形 34"/>
              <p:cNvSpPr/>
              <p:nvPr/>
            </p:nvSpPr>
            <p:spPr>
              <a:xfrm>
                <a:off x="5455" y="5960"/>
                <a:ext cx="2480" cy="106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6" name="文本框 45"/>
              <p:cNvSpPr txBox="1"/>
              <p:nvPr/>
            </p:nvSpPr>
            <p:spPr>
              <a:xfrm>
                <a:off x="5455" y="5960"/>
                <a:ext cx="2480" cy="1063"/>
              </a:xfrm>
              <a:prstGeom prst="rect">
                <a:avLst/>
              </a:prstGeom>
              <a:solidFill>
                <a:schemeClr val="accent1">
                  <a:lumMod val="20000"/>
                  <a:lumOff val="80000"/>
                  <a:alpha val="20000"/>
                </a:schemeClr>
              </a:solidFill>
              <a:ln>
                <a:noFill/>
              </a:ln>
            </p:spPr>
            <p:txBody>
              <a:bodyPr wrap="square" rtlCol="0" anchor="t">
                <a:noAutofit/>
              </a:bodyPr>
              <a:p>
                <a:pPr marL="171450" lvl="0" indent="-171450" algn="l">
                  <a:buClrTx/>
                  <a:buSzTx/>
                  <a:buFont typeface="Wingdings" panose="05000000000000000000" charset="0"/>
                  <a:buChar char="l"/>
                </a:pPr>
                <a:endPar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sp>
          <p:nvSpPr>
            <p:cNvPr id="47" name="文本框 46"/>
            <p:cNvSpPr txBox="1"/>
            <p:nvPr/>
          </p:nvSpPr>
          <p:spPr>
            <a:xfrm>
              <a:off x="5503" y="6181"/>
              <a:ext cx="2481" cy="1016"/>
            </a:xfrm>
            <a:prstGeom prst="rect">
              <a:avLst/>
            </a:prstGeom>
            <a:noFill/>
            <a:ln>
              <a:noFill/>
            </a:ln>
          </p:spPr>
          <p:txBody>
            <a:bodyPr wrap="square" rtlCol="0">
              <a:spAutoFit/>
            </a:bodyPr>
            <a:p>
              <a:pPr marL="171450" indent="-171450" algn="l">
                <a:buFont typeface="Wingdings" panose="05000000000000000000" charset="0"/>
                <a:buChar char="l"/>
              </a:pPr>
              <a:r>
                <a:rPr lang="zh-CN" altLang="en-US" sz="900">
                  <a:solidFill>
                    <a:schemeClr val="tx2"/>
                  </a:solidFill>
                  <a:latin typeface="微软雅黑" panose="020B0503020204020204" charset="-122"/>
                  <a:ea typeface="微软雅黑" panose="020B0503020204020204" charset="-122"/>
                  <a:cs typeface="微软雅黑" panose="020B0503020204020204" charset="-122"/>
                </a:rPr>
                <a:t>数字化转型体验升级</a:t>
              </a:r>
              <a:endParaRPr lang="zh-CN" altLang="en-US" sz="9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900">
                  <a:solidFill>
                    <a:schemeClr val="tx2"/>
                  </a:solidFill>
                  <a:latin typeface="微软雅黑" panose="020B0503020204020204" charset="-122"/>
                  <a:ea typeface="微软雅黑" panose="020B0503020204020204" charset="-122"/>
                  <a:cs typeface="微软雅黑" panose="020B0503020204020204" charset="-122"/>
                </a:rPr>
                <a:t>全场景覆盖</a:t>
              </a:r>
              <a:endParaRPr lang="zh-CN" altLang="en-US" sz="9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900">
                  <a:solidFill>
                    <a:schemeClr val="tx2"/>
                  </a:solidFill>
                  <a:latin typeface="微软雅黑" panose="020B0503020204020204" charset="-122"/>
                  <a:ea typeface="微软雅黑" panose="020B0503020204020204" charset="-122"/>
                  <a:cs typeface="微软雅黑" panose="020B0503020204020204" charset="-122"/>
                </a:rPr>
                <a:t>角色化转型工作台</a:t>
              </a:r>
              <a:endParaRPr lang="zh-CN" altLang="en-US" sz="9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900">
                  <a:solidFill>
                    <a:schemeClr val="tx2"/>
                  </a:solidFill>
                  <a:latin typeface="微软雅黑" panose="020B0503020204020204" charset="-122"/>
                  <a:ea typeface="微软雅黑" panose="020B0503020204020204" charset="-122"/>
                  <a:cs typeface="微软雅黑" panose="020B0503020204020204" charset="-122"/>
                </a:rPr>
                <a:t>业务自主用数驱动转型</a:t>
              </a:r>
              <a:endParaRPr lang="zh-CN" altLang="en-US" sz="900">
                <a:solidFill>
                  <a:schemeClr val="tx2"/>
                </a:solidFill>
                <a:latin typeface="微软雅黑" panose="020B0503020204020204" charset="-122"/>
                <a:ea typeface="微软雅黑" panose="020B0503020204020204" charset="-122"/>
                <a:cs typeface="微软雅黑" panose="020B0503020204020204" charset="-122"/>
              </a:endParaRPr>
            </a:p>
          </p:txBody>
        </p:sp>
      </p:grpSp>
      <p:cxnSp>
        <p:nvCxnSpPr>
          <p:cNvPr id="18"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8738235" y="348615"/>
            <a:ext cx="3219450" cy="332740"/>
            <a:chOff x="13761" y="549"/>
            <a:chExt cx="5070" cy="524"/>
          </a:xfrm>
        </p:grpSpPr>
        <p:pic>
          <p:nvPicPr>
            <p:cNvPr id="21" name="图片 20"/>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52" name="文本框 5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思考问题的框架方法论</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圆角矩形 1"/>
          <p:cNvSpPr/>
          <p:nvPr/>
        </p:nvSpPr>
        <p:spPr>
          <a:xfrm>
            <a:off x="287798" y="1102824"/>
            <a:ext cx="11616404" cy="1022366"/>
          </a:xfrm>
          <a:prstGeom prst="roundRect">
            <a:avLst>
              <a:gd name="adj" fmla="val 9588"/>
            </a:avLst>
          </a:prstGeom>
          <a:solidFill>
            <a:schemeClr val="bg1"/>
          </a:solidFill>
          <a:ln w="6350">
            <a:solidFill>
              <a:schemeClr val="accent5">
                <a:lumMod val="60000"/>
                <a:lumOff val="40000"/>
              </a:schemeClr>
            </a:solidFill>
            <a:prstDash val="solid"/>
          </a:ln>
          <a:effectLst>
            <a:outerShdw blurRad="101600" sx="101000" sy="101000" algn="ctr" rotWithShape="0">
              <a:schemeClr val="accent5">
                <a:lumMod val="60000"/>
                <a:lumOff val="4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400" dirty="0">
              <a:solidFill>
                <a:srgbClr val="E7E6E6">
                  <a:lumMod val="2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7" name="圆角矩形 6"/>
          <p:cNvSpPr/>
          <p:nvPr/>
        </p:nvSpPr>
        <p:spPr>
          <a:xfrm>
            <a:off x="287798" y="4918657"/>
            <a:ext cx="11616404" cy="1578078"/>
          </a:xfrm>
          <a:prstGeom prst="roundRect">
            <a:avLst>
              <a:gd name="adj" fmla="val 9588"/>
            </a:avLst>
          </a:prstGeom>
          <a:solidFill>
            <a:schemeClr val="accent1">
              <a:lumMod val="20000"/>
              <a:lumOff val="80000"/>
              <a:alpha val="30000"/>
            </a:schemeClr>
          </a:solidFill>
          <a:ln w="6350">
            <a:solidFill>
              <a:schemeClr val="accent1">
                <a:lumMod val="60000"/>
                <a:lumOff val="40000"/>
              </a:schemeClr>
            </a:solidFill>
            <a:prstDash val="solid"/>
          </a:ln>
          <a:effectLst>
            <a:outerShdw blurRad="101600" sx="101000" sy="101000" algn="ctr" rotWithShape="0">
              <a:schemeClr val="accent1">
                <a:lumMod val="40000"/>
                <a:lumOff val="6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400" dirty="0">
              <a:solidFill>
                <a:srgbClr val="E7E6E6">
                  <a:lumMod val="2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8" name="圆角矩形 7"/>
          <p:cNvSpPr/>
          <p:nvPr/>
        </p:nvSpPr>
        <p:spPr>
          <a:xfrm>
            <a:off x="287798" y="2216873"/>
            <a:ext cx="11616404" cy="2580235"/>
          </a:xfrm>
          <a:prstGeom prst="roundRect">
            <a:avLst>
              <a:gd name="adj" fmla="val 6146"/>
            </a:avLst>
          </a:prstGeom>
          <a:solidFill>
            <a:schemeClr val="bg1"/>
          </a:solidFill>
          <a:ln w="6350">
            <a:solidFill>
              <a:schemeClr val="accent1">
                <a:lumMod val="60000"/>
                <a:lumOff val="40000"/>
              </a:schemeClr>
            </a:solidFill>
            <a:prstDash val="solid"/>
          </a:ln>
          <a:effectLst>
            <a:outerShdw blurRad="101600" sx="101000" sy="101000" algn="ctr" rotWithShape="0">
              <a:schemeClr val="accent1">
                <a:lumMod val="40000"/>
                <a:lumOff val="6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400" dirty="0">
              <a:solidFill>
                <a:srgbClr val="E7E6E6">
                  <a:lumMod val="2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9" name="圆角矩形 8"/>
          <p:cNvSpPr/>
          <p:nvPr/>
        </p:nvSpPr>
        <p:spPr>
          <a:xfrm>
            <a:off x="371482" y="1194377"/>
            <a:ext cx="361184" cy="828000"/>
          </a:xfrm>
          <a:prstGeom prst="roundRect">
            <a:avLst/>
          </a:prstGeom>
          <a:gradFill flip="none" rotWithShape="1">
            <a:gsLst>
              <a:gs pos="100000">
                <a:schemeClr val="accent5">
                  <a:lumMod val="20000"/>
                  <a:lumOff val="80000"/>
                </a:schemeClr>
              </a:gs>
              <a:gs pos="0">
                <a:schemeClr val="bg1"/>
              </a:gs>
            </a:gsLst>
            <a:lin ang="5400000" scaled="1"/>
            <a:tileRect/>
          </a:gradFill>
          <a:ln w="9525">
            <a:solidFill>
              <a:schemeClr val="accent5">
                <a:lumMod val="60000"/>
                <a:lumOff val="40000"/>
              </a:schemeClr>
            </a:solidFill>
            <a:prstDash val="solid"/>
          </a:ln>
          <a:effectLst>
            <a:outerShdw blurRad="127000" dist="38100" dir="5400000" sx="102000" sy="102000" algn="t"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1" name="圆角矩形 10"/>
          <p:cNvSpPr/>
          <p:nvPr/>
        </p:nvSpPr>
        <p:spPr>
          <a:xfrm>
            <a:off x="371482" y="2448370"/>
            <a:ext cx="361184" cy="2112134"/>
          </a:xfrm>
          <a:prstGeom prst="roundRect">
            <a:avLst/>
          </a:prstGeom>
          <a:gradFill flip="none" rotWithShape="1">
            <a:gsLst>
              <a:gs pos="100000">
                <a:schemeClr val="accent1">
                  <a:lumMod val="20000"/>
                  <a:lumOff val="80000"/>
                </a:schemeClr>
              </a:gs>
              <a:gs pos="0">
                <a:schemeClr val="bg1"/>
              </a:gs>
            </a:gsLst>
            <a:lin ang="5400000" scaled="1"/>
            <a:tileRect/>
          </a:gradFill>
          <a:ln w="9525">
            <a:solidFill>
              <a:schemeClr val="accent1">
                <a:lumMod val="40000"/>
                <a:lumOff val="60000"/>
              </a:schemeClr>
            </a:solidFill>
            <a:prstDash val="solid"/>
          </a:ln>
          <a:effectLst>
            <a:outerShdw blurRad="127000" dist="38100" dir="5400000" sx="102000" sy="102000" algn="t" rotWithShape="0">
              <a:schemeClr val="accent1">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2" name="圆角矩形 11"/>
          <p:cNvSpPr/>
          <p:nvPr/>
        </p:nvSpPr>
        <p:spPr>
          <a:xfrm>
            <a:off x="371482" y="5055348"/>
            <a:ext cx="361184" cy="1304696"/>
          </a:xfrm>
          <a:prstGeom prst="roundRect">
            <a:avLst/>
          </a:prstGeom>
          <a:gradFill flip="none" rotWithShape="1">
            <a:gsLst>
              <a:gs pos="100000">
                <a:schemeClr val="accent1">
                  <a:lumMod val="20000"/>
                  <a:lumOff val="80000"/>
                </a:schemeClr>
              </a:gs>
              <a:gs pos="0">
                <a:schemeClr val="bg1"/>
              </a:gs>
            </a:gsLst>
            <a:lin ang="5400000" scaled="1"/>
            <a:tileRect/>
          </a:gradFill>
          <a:ln w="9525">
            <a:solidFill>
              <a:schemeClr val="accent1">
                <a:alpha val="50000"/>
              </a:schemeClr>
            </a:solidFill>
            <a:prstDash val="solid"/>
          </a:ln>
          <a:effectLst>
            <a:outerShdw blurRad="127000" dist="38100" dir="5400000" sx="102000" sy="102000" algn="t" rotWithShape="0">
              <a:schemeClr val="accent1">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 name="矩形 12"/>
          <p:cNvSpPr/>
          <p:nvPr/>
        </p:nvSpPr>
        <p:spPr>
          <a:xfrm>
            <a:off x="1059623" y="5390866"/>
            <a:ext cx="2408031" cy="930137"/>
          </a:xfrm>
          <a:prstGeom prst="rect">
            <a:avLst/>
          </a:prstGeom>
          <a:solidFill>
            <a:srgbClr val="FFFFFF"/>
          </a:solidFill>
          <a:ln w="15875">
            <a:noFill/>
            <a:prstDash val="dash"/>
          </a:ln>
          <a:effectLst>
            <a:outerShdw blurRad="127000" sx="102000" sy="102000" algn="ctr" rotWithShape="0">
              <a:srgbClr val="1E334D">
                <a:alpha val="5000"/>
              </a:srgbClr>
            </a:outerShdw>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algn="ct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矩形 13"/>
          <p:cNvSpPr/>
          <p:nvPr/>
        </p:nvSpPr>
        <p:spPr>
          <a:xfrm>
            <a:off x="1059623" y="5188261"/>
            <a:ext cx="2408031" cy="316089"/>
          </a:xfrm>
          <a:prstGeom prst="rect">
            <a:avLst/>
          </a:prstGeom>
          <a:gradFill>
            <a:gsLst>
              <a:gs pos="0">
                <a:schemeClr val="accent1"/>
              </a:gs>
              <a:gs pos="100000">
                <a:schemeClr val="accent1">
                  <a:lumMod val="60000"/>
                  <a:lumOff val="40000"/>
                </a:schemeClr>
              </a:gs>
            </a:gsLst>
            <a:lin ang="5400000" scaled="0"/>
          </a:gradFill>
          <a:ln>
            <a:noFill/>
          </a:ln>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algn="ct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4553499" y="1831021"/>
            <a:ext cx="800219" cy="276999"/>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内涵认识</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191541" y="1840303"/>
            <a:ext cx="800219" cy="276999"/>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方法设计</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9324723" y="1840303"/>
            <a:ext cx="800219" cy="276999"/>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实践验证</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 name="任意形状 108"/>
          <p:cNvSpPr/>
          <p:nvPr/>
        </p:nvSpPr>
        <p:spPr>
          <a:xfrm rot="5400000">
            <a:off x="9994265" y="2459355"/>
            <a:ext cx="1564005" cy="2151380"/>
          </a:xfrm>
          <a:custGeom>
            <a:avLst/>
            <a:gdLst>
              <a:gd name="connsiteX0" fmla="*/ 987389 w 1948800"/>
              <a:gd name="connsiteY0" fmla="*/ 0 h 3381339"/>
              <a:gd name="connsiteX1" fmla="*/ 1065440 w 1948800"/>
              <a:gd name="connsiteY1" fmla="*/ 134048 h 3381339"/>
              <a:gd name="connsiteX2" fmla="*/ 1224232 w 1948800"/>
              <a:gd name="connsiteY2" fmla="*/ 366820 h 3381339"/>
              <a:gd name="connsiteX3" fmla="*/ 1752372 w 1948800"/>
              <a:gd name="connsiteY3" fmla="*/ 948285 h 3381339"/>
              <a:gd name="connsiteX4" fmla="*/ 1814404 w 1948800"/>
              <a:gd name="connsiteY4" fmla="*/ 996658 h 3381339"/>
              <a:gd name="connsiteX5" fmla="*/ 1520156 w 1948800"/>
              <a:gd name="connsiteY5" fmla="*/ 996658 h 3381339"/>
              <a:gd name="connsiteX6" fmla="*/ 1948800 w 1948800"/>
              <a:gd name="connsiteY6" fmla="*/ 3381339 h 3381339"/>
              <a:gd name="connsiteX7" fmla="*/ 0 w 1948800"/>
              <a:gd name="connsiteY7" fmla="*/ 3381339 h 3381339"/>
              <a:gd name="connsiteX8" fmla="*/ 454622 w 1948800"/>
              <a:gd name="connsiteY8" fmla="*/ 996658 h 3381339"/>
              <a:gd name="connsiteX9" fmla="*/ 160372 w 1948800"/>
              <a:gd name="connsiteY9" fmla="*/ 996658 h 3381339"/>
              <a:gd name="connsiteX10" fmla="*/ 222407 w 1948800"/>
              <a:gd name="connsiteY10" fmla="*/ 948283 h 3381339"/>
              <a:gd name="connsiteX11" fmla="*/ 750546 w 1948800"/>
              <a:gd name="connsiteY11" fmla="*/ 366818 h 3381339"/>
              <a:gd name="connsiteX12" fmla="*/ 909338 w 1948800"/>
              <a:gd name="connsiteY12" fmla="*/ 134046 h 338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8800" h="3381339">
                <a:moveTo>
                  <a:pt x="987389" y="0"/>
                </a:moveTo>
                <a:lnTo>
                  <a:pt x="1065440" y="134048"/>
                </a:lnTo>
                <a:cubicBezTo>
                  <a:pt x="1114125" y="211149"/>
                  <a:pt x="1167154" y="289054"/>
                  <a:pt x="1224232" y="366820"/>
                </a:cubicBezTo>
                <a:cubicBezTo>
                  <a:pt x="1395467" y="600117"/>
                  <a:pt x="1578827" y="799026"/>
                  <a:pt x="1752372" y="948285"/>
                </a:cubicBezTo>
                <a:lnTo>
                  <a:pt x="1814404" y="996658"/>
                </a:lnTo>
                <a:lnTo>
                  <a:pt x="1520156" y="996658"/>
                </a:lnTo>
                <a:cubicBezTo>
                  <a:pt x="1476860" y="1931308"/>
                  <a:pt x="1745303" y="2686273"/>
                  <a:pt x="1948800" y="3381339"/>
                </a:cubicBezTo>
                <a:lnTo>
                  <a:pt x="0" y="3381339"/>
                </a:lnTo>
                <a:cubicBezTo>
                  <a:pt x="238135" y="2646340"/>
                  <a:pt x="450292" y="1851448"/>
                  <a:pt x="454622" y="996658"/>
                </a:cubicBezTo>
                <a:lnTo>
                  <a:pt x="160372" y="996658"/>
                </a:lnTo>
                <a:lnTo>
                  <a:pt x="222407" y="948283"/>
                </a:lnTo>
                <a:cubicBezTo>
                  <a:pt x="395951" y="799024"/>
                  <a:pt x="579312" y="600115"/>
                  <a:pt x="750546" y="366818"/>
                </a:cubicBezTo>
                <a:cubicBezTo>
                  <a:pt x="807625" y="289052"/>
                  <a:pt x="860654" y="211147"/>
                  <a:pt x="909338" y="134046"/>
                </a:cubicBezTo>
                <a:close/>
              </a:path>
            </a:pathLst>
          </a:custGeom>
          <a:gradFill flip="none" rotWithShape="1">
            <a:gsLst>
              <a:gs pos="0">
                <a:schemeClr val="accent1">
                  <a:lumMod val="60000"/>
                  <a:lumOff val="40000"/>
                  <a:alpha val="0"/>
                </a:schemeClr>
              </a:gs>
              <a:gs pos="73000">
                <a:schemeClr val="accent1">
                  <a:lumMod val="60000"/>
                  <a:lumOff val="40000"/>
                  <a:alpha val="60000"/>
                </a:schemeClr>
              </a:gs>
              <a:gs pos="100000">
                <a:schemeClr val="accent1">
                  <a:lumMod val="60000"/>
                  <a:lumOff val="40000"/>
                  <a:alpha val="50000"/>
                </a:schemeClr>
              </a:gs>
            </a:gsLst>
            <a:lin ang="16200000" scaled="1"/>
            <a:tileRect/>
          </a:gradFill>
          <a:ln>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9" name="任意形状 108"/>
          <p:cNvSpPr/>
          <p:nvPr/>
        </p:nvSpPr>
        <p:spPr>
          <a:xfrm rot="5400000">
            <a:off x="2156460" y="2646045"/>
            <a:ext cx="1214755" cy="1570355"/>
          </a:xfrm>
          <a:custGeom>
            <a:avLst/>
            <a:gdLst>
              <a:gd name="connsiteX0" fmla="*/ 987389 w 1948800"/>
              <a:gd name="connsiteY0" fmla="*/ 0 h 3381339"/>
              <a:gd name="connsiteX1" fmla="*/ 1065440 w 1948800"/>
              <a:gd name="connsiteY1" fmla="*/ 134048 h 3381339"/>
              <a:gd name="connsiteX2" fmla="*/ 1224232 w 1948800"/>
              <a:gd name="connsiteY2" fmla="*/ 366820 h 3381339"/>
              <a:gd name="connsiteX3" fmla="*/ 1752372 w 1948800"/>
              <a:gd name="connsiteY3" fmla="*/ 948285 h 3381339"/>
              <a:gd name="connsiteX4" fmla="*/ 1814404 w 1948800"/>
              <a:gd name="connsiteY4" fmla="*/ 996658 h 3381339"/>
              <a:gd name="connsiteX5" fmla="*/ 1520156 w 1948800"/>
              <a:gd name="connsiteY5" fmla="*/ 996658 h 3381339"/>
              <a:gd name="connsiteX6" fmla="*/ 1948800 w 1948800"/>
              <a:gd name="connsiteY6" fmla="*/ 3381339 h 3381339"/>
              <a:gd name="connsiteX7" fmla="*/ 0 w 1948800"/>
              <a:gd name="connsiteY7" fmla="*/ 3381339 h 3381339"/>
              <a:gd name="connsiteX8" fmla="*/ 454622 w 1948800"/>
              <a:gd name="connsiteY8" fmla="*/ 996658 h 3381339"/>
              <a:gd name="connsiteX9" fmla="*/ 160372 w 1948800"/>
              <a:gd name="connsiteY9" fmla="*/ 996658 h 3381339"/>
              <a:gd name="connsiteX10" fmla="*/ 222407 w 1948800"/>
              <a:gd name="connsiteY10" fmla="*/ 948283 h 3381339"/>
              <a:gd name="connsiteX11" fmla="*/ 750546 w 1948800"/>
              <a:gd name="connsiteY11" fmla="*/ 366818 h 3381339"/>
              <a:gd name="connsiteX12" fmla="*/ 909338 w 1948800"/>
              <a:gd name="connsiteY12" fmla="*/ 134046 h 338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8800" h="3381339">
                <a:moveTo>
                  <a:pt x="987389" y="0"/>
                </a:moveTo>
                <a:lnTo>
                  <a:pt x="1065440" y="134048"/>
                </a:lnTo>
                <a:cubicBezTo>
                  <a:pt x="1114125" y="211149"/>
                  <a:pt x="1167154" y="289054"/>
                  <a:pt x="1224232" y="366820"/>
                </a:cubicBezTo>
                <a:cubicBezTo>
                  <a:pt x="1395467" y="600117"/>
                  <a:pt x="1578827" y="799026"/>
                  <a:pt x="1752372" y="948285"/>
                </a:cubicBezTo>
                <a:lnTo>
                  <a:pt x="1814404" y="996658"/>
                </a:lnTo>
                <a:lnTo>
                  <a:pt x="1520156" y="996658"/>
                </a:lnTo>
                <a:cubicBezTo>
                  <a:pt x="1476860" y="1931308"/>
                  <a:pt x="1745303" y="2686273"/>
                  <a:pt x="1948800" y="3381339"/>
                </a:cubicBezTo>
                <a:lnTo>
                  <a:pt x="0" y="3381339"/>
                </a:lnTo>
                <a:cubicBezTo>
                  <a:pt x="238135" y="2646340"/>
                  <a:pt x="450292" y="1851448"/>
                  <a:pt x="454622" y="996658"/>
                </a:cubicBezTo>
                <a:lnTo>
                  <a:pt x="160372" y="996658"/>
                </a:lnTo>
                <a:lnTo>
                  <a:pt x="222407" y="948283"/>
                </a:lnTo>
                <a:cubicBezTo>
                  <a:pt x="395951" y="799024"/>
                  <a:pt x="579312" y="600115"/>
                  <a:pt x="750546" y="366818"/>
                </a:cubicBezTo>
                <a:cubicBezTo>
                  <a:pt x="807625" y="289052"/>
                  <a:pt x="860654" y="211147"/>
                  <a:pt x="909338" y="134046"/>
                </a:cubicBezTo>
                <a:close/>
              </a:path>
            </a:pathLst>
          </a:custGeom>
          <a:gradFill flip="none" rotWithShape="1">
            <a:gsLst>
              <a:gs pos="0">
                <a:schemeClr val="accent1">
                  <a:lumMod val="60000"/>
                  <a:lumOff val="40000"/>
                  <a:alpha val="0"/>
                </a:schemeClr>
              </a:gs>
              <a:gs pos="73000">
                <a:schemeClr val="accent1">
                  <a:lumMod val="60000"/>
                  <a:lumOff val="40000"/>
                  <a:alpha val="60000"/>
                </a:schemeClr>
              </a:gs>
              <a:gs pos="100000">
                <a:schemeClr val="accent1">
                  <a:lumMod val="60000"/>
                  <a:lumOff val="40000"/>
                  <a:alpha val="50000"/>
                </a:schemeClr>
              </a:gs>
            </a:gsLst>
            <a:lin ang="16200000" scaled="1"/>
            <a:tileRect/>
          </a:gradFill>
          <a:ln>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0" name="文本框 19"/>
          <p:cNvSpPr txBox="1"/>
          <p:nvPr/>
        </p:nvSpPr>
        <p:spPr>
          <a:xfrm>
            <a:off x="1080035" y="2950277"/>
            <a:ext cx="492443" cy="276999"/>
          </a:xfrm>
          <a:prstGeom prst="rect">
            <a:avLst/>
          </a:prstGeom>
          <a:noFill/>
        </p:spPr>
        <p:txBody>
          <a:bodyPr wrap="none" rtlCol="0">
            <a:spAutoFit/>
          </a:bodyPr>
          <a:lstStyle>
            <a:defPPr>
              <a:defRPr lang="en-US"/>
            </a:defPPr>
            <a:lvl1pPr marR="0" lvl="0" indent="0" fontAlgn="auto">
              <a:lnSpc>
                <a:spcPct val="100000"/>
              </a:lnSpc>
              <a:spcBef>
                <a:spcPts val="0"/>
              </a:spcBef>
              <a:spcAft>
                <a:spcPts val="0"/>
              </a:spcAft>
              <a:buClrTx/>
              <a:buSzTx/>
              <a:buFontTx/>
              <a:buNone/>
              <a:defRPr kumimoji="1" sz="1200" b="1" i="0" u="none" strike="noStrike" normalizeH="0" baseline="0">
                <a:solidFill>
                  <a:srgbClr val="BA3023"/>
                </a:solidFill>
                <a:uLnTx/>
                <a:uFillTx/>
                <a:latin typeface="思源黑体 CN Bold" panose="020B0800000000000000" pitchFamily="34" charset="-128"/>
                <a:ea typeface="思源黑体 CN Bold" panose="020B08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背景</a:t>
            </a:r>
            <a:endPar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1837154" y="2532436"/>
            <a:ext cx="492443" cy="276999"/>
          </a:xfrm>
          <a:prstGeom prst="rect">
            <a:avLst/>
          </a:prstGeom>
          <a:noFill/>
        </p:spPr>
        <p:txBody>
          <a:bodyPr wrap="none" rtlCol="0">
            <a:spAutoFit/>
          </a:bodyPr>
          <a:lstStyle>
            <a:defPPr>
              <a:defRPr lang="en-US"/>
            </a:defPPr>
            <a:lvl1pPr marR="0" lvl="0" indent="0" fontAlgn="auto">
              <a:lnSpc>
                <a:spcPct val="100000"/>
              </a:lnSpc>
              <a:spcBef>
                <a:spcPts val="0"/>
              </a:spcBef>
              <a:spcAft>
                <a:spcPts val="0"/>
              </a:spcAft>
              <a:buClrTx/>
              <a:buSzTx/>
              <a:buFontTx/>
              <a:buNone/>
              <a:defRPr kumimoji="1" sz="1200" b="1" i="0" u="none" strike="noStrike" normalizeH="0" baseline="0">
                <a:solidFill>
                  <a:srgbClr val="BA3023"/>
                </a:solidFill>
                <a:uLnTx/>
                <a:uFillTx/>
                <a:latin typeface="思源黑体 CN Bold" panose="020B0800000000000000" pitchFamily="34" charset="-128"/>
                <a:ea typeface="思源黑体 CN Bold" panose="020B08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目的</a:t>
            </a:r>
            <a:endPar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2636125" y="3276665"/>
            <a:ext cx="492443" cy="276999"/>
          </a:xfrm>
          <a:prstGeom prst="rect">
            <a:avLst/>
          </a:prstGeom>
          <a:noFill/>
        </p:spPr>
        <p:txBody>
          <a:bodyPr wrap="none" rtlCol="0">
            <a:spAutoFit/>
          </a:bodyPr>
          <a:lstStyle>
            <a:defPPr>
              <a:defRPr lang="en-US"/>
            </a:defPPr>
            <a:lvl1pPr marR="0" lvl="0" indent="0" fontAlgn="auto">
              <a:lnSpc>
                <a:spcPct val="100000"/>
              </a:lnSpc>
              <a:spcBef>
                <a:spcPts val="0"/>
              </a:spcBef>
              <a:spcAft>
                <a:spcPts val="0"/>
              </a:spcAft>
              <a:buClrTx/>
              <a:buSzTx/>
              <a:buFontTx/>
              <a:buNone/>
              <a:defRPr kumimoji="1" sz="1200" b="1" i="0" u="none" strike="noStrike" normalizeH="0" baseline="0">
                <a:solidFill>
                  <a:srgbClr val="BA3023"/>
                </a:solidFill>
                <a:uLnTx/>
                <a:uFillTx/>
                <a:latin typeface="思源黑体 CN Bold" panose="020B0800000000000000" pitchFamily="34" charset="-128"/>
                <a:ea typeface="思源黑体 CN Bold" panose="020B08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依据</a:t>
            </a:r>
            <a:endPar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1308016" y="4079427"/>
            <a:ext cx="800219" cy="276999"/>
          </a:xfrm>
          <a:prstGeom prst="rect">
            <a:avLst/>
          </a:prstGeom>
          <a:noFill/>
        </p:spPr>
        <p:txBody>
          <a:bodyPr wrap="none" rtlCol="0">
            <a:spAutoFit/>
          </a:bodyPr>
          <a:lstStyle>
            <a:defPPr>
              <a:defRPr lang="en-US"/>
            </a:defPPr>
            <a:lvl1pPr marR="0" lvl="0" indent="0" fontAlgn="auto">
              <a:lnSpc>
                <a:spcPct val="100000"/>
              </a:lnSpc>
              <a:spcBef>
                <a:spcPts val="0"/>
              </a:spcBef>
              <a:spcAft>
                <a:spcPts val="0"/>
              </a:spcAft>
              <a:buClrTx/>
              <a:buSzTx/>
              <a:buFontTx/>
              <a:buNone/>
              <a:defRPr kumimoji="1" sz="1200" b="1" i="0" u="none" strike="noStrike" normalizeH="0" baseline="0">
                <a:solidFill>
                  <a:srgbClr val="BA3023"/>
                </a:solidFill>
                <a:uLnTx/>
                <a:uFillTx/>
                <a:latin typeface="思源黑体 CN Bold" panose="020B0800000000000000" pitchFamily="34" charset="-128"/>
                <a:ea typeface="思源黑体 CN Bold" panose="020B08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研究综述</a:t>
            </a:r>
            <a:endPar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a:off x="2389500" y="4079427"/>
            <a:ext cx="492443" cy="276999"/>
          </a:xfrm>
          <a:prstGeom prst="rect">
            <a:avLst/>
          </a:prstGeom>
          <a:noFill/>
        </p:spPr>
        <p:txBody>
          <a:bodyPr wrap="none" rtlCol="0">
            <a:spAutoFit/>
          </a:bodyPr>
          <a:lstStyle>
            <a:defPPr>
              <a:defRPr lang="en-US"/>
            </a:defPPr>
            <a:lvl1pPr marR="0" lvl="0" indent="0" fontAlgn="auto">
              <a:lnSpc>
                <a:spcPct val="100000"/>
              </a:lnSpc>
              <a:spcBef>
                <a:spcPts val="0"/>
              </a:spcBef>
              <a:spcAft>
                <a:spcPts val="0"/>
              </a:spcAft>
              <a:buClrTx/>
              <a:buSzTx/>
              <a:buFontTx/>
              <a:buNone/>
              <a:defRPr kumimoji="1" sz="1200" b="1" i="0" u="none" strike="noStrike" normalizeH="0" baseline="0">
                <a:solidFill>
                  <a:srgbClr val="BA3023"/>
                </a:solidFill>
                <a:uLnTx/>
                <a:uFillTx/>
                <a:latin typeface="思源黑体 CN Bold" panose="020B0800000000000000" pitchFamily="34" charset="-128"/>
                <a:ea typeface="思源黑体 CN Bold" panose="020B08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路线</a:t>
            </a:r>
            <a:endParaRPr kumimoji="1" lang="zh-CN" altLang="en-US" sz="12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 name="椭圆 24"/>
          <p:cNvSpPr/>
          <p:nvPr/>
        </p:nvSpPr>
        <p:spPr>
          <a:xfrm>
            <a:off x="1659820" y="3031306"/>
            <a:ext cx="847112" cy="847112"/>
          </a:xfrm>
          <a:prstGeom prst="ellipse">
            <a:avLst/>
          </a:prstGeom>
          <a:solidFill>
            <a:schemeClr val="accent1">
              <a:lumMod val="60000"/>
              <a:lumOff val="40000"/>
            </a:schemeClr>
          </a:solidFill>
          <a:ln>
            <a:noFill/>
          </a:ln>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26" name="椭圆 25"/>
          <p:cNvSpPr/>
          <p:nvPr/>
        </p:nvSpPr>
        <p:spPr>
          <a:xfrm>
            <a:off x="1531028" y="2902514"/>
            <a:ext cx="1104694" cy="1104694"/>
          </a:xfrm>
          <a:prstGeom prst="ellipse">
            <a:avLst/>
          </a:prstGeom>
          <a:noFill/>
          <a:ln w="6350">
            <a:solidFill>
              <a:schemeClr val="accent1">
                <a:lumMod val="60000"/>
                <a:lumOff val="40000"/>
              </a:schemeClr>
            </a:solidFill>
            <a:prstDash val="dash"/>
          </a:ln>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27" name="文本框 26"/>
          <p:cNvSpPr txBox="1"/>
          <p:nvPr/>
        </p:nvSpPr>
        <p:spPr>
          <a:xfrm>
            <a:off x="1811506" y="3193251"/>
            <a:ext cx="543739" cy="523220"/>
          </a:xfrm>
          <a:prstGeom prst="rect">
            <a:avLst/>
          </a:prstGeom>
          <a:noFill/>
        </p:spPr>
        <p:txBody>
          <a:bodyPr wrap="none">
            <a:spAutoFit/>
          </a:bodyPr>
          <a:lstStyle>
            <a:defPPr>
              <a:defRPr lang="en-US"/>
            </a:defPPr>
            <a:lvl1pPr marR="0" lvl="0" indent="0" algn="ctr" defTabSz="914400" fontAlgn="auto">
              <a:lnSpc>
                <a:spcPct val="100000"/>
              </a:lnSpc>
              <a:spcBef>
                <a:spcPts val="0"/>
              </a:spcBef>
              <a:spcAft>
                <a:spcPts val="0"/>
              </a:spcAft>
              <a:buClrTx/>
              <a:buSzTx/>
              <a:buFontTx/>
              <a:buNone/>
              <a:defRPr kumimoji="0" b="1" u="none" strike="noStrike" cap="none" spc="0" normalizeH="0" baseline="0">
                <a:ln>
                  <a:noFill/>
                </a:ln>
                <a:solidFill>
                  <a:srgbClr val="FFFFFF"/>
                </a:solidFill>
                <a:effectLst/>
                <a:uLnTx/>
                <a:uFillTx/>
                <a:latin typeface="思源宋体 CN" panose="02020400000000000000" pitchFamily="18" charset="-128"/>
                <a:ea typeface="思源宋体 CN" panose="02020400000000000000" pitchFamily="18" charset="-128"/>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研究</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总论</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28" name="椭圆 27"/>
          <p:cNvSpPr/>
          <p:nvPr/>
        </p:nvSpPr>
        <p:spPr>
          <a:xfrm rot="5400000">
            <a:off x="2021004" y="2823690"/>
            <a:ext cx="124742" cy="124742"/>
          </a:xfrm>
          <a:prstGeom prst="ellipse">
            <a:avLst/>
          </a:prstGeom>
          <a:solidFill>
            <a:srgbClr val="FFFFFF"/>
          </a:solidFill>
          <a:ln w="6350">
            <a:solidFill>
              <a:srgbClr val="FFFFFF">
                <a:lumMod val="90000"/>
              </a:srgbClr>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29" name="椭圆 28"/>
          <p:cNvSpPr/>
          <p:nvPr/>
        </p:nvSpPr>
        <p:spPr>
          <a:xfrm rot="5400000">
            <a:off x="2051204" y="2853889"/>
            <a:ext cx="64343" cy="64343"/>
          </a:xfrm>
          <a:prstGeom prst="ellipse">
            <a:avLst/>
          </a:prstGeom>
          <a:solidFill>
            <a:schemeClr val="accent1">
              <a:lumMod val="60000"/>
              <a:lumOff val="40000"/>
            </a:schemeClr>
          </a:solidFill>
          <a:ln w="6350">
            <a:solidFill>
              <a:srgbClr val="FFFFFF"/>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30" name="椭圆 29"/>
          <p:cNvSpPr/>
          <p:nvPr/>
        </p:nvSpPr>
        <p:spPr>
          <a:xfrm rot="5400000">
            <a:off x="2561965" y="3216721"/>
            <a:ext cx="124742" cy="124742"/>
          </a:xfrm>
          <a:prstGeom prst="ellipse">
            <a:avLst/>
          </a:prstGeom>
          <a:solidFill>
            <a:srgbClr val="FFFFFF"/>
          </a:solidFill>
          <a:ln w="6350">
            <a:solidFill>
              <a:srgbClr val="FFFFFF">
                <a:lumMod val="90000"/>
              </a:srgbClr>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31" name="椭圆 30"/>
          <p:cNvSpPr/>
          <p:nvPr/>
        </p:nvSpPr>
        <p:spPr>
          <a:xfrm rot="5400000">
            <a:off x="2592165" y="3246920"/>
            <a:ext cx="64343" cy="64343"/>
          </a:xfrm>
          <a:prstGeom prst="ellipse">
            <a:avLst/>
          </a:prstGeom>
          <a:solidFill>
            <a:schemeClr val="accent1">
              <a:lumMod val="60000"/>
              <a:lumOff val="40000"/>
            </a:schemeClr>
          </a:solidFill>
          <a:ln w="6350">
            <a:solidFill>
              <a:srgbClr val="FFFFFF"/>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32" name="椭圆 31"/>
          <p:cNvSpPr/>
          <p:nvPr/>
        </p:nvSpPr>
        <p:spPr>
          <a:xfrm rot="5400000">
            <a:off x="2355336" y="3852659"/>
            <a:ext cx="124742" cy="124742"/>
          </a:xfrm>
          <a:prstGeom prst="ellipse">
            <a:avLst/>
          </a:prstGeom>
          <a:solidFill>
            <a:srgbClr val="FFFFFF"/>
          </a:solidFill>
          <a:ln w="6350">
            <a:solidFill>
              <a:srgbClr val="FFFFFF">
                <a:lumMod val="90000"/>
              </a:srgbClr>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33" name="椭圆 32"/>
          <p:cNvSpPr/>
          <p:nvPr/>
        </p:nvSpPr>
        <p:spPr>
          <a:xfrm rot="5400000">
            <a:off x="2385536" y="3882858"/>
            <a:ext cx="64343" cy="64343"/>
          </a:xfrm>
          <a:prstGeom prst="ellipse">
            <a:avLst/>
          </a:prstGeom>
          <a:solidFill>
            <a:schemeClr val="accent1">
              <a:lumMod val="60000"/>
              <a:lumOff val="40000"/>
            </a:schemeClr>
          </a:solidFill>
          <a:ln w="6350">
            <a:solidFill>
              <a:srgbClr val="FFFFFF"/>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34" name="椭圆 33"/>
          <p:cNvSpPr/>
          <p:nvPr/>
        </p:nvSpPr>
        <p:spPr>
          <a:xfrm rot="5400000">
            <a:off x="1686672" y="3852659"/>
            <a:ext cx="124742" cy="124742"/>
          </a:xfrm>
          <a:prstGeom prst="ellipse">
            <a:avLst/>
          </a:prstGeom>
          <a:solidFill>
            <a:srgbClr val="FFFFFF"/>
          </a:solidFill>
          <a:ln w="6350">
            <a:solidFill>
              <a:srgbClr val="FFFFFF">
                <a:lumMod val="90000"/>
              </a:srgbClr>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35" name="椭圆 34"/>
          <p:cNvSpPr/>
          <p:nvPr/>
        </p:nvSpPr>
        <p:spPr>
          <a:xfrm rot="5400000">
            <a:off x="1716872" y="3882858"/>
            <a:ext cx="64343" cy="64343"/>
          </a:xfrm>
          <a:prstGeom prst="ellipse">
            <a:avLst/>
          </a:prstGeom>
          <a:solidFill>
            <a:schemeClr val="accent1">
              <a:lumMod val="60000"/>
              <a:lumOff val="40000"/>
            </a:schemeClr>
          </a:solidFill>
          <a:ln w="6350">
            <a:solidFill>
              <a:srgbClr val="FFFFFF"/>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36" name="椭圆 35"/>
          <p:cNvSpPr/>
          <p:nvPr/>
        </p:nvSpPr>
        <p:spPr>
          <a:xfrm rot="5400000">
            <a:off x="1480043" y="3216721"/>
            <a:ext cx="124742" cy="124742"/>
          </a:xfrm>
          <a:prstGeom prst="ellipse">
            <a:avLst/>
          </a:prstGeom>
          <a:solidFill>
            <a:srgbClr val="FFFFFF"/>
          </a:solidFill>
          <a:ln w="6350">
            <a:solidFill>
              <a:srgbClr val="FFFFFF">
                <a:lumMod val="90000"/>
              </a:srgbClr>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71" name="椭圆 70"/>
          <p:cNvSpPr/>
          <p:nvPr/>
        </p:nvSpPr>
        <p:spPr>
          <a:xfrm rot="5400000">
            <a:off x="1510243" y="3246920"/>
            <a:ext cx="64343" cy="64343"/>
          </a:xfrm>
          <a:prstGeom prst="ellipse">
            <a:avLst/>
          </a:prstGeom>
          <a:solidFill>
            <a:schemeClr val="accent1">
              <a:lumMod val="60000"/>
              <a:lumOff val="40000"/>
            </a:schemeClr>
          </a:solidFill>
          <a:ln w="6350">
            <a:solidFill>
              <a:srgbClr val="FFFFFF"/>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72" name="任意形状 108"/>
          <p:cNvSpPr/>
          <p:nvPr/>
        </p:nvSpPr>
        <p:spPr>
          <a:xfrm rot="5400000">
            <a:off x="4855466" y="2372156"/>
            <a:ext cx="1570524" cy="2178848"/>
          </a:xfrm>
          <a:custGeom>
            <a:avLst/>
            <a:gdLst>
              <a:gd name="connsiteX0" fmla="*/ 987389 w 1948800"/>
              <a:gd name="connsiteY0" fmla="*/ 0 h 3381339"/>
              <a:gd name="connsiteX1" fmla="*/ 1065440 w 1948800"/>
              <a:gd name="connsiteY1" fmla="*/ 134048 h 3381339"/>
              <a:gd name="connsiteX2" fmla="*/ 1224232 w 1948800"/>
              <a:gd name="connsiteY2" fmla="*/ 366820 h 3381339"/>
              <a:gd name="connsiteX3" fmla="*/ 1752372 w 1948800"/>
              <a:gd name="connsiteY3" fmla="*/ 948285 h 3381339"/>
              <a:gd name="connsiteX4" fmla="*/ 1814404 w 1948800"/>
              <a:gd name="connsiteY4" fmla="*/ 996658 h 3381339"/>
              <a:gd name="connsiteX5" fmla="*/ 1520156 w 1948800"/>
              <a:gd name="connsiteY5" fmla="*/ 996658 h 3381339"/>
              <a:gd name="connsiteX6" fmla="*/ 1948800 w 1948800"/>
              <a:gd name="connsiteY6" fmla="*/ 3381339 h 3381339"/>
              <a:gd name="connsiteX7" fmla="*/ 0 w 1948800"/>
              <a:gd name="connsiteY7" fmla="*/ 3381339 h 3381339"/>
              <a:gd name="connsiteX8" fmla="*/ 454622 w 1948800"/>
              <a:gd name="connsiteY8" fmla="*/ 996658 h 3381339"/>
              <a:gd name="connsiteX9" fmla="*/ 160372 w 1948800"/>
              <a:gd name="connsiteY9" fmla="*/ 996658 h 3381339"/>
              <a:gd name="connsiteX10" fmla="*/ 222407 w 1948800"/>
              <a:gd name="connsiteY10" fmla="*/ 948283 h 3381339"/>
              <a:gd name="connsiteX11" fmla="*/ 750546 w 1948800"/>
              <a:gd name="connsiteY11" fmla="*/ 366818 h 3381339"/>
              <a:gd name="connsiteX12" fmla="*/ 909338 w 1948800"/>
              <a:gd name="connsiteY12" fmla="*/ 134046 h 338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8800" h="3381339">
                <a:moveTo>
                  <a:pt x="987389" y="0"/>
                </a:moveTo>
                <a:lnTo>
                  <a:pt x="1065440" y="134048"/>
                </a:lnTo>
                <a:cubicBezTo>
                  <a:pt x="1114125" y="211149"/>
                  <a:pt x="1167154" y="289054"/>
                  <a:pt x="1224232" y="366820"/>
                </a:cubicBezTo>
                <a:cubicBezTo>
                  <a:pt x="1395467" y="600117"/>
                  <a:pt x="1578827" y="799026"/>
                  <a:pt x="1752372" y="948285"/>
                </a:cubicBezTo>
                <a:lnTo>
                  <a:pt x="1814404" y="996658"/>
                </a:lnTo>
                <a:lnTo>
                  <a:pt x="1520156" y="996658"/>
                </a:lnTo>
                <a:cubicBezTo>
                  <a:pt x="1476860" y="1931308"/>
                  <a:pt x="1745303" y="2686273"/>
                  <a:pt x="1948800" y="3381339"/>
                </a:cubicBezTo>
                <a:lnTo>
                  <a:pt x="0" y="3381339"/>
                </a:lnTo>
                <a:cubicBezTo>
                  <a:pt x="238135" y="2646340"/>
                  <a:pt x="450292" y="1851448"/>
                  <a:pt x="454622" y="996658"/>
                </a:cubicBezTo>
                <a:lnTo>
                  <a:pt x="160372" y="996658"/>
                </a:lnTo>
                <a:lnTo>
                  <a:pt x="222407" y="948283"/>
                </a:lnTo>
                <a:cubicBezTo>
                  <a:pt x="395951" y="799024"/>
                  <a:pt x="579312" y="600115"/>
                  <a:pt x="750546" y="366818"/>
                </a:cubicBezTo>
                <a:cubicBezTo>
                  <a:pt x="807625" y="289052"/>
                  <a:pt x="860654" y="211147"/>
                  <a:pt x="909338" y="134046"/>
                </a:cubicBezTo>
                <a:close/>
              </a:path>
            </a:pathLst>
          </a:custGeom>
          <a:gradFill flip="none" rotWithShape="1">
            <a:gsLst>
              <a:gs pos="0">
                <a:schemeClr val="accent1">
                  <a:lumMod val="60000"/>
                  <a:lumOff val="40000"/>
                  <a:alpha val="0"/>
                </a:schemeClr>
              </a:gs>
              <a:gs pos="73000">
                <a:schemeClr val="accent1">
                  <a:lumMod val="60000"/>
                  <a:lumOff val="40000"/>
                  <a:alpha val="60000"/>
                </a:schemeClr>
              </a:gs>
              <a:gs pos="100000">
                <a:schemeClr val="accent1">
                  <a:lumMod val="60000"/>
                  <a:lumOff val="40000"/>
                  <a:alpha val="50000"/>
                </a:schemeClr>
              </a:gs>
            </a:gsLst>
            <a:lin ang="16200000" scaled="1"/>
            <a:tileRect/>
          </a:gradFill>
          <a:ln>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75" name="文本框 74"/>
          <p:cNvSpPr txBox="1"/>
          <p:nvPr/>
        </p:nvSpPr>
        <p:spPr>
          <a:xfrm>
            <a:off x="3827411" y="2614927"/>
            <a:ext cx="492443" cy="276999"/>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rPr>
              <a:t>内涵</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6" name="文本框 75"/>
          <p:cNvSpPr txBox="1"/>
          <p:nvPr/>
        </p:nvSpPr>
        <p:spPr>
          <a:xfrm>
            <a:off x="3742508" y="3294862"/>
            <a:ext cx="492443" cy="276999"/>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rPr>
              <a:t>分类</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a:off x="3827411" y="4038019"/>
            <a:ext cx="492443" cy="276999"/>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rPr>
              <a:t>特点</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8" name="椭圆 77"/>
          <p:cNvSpPr/>
          <p:nvPr/>
        </p:nvSpPr>
        <p:spPr>
          <a:xfrm rot="5400000">
            <a:off x="3539044" y="3262489"/>
            <a:ext cx="2028544" cy="405463"/>
          </a:xfrm>
          <a:prstGeom prst="ellipse">
            <a:avLst/>
          </a:prstGeom>
          <a:gradFill flip="none" rotWithShape="1">
            <a:gsLst>
              <a:gs pos="57000">
                <a:schemeClr val="accent1">
                  <a:lumMod val="60000"/>
                  <a:lumOff val="40000"/>
                  <a:alpha val="0"/>
                </a:schemeClr>
              </a:gs>
              <a:gs pos="100000">
                <a:schemeClr val="accent1">
                  <a:lumMod val="60000"/>
                  <a:lumOff val="40000"/>
                  <a:alpha val="70000"/>
                </a:schemeClr>
              </a:gs>
            </a:gsLst>
            <a:path path="circle">
              <a:fillToRect l="50000" t="50000" r="50000" b="50000"/>
            </a:path>
            <a:tileRect/>
          </a:gradFill>
          <a:ln w="11684">
            <a:gradFill flip="none" rotWithShape="1">
              <a:gsLst>
                <a:gs pos="0">
                  <a:schemeClr val="accent1">
                    <a:lumMod val="60000"/>
                    <a:lumOff val="40000"/>
                    <a:alpha val="0"/>
                  </a:schemeClr>
                </a:gs>
                <a:gs pos="100000">
                  <a:schemeClr val="accent1">
                    <a:lumMod val="60000"/>
                    <a:lumOff val="40000"/>
                    <a:alpha val="50000"/>
                  </a:schemeClr>
                </a:gs>
              </a:gsLst>
              <a:lin ang="5400000" scaled="1"/>
              <a:tileRect/>
            </a:gra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79" name="椭圆 78"/>
          <p:cNvSpPr/>
          <p:nvPr/>
        </p:nvSpPr>
        <p:spPr>
          <a:xfrm rot="5400000">
            <a:off x="3338263" y="3197279"/>
            <a:ext cx="2381936" cy="528600"/>
          </a:xfrm>
          <a:prstGeom prst="ellipse">
            <a:avLst/>
          </a:prstGeom>
          <a:noFill/>
          <a:ln w="6350">
            <a:gradFill>
              <a:gsLst>
                <a:gs pos="24000">
                  <a:schemeClr val="accent1">
                    <a:lumMod val="60000"/>
                    <a:lumOff val="40000"/>
                    <a:alpha val="0"/>
                  </a:schemeClr>
                </a:gs>
                <a:gs pos="100000">
                  <a:schemeClr val="accent1">
                    <a:lumMod val="60000"/>
                    <a:lumOff val="40000"/>
                  </a:schemeClr>
                </a:gs>
              </a:gsLst>
              <a:lin ang="5400000" scaled="1"/>
            </a:gradFill>
            <a:prstDash val="lgDash"/>
          </a:ln>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sp>
        <p:nvSpPr>
          <p:cNvPr id="80" name="椭圆 79"/>
          <p:cNvSpPr/>
          <p:nvPr/>
        </p:nvSpPr>
        <p:spPr>
          <a:xfrm rot="5400000">
            <a:off x="4651138" y="3262488"/>
            <a:ext cx="2028546" cy="405464"/>
          </a:xfrm>
          <a:prstGeom prst="ellipse">
            <a:avLst/>
          </a:prstGeom>
          <a:gradFill flip="none" rotWithShape="1">
            <a:gsLst>
              <a:gs pos="57000">
                <a:schemeClr val="accent1">
                  <a:lumMod val="60000"/>
                  <a:lumOff val="40000"/>
                  <a:alpha val="0"/>
                </a:schemeClr>
              </a:gs>
              <a:gs pos="100000">
                <a:schemeClr val="accent1">
                  <a:lumMod val="60000"/>
                  <a:lumOff val="40000"/>
                  <a:alpha val="70000"/>
                </a:schemeClr>
              </a:gs>
            </a:gsLst>
            <a:path path="circle">
              <a:fillToRect l="50000" t="50000" r="50000" b="50000"/>
            </a:path>
            <a:tileRect/>
          </a:gradFill>
          <a:ln w="11684">
            <a:gradFill flip="none" rotWithShape="1">
              <a:gsLst>
                <a:gs pos="0">
                  <a:schemeClr val="accent1">
                    <a:lumMod val="60000"/>
                    <a:lumOff val="40000"/>
                    <a:alpha val="0"/>
                  </a:schemeClr>
                </a:gs>
                <a:gs pos="100000">
                  <a:schemeClr val="accent1">
                    <a:lumMod val="60000"/>
                    <a:lumOff val="40000"/>
                    <a:alpha val="50000"/>
                  </a:schemeClr>
                </a:gs>
              </a:gsLst>
              <a:lin ang="5400000" scaled="1"/>
              <a:tileRect/>
            </a:gra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83" name="椭圆 82"/>
          <p:cNvSpPr/>
          <p:nvPr/>
        </p:nvSpPr>
        <p:spPr>
          <a:xfrm rot="5400000">
            <a:off x="4450366" y="3197278"/>
            <a:ext cx="2381936" cy="528600"/>
          </a:xfrm>
          <a:prstGeom prst="ellipse">
            <a:avLst/>
          </a:prstGeom>
          <a:noFill/>
          <a:ln w="6350">
            <a:gradFill>
              <a:gsLst>
                <a:gs pos="24000">
                  <a:schemeClr val="accent1">
                    <a:lumMod val="60000"/>
                    <a:lumOff val="40000"/>
                    <a:alpha val="0"/>
                  </a:schemeClr>
                </a:gs>
                <a:gs pos="100000">
                  <a:schemeClr val="accent1">
                    <a:lumMod val="60000"/>
                    <a:lumOff val="40000"/>
                  </a:schemeClr>
                </a:gs>
              </a:gsLst>
              <a:lin ang="5400000" scaled="1"/>
            </a:gradFill>
            <a:prstDash val="lgDash"/>
          </a:ln>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sp>
        <p:nvSpPr>
          <p:cNvPr id="86" name="文本框 85"/>
          <p:cNvSpPr txBox="1"/>
          <p:nvPr/>
        </p:nvSpPr>
        <p:spPr>
          <a:xfrm>
            <a:off x="5542770" y="3094427"/>
            <a:ext cx="490220" cy="726440"/>
          </a:xfrm>
          <a:prstGeom prst="rect">
            <a:avLst/>
          </a:prstGeom>
          <a:noFill/>
        </p:spPr>
        <p:txBody>
          <a:bodyPr vert="eaVert" wrap="none" rtlCol="0">
            <a:spAutoFit/>
          </a:bodyPr>
          <a:lstStyle>
            <a:defPPr>
              <a:defRPr lang="en-US"/>
            </a:defPPr>
            <a:lvl1pPr marR="0" lvl="0" indent="0" fontAlgn="auto">
              <a:lnSpc>
                <a:spcPct val="100000"/>
              </a:lnSpc>
              <a:spcBef>
                <a:spcPts val="0"/>
              </a:spcBef>
              <a:spcAft>
                <a:spcPts val="0"/>
              </a:spcAft>
              <a:buClrTx/>
              <a:buSzTx/>
              <a:buFontTx/>
              <a:buNone/>
              <a:defRPr kumimoji="1" sz="1200" b="1" i="0" u="none" strike="noStrike" normalizeH="0" baseline="0">
                <a:solidFill>
                  <a:srgbClr val="FFFFFF">
                    <a:lumMod val="65000"/>
                  </a:srgbClr>
                </a:solidFill>
                <a:uLnTx/>
                <a:uFillTx/>
                <a:latin typeface="思源黑体 CN Bold" panose="020B0800000000000000" pitchFamily="34" charset="-128"/>
                <a:ea typeface="思源黑体 CN Bold" panose="020B0800000000000000" pitchFamily="34" charset="-128"/>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低碳生态规</a:t>
            </a:r>
            <a:endParaRPr kumimoji="1"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划侧重点</a:t>
            </a:r>
            <a:endParaRPr kumimoji="1" lang="zh-CN" altLang="en-US"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9" name="椭圆 118"/>
          <p:cNvSpPr/>
          <p:nvPr/>
        </p:nvSpPr>
        <p:spPr>
          <a:xfrm rot="5400000">
            <a:off x="4370524" y="2692033"/>
            <a:ext cx="124742" cy="124742"/>
          </a:xfrm>
          <a:prstGeom prst="ellipse">
            <a:avLst/>
          </a:prstGeom>
          <a:solidFill>
            <a:srgbClr val="FFFFFF"/>
          </a:solidFill>
          <a:ln w="6350">
            <a:solidFill>
              <a:srgbClr val="FFFFFF">
                <a:lumMod val="90000"/>
              </a:srgbClr>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21" name="椭圆 120"/>
          <p:cNvSpPr/>
          <p:nvPr/>
        </p:nvSpPr>
        <p:spPr>
          <a:xfrm rot="5400000">
            <a:off x="4400724" y="2722232"/>
            <a:ext cx="64343" cy="64343"/>
          </a:xfrm>
          <a:prstGeom prst="ellipse">
            <a:avLst/>
          </a:prstGeom>
          <a:solidFill>
            <a:schemeClr val="accent1">
              <a:lumMod val="60000"/>
              <a:lumOff val="40000"/>
            </a:schemeClr>
          </a:solidFill>
          <a:ln w="6350">
            <a:solidFill>
              <a:srgbClr val="FFFFFF"/>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22" name="椭圆 121"/>
          <p:cNvSpPr/>
          <p:nvPr/>
        </p:nvSpPr>
        <p:spPr>
          <a:xfrm rot="5400000">
            <a:off x="4291443" y="3336834"/>
            <a:ext cx="124742" cy="124742"/>
          </a:xfrm>
          <a:prstGeom prst="ellipse">
            <a:avLst/>
          </a:prstGeom>
          <a:solidFill>
            <a:srgbClr val="FFFFFF"/>
          </a:solidFill>
          <a:ln w="6350">
            <a:solidFill>
              <a:srgbClr val="FFFFFF">
                <a:lumMod val="90000"/>
              </a:srgbClr>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23" name="椭圆 122"/>
          <p:cNvSpPr/>
          <p:nvPr/>
        </p:nvSpPr>
        <p:spPr>
          <a:xfrm rot="5400000">
            <a:off x="4319738" y="3367033"/>
            <a:ext cx="64343" cy="64343"/>
          </a:xfrm>
          <a:prstGeom prst="ellipse">
            <a:avLst/>
          </a:prstGeom>
          <a:solidFill>
            <a:schemeClr val="accent1">
              <a:lumMod val="60000"/>
              <a:lumOff val="40000"/>
            </a:schemeClr>
          </a:solidFill>
          <a:ln w="6350">
            <a:solidFill>
              <a:srgbClr val="FFFFFF"/>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24" name="椭圆 123"/>
          <p:cNvSpPr/>
          <p:nvPr/>
        </p:nvSpPr>
        <p:spPr>
          <a:xfrm rot="5400000">
            <a:off x="4370524" y="4097808"/>
            <a:ext cx="124742" cy="124742"/>
          </a:xfrm>
          <a:prstGeom prst="ellipse">
            <a:avLst/>
          </a:prstGeom>
          <a:solidFill>
            <a:srgbClr val="FFFFFF"/>
          </a:solidFill>
          <a:ln w="6350">
            <a:solidFill>
              <a:srgbClr val="FFFFFF">
                <a:lumMod val="90000"/>
              </a:srgbClr>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30" name="椭圆 129"/>
          <p:cNvSpPr/>
          <p:nvPr/>
        </p:nvSpPr>
        <p:spPr>
          <a:xfrm rot="5400000">
            <a:off x="4400724" y="4128007"/>
            <a:ext cx="64343" cy="64343"/>
          </a:xfrm>
          <a:prstGeom prst="ellipse">
            <a:avLst/>
          </a:prstGeom>
          <a:solidFill>
            <a:schemeClr val="accent1">
              <a:lumMod val="60000"/>
              <a:lumOff val="40000"/>
            </a:schemeClr>
          </a:solidFill>
          <a:ln w="6350">
            <a:solidFill>
              <a:srgbClr val="FFFFFF"/>
            </a:solidFill>
            <a:prstDash val="solid"/>
          </a:ln>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cxnSp>
        <p:nvCxnSpPr>
          <p:cNvPr id="132" name="直接箭头连接符 209"/>
          <p:cNvCxnSpPr>
            <a:stCxn id="75" idx="2"/>
          </p:cNvCxnSpPr>
          <p:nvPr/>
        </p:nvCxnSpPr>
        <p:spPr>
          <a:xfrm flipH="1">
            <a:off x="3984791" y="2891926"/>
            <a:ext cx="88842" cy="308042"/>
          </a:xfrm>
          <a:prstGeom prst="straightConnector1">
            <a:avLst/>
          </a:prstGeom>
          <a:ln w="19050" cap="rnd">
            <a:gradFill>
              <a:gsLst>
                <a:gs pos="0">
                  <a:schemeClr val="accent1">
                    <a:lumMod val="60000"/>
                    <a:lumOff val="40000"/>
                    <a:alpha val="0"/>
                  </a:schemeClr>
                </a:gs>
                <a:gs pos="100000">
                  <a:schemeClr val="accent1">
                    <a:lumMod val="60000"/>
                    <a:lumOff val="40000"/>
                  </a:schemeClr>
                </a:gs>
              </a:gsLst>
              <a:lin ang="0" scaled="0"/>
            </a:gradFill>
            <a:round/>
            <a:tailEnd type="arrow"/>
          </a:ln>
        </p:spPr>
        <p:style>
          <a:lnRef idx="1">
            <a:srgbClr val="BA3023"/>
          </a:lnRef>
          <a:fillRef idx="0">
            <a:srgbClr val="BA3023"/>
          </a:fillRef>
          <a:effectRef idx="0">
            <a:srgbClr val="BA3023"/>
          </a:effectRef>
          <a:fontRef idx="minor">
            <a:srgbClr val="1E334D"/>
          </a:fontRef>
        </p:style>
      </p:cxnSp>
      <p:cxnSp>
        <p:nvCxnSpPr>
          <p:cNvPr id="133" name="直接箭头连接符 210"/>
          <p:cNvCxnSpPr/>
          <p:nvPr/>
        </p:nvCxnSpPr>
        <p:spPr>
          <a:xfrm>
            <a:off x="3954882" y="3645416"/>
            <a:ext cx="88842" cy="308042"/>
          </a:xfrm>
          <a:prstGeom prst="straightConnector1">
            <a:avLst/>
          </a:prstGeom>
          <a:ln w="19050" cap="rnd">
            <a:gradFill>
              <a:gsLst>
                <a:gs pos="0">
                  <a:schemeClr val="accent1">
                    <a:lumMod val="60000"/>
                    <a:lumOff val="40000"/>
                    <a:alpha val="0"/>
                  </a:schemeClr>
                </a:gs>
                <a:gs pos="100000">
                  <a:schemeClr val="accent1">
                    <a:lumMod val="60000"/>
                    <a:lumOff val="40000"/>
                  </a:schemeClr>
                </a:gs>
              </a:gsLst>
              <a:lin ang="0" scaled="0"/>
            </a:gradFill>
            <a:round/>
            <a:tailEnd type="arrow"/>
          </a:ln>
        </p:spPr>
        <p:style>
          <a:lnRef idx="1">
            <a:srgbClr val="BA3023"/>
          </a:lnRef>
          <a:fillRef idx="0">
            <a:srgbClr val="BA3023"/>
          </a:fillRef>
          <a:effectRef idx="0">
            <a:srgbClr val="BA3023"/>
          </a:effectRef>
          <a:fontRef idx="minor">
            <a:srgbClr val="1E334D"/>
          </a:fontRef>
        </p:style>
      </p:cxnSp>
      <p:cxnSp>
        <p:nvCxnSpPr>
          <p:cNvPr id="141" name="直接箭头连接符 211"/>
          <p:cNvCxnSpPr/>
          <p:nvPr/>
        </p:nvCxnSpPr>
        <p:spPr>
          <a:xfrm>
            <a:off x="4732943" y="2753028"/>
            <a:ext cx="359614" cy="0"/>
          </a:xfrm>
          <a:prstGeom prst="straightConnector1">
            <a:avLst/>
          </a:prstGeom>
          <a:ln w="19050" cap="rnd">
            <a:gradFill>
              <a:gsLst>
                <a:gs pos="0">
                  <a:schemeClr val="accent1">
                    <a:lumMod val="60000"/>
                    <a:lumOff val="40000"/>
                    <a:alpha val="0"/>
                  </a:schemeClr>
                </a:gs>
                <a:gs pos="100000">
                  <a:schemeClr val="accent1">
                    <a:lumMod val="60000"/>
                    <a:lumOff val="40000"/>
                  </a:schemeClr>
                </a:gs>
              </a:gsLst>
              <a:lin ang="0" scaled="0"/>
            </a:gradFill>
            <a:round/>
            <a:tailEnd type="arrow"/>
          </a:ln>
        </p:spPr>
        <p:style>
          <a:lnRef idx="1">
            <a:srgbClr val="BA3023"/>
          </a:lnRef>
          <a:fillRef idx="0">
            <a:srgbClr val="BA3023"/>
          </a:fillRef>
          <a:effectRef idx="0">
            <a:srgbClr val="BA3023"/>
          </a:effectRef>
          <a:fontRef idx="minor">
            <a:srgbClr val="1E334D"/>
          </a:fontRef>
        </p:style>
      </p:cxnSp>
      <p:cxnSp>
        <p:nvCxnSpPr>
          <p:cNvPr id="142" name="直接箭头连接符 214"/>
          <p:cNvCxnSpPr/>
          <p:nvPr/>
        </p:nvCxnSpPr>
        <p:spPr>
          <a:xfrm>
            <a:off x="4732943" y="4157468"/>
            <a:ext cx="359614" cy="0"/>
          </a:xfrm>
          <a:prstGeom prst="straightConnector1">
            <a:avLst/>
          </a:prstGeom>
          <a:ln w="19050" cap="rnd">
            <a:gradFill>
              <a:gsLst>
                <a:gs pos="0">
                  <a:schemeClr val="accent1">
                    <a:lumMod val="60000"/>
                    <a:lumOff val="40000"/>
                    <a:alpha val="0"/>
                  </a:schemeClr>
                </a:gs>
                <a:gs pos="100000">
                  <a:schemeClr val="accent1">
                    <a:lumMod val="60000"/>
                    <a:lumOff val="40000"/>
                  </a:schemeClr>
                </a:gs>
              </a:gsLst>
              <a:lin ang="0" scaled="0"/>
            </a:gradFill>
            <a:round/>
            <a:tailEnd type="arrow"/>
          </a:ln>
        </p:spPr>
        <p:style>
          <a:lnRef idx="1">
            <a:srgbClr val="BA3023"/>
          </a:lnRef>
          <a:fillRef idx="0">
            <a:srgbClr val="BA3023"/>
          </a:fillRef>
          <a:effectRef idx="0">
            <a:srgbClr val="BA3023"/>
          </a:effectRef>
          <a:fontRef idx="minor">
            <a:srgbClr val="1E334D"/>
          </a:fontRef>
        </p:style>
      </p:cxnSp>
      <p:sp>
        <p:nvSpPr>
          <p:cNvPr id="143" name="矩形: 圆角 157"/>
          <p:cNvSpPr/>
          <p:nvPr/>
        </p:nvSpPr>
        <p:spPr>
          <a:xfrm>
            <a:off x="7101341" y="3239486"/>
            <a:ext cx="1428819" cy="538511"/>
          </a:xfrm>
          <a:prstGeom prst="roundRect">
            <a:avLst>
              <a:gd name="adj" fmla="val 13000"/>
            </a:avLst>
          </a:prstGeom>
          <a:solidFill>
            <a:schemeClr val="accent1">
              <a:lumMod val="60000"/>
              <a:lumOff val="40000"/>
            </a:schemeClr>
          </a:solidFill>
          <a:ln>
            <a:noFill/>
          </a:ln>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44" name="矩形: 圆角 158"/>
          <p:cNvSpPr/>
          <p:nvPr/>
        </p:nvSpPr>
        <p:spPr>
          <a:xfrm>
            <a:off x="7039824" y="3193910"/>
            <a:ext cx="1551852" cy="629662"/>
          </a:xfrm>
          <a:prstGeom prst="roundRect">
            <a:avLst>
              <a:gd name="adj" fmla="val 13000"/>
            </a:avLst>
          </a:prstGeom>
          <a:noFill/>
          <a:ln w="6350">
            <a:solidFill>
              <a:schemeClr val="accent1">
                <a:lumMod val="60000"/>
                <a:lumOff val="40000"/>
              </a:schemeClr>
            </a:solidFill>
            <a:prstDash val="dash"/>
          </a:ln>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sp>
        <p:nvSpPr>
          <p:cNvPr id="145" name="文本框 144"/>
          <p:cNvSpPr txBox="1"/>
          <p:nvPr/>
        </p:nvSpPr>
        <p:spPr>
          <a:xfrm>
            <a:off x="7186930" y="3276600"/>
            <a:ext cx="1259840" cy="460375"/>
          </a:xfrm>
          <a:prstGeom prst="rect">
            <a:avLst/>
          </a:prstGeom>
          <a:noFill/>
        </p:spPr>
        <p:txBody>
          <a:bodyPr wrap="square">
            <a:spAutoFit/>
          </a:bodyPr>
          <a:lstStyle>
            <a:defPPr>
              <a:defRPr lang="en-US"/>
            </a:defPPr>
            <a:lvl1pPr marR="0" lvl="0" indent="0" algn="ctr" defTabSz="914400" fontAlgn="auto">
              <a:lnSpc>
                <a:spcPct val="100000"/>
              </a:lnSpc>
              <a:spcBef>
                <a:spcPts val="0"/>
              </a:spcBef>
              <a:spcAft>
                <a:spcPts val="0"/>
              </a:spcAft>
              <a:buClrTx/>
              <a:buSzTx/>
              <a:buFontTx/>
              <a:buNone/>
              <a:defRPr kumimoji="0" b="1" u="none" strike="noStrike" cap="none" spc="0" normalizeH="0" baseline="0">
                <a:ln>
                  <a:noFill/>
                </a:ln>
                <a:solidFill>
                  <a:srgbClr val="FFFFFF"/>
                </a:solidFill>
                <a:effectLst/>
                <a:uLnTx/>
                <a:uFillTx/>
                <a:latin typeface="思源宋体 CN" panose="02020400000000000000" pitchFamily="18" charset="-128"/>
                <a:ea typeface="思源宋体 CN" panose="02020400000000000000" pitchFamily="18" charset="-128"/>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典型功能区</a:t>
            </a:r>
            <a:endParaRPr kumimoji="0"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指标体系设计</a:t>
            </a:r>
            <a:endParaRPr kumimoji="0"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46" name="文本框 145"/>
          <p:cNvSpPr txBox="1"/>
          <p:nvPr/>
        </p:nvSpPr>
        <p:spPr>
          <a:xfrm>
            <a:off x="7011501" y="2466064"/>
            <a:ext cx="492443"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技术</a:t>
            </a:r>
            <a:endParaRPr lang="en-US" altLang="zh-CN"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路线</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7" name="文本框 146"/>
          <p:cNvSpPr txBox="1"/>
          <p:nvPr/>
        </p:nvSpPr>
        <p:spPr>
          <a:xfrm>
            <a:off x="8089488" y="2466064"/>
            <a:ext cx="492443"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框架</a:t>
            </a:r>
            <a:endParaRPr lang="en-US" altLang="zh-CN"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构建</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8" name="文本框 147"/>
          <p:cNvSpPr txBox="1"/>
          <p:nvPr/>
        </p:nvSpPr>
        <p:spPr>
          <a:xfrm>
            <a:off x="7011501" y="3956159"/>
            <a:ext cx="492443"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指标</a:t>
            </a:r>
            <a:endParaRPr lang="en-US" altLang="zh-CN"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设计</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2" name="文本框 161"/>
          <p:cNvSpPr txBox="1"/>
          <p:nvPr/>
        </p:nvSpPr>
        <p:spPr>
          <a:xfrm>
            <a:off x="8089488" y="3956159"/>
            <a:ext cx="492443"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标准</a:t>
            </a:r>
            <a:endParaRPr lang="en-US" altLang="zh-CN"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量化</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8" name="菱形 167"/>
          <p:cNvSpPr/>
          <p:nvPr/>
        </p:nvSpPr>
        <p:spPr>
          <a:xfrm>
            <a:off x="6930169" y="2886067"/>
            <a:ext cx="655107" cy="61785"/>
          </a:xfrm>
          <a:prstGeom prst="diamond">
            <a:avLst/>
          </a:prstGeom>
          <a:solidFill>
            <a:schemeClr val="bg1"/>
          </a:solidFill>
          <a:ln w="25400">
            <a:gradFill>
              <a:gsLst>
                <a:gs pos="23000">
                  <a:schemeClr val="accent1">
                    <a:lumMod val="60000"/>
                    <a:lumOff val="40000"/>
                    <a:alpha val="0"/>
                  </a:schemeClr>
                </a:gs>
                <a:gs pos="100000">
                  <a:schemeClr val="accent1">
                    <a:lumMod val="60000"/>
                    <a:lumOff val="40000"/>
                  </a:schemeClr>
                </a:gs>
              </a:gsLst>
              <a:lin ang="5400000" scaled="1"/>
            </a:gradFill>
          </a:ln>
          <a:effectLst>
            <a:outerShdw blurRad="127000" dist="88900" dir="5400000" algn="t" rotWithShape="0">
              <a:schemeClr val="accent1">
                <a:lumMod val="60000"/>
                <a:lumOff val="40000"/>
                <a:alpha val="38000"/>
              </a:schemeClr>
            </a:outerShdw>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sp>
        <p:nvSpPr>
          <p:cNvPr id="172" name="菱形 171"/>
          <p:cNvSpPr/>
          <p:nvPr/>
        </p:nvSpPr>
        <p:spPr>
          <a:xfrm>
            <a:off x="8008156" y="2886067"/>
            <a:ext cx="655107" cy="61785"/>
          </a:xfrm>
          <a:prstGeom prst="diamond">
            <a:avLst/>
          </a:prstGeom>
          <a:solidFill>
            <a:schemeClr val="bg1"/>
          </a:solidFill>
          <a:ln w="25400">
            <a:gradFill>
              <a:gsLst>
                <a:gs pos="23000">
                  <a:schemeClr val="accent1">
                    <a:lumMod val="60000"/>
                    <a:lumOff val="40000"/>
                    <a:alpha val="0"/>
                  </a:schemeClr>
                </a:gs>
                <a:gs pos="100000">
                  <a:schemeClr val="accent1">
                    <a:lumMod val="60000"/>
                    <a:lumOff val="40000"/>
                  </a:schemeClr>
                </a:gs>
              </a:gsLst>
              <a:lin ang="5400000" scaled="1"/>
            </a:gradFill>
          </a:ln>
          <a:effectLst>
            <a:outerShdw blurRad="127000" dist="88900" dir="5400000" algn="t" rotWithShape="0">
              <a:schemeClr val="accent1">
                <a:lumMod val="60000"/>
                <a:lumOff val="40000"/>
                <a:alpha val="38000"/>
              </a:schemeClr>
            </a:outerShdw>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sp>
        <p:nvSpPr>
          <p:cNvPr id="173" name="菱形 172"/>
          <p:cNvSpPr/>
          <p:nvPr/>
        </p:nvSpPr>
        <p:spPr>
          <a:xfrm>
            <a:off x="8008156" y="4358595"/>
            <a:ext cx="655107" cy="61785"/>
          </a:xfrm>
          <a:prstGeom prst="diamond">
            <a:avLst/>
          </a:prstGeom>
          <a:solidFill>
            <a:schemeClr val="bg1"/>
          </a:solidFill>
          <a:ln w="25400">
            <a:gradFill>
              <a:gsLst>
                <a:gs pos="23000">
                  <a:schemeClr val="accent1">
                    <a:lumMod val="60000"/>
                    <a:lumOff val="40000"/>
                    <a:alpha val="0"/>
                  </a:schemeClr>
                </a:gs>
                <a:gs pos="100000">
                  <a:schemeClr val="accent1">
                    <a:lumMod val="60000"/>
                    <a:lumOff val="40000"/>
                  </a:schemeClr>
                </a:gs>
              </a:gsLst>
              <a:lin ang="5400000" scaled="1"/>
            </a:gradFill>
          </a:ln>
          <a:effectLst>
            <a:outerShdw blurRad="127000" dist="88900" dir="5400000" algn="t" rotWithShape="0">
              <a:schemeClr val="accent1">
                <a:lumMod val="60000"/>
                <a:lumOff val="40000"/>
                <a:alpha val="38000"/>
              </a:schemeClr>
            </a:outerShdw>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sp>
        <p:nvSpPr>
          <p:cNvPr id="174" name="菱形 173"/>
          <p:cNvSpPr/>
          <p:nvPr/>
        </p:nvSpPr>
        <p:spPr>
          <a:xfrm>
            <a:off x="6930169" y="4358595"/>
            <a:ext cx="655107" cy="61785"/>
          </a:xfrm>
          <a:prstGeom prst="diamond">
            <a:avLst/>
          </a:prstGeom>
          <a:solidFill>
            <a:schemeClr val="bg1"/>
          </a:solidFill>
          <a:ln w="25400">
            <a:gradFill>
              <a:gsLst>
                <a:gs pos="23000">
                  <a:schemeClr val="accent1">
                    <a:lumMod val="60000"/>
                    <a:lumOff val="40000"/>
                    <a:alpha val="0"/>
                  </a:schemeClr>
                </a:gs>
                <a:gs pos="100000">
                  <a:schemeClr val="accent1">
                    <a:lumMod val="60000"/>
                    <a:lumOff val="40000"/>
                  </a:schemeClr>
                </a:gs>
              </a:gsLst>
              <a:lin ang="5400000" scaled="1"/>
            </a:gradFill>
          </a:ln>
          <a:effectLst>
            <a:outerShdw blurRad="127000" dist="88900" dir="5400000" algn="t" rotWithShape="0">
              <a:schemeClr val="accent1">
                <a:lumMod val="60000"/>
                <a:lumOff val="40000"/>
                <a:alpha val="38000"/>
              </a:schemeClr>
            </a:outerShdw>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sp>
        <p:nvSpPr>
          <p:cNvPr id="175" name="矩形: 圆角 217"/>
          <p:cNvSpPr/>
          <p:nvPr/>
        </p:nvSpPr>
        <p:spPr>
          <a:xfrm>
            <a:off x="9269274" y="3239486"/>
            <a:ext cx="1428819" cy="538511"/>
          </a:xfrm>
          <a:prstGeom prst="roundRect">
            <a:avLst>
              <a:gd name="adj" fmla="val 13000"/>
            </a:avLst>
          </a:prstGeom>
          <a:solidFill>
            <a:schemeClr val="accent1">
              <a:lumMod val="60000"/>
              <a:lumOff val="40000"/>
            </a:schemeClr>
          </a:solidFill>
          <a:ln>
            <a:noFill/>
          </a:ln>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76" name="矩形: 圆角 218"/>
          <p:cNvSpPr/>
          <p:nvPr/>
        </p:nvSpPr>
        <p:spPr>
          <a:xfrm>
            <a:off x="9207757" y="3193910"/>
            <a:ext cx="1551852" cy="629662"/>
          </a:xfrm>
          <a:prstGeom prst="roundRect">
            <a:avLst>
              <a:gd name="adj" fmla="val 13000"/>
            </a:avLst>
          </a:prstGeom>
          <a:noFill/>
          <a:ln w="6350">
            <a:solidFill>
              <a:schemeClr val="accent2"/>
            </a:solidFill>
            <a:prstDash val="dash"/>
          </a:ln>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sp>
        <p:nvSpPr>
          <p:cNvPr id="177" name="文本框 176"/>
          <p:cNvSpPr txBox="1"/>
          <p:nvPr/>
        </p:nvSpPr>
        <p:spPr>
          <a:xfrm>
            <a:off x="9430598" y="3280152"/>
            <a:ext cx="1101090" cy="460375"/>
          </a:xfrm>
          <a:prstGeom prst="rect">
            <a:avLst/>
          </a:prstGeom>
          <a:noFill/>
        </p:spPr>
        <p:txBody>
          <a:bodyPr wrap="none">
            <a:spAutoFit/>
          </a:bodyPr>
          <a:lstStyle>
            <a:defPPr>
              <a:defRPr lang="en-US"/>
            </a:defPPr>
            <a:lvl1pPr marR="0" lvl="0" indent="0" algn="ctr" defTabSz="914400" fontAlgn="auto">
              <a:lnSpc>
                <a:spcPct val="100000"/>
              </a:lnSpc>
              <a:spcBef>
                <a:spcPts val="0"/>
              </a:spcBef>
              <a:spcAft>
                <a:spcPts val="0"/>
              </a:spcAft>
              <a:buClrTx/>
              <a:buSzTx/>
              <a:buFontTx/>
              <a:buNone/>
              <a:defRPr kumimoji="0" b="1" u="none" strike="noStrike" cap="none" spc="0" normalizeH="0" baseline="0">
                <a:ln>
                  <a:noFill/>
                </a:ln>
                <a:solidFill>
                  <a:srgbClr val="FFFFFF"/>
                </a:solidFill>
                <a:effectLst/>
                <a:uLnTx/>
                <a:uFillTx/>
                <a:latin typeface="思源宋体 CN" panose="02020400000000000000" pitchFamily="18" charset="-128"/>
                <a:ea typeface="思源宋体 CN" panose="02020400000000000000" pitchFamily="18" charset="-128"/>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指标研究反馈</a:t>
            </a:r>
            <a:endParaRPr kumimoji="0"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与应用建议</a:t>
            </a:r>
            <a:endParaRPr kumimoji="0"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78" name="文本框 177"/>
          <p:cNvSpPr txBox="1"/>
          <p:nvPr/>
        </p:nvSpPr>
        <p:spPr>
          <a:xfrm>
            <a:off x="9506629" y="2466064"/>
            <a:ext cx="954107"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功能区调研</a:t>
            </a:r>
            <a:endParaRPr lang="en-US" altLang="zh-CN"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与意见反馈</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9" name="文本框 178"/>
          <p:cNvSpPr txBox="1"/>
          <p:nvPr/>
        </p:nvSpPr>
        <p:spPr>
          <a:xfrm>
            <a:off x="9412373" y="4048493"/>
            <a:ext cx="1142620" cy="276999"/>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rgbClr val="FFFFFF">
                    <a:lumMod val="10000"/>
                  </a:srgbClr>
                </a:solidFill>
                <a:effectLst/>
                <a:uLnTx/>
                <a:uFillTx/>
                <a:latin typeface="思源黑体 CN Regular" panose="020B0500000000000000" pitchFamily="34" charset="-128"/>
                <a:ea typeface="思源黑体 CN Regular" panose="020B0500000000000000" pitchFamily="34" charset="-128"/>
              </a:defRPr>
            </a:lvl1pPr>
          </a:lstStyle>
          <a:p>
            <a:pPr algn="ctr"/>
            <a:r>
              <a:rPr lang="zh-CN" altLang="en-US" dirty="0">
                <a:solidFill>
                  <a:schemeClr val="tx2"/>
                </a:solidFill>
                <a:latin typeface="微软雅黑" panose="020B0503020204020204" charset="-122"/>
                <a:ea typeface="微软雅黑" panose="020B0503020204020204" charset="-122"/>
                <a:cs typeface="微软雅黑" panose="020B0503020204020204" charset="-122"/>
              </a:rPr>
              <a:t>指标应用建议</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0" name="菱形 179"/>
          <p:cNvSpPr/>
          <p:nvPr/>
        </p:nvSpPr>
        <p:spPr>
          <a:xfrm>
            <a:off x="9285454" y="2886652"/>
            <a:ext cx="1396459" cy="61200"/>
          </a:xfrm>
          <a:prstGeom prst="diamond">
            <a:avLst/>
          </a:prstGeom>
          <a:solidFill>
            <a:schemeClr val="bg1"/>
          </a:solidFill>
          <a:ln w="25400">
            <a:gradFill>
              <a:gsLst>
                <a:gs pos="23000">
                  <a:schemeClr val="accent1">
                    <a:lumMod val="60000"/>
                    <a:lumOff val="40000"/>
                    <a:alpha val="0"/>
                  </a:schemeClr>
                </a:gs>
                <a:gs pos="100000">
                  <a:schemeClr val="accent1">
                    <a:lumMod val="60000"/>
                    <a:lumOff val="40000"/>
                  </a:schemeClr>
                </a:gs>
              </a:gsLst>
              <a:lin ang="5400000" scaled="1"/>
            </a:gradFill>
          </a:ln>
          <a:effectLst>
            <a:outerShdw blurRad="127000" dist="88900" dir="5400000" algn="t" rotWithShape="0">
              <a:schemeClr val="accent1">
                <a:lumMod val="60000"/>
                <a:lumOff val="40000"/>
                <a:alpha val="38000"/>
              </a:schemeClr>
            </a:outerShdw>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sp>
        <p:nvSpPr>
          <p:cNvPr id="181" name="菱形 180"/>
          <p:cNvSpPr/>
          <p:nvPr/>
        </p:nvSpPr>
        <p:spPr>
          <a:xfrm>
            <a:off x="9285454" y="4349749"/>
            <a:ext cx="1396459" cy="70631"/>
          </a:xfrm>
          <a:prstGeom prst="diamond">
            <a:avLst/>
          </a:prstGeom>
          <a:solidFill>
            <a:schemeClr val="bg1"/>
          </a:solidFill>
          <a:ln w="25400">
            <a:gradFill>
              <a:gsLst>
                <a:gs pos="23000">
                  <a:schemeClr val="accent1">
                    <a:lumMod val="60000"/>
                    <a:lumOff val="40000"/>
                    <a:alpha val="0"/>
                  </a:schemeClr>
                </a:gs>
                <a:gs pos="100000">
                  <a:schemeClr val="accent1">
                    <a:lumMod val="60000"/>
                    <a:lumOff val="40000"/>
                  </a:schemeClr>
                </a:gs>
              </a:gsLst>
              <a:lin ang="5400000" scaled="1"/>
            </a:gradFill>
          </a:ln>
          <a:effectLst>
            <a:outerShdw blurRad="127000" dist="88900" dir="5400000" algn="t" rotWithShape="0">
              <a:schemeClr val="accent1">
                <a:lumMod val="60000"/>
                <a:lumOff val="40000"/>
                <a:alpha val="38000"/>
              </a:schemeClr>
            </a:outerShdw>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effectLst/>
              <a:uLnTx/>
              <a:uFillTx/>
              <a:latin typeface="微软雅黑" panose="020B0503020204020204" charset="-122"/>
              <a:ea typeface="微软雅黑" panose="020B0503020204020204" charset="-122"/>
              <a:cs typeface="+mn-ea"/>
              <a:sym typeface="+mn-ea"/>
            </a:endParaRPr>
          </a:p>
        </p:txBody>
      </p:sp>
      <p:cxnSp>
        <p:nvCxnSpPr>
          <p:cNvPr id="182" name="直接箭头连接符 37"/>
          <p:cNvCxnSpPr/>
          <p:nvPr/>
        </p:nvCxnSpPr>
        <p:spPr>
          <a:xfrm flipH="1">
            <a:off x="9983336" y="3832968"/>
            <a:ext cx="695" cy="183740"/>
          </a:xfrm>
          <a:prstGeom prst="straightConnector1">
            <a:avLst/>
          </a:prstGeom>
          <a:ln w="19050" cap="rnd">
            <a:gradFill>
              <a:gsLst>
                <a:gs pos="0">
                  <a:schemeClr val="accent1">
                    <a:lumMod val="60000"/>
                    <a:lumOff val="40000"/>
                    <a:alpha val="0"/>
                  </a:schemeClr>
                </a:gs>
                <a:gs pos="100000">
                  <a:schemeClr val="accent1">
                    <a:lumMod val="60000"/>
                    <a:lumOff val="40000"/>
                  </a:schemeClr>
                </a:gs>
              </a:gsLst>
              <a:lin ang="5400000" scaled="0"/>
            </a:gradFill>
            <a:round/>
            <a:tailEnd type="arrow"/>
          </a:ln>
        </p:spPr>
        <p:style>
          <a:lnRef idx="1">
            <a:srgbClr val="BA3023"/>
          </a:lnRef>
          <a:fillRef idx="0">
            <a:srgbClr val="BA3023"/>
          </a:fillRef>
          <a:effectRef idx="0">
            <a:srgbClr val="BA3023"/>
          </a:effectRef>
          <a:fontRef idx="minor">
            <a:srgbClr val="1E334D"/>
          </a:fontRef>
        </p:style>
      </p:cxnSp>
      <p:sp>
        <p:nvSpPr>
          <p:cNvPr id="183" name="文本框 182"/>
          <p:cNvSpPr txBox="1"/>
          <p:nvPr/>
        </p:nvSpPr>
        <p:spPr>
          <a:xfrm>
            <a:off x="10814933" y="3366849"/>
            <a:ext cx="902811" cy="307777"/>
          </a:xfrm>
          <a:prstGeom prst="rect">
            <a:avLst/>
          </a:prstGeom>
          <a:noFill/>
        </p:spPr>
        <p:txBody>
          <a:bodyPr wrap="none">
            <a:spAutoFit/>
          </a:bodyPr>
          <a:lstStyle>
            <a:defPPr>
              <a:defRPr lang="en-US"/>
            </a:defPPr>
            <a:lvl1pPr marR="0" lvl="0" indent="0" algn="ctr" defTabSz="914400" fontAlgn="auto">
              <a:lnSpc>
                <a:spcPct val="100000"/>
              </a:lnSpc>
              <a:spcBef>
                <a:spcPts val="0"/>
              </a:spcBef>
              <a:spcAft>
                <a:spcPts val="0"/>
              </a:spcAft>
              <a:buClrTx/>
              <a:buSzTx/>
              <a:buFontTx/>
              <a:buNone/>
              <a:defRPr kumimoji="0" sz="1400" b="1" u="none" strike="noStrike" cap="none" spc="0" normalizeH="0" baseline="0">
                <a:ln>
                  <a:noFill/>
                </a:ln>
                <a:effectLst/>
                <a:uLnTx/>
                <a:uFillTx/>
                <a:latin typeface="思源宋体 CN" panose="02020400000000000000" pitchFamily="18" charset="-128"/>
                <a:ea typeface="思源宋体 CN" panose="02020400000000000000" pitchFamily="18" charset="-128"/>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研究结论</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84" name="燕尾形 183"/>
          <p:cNvSpPr/>
          <p:nvPr/>
        </p:nvSpPr>
        <p:spPr>
          <a:xfrm>
            <a:off x="872284" y="1343251"/>
            <a:ext cx="2778194" cy="484632"/>
          </a:xfrm>
          <a:prstGeom prst="chevron">
            <a:avLst>
              <a:gd name="adj" fmla="val 26041"/>
            </a:avLst>
          </a:prstGeom>
          <a:gradFill>
            <a:gsLst>
              <a:gs pos="0">
                <a:schemeClr val="accent5"/>
              </a:gs>
              <a:gs pos="100000">
                <a:schemeClr val="accent5">
                  <a:lumMod val="60000"/>
                  <a:lumOff val="40000"/>
                </a:schemeClr>
              </a:gs>
            </a:gsLst>
            <a:lin ang="5400000" scaled="0"/>
          </a:gradFill>
          <a:ln>
            <a:noFill/>
          </a:ln>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algn="ct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5" name="燕尾形 184"/>
          <p:cNvSpPr/>
          <p:nvPr/>
        </p:nvSpPr>
        <p:spPr>
          <a:xfrm>
            <a:off x="3670372" y="1343251"/>
            <a:ext cx="2930453" cy="484632"/>
          </a:xfrm>
          <a:prstGeom prst="chevron">
            <a:avLst>
              <a:gd name="adj" fmla="val 26041"/>
            </a:avLst>
          </a:prstGeom>
          <a:gradFill>
            <a:gsLst>
              <a:gs pos="0">
                <a:schemeClr val="accent5"/>
              </a:gs>
              <a:gs pos="100000">
                <a:schemeClr val="accent5">
                  <a:lumMod val="60000"/>
                  <a:lumOff val="40000"/>
                </a:schemeClr>
              </a:gs>
            </a:gsLst>
            <a:lin ang="5400000" scaled="0"/>
          </a:gradFill>
          <a:ln>
            <a:noFill/>
          </a:ln>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86" name="燕尾形 185"/>
          <p:cNvSpPr/>
          <p:nvPr/>
        </p:nvSpPr>
        <p:spPr>
          <a:xfrm>
            <a:off x="6620719" y="1343251"/>
            <a:ext cx="5208415" cy="484632"/>
          </a:xfrm>
          <a:prstGeom prst="chevron">
            <a:avLst>
              <a:gd name="adj" fmla="val 26041"/>
            </a:avLst>
          </a:prstGeom>
          <a:gradFill>
            <a:gsLst>
              <a:gs pos="0">
                <a:schemeClr val="accent5"/>
              </a:gs>
              <a:gs pos="100000">
                <a:schemeClr val="accent5">
                  <a:lumMod val="60000"/>
                  <a:lumOff val="40000"/>
                </a:schemeClr>
              </a:gs>
            </a:gsLst>
            <a:lin ang="5400000" scaled="0"/>
          </a:gradFill>
          <a:ln>
            <a:noFill/>
          </a:ln>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87" name="文本框 186"/>
          <p:cNvSpPr txBox="1"/>
          <p:nvPr/>
        </p:nvSpPr>
        <p:spPr>
          <a:xfrm>
            <a:off x="1707383" y="1399222"/>
            <a:ext cx="1107996" cy="369332"/>
          </a:xfrm>
          <a:prstGeom prst="rect">
            <a:avLst/>
          </a:prstGeom>
          <a:noFill/>
        </p:spPr>
        <p:txBody>
          <a:bodyPr wrap="none">
            <a:spAutoFit/>
          </a:bodyPr>
          <a:lstStyle>
            <a:defPPr>
              <a:defRPr lang="en-US"/>
            </a:defPPr>
            <a:lvl1pPr marR="0" lvl="0" indent="0" algn="ctr" defTabSz="914400" fontAlgn="auto">
              <a:lnSpc>
                <a:spcPct val="100000"/>
              </a:lnSpc>
              <a:spcBef>
                <a:spcPts val="0"/>
              </a:spcBef>
              <a:spcAft>
                <a:spcPts val="0"/>
              </a:spcAft>
              <a:buClrTx/>
              <a:buSzTx/>
              <a:buFontTx/>
              <a:buNone/>
              <a:defRPr kumimoji="0" b="1" u="none" strike="noStrike" cap="none" spc="0" normalizeH="0" baseline="0">
                <a:ln>
                  <a:noFill/>
                </a:ln>
                <a:solidFill>
                  <a:srgbClr val="BA3023"/>
                </a:solidFill>
                <a:effectLst/>
                <a:uLnTx/>
                <a:uFillTx/>
                <a:latin typeface="思源宋体 CN" panose="02020400000000000000" pitchFamily="18" charset="-128"/>
                <a:ea typeface="思源宋体 CN" panose="02020400000000000000" pitchFamily="18" charset="-128"/>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提出问题</a:t>
            </a:r>
            <a:endParaRPr kumimoji="0"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88" name="文本框 187"/>
          <p:cNvSpPr txBox="1"/>
          <p:nvPr/>
        </p:nvSpPr>
        <p:spPr>
          <a:xfrm>
            <a:off x="4419969" y="1399222"/>
            <a:ext cx="1107996" cy="369332"/>
          </a:xfrm>
          <a:prstGeom prst="rect">
            <a:avLst/>
          </a:prstGeom>
          <a:noFill/>
        </p:spPr>
        <p:txBody>
          <a:bodyPr wrap="none">
            <a:spAutoFit/>
          </a:bodyPr>
          <a:lstStyle>
            <a:defPPr>
              <a:defRPr lang="en-US"/>
            </a:defPPr>
            <a:lvl1pPr marR="0" lvl="0" indent="0" algn="ctr" defTabSz="914400" fontAlgn="auto">
              <a:lnSpc>
                <a:spcPct val="100000"/>
              </a:lnSpc>
              <a:spcBef>
                <a:spcPts val="0"/>
              </a:spcBef>
              <a:spcAft>
                <a:spcPts val="0"/>
              </a:spcAft>
              <a:buClrTx/>
              <a:buSzTx/>
              <a:buFontTx/>
              <a:buNone/>
              <a:defRPr kumimoji="0" b="1" u="none" strike="noStrike" cap="none" spc="0" normalizeH="0" baseline="0">
                <a:ln>
                  <a:noFill/>
                </a:ln>
                <a:solidFill>
                  <a:srgbClr val="BA3023"/>
                </a:solidFill>
                <a:effectLst/>
                <a:uLnTx/>
                <a:uFillTx/>
                <a:latin typeface="思源宋体 CN" panose="02020400000000000000" pitchFamily="18" charset="-128"/>
                <a:ea typeface="思源宋体 CN" panose="02020400000000000000" pitchFamily="18" charset="-128"/>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分析问题</a:t>
            </a:r>
            <a:endParaRPr kumimoji="0"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89" name="文本框 188"/>
          <p:cNvSpPr txBox="1"/>
          <p:nvPr/>
        </p:nvSpPr>
        <p:spPr>
          <a:xfrm>
            <a:off x="8509297" y="1399222"/>
            <a:ext cx="1107996" cy="369332"/>
          </a:xfrm>
          <a:prstGeom prst="rect">
            <a:avLst/>
          </a:prstGeom>
          <a:noFill/>
        </p:spPr>
        <p:txBody>
          <a:bodyPr wrap="none">
            <a:spAutoFit/>
          </a:bodyPr>
          <a:lstStyle>
            <a:defPPr>
              <a:defRPr lang="en-US"/>
            </a:defPPr>
            <a:lvl1pPr marR="0" lvl="0" indent="0" algn="ctr" defTabSz="914400" fontAlgn="auto">
              <a:lnSpc>
                <a:spcPct val="100000"/>
              </a:lnSpc>
              <a:spcBef>
                <a:spcPts val="0"/>
              </a:spcBef>
              <a:spcAft>
                <a:spcPts val="0"/>
              </a:spcAft>
              <a:buClrTx/>
              <a:buSzTx/>
              <a:buFontTx/>
              <a:buNone/>
              <a:defRPr kumimoji="0" b="1" u="none" strike="noStrike" cap="none" spc="0" normalizeH="0" baseline="0">
                <a:ln>
                  <a:noFill/>
                </a:ln>
                <a:solidFill>
                  <a:srgbClr val="BA3023"/>
                </a:solidFill>
                <a:effectLst/>
                <a:uLnTx/>
                <a:uFillTx/>
                <a:latin typeface="思源宋体 CN" panose="02020400000000000000" pitchFamily="18" charset="-128"/>
                <a:ea typeface="思源宋体 CN" panose="02020400000000000000" pitchFamily="18" charset="-128"/>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rPr>
              <a:t>解决问题</a:t>
            </a:r>
            <a:endParaRPr kumimoji="0"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190" name="文本框 189"/>
          <p:cNvSpPr txBox="1"/>
          <p:nvPr/>
        </p:nvSpPr>
        <p:spPr>
          <a:xfrm>
            <a:off x="378460" y="2691130"/>
            <a:ext cx="367030" cy="1531620"/>
          </a:xfrm>
          <a:prstGeom prst="rect">
            <a:avLst/>
          </a:prstGeom>
        </p:spPr>
        <p:txBody>
          <a:bodyPr vert="eaVert" wrap="square" rtlCol="0">
            <a:spAutoFit/>
            <a:extLst>
              <a:ext uri="{4A0BC546-FE56-4ADE-93B0-CB8AF2F6F144}">
                <wpsdc:textFrameExt xmlns:wpsdc="http://www.wps.cn/officeDocument/2022/drawingmlCustomData" type="text"/>
              </a:ext>
            </a:extLst>
          </a:bodyPr>
          <a:lstStyle/>
          <a:p>
            <a:pPr lvl="0" algn="ctr">
              <a:buClrTx/>
              <a:buSzTx/>
              <a:buFontTx/>
            </a:pPr>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研究主要内容框架</a:t>
            </a:r>
            <a:endPar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91" name="文本框 190"/>
          <p:cNvSpPr txBox="1"/>
          <p:nvPr/>
        </p:nvSpPr>
        <p:spPr>
          <a:xfrm>
            <a:off x="380747" y="5276808"/>
            <a:ext cx="367030" cy="861774"/>
          </a:xfrm>
          <a:prstGeom prst="rect">
            <a:avLst/>
          </a:prstGeom>
        </p:spPr>
        <p:txBody>
          <a:bodyPr vert="eaVert" wrap="square" rtlCol="0">
            <a:spAutoFit/>
            <a:extLst>
              <a:ext uri="{4A0BC546-FE56-4ADE-93B0-CB8AF2F6F144}">
                <wpsdc:textFrameExt xmlns:wpsdc="http://www.wps.cn/officeDocument/2022/drawingmlCustomData" type="text"/>
              </a:ext>
            </a:extLst>
          </a:bodyPr>
          <a:lstStyle/>
          <a:p>
            <a:pPr lvl="0" algn="ctr">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sym typeface="+mn-ea"/>
              </a:rPr>
              <a:t>研究方法</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93" name="矩形 192"/>
          <p:cNvSpPr/>
          <p:nvPr/>
        </p:nvSpPr>
        <p:spPr>
          <a:xfrm>
            <a:off x="3692797" y="5390866"/>
            <a:ext cx="2777127" cy="930137"/>
          </a:xfrm>
          <a:prstGeom prst="rect">
            <a:avLst/>
          </a:prstGeom>
          <a:solidFill>
            <a:srgbClr val="FFFFFF"/>
          </a:solidFill>
          <a:ln w="15875">
            <a:noFill/>
            <a:prstDash val="dash"/>
          </a:ln>
          <a:effectLst>
            <a:outerShdw blurRad="127000" sx="102000" sy="102000" algn="ctr" rotWithShape="0">
              <a:srgbClr val="1E334D">
                <a:alpha val="5000"/>
              </a:srgbClr>
            </a:outerShdw>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algn="ct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4" name="矩形 193"/>
          <p:cNvSpPr/>
          <p:nvPr/>
        </p:nvSpPr>
        <p:spPr>
          <a:xfrm>
            <a:off x="3692797" y="5188261"/>
            <a:ext cx="2777127" cy="316089"/>
          </a:xfrm>
          <a:prstGeom prst="rect">
            <a:avLst/>
          </a:prstGeom>
          <a:gradFill>
            <a:gsLst>
              <a:gs pos="0">
                <a:schemeClr val="accent1"/>
              </a:gs>
              <a:gs pos="100000">
                <a:schemeClr val="accent1">
                  <a:lumMod val="60000"/>
                  <a:lumOff val="40000"/>
                </a:schemeClr>
              </a:gs>
            </a:gsLst>
            <a:lin ang="5400000" scaled="0"/>
          </a:gradFill>
          <a:ln>
            <a:noFill/>
          </a:ln>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95" name="矩形 194"/>
          <p:cNvSpPr/>
          <p:nvPr/>
        </p:nvSpPr>
        <p:spPr>
          <a:xfrm>
            <a:off x="6695067" y="5390866"/>
            <a:ext cx="2375085" cy="930137"/>
          </a:xfrm>
          <a:prstGeom prst="rect">
            <a:avLst/>
          </a:prstGeom>
          <a:solidFill>
            <a:srgbClr val="FFFFFF"/>
          </a:solidFill>
          <a:ln w="15875">
            <a:noFill/>
            <a:prstDash val="dash"/>
          </a:ln>
          <a:effectLst>
            <a:outerShdw blurRad="127000" sx="102000" sy="102000" algn="ctr" rotWithShape="0">
              <a:srgbClr val="1E334D">
                <a:alpha val="5000"/>
              </a:srgbClr>
            </a:outerShdw>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algn="ct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6" name="矩形 195"/>
          <p:cNvSpPr/>
          <p:nvPr/>
        </p:nvSpPr>
        <p:spPr>
          <a:xfrm>
            <a:off x="6695067" y="5188261"/>
            <a:ext cx="2375085" cy="316089"/>
          </a:xfrm>
          <a:prstGeom prst="rect">
            <a:avLst/>
          </a:prstGeom>
          <a:gradFill>
            <a:gsLst>
              <a:gs pos="0">
                <a:schemeClr val="accent1"/>
              </a:gs>
              <a:gs pos="100000">
                <a:schemeClr val="accent1">
                  <a:lumMod val="60000"/>
                  <a:lumOff val="40000"/>
                </a:schemeClr>
              </a:gs>
            </a:gsLst>
            <a:lin ang="5400000" scaled="0"/>
          </a:gradFill>
          <a:ln>
            <a:noFill/>
          </a:ln>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97" name="矩形 196"/>
          <p:cNvSpPr/>
          <p:nvPr/>
        </p:nvSpPr>
        <p:spPr>
          <a:xfrm>
            <a:off x="9295296" y="5390866"/>
            <a:ext cx="2375085" cy="930137"/>
          </a:xfrm>
          <a:prstGeom prst="rect">
            <a:avLst/>
          </a:prstGeom>
          <a:solidFill>
            <a:srgbClr val="FFFFFF"/>
          </a:solidFill>
          <a:ln w="15875">
            <a:noFill/>
            <a:prstDash val="dash"/>
          </a:ln>
          <a:effectLst>
            <a:outerShdw blurRad="127000" sx="102000" sy="102000" algn="ctr" rotWithShape="0">
              <a:srgbClr val="1E334D">
                <a:alpha val="5000"/>
              </a:srgbClr>
            </a:outerShdw>
          </a:effectLst>
        </p:spPr>
        <p:style>
          <a:lnRef idx="2">
            <a:srgbClr val="BA3023">
              <a:shade val="50000"/>
            </a:srgbClr>
          </a:lnRef>
          <a:fillRef idx="1">
            <a:srgbClr val="BA3023"/>
          </a:fillRef>
          <a:effectRef idx="0">
            <a:srgbClr val="BA3023"/>
          </a:effectRef>
          <a:fontRef idx="minor">
            <a:srgbClr val="FFFFFF"/>
          </a:fontRef>
        </p:style>
        <p:txBody>
          <a:bodyPr rtlCol="0" anchor="ctr"/>
          <a:lstStyle/>
          <a:p>
            <a:pPr algn="ct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8" name="矩形 197"/>
          <p:cNvSpPr/>
          <p:nvPr/>
        </p:nvSpPr>
        <p:spPr>
          <a:xfrm>
            <a:off x="9295296" y="5188261"/>
            <a:ext cx="2375085" cy="316089"/>
          </a:xfrm>
          <a:prstGeom prst="rect">
            <a:avLst/>
          </a:prstGeom>
          <a:gradFill>
            <a:gsLst>
              <a:gs pos="0">
                <a:schemeClr val="accent1"/>
              </a:gs>
              <a:gs pos="100000">
                <a:schemeClr val="accent1">
                  <a:lumMod val="60000"/>
                  <a:lumOff val="40000"/>
                </a:schemeClr>
              </a:gs>
            </a:gsLst>
            <a:lin ang="5400000" scaled="0"/>
          </a:gradFill>
          <a:ln>
            <a:noFill/>
          </a:ln>
          <a:effectLst/>
        </p:spPr>
        <p:style>
          <a:lnRef idx="2">
            <a:srgbClr val="BA3023">
              <a:shade val="50000"/>
            </a:srgbClr>
          </a:lnRef>
          <a:fillRef idx="1">
            <a:srgbClr val="BA3023"/>
          </a:fillRef>
          <a:effectRef idx="0">
            <a:srgbClr val="BA3023"/>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99" name="文本框 198"/>
          <p:cNvSpPr txBox="1"/>
          <p:nvPr/>
        </p:nvSpPr>
        <p:spPr>
          <a:xfrm>
            <a:off x="1863528" y="5191891"/>
            <a:ext cx="800220"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整体统筹</a:t>
            </a:r>
            <a:endParaRPr kumimoji="0" lang="zh-CN" altLang="en-US" sz="12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0" name="文本框 199"/>
          <p:cNvSpPr txBox="1"/>
          <p:nvPr/>
        </p:nvSpPr>
        <p:spPr>
          <a:xfrm>
            <a:off x="4681250" y="5191891"/>
            <a:ext cx="800220"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理念先导</a:t>
            </a:r>
            <a:endParaRPr kumimoji="0" lang="zh-CN" altLang="en-US" sz="12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1" name="文本框 200"/>
          <p:cNvSpPr txBox="1"/>
          <p:nvPr/>
        </p:nvSpPr>
        <p:spPr>
          <a:xfrm>
            <a:off x="7482499" y="5191891"/>
            <a:ext cx="800220"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方法科学</a:t>
            </a:r>
            <a:endParaRPr kumimoji="0" lang="zh-CN" altLang="en-US" sz="12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2" name="文本框 201"/>
          <p:cNvSpPr txBox="1"/>
          <p:nvPr/>
        </p:nvSpPr>
        <p:spPr>
          <a:xfrm>
            <a:off x="10082728" y="5191891"/>
            <a:ext cx="800220"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价值多元</a:t>
            </a:r>
            <a:endParaRPr kumimoji="0" lang="zh-CN" altLang="en-US" sz="12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3" name="文本框 202"/>
          <p:cNvSpPr txBox="1"/>
          <p:nvPr/>
        </p:nvSpPr>
        <p:spPr>
          <a:xfrm>
            <a:off x="1296893" y="5569483"/>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理论研究与实践验证结合</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4" name="文本框 203"/>
          <p:cNvSpPr txBox="1"/>
          <p:nvPr/>
        </p:nvSpPr>
        <p:spPr>
          <a:xfrm>
            <a:off x="1296893" y="5781518"/>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理论研究</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5" name="文本框 204"/>
          <p:cNvSpPr txBox="1"/>
          <p:nvPr/>
        </p:nvSpPr>
        <p:spPr>
          <a:xfrm>
            <a:off x="1296893" y="5993553"/>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与实践验证结合</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6" name="文本框 205"/>
          <p:cNvSpPr txBox="1"/>
          <p:nvPr/>
        </p:nvSpPr>
        <p:spPr>
          <a:xfrm>
            <a:off x="4085238" y="5569483"/>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目标导向与问题导向结合</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7" name="文本框 206"/>
          <p:cNvSpPr txBox="1"/>
          <p:nvPr/>
        </p:nvSpPr>
        <p:spPr>
          <a:xfrm>
            <a:off x="4085238" y="5781518"/>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目标导向</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8" name="文本框 207"/>
          <p:cNvSpPr txBox="1"/>
          <p:nvPr/>
        </p:nvSpPr>
        <p:spPr>
          <a:xfrm>
            <a:off x="4085238" y="5993553"/>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与问题导向结合</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9" name="文本框 208"/>
          <p:cNvSpPr txBox="1"/>
          <p:nvPr/>
        </p:nvSpPr>
        <p:spPr>
          <a:xfrm>
            <a:off x="6929110" y="5569483"/>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类型研究与比较研究结合</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0" name="文本框 209"/>
          <p:cNvSpPr txBox="1"/>
          <p:nvPr/>
        </p:nvSpPr>
        <p:spPr>
          <a:xfrm>
            <a:off x="6929110" y="5781518"/>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层次分析与归纳演绎结合</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1" name="文本框 210"/>
          <p:cNvSpPr txBox="1"/>
          <p:nvPr/>
        </p:nvSpPr>
        <p:spPr>
          <a:xfrm>
            <a:off x="6929110" y="5993553"/>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定性研究与定量赋值结合</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2" name="文本框 211"/>
          <p:cNvSpPr txBox="1"/>
          <p:nvPr/>
        </p:nvSpPr>
        <p:spPr>
          <a:xfrm>
            <a:off x="9522652" y="5569483"/>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专业领衔与公众参与结合</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3" name="文本框 212"/>
          <p:cNvSpPr txBox="1"/>
          <p:nvPr/>
        </p:nvSpPr>
        <p:spPr>
          <a:xfrm>
            <a:off x="9522652" y="5781518"/>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专业领衔</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4" name="文本框 213"/>
          <p:cNvSpPr txBox="1"/>
          <p:nvPr/>
        </p:nvSpPr>
        <p:spPr>
          <a:xfrm>
            <a:off x="9522652" y="5993553"/>
            <a:ext cx="1928976"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公众参与结合</a:t>
            </a:r>
            <a:endParaRPr kumimoji="0" lang="zh-CN" altLang="en-US" sz="11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15" name="直线箭头连接符 120"/>
          <p:cNvCxnSpPr/>
          <p:nvPr/>
        </p:nvCxnSpPr>
        <p:spPr>
          <a:xfrm>
            <a:off x="8689266" y="3506990"/>
            <a:ext cx="388321" cy="0"/>
          </a:xfrm>
          <a:prstGeom prst="straightConnector1">
            <a:avLst/>
          </a:prstGeom>
          <a:ln w="19050" cap="rnd">
            <a:gradFill>
              <a:gsLst>
                <a:gs pos="0">
                  <a:schemeClr val="accent1">
                    <a:lumMod val="60000"/>
                    <a:lumOff val="40000"/>
                    <a:alpha val="0"/>
                  </a:schemeClr>
                </a:gs>
                <a:gs pos="100000">
                  <a:schemeClr val="accent1">
                    <a:lumMod val="60000"/>
                    <a:lumOff val="40000"/>
                  </a:schemeClr>
                </a:gs>
              </a:gsLst>
              <a:lin ang="0" scaled="0"/>
            </a:gradFill>
            <a:round/>
            <a:tailEnd type="arrow"/>
          </a:ln>
        </p:spPr>
        <p:style>
          <a:lnRef idx="1">
            <a:srgbClr val="BA3023"/>
          </a:lnRef>
          <a:fillRef idx="0">
            <a:srgbClr val="BA3023"/>
          </a:fillRef>
          <a:effectRef idx="0">
            <a:srgbClr val="BA3023"/>
          </a:effectRef>
          <a:fontRef idx="minor">
            <a:srgbClr val="1E334D"/>
          </a:fontRef>
        </p:style>
      </p:cxnSp>
      <p:cxnSp>
        <p:nvCxnSpPr>
          <p:cNvPr id="216" name="直接箭头连接符 211"/>
          <p:cNvCxnSpPr/>
          <p:nvPr/>
        </p:nvCxnSpPr>
        <p:spPr>
          <a:xfrm flipV="1">
            <a:off x="10006085" y="3007765"/>
            <a:ext cx="0" cy="198120"/>
          </a:xfrm>
          <a:prstGeom prst="straightConnector1">
            <a:avLst/>
          </a:prstGeom>
          <a:ln w="19050" cap="rnd">
            <a:gradFill>
              <a:gsLst>
                <a:gs pos="0">
                  <a:schemeClr val="accent1">
                    <a:lumMod val="60000"/>
                    <a:lumOff val="40000"/>
                    <a:alpha val="0"/>
                  </a:schemeClr>
                </a:gs>
                <a:gs pos="100000">
                  <a:schemeClr val="accent1">
                    <a:lumMod val="60000"/>
                    <a:lumOff val="40000"/>
                  </a:schemeClr>
                </a:gs>
              </a:gsLst>
              <a:lin ang="5400000" scaled="0"/>
            </a:gradFill>
            <a:round/>
            <a:tailEnd type="arrow"/>
          </a:ln>
        </p:spPr>
        <p:style>
          <a:lnRef idx="1">
            <a:srgbClr val="BA3023"/>
          </a:lnRef>
          <a:fillRef idx="0">
            <a:srgbClr val="BA3023"/>
          </a:fillRef>
          <a:effectRef idx="0">
            <a:srgbClr val="BA3023"/>
          </a:effectRef>
          <a:fontRef idx="minor">
            <a:srgbClr val="1E334D"/>
          </a:fontRef>
        </p:style>
      </p:cxnSp>
      <p:sp>
        <p:nvSpPr>
          <p:cNvPr id="217" name="文本框 216"/>
          <p:cNvSpPr txBox="1"/>
          <p:nvPr/>
        </p:nvSpPr>
        <p:spPr>
          <a:xfrm>
            <a:off x="4615035" y="3094427"/>
            <a:ext cx="490220" cy="726440"/>
          </a:xfrm>
          <a:prstGeom prst="rect">
            <a:avLst/>
          </a:prstGeom>
          <a:noFill/>
        </p:spPr>
        <p:txBody>
          <a:bodyPr vert="eaVert" wrap="none" rtlCol="0">
            <a:spAutoFit/>
          </a:bodyPr>
          <a:lstStyle>
            <a:defPPr>
              <a:defRPr lang="en-US"/>
            </a:defPPr>
            <a:lvl1pPr marR="0" lvl="0" indent="0" fontAlgn="auto">
              <a:lnSpc>
                <a:spcPct val="100000"/>
              </a:lnSpc>
              <a:spcBef>
                <a:spcPts val="0"/>
              </a:spcBef>
              <a:spcAft>
                <a:spcPts val="0"/>
              </a:spcAft>
              <a:buClrTx/>
              <a:buSzTx/>
              <a:buFontTx/>
              <a:buNone/>
              <a:defRPr kumimoji="1" sz="1200" b="1" i="0" u="none" strike="noStrike" normalizeH="0" baseline="0">
                <a:solidFill>
                  <a:srgbClr val="FFFFFF">
                    <a:lumMod val="65000"/>
                  </a:srgbClr>
                </a:solidFill>
                <a:uLnTx/>
                <a:uFillTx/>
                <a:latin typeface="思源黑体 CN Bold" panose="020B0800000000000000" pitchFamily="34" charset="-128"/>
                <a:ea typeface="思源黑体 CN Bold" panose="020B0800000000000000" pitchFamily="34" charset="-128"/>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典型功能区</a:t>
            </a:r>
            <a:endParaRPr kumimoji="1"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侧重点分析</a:t>
            </a:r>
            <a:endParaRPr kumimoji="1" lang="zh-CN" altLang="en-US"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nvSpPr>
        <p:spPr>
          <a:xfrm>
            <a:off x="378460" y="1235075"/>
            <a:ext cx="367030" cy="757555"/>
          </a:xfrm>
          <a:prstGeom prst="rect">
            <a:avLst/>
          </a:prstGeom>
        </p:spPr>
        <p:txBody>
          <a:bodyPr vert="eaVert" wrap="square">
            <a:spAutoFit/>
            <a:extLst>
              <a:ext uri="{4A0BC546-FE56-4ADE-93B0-CB8AF2F6F144}">
                <wpsdc:textFrameExt xmlns:wpsdc="http://www.wps.cn/officeDocument/2022/drawingmlCustomData" type="text"/>
              </a:ext>
            </a:extLst>
          </a:bodyPr>
          <a:p>
            <a:pPr algn="l"/>
            <a:r>
              <a:rPr lang="zh-CN" altLang="en-US"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逻辑思路</a:t>
            </a:r>
            <a:endParaRPr lang="zh-CN" altLang="en-US"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系统业务流</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a:t>
            </a:r>
            <a:r>
              <a:rPr sz="2500">
                <a:solidFill>
                  <a:schemeClr val="tx2"/>
                </a:solidFill>
                <a:effectLst/>
                <a:latin typeface="微软雅黑" panose="020B0503020204020204" charset="-122"/>
                <a:ea typeface="微软雅黑" panose="020B0503020204020204" charset="-122"/>
                <a:cs typeface="微软雅黑" panose="020B0503020204020204" charset="-122"/>
              </a:rPr>
              <a:t>数据流原理</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任意多边形: 形状 943"/>
          <p:cNvSpPr/>
          <p:nvPr/>
        </p:nvSpPr>
        <p:spPr>
          <a:xfrm>
            <a:off x="3686810" y="3947795"/>
            <a:ext cx="4556760" cy="2271395"/>
          </a:xfrm>
          <a:custGeom>
            <a:avLst/>
            <a:gdLst>
              <a:gd name="connsiteX0" fmla="*/ 38561 w 4648200"/>
              <a:gd name="connsiteY0" fmla="*/ 0 h 2247900"/>
              <a:gd name="connsiteX1" fmla="*/ 4648200 w 4648200"/>
              <a:gd name="connsiteY1" fmla="*/ 0 h 2247900"/>
              <a:gd name="connsiteX2" fmla="*/ 4648200 w 4648200"/>
              <a:gd name="connsiteY2" fmla="*/ 2247900 h 2247900"/>
              <a:gd name="connsiteX3" fmla="*/ 0 w 4648200"/>
              <a:gd name="connsiteY3" fmla="*/ 2247900 h 2247900"/>
              <a:gd name="connsiteX4" fmla="*/ 0 w 4648200"/>
              <a:gd name="connsiteY4" fmla="*/ 2231419 h 2247900"/>
              <a:gd name="connsiteX5" fmla="*/ 10101 w 4648200"/>
              <a:gd name="connsiteY5" fmla="*/ 2231419 h 2247900"/>
              <a:gd name="connsiteX6" fmla="*/ 144234 w 4648200"/>
              <a:gd name="connsiteY6" fmla="*/ 1102707 h 2247900"/>
              <a:gd name="connsiteX7" fmla="*/ 49998 w 4648200"/>
              <a:gd name="connsiteY7" fmla="*/ 24747 h 224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48200" h="2247900">
                <a:moveTo>
                  <a:pt x="38561" y="0"/>
                </a:moveTo>
                <a:lnTo>
                  <a:pt x="4648200" y="0"/>
                </a:lnTo>
                <a:lnTo>
                  <a:pt x="4648200" y="2247900"/>
                </a:lnTo>
                <a:lnTo>
                  <a:pt x="0" y="2247900"/>
                </a:lnTo>
                <a:lnTo>
                  <a:pt x="0" y="2231419"/>
                </a:lnTo>
                <a:lnTo>
                  <a:pt x="10101" y="2231419"/>
                </a:lnTo>
                <a:cubicBezTo>
                  <a:pt x="84208" y="2231419"/>
                  <a:pt x="144234" y="1725982"/>
                  <a:pt x="144234" y="1102707"/>
                </a:cubicBezTo>
                <a:cubicBezTo>
                  <a:pt x="144234" y="596296"/>
                  <a:pt x="104608" y="167676"/>
                  <a:pt x="49998" y="24747"/>
                </a:cubicBezTo>
                <a:close/>
              </a:path>
            </a:pathLst>
          </a:custGeom>
          <a:solidFill>
            <a:schemeClr val="accent1">
              <a:lumMod val="20000"/>
              <a:lumOff val="80000"/>
              <a:alpha val="30000"/>
            </a:schemeClr>
          </a:solidFill>
          <a:ln w="11430">
            <a:gradFill flip="none" rotWithShape="1">
              <a:gsLst>
                <a:gs pos="0">
                  <a:schemeClr val="accent1">
                    <a:lumMod val="60000"/>
                    <a:lumOff val="40000"/>
                    <a:alpha val="0"/>
                  </a:schemeClr>
                </a:gs>
                <a:gs pos="100000">
                  <a:schemeClr val="accent1">
                    <a:lumMod val="60000"/>
                    <a:lumOff val="40000"/>
                  </a:schemeClr>
                </a:gs>
              </a:gsLst>
              <a:lin ang="0" scaled="1"/>
              <a:tileRect/>
            </a:grad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7" name="不完整圆 235"/>
          <p:cNvSpPr/>
          <p:nvPr/>
        </p:nvSpPr>
        <p:spPr>
          <a:xfrm rot="5400000">
            <a:off x="3163985" y="4934782"/>
            <a:ext cx="2051616" cy="244267"/>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flip="none" rotWithShape="1">
            <a:gsLst>
              <a:gs pos="57000">
                <a:schemeClr val="accent1">
                  <a:lumMod val="60000"/>
                  <a:lumOff val="40000"/>
                  <a:alpha val="0"/>
                </a:schemeClr>
              </a:gs>
              <a:gs pos="100000">
                <a:schemeClr val="accent1">
                  <a:lumMod val="60000"/>
                  <a:lumOff val="40000"/>
                </a:schemeClr>
              </a:gs>
            </a:gsLst>
            <a:path path="circle">
              <a:fillToRect l="50000" t="50000" r="50000" b="50000"/>
            </a:path>
            <a:tileRect/>
          </a:gradFill>
          <a:ln w="11684">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a:effectLst/>
        </p:spPr>
        <p:style>
          <a:lnRef idx="2">
            <a:srgbClr val="24396B">
              <a:shade val="50000"/>
            </a:srgbClr>
          </a:lnRef>
          <a:fillRef idx="1">
            <a:srgbClr val="24396B"/>
          </a:fillRef>
          <a:effectRef idx="0">
            <a:srgbClr val="24396B"/>
          </a:effectRef>
          <a:fontRef idx="minor">
            <a:srgbClr val="FFFFFF"/>
          </a:fontRef>
        </p:style>
        <p:txBody>
          <a:bodyPr lIns="84125" tIns="42062" rIns="84125" bIns="42062" rtlCol="0" anchor="ctr"/>
          <a:lstStyle/>
          <a:p>
            <a:pPr algn="ctr"/>
            <a:endParaRPr lang="zh-CN" altLang="en-US" sz="1655"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8" name="任意多边形: 形状 942"/>
          <p:cNvSpPr/>
          <p:nvPr/>
        </p:nvSpPr>
        <p:spPr>
          <a:xfrm>
            <a:off x="3687039" y="1551276"/>
            <a:ext cx="4562881" cy="2247900"/>
          </a:xfrm>
          <a:custGeom>
            <a:avLst/>
            <a:gdLst>
              <a:gd name="connsiteX0" fmla="*/ 38561 w 4648200"/>
              <a:gd name="connsiteY0" fmla="*/ 0 h 2247900"/>
              <a:gd name="connsiteX1" fmla="*/ 4648200 w 4648200"/>
              <a:gd name="connsiteY1" fmla="*/ 0 h 2247900"/>
              <a:gd name="connsiteX2" fmla="*/ 4648200 w 4648200"/>
              <a:gd name="connsiteY2" fmla="*/ 2247900 h 2247900"/>
              <a:gd name="connsiteX3" fmla="*/ 0 w 4648200"/>
              <a:gd name="connsiteY3" fmla="*/ 2247900 h 2247900"/>
              <a:gd name="connsiteX4" fmla="*/ 0 w 4648200"/>
              <a:gd name="connsiteY4" fmla="*/ 2231419 h 2247900"/>
              <a:gd name="connsiteX5" fmla="*/ 10101 w 4648200"/>
              <a:gd name="connsiteY5" fmla="*/ 2231419 h 2247900"/>
              <a:gd name="connsiteX6" fmla="*/ 144234 w 4648200"/>
              <a:gd name="connsiteY6" fmla="*/ 1102707 h 2247900"/>
              <a:gd name="connsiteX7" fmla="*/ 49998 w 4648200"/>
              <a:gd name="connsiteY7" fmla="*/ 24747 h 224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48200" h="2247900">
                <a:moveTo>
                  <a:pt x="38561" y="0"/>
                </a:moveTo>
                <a:lnTo>
                  <a:pt x="4648200" y="0"/>
                </a:lnTo>
                <a:lnTo>
                  <a:pt x="4648200" y="2247900"/>
                </a:lnTo>
                <a:lnTo>
                  <a:pt x="0" y="2247900"/>
                </a:lnTo>
                <a:lnTo>
                  <a:pt x="0" y="2231419"/>
                </a:lnTo>
                <a:lnTo>
                  <a:pt x="10101" y="2231419"/>
                </a:lnTo>
                <a:cubicBezTo>
                  <a:pt x="84208" y="2231419"/>
                  <a:pt x="144234" y="1725982"/>
                  <a:pt x="144234" y="1102707"/>
                </a:cubicBezTo>
                <a:cubicBezTo>
                  <a:pt x="144234" y="596296"/>
                  <a:pt x="104608" y="167676"/>
                  <a:pt x="49998" y="24747"/>
                </a:cubicBezTo>
                <a:close/>
              </a:path>
            </a:pathLst>
          </a:custGeom>
          <a:solidFill>
            <a:schemeClr val="accent1">
              <a:lumMod val="20000"/>
              <a:lumOff val="80000"/>
              <a:alpha val="30000"/>
            </a:schemeClr>
          </a:solidFill>
          <a:ln w="11430">
            <a:gradFill flip="none" rotWithShape="1">
              <a:gsLst>
                <a:gs pos="0">
                  <a:schemeClr val="accent1">
                    <a:lumMod val="60000"/>
                    <a:lumOff val="40000"/>
                    <a:alpha val="0"/>
                  </a:schemeClr>
                </a:gs>
                <a:gs pos="100000">
                  <a:schemeClr val="accent1">
                    <a:lumMod val="60000"/>
                    <a:lumOff val="40000"/>
                  </a:schemeClr>
                </a:gs>
              </a:gsLst>
              <a:lin ang="0" scaled="1"/>
              <a:tileRect/>
            </a:gradFill>
            <a:prstDash val="dash"/>
          </a:ln>
          <a:effectLst/>
        </p:spPr>
        <p:style>
          <a:lnRef idx="2">
            <a:srgbClr val="24396B">
              <a:shade val="50000"/>
            </a:srgbClr>
          </a:lnRef>
          <a:fillRef idx="1">
            <a:srgbClr val="24396B"/>
          </a:fillRef>
          <a:effectRef idx="0">
            <a:srgbClr val="24396B"/>
          </a:effectRef>
          <a:fontRef idx="minor">
            <a:srgbClr val="FFFFFF"/>
          </a:fontRef>
        </p:style>
        <p:txBody>
          <a:bodyPr wrap="square" rtlCol="0" anchor="ctr">
            <a:noAutofit/>
          </a:bodyPr>
          <a:lstStyle/>
          <a:p>
            <a:pPr algn="ctr"/>
            <a:endParaRPr lang="zh-CN" altLang="en-US"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1" name="梯形 10"/>
          <p:cNvSpPr/>
          <p:nvPr/>
        </p:nvSpPr>
        <p:spPr>
          <a:xfrm rot="16200000" flipH="1" flipV="1">
            <a:off x="386715" y="3552825"/>
            <a:ext cx="4907280" cy="426085"/>
          </a:xfrm>
          <a:prstGeom prst="trapezoid">
            <a:avLst>
              <a:gd name="adj" fmla="val 119447"/>
            </a:avLst>
          </a:prstGeom>
          <a:gradFill>
            <a:gsLst>
              <a:gs pos="0">
                <a:schemeClr val="accent1">
                  <a:lumMod val="20000"/>
                  <a:lumOff val="80000"/>
                  <a:alpha val="0"/>
                </a:schemeClr>
              </a:gs>
              <a:gs pos="100000">
                <a:schemeClr val="accent1">
                  <a:lumMod val="20000"/>
                  <a:lumOff val="80000"/>
                  <a:alpha val="40000"/>
                </a:schemeClr>
              </a:gs>
            </a:gsLst>
            <a:lin ang="5400000" scaled="0"/>
          </a:gradFill>
          <a:ln w="12700">
            <a:gradFill>
              <a:gsLst>
                <a:gs pos="0">
                  <a:schemeClr val="accent1">
                    <a:lumMod val="60000"/>
                    <a:lumOff val="40000"/>
                  </a:schemeClr>
                </a:gs>
                <a:gs pos="100000">
                  <a:schemeClr val="accent1">
                    <a:lumMod val="60000"/>
                    <a:lumOff val="40000"/>
                    <a:alpha val="0"/>
                  </a:schemeClr>
                </a:gs>
              </a:gsLst>
              <a:lin ang="16200000" scaled="1"/>
            </a:gradFill>
          </a:ln>
          <a:effectLst>
            <a:outerShdw blurRad="411480" dist="123444" dir="5400000" sx="108000" sy="108000" algn="ctr" rotWithShape="0">
              <a:srgbClr val="24396B">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2" name="矩形 11"/>
          <p:cNvSpPr/>
          <p:nvPr/>
        </p:nvSpPr>
        <p:spPr>
          <a:xfrm rot="16200000" flipH="1" flipV="1">
            <a:off x="105633" y="3722629"/>
            <a:ext cx="4954328" cy="88498"/>
          </a:xfrm>
          <a:prstGeom prst="rect">
            <a:avLst/>
          </a:prstGeom>
          <a:solidFill>
            <a:schemeClr val="accent1">
              <a:lumMod val="60000"/>
              <a:lumOff val="40000"/>
            </a:schemeClr>
          </a:solidFill>
          <a:ln>
            <a:noFill/>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3" name="梯形 12"/>
          <p:cNvSpPr/>
          <p:nvPr/>
        </p:nvSpPr>
        <p:spPr>
          <a:xfrm rot="5400000" flipV="1">
            <a:off x="7569835" y="3559175"/>
            <a:ext cx="4940300" cy="419100"/>
          </a:xfrm>
          <a:prstGeom prst="trapezoid">
            <a:avLst>
              <a:gd name="adj" fmla="val 119447"/>
            </a:avLst>
          </a:prstGeom>
          <a:gradFill>
            <a:gsLst>
              <a:gs pos="0">
                <a:schemeClr val="accent5">
                  <a:lumMod val="20000"/>
                  <a:lumOff val="80000"/>
                  <a:alpha val="0"/>
                </a:schemeClr>
              </a:gs>
              <a:gs pos="100000">
                <a:schemeClr val="accent5">
                  <a:lumMod val="20000"/>
                  <a:lumOff val="80000"/>
                  <a:alpha val="40000"/>
                </a:schemeClr>
              </a:gs>
            </a:gsLst>
            <a:lin ang="5400000" scaled="0"/>
          </a:gradFill>
          <a:ln w="12700">
            <a:gradFill>
              <a:gsLst>
                <a:gs pos="0">
                  <a:schemeClr val="accent5">
                    <a:lumMod val="60000"/>
                    <a:lumOff val="40000"/>
                  </a:schemeClr>
                </a:gs>
                <a:gs pos="100000">
                  <a:schemeClr val="accent5">
                    <a:lumMod val="60000"/>
                    <a:lumOff val="40000"/>
                    <a:alpha val="0"/>
                  </a:schemeClr>
                </a:gs>
              </a:gsLst>
              <a:lin ang="16200000" scaled="1"/>
            </a:gradFill>
          </a:ln>
          <a:effectLst>
            <a:outerShdw blurRad="411480" dist="123444" dir="5400000" sx="108000" sy="108000" algn="ctr" rotWithShape="0">
              <a:srgbClr val="24396B">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4" name="矩形 13"/>
          <p:cNvSpPr/>
          <p:nvPr/>
        </p:nvSpPr>
        <p:spPr>
          <a:xfrm rot="5400000" flipV="1">
            <a:off x="7814935" y="3722629"/>
            <a:ext cx="4954328" cy="88498"/>
          </a:xfrm>
          <a:prstGeom prst="rect">
            <a:avLst/>
          </a:prstGeom>
          <a:solidFill>
            <a:schemeClr val="accent5"/>
          </a:solidFill>
          <a:ln>
            <a:solidFill>
              <a:schemeClr val="accent5"/>
            </a:solidFill>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8" name="流程图: 磁盘 17"/>
          <p:cNvSpPr/>
          <p:nvPr/>
        </p:nvSpPr>
        <p:spPr>
          <a:xfrm rot="5400000">
            <a:off x="2310174" y="2273284"/>
            <a:ext cx="2257425" cy="804635"/>
          </a:xfrm>
          <a:prstGeom prst="flowChartMagneticDisk">
            <a:avLst/>
          </a:prstGeom>
          <a:gradFill flip="none" rotWithShape="1">
            <a:gsLst>
              <a:gs pos="40000">
                <a:schemeClr val="accent1">
                  <a:lumMod val="60000"/>
                  <a:lumOff val="40000"/>
                  <a:alpha val="0"/>
                </a:schemeClr>
              </a:gs>
              <a:gs pos="100000">
                <a:schemeClr val="accent1">
                  <a:lumMod val="60000"/>
                  <a:lumOff val="40000"/>
                  <a:alpha val="60000"/>
                </a:schemeClr>
              </a:gs>
            </a:gsLst>
            <a:path path="circle">
              <a:fillToRect l="50000" t="50000" r="50000" b="50000"/>
            </a:path>
            <a:tileRect/>
          </a:gradFill>
          <a:ln w="12700">
            <a:solidFill>
              <a:schemeClr val="accent1">
                <a:lumMod val="60000"/>
                <a:lumOff val="4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dirty="0">
              <a:solidFill>
                <a:schemeClr val="accent2"/>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9" name="流程图: 磁盘 18"/>
          <p:cNvSpPr/>
          <p:nvPr/>
        </p:nvSpPr>
        <p:spPr>
          <a:xfrm rot="5400000">
            <a:off x="2310174" y="4673584"/>
            <a:ext cx="2257425" cy="804635"/>
          </a:xfrm>
          <a:prstGeom prst="flowChartMagneticDisk">
            <a:avLst/>
          </a:prstGeom>
          <a:gradFill flip="none" rotWithShape="1">
            <a:gsLst>
              <a:gs pos="40000">
                <a:schemeClr val="accent1">
                  <a:lumMod val="60000"/>
                  <a:lumOff val="40000"/>
                  <a:alpha val="0"/>
                </a:schemeClr>
              </a:gs>
              <a:gs pos="100000">
                <a:schemeClr val="accent1">
                  <a:lumMod val="60000"/>
                  <a:lumOff val="40000"/>
                  <a:alpha val="60000"/>
                </a:schemeClr>
              </a:gs>
            </a:gsLst>
            <a:path path="circle">
              <a:fillToRect l="50000" t="50000" r="50000" b="50000"/>
            </a:path>
            <a:tileRect/>
          </a:gradFill>
          <a:ln w="12700">
            <a:solidFill>
              <a:schemeClr val="accent1">
                <a:lumMod val="60000"/>
                <a:lumOff val="4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accent2"/>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0" name="流程图: 磁盘 19"/>
          <p:cNvSpPr/>
          <p:nvPr/>
        </p:nvSpPr>
        <p:spPr>
          <a:xfrm rot="5400000">
            <a:off x="6508998" y="3539317"/>
            <a:ext cx="4648201" cy="758600"/>
          </a:xfrm>
          <a:prstGeom prst="flowChartMagneticDisk">
            <a:avLst/>
          </a:prstGeom>
          <a:gradFill flip="none" rotWithShape="1">
            <a:gsLst>
              <a:gs pos="40000">
                <a:schemeClr val="accent5">
                  <a:lumMod val="60000"/>
                  <a:lumOff val="40000"/>
                  <a:alpha val="0"/>
                </a:schemeClr>
              </a:gs>
              <a:gs pos="100000">
                <a:schemeClr val="accent5">
                  <a:lumMod val="60000"/>
                  <a:lumOff val="40000"/>
                  <a:alpha val="60000"/>
                </a:schemeClr>
              </a:gs>
            </a:gsLst>
            <a:path path="circle">
              <a:fillToRect l="50000" t="50000" r="50000" b="50000"/>
            </a:path>
            <a:tileRect/>
          </a:gradFill>
          <a:ln w="12700">
            <a:solidFill>
              <a:schemeClr val="accent5">
                <a:lumMod val="60000"/>
                <a:lumOff val="4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1" name="文本框 20"/>
          <p:cNvSpPr txBox="1"/>
          <p:nvPr/>
        </p:nvSpPr>
        <p:spPr>
          <a:xfrm>
            <a:off x="3153073" y="2212640"/>
            <a:ext cx="302985" cy="1076325"/>
          </a:xfrm>
          <a:prstGeom prst="rect">
            <a:avLst/>
          </a:prstGeom>
          <a:noFill/>
        </p:spPr>
        <p:txBody>
          <a:bodyPr wrap="square" rtlCol="0">
            <a:spAutoFit/>
          </a:bodyPr>
          <a:lstStyle/>
          <a:p>
            <a:pPr algn="ctr"/>
            <a:r>
              <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业务</a:t>
            </a:r>
            <a:endParaRPr lang="en-US" altLang="zh-CN"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中台</a:t>
            </a:r>
            <a:endPar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3058344" y="4673357"/>
            <a:ext cx="492443" cy="1076325"/>
          </a:xfrm>
          <a:prstGeom prst="rect">
            <a:avLst/>
          </a:prstGeom>
          <a:noFill/>
        </p:spPr>
        <p:txBody>
          <a:bodyPr wrap="square" rtlCol="0">
            <a:spAutoFit/>
          </a:bodyPr>
          <a:lstStyle/>
          <a:p>
            <a:pPr lvl="0" algn="ctr">
              <a:buClrTx/>
              <a:buSzTx/>
              <a:buFontTx/>
            </a:pPr>
            <a:r>
              <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数据中台</a:t>
            </a:r>
            <a:endParaRPr lang="zh-CN" altLang="en-US" sz="1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8468088" y="3532465"/>
            <a:ext cx="492443" cy="460375"/>
          </a:xfrm>
          <a:prstGeom prst="rect">
            <a:avLst/>
          </a:prstGeom>
          <a:noFill/>
        </p:spPr>
        <p:txBody>
          <a:bodyPr wrap="square" rtlCol="0">
            <a:spAutoFit/>
          </a:bodyPr>
          <a:lstStyle/>
          <a:p>
            <a:pPr algn="l"/>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服务</a:t>
            </a:r>
            <a:endParaRPr lang="en-US" altLang="zh-CN" sz="1200" b="1" dirty="0">
              <a:solidFill>
                <a:schemeClr val="accent5"/>
              </a:solidFill>
              <a:latin typeface="微软雅黑" panose="020B0503020204020204" charset="-122"/>
              <a:ea typeface="微软雅黑" panose="020B0503020204020204" charset="-122"/>
              <a:cs typeface="微软雅黑" panose="020B0503020204020204" charset="-122"/>
            </a:endParaRPr>
          </a:p>
          <a:p>
            <a:pPr algn="l"/>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能力</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8" name="六边形 27"/>
          <p:cNvSpPr/>
          <p:nvPr/>
        </p:nvSpPr>
        <p:spPr>
          <a:xfrm rot="5400000">
            <a:off x="9326709" y="1607261"/>
            <a:ext cx="618889" cy="533525"/>
          </a:xfrm>
          <a:prstGeom prst="hexagon">
            <a:avLst/>
          </a:prstGeom>
          <a:solidFill>
            <a:schemeClr val="accent5">
              <a:lumMod val="60000"/>
              <a:lumOff val="40000"/>
            </a:schemeClr>
          </a:solidFill>
          <a:ln w="38100">
            <a:solidFill>
              <a:schemeClr val="accent5">
                <a:lumMod val="20000"/>
                <a:lumOff val="80000"/>
              </a:schemeClr>
            </a:solid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9424218" y="1676960"/>
            <a:ext cx="441146" cy="400110"/>
          </a:xfrm>
          <a:prstGeom prst="rect">
            <a:avLst/>
          </a:prstGeom>
          <a:noFill/>
        </p:spPr>
        <p:txBody>
          <a:bodyPr wrap="none" rtlCol="0">
            <a:sp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用户</a:t>
            </a:r>
            <a:endParaRPr lang="en-US" altLang="zh-CN" sz="1000" dirty="0">
              <a:solidFill>
                <a:srgbClr val="FFFFFF"/>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服务</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 name="六边形 29"/>
          <p:cNvSpPr/>
          <p:nvPr/>
        </p:nvSpPr>
        <p:spPr>
          <a:xfrm rot="5400000">
            <a:off x="9326709" y="2417521"/>
            <a:ext cx="618889" cy="533525"/>
          </a:xfrm>
          <a:prstGeom prst="hexagon">
            <a:avLst/>
          </a:prstGeom>
          <a:solidFill>
            <a:schemeClr val="accent5">
              <a:lumMod val="60000"/>
              <a:lumOff val="40000"/>
            </a:schemeClr>
          </a:solidFill>
          <a:ln w="38100">
            <a:solidFill>
              <a:schemeClr val="accent5">
                <a:lumMod val="20000"/>
                <a:lumOff val="8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1" name="六边形 30"/>
          <p:cNvSpPr/>
          <p:nvPr/>
        </p:nvSpPr>
        <p:spPr>
          <a:xfrm rot="5400000">
            <a:off x="9326709" y="3227781"/>
            <a:ext cx="618889" cy="533525"/>
          </a:xfrm>
          <a:prstGeom prst="hexagon">
            <a:avLst/>
          </a:prstGeom>
          <a:solidFill>
            <a:schemeClr val="accent5">
              <a:lumMod val="60000"/>
              <a:lumOff val="40000"/>
            </a:schemeClr>
          </a:solidFill>
          <a:ln w="38100">
            <a:solidFill>
              <a:schemeClr val="accent5">
                <a:lumMod val="20000"/>
                <a:lumOff val="8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2" name="六边形 31"/>
          <p:cNvSpPr/>
          <p:nvPr/>
        </p:nvSpPr>
        <p:spPr>
          <a:xfrm rot="5400000">
            <a:off x="9326709" y="4038041"/>
            <a:ext cx="618889" cy="533525"/>
          </a:xfrm>
          <a:prstGeom prst="hexagon">
            <a:avLst/>
          </a:prstGeom>
          <a:solidFill>
            <a:schemeClr val="accent5">
              <a:lumMod val="60000"/>
              <a:lumOff val="40000"/>
            </a:schemeClr>
          </a:solidFill>
          <a:ln w="38100">
            <a:solidFill>
              <a:schemeClr val="accent5">
                <a:lumMod val="20000"/>
                <a:lumOff val="8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7" name="六边形 36"/>
          <p:cNvSpPr/>
          <p:nvPr/>
        </p:nvSpPr>
        <p:spPr>
          <a:xfrm rot="5400000">
            <a:off x="9326709" y="4848301"/>
            <a:ext cx="618889" cy="533525"/>
          </a:xfrm>
          <a:prstGeom prst="hexagon">
            <a:avLst/>
          </a:prstGeom>
          <a:solidFill>
            <a:schemeClr val="accent5">
              <a:lumMod val="60000"/>
              <a:lumOff val="40000"/>
            </a:schemeClr>
          </a:solidFill>
          <a:ln w="38100">
            <a:solidFill>
              <a:schemeClr val="accent5">
                <a:lumMod val="20000"/>
                <a:lumOff val="8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8" name="六边形 37"/>
          <p:cNvSpPr/>
          <p:nvPr/>
        </p:nvSpPr>
        <p:spPr>
          <a:xfrm rot="5400000">
            <a:off x="9326709" y="5658561"/>
            <a:ext cx="618889" cy="533525"/>
          </a:xfrm>
          <a:prstGeom prst="hexagon">
            <a:avLst/>
          </a:prstGeom>
          <a:solidFill>
            <a:schemeClr val="accent5">
              <a:lumMod val="60000"/>
              <a:lumOff val="40000"/>
            </a:schemeClr>
          </a:solidFill>
          <a:ln w="38100">
            <a:solidFill>
              <a:schemeClr val="accent5">
                <a:lumMod val="20000"/>
                <a:lumOff val="8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9" name="不完整圆 235"/>
          <p:cNvSpPr/>
          <p:nvPr/>
        </p:nvSpPr>
        <p:spPr>
          <a:xfrm>
            <a:off x="10853536" y="2161668"/>
            <a:ext cx="820940" cy="10295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rgbClr val="24396B">
                    <a:lumMod val="0"/>
                    <a:lumOff val="100000"/>
                  </a:srgbClr>
                </a:gs>
                <a:gs pos="100000">
                  <a:schemeClr val="accent5"/>
                </a:gs>
              </a:gsLst>
              <a:lin ang="5400000" scaled="1"/>
              <a:tileRect/>
            </a:gradFill>
            <a:prstDash val="solid"/>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45" name="不完整圆 235"/>
          <p:cNvSpPr/>
          <p:nvPr/>
        </p:nvSpPr>
        <p:spPr>
          <a:xfrm>
            <a:off x="10853536" y="2110190"/>
            <a:ext cx="820940" cy="10295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rgbClr val="24396B">
                    <a:lumMod val="0"/>
                    <a:lumOff val="100000"/>
                  </a:srgbClr>
                </a:gs>
                <a:gs pos="100000">
                  <a:schemeClr val="accent5"/>
                </a:gs>
              </a:gsLst>
              <a:lin ang="5400000" scaled="1"/>
              <a:tileRect/>
            </a:gradFill>
            <a:prstDash val="solid"/>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46" name="椭圆 45"/>
          <p:cNvSpPr/>
          <p:nvPr>
            <p:custDataLst>
              <p:tags r:id="rId3"/>
            </p:custDataLst>
          </p:nvPr>
        </p:nvSpPr>
        <p:spPr>
          <a:xfrm flipH="1">
            <a:off x="10975197" y="1565860"/>
            <a:ext cx="577617" cy="577617"/>
          </a:xfrm>
          <a:prstGeom prst="ellipse">
            <a:avLst/>
          </a:prstGeom>
          <a:gradFill>
            <a:gsLst>
              <a:gs pos="0">
                <a:schemeClr val="accent5">
                  <a:lumMod val="60000"/>
                  <a:lumOff val="40000"/>
                </a:schemeClr>
              </a:gs>
              <a:gs pos="100000">
                <a:schemeClr val="accent5"/>
              </a:gs>
            </a:gsLst>
            <a:lin ang="2700000"/>
          </a:gradFill>
          <a:ln w="38100">
            <a:no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10897384" y="2288641"/>
            <a:ext cx="733243" cy="268215"/>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pitchFamily="34" charset="-122"/>
                <a:ea typeface="思源黑体 CN Normal" panose="020B0400000000000000" pitchFamily="34" charset="-122"/>
              </a:defRPr>
            </a:lvl1pPr>
          </a:lstStyle>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电子商城</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 name="不完整圆 235"/>
          <p:cNvSpPr/>
          <p:nvPr/>
        </p:nvSpPr>
        <p:spPr>
          <a:xfrm>
            <a:off x="10853536" y="3322811"/>
            <a:ext cx="820940" cy="10295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rgbClr val="24396B">
                    <a:lumMod val="0"/>
                    <a:lumOff val="100000"/>
                  </a:srgbClr>
                </a:gs>
                <a:gs pos="100000">
                  <a:schemeClr val="accent5"/>
                </a:gs>
              </a:gsLst>
              <a:lin ang="5400000" scaled="1"/>
              <a:tileRect/>
            </a:gradFill>
            <a:prstDash val="solid"/>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50" name="不完整圆 235"/>
          <p:cNvSpPr/>
          <p:nvPr/>
        </p:nvSpPr>
        <p:spPr>
          <a:xfrm>
            <a:off x="10853536" y="3271333"/>
            <a:ext cx="820940" cy="10295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rgbClr val="24396B">
                    <a:lumMod val="0"/>
                    <a:lumOff val="100000"/>
                  </a:srgbClr>
                </a:gs>
                <a:gs pos="100000">
                  <a:schemeClr val="accent5"/>
                </a:gs>
              </a:gsLst>
              <a:lin ang="5400000" scaled="1"/>
              <a:tileRect/>
            </a:gradFill>
            <a:prstDash val="solid"/>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51" name="椭圆 50"/>
          <p:cNvSpPr/>
          <p:nvPr>
            <p:custDataLst>
              <p:tags r:id="rId4"/>
            </p:custDataLst>
          </p:nvPr>
        </p:nvSpPr>
        <p:spPr>
          <a:xfrm flipH="1">
            <a:off x="10975197" y="2727003"/>
            <a:ext cx="577617" cy="577617"/>
          </a:xfrm>
          <a:prstGeom prst="ellipse">
            <a:avLst/>
          </a:prstGeom>
          <a:gradFill>
            <a:gsLst>
              <a:gs pos="0">
                <a:schemeClr val="accent5">
                  <a:lumMod val="60000"/>
                  <a:lumOff val="40000"/>
                </a:schemeClr>
              </a:gs>
              <a:gs pos="100000">
                <a:schemeClr val="accent5"/>
              </a:gs>
            </a:gsLst>
            <a:lin ang="2700000"/>
          </a:gra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2" name="文本框 51"/>
          <p:cNvSpPr txBox="1"/>
          <p:nvPr/>
        </p:nvSpPr>
        <p:spPr>
          <a:xfrm>
            <a:off x="10897384" y="3463119"/>
            <a:ext cx="733243" cy="268215"/>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pitchFamily="34" charset="-122"/>
                <a:ea typeface="思源黑体 CN Normal" panose="020B0400000000000000" pitchFamily="34" charset="-122"/>
              </a:defRPr>
            </a:lvl1pPr>
          </a:lstStyle>
          <a:p>
            <a:pPr algn="ctr">
              <a:lnSpc>
                <a:spcPct val="120000"/>
              </a:lnSpc>
            </a:pP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POS</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系统</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 name="不完整圆 235"/>
          <p:cNvSpPr/>
          <p:nvPr/>
        </p:nvSpPr>
        <p:spPr>
          <a:xfrm>
            <a:off x="10853536" y="4483954"/>
            <a:ext cx="820940" cy="10295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rgbClr val="24396B">
                    <a:lumMod val="0"/>
                    <a:lumOff val="100000"/>
                  </a:srgbClr>
                </a:gs>
                <a:gs pos="100000">
                  <a:schemeClr val="accent5"/>
                </a:gs>
              </a:gsLst>
              <a:lin ang="5400000" scaled="1"/>
              <a:tileRect/>
            </a:gradFill>
            <a:prstDash val="solid"/>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54" name="不完整圆 235"/>
          <p:cNvSpPr/>
          <p:nvPr/>
        </p:nvSpPr>
        <p:spPr>
          <a:xfrm>
            <a:off x="10853536" y="4432476"/>
            <a:ext cx="820940" cy="10295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rgbClr val="24396B">
                    <a:lumMod val="0"/>
                    <a:lumOff val="100000"/>
                  </a:srgbClr>
                </a:gs>
                <a:gs pos="100000">
                  <a:schemeClr val="accent5"/>
                </a:gs>
              </a:gsLst>
              <a:lin ang="5400000" scaled="1"/>
              <a:tileRect/>
            </a:gradFill>
            <a:prstDash val="solid"/>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55" name="椭圆 54"/>
          <p:cNvSpPr/>
          <p:nvPr>
            <p:custDataLst>
              <p:tags r:id="rId5"/>
            </p:custDataLst>
          </p:nvPr>
        </p:nvSpPr>
        <p:spPr>
          <a:xfrm flipH="1">
            <a:off x="10975197" y="3888146"/>
            <a:ext cx="577617" cy="577617"/>
          </a:xfrm>
          <a:prstGeom prst="ellipse">
            <a:avLst/>
          </a:prstGeom>
          <a:gradFill>
            <a:gsLst>
              <a:gs pos="0">
                <a:schemeClr val="accent5">
                  <a:lumMod val="60000"/>
                  <a:lumOff val="40000"/>
                </a:schemeClr>
              </a:gs>
              <a:gs pos="100000">
                <a:schemeClr val="accent5"/>
              </a:gs>
            </a:gsLst>
            <a:lin ang="2700000"/>
          </a:gra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6" name="文本框 55"/>
          <p:cNvSpPr txBox="1"/>
          <p:nvPr/>
        </p:nvSpPr>
        <p:spPr>
          <a:xfrm>
            <a:off x="10786861" y="4624262"/>
            <a:ext cx="954290" cy="268215"/>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pitchFamily="34" charset="-122"/>
                <a:ea typeface="思源黑体 CN Normal" panose="020B0400000000000000" pitchFamily="34" charset="-122"/>
              </a:defRPr>
            </a:lvl1pPr>
          </a:lstStyle>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可视化大屏</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 name="不完整圆 235"/>
          <p:cNvSpPr/>
          <p:nvPr/>
        </p:nvSpPr>
        <p:spPr>
          <a:xfrm>
            <a:off x="10853536" y="5645097"/>
            <a:ext cx="820940" cy="10295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rgbClr val="24396B">
                    <a:lumMod val="0"/>
                    <a:lumOff val="100000"/>
                  </a:srgbClr>
                </a:gs>
                <a:gs pos="100000">
                  <a:schemeClr val="accent5"/>
                </a:gs>
              </a:gsLst>
              <a:lin ang="5400000" scaled="1"/>
              <a:tileRect/>
            </a:gradFill>
            <a:prstDash val="solid"/>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58" name="不完整圆 235"/>
          <p:cNvSpPr/>
          <p:nvPr/>
        </p:nvSpPr>
        <p:spPr>
          <a:xfrm>
            <a:off x="10853536" y="5593619"/>
            <a:ext cx="820940" cy="10295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rgbClr val="24396B">
                    <a:lumMod val="0"/>
                    <a:lumOff val="100000"/>
                  </a:srgbClr>
                </a:gs>
                <a:gs pos="100000">
                  <a:schemeClr val="accent5"/>
                </a:gs>
              </a:gsLst>
              <a:lin ang="5400000" scaled="1"/>
              <a:tileRect/>
            </a:gradFill>
            <a:prstDash val="solid"/>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59" name="椭圆 58"/>
          <p:cNvSpPr/>
          <p:nvPr>
            <p:custDataLst>
              <p:tags r:id="rId6"/>
            </p:custDataLst>
          </p:nvPr>
        </p:nvSpPr>
        <p:spPr>
          <a:xfrm flipH="1">
            <a:off x="10975197" y="5049289"/>
            <a:ext cx="577617" cy="577617"/>
          </a:xfrm>
          <a:prstGeom prst="ellipse">
            <a:avLst/>
          </a:prstGeom>
          <a:gradFill>
            <a:gsLst>
              <a:gs pos="0">
                <a:schemeClr val="accent5">
                  <a:lumMod val="60000"/>
                  <a:lumOff val="40000"/>
                </a:schemeClr>
              </a:gs>
              <a:gs pos="100000">
                <a:schemeClr val="accent5"/>
              </a:gs>
            </a:gsLst>
            <a:lin ang="2700000"/>
          </a:gra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61" name="文本框 60"/>
          <p:cNvSpPr txBox="1"/>
          <p:nvPr/>
        </p:nvSpPr>
        <p:spPr>
          <a:xfrm>
            <a:off x="10736061" y="5785405"/>
            <a:ext cx="1055890" cy="268215"/>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pitchFamily="34" charset="-122"/>
                <a:ea typeface="思源黑体 CN Normal" panose="020B0400000000000000" pitchFamily="34" charset="-122"/>
              </a:defRPr>
            </a:lvl1pPr>
          </a:lstStyle>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会员系统</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2" name="流程图: 磁盘 61"/>
          <p:cNvSpPr/>
          <p:nvPr/>
        </p:nvSpPr>
        <p:spPr>
          <a:xfrm>
            <a:off x="508542" y="1668504"/>
            <a:ext cx="1389746" cy="656260"/>
          </a:xfrm>
          <a:prstGeom prst="flowChartMagneticDisk">
            <a:avLst/>
          </a:prstGeom>
          <a:gradFill>
            <a:gsLst>
              <a:gs pos="77000">
                <a:schemeClr val="accent1"/>
              </a:gs>
              <a:gs pos="0">
                <a:schemeClr val="accent1">
                  <a:lumMod val="60000"/>
                  <a:lumOff val="40000"/>
                </a:schemeClr>
              </a:gs>
            </a:gsLst>
            <a:lin ang="5400000" scaled="0"/>
          </a:gradFill>
          <a:ln w="12700">
            <a:solidFill>
              <a:srgbClr val="24396B">
                <a:lumMod val="20000"/>
                <a:lumOff val="80000"/>
              </a:srgbClr>
            </a:solidFill>
          </a:ln>
          <a:effectLst>
            <a:outerShdw blurRad="190500" dist="76200" dir="5400000" sx="103000" sy="103000" algn="ctr" rotWithShape="0">
              <a:srgbClr val="58729A">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64" name="文本框 63"/>
          <p:cNvSpPr txBox="1"/>
          <p:nvPr/>
        </p:nvSpPr>
        <p:spPr>
          <a:xfrm>
            <a:off x="814526" y="1883335"/>
            <a:ext cx="777777" cy="276999"/>
          </a:xfrm>
          <a:prstGeom prst="rect">
            <a:avLst/>
          </a:prstGeom>
          <a:noFill/>
          <a:extLst>
            <a:ext uri="{909E8E84-426E-40DD-AFC4-6F175D3DCCD1}">
              <a14:hiddenFill xmlns:a14="http://schemas.microsoft.com/office/drawing/2010/main">
                <a:solidFill>
                  <a:schemeClr val="accent1"/>
                </a:solidFill>
              </a14:hiddenFill>
            </a:ext>
          </a:extLst>
        </p:spPr>
        <p:txBody>
          <a:bodyPr wrap="none" rtlCol="0">
            <a:spAutoFit/>
          </a:bodyPr>
          <a:lstStyle/>
          <a:p>
            <a:pPr algn="ctr"/>
            <a:r>
              <a:rPr lang="en-US" altLang="zh-CN" sz="1200" dirty="0">
                <a:solidFill>
                  <a:srgbClr val="FFFFFF"/>
                </a:solidFill>
                <a:latin typeface="微软雅黑" panose="020B0503020204020204" charset="-122"/>
                <a:ea typeface="微软雅黑" panose="020B0503020204020204" charset="-122"/>
                <a:cs typeface="微软雅黑" panose="020B0503020204020204" charset="-122"/>
              </a:rPr>
              <a:t>ERP</a:t>
            </a:r>
            <a:r>
              <a:rPr lang="zh-CN" altLang="en-US" sz="1200" dirty="0">
                <a:solidFill>
                  <a:srgbClr val="FFFFFF"/>
                </a:solidFill>
                <a:latin typeface="微软雅黑" panose="020B0503020204020204" charset="-122"/>
                <a:ea typeface="微软雅黑" panose="020B0503020204020204" charset="-122"/>
                <a:cs typeface="微软雅黑" panose="020B0503020204020204" charset="-122"/>
              </a:rPr>
              <a:t>系统</a:t>
            </a:r>
            <a:endParaRPr lang="zh-CN" altLang="en-US"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688157" y="2082432"/>
            <a:ext cx="1030514" cy="200055"/>
          </a:xfrm>
          <a:prstGeom prst="rect">
            <a:avLst/>
          </a:prstGeom>
          <a:noFill/>
          <a:extLst>
            <a:ext uri="{909E8E84-426E-40DD-AFC4-6F175D3DCCD1}">
              <a14:hiddenFill xmlns:a14="http://schemas.microsoft.com/office/drawing/2010/main">
                <a:solidFill>
                  <a:schemeClr val="accent1"/>
                </a:solidFill>
              </a14:hiddenFill>
            </a:ext>
          </a:ex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7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Enter your title</a:t>
            </a:r>
            <a:endParaRPr kumimoji="0" lang="en-US" altLang="zh-CN" sz="7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6" name="流程图: 磁盘 65"/>
          <p:cNvSpPr/>
          <p:nvPr/>
        </p:nvSpPr>
        <p:spPr>
          <a:xfrm>
            <a:off x="508542" y="2587667"/>
            <a:ext cx="1389746" cy="656260"/>
          </a:xfrm>
          <a:prstGeom prst="flowChartMagneticDisk">
            <a:avLst/>
          </a:prstGeom>
          <a:gradFill>
            <a:gsLst>
              <a:gs pos="77000">
                <a:schemeClr val="accent1"/>
              </a:gs>
              <a:gs pos="0">
                <a:schemeClr val="accent1">
                  <a:lumMod val="60000"/>
                  <a:lumOff val="40000"/>
                </a:schemeClr>
              </a:gs>
            </a:gsLst>
            <a:lin ang="5400000" scaled="0"/>
          </a:gradFill>
          <a:ln w="12700">
            <a:solidFill>
              <a:srgbClr val="24396B">
                <a:lumMod val="20000"/>
                <a:lumOff val="80000"/>
              </a:srgbClr>
            </a:solidFill>
          </a:ln>
          <a:effectLst>
            <a:outerShdw blurRad="190500" dist="76200" dir="5400000" sx="103000" sy="103000" algn="ctr" rotWithShape="0">
              <a:srgbClr val="58729A">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67" name="文本框 66"/>
          <p:cNvSpPr txBox="1"/>
          <p:nvPr/>
        </p:nvSpPr>
        <p:spPr>
          <a:xfrm>
            <a:off x="803307" y="2802498"/>
            <a:ext cx="800220" cy="276999"/>
          </a:xfrm>
          <a:prstGeom prst="rect">
            <a:avLst/>
          </a:prstGeom>
          <a:noFill/>
          <a:extLst>
            <a:ext uri="{909E8E84-426E-40DD-AFC4-6F175D3DCCD1}">
              <a14:hiddenFill xmlns:a14="http://schemas.microsoft.com/office/drawing/2010/main">
                <a:solidFill>
                  <a:schemeClr val="accent1"/>
                </a:solidFill>
              </a14:hiddenFill>
            </a:ext>
          </a:extLst>
        </p:spPr>
        <p:txBody>
          <a:bodyPr wrap="none" rtlCol="0">
            <a:spAutoFit/>
          </a:bodyPr>
          <a:lstStyle/>
          <a:p>
            <a:pPr algn="ctr"/>
            <a:r>
              <a:rPr lang="zh-CN" altLang="en-US" sz="1200" dirty="0">
                <a:solidFill>
                  <a:srgbClr val="FFFFFF"/>
                </a:solidFill>
                <a:latin typeface="微软雅黑" panose="020B0503020204020204" charset="-122"/>
                <a:ea typeface="微软雅黑" panose="020B0503020204020204" charset="-122"/>
                <a:cs typeface="微软雅黑" panose="020B0503020204020204" charset="-122"/>
              </a:rPr>
              <a:t>采购系统</a:t>
            </a:r>
            <a:endParaRPr lang="zh-CN" altLang="en-US"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688157" y="3001595"/>
            <a:ext cx="1030514" cy="200055"/>
          </a:xfrm>
          <a:prstGeom prst="rect">
            <a:avLst/>
          </a:prstGeom>
          <a:noFill/>
          <a:extLst>
            <a:ext uri="{909E8E84-426E-40DD-AFC4-6F175D3DCCD1}">
              <a14:hiddenFill xmlns:a14="http://schemas.microsoft.com/office/drawing/2010/main">
                <a:solidFill>
                  <a:schemeClr val="accent1"/>
                </a:solidFill>
              </a14:hiddenFill>
            </a:ext>
          </a:ex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7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Enter your title</a:t>
            </a:r>
            <a:endParaRPr kumimoji="0" lang="en-US" altLang="zh-CN" sz="7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2" name="流程图: 磁盘 71"/>
          <p:cNvSpPr/>
          <p:nvPr/>
        </p:nvSpPr>
        <p:spPr>
          <a:xfrm>
            <a:off x="508542" y="3506830"/>
            <a:ext cx="1389746" cy="656260"/>
          </a:xfrm>
          <a:prstGeom prst="flowChartMagneticDisk">
            <a:avLst/>
          </a:prstGeom>
          <a:gradFill>
            <a:gsLst>
              <a:gs pos="77000">
                <a:schemeClr val="accent1"/>
              </a:gs>
              <a:gs pos="0">
                <a:schemeClr val="accent1">
                  <a:lumMod val="60000"/>
                  <a:lumOff val="40000"/>
                </a:schemeClr>
              </a:gs>
            </a:gsLst>
            <a:lin ang="5400000" scaled="0"/>
          </a:gradFill>
          <a:ln w="12700">
            <a:solidFill>
              <a:srgbClr val="24396B">
                <a:lumMod val="20000"/>
                <a:lumOff val="80000"/>
              </a:srgbClr>
            </a:solidFill>
          </a:ln>
          <a:effectLst>
            <a:outerShdw blurRad="190500" dist="76200" dir="5400000" sx="103000" sy="103000" algn="ctr" rotWithShape="0">
              <a:srgbClr val="58729A">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3" name="文本框 72"/>
          <p:cNvSpPr txBox="1"/>
          <p:nvPr/>
        </p:nvSpPr>
        <p:spPr>
          <a:xfrm>
            <a:off x="649419" y="3721661"/>
            <a:ext cx="1107996" cy="276999"/>
          </a:xfrm>
          <a:prstGeom prst="rect">
            <a:avLst/>
          </a:prstGeom>
          <a:noFill/>
          <a:extLst>
            <a:ext uri="{909E8E84-426E-40DD-AFC4-6F175D3DCCD1}">
              <a14:hiddenFill xmlns:a14="http://schemas.microsoft.com/office/drawing/2010/main">
                <a:solidFill>
                  <a:schemeClr val="accent1"/>
                </a:solidFill>
              </a14:hiddenFill>
            </a:ext>
          </a:extLst>
        </p:spPr>
        <p:txBody>
          <a:bodyPr wrap="none" rtlCol="0">
            <a:spAutoFit/>
          </a:bodyPr>
          <a:lstStyle/>
          <a:p>
            <a:pPr algn="ctr"/>
            <a:r>
              <a:rPr lang="zh-CN" altLang="en-US" sz="1200" dirty="0">
                <a:solidFill>
                  <a:srgbClr val="FFFFFF"/>
                </a:solidFill>
                <a:latin typeface="微软雅黑" panose="020B0503020204020204" charset="-122"/>
                <a:ea typeface="微软雅黑" panose="020B0503020204020204" charset="-122"/>
                <a:cs typeface="微软雅黑" panose="020B0503020204020204" charset="-122"/>
              </a:rPr>
              <a:t>基础数据管理</a:t>
            </a:r>
            <a:endParaRPr lang="zh-CN" altLang="en-US"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4" name="文本框 73"/>
          <p:cNvSpPr txBox="1"/>
          <p:nvPr/>
        </p:nvSpPr>
        <p:spPr>
          <a:xfrm>
            <a:off x="688157" y="3920758"/>
            <a:ext cx="1030514" cy="200055"/>
          </a:xfrm>
          <a:prstGeom prst="rect">
            <a:avLst/>
          </a:prstGeom>
          <a:noFill/>
          <a:extLst>
            <a:ext uri="{909E8E84-426E-40DD-AFC4-6F175D3DCCD1}">
              <a14:hiddenFill xmlns:a14="http://schemas.microsoft.com/office/drawing/2010/main">
                <a:solidFill>
                  <a:schemeClr val="accent1"/>
                </a:solidFill>
              </a14:hiddenFill>
            </a:ext>
          </a:ex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70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Enter your title</a:t>
            </a:r>
            <a:endParaRPr kumimoji="0" lang="en-US" altLang="zh-CN" sz="7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5" name="流程图: 磁盘 74"/>
          <p:cNvSpPr/>
          <p:nvPr/>
        </p:nvSpPr>
        <p:spPr>
          <a:xfrm>
            <a:off x="508542" y="4425993"/>
            <a:ext cx="1389746" cy="656260"/>
          </a:xfrm>
          <a:prstGeom prst="flowChartMagneticDisk">
            <a:avLst/>
          </a:prstGeom>
          <a:gradFill>
            <a:gsLst>
              <a:gs pos="77000">
                <a:schemeClr val="accent1"/>
              </a:gs>
              <a:gs pos="0">
                <a:schemeClr val="accent1">
                  <a:lumMod val="60000"/>
                  <a:lumOff val="40000"/>
                </a:schemeClr>
              </a:gs>
            </a:gsLst>
            <a:lin ang="5400000" scaled="0"/>
          </a:gradFill>
          <a:ln w="12700">
            <a:solidFill>
              <a:srgbClr val="24396B">
                <a:lumMod val="20000"/>
                <a:lumOff val="80000"/>
              </a:srgbClr>
            </a:solidFill>
          </a:ln>
          <a:effectLst>
            <a:outerShdw blurRad="190500" dist="76200" dir="5400000" sx="103000" sy="103000" algn="ctr" rotWithShape="0">
              <a:srgbClr val="58729A">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6" name="文本框 75"/>
          <p:cNvSpPr txBox="1"/>
          <p:nvPr/>
        </p:nvSpPr>
        <p:spPr>
          <a:xfrm>
            <a:off x="952384" y="4640824"/>
            <a:ext cx="502061" cy="276999"/>
          </a:xfrm>
          <a:prstGeom prst="rect">
            <a:avLst/>
          </a:prstGeom>
          <a:noFill/>
          <a:extLst>
            <a:ext uri="{909E8E84-426E-40DD-AFC4-6F175D3DCCD1}">
              <a14:hiddenFill xmlns:a14="http://schemas.microsoft.com/office/drawing/2010/main">
                <a:solidFill>
                  <a:schemeClr val="accent1"/>
                </a:solidFill>
              </a14:hiddenFill>
            </a:ext>
          </a:extLst>
        </p:spPr>
        <p:txBody>
          <a:bodyPr wrap="none" rtlCol="0">
            <a:spAutoFit/>
          </a:bodyPr>
          <a:lstStyle/>
          <a:p>
            <a:pPr algn="ctr"/>
            <a:r>
              <a:rPr lang="en-US" altLang="zh-CN" sz="1200" dirty="0">
                <a:solidFill>
                  <a:srgbClr val="FFFFFF"/>
                </a:solidFill>
                <a:latin typeface="微软雅黑" panose="020B0503020204020204" charset="-122"/>
                <a:ea typeface="微软雅黑" panose="020B0503020204020204" charset="-122"/>
                <a:cs typeface="微软雅黑" panose="020B0503020204020204" charset="-122"/>
              </a:rPr>
              <a:t>PLM</a:t>
            </a:r>
            <a:endParaRPr lang="en-US" altLang="zh-CN"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a:off x="688157" y="4839921"/>
            <a:ext cx="1030514" cy="200055"/>
          </a:xfrm>
          <a:prstGeom prst="rect">
            <a:avLst/>
          </a:prstGeom>
          <a:noFill/>
          <a:extLst>
            <a:ext uri="{909E8E84-426E-40DD-AFC4-6F175D3DCCD1}">
              <a14:hiddenFill xmlns:a14="http://schemas.microsoft.com/office/drawing/2010/main">
                <a:solidFill>
                  <a:schemeClr val="accent1"/>
                </a:solidFill>
              </a14:hiddenFill>
            </a:ext>
          </a:ex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7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Enter your title</a:t>
            </a:r>
            <a:endParaRPr kumimoji="0" lang="en-US" altLang="zh-CN" sz="7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8" name="流程图: 磁盘 77"/>
          <p:cNvSpPr/>
          <p:nvPr/>
        </p:nvSpPr>
        <p:spPr>
          <a:xfrm>
            <a:off x="508542" y="5345154"/>
            <a:ext cx="1389746" cy="656260"/>
          </a:xfrm>
          <a:prstGeom prst="flowChartMagneticDisk">
            <a:avLst/>
          </a:prstGeom>
          <a:gradFill>
            <a:gsLst>
              <a:gs pos="77000">
                <a:schemeClr val="accent1"/>
              </a:gs>
              <a:gs pos="0">
                <a:schemeClr val="accent1">
                  <a:lumMod val="60000"/>
                  <a:lumOff val="40000"/>
                </a:schemeClr>
              </a:gs>
            </a:gsLst>
            <a:lin ang="5400000" scaled="0"/>
          </a:gradFill>
          <a:ln w="12700">
            <a:solidFill>
              <a:srgbClr val="24396B">
                <a:lumMod val="20000"/>
                <a:lumOff val="80000"/>
              </a:srgbClr>
            </a:solidFill>
          </a:ln>
          <a:effectLst>
            <a:outerShdw blurRad="190500" dist="76200" dir="5400000" sx="103000" sy="103000" algn="ctr" rotWithShape="0">
              <a:srgbClr val="58729A">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9" name="文本框 78"/>
          <p:cNvSpPr txBox="1"/>
          <p:nvPr/>
        </p:nvSpPr>
        <p:spPr>
          <a:xfrm>
            <a:off x="934751" y="5559985"/>
            <a:ext cx="537327" cy="276999"/>
          </a:xfrm>
          <a:prstGeom prst="rect">
            <a:avLst/>
          </a:prstGeom>
          <a:noFill/>
          <a:extLst>
            <a:ext uri="{909E8E84-426E-40DD-AFC4-6F175D3DCCD1}">
              <a14:hiddenFill xmlns:a14="http://schemas.microsoft.com/office/drawing/2010/main">
                <a:solidFill>
                  <a:schemeClr val="accent1"/>
                </a:solidFill>
              </a14:hiddenFill>
            </a:ext>
          </a:extLst>
        </p:spPr>
        <p:txBody>
          <a:bodyPr wrap="none" rtlCol="0">
            <a:spAutoFit/>
          </a:bodyPr>
          <a:lstStyle/>
          <a:p>
            <a:pPr algn="ctr"/>
            <a:r>
              <a:rPr lang="en-US" altLang="zh-CN" sz="1200" dirty="0">
                <a:solidFill>
                  <a:srgbClr val="FFFFFF"/>
                </a:solidFill>
                <a:latin typeface="微软雅黑" panose="020B0503020204020204" charset="-122"/>
                <a:ea typeface="微软雅黑" panose="020B0503020204020204" charset="-122"/>
                <a:cs typeface="微软雅黑" panose="020B0503020204020204" charset="-122"/>
              </a:rPr>
              <a:t>WMS</a:t>
            </a:r>
            <a:endParaRPr lang="en-US" altLang="zh-CN"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0" name="文本框 79"/>
          <p:cNvSpPr txBox="1"/>
          <p:nvPr/>
        </p:nvSpPr>
        <p:spPr>
          <a:xfrm>
            <a:off x="688157" y="5759082"/>
            <a:ext cx="1030514" cy="200055"/>
          </a:xfrm>
          <a:prstGeom prst="rect">
            <a:avLst/>
          </a:prstGeom>
          <a:noFill/>
          <a:extLst>
            <a:ext uri="{909E8E84-426E-40DD-AFC4-6F175D3DCCD1}">
              <a14:hiddenFill xmlns:a14="http://schemas.microsoft.com/office/drawing/2010/main">
                <a:solidFill>
                  <a:schemeClr val="accent1"/>
                </a:solidFill>
              </a14:hiddenFill>
            </a:ext>
          </a:ex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7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Enter your title</a:t>
            </a:r>
            <a:endParaRPr kumimoji="0" lang="en-US" altLang="zh-CN" sz="70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1875032" y="3326655"/>
            <a:ext cx="590550" cy="337185"/>
          </a:xfrm>
          <a:prstGeom prst="rect">
            <a:avLst/>
          </a:prstGeom>
          <a:noFill/>
        </p:spPr>
        <p:txBody>
          <a:bodyPr wrap="none" rtlCol="0">
            <a:spAutoFit/>
          </a:bodyPr>
          <a:lstStyle/>
          <a:p>
            <a:pPr algn="ct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输入</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3" name="矩形 82"/>
          <p:cNvSpPr/>
          <p:nvPr/>
        </p:nvSpPr>
        <p:spPr>
          <a:xfrm>
            <a:off x="4025900" y="1755458"/>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4" name="文本框 83"/>
          <p:cNvSpPr txBox="1"/>
          <p:nvPr/>
        </p:nvSpPr>
        <p:spPr>
          <a:xfrm>
            <a:off x="4499610" y="1814513"/>
            <a:ext cx="646430" cy="23114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商品中心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5" name="矩形 84"/>
          <p:cNvSpPr/>
          <p:nvPr/>
        </p:nvSpPr>
        <p:spPr>
          <a:xfrm>
            <a:off x="4025265" y="1754823"/>
            <a:ext cx="350520" cy="350520"/>
          </a:xfrm>
          <a:prstGeom prst="rect">
            <a:avLst/>
          </a:prstGeom>
          <a:solidFill>
            <a:schemeClr val="accent1">
              <a:lumMod val="60000"/>
              <a:lumOff val="40000"/>
            </a:schemeClr>
          </a:solidFill>
          <a:ln w="12700">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a:off x="4089427" y="4878003"/>
            <a:ext cx="323781" cy="454277"/>
          </a:xfrm>
          <a:prstGeom prst="rect">
            <a:avLst/>
          </a:prstGeom>
          <a:noFill/>
          <a:effectLst/>
        </p:spPr>
        <p:txBody>
          <a:bodyPr wrap="none" lIns="84125" tIns="42062" rIns="84125" bIns="42062" rtlCol="0">
            <a:spAutoFit/>
          </a:bodyPr>
          <a:lstStyle/>
          <a:p>
            <a:pPr algn="l"/>
            <a:r>
              <a:rPr lang="zh-CN" alt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数</a:t>
            </a:r>
            <a:endParaRPr lang="en-US" altLang="zh-CN"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l"/>
            <a:r>
              <a:rPr lang="zh-CN" alt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仓</a:t>
            </a:r>
            <a:endParaRPr lang="zh-CN" alt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7" name="右大括号 86"/>
          <p:cNvSpPr/>
          <p:nvPr/>
        </p:nvSpPr>
        <p:spPr>
          <a:xfrm flipH="1">
            <a:off x="4395186" y="4207109"/>
            <a:ext cx="176092" cy="1757625"/>
          </a:xfrm>
          <a:prstGeom prst="rightBrace">
            <a:avLst>
              <a:gd name="adj1" fmla="val 53950"/>
              <a:gd name="adj2" fmla="val 50000"/>
            </a:avLst>
          </a:prstGeom>
          <a:noFill/>
          <a:ln w="10516">
            <a:solidFill>
              <a:schemeClr val="accent1">
                <a:lumMod val="60000"/>
                <a:lumOff val="4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lIns="81769" tIns="40885" rIns="81769" bIns="40885" rtlCol="0" anchor="ctr"/>
          <a:lstStyle/>
          <a:p>
            <a:pPr algn="ctr"/>
            <a:endParaRPr lang="zh-CN" altLang="en-US" sz="161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88" name="矩形: 圆角 655"/>
          <p:cNvSpPr/>
          <p:nvPr>
            <p:custDataLst>
              <p:tags r:id="rId7"/>
            </p:custDataLst>
          </p:nvPr>
        </p:nvSpPr>
        <p:spPr>
          <a:xfrm>
            <a:off x="4643117" y="4060958"/>
            <a:ext cx="894661" cy="293769"/>
          </a:xfrm>
          <a:prstGeom prst="roundRect">
            <a:avLst>
              <a:gd name="adj" fmla="val 50000"/>
            </a:avLst>
          </a:prstGeom>
          <a:solidFill>
            <a:schemeClr val="bg1"/>
          </a:solidFill>
          <a:ln w="11430">
            <a:solidFill>
              <a:schemeClr val="accent1">
                <a:lumMod val="60000"/>
                <a:lumOff val="40000"/>
                <a:alpha val="5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4125" tIns="42062" rIns="84125" bIns="42062"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03" name="椭圆 102"/>
          <p:cNvSpPr/>
          <p:nvPr>
            <p:custDataLst>
              <p:tags r:id="rId8"/>
            </p:custDataLst>
          </p:nvPr>
        </p:nvSpPr>
        <p:spPr>
          <a:xfrm flipH="1">
            <a:off x="4602779" y="4169347"/>
            <a:ext cx="79061" cy="79061"/>
          </a:xfrm>
          <a:prstGeom prst="ellipse">
            <a:avLst/>
          </a:prstGeom>
          <a:solidFill>
            <a:srgbClr val="FFFFFF"/>
          </a:solidFill>
          <a:ln>
            <a:noFill/>
          </a:ln>
          <a:effectLst/>
        </p:spPr>
        <p:style>
          <a:lnRef idx="2">
            <a:srgbClr val="24396B">
              <a:shade val="50000"/>
            </a:srgbClr>
          </a:lnRef>
          <a:fillRef idx="1">
            <a:srgbClr val="24396B"/>
          </a:fillRef>
          <a:effectRef idx="0">
            <a:srgbClr val="24396B"/>
          </a:effectRef>
          <a:fontRef idx="minor">
            <a:srgbClr val="FFFFFF"/>
          </a:fontRef>
        </p:style>
        <p:txBody>
          <a:bodyPr lIns="90855" tIns="45428" rIns="90855" bIns="45428"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10" name="椭圆 109"/>
          <p:cNvSpPr/>
          <p:nvPr/>
        </p:nvSpPr>
        <p:spPr>
          <a:xfrm flipH="1">
            <a:off x="4624424" y="4190992"/>
            <a:ext cx="35770" cy="35770"/>
          </a:xfrm>
          <a:prstGeom prst="ellipse">
            <a:avLst/>
          </a:prstGeom>
          <a:solidFill>
            <a:schemeClr val="accent1">
              <a:lumMod val="60000"/>
              <a:lumOff val="40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lIns="90855" tIns="45428" rIns="90855" bIns="45428" rtlCol="0" anchor="ctr"/>
          <a:lstStyle/>
          <a:p>
            <a:pPr algn="ctr"/>
            <a:endParaRPr lang="zh-CN" altLang="en-US" sz="100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19" name="矩形: 圆角 17"/>
          <p:cNvSpPr/>
          <p:nvPr>
            <p:custDataLst>
              <p:tags r:id="rId9"/>
            </p:custDataLst>
          </p:nvPr>
        </p:nvSpPr>
        <p:spPr>
          <a:xfrm>
            <a:off x="4643117" y="4501439"/>
            <a:ext cx="894661" cy="293769"/>
          </a:xfrm>
          <a:prstGeom prst="roundRect">
            <a:avLst>
              <a:gd name="adj" fmla="val 50000"/>
            </a:avLst>
          </a:prstGeom>
          <a:solidFill>
            <a:schemeClr val="bg1"/>
          </a:solidFill>
          <a:ln w="11430">
            <a:solidFill>
              <a:schemeClr val="accent1">
                <a:lumMod val="60000"/>
                <a:lumOff val="40000"/>
                <a:alpha val="5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4125" tIns="42062" rIns="84125" bIns="42062"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23" name="椭圆 122"/>
          <p:cNvSpPr/>
          <p:nvPr>
            <p:custDataLst>
              <p:tags r:id="rId10"/>
            </p:custDataLst>
          </p:nvPr>
        </p:nvSpPr>
        <p:spPr>
          <a:xfrm flipH="1">
            <a:off x="4602779" y="4609827"/>
            <a:ext cx="79061" cy="79061"/>
          </a:xfrm>
          <a:prstGeom prst="ellipse">
            <a:avLst/>
          </a:prstGeom>
          <a:solidFill>
            <a:srgbClr val="FFFFFF"/>
          </a:solidFill>
          <a:ln>
            <a:noFill/>
          </a:ln>
          <a:effectLst/>
        </p:spPr>
        <p:style>
          <a:lnRef idx="2">
            <a:srgbClr val="24396B">
              <a:shade val="50000"/>
            </a:srgbClr>
          </a:lnRef>
          <a:fillRef idx="1">
            <a:srgbClr val="24396B"/>
          </a:fillRef>
          <a:effectRef idx="0">
            <a:srgbClr val="24396B"/>
          </a:effectRef>
          <a:fontRef idx="minor">
            <a:srgbClr val="FFFFFF"/>
          </a:fontRef>
        </p:style>
        <p:txBody>
          <a:bodyPr lIns="90855" tIns="45428" rIns="90855" bIns="45428"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24" name="椭圆 123"/>
          <p:cNvSpPr/>
          <p:nvPr/>
        </p:nvSpPr>
        <p:spPr>
          <a:xfrm flipH="1">
            <a:off x="4624424" y="4631472"/>
            <a:ext cx="35770" cy="35770"/>
          </a:xfrm>
          <a:prstGeom prst="ellipse">
            <a:avLst/>
          </a:prstGeom>
          <a:solidFill>
            <a:schemeClr val="accent1">
              <a:lumMod val="60000"/>
              <a:lumOff val="40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0855" tIns="45428" rIns="90855" bIns="45428" numCol="1" spcCol="0" rtlCol="0" fromWordArt="0" anchor="ctr" anchorCtr="0" forceAA="0" compatLnSpc="1">
            <a:noAutofit/>
          </a:bodyPr>
          <a:lstStyle/>
          <a:p>
            <a:pPr lvl="0" algn="ctr">
              <a:buClrTx/>
              <a:buSzTx/>
              <a:buFontTx/>
            </a:pPr>
            <a:endParaRPr lang="zh-CN" altLang="en-US" sz="100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30" name="矩形: 圆角 25"/>
          <p:cNvSpPr/>
          <p:nvPr>
            <p:custDataLst>
              <p:tags r:id="rId11"/>
            </p:custDataLst>
          </p:nvPr>
        </p:nvSpPr>
        <p:spPr>
          <a:xfrm>
            <a:off x="4643117" y="4941919"/>
            <a:ext cx="894661" cy="293769"/>
          </a:xfrm>
          <a:prstGeom prst="roundRect">
            <a:avLst>
              <a:gd name="adj" fmla="val 50000"/>
            </a:avLst>
          </a:prstGeom>
          <a:solidFill>
            <a:schemeClr val="bg1"/>
          </a:solidFill>
          <a:ln w="11430">
            <a:solidFill>
              <a:schemeClr val="accent1">
                <a:lumMod val="60000"/>
                <a:lumOff val="40000"/>
                <a:alpha val="5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4125" tIns="42062" rIns="84125" bIns="42062"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41" name="椭圆 140"/>
          <p:cNvSpPr/>
          <p:nvPr>
            <p:custDataLst>
              <p:tags r:id="rId12"/>
            </p:custDataLst>
          </p:nvPr>
        </p:nvSpPr>
        <p:spPr>
          <a:xfrm flipH="1">
            <a:off x="4602779" y="5050308"/>
            <a:ext cx="79061" cy="79061"/>
          </a:xfrm>
          <a:prstGeom prst="ellipse">
            <a:avLst/>
          </a:prstGeom>
          <a:solidFill>
            <a:srgbClr val="FFFFFF"/>
          </a:solidFill>
          <a:ln>
            <a:noFill/>
          </a:ln>
          <a:effectLst/>
        </p:spPr>
        <p:style>
          <a:lnRef idx="2">
            <a:srgbClr val="24396B">
              <a:shade val="50000"/>
            </a:srgbClr>
          </a:lnRef>
          <a:fillRef idx="1">
            <a:srgbClr val="24396B"/>
          </a:fillRef>
          <a:effectRef idx="0">
            <a:srgbClr val="24396B"/>
          </a:effectRef>
          <a:fontRef idx="minor">
            <a:srgbClr val="FFFFFF"/>
          </a:fontRef>
        </p:style>
        <p:txBody>
          <a:bodyPr lIns="90855" tIns="45428" rIns="90855" bIns="45428"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42" name="椭圆 141"/>
          <p:cNvSpPr/>
          <p:nvPr/>
        </p:nvSpPr>
        <p:spPr>
          <a:xfrm flipH="1">
            <a:off x="4624424" y="5071953"/>
            <a:ext cx="35770" cy="35770"/>
          </a:xfrm>
          <a:prstGeom prst="ellipse">
            <a:avLst/>
          </a:prstGeom>
          <a:solidFill>
            <a:schemeClr val="accent1">
              <a:lumMod val="60000"/>
              <a:lumOff val="40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0855" tIns="45428" rIns="90855" bIns="45428" numCol="1" spcCol="0" rtlCol="0" fromWordArt="0" anchor="ctr" anchorCtr="0" forceAA="0" compatLnSpc="1">
            <a:noAutofit/>
          </a:bodyPr>
          <a:lstStyle/>
          <a:p>
            <a:pPr lvl="0" algn="ctr">
              <a:buClrTx/>
              <a:buSzTx/>
              <a:buFontTx/>
            </a:pPr>
            <a:endParaRPr lang="zh-CN" altLang="en-US" sz="100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43" name="矩形: 圆角 34"/>
          <p:cNvSpPr/>
          <p:nvPr>
            <p:custDataLst>
              <p:tags r:id="rId13"/>
            </p:custDataLst>
          </p:nvPr>
        </p:nvSpPr>
        <p:spPr>
          <a:xfrm>
            <a:off x="4643117" y="5382400"/>
            <a:ext cx="894661" cy="293769"/>
          </a:xfrm>
          <a:prstGeom prst="roundRect">
            <a:avLst>
              <a:gd name="adj" fmla="val 50000"/>
            </a:avLst>
          </a:prstGeom>
          <a:solidFill>
            <a:schemeClr val="bg1"/>
          </a:solidFill>
          <a:ln w="11430">
            <a:solidFill>
              <a:schemeClr val="accent1">
                <a:lumMod val="60000"/>
                <a:lumOff val="40000"/>
                <a:alpha val="5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4125" tIns="42062" rIns="84125" bIns="42062"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45" name="椭圆 144"/>
          <p:cNvSpPr/>
          <p:nvPr>
            <p:custDataLst>
              <p:tags r:id="rId14"/>
            </p:custDataLst>
          </p:nvPr>
        </p:nvSpPr>
        <p:spPr>
          <a:xfrm flipH="1">
            <a:off x="4602779" y="5490788"/>
            <a:ext cx="79061" cy="79061"/>
          </a:xfrm>
          <a:prstGeom prst="ellipse">
            <a:avLst/>
          </a:prstGeom>
          <a:solidFill>
            <a:srgbClr val="FFFFFF"/>
          </a:solidFill>
          <a:ln>
            <a:noFill/>
          </a:ln>
          <a:effectLst/>
        </p:spPr>
        <p:style>
          <a:lnRef idx="2">
            <a:srgbClr val="24396B">
              <a:shade val="50000"/>
            </a:srgbClr>
          </a:lnRef>
          <a:fillRef idx="1">
            <a:srgbClr val="24396B"/>
          </a:fillRef>
          <a:effectRef idx="0">
            <a:srgbClr val="24396B"/>
          </a:effectRef>
          <a:fontRef idx="minor">
            <a:srgbClr val="FFFFFF"/>
          </a:fontRef>
        </p:style>
        <p:txBody>
          <a:bodyPr lIns="90855" tIns="45428" rIns="90855" bIns="45428"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46" name="椭圆 145"/>
          <p:cNvSpPr/>
          <p:nvPr/>
        </p:nvSpPr>
        <p:spPr>
          <a:xfrm flipH="1">
            <a:off x="4624424" y="5512433"/>
            <a:ext cx="35770" cy="35770"/>
          </a:xfrm>
          <a:prstGeom prst="ellipse">
            <a:avLst/>
          </a:prstGeom>
          <a:solidFill>
            <a:schemeClr val="accent1">
              <a:lumMod val="60000"/>
              <a:lumOff val="40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0855" tIns="45428" rIns="90855" bIns="45428" numCol="1" spcCol="0" rtlCol="0" fromWordArt="0" anchor="ctr" anchorCtr="0" forceAA="0" compatLnSpc="1">
            <a:noAutofit/>
          </a:bodyPr>
          <a:lstStyle/>
          <a:p>
            <a:pPr lvl="0" algn="ctr">
              <a:buClrTx/>
              <a:buSzTx/>
              <a:buFontTx/>
            </a:pPr>
            <a:endParaRPr lang="zh-CN" altLang="en-US" sz="100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47" name="矩形: 圆角 41"/>
          <p:cNvSpPr/>
          <p:nvPr>
            <p:custDataLst>
              <p:tags r:id="rId15"/>
            </p:custDataLst>
          </p:nvPr>
        </p:nvSpPr>
        <p:spPr>
          <a:xfrm>
            <a:off x="4643117" y="5822878"/>
            <a:ext cx="894661" cy="293769"/>
          </a:xfrm>
          <a:prstGeom prst="roundRect">
            <a:avLst>
              <a:gd name="adj" fmla="val 50000"/>
            </a:avLst>
          </a:prstGeom>
          <a:solidFill>
            <a:schemeClr val="bg1"/>
          </a:solidFill>
          <a:ln w="11430">
            <a:solidFill>
              <a:schemeClr val="accent1">
                <a:lumMod val="60000"/>
                <a:lumOff val="40000"/>
                <a:alpha val="5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4125" tIns="42062" rIns="84125" bIns="42062"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62" name="椭圆 161"/>
          <p:cNvSpPr/>
          <p:nvPr>
            <p:custDataLst>
              <p:tags r:id="rId16"/>
            </p:custDataLst>
          </p:nvPr>
        </p:nvSpPr>
        <p:spPr>
          <a:xfrm flipH="1">
            <a:off x="4602779" y="5931267"/>
            <a:ext cx="79061" cy="79061"/>
          </a:xfrm>
          <a:prstGeom prst="ellipse">
            <a:avLst/>
          </a:prstGeom>
          <a:solidFill>
            <a:srgbClr val="FFFFFF"/>
          </a:solidFill>
          <a:ln>
            <a:noFill/>
          </a:ln>
          <a:effectLst/>
        </p:spPr>
        <p:style>
          <a:lnRef idx="2">
            <a:srgbClr val="24396B">
              <a:shade val="50000"/>
            </a:srgbClr>
          </a:lnRef>
          <a:fillRef idx="1">
            <a:srgbClr val="24396B"/>
          </a:fillRef>
          <a:effectRef idx="0">
            <a:srgbClr val="24396B"/>
          </a:effectRef>
          <a:fontRef idx="minor">
            <a:srgbClr val="FFFFFF"/>
          </a:fontRef>
        </p:style>
        <p:txBody>
          <a:bodyPr lIns="90855" tIns="45428" rIns="90855" bIns="45428" rtlCol="0" anchor="ctr"/>
          <a:lstStyle/>
          <a:p>
            <a:pPr algn="ctr"/>
            <a:endParaRPr lang="zh-CN" altLang="en-US" sz="10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68" name="椭圆 167"/>
          <p:cNvSpPr/>
          <p:nvPr/>
        </p:nvSpPr>
        <p:spPr>
          <a:xfrm flipH="1">
            <a:off x="4624424" y="5952911"/>
            <a:ext cx="35770" cy="35770"/>
          </a:xfrm>
          <a:prstGeom prst="ellipse">
            <a:avLst/>
          </a:prstGeom>
          <a:solidFill>
            <a:schemeClr val="accent1">
              <a:lumMod val="60000"/>
              <a:lumOff val="40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0855" tIns="45428" rIns="90855" bIns="45428" numCol="1" spcCol="0" rtlCol="0" fromWordArt="0" anchor="ctr" anchorCtr="0" forceAA="0" compatLnSpc="1">
            <a:noAutofit/>
          </a:bodyPr>
          <a:lstStyle/>
          <a:p>
            <a:pPr lvl="0" algn="ctr">
              <a:buClrTx/>
              <a:buSzTx/>
              <a:buFontTx/>
            </a:pPr>
            <a:endParaRPr lang="zh-CN" altLang="en-US" sz="100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73" name="不完整圆 235"/>
          <p:cNvSpPr/>
          <p:nvPr/>
        </p:nvSpPr>
        <p:spPr>
          <a:xfrm rot="5400000">
            <a:off x="5640517" y="4447300"/>
            <a:ext cx="960100" cy="13843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flip="none" rotWithShape="1">
            <a:gsLst>
              <a:gs pos="57000">
                <a:schemeClr val="accent1">
                  <a:lumMod val="60000"/>
                  <a:lumOff val="40000"/>
                  <a:alpha val="0"/>
                </a:schemeClr>
              </a:gs>
              <a:gs pos="100000">
                <a:schemeClr val="accent1">
                  <a:lumMod val="60000"/>
                  <a:lumOff val="40000"/>
                </a:schemeClr>
              </a:gs>
            </a:gsLst>
            <a:path path="circle">
              <a:fillToRect l="50000" t="50000" r="50000" b="50000"/>
            </a:path>
            <a:tileRect/>
          </a:gradFill>
          <a:ln w="11684">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83" name="文本框 182"/>
          <p:cNvSpPr txBox="1"/>
          <p:nvPr/>
        </p:nvSpPr>
        <p:spPr>
          <a:xfrm>
            <a:off x="6035045" y="4361320"/>
            <a:ext cx="516142" cy="361944"/>
          </a:xfrm>
          <a:prstGeom prst="rect">
            <a:avLst/>
          </a:prstGeom>
          <a:noFill/>
          <a:effectLst/>
        </p:spPr>
        <p:txBody>
          <a:bodyPr wrap="none" lIns="84125" tIns="42062" rIns="84125" bIns="42062" rtlCol="0">
            <a:spAutoFit/>
          </a:bodyPr>
          <a:lstStyle/>
          <a:p>
            <a:pPr algn="ctr"/>
            <a:r>
              <a:rPr lang="zh-CN" altLang="en-US" sz="9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数据</a:t>
            </a:r>
            <a:endParaRPr lang="en-US" altLang="zh-CN" sz="9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9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主题域</a:t>
            </a:r>
            <a:endParaRPr lang="zh-CN" altLang="en-US" sz="9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84" name="不完整圆 235"/>
          <p:cNvSpPr/>
          <p:nvPr/>
        </p:nvSpPr>
        <p:spPr>
          <a:xfrm rot="5400000">
            <a:off x="7400271" y="4447300"/>
            <a:ext cx="960100" cy="13843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flip="none" rotWithShape="1">
            <a:gsLst>
              <a:gs pos="57000">
                <a:schemeClr val="accent1">
                  <a:lumMod val="60000"/>
                  <a:lumOff val="40000"/>
                  <a:alpha val="0"/>
                </a:schemeClr>
              </a:gs>
              <a:gs pos="100000">
                <a:schemeClr val="accent1">
                  <a:lumMod val="60000"/>
                  <a:lumOff val="40000"/>
                </a:schemeClr>
              </a:gs>
            </a:gsLst>
            <a:path path="circle">
              <a:fillToRect l="50000" t="50000" r="50000" b="50000"/>
            </a:path>
            <a:tileRect/>
          </a:gradFill>
          <a:ln w="11684">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cxnSp>
        <p:nvCxnSpPr>
          <p:cNvPr id="185" name="直接连接符 184"/>
          <p:cNvCxnSpPr/>
          <p:nvPr/>
        </p:nvCxnSpPr>
        <p:spPr>
          <a:xfrm>
            <a:off x="6106556" y="4040925"/>
            <a:ext cx="1734001" cy="0"/>
          </a:xfrm>
          <a:prstGeom prst="line">
            <a:avLst/>
          </a:prstGeom>
          <a:ln w="5842">
            <a:solidFill>
              <a:schemeClr val="accent1">
                <a:lumMod val="60000"/>
                <a:lumOff val="40000"/>
              </a:schemeClr>
            </a:solidFill>
            <a:prstDash val="dash"/>
          </a:ln>
          <a:effectLst/>
        </p:spPr>
        <p:style>
          <a:lnRef idx="1">
            <a:srgbClr val="24396B"/>
          </a:lnRef>
          <a:fillRef idx="0">
            <a:srgbClr val="24396B"/>
          </a:fillRef>
          <a:effectRef idx="0">
            <a:srgbClr val="24396B"/>
          </a:effectRef>
          <a:fontRef idx="minor">
            <a:srgbClr val="000000"/>
          </a:fontRef>
        </p:style>
      </p:cxnSp>
      <p:cxnSp>
        <p:nvCxnSpPr>
          <p:cNvPr id="186" name="直接连接符 185"/>
          <p:cNvCxnSpPr/>
          <p:nvPr/>
        </p:nvCxnSpPr>
        <p:spPr>
          <a:xfrm>
            <a:off x="6106556" y="5010935"/>
            <a:ext cx="1734001" cy="0"/>
          </a:xfrm>
          <a:prstGeom prst="line">
            <a:avLst/>
          </a:prstGeom>
          <a:ln w="5842">
            <a:solidFill>
              <a:schemeClr val="accent1">
                <a:lumMod val="60000"/>
                <a:lumOff val="40000"/>
              </a:schemeClr>
            </a:solidFill>
            <a:prstDash val="dash"/>
          </a:ln>
          <a:effectLst/>
        </p:spPr>
        <p:style>
          <a:lnRef idx="1">
            <a:srgbClr val="24396B"/>
          </a:lnRef>
          <a:fillRef idx="0">
            <a:srgbClr val="24396B"/>
          </a:fillRef>
          <a:effectRef idx="0">
            <a:srgbClr val="24396B"/>
          </a:effectRef>
          <a:fontRef idx="minor">
            <a:srgbClr val="000000"/>
          </a:fontRef>
        </p:style>
      </p:cxnSp>
      <p:sp>
        <p:nvSpPr>
          <p:cNvPr id="187" name="矩形: 圆角 685"/>
          <p:cNvSpPr/>
          <p:nvPr>
            <p:custDataLst>
              <p:tags r:id="rId17"/>
            </p:custDataLst>
          </p:nvPr>
        </p:nvSpPr>
        <p:spPr>
          <a:xfrm>
            <a:off x="6576539" y="4132729"/>
            <a:ext cx="1109980" cy="180372"/>
          </a:xfrm>
          <a:prstGeom prst="roundRect">
            <a:avLst>
              <a:gd name="adj" fmla="val 50000"/>
            </a:avLst>
          </a:pr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lIns="90855" tIns="45428" rIns="90855" bIns="45428" rtlCol="0" anchor="ctr"/>
          <a:lstStyle/>
          <a:p>
            <a:pPr algn="ctr"/>
            <a:endParaRPr lang="zh-CN" altLang="en-US" sz="92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88" name="文本框 187"/>
          <p:cNvSpPr txBox="1"/>
          <p:nvPr/>
        </p:nvSpPr>
        <p:spPr>
          <a:xfrm>
            <a:off x="6782090" y="4114109"/>
            <a:ext cx="698884" cy="212353"/>
          </a:xfrm>
          <a:prstGeom prst="rect">
            <a:avLst/>
          </a:prstGeom>
          <a:noFill/>
          <a:effectLst/>
        </p:spPr>
        <p:txBody>
          <a:bodyPr wrap="none" lIns="84125" tIns="42062" rIns="84125" bIns="42062" rtlCol="0">
            <a:spAutoFit/>
          </a:bodyPr>
          <a:lstStyle/>
          <a:p>
            <a:pPr algn="ctr"/>
            <a:r>
              <a:rPr lang="zh-CN" altLang="en-US" sz="830" dirty="0">
                <a:solidFill>
                  <a:srgbClr val="FFFFFF"/>
                </a:solidFill>
                <a:latin typeface="微软雅黑" panose="020B0503020204020204" charset="-122"/>
                <a:ea typeface="微软雅黑" panose="020B0503020204020204" charset="-122"/>
                <a:cs typeface="微软雅黑" panose="020B0503020204020204" charset="-122"/>
              </a:rPr>
              <a:t>交易主题域</a:t>
            </a:r>
            <a:endParaRPr lang="zh-CN" altLang="en-US" sz="83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9" name="矩形: 圆角 689"/>
          <p:cNvSpPr/>
          <p:nvPr>
            <p:custDataLst>
              <p:tags r:id="rId18"/>
            </p:custDataLst>
          </p:nvPr>
        </p:nvSpPr>
        <p:spPr>
          <a:xfrm>
            <a:off x="6576539" y="4421908"/>
            <a:ext cx="1109980" cy="180372"/>
          </a:xfrm>
          <a:prstGeom prst="roundRect">
            <a:avLst>
              <a:gd name="adj" fmla="val 50000"/>
            </a:avLst>
          </a:pr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0855" tIns="45428" rIns="90855" bIns="45428" numCol="1" spcCol="0" rtlCol="0" fromWordArt="0" anchor="ctr" anchorCtr="0" forceAA="0" compatLnSpc="1">
            <a:noAutofit/>
          </a:bodyPr>
          <a:lstStyle/>
          <a:p>
            <a:pPr lvl="0" algn="ctr">
              <a:buClrTx/>
              <a:buSzTx/>
              <a:buFontTx/>
            </a:pPr>
            <a:endParaRPr lang="zh-CN" altLang="en-US" sz="920"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90" name="文本框 189"/>
          <p:cNvSpPr txBox="1"/>
          <p:nvPr/>
        </p:nvSpPr>
        <p:spPr>
          <a:xfrm>
            <a:off x="6782090" y="4403289"/>
            <a:ext cx="698884" cy="212353"/>
          </a:xfrm>
          <a:prstGeom prst="rect">
            <a:avLst/>
          </a:prstGeom>
          <a:noFill/>
          <a:effectLst/>
        </p:spPr>
        <p:txBody>
          <a:bodyPr wrap="none" lIns="84125" tIns="42062" rIns="84125" bIns="42062" rtlCol="0">
            <a:spAutoFit/>
          </a:bodyPr>
          <a:lstStyle/>
          <a:p>
            <a:pPr algn="ctr"/>
            <a:r>
              <a:rPr lang="zh-CN" altLang="en-US" sz="830" dirty="0">
                <a:solidFill>
                  <a:srgbClr val="FFFFFF"/>
                </a:solidFill>
                <a:latin typeface="微软雅黑" panose="020B0503020204020204" charset="-122"/>
                <a:ea typeface="微软雅黑" panose="020B0503020204020204" charset="-122"/>
                <a:cs typeface="微软雅黑" panose="020B0503020204020204" charset="-122"/>
              </a:rPr>
              <a:t>商品主题域</a:t>
            </a:r>
            <a:endParaRPr lang="zh-CN" altLang="en-US" sz="83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1" name="矩形: 圆角 691"/>
          <p:cNvSpPr/>
          <p:nvPr>
            <p:custDataLst>
              <p:tags r:id="rId19"/>
            </p:custDataLst>
          </p:nvPr>
        </p:nvSpPr>
        <p:spPr>
          <a:xfrm>
            <a:off x="6576539" y="4711087"/>
            <a:ext cx="1109980" cy="180372"/>
          </a:xfrm>
          <a:prstGeom prst="roundRect">
            <a:avLst>
              <a:gd name="adj" fmla="val 50000"/>
            </a:avLst>
          </a:pr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0855" tIns="45428" rIns="90855" bIns="45428" numCol="1" spcCol="0" rtlCol="0" fromWordArt="0" anchor="ctr" anchorCtr="0" forceAA="0" compatLnSpc="1">
            <a:noAutofit/>
          </a:bodyPr>
          <a:lstStyle/>
          <a:p>
            <a:pPr lvl="0" algn="ctr">
              <a:buClrTx/>
              <a:buSzTx/>
              <a:buFontTx/>
            </a:pPr>
            <a:endParaRPr lang="zh-CN" altLang="en-US" sz="920"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92" name="文本框 191"/>
          <p:cNvSpPr txBox="1"/>
          <p:nvPr/>
        </p:nvSpPr>
        <p:spPr>
          <a:xfrm>
            <a:off x="6782089" y="4692468"/>
            <a:ext cx="698884" cy="212353"/>
          </a:xfrm>
          <a:prstGeom prst="rect">
            <a:avLst/>
          </a:prstGeom>
          <a:noFill/>
          <a:effectLst/>
        </p:spPr>
        <p:txBody>
          <a:bodyPr wrap="none" lIns="84125" tIns="42062" rIns="84125" bIns="42062" rtlCol="0">
            <a:spAutoFit/>
          </a:bodyPr>
          <a:lstStyle/>
          <a:p>
            <a:pPr algn="ctr"/>
            <a:r>
              <a:rPr lang="zh-CN" altLang="en-US" sz="830" dirty="0">
                <a:solidFill>
                  <a:srgbClr val="FFFFFF"/>
                </a:solidFill>
                <a:latin typeface="微软雅黑" panose="020B0503020204020204" charset="-122"/>
                <a:ea typeface="微软雅黑" panose="020B0503020204020204" charset="-122"/>
                <a:cs typeface="微软雅黑" panose="020B0503020204020204" charset="-122"/>
              </a:rPr>
              <a:t>用户主题域</a:t>
            </a:r>
            <a:endParaRPr lang="zh-CN" altLang="en-US" sz="83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4" name="不完整圆 235"/>
          <p:cNvSpPr/>
          <p:nvPr/>
        </p:nvSpPr>
        <p:spPr>
          <a:xfrm rot="5400000">
            <a:off x="5640517" y="5560201"/>
            <a:ext cx="960100" cy="13843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flip="none" rotWithShape="1">
            <a:gsLst>
              <a:gs pos="57000">
                <a:schemeClr val="accent1">
                  <a:lumMod val="60000"/>
                  <a:lumOff val="40000"/>
                  <a:alpha val="0"/>
                </a:schemeClr>
              </a:gs>
              <a:gs pos="100000">
                <a:schemeClr val="accent1">
                  <a:lumMod val="60000"/>
                  <a:lumOff val="40000"/>
                </a:schemeClr>
              </a:gs>
            </a:gsLst>
            <a:path path="circle">
              <a:fillToRect l="50000" t="50000" r="50000" b="50000"/>
            </a:path>
            <a:tileRect/>
          </a:gradFill>
          <a:ln w="11684">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95" name="文本框 194"/>
          <p:cNvSpPr txBox="1"/>
          <p:nvPr/>
        </p:nvSpPr>
        <p:spPr>
          <a:xfrm>
            <a:off x="6052825" y="5474221"/>
            <a:ext cx="516142" cy="361944"/>
          </a:xfrm>
          <a:prstGeom prst="rect">
            <a:avLst/>
          </a:prstGeom>
          <a:noFill/>
          <a:effectLst/>
        </p:spPr>
        <p:txBody>
          <a:bodyPr wrap="none" lIns="84125" tIns="42062" rIns="84125" bIns="42062" rtlCol="0">
            <a:spAutoFit/>
          </a:bodyPr>
          <a:lstStyle/>
          <a:p>
            <a:r>
              <a:rPr lang="zh-CN" altLang="en-US" sz="9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数据治</a:t>
            </a:r>
            <a:endParaRPr lang="en-US" altLang="zh-CN" sz="9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r>
              <a:rPr lang="zh-CN" altLang="en-US" sz="9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理套件</a:t>
            </a:r>
            <a:endParaRPr lang="zh-CN" altLang="en-US" sz="9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96" name="不完整圆 235"/>
          <p:cNvSpPr/>
          <p:nvPr/>
        </p:nvSpPr>
        <p:spPr>
          <a:xfrm rot="5400000">
            <a:off x="7400271" y="5560201"/>
            <a:ext cx="960100" cy="13843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flip="none" rotWithShape="1">
            <a:gsLst>
              <a:gs pos="57000">
                <a:schemeClr val="accent1">
                  <a:lumMod val="60000"/>
                  <a:lumOff val="40000"/>
                  <a:alpha val="0"/>
                </a:schemeClr>
              </a:gs>
              <a:gs pos="100000">
                <a:schemeClr val="accent1">
                  <a:lumMod val="60000"/>
                  <a:lumOff val="40000"/>
                </a:schemeClr>
              </a:gs>
            </a:gsLst>
            <a:path path="circle">
              <a:fillToRect l="50000" t="50000" r="50000" b="50000"/>
            </a:path>
            <a:tileRect/>
          </a:gradFill>
          <a:ln w="11684">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cxnSp>
        <p:nvCxnSpPr>
          <p:cNvPr id="197" name="直接连接符 196"/>
          <p:cNvCxnSpPr/>
          <p:nvPr/>
        </p:nvCxnSpPr>
        <p:spPr>
          <a:xfrm>
            <a:off x="6106556" y="5153826"/>
            <a:ext cx="1734001" cy="0"/>
          </a:xfrm>
          <a:prstGeom prst="line">
            <a:avLst/>
          </a:prstGeom>
          <a:ln w="5842">
            <a:solidFill>
              <a:schemeClr val="accent1">
                <a:lumMod val="60000"/>
                <a:lumOff val="40000"/>
              </a:schemeClr>
            </a:solidFill>
            <a:prstDash val="dash"/>
          </a:ln>
          <a:effectLst/>
        </p:spPr>
        <p:style>
          <a:lnRef idx="1">
            <a:srgbClr val="24396B"/>
          </a:lnRef>
          <a:fillRef idx="0">
            <a:srgbClr val="24396B"/>
          </a:fillRef>
          <a:effectRef idx="0">
            <a:srgbClr val="24396B"/>
          </a:effectRef>
          <a:fontRef idx="minor">
            <a:srgbClr val="000000"/>
          </a:fontRef>
        </p:style>
      </p:cxnSp>
      <p:cxnSp>
        <p:nvCxnSpPr>
          <p:cNvPr id="199" name="直接连接符 198"/>
          <p:cNvCxnSpPr/>
          <p:nvPr/>
        </p:nvCxnSpPr>
        <p:spPr>
          <a:xfrm>
            <a:off x="6106556" y="6123836"/>
            <a:ext cx="1734001" cy="0"/>
          </a:xfrm>
          <a:prstGeom prst="line">
            <a:avLst/>
          </a:prstGeom>
          <a:ln w="5842">
            <a:solidFill>
              <a:schemeClr val="accent1">
                <a:lumMod val="60000"/>
                <a:lumOff val="40000"/>
              </a:schemeClr>
            </a:solidFill>
            <a:prstDash val="dash"/>
          </a:ln>
          <a:effectLst/>
        </p:spPr>
        <p:style>
          <a:lnRef idx="1">
            <a:srgbClr val="24396B"/>
          </a:lnRef>
          <a:fillRef idx="0">
            <a:srgbClr val="24396B"/>
          </a:fillRef>
          <a:effectRef idx="0">
            <a:srgbClr val="24396B"/>
          </a:effectRef>
          <a:fontRef idx="minor">
            <a:srgbClr val="000000"/>
          </a:fontRef>
        </p:style>
      </p:cxnSp>
      <p:sp>
        <p:nvSpPr>
          <p:cNvPr id="206" name="矩形: 圆角 700"/>
          <p:cNvSpPr/>
          <p:nvPr>
            <p:custDataLst>
              <p:tags r:id="rId20"/>
            </p:custDataLst>
          </p:nvPr>
        </p:nvSpPr>
        <p:spPr>
          <a:xfrm>
            <a:off x="6576539" y="5245630"/>
            <a:ext cx="1109980" cy="180372"/>
          </a:xfrm>
          <a:prstGeom prst="roundRect">
            <a:avLst>
              <a:gd name="adj" fmla="val 50000"/>
            </a:avLst>
          </a:pr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0855" tIns="45428" rIns="90855" bIns="45428" numCol="1" spcCol="0" rtlCol="0" fromWordArt="0" anchor="ctr" anchorCtr="0" forceAA="0" compatLnSpc="1">
            <a:noAutofit/>
          </a:bodyPr>
          <a:lstStyle/>
          <a:p>
            <a:pPr lvl="0" algn="ctr">
              <a:buClrTx/>
              <a:buSzTx/>
              <a:buFontTx/>
            </a:pPr>
            <a:endParaRPr lang="zh-CN" altLang="en-US" sz="920"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07" name="文本框 206"/>
          <p:cNvSpPr txBox="1"/>
          <p:nvPr/>
        </p:nvSpPr>
        <p:spPr>
          <a:xfrm>
            <a:off x="6834988" y="5227010"/>
            <a:ext cx="593086" cy="212353"/>
          </a:xfrm>
          <a:prstGeom prst="rect">
            <a:avLst/>
          </a:prstGeom>
          <a:noFill/>
          <a:effectLst/>
        </p:spPr>
        <p:txBody>
          <a:bodyPr wrap="none" lIns="84125" tIns="42062" rIns="84125" bIns="42062" rtlCol="0">
            <a:spAutoFit/>
          </a:bodyPr>
          <a:lstStyle/>
          <a:p>
            <a:pPr algn="ctr"/>
            <a:r>
              <a:rPr lang="zh-CN" altLang="en-US" sz="830" dirty="0">
                <a:solidFill>
                  <a:srgbClr val="FFFFFF"/>
                </a:solidFill>
                <a:latin typeface="微软雅黑" panose="020B0503020204020204" charset="-122"/>
                <a:ea typeface="微软雅黑" panose="020B0503020204020204" charset="-122"/>
                <a:cs typeface="微软雅黑" panose="020B0503020204020204" charset="-122"/>
              </a:rPr>
              <a:t>数据地图</a:t>
            </a:r>
            <a:endParaRPr lang="zh-CN" altLang="en-US" sz="83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9" name="矩形: 圆角 702"/>
          <p:cNvSpPr/>
          <p:nvPr>
            <p:custDataLst>
              <p:tags r:id="rId21"/>
            </p:custDataLst>
          </p:nvPr>
        </p:nvSpPr>
        <p:spPr>
          <a:xfrm>
            <a:off x="6576539" y="5534809"/>
            <a:ext cx="1109980" cy="180372"/>
          </a:xfrm>
          <a:prstGeom prst="roundRect">
            <a:avLst>
              <a:gd name="adj" fmla="val 50000"/>
            </a:avLst>
          </a:pr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0855" tIns="45428" rIns="90855" bIns="45428" numCol="1" spcCol="0" rtlCol="0" fromWordArt="0" anchor="ctr" anchorCtr="0" forceAA="0" compatLnSpc="1">
            <a:noAutofit/>
          </a:bodyPr>
          <a:lstStyle/>
          <a:p>
            <a:pPr lvl="0" algn="ctr">
              <a:buClrTx/>
              <a:buSzTx/>
              <a:buFontTx/>
            </a:pPr>
            <a:endParaRPr lang="zh-CN" altLang="en-US" sz="920"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10" name="文本框 209"/>
          <p:cNvSpPr txBox="1"/>
          <p:nvPr/>
        </p:nvSpPr>
        <p:spPr>
          <a:xfrm>
            <a:off x="6830178" y="5516190"/>
            <a:ext cx="602704" cy="212353"/>
          </a:xfrm>
          <a:prstGeom prst="rect">
            <a:avLst/>
          </a:prstGeom>
          <a:noFill/>
          <a:effectLst/>
        </p:spPr>
        <p:txBody>
          <a:bodyPr wrap="none" lIns="84125" tIns="42062" rIns="84125" bIns="42062" rtlCol="0">
            <a:spAutoFit/>
          </a:bodyPr>
          <a:lstStyle/>
          <a:p>
            <a:pPr algn="ctr"/>
            <a:r>
              <a:rPr lang="zh-CN" altLang="en-US" sz="830" dirty="0">
                <a:solidFill>
                  <a:srgbClr val="FFFFFF"/>
                </a:solidFill>
                <a:latin typeface="微软雅黑" panose="020B0503020204020204" charset="-122"/>
                <a:ea typeface="微软雅黑" panose="020B0503020204020204" charset="-122"/>
                <a:cs typeface="微软雅黑" panose="020B0503020204020204" charset="-122"/>
              </a:rPr>
              <a:t>数据模型</a:t>
            </a:r>
            <a:endParaRPr lang="zh-CN" altLang="en-US" sz="83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1" name="矩形: 圆角 704"/>
          <p:cNvSpPr/>
          <p:nvPr>
            <p:custDataLst>
              <p:tags r:id="rId22"/>
            </p:custDataLst>
          </p:nvPr>
        </p:nvSpPr>
        <p:spPr>
          <a:xfrm>
            <a:off x="6576539" y="5823988"/>
            <a:ext cx="1109980" cy="180372"/>
          </a:xfrm>
          <a:prstGeom prst="roundRect">
            <a:avLst>
              <a:gd name="adj" fmla="val 50000"/>
            </a:avLst>
          </a:pr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0855" tIns="45428" rIns="90855" bIns="45428" numCol="1" spcCol="0" rtlCol="0" fromWordArt="0" anchor="ctr" anchorCtr="0" forceAA="0" compatLnSpc="1">
            <a:noAutofit/>
          </a:bodyPr>
          <a:lstStyle/>
          <a:p>
            <a:pPr lvl="0" algn="ctr">
              <a:buClrTx/>
              <a:buSzTx/>
              <a:buFontTx/>
            </a:pPr>
            <a:endParaRPr lang="zh-CN" altLang="en-US" sz="920"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12" name="文本框 211"/>
          <p:cNvSpPr txBox="1"/>
          <p:nvPr/>
        </p:nvSpPr>
        <p:spPr>
          <a:xfrm>
            <a:off x="6834987" y="5805369"/>
            <a:ext cx="593087" cy="212353"/>
          </a:xfrm>
          <a:prstGeom prst="rect">
            <a:avLst/>
          </a:prstGeom>
          <a:noFill/>
          <a:effectLst/>
        </p:spPr>
        <p:txBody>
          <a:bodyPr wrap="none" lIns="84125" tIns="42062" rIns="84125" bIns="42062" rtlCol="0">
            <a:spAutoFit/>
          </a:bodyPr>
          <a:lstStyle/>
          <a:p>
            <a:pPr algn="ctr"/>
            <a:r>
              <a:rPr lang="zh-CN" altLang="en-US" sz="830" dirty="0">
                <a:solidFill>
                  <a:srgbClr val="FFFFFF"/>
                </a:solidFill>
                <a:latin typeface="微软雅黑" panose="020B0503020204020204" charset="-122"/>
                <a:ea typeface="微软雅黑" panose="020B0503020204020204" charset="-122"/>
                <a:cs typeface="微软雅黑" panose="020B0503020204020204" charset="-122"/>
              </a:rPr>
              <a:t>数据质量</a:t>
            </a:r>
            <a:endParaRPr lang="zh-CN" altLang="en-US" sz="83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3" name="任意多边形: 形状 43"/>
          <p:cNvSpPr/>
          <p:nvPr/>
        </p:nvSpPr>
        <p:spPr>
          <a:xfrm rot="5400000">
            <a:off x="7586345" y="4037330"/>
            <a:ext cx="763905" cy="9734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73000">
                <a:schemeClr val="accent1">
                  <a:lumMod val="60000"/>
                  <a:lumOff val="40000"/>
                  <a:alpha val="60000"/>
                </a:schemeClr>
              </a:gs>
              <a:gs pos="100000">
                <a:schemeClr val="accent1">
                  <a:lumMod val="60000"/>
                  <a:lumOff val="40000"/>
                </a:schemeClr>
              </a:gs>
            </a:gsLst>
            <a:lin ang="16200000" scaled="1"/>
            <a:tileRect/>
          </a:gradFill>
          <a:ln>
            <a:noFill/>
          </a:ln>
          <a:effectLst/>
        </p:spPr>
        <p:style>
          <a:lnRef idx="2">
            <a:srgbClr val="24396B">
              <a:shade val="50000"/>
            </a:srgbClr>
          </a:lnRef>
          <a:fillRef idx="1">
            <a:srgbClr val="24396B"/>
          </a:fillRef>
          <a:effectRef idx="0">
            <a:srgbClr val="24396B"/>
          </a:effectRef>
          <a:fontRef idx="minor">
            <a:srgbClr val="FFFFFF"/>
          </a:fontRef>
        </p:style>
        <p:txBody>
          <a:bodyPr wrap="square" lIns="84125" tIns="42062" rIns="84125" bIns="42062" rtlCol="0" anchor="ctr">
            <a:noAutofit/>
          </a:bodyPr>
          <a:lstStyle/>
          <a:p>
            <a:pPr algn="ctr"/>
            <a:endParaRPr lang="zh-CN" altLang="en-US" sz="165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14" name="任意多边形: 形状 46"/>
          <p:cNvSpPr/>
          <p:nvPr/>
        </p:nvSpPr>
        <p:spPr>
          <a:xfrm rot="5400000">
            <a:off x="7586345" y="5144770"/>
            <a:ext cx="763905" cy="97282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73000">
                <a:schemeClr val="accent1">
                  <a:lumMod val="60000"/>
                  <a:lumOff val="40000"/>
                  <a:alpha val="60000"/>
                </a:schemeClr>
              </a:gs>
              <a:gs pos="100000">
                <a:schemeClr val="accent1">
                  <a:lumMod val="60000"/>
                  <a:lumOff val="40000"/>
                </a:schemeClr>
              </a:gs>
            </a:gsLst>
            <a:lin ang="16200000" scaled="1"/>
            <a:tileRect/>
          </a:gradFill>
          <a:ln>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84125" tIns="42062" rIns="84125" bIns="42062" numCol="1" spcCol="0" rtlCol="0" fromWordArt="0" anchor="ctr" anchorCtr="0" forceAA="0" compatLnSpc="1">
            <a:noAutofit/>
          </a:bodyPr>
          <a:lstStyle/>
          <a:p>
            <a:pPr lvl="0" algn="ctr">
              <a:buClrTx/>
              <a:buSzTx/>
              <a:buFontTx/>
            </a:pPr>
            <a:endParaRPr lang="zh-CN" altLang="en-US" sz="1655">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cxnSp>
        <p:nvCxnSpPr>
          <p:cNvPr id="215" name="直接连接符 214"/>
          <p:cNvCxnSpPr/>
          <p:nvPr/>
        </p:nvCxnSpPr>
        <p:spPr>
          <a:xfrm>
            <a:off x="8783320" y="1932039"/>
            <a:ext cx="500234" cy="0"/>
          </a:xfrm>
          <a:prstGeom prst="line">
            <a:avLst/>
          </a:prstGeom>
          <a:ln w="6858">
            <a:solidFill>
              <a:schemeClr val="accent5"/>
            </a:solidFill>
            <a:tailEnd type="oval" w="sm" len="sm"/>
          </a:ln>
          <a:effectLst/>
        </p:spPr>
        <p:style>
          <a:lnRef idx="1">
            <a:srgbClr val="24396B"/>
          </a:lnRef>
          <a:fillRef idx="0">
            <a:srgbClr val="24396B"/>
          </a:fillRef>
          <a:effectRef idx="0">
            <a:srgbClr val="24396B"/>
          </a:effectRef>
          <a:fontRef idx="minor">
            <a:srgbClr val="000000"/>
          </a:fontRef>
        </p:style>
      </p:cxnSp>
      <p:cxnSp>
        <p:nvCxnSpPr>
          <p:cNvPr id="216" name="直接连接符 215"/>
          <p:cNvCxnSpPr/>
          <p:nvPr/>
        </p:nvCxnSpPr>
        <p:spPr>
          <a:xfrm>
            <a:off x="8783320" y="2685149"/>
            <a:ext cx="500234" cy="0"/>
          </a:xfrm>
          <a:prstGeom prst="line">
            <a:avLst/>
          </a:prstGeom>
          <a:ln w="6858">
            <a:solidFill>
              <a:schemeClr val="accent5"/>
            </a:solidFill>
            <a:tailEnd type="oval" w="sm" len="sm"/>
          </a:ln>
          <a:effectLst/>
        </p:spPr>
        <p:style>
          <a:lnRef idx="1">
            <a:srgbClr val="24396B"/>
          </a:lnRef>
          <a:fillRef idx="0">
            <a:srgbClr val="24396B"/>
          </a:fillRef>
          <a:effectRef idx="0">
            <a:srgbClr val="24396B"/>
          </a:effectRef>
          <a:fontRef idx="minor">
            <a:srgbClr val="000000"/>
          </a:fontRef>
        </p:style>
      </p:cxnSp>
      <p:cxnSp>
        <p:nvCxnSpPr>
          <p:cNvPr id="217" name="直接连接符 216"/>
          <p:cNvCxnSpPr/>
          <p:nvPr/>
        </p:nvCxnSpPr>
        <p:spPr>
          <a:xfrm>
            <a:off x="8783320" y="3497949"/>
            <a:ext cx="500234" cy="0"/>
          </a:xfrm>
          <a:prstGeom prst="line">
            <a:avLst/>
          </a:prstGeom>
          <a:ln w="6858">
            <a:solidFill>
              <a:schemeClr val="accent5"/>
            </a:solidFill>
            <a:tailEnd type="oval" w="sm" len="sm"/>
          </a:ln>
          <a:effectLst/>
        </p:spPr>
        <p:style>
          <a:lnRef idx="1">
            <a:srgbClr val="24396B"/>
          </a:lnRef>
          <a:fillRef idx="0">
            <a:srgbClr val="24396B"/>
          </a:fillRef>
          <a:effectRef idx="0">
            <a:srgbClr val="24396B"/>
          </a:effectRef>
          <a:fontRef idx="minor">
            <a:srgbClr val="000000"/>
          </a:fontRef>
        </p:style>
      </p:cxnSp>
      <p:cxnSp>
        <p:nvCxnSpPr>
          <p:cNvPr id="218" name="直接连接符 217"/>
          <p:cNvCxnSpPr/>
          <p:nvPr/>
        </p:nvCxnSpPr>
        <p:spPr>
          <a:xfrm>
            <a:off x="8783320" y="4298049"/>
            <a:ext cx="500234" cy="0"/>
          </a:xfrm>
          <a:prstGeom prst="line">
            <a:avLst/>
          </a:prstGeom>
          <a:ln w="6858">
            <a:solidFill>
              <a:schemeClr val="accent5"/>
            </a:solidFill>
            <a:tailEnd type="oval" w="sm" len="sm"/>
          </a:ln>
          <a:effectLst/>
        </p:spPr>
        <p:style>
          <a:lnRef idx="1">
            <a:srgbClr val="24396B"/>
          </a:lnRef>
          <a:fillRef idx="0">
            <a:srgbClr val="24396B"/>
          </a:fillRef>
          <a:effectRef idx="0">
            <a:srgbClr val="24396B"/>
          </a:effectRef>
          <a:fontRef idx="minor">
            <a:srgbClr val="000000"/>
          </a:fontRef>
        </p:style>
      </p:cxnSp>
      <p:cxnSp>
        <p:nvCxnSpPr>
          <p:cNvPr id="229" name="直接连接符 228"/>
          <p:cNvCxnSpPr/>
          <p:nvPr/>
        </p:nvCxnSpPr>
        <p:spPr>
          <a:xfrm>
            <a:off x="8783320" y="5110849"/>
            <a:ext cx="500234" cy="0"/>
          </a:xfrm>
          <a:prstGeom prst="line">
            <a:avLst/>
          </a:prstGeom>
          <a:ln w="6858">
            <a:solidFill>
              <a:schemeClr val="accent5"/>
            </a:solidFill>
            <a:tailEnd type="oval" w="sm" len="sm"/>
          </a:ln>
          <a:effectLst/>
        </p:spPr>
        <p:style>
          <a:lnRef idx="1">
            <a:srgbClr val="24396B"/>
          </a:lnRef>
          <a:fillRef idx="0">
            <a:srgbClr val="24396B"/>
          </a:fillRef>
          <a:effectRef idx="0">
            <a:srgbClr val="24396B"/>
          </a:effectRef>
          <a:fontRef idx="minor">
            <a:srgbClr val="000000"/>
          </a:fontRef>
        </p:style>
      </p:cxnSp>
      <p:cxnSp>
        <p:nvCxnSpPr>
          <p:cNvPr id="230" name="直接连接符 229"/>
          <p:cNvCxnSpPr/>
          <p:nvPr/>
        </p:nvCxnSpPr>
        <p:spPr>
          <a:xfrm>
            <a:off x="8783320" y="5936349"/>
            <a:ext cx="500234" cy="0"/>
          </a:xfrm>
          <a:prstGeom prst="line">
            <a:avLst/>
          </a:prstGeom>
          <a:ln w="6858">
            <a:solidFill>
              <a:schemeClr val="accent5"/>
            </a:solidFill>
            <a:tailEnd type="oval" w="sm" len="sm"/>
          </a:ln>
          <a:effectLst/>
        </p:spPr>
        <p:style>
          <a:lnRef idx="1">
            <a:srgbClr val="24396B"/>
          </a:lnRef>
          <a:fillRef idx="0">
            <a:srgbClr val="24396B"/>
          </a:fillRef>
          <a:effectRef idx="0">
            <a:srgbClr val="24396B"/>
          </a:effectRef>
          <a:fontRef idx="minor">
            <a:srgbClr val="000000"/>
          </a:fontRef>
        </p:style>
      </p:cxnSp>
      <p:sp>
        <p:nvSpPr>
          <p:cNvPr id="231" name="文本框 230"/>
          <p:cNvSpPr txBox="1"/>
          <p:nvPr/>
        </p:nvSpPr>
        <p:spPr>
          <a:xfrm>
            <a:off x="8540524" y="2608887"/>
            <a:ext cx="233272" cy="738664"/>
          </a:xfrm>
          <a:prstGeom prst="rect">
            <a:avLst/>
          </a:prstGeom>
          <a:noFill/>
        </p:spPr>
        <p:txBody>
          <a:bodyPr wrap="square" rtlCol="0">
            <a:spAutoFit/>
          </a:bodyPr>
          <a:lstStyle/>
          <a:p>
            <a:pPr algn="l"/>
            <a:r>
              <a:rPr lang="zh-CN" altLang="en-US" sz="1050"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功能服务</a:t>
            </a:r>
            <a:endParaRPr lang="zh-CN" altLang="en-US" sz="1050"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32" name="文本框 231"/>
          <p:cNvSpPr txBox="1"/>
          <p:nvPr/>
        </p:nvSpPr>
        <p:spPr>
          <a:xfrm>
            <a:off x="8569099" y="4104312"/>
            <a:ext cx="157072" cy="738664"/>
          </a:xfrm>
          <a:prstGeom prst="rect">
            <a:avLst/>
          </a:prstGeom>
          <a:noFill/>
        </p:spPr>
        <p:txBody>
          <a:bodyPr wrap="square" rtlCol="0">
            <a:spAutoFit/>
          </a:bodyPr>
          <a:lstStyle/>
          <a:p>
            <a:pPr algn="l"/>
            <a:r>
              <a:rPr lang="zh-CN" altLang="en-US" sz="1050"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数据服务</a:t>
            </a:r>
            <a:endParaRPr lang="zh-CN" altLang="en-US" sz="1050"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cxnSp>
        <p:nvCxnSpPr>
          <p:cNvPr id="233" name="直接连接符 232"/>
          <p:cNvCxnSpPr/>
          <p:nvPr/>
        </p:nvCxnSpPr>
        <p:spPr>
          <a:xfrm>
            <a:off x="8618220" y="3458845"/>
            <a:ext cx="168276" cy="0"/>
          </a:xfrm>
          <a:prstGeom prst="line">
            <a:avLst/>
          </a:prstGeom>
          <a:ln>
            <a:solidFill>
              <a:schemeClr val="accent5">
                <a:lumMod val="60000"/>
                <a:lumOff val="40000"/>
              </a:schemeClr>
            </a:solidFill>
            <a:prstDash val="dash"/>
          </a:ln>
        </p:spPr>
        <p:style>
          <a:lnRef idx="1">
            <a:srgbClr val="24396B"/>
          </a:lnRef>
          <a:fillRef idx="0">
            <a:srgbClr val="24396B"/>
          </a:fillRef>
          <a:effectRef idx="0">
            <a:srgbClr val="24396B"/>
          </a:effectRef>
          <a:fontRef idx="minor">
            <a:srgbClr val="000000"/>
          </a:fontRef>
        </p:style>
      </p:cxnSp>
      <p:cxnSp>
        <p:nvCxnSpPr>
          <p:cNvPr id="234" name="直接连接符 233"/>
          <p:cNvCxnSpPr/>
          <p:nvPr/>
        </p:nvCxnSpPr>
        <p:spPr>
          <a:xfrm>
            <a:off x="8618220" y="4049395"/>
            <a:ext cx="168276" cy="0"/>
          </a:xfrm>
          <a:prstGeom prst="line">
            <a:avLst/>
          </a:prstGeom>
          <a:ln>
            <a:solidFill>
              <a:schemeClr val="accent5">
                <a:lumMod val="60000"/>
                <a:lumOff val="40000"/>
              </a:schemeClr>
            </a:solidFill>
            <a:prstDash val="dash"/>
          </a:ln>
        </p:spPr>
        <p:style>
          <a:lnRef idx="1">
            <a:srgbClr val="24396B"/>
          </a:lnRef>
          <a:fillRef idx="0">
            <a:srgbClr val="24396B"/>
          </a:fillRef>
          <a:effectRef idx="0">
            <a:srgbClr val="24396B"/>
          </a:effectRef>
          <a:fontRef idx="minor">
            <a:srgbClr val="000000"/>
          </a:fontRef>
        </p:style>
      </p:cxnSp>
      <p:sp>
        <p:nvSpPr>
          <p:cNvPr id="235" name="紫荆的职场Point57"/>
          <p:cNvSpPr/>
          <p:nvPr/>
        </p:nvSpPr>
        <p:spPr>
          <a:xfrm rot="5400000">
            <a:off x="2080260" y="1847850"/>
            <a:ext cx="179705" cy="347980"/>
          </a:xfrm>
          <a:prstGeom prst="upArrow">
            <a:avLst/>
          </a:prstGeom>
          <a:gradFill>
            <a:gsLst>
              <a:gs pos="0">
                <a:schemeClr val="accent1">
                  <a:lumMod val="60000"/>
                  <a:lumOff val="40000"/>
                </a:schemeClr>
              </a:gs>
              <a:gs pos="100000">
                <a:schemeClr val="accent1">
                  <a:lumMod val="60000"/>
                  <a:lumOff val="40000"/>
                  <a:alpha val="0"/>
                </a:schemeClr>
              </a:gs>
            </a:gsLst>
            <a:lin ang="5400000" scaled="0"/>
          </a:gradFill>
          <a:ln w="19050" cap="flat" cmpd="sng" algn="ctr">
            <a:noFill/>
            <a:prstDash val="solid"/>
            <a:miter lim="800000"/>
          </a:ln>
          <a:effectLst/>
        </p:spPr>
        <p:txBody>
          <a:bodyPr rtlCol="0" anchor="ctr"/>
          <a:lstStyle/>
          <a:p>
            <a:pPr algn="ctr"/>
            <a:endParaRPr lang="zh-CN" altLang="en-US">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236" name="紫荆的职场Point57"/>
          <p:cNvSpPr/>
          <p:nvPr/>
        </p:nvSpPr>
        <p:spPr>
          <a:xfrm rot="5400000">
            <a:off x="2080260" y="2771775"/>
            <a:ext cx="179705" cy="347980"/>
          </a:xfrm>
          <a:prstGeom prst="upArrow">
            <a:avLst/>
          </a:prstGeom>
          <a:gradFill>
            <a:gsLst>
              <a:gs pos="0">
                <a:schemeClr val="accent1">
                  <a:lumMod val="60000"/>
                  <a:lumOff val="40000"/>
                </a:schemeClr>
              </a:gs>
              <a:gs pos="100000">
                <a:schemeClr val="accent1">
                  <a:lumMod val="60000"/>
                  <a:lumOff val="40000"/>
                  <a:alpha val="0"/>
                </a:schemeClr>
              </a:gs>
            </a:gsLst>
            <a:lin ang="5400000" scaled="0"/>
          </a:gradFill>
          <a:ln w="19050" cap="flat" cmpd="sng" algn="ctr">
            <a:noFill/>
            <a:prstDash val="solid"/>
            <a:miter lim="800000"/>
          </a:ln>
          <a:effectLst/>
        </p:spPr>
        <p:txBody>
          <a:bodyPr rtlCol="0" anchor="ctr">
            <a:noAutofit/>
          </a:bodyPr>
          <a:lstStyle/>
          <a:p>
            <a:pPr lvl="0" algn="ctr">
              <a:buClrTx/>
              <a:buSzTx/>
              <a:buFontTx/>
            </a:pPr>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37" name="紫荆的职场Point57"/>
          <p:cNvSpPr/>
          <p:nvPr/>
        </p:nvSpPr>
        <p:spPr>
          <a:xfrm rot="5400000">
            <a:off x="2080260" y="3695700"/>
            <a:ext cx="179705" cy="347980"/>
          </a:xfrm>
          <a:prstGeom prst="upArrow">
            <a:avLst/>
          </a:prstGeom>
          <a:gradFill>
            <a:gsLst>
              <a:gs pos="0">
                <a:schemeClr val="accent1">
                  <a:lumMod val="60000"/>
                  <a:lumOff val="40000"/>
                </a:schemeClr>
              </a:gs>
              <a:gs pos="100000">
                <a:schemeClr val="accent1">
                  <a:lumMod val="60000"/>
                  <a:lumOff val="40000"/>
                  <a:alpha val="0"/>
                </a:schemeClr>
              </a:gs>
            </a:gsLst>
            <a:lin ang="5400000" scaled="0"/>
          </a:gradFill>
          <a:ln w="19050" cap="flat" cmpd="sng" algn="ctr">
            <a:noFill/>
            <a:prstDash val="solid"/>
            <a:miter lim="800000"/>
          </a:ln>
          <a:effectLst/>
        </p:spPr>
        <p:txBody>
          <a:bodyPr rtlCol="0" anchor="ctr">
            <a:noAutofit/>
          </a:bodyPr>
          <a:lstStyle/>
          <a:p>
            <a:pPr lvl="0" algn="ctr">
              <a:buClrTx/>
              <a:buSzTx/>
              <a:buFontTx/>
            </a:pPr>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38" name="紫荆的职场Point57"/>
          <p:cNvSpPr/>
          <p:nvPr/>
        </p:nvSpPr>
        <p:spPr>
          <a:xfrm rot="5400000">
            <a:off x="2080260" y="4619625"/>
            <a:ext cx="179705" cy="347980"/>
          </a:xfrm>
          <a:prstGeom prst="upArrow">
            <a:avLst/>
          </a:prstGeom>
          <a:gradFill>
            <a:gsLst>
              <a:gs pos="0">
                <a:schemeClr val="accent1">
                  <a:lumMod val="60000"/>
                  <a:lumOff val="40000"/>
                </a:schemeClr>
              </a:gs>
              <a:gs pos="100000">
                <a:schemeClr val="accent1">
                  <a:lumMod val="60000"/>
                  <a:lumOff val="40000"/>
                  <a:alpha val="0"/>
                </a:schemeClr>
              </a:gs>
            </a:gsLst>
            <a:lin ang="5400000" scaled="0"/>
          </a:gradFill>
          <a:ln w="19050" cap="flat" cmpd="sng" algn="ctr">
            <a:noFill/>
            <a:prstDash val="solid"/>
            <a:miter lim="800000"/>
          </a:ln>
          <a:effectLst/>
        </p:spPr>
        <p:txBody>
          <a:bodyPr rtlCol="0" anchor="ctr">
            <a:noAutofit/>
          </a:bodyPr>
          <a:lstStyle/>
          <a:p>
            <a:pPr lvl="0" algn="ctr">
              <a:buClrTx/>
              <a:buSzTx/>
              <a:buFontTx/>
            </a:pPr>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pic>
        <p:nvPicPr>
          <p:cNvPr id="239" name="图片 238" descr="电子商城"/>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1129010" y="1701800"/>
            <a:ext cx="491490" cy="364490"/>
          </a:xfrm>
          <a:prstGeom prst="rect">
            <a:avLst/>
          </a:prstGeom>
        </p:spPr>
      </p:pic>
      <p:pic>
        <p:nvPicPr>
          <p:cNvPr id="240" name="图片 239" descr="pos机"/>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1103610" y="2835910"/>
            <a:ext cx="332740" cy="332740"/>
          </a:xfrm>
          <a:prstGeom prst="rect">
            <a:avLst/>
          </a:prstGeom>
        </p:spPr>
      </p:pic>
      <p:pic>
        <p:nvPicPr>
          <p:cNvPr id="241" name="图片 240" descr="数据大屏"/>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1088370" y="3989070"/>
            <a:ext cx="360680" cy="360680"/>
          </a:xfrm>
          <a:prstGeom prst="rect">
            <a:avLst/>
          </a:prstGeom>
        </p:spPr>
      </p:pic>
      <p:pic>
        <p:nvPicPr>
          <p:cNvPr id="242" name="图片 241" descr="个性化会员系统"/>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1092180" y="5198745"/>
            <a:ext cx="351790" cy="276860"/>
          </a:xfrm>
          <a:prstGeom prst="rect">
            <a:avLst/>
          </a:prstGeom>
        </p:spPr>
      </p:pic>
      <p:sp>
        <p:nvSpPr>
          <p:cNvPr id="243" name="文本框 242"/>
          <p:cNvSpPr txBox="1"/>
          <p:nvPr/>
        </p:nvSpPr>
        <p:spPr>
          <a:xfrm>
            <a:off x="9426352" y="2478965"/>
            <a:ext cx="436880" cy="398780"/>
          </a:xfrm>
          <a:prstGeom prst="rect">
            <a:avLst/>
          </a:prstGeom>
          <a:noFill/>
        </p:spPr>
        <p:txBody>
          <a:bodyPr wrap="none" rtlCol="0">
            <a:sp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交易</a:t>
            </a:r>
            <a:endParaRPr lang="en-US" altLang="zh-CN" sz="1000" dirty="0">
              <a:solidFill>
                <a:srgbClr val="FFFFFF"/>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服务</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44" name="文本框 243"/>
          <p:cNvSpPr txBox="1"/>
          <p:nvPr/>
        </p:nvSpPr>
        <p:spPr>
          <a:xfrm>
            <a:off x="9424219" y="3289225"/>
            <a:ext cx="441146" cy="400110"/>
          </a:xfrm>
          <a:prstGeom prst="rect">
            <a:avLst/>
          </a:prstGeom>
          <a:noFill/>
        </p:spPr>
        <p:txBody>
          <a:bodyPr wrap="none" rtlCol="0">
            <a:sp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消息</a:t>
            </a:r>
            <a:endParaRPr lang="en-US" altLang="zh-CN" sz="1000" dirty="0">
              <a:solidFill>
                <a:srgbClr val="FFFFFF"/>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服务</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45" name="文本框 244"/>
          <p:cNvSpPr txBox="1"/>
          <p:nvPr/>
        </p:nvSpPr>
        <p:spPr>
          <a:xfrm>
            <a:off x="9424218" y="4099485"/>
            <a:ext cx="441146" cy="400110"/>
          </a:xfrm>
          <a:prstGeom prst="rect">
            <a:avLst/>
          </a:prstGeom>
          <a:noFill/>
        </p:spPr>
        <p:txBody>
          <a:bodyPr wrap="none" rtlCol="0">
            <a:sp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支付</a:t>
            </a:r>
            <a:endParaRPr lang="en-US" altLang="zh-CN" sz="1000" dirty="0">
              <a:solidFill>
                <a:srgbClr val="FFFFFF"/>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服务</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46" name="文本框 245"/>
          <p:cNvSpPr txBox="1"/>
          <p:nvPr/>
        </p:nvSpPr>
        <p:spPr>
          <a:xfrm>
            <a:off x="9424219" y="4909745"/>
            <a:ext cx="441146" cy="400110"/>
          </a:xfrm>
          <a:prstGeom prst="rect">
            <a:avLst/>
          </a:prstGeom>
          <a:noFill/>
        </p:spPr>
        <p:txBody>
          <a:bodyPr wrap="none" rtlCol="0">
            <a:sp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报表</a:t>
            </a:r>
            <a:endParaRPr lang="en-US" altLang="zh-CN" sz="1000" dirty="0">
              <a:solidFill>
                <a:srgbClr val="FFFFFF"/>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服务</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47" name="文本框 246"/>
          <p:cNvSpPr txBox="1"/>
          <p:nvPr/>
        </p:nvSpPr>
        <p:spPr>
          <a:xfrm>
            <a:off x="9362853" y="5720005"/>
            <a:ext cx="563880" cy="398780"/>
          </a:xfrm>
          <a:prstGeom prst="rect">
            <a:avLst/>
          </a:prstGeom>
          <a:noFill/>
        </p:spPr>
        <p:txBody>
          <a:bodyPr wrap="none" rtlCol="0">
            <a:sp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智能推</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荐服务</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grpSp>
        <p:nvGrpSpPr>
          <p:cNvPr id="248" name="组合 247"/>
          <p:cNvGrpSpPr/>
          <p:nvPr/>
        </p:nvGrpSpPr>
        <p:grpSpPr>
          <a:xfrm>
            <a:off x="10454640" y="1990725"/>
            <a:ext cx="347980" cy="3648075"/>
            <a:chOff x="16336" y="2935"/>
            <a:chExt cx="548" cy="5745"/>
          </a:xfrm>
        </p:grpSpPr>
        <p:sp>
          <p:nvSpPr>
            <p:cNvPr id="249" name="紫荆的职场Point57"/>
            <p:cNvSpPr/>
            <p:nvPr/>
          </p:nvSpPr>
          <p:spPr>
            <a:xfrm rot="5400000">
              <a:off x="16469" y="2802"/>
              <a:ext cx="283" cy="548"/>
            </a:xfrm>
            <a:prstGeom prst="upArrow">
              <a:avLst/>
            </a:prstGeom>
            <a:gradFill>
              <a:gsLst>
                <a:gs pos="0">
                  <a:schemeClr val="accent5"/>
                </a:gs>
                <a:gs pos="100000">
                  <a:schemeClr val="accent5">
                    <a:alpha val="0"/>
                  </a:schemeClr>
                </a:gs>
              </a:gsLst>
              <a:lin ang="5400000" scaled="0"/>
            </a:gradFill>
            <a:ln w="19050" cap="flat" cmpd="sng" algn="ctr">
              <a:noFill/>
              <a:prstDash val="solid"/>
              <a:miter lim="800000"/>
            </a:ln>
            <a:effectLst/>
          </p:spPr>
          <p:txBody>
            <a:bodyPr rtlCol="0" anchor="ctr"/>
            <a:lstStyle/>
            <a:p>
              <a:pPr algn="ctr"/>
              <a:endParaRPr lang="zh-CN" altLang="en-US">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250" name="紫荆的职场Point57"/>
            <p:cNvSpPr/>
            <p:nvPr/>
          </p:nvSpPr>
          <p:spPr>
            <a:xfrm rot="5400000">
              <a:off x="16469" y="4623"/>
              <a:ext cx="283" cy="548"/>
            </a:xfrm>
            <a:prstGeom prst="upArrow">
              <a:avLst/>
            </a:prstGeom>
            <a:gradFill>
              <a:gsLst>
                <a:gs pos="0">
                  <a:schemeClr val="accent5"/>
                </a:gs>
                <a:gs pos="100000">
                  <a:schemeClr val="accent5">
                    <a:alpha val="0"/>
                  </a:schemeClr>
                </a:gs>
              </a:gsLst>
              <a:lin ang="5400000" scaled="0"/>
            </a:gradFill>
            <a:ln w="19050" cap="flat" cmpd="sng" algn="ctr">
              <a:noFill/>
              <a:prstDash val="solid"/>
              <a:miter lim="800000"/>
            </a:ln>
            <a:effectLst/>
          </p:spPr>
          <p:txBody>
            <a:bodyPr rtlCol="0" anchor="ctr">
              <a:noAutofit/>
            </a:bodyPr>
            <a:lstStyle/>
            <a:p>
              <a:pPr lvl="0" algn="ctr">
                <a:buClrTx/>
                <a:buSzTx/>
                <a:buFontTx/>
              </a:pPr>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51" name="紫荆的职场Point57"/>
            <p:cNvSpPr/>
            <p:nvPr/>
          </p:nvSpPr>
          <p:spPr>
            <a:xfrm rot="5400000">
              <a:off x="16469" y="6444"/>
              <a:ext cx="283" cy="548"/>
            </a:xfrm>
            <a:prstGeom prst="upArrow">
              <a:avLst/>
            </a:prstGeom>
            <a:gradFill>
              <a:gsLst>
                <a:gs pos="0">
                  <a:schemeClr val="accent5"/>
                </a:gs>
                <a:gs pos="100000">
                  <a:schemeClr val="accent5">
                    <a:alpha val="0"/>
                  </a:schemeClr>
                </a:gs>
              </a:gsLst>
              <a:lin ang="5400000" scaled="0"/>
            </a:gradFill>
            <a:ln w="19050" cap="flat" cmpd="sng" algn="ctr">
              <a:noFill/>
              <a:prstDash val="solid"/>
              <a:miter lim="800000"/>
            </a:ln>
            <a:effectLst/>
          </p:spPr>
          <p:txBody>
            <a:bodyPr rtlCol="0" anchor="ctr">
              <a:noAutofit/>
            </a:bodyPr>
            <a:lstStyle/>
            <a:p>
              <a:pPr lvl="0" algn="ctr">
                <a:buClrTx/>
                <a:buSzTx/>
                <a:buFontTx/>
              </a:pPr>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52" name="紫荆的职场Point57"/>
            <p:cNvSpPr/>
            <p:nvPr/>
          </p:nvSpPr>
          <p:spPr>
            <a:xfrm rot="5400000">
              <a:off x="16469" y="8265"/>
              <a:ext cx="283" cy="548"/>
            </a:xfrm>
            <a:prstGeom prst="upArrow">
              <a:avLst/>
            </a:prstGeom>
            <a:gradFill>
              <a:gsLst>
                <a:gs pos="0">
                  <a:schemeClr val="accent5"/>
                </a:gs>
                <a:gs pos="100000">
                  <a:schemeClr val="accent5">
                    <a:alpha val="0"/>
                  </a:schemeClr>
                </a:gs>
              </a:gsLst>
              <a:lin ang="5400000" scaled="0"/>
            </a:gradFill>
            <a:ln w="19050" cap="flat" cmpd="sng" algn="ctr">
              <a:noFill/>
              <a:prstDash val="solid"/>
              <a:miter lim="800000"/>
            </a:ln>
            <a:effectLst/>
          </p:spPr>
          <p:txBody>
            <a:bodyPr rtlCol="0" anchor="ctr">
              <a:noAutofit/>
            </a:bodyPr>
            <a:lstStyle/>
            <a:p>
              <a:pPr lvl="0" algn="ctr">
                <a:buClrTx/>
                <a:buSzTx/>
                <a:buFontTx/>
              </a:pPr>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grpSp>
      <p:sp>
        <p:nvSpPr>
          <p:cNvPr id="253" name="紫荆的职场Point57"/>
          <p:cNvSpPr/>
          <p:nvPr/>
        </p:nvSpPr>
        <p:spPr>
          <a:xfrm rot="5400000">
            <a:off x="2080260" y="5543550"/>
            <a:ext cx="179705" cy="347980"/>
          </a:xfrm>
          <a:prstGeom prst="upArrow">
            <a:avLst/>
          </a:prstGeom>
          <a:gradFill>
            <a:gsLst>
              <a:gs pos="0">
                <a:schemeClr val="accent1">
                  <a:lumMod val="60000"/>
                  <a:lumOff val="40000"/>
                </a:schemeClr>
              </a:gs>
              <a:gs pos="100000">
                <a:schemeClr val="accent1">
                  <a:lumMod val="60000"/>
                  <a:lumOff val="40000"/>
                  <a:alpha val="0"/>
                </a:schemeClr>
              </a:gs>
            </a:gsLst>
            <a:lin ang="5400000" scaled="0"/>
          </a:gradFill>
          <a:ln w="19050" cap="flat" cmpd="sng" algn="ctr">
            <a:noFill/>
            <a:prstDash val="solid"/>
            <a:miter lim="800000"/>
          </a:ln>
          <a:effectLst/>
        </p:spPr>
        <p:txBody>
          <a:bodyPr rtlCol="0" anchor="ctr">
            <a:noAutofit/>
          </a:bodyPr>
          <a:lstStyle/>
          <a:p>
            <a:pPr lvl="0" algn="ctr">
              <a:buClrTx/>
              <a:buSzTx/>
              <a:buFontTx/>
            </a:pPr>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55" name="矩形 254"/>
          <p:cNvSpPr/>
          <p:nvPr/>
        </p:nvSpPr>
        <p:spPr>
          <a:xfrm>
            <a:off x="4025900" y="2261553"/>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56" name="文本框 255"/>
          <p:cNvSpPr txBox="1"/>
          <p:nvPr/>
        </p:nvSpPr>
        <p:spPr>
          <a:xfrm>
            <a:off x="4502785" y="2321243"/>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支付中心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7" name="矩形 256"/>
          <p:cNvSpPr/>
          <p:nvPr/>
        </p:nvSpPr>
        <p:spPr>
          <a:xfrm>
            <a:off x="4025265" y="2260918"/>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59" name="矩形 258"/>
          <p:cNvSpPr/>
          <p:nvPr/>
        </p:nvSpPr>
        <p:spPr>
          <a:xfrm>
            <a:off x="4025900" y="3275330"/>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60" name="文本框 259"/>
          <p:cNvSpPr txBox="1"/>
          <p:nvPr/>
        </p:nvSpPr>
        <p:spPr>
          <a:xfrm>
            <a:off x="4502785" y="3335020"/>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营销中心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1" name="矩形 260"/>
          <p:cNvSpPr/>
          <p:nvPr/>
        </p:nvSpPr>
        <p:spPr>
          <a:xfrm>
            <a:off x="4025265" y="3272155"/>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63" name="矩形 262"/>
          <p:cNvSpPr/>
          <p:nvPr/>
        </p:nvSpPr>
        <p:spPr>
          <a:xfrm>
            <a:off x="4025900" y="2769235"/>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64" name="文本框 263"/>
          <p:cNvSpPr txBox="1"/>
          <p:nvPr/>
        </p:nvSpPr>
        <p:spPr>
          <a:xfrm>
            <a:off x="4502785" y="2842260"/>
            <a:ext cx="640080" cy="229870"/>
          </a:xfrm>
          <a:prstGeom prst="rect">
            <a:avLst/>
          </a:prstGeom>
          <a:solidFill>
            <a:schemeClr val="bg1"/>
          </a:solid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评价中心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5" name="矩形 264"/>
          <p:cNvSpPr/>
          <p:nvPr/>
        </p:nvSpPr>
        <p:spPr>
          <a:xfrm>
            <a:off x="4025265" y="2766060"/>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67" name="矩形 266"/>
          <p:cNvSpPr/>
          <p:nvPr/>
        </p:nvSpPr>
        <p:spPr>
          <a:xfrm>
            <a:off x="5458460" y="1758950"/>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68" name="文本框 267"/>
          <p:cNvSpPr txBox="1"/>
          <p:nvPr/>
        </p:nvSpPr>
        <p:spPr>
          <a:xfrm>
            <a:off x="5935345" y="1831975"/>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会员中心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9" name="矩形 268"/>
          <p:cNvSpPr/>
          <p:nvPr/>
        </p:nvSpPr>
        <p:spPr>
          <a:xfrm>
            <a:off x="5457825" y="1755775"/>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71" name="矩形 270"/>
          <p:cNvSpPr/>
          <p:nvPr/>
        </p:nvSpPr>
        <p:spPr>
          <a:xfrm>
            <a:off x="5458460" y="2265045"/>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72" name="文本框 271"/>
          <p:cNvSpPr txBox="1"/>
          <p:nvPr/>
        </p:nvSpPr>
        <p:spPr>
          <a:xfrm>
            <a:off x="5935345" y="2338070"/>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工单中心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73" name="矩形 272"/>
          <p:cNvSpPr/>
          <p:nvPr/>
        </p:nvSpPr>
        <p:spPr>
          <a:xfrm>
            <a:off x="5457825" y="2261870"/>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75" name="矩形 274"/>
          <p:cNvSpPr/>
          <p:nvPr/>
        </p:nvSpPr>
        <p:spPr>
          <a:xfrm>
            <a:off x="5458460" y="3277235"/>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76" name="文本框 275"/>
          <p:cNvSpPr txBox="1"/>
          <p:nvPr/>
        </p:nvSpPr>
        <p:spPr>
          <a:xfrm>
            <a:off x="5935345" y="3350260"/>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用户中心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77" name="矩形 276"/>
          <p:cNvSpPr/>
          <p:nvPr/>
        </p:nvSpPr>
        <p:spPr>
          <a:xfrm>
            <a:off x="5457825" y="3274060"/>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79" name="矩形 278"/>
          <p:cNvSpPr/>
          <p:nvPr/>
        </p:nvSpPr>
        <p:spPr>
          <a:xfrm>
            <a:off x="5458460" y="2771140"/>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80" name="文本框 279"/>
          <p:cNvSpPr txBox="1"/>
          <p:nvPr/>
        </p:nvSpPr>
        <p:spPr>
          <a:xfrm>
            <a:off x="5935345" y="2844165"/>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物流中心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1" name="矩形 280"/>
          <p:cNvSpPr/>
          <p:nvPr/>
        </p:nvSpPr>
        <p:spPr>
          <a:xfrm>
            <a:off x="5457825" y="2767965"/>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83" name="矩形 282"/>
          <p:cNvSpPr/>
          <p:nvPr/>
        </p:nvSpPr>
        <p:spPr>
          <a:xfrm>
            <a:off x="6891020" y="1764665"/>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84" name="文本框 283"/>
          <p:cNvSpPr txBox="1"/>
          <p:nvPr/>
        </p:nvSpPr>
        <p:spPr>
          <a:xfrm>
            <a:off x="7367905" y="1837690"/>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推荐中心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5" name="矩形 284"/>
          <p:cNvSpPr/>
          <p:nvPr/>
        </p:nvSpPr>
        <p:spPr>
          <a:xfrm>
            <a:off x="6890385" y="1761490"/>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87" name="矩形 286"/>
          <p:cNvSpPr/>
          <p:nvPr/>
        </p:nvSpPr>
        <p:spPr>
          <a:xfrm>
            <a:off x="6890385" y="2270760"/>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88" name="文本框 287"/>
          <p:cNvSpPr txBox="1"/>
          <p:nvPr/>
        </p:nvSpPr>
        <p:spPr>
          <a:xfrm>
            <a:off x="7367270" y="2343785"/>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消息中心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9" name="矩形 288"/>
          <p:cNvSpPr/>
          <p:nvPr/>
        </p:nvSpPr>
        <p:spPr>
          <a:xfrm>
            <a:off x="6889750" y="2267585"/>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91" name="矩形 290"/>
          <p:cNvSpPr/>
          <p:nvPr/>
        </p:nvSpPr>
        <p:spPr>
          <a:xfrm>
            <a:off x="6891655" y="3282950"/>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92" name="文本框 291"/>
          <p:cNvSpPr txBox="1"/>
          <p:nvPr/>
        </p:nvSpPr>
        <p:spPr>
          <a:xfrm>
            <a:off x="7368540" y="3355975"/>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库存中心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3" name="矩形 292"/>
          <p:cNvSpPr/>
          <p:nvPr/>
        </p:nvSpPr>
        <p:spPr>
          <a:xfrm>
            <a:off x="6891020" y="3279775"/>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95" name="矩形 294"/>
          <p:cNvSpPr/>
          <p:nvPr/>
        </p:nvSpPr>
        <p:spPr>
          <a:xfrm>
            <a:off x="6890385" y="2776855"/>
            <a:ext cx="1230630" cy="349250"/>
          </a:xfrm>
          <a:prstGeom prst="rect">
            <a:avLst/>
          </a:prstGeom>
          <a:solidFill>
            <a:schemeClr val="bg1"/>
          </a:solidFill>
          <a:ln w="11430">
            <a:solidFill>
              <a:schemeClr val="accent1">
                <a:lumMod val="60000"/>
                <a:lumOff val="40000"/>
                <a:alpha val="5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sz="11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96" name="文本框 295"/>
          <p:cNvSpPr txBox="1"/>
          <p:nvPr/>
        </p:nvSpPr>
        <p:spPr>
          <a:xfrm>
            <a:off x="7367270" y="2849880"/>
            <a:ext cx="640080" cy="229870"/>
          </a:xfrm>
          <a:prstGeom prst="rect">
            <a:avLst/>
          </a:prstGeom>
          <a:noFill/>
          <a:ln>
            <a:noFill/>
          </a:ln>
        </p:spPr>
        <p:txBody>
          <a:bodyPr wrap="none" rtlCol="0">
            <a:spAutoFit/>
          </a:bodyP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渠道中心</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7" name="矩形 296"/>
          <p:cNvSpPr/>
          <p:nvPr/>
        </p:nvSpPr>
        <p:spPr>
          <a:xfrm>
            <a:off x="6889750" y="2773680"/>
            <a:ext cx="350520" cy="350520"/>
          </a:xfrm>
          <a:prstGeom prst="rect">
            <a:avLst/>
          </a:prstGeom>
          <a:solidFill>
            <a:schemeClr val="accent1">
              <a:lumMod val="60000"/>
              <a:lumOff val="40000"/>
            </a:schemeClr>
          </a:solidFill>
          <a:ln w="15875">
            <a:solidFill>
              <a:schemeClr val="accent1">
                <a:lumMod val="60000"/>
                <a:lumOff val="40000"/>
              </a:schemeClr>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6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98" name="文本框 297"/>
          <p:cNvSpPr txBox="1"/>
          <p:nvPr/>
        </p:nvSpPr>
        <p:spPr>
          <a:xfrm>
            <a:off x="10308467" y="3610500"/>
            <a:ext cx="590550" cy="337185"/>
          </a:xfrm>
          <a:prstGeom prst="rect">
            <a:avLst/>
          </a:prstGeom>
          <a:noFill/>
        </p:spPr>
        <p:txBody>
          <a:bodyPr wrap="none" rtlCol="0">
            <a:spAutoFit/>
          </a:bodyPr>
          <a:lstStyle/>
          <a:p>
            <a:pPr algn="ctr"/>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支撑</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pic>
        <p:nvPicPr>
          <p:cNvPr id="299" name="图片 298" descr="商品中心"/>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4090353" y="1819910"/>
            <a:ext cx="220345" cy="220345"/>
          </a:xfrm>
          <a:prstGeom prst="rect">
            <a:avLst/>
          </a:prstGeom>
        </p:spPr>
      </p:pic>
      <p:pic>
        <p:nvPicPr>
          <p:cNvPr id="300" name="图片 299" descr="会员中心"/>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5498148" y="1796098"/>
            <a:ext cx="269875" cy="269875"/>
          </a:xfrm>
          <a:prstGeom prst="rect">
            <a:avLst/>
          </a:prstGeom>
        </p:spPr>
      </p:pic>
      <p:pic>
        <p:nvPicPr>
          <p:cNvPr id="301" name="图片 300" descr="商城-推荐中心 – 1"/>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6950710" y="1819910"/>
            <a:ext cx="230505" cy="230505"/>
          </a:xfrm>
          <a:prstGeom prst="rect">
            <a:avLst/>
          </a:prstGeom>
        </p:spPr>
      </p:pic>
      <p:pic>
        <p:nvPicPr>
          <p:cNvPr id="302" name="图片 301" descr="支付中心"/>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090670" y="2326323"/>
            <a:ext cx="219710" cy="219710"/>
          </a:xfrm>
          <a:prstGeom prst="rect">
            <a:avLst/>
          </a:prstGeom>
        </p:spPr>
      </p:pic>
      <p:pic>
        <p:nvPicPr>
          <p:cNvPr id="303" name="图片 302" descr="工单中心"/>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5518785" y="2322830"/>
            <a:ext cx="228600" cy="228600"/>
          </a:xfrm>
          <a:prstGeom prst="rect">
            <a:avLst/>
          </a:prstGeom>
        </p:spPr>
      </p:pic>
      <p:pic>
        <p:nvPicPr>
          <p:cNvPr id="304" name="图片 303" descr="消息-面"/>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6950710" y="2335530"/>
            <a:ext cx="230505" cy="230505"/>
          </a:xfrm>
          <a:prstGeom prst="rect">
            <a:avLst/>
          </a:prstGeom>
        </p:spPr>
      </p:pic>
      <p:pic>
        <p:nvPicPr>
          <p:cNvPr id="305" name="图片 304" descr="评价中心"/>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4098290" y="2839085"/>
            <a:ext cx="204470" cy="204470"/>
          </a:xfrm>
          <a:prstGeom prst="rect">
            <a:avLst/>
          </a:prstGeom>
        </p:spPr>
      </p:pic>
      <p:pic>
        <p:nvPicPr>
          <p:cNvPr id="306" name="图片 305" descr="物流中心"/>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5515928" y="2826068"/>
            <a:ext cx="234315" cy="234315"/>
          </a:xfrm>
          <a:prstGeom prst="rect">
            <a:avLst/>
          </a:prstGeom>
        </p:spPr>
      </p:pic>
      <p:pic>
        <p:nvPicPr>
          <p:cNvPr id="307" name="图片 306" descr="渠道中心"/>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6950710" y="2814320"/>
            <a:ext cx="250825" cy="250825"/>
          </a:xfrm>
          <a:prstGeom prst="rect">
            <a:avLst/>
          </a:prstGeom>
          <a:solidFill>
            <a:schemeClr val="accent1">
              <a:lumMod val="60000"/>
              <a:lumOff val="40000"/>
            </a:schemeClr>
          </a:solidFill>
          <a:effectLst/>
        </p:spPr>
      </p:pic>
      <p:pic>
        <p:nvPicPr>
          <p:cNvPr id="308" name="图片 307" descr="营销中心icon"/>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4096703" y="3343593"/>
            <a:ext cx="207645" cy="207645"/>
          </a:xfrm>
          <a:prstGeom prst="rect">
            <a:avLst/>
          </a:prstGeom>
        </p:spPr>
      </p:pic>
      <p:pic>
        <p:nvPicPr>
          <p:cNvPr id="309" name="图片 308" descr="用户中心"/>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5536883" y="3353118"/>
            <a:ext cx="192405" cy="192405"/>
          </a:xfrm>
          <a:prstGeom prst="rect">
            <a:avLst/>
          </a:prstGeom>
        </p:spPr>
      </p:pic>
      <p:pic>
        <p:nvPicPr>
          <p:cNvPr id="310" name="图片 309" descr="库存中心"/>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6957060" y="3329305"/>
            <a:ext cx="233045" cy="233045"/>
          </a:xfrm>
          <a:prstGeom prst="rect">
            <a:avLst/>
          </a:prstGeom>
        </p:spPr>
      </p:pic>
      <p:cxnSp>
        <p:nvCxnSpPr>
          <p:cNvPr id="311" name="直接连接符 310"/>
          <p:cNvCxnSpPr>
            <a:endCxn id="124" idx="6"/>
          </p:cNvCxnSpPr>
          <p:nvPr/>
        </p:nvCxnSpPr>
        <p:spPr>
          <a:xfrm>
            <a:off x="4494530" y="4647565"/>
            <a:ext cx="130175" cy="1905"/>
          </a:xfrm>
          <a:prstGeom prst="line">
            <a:avLst/>
          </a:prstGeom>
          <a:noFill/>
          <a:ln w="10516">
            <a:solidFill>
              <a:schemeClr val="accent1">
                <a:lumMod val="60000"/>
                <a:lumOff val="40000"/>
              </a:schemeClr>
            </a:solidFill>
            <a:prstDash val="dash"/>
          </a:ln>
          <a:effectLst/>
        </p:spPr>
        <p:style>
          <a:lnRef idx="2">
            <a:srgbClr val="24396B">
              <a:shade val="50000"/>
            </a:srgbClr>
          </a:lnRef>
          <a:fillRef idx="1">
            <a:srgbClr val="24396B"/>
          </a:fillRef>
          <a:effectRef idx="0">
            <a:srgbClr val="24396B"/>
          </a:effectRef>
          <a:fontRef idx="minor">
            <a:srgbClr val="FFFFFF"/>
          </a:fontRef>
        </p:style>
      </p:cxnSp>
      <p:cxnSp>
        <p:nvCxnSpPr>
          <p:cNvPr id="312" name="直接连接符 311"/>
          <p:cNvCxnSpPr/>
          <p:nvPr/>
        </p:nvCxnSpPr>
        <p:spPr>
          <a:xfrm>
            <a:off x="4491355" y="5082540"/>
            <a:ext cx="130175" cy="1905"/>
          </a:xfrm>
          <a:prstGeom prst="line">
            <a:avLst/>
          </a:prstGeom>
          <a:noFill/>
          <a:ln w="10516">
            <a:solidFill>
              <a:schemeClr val="accent1">
                <a:lumMod val="60000"/>
                <a:lumOff val="40000"/>
              </a:schemeClr>
            </a:solidFill>
            <a:prstDash val="dash"/>
          </a:ln>
          <a:effectLst/>
        </p:spPr>
        <p:style>
          <a:lnRef idx="2">
            <a:srgbClr val="24396B">
              <a:shade val="50000"/>
            </a:srgbClr>
          </a:lnRef>
          <a:fillRef idx="1">
            <a:srgbClr val="24396B"/>
          </a:fillRef>
          <a:effectRef idx="0">
            <a:srgbClr val="24396B"/>
          </a:effectRef>
          <a:fontRef idx="minor">
            <a:srgbClr val="FFFFFF"/>
          </a:fontRef>
        </p:style>
      </p:cxnSp>
      <p:cxnSp>
        <p:nvCxnSpPr>
          <p:cNvPr id="313" name="直接连接符 312"/>
          <p:cNvCxnSpPr/>
          <p:nvPr/>
        </p:nvCxnSpPr>
        <p:spPr>
          <a:xfrm>
            <a:off x="4494530" y="5532755"/>
            <a:ext cx="130175" cy="1905"/>
          </a:xfrm>
          <a:prstGeom prst="line">
            <a:avLst/>
          </a:prstGeom>
          <a:noFill/>
          <a:ln w="10516">
            <a:solidFill>
              <a:schemeClr val="accent1">
                <a:lumMod val="60000"/>
                <a:lumOff val="40000"/>
              </a:schemeClr>
            </a:solidFill>
            <a:prstDash val="dash"/>
          </a:ln>
          <a:effectLst/>
        </p:spPr>
        <p:style>
          <a:lnRef idx="2">
            <a:srgbClr val="24396B">
              <a:shade val="50000"/>
            </a:srgbClr>
          </a:lnRef>
          <a:fillRef idx="1">
            <a:srgbClr val="24396B"/>
          </a:fillRef>
          <a:effectRef idx="0">
            <a:srgbClr val="24396B"/>
          </a:effectRef>
          <a:fontRef idx="minor">
            <a:srgbClr val="FFFFFF"/>
          </a:fontRef>
        </p:style>
      </p:cxnSp>
      <p:grpSp>
        <p:nvGrpSpPr>
          <p:cNvPr id="326" name="组合 325"/>
          <p:cNvGrpSpPr/>
          <p:nvPr/>
        </p:nvGrpSpPr>
        <p:grpSpPr>
          <a:xfrm>
            <a:off x="5616575" y="5836358"/>
            <a:ext cx="297180" cy="248285"/>
            <a:chOff x="9363" y="5746"/>
            <a:chExt cx="468" cy="702"/>
          </a:xfrm>
        </p:grpSpPr>
        <p:sp>
          <p:nvSpPr>
            <p:cNvPr id="327" name="箭头: 下 47"/>
            <p:cNvSpPr/>
            <p:nvPr>
              <p:custDataLst>
                <p:tags r:id="rId55"/>
              </p:custDataLst>
            </p:nvPr>
          </p:nvSpPr>
          <p:spPr>
            <a:xfrm rot="16200000" flipH="1" flipV="1">
              <a:off x="9330" y="5946"/>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328" name="箭头: 下 47"/>
            <p:cNvSpPr/>
            <p:nvPr>
              <p:custDataLst>
                <p:tags r:id="rId56"/>
              </p:custDataLst>
            </p:nvPr>
          </p:nvSpPr>
          <p:spPr>
            <a:xfrm rot="16200000" flipH="1" flipV="1">
              <a:off x="9163" y="5947"/>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 name="组合 1"/>
          <p:cNvGrpSpPr/>
          <p:nvPr/>
        </p:nvGrpSpPr>
        <p:grpSpPr>
          <a:xfrm>
            <a:off x="5616575" y="5401383"/>
            <a:ext cx="297180" cy="248285"/>
            <a:chOff x="9363" y="5746"/>
            <a:chExt cx="468" cy="702"/>
          </a:xfrm>
        </p:grpSpPr>
        <p:sp>
          <p:nvSpPr>
            <p:cNvPr id="6" name="箭头: 下 47"/>
            <p:cNvSpPr/>
            <p:nvPr>
              <p:custDataLst>
                <p:tags r:id="rId57"/>
              </p:custDataLst>
            </p:nvPr>
          </p:nvSpPr>
          <p:spPr>
            <a:xfrm rot="16200000" flipH="1" flipV="1">
              <a:off x="9330" y="5946"/>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9" name="箭头: 下 47"/>
            <p:cNvSpPr/>
            <p:nvPr>
              <p:custDataLst>
                <p:tags r:id="rId58"/>
              </p:custDataLst>
            </p:nvPr>
          </p:nvSpPr>
          <p:spPr>
            <a:xfrm rot="16200000" flipH="1" flipV="1">
              <a:off x="9163" y="5947"/>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5" name="组合 14"/>
          <p:cNvGrpSpPr/>
          <p:nvPr/>
        </p:nvGrpSpPr>
        <p:grpSpPr>
          <a:xfrm>
            <a:off x="5616575" y="4966408"/>
            <a:ext cx="297180" cy="248285"/>
            <a:chOff x="9363" y="5746"/>
            <a:chExt cx="468" cy="702"/>
          </a:xfrm>
        </p:grpSpPr>
        <p:sp>
          <p:nvSpPr>
            <p:cNvPr id="16" name="箭头: 下 47"/>
            <p:cNvSpPr/>
            <p:nvPr>
              <p:custDataLst>
                <p:tags r:id="rId59"/>
              </p:custDataLst>
            </p:nvPr>
          </p:nvSpPr>
          <p:spPr>
            <a:xfrm rot="16200000" flipH="1" flipV="1">
              <a:off x="9330" y="5946"/>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7" name="箭头: 下 47"/>
            <p:cNvSpPr/>
            <p:nvPr>
              <p:custDataLst>
                <p:tags r:id="rId60"/>
              </p:custDataLst>
            </p:nvPr>
          </p:nvSpPr>
          <p:spPr>
            <a:xfrm rot="16200000" flipH="1" flipV="1">
              <a:off x="9163" y="5947"/>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4" name="组合 23"/>
          <p:cNvGrpSpPr/>
          <p:nvPr/>
        </p:nvGrpSpPr>
        <p:grpSpPr>
          <a:xfrm>
            <a:off x="5616575" y="4531433"/>
            <a:ext cx="297180" cy="248285"/>
            <a:chOff x="9363" y="5746"/>
            <a:chExt cx="468" cy="702"/>
          </a:xfrm>
        </p:grpSpPr>
        <p:sp>
          <p:nvSpPr>
            <p:cNvPr id="25" name="箭头: 下 47"/>
            <p:cNvSpPr/>
            <p:nvPr>
              <p:custDataLst>
                <p:tags r:id="rId61"/>
              </p:custDataLst>
            </p:nvPr>
          </p:nvSpPr>
          <p:spPr>
            <a:xfrm rot="16200000" flipH="1" flipV="1">
              <a:off x="9330" y="5946"/>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6" name="箭头: 下 47"/>
            <p:cNvSpPr/>
            <p:nvPr>
              <p:custDataLst>
                <p:tags r:id="rId62"/>
              </p:custDataLst>
            </p:nvPr>
          </p:nvSpPr>
          <p:spPr>
            <a:xfrm rot="16200000" flipH="1" flipV="1">
              <a:off x="9163" y="5947"/>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7" name="组合 26"/>
          <p:cNvGrpSpPr/>
          <p:nvPr/>
        </p:nvGrpSpPr>
        <p:grpSpPr>
          <a:xfrm>
            <a:off x="5616575" y="4096385"/>
            <a:ext cx="297180" cy="248358"/>
            <a:chOff x="9363" y="5746"/>
            <a:chExt cx="468" cy="702"/>
          </a:xfrm>
        </p:grpSpPr>
        <p:sp>
          <p:nvSpPr>
            <p:cNvPr id="33" name="箭头: 下 47"/>
            <p:cNvSpPr/>
            <p:nvPr>
              <p:custDataLst>
                <p:tags r:id="rId63"/>
              </p:custDataLst>
            </p:nvPr>
          </p:nvSpPr>
          <p:spPr>
            <a:xfrm rot="16200000" flipH="1" flipV="1">
              <a:off x="9330" y="5946"/>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34" name="箭头: 下 47"/>
            <p:cNvSpPr/>
            <p:nvPr>
              <p:custDataLst>
                <p:tags r:id="rId64"/>
              </p:custDataLst>
            </p:nvPr>
          </p:nvSpPr>
          <p:spPr>
            <a:xfrm rot="16200000" flipH="1" flipV="1">
              <a:off x="9163" y="5947"/>
              <a:ext cx="701" cy="301"/>
            </a:xfrm>
            <a:prstGeom prst="triangle">
              <a:avLst/>
            </a:prstGeom>
            <a:gradFill>
              <a:gsLst>
                <a:gs pos="99000">
                  <a:schemeClr val="accent1">
                    <a:lumMod val="60000"/>
                    <a:lumOff val="40000"/>
                    <a:alpha val="0"/>
                  </a:schemeClr>
                </a:gs>
                <a:gs pos="0">
                  <a:schemeClr val="accent1">
                    <a:lumMod val="60000"/>
                    <a:lumOff val="40000"/>
                  </a:schemeClr>
                </a:gs>
              </a:gsLst>
              <a:lin ang="5400000" scaled="1"/>
            </a:gradFill>
            <a:ln>
              <a:noFill/>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cs typeface="微软雅黑" panose="020B0503020204020204" charset="-122"/>
              </a:endParaRPr>
            </a:p>
          </p:txBody>
        </p:sp>
      </p:grpSp>
      <p:sp>
        <p:nvSpPr>
          <p:cNvPr id="4" name="文本框 3"/>
          <p:cNvSpPr txBox="1"/>
          <p:nvPr/>
        </p:nvSpPr>
        <p:spPr>
          <a:xfrm>
            <a:off x="4621271" y="4094135"/>
            <a:ext cx="939334" cy="238834"/>
          </a:xfrm>
          <a:prstGeom prst="rect">
            <a:avLst/>
          </a:prstGeom>
          <a:noFill/>
          <a:effectLst/>
        </p:spPr>
        <p:txBody>
          <a:bodyPr wrap="none" lIns="84125" tIns="42062" rIns="84125" bIns="42062"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用户基础数据</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4749511" y="4534615"/>
            <a:ext cx="682854" cy="238834"/>
          </a:xfrm>
          <a:prstGeom prst="rect">
            <a:avLst/>
          </a:prstGeom>
          <a:noFill/>
          <a:effectLst/>
        </p:spPr>
        <p:txBody>
          <a:bodyPr wrap="none" lIns="84125" tIns="42062" rIns="84125" bIns="42062"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商品数据</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4749512" y="4975096"/>
            <a:ext cx="682854" cy="238834"/>
          </a:xfrm>
          <a:prstGeom prst="rect">
            <a:avLst/>
          </a:prstGeom>
          <a:noFill/>
          <a:effectLst/>
        </p:spPr>
        <p:txBody>
          <a:bodyPr wrap="none" lIns="84125" tIns="42062" rIns="84125" bIns="42062"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订单数据</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4749511" y="5415576"/>
            <a:ext cx="682854" cy="238834"/>
          </a:xfrm>
          <a:prstGeom prst="rect">
            <a:avLst/>
          </a:prstGeom>
          <a:noFill/>
          <a:effectLst/>
        </p:spPr>
        <p:txBody>
          <a:bodyPr wrap="none" lIns="84125" tIns="42062" rIns="84125" bIns="42062"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支付数据</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4749511" y="5856054"/>
            <a:ext cx="682854" cy="238834"/>
          </a:xfrm>
          <a:prstGeom prst="rect">
            <a:avLst/>
          </a:prstGeom>
          <a:noFill/>
          <a:effectLst/>
        </p:spPr>
        <p:txBody>
          <a:bodyPr wrap="none" lIns="84125" tIns="42062" rIns="84125" bIns="42062"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位置数据</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4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65"/>
            <a:srcRect l="17002" t="-1765" r="56499" b="-1176"/>
            <a:stretch>
              <a:fillRect/>
            </a:stretch>
          </p:blipFill>
          <p:spPr>
            <a:xfrm>
              <a:off x="13761" y="549"/>
              <a:ext cx="1582" cy="525"/>
            </a:xfrm>
            <a:prstGeom prst="rect">
              <a:avLst/>
            </a:prstGeom>
          </p:spPr>
        </p:pic>
        <p:sp>
          <p:nvSpPr>
            <p:cNvPr id="47" name="文本框 46"/>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3279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构建全链路数字营销能力</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31" name="圆角矩形 8"/>
          <p:cNvSpPr/>
          <p:nvPr/>
        </p:nvSpPr>
        <p:spPr>
          <a:xfrm>
            <a:off x="1192384" y="4940410"/>
            <a:ext cx="2732820" cy="621000"/>
          </a:xfrm>
          <a:prstGeom prst="roundRect">
            <a:avLst>
              <a:gd name="adj" fmla="val 2689"/>
            </a:avLst>
          </a:prstGeom>
          <a:solidFill>
            <a:schemeClr val="accent5"/>
          </a:solidFill>
          <a:ln w="38100" cap="flat" cmpd="sng" algn="ctr">
            <a:noFill/>
            <a:prstDash val="solid"/>
            <a:miter lim="800000"/>
          </a:ln>
          <a:effectLst>
            <a:outerShdw blurRad="50800" dist="38100" dir="2700000" algn="tl" rotWithShape="0">
              <a:schemeClr val="accent5">
                <a:alpha val="40000"/>
              </a:scheme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endParaRPr lang="zh-CN" altLang="en-US" sz="1845">
              <a:effectLst>
                <a:outerShdw blurRad="130302" dist="39091" dir="2699985"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32" name="圆角矩形 8"/>
          <p:cNvSpPr/>
          <p:nvPr/>
        </p:nvSpPr>
        <p:spPr>
          <a:xfrm>
            <a:off x="4812934" y="4940410"/>
            <a:ext cx="2732405" cy="621000"/>
          </a:xfrm>
          <a:prstGeom prst="roundRect">
            <a:avLst>
              <a:gd name="adj" fmla="val 2689"/>
            </a:avLst>
          </a:prstGeom>
          <a:solidFill>
            <a:schemeClr val="accent1">
              <a:lumMod val="60000"/>
              <a:lumOff val="40000"/>
            </a:schemeClr>
          </a:solidFill>
          <a:ln w="38100" cap="flat" cmpd="sng" algn="ctr">
            <a:noFill/>
            <a:prstDash val="solid"/>
            <a:miter lim="800000"/>
          </a:ln>
          <a:effectLst>
            <a:outerShdw blurRad="50800" dist="38100" dir="2700000" algn="tl" rotWithShape="0">
              <a:schemeClr val="accent1">
                <a:lumMod val="60000"/>
                <a:lumOff val="40000"/>
                <a:alpha val="40000"/>
              </a:scheme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endParaRPr lang="zh-CN" altLang="en-US" sz="1845">
              <a:effectLst>
                <a:outerShdw blurRad="130302" dist="39091" dir="2699985"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33" name="圆角矩形 8"/>
          <p:cNvSpPr/>
          <p:nvPr/>
        </p:nvSpPr>
        <p:spPr>
          <a:xfrm>
            <a:off x="8433069" y="4940410"/>
            <a:ext cx="2732405" cy="621000"/>
          </a:xfrm>
          <a:prstGeom prst="roundRect">
            <a:avLst>
              <a:gd name="adj" fmla="val 2689"/>
            </a:avLst>
          </a:prstGeom>
          <a:solidFill>
            <a:schemeClr val="accent1"/>
          </a:solidFill>
          <a:ln w="38100" cap="flat" cmpd="sng" algn="ctr">
            <a:noFill/>
            <a:prstDash val="solid"/>
            <a:miter lim="800000"/>
          </a:ln>
          <a:effectLst>
            <a:outerShdw blurRad="50800" dist="38100" dir="2700000" algn="tl" rotWithShape="0">
              <a:schemeClr val="accent1">
                <a:alpha val="40000"/>
              </a:scheme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endParaRPr lang="zh-CN" altLang="en-US" sz="1845">
              <a:effectLst>
                <a:outerShdw blurRad="130302" dist="39091" dir="2699985"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23" name="圆角矩形 8"/>
          <p:cNvSpPr/>
          <p:nvPr/>
        </p:nvSpPr>
        <p:spPr>
          <a:xfrm>
            <a:off x="7199302" y="2450201"/>
            <a:ext cx="1974073" cy="1002743"/>
          </a:xfrm>
          <a:prstGeom prst="roundRect">
            <a:avLst>
              <a:gd name="adj" fmla="val 2689"/>
            </a:avLst>
          </a:prstGeom>
          <a:solidFill>
            <a:sysClr val="window" lastClr="FFFFFF"/>
          </a:solidFill>
          <a:ln>
            <a:noFill/>
          </a:ln>
          <a:effectLst/>
        </p:spPr>
        <p:style>
          <a:lnRef idx="2">
            <a:srgbClr val="2555C1">
              <a:shade val="15000"/>
            </a:srgbClr>
          </a:lnRef>
          <a:fillRef idx="1">
            <a:srgbClr val="2555C1"/>
          </a:fillRef>
          <a:effectRef idx="0">
            <a:srgbClr val="2555C1"/>
          </a:effectRef>
          <a:fontRef idx="minor">
            <a:sysClr val="window" lastClr="FFFFFF"/>
          </a:fontRef>
        </p:style>
        <p:txBody>
          <a:bodyPr rtlCol="0" anchor="ctr"/>
          <a:lstStyle/>
          <a:p>
            <a:pPr algn="ctr"/>
            <a:endParaRPr kumimoji="1"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24" name="圆角矩形 8"/>
          <p:cNvSpPr/>
          <p:nvPr/>
        </p:nvSpPr>
        <p:spPr>
          <a:xfrm>
            <a:off x="7199302" y="3689608"/>
            <a:ext cx="1974073" cy="1002743"/>
          </a:xfrm>
          <a:prstGeom prst="roundRect">
            <a:avLst>
              <a:gd name="adj" fmla="val 2689"/>
            </a:avLst>
          </a:prstGeom>
          <a:solidFill>
            <a:sysClr val="window" lastClr="FFFFFF"/>
          </a:solidFill>
          <a:ln>
            <a:noFill/>
          </a:ln>
          <a:effectLst/>
        </p:spPr>
        <p:style>
          <a:lnRef idx="2">
            <a:srgbClr val="2555C1">
              <a:shade val="15000"/>
            </a:srgbClr>
          </a:lnRef>
          <a:fillRef idx="1">
            <a:srgbClr val="2555C1"/>
          </a:fillRef>
          <a:effectRef idx="0">
            <a:srgbClr val="2555C1"/>
          </a:effectRef>
          <a:fontRef idx="minor">
            <a:sysClr val="window" lastClr="FFFFFF"/>
          </a:fontRef>
        </p:style>
        <p:txBody>
          <a:bodyPr rtlCol="0" anchor="ctr"/>
          <a:lstStyle/>
          <a:p>
            <a:pPr algn="ctr"/>
            <a:endParaRPr kumimoji="1"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19" name="圆角矩形 59"/>
          <p:cNvSpPr/>
          <p:nvPr>
            <p:custDataLst>
              <p:tags r:id="rId3"/>
            </p:custDataLst>
          </p:nvPr>
        </p:nvSpPr>
        <p:spPr>
          <a:xfrm>
            <a:off x="5165090" y="2338705"/>
            <a:ext cx="1890395" cy="2351405"/>
          </a:xfrm>
          <a:prstGeom prst="roundRect">
            <a:avLst>
              <a:gd name="adj" fmla="val 2928"/>
            </a:avLst>
          </a:prstGeom>
          <a:solidFill>
            <a:schemeClr val="accent1">
              <a:lumMod val="20000"/>
              <a:lumOff val="80000"/>
              <a:alpha val="20000"/>
            </a:schemeClr>
          </a:solidFill>
          <a:ln w="8318">
            <a:solidFill>
              <a:schemeClr val="accent1">
                <a:lumMod val="60000"/>
                <a:lumOff val="40000"/>
              </a:schemeClr>
            </a:solidFill>
            <a:prstDash val="dash"/>
          </a:ln>
          <a:effectLst>
            <a:outerShdw blurRad="499110" dist="249555" dir="5400000" sx="90000" sy="90000" algn="ctr" rotWithShape="0">
              <a:srgbClr val="44546A">
                <a:lumMod val="75000"/>
                <a:alpha val="9735"/>
              </a:srgbClr>
            </a:outerShdw>
          </a:effec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220" name="圆角矩形 59"/>
          <p:cNvSpPr/>
          <p:nvPr>
            <p:custDataLst>
              <p:tags r:id="rId4"/>
            </p:custDataLst>
          </p:nvPr>
        </p:nvSpPr>
        <p:spPr>
          <a:xfrm>
            <a:off x="9413875" y="2339975"/>
            <a:ext cx="1890395" cy="2350135"/>
          </a:xfrm>
          <a:prstGeom prst="roundRect">
            <a:avLst>
              <a:gd name="adj" fmla="val 2928"/>
            </a:avLst>
          </a:prstGeom>
          <a:solidFill>
            <a:schemeClr val="accent5">
              <a:lumMod val="20000"/>
              <a:lumOff val="80000"/>
              <a:alpha val="20000"/>
            </a:schemeClr>
          </a:solidFill>
          <a:ln w="8318">
            <a:solidFill>
              <a:schemeClr val="accent5"/>
            </a:solidFill>
            <a:prstDash val="dash"/>
          </a:ln>
          <a:effectLst>
            <a:outerShdw blurRad="499110" dist="249555" dir="5400000" sx="90000" sy="90000" algn="ctr" rotWithShape="0">
              <a:srgbClr val="44546A">
                <a:lumMod val="75000"/>
                <a:alpha val="9735"/>
              </a:srgbClr>
            </a:outerShdw>
          </a:effec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218" name="圆角矩形 59"/>
          <p:cNvSpPr/>
          <p:nvPr>
            <p:custDataLst>
              <p:tags r:id="rId5"/>
            </p:custDataLst>
          </p:nvPr>
        </p:nvSpPr>
        <p:spPr>
          <a:xfrm>
            <a:off x="855345" y="2339975"/>
            <a:ext cx="1890395" cy="2350135"/>
          </a:xfrm>
          <a:prstGeom prst="roundRect">
            <a:avLst>
              <a:gd name="adj" fmla="val 2928"/>
            </a:avLst>
          </a:prstGeom>
          <a:solidFill>
            <a:schemeClr val="accent1">
              <a:lumMod val="20000"/>
              <a:lumOff val="80000"/>
              <a:alpha val="20000"/>
            </a:schemeClr>
          </a:solidFill>
          <a:ln w="8318">
            <a:solidFill>
              <a:schemeClr val="accent1">
                <a:lumMod val="60000"/>
                <a:lumOff val="40000"/>
              </a:schemeClr>
            </a:solidFill>
            <a:prstDash val="dash"/>
          </a:ln>
          <a:effectLst>
            <a:outerShdw blurRad="499110" dist="249555" dir="5400000" sx="90000" sy="90000" algn="ctr" rotWithShape="0">
              <a:srgbClr val="44546A">
                <a:lumMod val="75000"/>
                <a:alpha val="9735"/>
              </a:srgbClr>
            </a:outerShdw>
          </a:effec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2" name="Freeform 2384"/>
          <p:cNvSpPr/>
          <p:nvPr/>
        </p:nvSpPr>
        <p:spPr>
          <a:xfrm>
            <a:off x="9536247" y="1391302"/>
            <a:ext cx="1648967" cy="527305"/>
          </a:xfrm>
          <a:custGeom>
            <a:avLst/>
            <a:gdLst/>
            <a:ahLst/>
            <a:cxnLst/>
            <a:rect l="0" t="0" r="0" b="0"/>
            <a:pathLst>
              <a:path w="1648967" h="527305">
                <a:moveTo>
                  <a:pt x="0" y="108967"/>
                </a:moveTo>
                <a:lnTo>
                  <a:pt x="108965"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solidFill>
              <a:schemeClr val="accent5"/>
            </a:solidFill>
            <a:miter lim="127000"/>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7" name="Freeform 2385"/>
          <p:cNvSpPr/>
          <p:nvPr/>
        </p:nvSpPr>
        <p:spPr>
          <a:xfrm>
            <a:off x="9533198" y="1497982"/>
            <a:ext cx="1545336" cy="425196"/>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5"/>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8" name="Freeform 2389"/>
          <p:cNvSpPr/>
          <p:nvPr/>
        </p:nvSpPr>
        <p:spPr>
          <a:xfrm>
            <a:off x="971367" y="1400446"/>
            <a:ext cx="1648967" cy="527305"/>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solidFill>
              <a:schemeClr val="accent1">
                <a:lumMod val="60000"/>
                <a:lumOff val="40000"/>
              </a:schemeClr>
            </a:solidFill>
            <a:miter lim="101600"/>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9" name="Freeform 2390"/>
          <p:cNvSpPr/>
          <p:nvPr/>
        </p:nvSpPr>
        <p:spPr>
          <a:xfrm>
            <a:off x="968318" y="1497982"/>
            <a:ext cx="1545336" cy="425195"/>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lumMod val="60000"/>
              <a:lumOff val="40000"/>
            </a:schemeClr>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2" name="Freeform 2394"/>
          <p:cNvSpPr/>
          <p:nvPr/>
        </p:nvSpPr>
        <p:spPr>
          <a:xfrm>
            <a:off x="936315" y="2602373"/>
            <a:ext cx="1738883" cy="307848"/>
          </a:xfrm>
          <a:custGeom>
            <a:avLst/>
            <a:gdLst/>
            <a:ahLst/>
            <a:cxnLst/>
            <a:rect l="0" t="0" r="0" b="0"/>
            <a:pathLst>
              <a:path w="1738883" h="307848">
                <a:moveTo>
                  <a:pt x="0" y="307848"/>
                </a:moveTo>
                <a:lnTo>
                  <a:pt x="1738883" y="307848"/>
                </a:lnTo>
                <a:lnTo>
                  <a:pt x="1738883" y="0"/>
                </a:lnTo>
                <a:lnTo>
                  <a:pt x="0" y="0"/>
                </a:lnTo>
                <a:lnTo>
                  <a:pt x="0" y="307848"/>
                </a:lnTo>
                <a:close/>
              </a:path>
            </a:pathLst>
          </a:custGeom>
          <a:solidFill>
            <a:schemeClr val="bg1"/>
          </a:solidFill>
          <a:ln w="3047">
            <a:solidFill>
              <a:schemeClr val="accent1">
                <a:lumMod val="60000"/>
                <a:lumOff val="40000"/>
              </a:schemeClr>
            </a:solid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3" name="Freeform 2395"/>
          <p:cNvSpPr/>
          <p:nvPr/>
        </p:nvSpPr>
        <p:spPr>
          <a:xfrm>
            <a:off x="946982" y="3461909"/>
            <a:ext cx="1738884" cy="307848"/>
          </a:xfrm>
          <a:custGeom>
            <a:avLst/>
            <a:gdLst/>
            <a:ahLst/>
            <a:cxnLst/>
            <a:rect l="0" t="0" r="0" b="0"/>
            <a:pathLst>
              <a:path w="1738884" h="307848">
                <a:moveTo>
                  <a:pt x="0" y="307848"/>
                </a:moveTo>
                <a:lnTo>
                  <a:pt x="1738884" y="307848"/>
                </a:lnTo>
                <a:lnTo>
                  <a:pt x="1738884" y="0"/>
                </a:lnTo>
                <a:lnTo>
                  <a:pt x="0" y="0"/>
                </a:lnTo>
                <a:lnTo>
                  <a:pt x="0" y="307848"/>
                </a:lnTo>
                <a:close/>
              </a:path>
            </a:pathLst>
          </a:custGeom>
          <a:solidFill>
            <a:schemeClr val="bg1"/>
          </a:solidFill>
          <a:ln w="3047">
            <a:solidFill>
              <a:schemeClr val="accent1">
                <a:lumMod val="60000"/>
                <a:lumOff val="40000"/>
              </a:schemeClr>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4" name="Freeform 2396"/>
          <p:cNvSpPr/>
          <p:nvPr/>
        </p:nvSpPr>
        <p:spPr>
          <a:xfrm>
            <a:off x="936315" y="2907173"/>
            <a:ext cx="1738883" cy="307848"/>
          </a:xfrm>
          <a:custGeom>
            <a:avLst/>
            <a:gdLst/>
            <a:ahLst/>
            <a:cxnLst/>
            <a:rect l="0" t="0" r="0" b="0"/>
            <a:pathLst>
              <a:path w="1738883" h="307848">
                <a:moveTo>
                  <a:pt x="0" y="307848"/>
                </a:moveTo>
                <a:lnTo>
                  <a:pt x="1738883" y="307848"/>
                </a:lnTo>
                <a:lnTo>
                  <a:pt x="1738883" y="0"/>
                </a:lnTo>
                <a:lnTo>
                  <a:pt x="0" y="0"/>
                </a:lnTo>
                <a:lnTo>
                  <a:pt x="0" y="307848"/>
                </a:lnTo>
                <a:close/>
              </a:path>
            </a:pathLst>
          </a:custGeom>
          <a:noFill/>
          <a:ln w="3047">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5" name="Freeform 2397"/>
          <p:cNvSpPr/>
          <p:nvPr/>
        </p:nvSpPr>
        <p:spPr>
          <a:xfrm>
            <a:off x="9490526" y="3626809"/>
            <a:ext cx="1738884" cy="307848"/>
          </a:xfrm>
          <a:custGeom>
            <a:avLst/>
            <a:gdLst/>
            <a:ahLst/>
            <a:cxnLst/>
            <a:rect l="0" t="0" r="0" b="0"/>
            <a:pathLst>
              <a:path w="1738884" h="307848">
                <a:moveTo>
                  <a:pt x="0" y="307848"/>
                </a:moveTo>
                <a:lnTo>
                  <a:pt x="1738884" y="307848"/>
                </a:lnTo>
                <a:lnTo>
                  <a:pt x="1738884" y="0"/>
                </a:lnTo>
                <a:lnTo>
                  <a:pt x="0" y="0"/>
                </a:lnTo>
                <a:lnTo>
                  <a:pt x="0" y="307848"/>
                </a:lnTo>
                <a:close/>
              </a:path>
            </a:pathLst>
          </a:custGeom>
          <a:solidFill>
            <a:schemeClr val="bg1"/>
          </a:solidFill>
          <a:ln w="3047">
            <a:solidFill>
              <a:schemeClr val="accent5"/>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 name="Freeform 2398"/>
          <p:cNvSpPr/>
          <p:nvPr/>
        </p:nvSpPr>
        <p:spPr>
          <a:xfrm>
            <a:off x="9490526" y="4102297"/>
            <a:ext cx="1738884" cy="307848"/>
          </a:xfrm>
          <a:custGeom>
            <a:avLst/>
            <a:gdLst/>
            <a:ahLst/>
            <a:cxnLst/>
            <a:rect l="0" t="0" r="0" b="0"/>
            <a:pathLst>
              <a:path w="1738884" h="307848">
                <a:moveTo>
                  <a:pt x="0" y="307848"/>
                </a:moveTo>
                <a:lnTo>
                  <a:pt x="1738884" y="307848"/>
                </a:lnTo>
                <a:lnTo>
                  <a:pt x="1738884" y="0"/>
                </a:lnTo>
                <a:lnTo>
                  <a:pt x="0" y="0"/>
                </a:lnTo>
                <a:lnTo>
                  <a:pt x="0" y="307848"/>
                </a:lnTo>
                <a:close/>
              </a:path>
            </a:pathLst>
          </a:custGeom>
          <a:solidFill>
            <a:schemeClr val="bg1"/>
          </a:solidFill>
          <a:ln w="3047">
            <a:solidFill>
              <a:schemeClr val="accent5"/>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7" name="Freeform 2399"/>
          <p:cNvSpPr/>
          <p:nvPr/>
        </p:nvSpPr>
        <p:spPr>
          <a:xfrm>
            <a:off x="9490526" y="2675833"/>
            <a:ext cx="1738884" cy="307848"/>
          </a:xfrm>
          <a:custGeom>
            <a:avLst/>
            <a:gdLst/>
            <a:ahLst/>
            <a:cxnLst/>
            <a:rect l="0" t="0" r="0" b="0"/>
            <a:pathLst>
              <a:path w="1738884" h="307848">
                <a:moveTo>
                  <a:pt x="0" y="307848"/>
                </a:moveTo>
                <a:lnTo>
                  <a:pt x="1738884" y="307848"/>
                </a:lnTo>
                <a:lnTo>
                  <a:pt x="1738884" y="0"/>
                </a:lnTo>
                <a:lnTo>
                  <a:pt x="0" y="0"/>
                </a:lnTo>
                <a:lnTo>
                  <a:pt x="0" y="307848"/>
                </a:lnTo>
                <a:close/>
              </a:path>
            </a:pathLst>
          </a:custGeom>
          <a:solidFill>
            <a:schemeClr val="bg1"/>
          </a:solidFill>
          <a:ln w="3047">
            <a:solidFill>
              <a:schemeClr val="accent5"/>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7" name="Freeform 2409"/>
          <p:cNvSpPr/>
          <p:nvPr/>
        </p:nvSpPr>
        <p:spPr>
          <a:xfrm>
            <a:off x="855542" y="5767357"/>
            <a:ext cx="10489693" cy="527303"/>
          </a:xfrm>
          <a:custGeom>
            <a:avLst/>
            <a:gdLst/>
            <a:ahLst/>
            <a:cxnLst/>
            <a:rect l="0" t="0" r="0" b="0"/>
            <a:pathLst>
              <a:path w="10489693" h="527303">
                <a:moveTo>
                  <a:pt x="0" y="108953"/>
                </a:moveTo>
                <a:lnTo>
                  <a:pt x="108954" y="0"/>
                </a:lnTo>
                <a:lnTo>
                  <a:pt x="10489693" y="0"/>
                </a:lnTo>
                <a:lnTo>
                  <a:pt x="10489693" y="418338"/>
                </a:lnTo>
                <a:lnTo>
                  <a:pt x="10380727" y="527303"/>
                </a:lnTo>
                <a:lnTo>
                  <a:pt x="0" y="527303"/>
                </a:lnTo>
                <a:close/>
                <a:moveTo>
                  <a:pt x="0" y="108953"/>
                </a:moveTo>
                <a:lnTo>
                  <a:pt x="10380727" y="108953"/>
                </a:lnTo>
                <a:lnTo>
                  <a:pt x="10489693" y="0"/>
                </a:lnTo>
                <a:moveTo>
                  <a:pt x="10380727" y="108953"/>
                </a:moveTo>
                <a:lnTo>
                  <a:pt x="10380727" y="527303"/>
                </a:lnTo>
              </a:path>
            </a:pathLst>
          </a:custGeom>
          <a:noFill/>
          <a:ln w="6095" cap="flat" cmpd="sng">
            <a:solidFill>
              <a:schemeClr val="accent5"/>
            </a:solidFill>
            <a:miter lim="101600"/>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8" name="Freeform 2410"/>
          <p:cNvSpPr/>
          <p:nvPr/>
        </p:nvSpPr>
        <p:spPr>
          <a:xfrm>
            <a:off x="852495" y="5872513"/>
            <a:ext cx="10395204" cy="425196"/>
          </a:xfrm>
          <a:custGeom>
            <a:avLst/>
            <a:gdLst/>
            <a:ahLst/>
            <a:cxnLst/>
            <a:rect l="0" t="0" r="0" b="0"/>
            <a:pathLst>
              <a:path w="10395204" h="425196">
                <a:moveTo>
                  <a:pt x="0" y="425196"/>
                </a:moveTo>
                <a:lnTo>
                  <a:pt x="10395204" y="425196"/>
                </a:lnTo>
                <a:lnTo>
                  <a:pt x="10395204" y="0"/>
                </a:lnTo>
                <a:lnTo>
                  <a:pt x="0" y="0"/>
                </a:lnTo>
                <a:lnTo>
                  <a:pt x="0" y="425196"/>
                </a:lnTo>
                <a:close/>
              </a:path>
            </a:pathLst>
          </a:custGeom>
          <a:solidFill>
            <a:schemeClr val="accent5"/>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1" name="Freeform 2447"/>
          <p:cNvSpPr/>
          <p:nvPr/>
        </p:nvSpPr>
        <p:spPr>
          <a:xfrm>
            <a:off x="7361498" y="1391302"/>
            <a:ext cx="1648969" cy="527305"/>
          </a:xfrm>
          <a:custGeom>
            <a:avLst/>
            <a:gdLst/>
            <a:ahLst/>
            <a:cxnLst/>
            <a:rect l="0" t="0" r="0" b="0"/>
            <a:pathLst>
              <a:path w="1648969" h="527305">
                <a:moveTo>
                  <a:pt x="0" y="108967"/>
                </a:moveTo>
                <a:lnTo>
                  <a:pt x="108966" y="0"/>
                </a:lnTo>
                <a:lnTo>
                  <a:pt x="1648969" y="0"/>
                </a:lnTo>
                <a:lnTo>
                  <a:pt x="1648969" y="418338"/>
                </a:lnTo>
                <a:lnTo>
                  <a:pt x="1540002" y="527305"/>
                </a:lnTo>
                <a:lnTo>
                  <a:pt x="0" y="527305"/>
                </a:lnTo>
                <a:close/>
                <a:moveTo>
                  <a:pt x="0" y="108967"/>
                </a:moveTo>
                <a:lnTo>
                  <a:pt x="1540002" y="108967"/>
                </a:lnTo>
                <a:lnTo>
                  <a:pt x="1648969" y="0"/>
                </a:lnTo>
                <a:moveTo>
                  <a:pt x="1540002" y="108967"/>
                </a:moveTo>
                <a:lnTo>
                  <a:pt x="1540002" y="527305"/>
                </a:lnTo>
              </a:path>
            </a:pathLst>
          </a:custGeom>
          <a:noFill/>
          <a:ln w="6095" cap="flat" cmpd="sng">
            <a:solidFill>
              <a:schemeClr val="accent1"/>
            </a:solidFill>
            <a:miter lim="101600"/>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8" name="Freeform 2448"/>
          <p:cNvSpPr/>
          <p:nvPr/>
        </p:nvSpPr>
        <p:spPr>
          <a:xfrm>
            <a:off x="7358450" y="1497982"/>
            <a:ext cx="1545336" cy="425196"/>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71" name="Freeform 2453"/>
          <p:cNvSpPr/>
          <p:nvPr/>
        </p:nvSpPr>
        <p:spPr>
          <a:xfrm>
            <a:off x="7198431" y="3517146"/>
            <a:ext cx="1973580" cy="1127760"/>
          </a:xfrm>
          <a:custGeom>
            <a:avLst/>
            <a:gdLst/>
            <a:ahLst/>
            <a:cxnLst/>
            <a:rect l="0" t="0" r="0" b="0"/>
            <a:pathLst>
              <a:path w="1973580" h="1127760">
                <a:moveTo>
                  <a:pt x="0" y="1127760"/>
                </a:moveTo>
                <a:lnTo>
                  <a:pt x="1973580" y="1127760"/>
                </a:lnTo>
                <a:lnTo>
                  <a:pt x="1973580" y="0"/>
                </a:lnTo>
                <a:lnTo>
                  <a:pt x="0" y="0"/>
                </a:lnTo>
                <a:lnTo>
                  <a:pt x="0" y="1127760"/>
                </a:lnTo>
                <a:close/>
              </a:path>
            </a:pathLst>
          </a:custGeom>
          <a:solidFill>
            <a:srgbClr val="FFFFFF">
              <a:alpha val="100000"/>
            </a:srgbClr>
          </a:solidFill>
          <a:ln w="3047">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9" name="Freeform 2455"/>
          <p:cNvSpPr/>
          <p:nvPr/>
        </p:nvSpPr>
        <p:spPr>
          <a:xfrm>
            <a:off x="7195383" y="2322329"/>
            <a:ext cx="1976627" cy="283464"/>
          </a:xfrm>
          <a:custGeom>
            <a:avLst/>
            <a:gdLst/>
            <a:ahLst/>
            <a:cxnLst/>
            <a:rect l="0" t="0" r="0" b="0"/>
            <a:pathLst>
              <a:path w="1976627" h="283464">
                <a:moveTo>
                  <a:pt x="1929384" y="283464"/>
                </a:moveTo>
                <a:lnTo>
                  <a:pt x="47243" y="283464"/>
                </a:lnTo>
                <a:cubicBezTo>
                  <a:pt x="21209" y="283464"/>
                  <a:pt x="0" y="262256"/>
                  <a:pt x="0" y="236220"/>
                </a:cubicBezTo>
                <a:lnTo>
                  <a:pt x="0" y="0"/>
                </a:lnTo>
                <a:lnTo>
                  <a:pt x="1976627" y="0"/>
                </a:lnTo>
                <a:lnTo>
                  <a:pt x="1976627" y="236220"/>
                </a:lnTo>
                <a:cubicBezTo>
                  <a:pt x="1976627" y="262256"/>
                  <a:pt x="1955418" y="283464"/>
                  <a:pt x="1929384" y="283464"/>
                </a:cubicBezTo>
                <a:close/>
              </a:path>
            </a:pathLst>
          </a:custGeom>
          <a:solidFill>
            <a:schemeClr val="accent1"/>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0" name="Freeform 2456"/>
          <p:cNvSpPr/>
          <p:nvPr/>
        </p:nvSpPr>
        <p:spPr>
          <a:xfrm>
            <a:off x="7299014" y="2695710"/>
            <a:ext cx="864108" cy="307848"/>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00000">
              <a:alpha val="0"/>
            </a:srgbClr>
          </a:solidFill>
          <a:ln w="3047">
            <a:solidFill>
              <a:schemeClr val="accent1"/>
            </a:solid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75" name="Freeform 2457"/>
          <p:cNvSpPr/>
          <p:nvPr/>
        </p:nvSpPr>
        <p:spPr>
          <a:xfrm>
            <a:off x="8205795" y="2695710"/>
            <a:ext cx="864108" cy="307848"/>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00000">
              <a:alpha val="0"/>
            </a:srgbClr>
          </a:solidFill>
          <a:ln w="3047">
            <a:solidFill>
              <a:schemeClr val="accent1"/>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6" name="Freeform 2458"/>
          <p:cNvSpPr/>
          <p:nvPr/>
        </p:nvSpPr>
        <p:spPr>
          <a:xfrm>
            <a:off x="7299014" y="3043181"/>
            <a:ext cx="864108" cy="307848"/>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00000">
              <a:alpha val="0"/>
            </a:srgbClr>
          </a:solidFill>
          <a:ln w="3047">
            <a:solidFill>
              <a:schemeClr val="accent1"/>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7" name="Freeform 2459"/>
          <p:cNvSpPr/>
          <p:nvPr/>
        </p:nvSpPr>
        <p:spPr>
          <a:xfrm>
            <a:off x="7195383" y="3520193"/>
            <a:ext cx="1976627" cy="283465"/>
          </a:xfrm>
          <a:custGeom>
            <a:avLst/>
            <a:gdLst/>
            <a:ahLst/>
            <a:cxnLst/>
            <a:rect l="0" t="0" r="0" b="0"/>
            <a:pathLst>
              <a:path w="1976627" h="283465">
                <a:moveTo>
                  <a:pt x="1929384" y="283465"/>
                </a:moveTo>
                <a:lnTo>
                  <a:pt x="47243" y="283465"/>
                </a:lnTo>
                <a:cubicBezTo>
                  <a:pt x="21209" y="283465"/>
                  <a:pt x="0" y="262256"/>
                  <a:pt x="0" y="236220"/>
                </a:cubicBezTo>
                <a:lnTo>
                  <a:pt x="0" y="0"/>
                </a:lnTo>
                <a:lnTo>
                  <a:pt x="1976627" y="0"/>
                </a:lnTo>
                <a:lnTo>
                  <a:pt x="1976627" y="236220"/>
                </a:lnTo>
                <a:cubicBezTo>
                  <a:pt x="1976627" y="262256"/>
                  <a:pt x="1955418" y="283465"/>
                  <a:pt x="1929384" y="283465"/>
                </a:cubicBezTo>
                <a:close/>
              </a:path>
            </a:pathLst>
          </a:custGeom>
          <a:solidFill>
            <a:schemeClr val="accent1"/>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8" name="Freeform 2460"/>
          <p:cNvSpPr/>
          <p:nvPr/>
        </p:nvSpPr>
        <p:spPr>
          <a:xfrm>
            <a:off x="7299014" y="4241045"/>
            <a:ext cx="864108" cy="307848"/>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00000">
              <a:alpha val="0"/>
            </a:srgbClr>
          </a:solidFill>
          <a:ln w="3047">
            <a:solidFill>
              <a:schemeClr val="accent1"/>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9" name="Freeform 2461"/>
          <p:cNvSpPr/>
          <p:nvPr/>
        </p:nvSpPr>
        <p:spPr>
          <a:xfrm>
            <a:off x="7299014" y="3893573"/>
            <a:ext cx="569976" cy="307848"/>
          </a:xfrm>
          <a:custGeom>
            <a:avLst/>
            <a:gdLst/>
            <a:ahLst/>
            <a:cxnLst/>
            <a:rect l="0" t="0" r="0" b="0"/>
            <a:pathLst>
              <a:path w="569976" h="307848">
                <a:moveTo>
                  <a:pt x="0" y="307848"/>
                </a:moveTo>
                <a:lnTo>
                  <a:pt x="569976" y="307848"/>
                </a:lnTo>
                <a:lnTo>
                  <a:pt x="569976" y="0"/>
                </a:lnTo>
                <a:lnTo>
                  <a:pt x="0" y="0"/>
                </a:lnTo>
                <a:lnTo>
                  <a:pt x="0" y="307848"/>
                </a:lnTo>
                <a:close/>
              </a:path>
            </a:pathLst>
          </a:custGeom>
          <a:solidFill>
            <a:srgbClr val="000000">
              <a:alpha val="0"/>
            </a:srgbClr>
          </a:solidFill>
          <a:ln w="3047">
            <a:solidFill>
              <a:schemeClr val="accent1"/>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0" name="Freeform 2462"/>
          <p:cNvSpPr/>
          <p:nvPr/>
        </p:nvSpPr>
        <p:spPr>
          <a:xfrm>
            <a:off x="7899471" y="3893573"/>
            <a:ext cx="569976" cy="307848"/>
          </a:xfrm>
          <a:custGeom>
            <a:avLst/>
            <a:gdLst/>
            <a:ahLst/>
            <a:cxnLst/>
            <a:rect l="0" t="0" r="0" b="0"/>
            <a:pathLst>
              <a:path w="569976" h="307848">
                <a:moveTo>
                  <a:pt x="0" y="307848"/>
                </a:moveTo>
                <a:lnTo>
                  <a:pt x="569976" y="307848"/>
                </a:lnTo>
                <a:lnTo>
                  <a:pt x="569976" y="0"/>
                </a:lnTo>
                <a:lnTo>
                  <a:pt x="0" y="0"/>
                </a:lnTo>
                <a:lnTo>
                  <a:pt x="0" y="307848"/>
                </a:lnTo>
                <a:close/>
              </a:path>
            </a:pathLst>
          </a:custGeom>
          <a:solidFill>
            <a:srgbClr val="000000">
              <a:alpha val="0"/>
            </a:srgbClr>
          </a:solidFill>
          <a:ln w="3047">
            <a:solidFill>
              <a:schemeClr val="accent1"/>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1" name="Freeform 2463"/>
          <p:cNvSpPr/>
          <p:nvPr/>
        </p:nvSpPr>
        <p:spPr>
          <a:xfrm>
            <a:off x="8499926" y="3893573"/>
            <a:ext cx="569976" cy="307848"/>
          </a:xfrm>
          <a:custGeom>
            <a:avLst/>
            <a:gdLst/>
            <a:ahLst/>
            <a:cxnLst/>
            <a:rect l="0" t="0" r="0" b="0"/>
            <a:pathLst>
              <a:path w="569976" h="307848">
                <a:moveTo>
                  <a:pt x="0" y="307848"/>
                </a:moveTo>
                <a:lnTo>
                  <a:pt x="569976" y="307848"/>
                </a:lnTo>
                <a:lnTo>
                  <a:pt x="569976" y="0"/>
                </a:lnTo>
                <a:lnTo>
                  <a:pt x="0" y="0"/>
                </a:lnTo>
                <a:lnTo>
                  <a:pt x="0" y="307848"/>
                </a:lnTo>
                <a:close/>
              </a:path>
            </a:pathLst>
          </a:custGeom>
          <a:solidFill>
            <a:srgbClr val="000000">
              <a:alpha val="0"/>
            </a:srgbClr>
          </a:solidFill>
          <a:ln w="3047">
            <a:solidFill>
              <a:schemeClr val="accent1"/>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2" name="Freeform 2464"/>
          <p:cNvSpPr/>
          <p:nvPr/>
        </p:nvSpPr>
        <p:spPr>
          <a:xfrm>
            <a:off x="8205795" y="4241045"/>
            <a:ext cx="864108" cy="307848"/>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00000">
              <a:alpha val="0"/>
            </a:srgbClr>
          </a:solidFill>
          <a:ln w="3047">
            <a:solidFill>
              <a:schemeClr val="accent1"/>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3" name="Freeform 2465"/>
          <p:cNvSpPr/>
          <p:nvPr/>
        </p:nvSpPr>
        <p:spPr>
          <a:xfrm>
            <a:off x="8195310" y="3038475"/>
            <a:ext cx="864235" cy="307975"/>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00000">
              <a:alpha val="0"/>
            </a:srgbClr>
          </a:solidFill>
          <a:ln w="3047">
            <a:solidFill>
              <a:schemeClr val="accent1"/>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3" name="Freeform 2466"/>
          <p:cNvSpPr/>
          <p:nvPr/>
        </p:nvSpPr>
        <p:spPr>
          <a:xfrm>
            <a:off x="9490526" y="3151320"/>
            <a:ext cx="1738884" cy="307848"/>
          </a:xfrm>
          <a:custGeom>
            <a:avLst/>
            <a:gdLst/>
            <a:ahLst/>
            <a:cxnLst/>
            <a:rect l="0" t="0" r="0" b="0"/>
            <a:pathLst>
              <a:path w="1738884" h="307848">
                <a:moveTo>
                  <a:pt x="0" y="307848"/>
                </a:moveTo>
                <a:lnTo>
                  <a:pt x="1738884" y="307848"/>
                </a:lnTo>
                <a:lnTo>
                  <a:pt x="1738884" y="0"/>
                </a:lnTo>
                <a:lnTo>
                  <a:pt x="0" y="0"/>
                </a:lnTo>
                <a:lnTo>
                  <a:pt x="0" y="307848"/>
                </a:lnTo>
                <a:close/>
              </a:path>
            </a:pathLst>
          </a:custGeom>
          <a:solidFill>
            <a:schemeClr val="bg1"/>
          </a:solidFill>
          <a:ln w="3047">
            <a:solidFill>
              <a:schemeClr val="accent5"/>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5" name="Freeform 2482"/>
          <p:cNvSpPr/>
          <p:nvPr/>
        </p:nvSpPr>
        <p:spPr>
          <a:xfrm>
            <a:off x="5310194" y="1391302"/>
            <a:ext cx="1648968" cy="527305"/>
          </a:xfrm>
          <a:custGeom>
            <a:avLst/>
            <a:gdLst/>
            <a:ahLst/>
            <a:cxnLst/>
            <a:rect l="0" t="0" r="0" b="0"/>
            <a:pathLst>
              <a:path w="1648968" h="527305">
                <a:moveTo>
                  <a:pt x="0" y="108967"/>
                </a:moveTo>
                <a:lnTo>
                  <a:pt x="108967" y="0"/>
                </a:lnTo>
                <a:lnTo>
                  <a:pt x="1648968" y="0"/>
                </a:lnTo>
                <a:lnTo>
                  <a:pt x="1648968" y="418338"/>
                </a:lnTo>
                <a:lnTo>
                  <a:pt x="1540003" y="527305"/>
                </a:lnTo>
                <a:lnTo>
                  <a:pt x="0" y="527305"/>
                </a:lnTo>
                <a:close/>
                <a:moveTo>
                  <a:pt x="0" y="108967"/>
                </a:moveTo>
                <a:lnTo>
                  <a:pt x="1540003" y="108967"/>
                </a:lnTo>
                <a:lnTo>
                  <a:pt x="1648968" y="0"/>
                </a:lnTo>
                <a:moveTo>
                  <a:pt x="1540003" y="108967"/>
                </a:moveTo>
                <a:lnTo>
                  <a:pt x="1540003" y="527305"/>
                </a:lnTo>
              </a:path>
            </a:pathLst>
          </a:custGeom>
          <a:noFill/>
          <a:ln w="6095" cap="flat" cmpd="sng">
            <a:solidFill>
              <a:schemeClr val="accent1">
                <a:lumMod val="60000"/>
                <a:lumOff val="40000"/>
              </a:schemeClr>
            </a:solidFill>
            <a:miter lim="101600"/>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36" name="Freeform 2483"/>
          <p:cNvSpPr/>
          <p:nvPr/>
        </p:nvSpPr>
        <p:spPr>
          <a:xfrm>
            <a:off x="5307146" y="1497982"/>
            <a:ext cx="1545336" cy="425196"/>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2" name="Freeform 2487"/>
          <p:cNvSpPr/>
          <p:nvPr/>
        </p:nvSpPr>
        <p:spPr>
          <a:xfrm>
            <a:off x="5240090" y="2593931"/>
            <a:ext cx="1738884" cy="307848"/>
          </a:xfrm>
          <a:custGeom>
            <a:avLst/>
            <a:gdLst/>
            <a:ahLst/>
            <a:cxnLst/>
            <a:rect l="0" t="0" r="0" b="0"/>
            <a:pathLst>
              <a:path w="1738884" h="307848">
                <a:moveTo>
                  <a:pt x="0" y="307848"/>
                </a:moveTo>
                <a:lnTo>
                  <a:pt x="1738884" y="307848"/>
                </a:lnTo>
                <a:lnTo>
                  <a:pt x="1738884" y="0"/>
                </a:lnTo>
                <a:lnTo>
                  <a:pt x="0" y="0"/>
                </a:lnTo>
                <a:lnTo>
                  <a:pt x="0" y="307848"/>
                </a:lnTo>
                <a:close/>
              </a:path>
            </a:pathLst>
          </a:custGeom>
          <a:solidFill>
            <a:schemeClr val="bg1"/>
          </a:solidFill>
          <a:ln w="3047">
            <a:solidFill>
              <a:schemeClr val="accent1">
                <a:lumMod val="60000"/>
                <a:lumOff val="40000"/>
              </a:schemeClr>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6" name="Freeform 2488"/>
          <p:cNvSpPr/>
          <p:nvPr/>
        </p:nvSpPr>
        <p:spPr>
          <a:xfrm>
            <a:off x="5240090" y="3358978"/>
            <a:ext cx="1738884" cy="307848"/>
          </a:xfrm>
          <a:custGeom>
            <a:avLst/>
            <a:gdLst/>
            <a:ahLst/>
            <a:cxnLst/>
            <a:rect l="0" t="0" r="0" b="0"/>
            <a:pathLst>
              <a:path w="1738884" h="307848">
                <a:moveTo>
                  <a:pt x="0" y="307848"/>
                </a:moveTo>
                <a:lnTo>
                  <a:pt x="1738884" y="307848"/>
                </a:lnTo>
                <a:lnTo>
                  <a:pt x="1738884" y="0"/>
                </a:lnTo>
                <a:lnTo>
                  <a:pt x="0" y="0"/>
                </a:lnTo>
                <a:lnTo>
                  <a:pt x="0" y="307848"/>
                </a:lnTo>
                <a:close/>
              </a:path>
            </a:pathLst>
          </a:custGeom>
          <a:solidFill>
            <a:schemeClr val="bg1"/>
          </a:solidFill>
          <a:ln w="3047">
            <a:solidFill>
              <a:schemeClr val="accent1">
                <a:lumMod val="60000"/>
                <a:lumOff val="40000"/>
              </a:schemeClr>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9" name="Freeform 2489"/>
          <p:cNvSpPr/>
          <p:nvPr/>
        </p:nvSpPr>
        <p:spPr>
          <a:xfrm>
            <a:off x="5240090" y="4157555"/>
            <a:ext cx="1738884" cy="307847"/>
          </a:xfrm>
          <a:custGeom>
            <a:avLst/>
            <a:gdLst/>
            <a:ahLst/>
            <a:cxnLst/>
            <a:rect l="0" t="0" r="0" b="0"/>
            <a:pathLst>
              <a:path w="1738884" h="307847">
                <a:moveTo>
                  <a:pt x="0" y="307847"/>
                </a:moveTo>
                <a:lnTo>
                  <a:pt x="1738884" y="307847"/>
                </a:lnTo>
                <a:lnTo>
                  <a:pt x="1738884" y="0"/>
                </a:lnTo>
                <a:lnTo>
                  <a:pt x="0" y="0"/>
                </a:lnTo>
                <a:lnTo>
                  <a:pt x="0" y="307847"/>
                </a:lnTo>
                <a:close/>
              </a:path>
            </a:pathLst>
          </a:custGeom>
          <a:solidFill>
            <a:schemeClr val="bg1"/>
          </a:solidFill>
          <a:ln w="3047">
            <a:solidFill>
              <a:schemeClr val="accent1">
                <a:lumMod val="60000"/>
                <a:lumOff val="40000"/>
              </a:schemeClr>
            </a:solid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1" name="Freeform 2490"/>
          <p:cNvSpPr/>
          <p:nvPr/>
        </p:nvSpPr>
        <p:spPr>
          <a:xfrm>
            <a:off x="5240090" y="3680340"/>
            <a:ext cx="1738884" cy="307848"/>
          </a:xfrm>
          <a:custGeom>
            <a:avLst/>
            <a:gdLst/>
            <a:ahLst/>
            <a:cxnLst/>
            <a:rect l="0" t="0" r="0" b="0"/>
            <a:pathLst>
              <a:path w="1738884" h="307848">
                <a:moveTo>
                  <a:pt x="0" y="307848"/>
                </a:moveTo>
                <a:lnTo>
                  <a:pt x="1738884" y="307848"/>
                </a:lnTo>
                <a:lnTo>
                  <a:pt x="1738884" y="0"/>
                </a:lnTo>
                <a:lnTo>
                  <a:pt x="0" y="0"/>
                </a:lnTo>
                <a:lnTo>
                  <a:pt x="0" y="307848"/>
                </a:lnTo>
                <a:close/>
              </a:path>
            </a:pathLst>
          </a:custGeom>
          <a:noFill/>
          <a:ln w="3047">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22" name="Freeform 2491"/>
          <p:cNvSpPr/>
          <p:nvPr/>
        </p:nvSpPr>
        <p:spPr>
          <a:xfrm>
            <a:off x="5224850" y="2938153"/>
            <a:ext cx="1738884" cy="307848"/>
          </a:xfrm>
          <a:custGeom>
            <a:avLst/>
            <a:gdLst/>
            <a:ahLst/>
            <a:cxnLst/>
            <a:rect l="0" t="0" r="0" b="0"/>
            <a:pathLst>
              <a:path w="1738884" h="307848">
                <a:moveTo>
                  <a:pt x="0" y="307848"/>
                </a:moveTo>
                <a:lnTo>
                  <a:pt x="1738884" y="307848"/>
                </a:lnTo>
                <a:lnTo>
                  <a:pt x="1738884" y="0"/>
                </a:lnTo>
                <a:lnTo>
                  <a:pt x="0" y="0"/>
                </a:lnTo>
                <a:lnTo>
                  <a:pt x="0" y="307848"/>
                </a:lnTo>
                <a:close/>
              </a:path>
            </a:pathLst>
          </a:custGeom>
          <a:noFill/>
          <a:ln w="3047">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24" name="Rectangle 2495"/>
          <p:cNvSpPr/>
          <p:nvPr/>
        </p:nvSpPr>
        <p:spPr>
          <a:xfrm>
            <a:off x="9882448" y="1579896"/>
            <a:ext cx="914400" cy="285841"/>
          </a:xfrm>
          <a:prstGeom prst="rect">
            <a:avLst/>
          </a:prstGeom>
        </p:spPr>
        <p:txBody>
          <a:bodyPr wrap="none" lIns="0" tIns="0" rIns="0" bIns="0">
            <a:spAutoFit/>
          </a:bodyPr>
          <a:lstStyle/>
          <a:p>
            <a:pPr marL="0"/>
            <a:r>
              <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rPr>
              <a:t>线索管理</a:t>
            </a:r>
            <a:endPar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0" name="Rectangle 2497"/>
          <p:cNvSpPr/>
          <p:nvPr/>
        </p:nvSpPr>
        <p:spPr>
          <a:xfrm>
            <a:off x="1317315" y="1589040"/>
            <a:ext cx="923330" cy="276999"/>
          </a:xfrm>
          <a:prstGeom prst="rect">
            <a:avLst/>
          </a:prstGeom>
        </p:spPr>
        <p:txBody>
          <a:bodyPr wrap="none" lIns="0" tIns="0" rIns="0" bIns="0">
            <a:spAutoFit/>
          </a:bodyPr>
          <a:lstStyle/>
          <a:p>
            <a:pPr marL="0"/>
            <a:r>
              <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rPr>
              <a:t>创意生产</a:t>
            </a:r>
            <a:endPar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2" name="Rectangle 2498"/>
          <p:cNvSpPr/>
          <p:nvPr/>
        </p:nvSpPr>
        <p:spPr>
          <a:xfrm>
            <a:off x="1500195" y="2677370"/>
            <a:ext cx="609600" cy="190559"/>
          </a:xfrm>
          <a:prstGeom prst="rect">
            <a:avLst/>
          </a:prstGeom>
        </p:spPr>
        <p:txBody>
          <a:bodyPr wrap="none" lIns="0" tIns="0" rIns="0" bIns="0">
            <a:spAutoFit/>
          </a:bodyPr>
          <a:lstStyle/>
          <a:p>
            <a:pPr marL="0"/>
            <a:r>
              <a:rPr 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创意中心</a:t>
            </a:r>
            <a:endParaRPr 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33" name="Rectangle 2499"/>
          <p:cNvSpPr/>
          <p:nvPr/>
        </p:nvSpPr>
        <p:spPr>
          <a:xfrm>
            <a:off x="1399102" y="3520649"/>
            <a:ext cx="918210" cy="184150"/>
          </a:xfrm>
          <a:prstGeom prst="rect">
            <a:avLst/>
          </a:prstGeom>
        </p:spPr>
        <p:txBody>
          <a:bodyPr wrap="none" lIns="0" tIns="0" rIns="0" bIns="0">
            <a:spAutoFit/>
          </a:bodyPr>
          <a:lstStyle/>
          <a:p>
            <a:pPr marL="0"/>
            <a:r>
              <a:rPr lang="zh-CN" alt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内容创作平台</a:t>
            </a:r>
            <a:endParaRPr lang="zh-CN" alt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41" name="Rectangle 2500"/>
          <p:cNvSpPr/>
          <p:nvPr/>
        </p:nvSpPr>
        <p:spPr>
          <a:xfrm>
            <a:off x="1172230" y="3050913"/>
            <a:ext cx="1282402" cy="153247"/>
          </a:xfrm>
          <a:prstGeom prst="rect">
            <a:avLst/>
          </a:prstGeom>
        </p:spPr>
        <p:txBody>
          <a:bodyPr wrap="none" lIns="0" tIns="0" rIns="0" bIns="0">
            <a:spAutoFit/>
          </a:bodyPr>
          <a:lstStyle/>
          <a:p>
            <a:pPr marL="0"/>
            <a:r>
              <a:rPr lang="en-US" sz="995" b="1" spc="0" baseline="0" dirty="0">
                <a:solidFill>
                  <a:schemeClr val="tx2"/>
                </a:solidFill>
                <a:latin typeface="微软雅黑" panose="020B0503020204020204" charset="-122"/>
                <a:ea typeface="微软雅黑" panose="020B0503020204020204" charset="-122"/>
                <a:cs typeface="微软雅黑" panose="020B0503020204020204" charset="-122"/>
              </a:rPr>
              <a:t>（标题、图片、视频）</a:t>
            </a:r>
            <a:endParaRPr lang="en-US" sz="995" b="1" spc="0" baseline="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2" name="Rectangle 2501"/>
          <p:cNvSpPr/>
          <p:nvPr/>
        </p:nvSpPr>
        <p:spPr>
          <a:xfrm>
            <a:off x="10056185" y="3695709"/>
            <a:ext cx="609600" cy="190559"/>
          </a:xfrm>
          <a:prstGeom prst="rect">
            <a:avLst/>
          </a:prstGeom>
        </p:spPr>
        <p:txBody>
          <a:bodyPr wrap="none" lIns="0" tIns="0" rIns="0" bIns="0">
            <a:spAutoFit/>
          </a:bodyPr>
          <a:lstStyle/>
          <a:p>
            <a:pPr marL="0"/>
            <a:r>
              <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页面洞察</a:t>
            </a:r>
            <a:endPar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43" name="Rectangle 2502"/>
          <p:cNvSpPr/>
          <p:nvPr/>
        </p:nvSpPr>
        <p:spPr>
          <a:xfrm>
            <a:off x="10056185" y="4171831"/>
            <a:ext cx="609600" cy="190559"/>
          </a:xfrm>
          <a:prstGeom prst="rect">
            <a:avLst/>
          </a:prstGeom>
        </p:spPr>
        <p:txBody>
          <a:bodyPr wrap="none" lIns="0" tIns="0" rIns="0" bIns="0">
            <a:spAutoFit/>
          </a:bodyPr>
          <a:lstStyle/>
          <a:p>
            <a:pPr marL="0"/>
            <a:r>
              <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线索运营</a:t>
            </a:r>
            <a:endPar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44" name="Rectangle 2503"/>
          <p:cNvSpPr/>
          <p:nvPr/>
        </p:nvSpPr>
        <p:spPr>
          <a:xfrm>
            <a:off x="10056185" y="2743843"/>
            <a:ext cx="609600" cy="190559"/>
          </a:xfrm>
          <a:prstGeom prst="rect">
            <a:avLst/>
          </a:prstGeom>
        </p:spPr>
        <p:txBody>
          <a:bodyPr wrap="none" lIns="0" tIns="0" rIns="0" bIns="0">
            <a:spAutoFit/>
          </a:bodyPr>
          <a:lstStyle/>
          <a:p>
            <a:pPr marL="0"/>
            <a:r>
              <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线索沉淀</a:t>
            </a:r>
            <a:endPar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46" name="Rectangle 2505"/>
          <p:cNvSpPr txBox="1"/>
          <p:nvPr/>
        </p:nvSpPr>
        <p:spPr>
          <a:xfrm>
            <a:off x="5067935" y="5001895"/>
            <a:ext cx="2109470" cy="495300"/>
          </a:xfrm>
          <a:prstGeom prst="rect">
            <a:avLst/>
          </a:prstGeom>
          <a:noFill/>
          <a:effectLst/>
        </p:spPr>
        <p:txBody>
          <a:bodyPr wrap="square" lIns="86868" tIns="43434" rIns="86868" bIns="43434">
            <a:spAutoFit/>
          </a:bodyPr>
          <a:lstStyle/>
          <a:p>
            <a:pPr marL="228600" lvl="0" algn="ctr">
              <a:buClrTx/>
              <a:buSzTx/>
              <a:buFontTx/>
            </a:pPr>
            <a:r>
              <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rPr>
              <a:t>全方位智能引擎</a:t>
            </a:r>
            <a:endPar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228600" lvl="0" algn="ctr">
              <a:buClrTx/>
              <a:buSzTx/>
              <a:buFontTx/>
            </a:pPr>
            <a:r>
              <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rPr>
              <a:t>触达海量用户</a:t>
            </a:r>
            <a:endPar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47" name="Rectangle 2506"/>
          <p:cNvSpPr txBox="1"/>
          <p:nvPr/>
        </p:nvSpPr>
        <p:spPr>
          <a:xfrm>
            <a:off x="8509635" y="5001895"/>
            <a:ext cx="2569845" cy="495300"/>
          </a:xfrm>
          <a:prstGeom prst="rect">
            <a:avLst/>
          </a:prstGeom>
          <a:noFill/>
          <a:effectLst/>
        </p:spPr>
        <p:txBody>
          <a:bodyPr wrap="square" lIns="86868" tIns="43434" rIns="86868" bIns="43434">
            <a:spAutoFit/>
          </a:bodyPr>
          <a:lstStyle/>
          <a:p>
            <a:pPr marL="228600" lvl="0" algn="ctr">
              <a:buClrTx/>
              <a:buSzTx/>
              <a:buFontTx/>
            </a:pPr>
            <a:r>
              <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rPr>
              <a:t>全环节优化赋能</a:t>
            </a:r>
            <a:endPar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228600" lvl="0" algn="ctr">
              <a:buClrTx/>
              <a:buSzTx/>
              <a:buFontTx/>
            </a:pPr>
            <a:r>
              <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rPr>
              <a:t>提高诊断优化决策效率</a:t>
            </a:r>
            <a:endPar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48" name="Rectangle 2507"/>
          <p:cNvSpPr/>
          <p:nvPr/>
        </p:nvSpPr>
        <p:spPr>
          <a:xfrm>
            <a:off x="1569085" y="5967730"/>
            <a:ext cx="8775065" cy="276860"/>
          </a:xfrm>
          <a:prstGeom prst="rect">
            <a:avLst/>
          </a:prstGeom>
        </p:spPr>
        <p:txBody>
          <a:bodyPr wrap="square" lIns="0" tIns="0" rIns="0" bIns="0">
            <a:spAutoFit/>
          </a:bodyPr>
          <a:lstStyle/>
          <a:p>
            <a:pPr marL="0" algn="ctr"/>
            <a:r>
              <a:rPr lang="zh-CN" altLang="en-US" sz="1800" b="1" spc="0" baseline="0" dirty="0">
                <a:solidFill>
                  <a:srgbClr val="FFFFFF"/>
                </a:solidFill>
                <a:latin typeface="微软雅黑" panose="020B0503020204020204" charset="-122"/>
                <a:ea typeface="微软雅黑" panose="020B0503020204020204" charset="-122"/>
                <a:cs typeface="微软雅黑" panose="020B0503020204020204" charset="-122"/>
              </a:rPr>
              <a:t>构建数字化全链路</a:t>
            </a:r>
            <a:r>
              <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rPr>
              <a:t>一站式投放平台</a:t>
            </a:r>
            <a:r>
              <a:rPr lang="zh-CN" sz="1800" b="1" spc="0" baseline="0" dirty="0">
                <a:solidFill>
                  <a:srgbClr val="FFFFFF"/>
                </a:solidFill>
                <a:latin typeface="微软雅黑" panose="020B0503020204020204" charset="-122"/>
                <a:ea typeface="微软雅黑" panose="020B0503020204020204" charset="-122"/>
                <a:cs typeface="微软雅黑" panose="020B0503020204020204" charset="-122"/>
              </a:rPr>
              <a:t>，全环节、全访问赋能业务增长</a:t>
            </a:r>
            <a:endParaRPr lang="zh-CN" sz="18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2" name="Rectangle 2508"/>
          <p:cNvSpPr/>
          <p:nvPr/>
        </p:nvSpPr>
        <p:spPr>
          <a:xfrm>
            <a:off x="7708082" y="1579896"/>
            <a:ext cx="914400" cy="285841"/>
          </a:xfrm>
          <a:prstGeom prst="rect">
            <a:avLst/>
          </a:prstGeom>
        </p:spPr>
        <p:txBody>
          <a:bodyPr wrap="none" lIns="0" tIns="0" rIns="0" bIns="0">
            <a:spAutoFit/>
          </a:bodyPr>
          <a:lstStyle/>
          <a:p>
            <a:pPr marL="0"/>
            <a:r>
              <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rPr>
              <a:t>深度转化</a:t>
            </a:r>
            <a:endPar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8" name="Rectangle 2509"/>
          <p:cNvSpPr/>
          <p:nvPr/>
        </p:nvSpPr>
        <p:spPr>
          <a:xfrm>
            <a:off x="7879023" y="2353384"/>
            <a:ext cx="609600" cy="190559"/>
          </a:xfrm>
          <a:prstGeom prst="rect">
            <a:avLst/>
          </a:prstGeom>
        </p:spPr>
        <p:txBody>
          <a:bodyPr wrap="none" lIns="0" tIns="0" rIns="0" bIns="0">
            <a:spAutoFit/>
          </a:bodyPr>
          <a:lstStyle/>
          <a:p>
            <a:pPr marL="0"/>
            <a:r>
              <a:rPr lang="en-US" sz="1200" b="1" spc="0" baseline="0" dirty="0">
                <a:solidFill>
                  <a:srgbClr val="FFFFFF"/>
                </a:solidFill>
                <a:latin typeface="微软雅黑" panose="020B0503020204020204" charset="-122"/>
                <a:ea typeface="微软雅黑" panose="020B0503020204020204" charset="-122"/>
                <a:cs typeface="微软雅黑" panose="020B0503020204020204" charset="-122"/>
              </a:rPr>
              <a:t>目标转化</a:t>
            </a:r>
            <a:endParaRPr lang="en-US" sz="12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2" name="Rectangle 2511"/>
          <p:cNvSpPr/>
          <p:nvPr/>
        </p:nvSpPr>
        <p:spPr>
          <a:xfrm>
            <a:off x="7879023" y="3551883"/>
            <a:ext cx="609600" cy="190559"/>
          </a:xfrm>
          <a:prstGeom prst="rect">
            <a:avLst/>
          </a:prstGeom>
        </p:spPr>
        <p:txBody>
          <a:bodyPr wrap="none" lIns="0" tIns="0" rIns="0" bIns="0">
            <a:spAutoFit/>
          </a:bodyPr>
          <a:lstStyle/>
          <a:p>
            <a:pPr marL="0"/>
            <a:r>
              <a:rPr lang="en-US" sz="1200" b="1" spc="0" baseline="0" dirty="0">
                <a:solidFill>
                  <a:srgbClr val="FFFFFF"/>
                </a:solidFill>
                <a:latin typeface="微软雅黑" panose="020B0503020204020204" charset="-122"/>
                <a:ea typeface="微软雅黑" panose="020B0503020204020204" charset="-122"/>
                <a:cs typeface="微软雅黑" panose="020B0503020204020204" charset="-122"/>
              </a:rPr>
              <a:t>深度转化</a:t>
            </a:r>
            <a:endParaRPr lang="en-US" sz="12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3" name="Rectangle 2512"/>
          <p:cNvSpPr/>
          <p:nvPr/>
        </p:nvSpPr>
        <p:spPr>
          <a:xfrm>
            <a:off x="7579685" y="4284545"/>
            <a:ext cx="304800" cy="184150"/>
          </a:xfrm>
          <a:prstGeom prst="rect">
            <a:avLst/>
          </a:prstGeom>
        </p:spPr>
        <p:txBody>
          <a:bodyPr wrap="none" lIns="0" tIns="0" rIns="0" bIns="0">
            <a:spAutoFit/>
          </a:bodyPr>
          <a:lstStyle/>
          <a:p>
            <a:pPr marL="0"/>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授信</a:t>
            </a:r>
            <a:endPar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4" name="Rectangle 2513"/>
          <p:cNvSpPr/>
          <p:nvPr/>
        </p:nvSpPr>
        <p:spPr>
          <a:xfrm>
            <a:off x="8041847" y="3961644"/>
            <a:ext cx="631825" cy="184150"/>
          </a:xfrm>
          <a:prstGeom prst="rect">
            <a:avLst/>
          </a:prstGeom>
        </p:spPr>
        <p:txBody>
          <a:bodyPr wrap="none" lIns="0" tIns="0" rIns="0" bIns="0">
            <a:spAutoFit/>
          </a:bodyPr>
          <a:lstStyle/>
          <a:p>
            <a:pPr marL="0"/>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付</a:t>
            </a:r>
            <a:r>
              <a:rPr lang="en-US" sz="1200" spc="2578" baseline="0" dirty="0">
                <a:solidFill>
                  <a:schemeClr val="accent1"/>
                </a:solidFill>
                <a:latin typeface="微软雅黑" panose="020B0503020204020204" charset="-122"/>
                <a:ea typeface="微软雅黑" panose="020B0503020204020204" charset="-122"/>
                <a:cs typeface="微软雅黑" panose="020B0503020204020204" charset="-122"/>
              </a:rPr>
              <a:t>费</a:t>
            </a:r>
            <a:endParaRPr lang="en-US" sz="1200" spc="2578"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5" name="Rectangle 2514"/>
          <p:cNvSpPr/>
          <p:nvPr/>
        </p:nvSpPr>
        <p:spPr>
          <a:xfrm>
            <a:off x="8404707" y="4303470"/>
            <a:ext cx="457200" cy="184150"/>
          </a:xfrm>
          <a:prstGeom prst="rect">
            <a:avLst/>
          </a:prstGeom>
        </p:spPr>
        <p:txBody>
          <a:bodyPr wrap="none" lIns="0" tIns="0" rIns="0" bIns="0">
            <a:spAutoFit/>
          </a:bodyPr>
          <a:lstStyle/>
          <a:p>
            <a:pPr marL="0"/>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下单等</a:t>
            </a:r>
            <a:endPar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6" name="Rectangle 2515"/>
          <p:cNvSpPr/>
          <p:nvPr/>
        </p:nvSpPr>
        <p:spPr>
          <a:xfrm>
            <a:off x="10058957" y="3225428"/>
            <a:ext cx="621965" cy="186526"/>
          </a:xfrm>
          <a:prstGeom prst="rect">
            <a:avLst/>
          </a:prstGeom>
        </p:spPr>
        <p:txBody>
          <a:bodyPr wrap="none" lIns="0" tIns="0" rIns="0" bIns="0">
            <a:spAutoFit/>
          </a:bodyPr>
          <a:lstStyle/>
          <a:p>
            <a:pPr marL="0">
              <a:tabLst>
                <a:tab pos="1581150" algn="l"/>
              </a:tabLst>
            </a:pPr>
            <a:r>
              <a:rPr lang="en-US" sz="1820" b="1" spc="0" baseline="4000" dirty="0">
                <a:solidFill>
                  <a:schemeClr val="accent5"/>
                </a:solidFill>
                <a:latin typeface="微软雅黑" panose="020B0503020204020204" charset="-122"/>
                <a:ea typeface="微软雅黑" panose="020B0503020204020204" charset="-122"/>
                <a:cs typeface="微软雅黑" panose="020B0503020204020204" charset="-122"/>
              </a:rPr>
              <a:t>线索分析</a:t>
            </a:r>
            <a:endParaRPr lang="en-US" sz="1820" b="1" spc="0" baseline="400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83" name="Rectangle 2522"/>
          <p:cNvSpPr/>
          <p:nvPr/>
        </p:nvSpPr>
        <p:spPr>
          <a:xfrm>
            <a:off x="5656396" y="1579896"/>
            <a:ext cx="914400" cy="285841"/>
          </a:xfrm>
          <a:prstGeom prst="rect">
            <a:avLst/>
          </a:prstGeom>
        </p:spPr>
        <p:txBody>
          <a:bodyPr wrap="none" lIns="0" tIns="0" rIns="0" bIns="0">
            <a:spAutoFit/>
          </a:bodyPr>
          <a:lstStyle/>
          <a:p>
            <a:pPr marL="0"/>
            <a:r>
              <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rPr>
              <a:t>智能投放</a:t>
            </a:r>
            <a:endPar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4" name="Rectangle 2523"/>
          <p:cNvSpPr/>
          <p:nvPr/>
        </p:nvSpPr>
        <p:spPr>
          <a:xfrm>
            <a:off x="5804859" y="2636796"/>
            <a:ext cx="609600" cy="190559"/>
          </a:xfrm>
          <a:prstGeom prst="rect">
            <a:avLst/>
          </a:prstGeom>
        </p:spPr>
        <p:txBody>
          <a:bodyPr wrap="none" lIns="0" tIns="0" rIns="0" bIns="0">
            <a:spAutoFit/>
          </a:bodyPr>
          <a:lstStyle/>
          <a:p>
            <a:pPr marL="0"/>
            <a:r>
              <a:rPr 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定向优化</a:t>
            </a:r>
            <a:endParaRPr 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85" name="Rectangle 2524"/>
          <p:cNvSpPr/>
          <p:nvPr/>
        </p:nvSpPr>
        <p:spPr>
          <a:xfrm>
            <a:off x="5804859" y="3402860"/>
            <a:ext cx="609600" cy="190559"/>
          </a:xfrm>
          <a:prstGeom prst="rect">
            <a:avLst/>
          </a:prstGeom>
        </p:spPr>
        <p:txBody>
          <a:bodyPr wrap="none" lIns="0" tIns="0" rIns="0" bIns="0">
            <a:spAutoFit/>
          </a:bodyPr>
          <a:lstStyle/>
          <a:p>
            <a:pPr marL="0"/>
            <a:r>
              <a:rPr 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智能创意</a:t>
            </a:r>
            <a:endParaRPr 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86" name="Rectangle 2525"/>
          <p:cNvSpPr/>
          <p:nvPr/>
        </p:nvSpPr>
        <p:spPr>
          <a:xfrm>
            <a:off x="5804859" y="4201436"/>
            <a:ext cx="609600" cy="190559"/>
          </a:xfrm>
          <a:prstGeom prst="rect">
            <a:avLst/>
          </a:prstGeom>
        </p:spPr>
        <p:txBody>
          <a:bodyPr wrap="none" lIns="0" tIns="0" rIns="0" bIns="0">
            <a:spAutoFit/>
          </a:bodyPr>
          <a:lstStyle/>
          <a:p>
            <a:pPr marL="0"/>
            <a:r>
              <a:rPr 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智能出价</a:t>
            </a:r>
            <a:endParaRPr lang="en-US" sz="1200" b="1" spc="0" baseline="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87" name="Rectangle 2526"/>
          <p:cNvSpPr/>
          <p:nvPr/>
        </p:nvSpPr>
        <p:spPr>
          <a:xfrm>
            <a:off x="5350707" y="3760528"/>
            <a:ext cx="1538883" cy="153568"/>
          </a:xfrm>
          <a:prstGeom prst="rect">
            <a:avLst/>
          </a:prstGeom>
        </p:spPr>
        <p:txBody>
          <a:bodyPr wrap="none" lIns="0" tIns="0" rIns="0" bIns="0">
            <a:spAutoFit/>
          </a:bodyPr>
          <a:lstStyle/>
          <a:p>
            <a:pPr marL="0"/>
            <a:r>
              <a:rPr lang="en-US" sz="1000" b="1" spc="0" baseline="0" dirty="0">
                <a:solidFill>
                  <a:schemeClr val="tx2"/>
                </a:solidFill>
                <a:latin typeface="微软雅黑" panose="020B0503020204020204" charset="-122"/>
                <a:ea typeface="微软雅黑" panose="020B0503020204020204" charset="-122"/>
                <a:cs typeface="微软雅黑" panose="020B0503020204020204" charset="-122"/>
              </a:rPr>
              <a:t>（动态创意、程序化创意）</a:t>
            </a:r>
            <a:endParaRPr lang="en-US" sz="1000" b="1" spc="0" baseline="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8" name="Rectangle 2527"/>
          <p:cNvSpPr/>
          <p:nvPr/>
        </p:nvSpPr>
        <p:spPr>
          <a:xfrm>
            <a:off x="5335213" y="3004268"/>
            <a:ext cx="1538883" cy="153247"/>
          </a:xfrm>
          <a:prstGeom prst="rect">
            <a:avLst/>
          </a:prstGeom>
        </p:spPr>
        <p:txBody>
          <a:bodyPr wrap="none" lIns="0" tIns="0" rIns="0" bIns="0">
            <a:spAutoFit/>
          </a:bodyPr>
          <a:lstStyle/>
          <a:p>
            <a:pPr marL="0"/>
            <a:r>
              <a:rPr lang="en-US" sz="995" b="1" spc="0" baseline="0" dirty="0">
                <a:solidFill>
                  <a:schemeClr val="tx2"/>
                </a:solidFill>
                <a:latin typeface="微软雅黑" panose="020B0503020204020204" charset="-122"/>
                <a:ea typeface="微软雅黑" panose="020B0503020204020204" charset="-122"/>
                <a:cs typeface="微软雅黑" panose="020B0503020204020204" charset="-122"/>
              </a:rPr>
              <a:t>（关键词推荐、自动定向）</a:t>
            </a:r>
            <a:endParaRPr lang="en-US" sz="995" b="1" spc="0" baseline="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02" name="组合 201"/>
          <p:cNvGrpSpPr/>
          <p:nvPr/>
        </p:nvGrpSpPr>
        <p:grpSpPr>
          <a:xfrm flipV="1">
            <a:off x="11344388" y="1661160"/>
            <a:ext cx="306883" cy="4426490"/>
            <a:chOff x="11308861" y="1925354"/>
            <a:chExt cx="308460" cy="4133342"/>
          </a:xfrm>
        </p:grpSpPr>
        <p:cxnSp>
          <p:nvCxnSpPr>
            <p:cNvPr id="203" name="连接符: 肘形 177"/>
            <p:cNvCxnSpPr/>
            <p:nvPr/>
          </p:nvCxnSpPr>
          <p:spPr>
            <a:xfrm rot="5400000">
              <a:off x="9404356" y="3851500"/>
              <a:ext cx="4133342" cy="281050"/>
            </a:xfrm>
            <a:prstGeom prst="bentConnector3">
              <a:avLst>
                <a:gd name="adj1" fmla="val 99846"/>
              </a:avLst>
            </a:prstGeom>
            <a:ln w="19050">
              <a:solidFill>
                <a:schemeClr val="tx2">
                  <a:alpha val="70000"/>
                </a:schemeClr>
              </a:solidFill>
              <a:tailEnd type="triangle"/>
            </a:ln>
          </p:spPr>
          <p:style>
            <a:lnRef idx="1">
              <a:srgbClr val="2555C1"/>
            </a:lnRef>
            <a:fillRef idx="0">
              <a:srgbClr val="2555C1"/>
            </a:fillRef>
            <a:effectRef idx="0">
              <a:srgbClr val="2555C1"/>
            </a:effectRef>
            <a:fontRef idx="minor">
              <a:sysClr val="windowText" lastClr="000000"/>
            </a:fontRef>
          </p:style>
        </p:cxnSp>
        <p:cxnSp>
          <p:nvCxnSpPr>
            <p:cNvPr id="204" name="直接连接符 203"/>
            <p:cNvCxnSpPr/>
            <p:nvPr/>
          </p:nvCxnSpPr>
          <p:spPr>
            <a:xfrm>
              <a:off x="11308861" y="1927670"/>
              <a:ext cx="308460" cy="0"/>
            </a:xfrm>
            <a:prstGeom prst="line">
              <a:avLst/>
            </a:prstGeom>
            <a:ln w="19050">
              <a:solidFill>
                <a:schemeClr val="tx2">
                  <a:alpha val="70000"/>
                </a:schemeClr>
              </a:solidFill>
            </a:ln>
          </p:spPr>
          <p:style>
            <a:lnRef idx="1">
              <a:srgbClr val="2555C1"/>
            </a:lnRef>
            <a:fillRef idx="0">
              <a:srgbClr val="2555C1"/>
            </a:fillRef>
            <a:effectRef idx="0">
              <a:srgbClr val="2555C1"/>
            </a:effectRef>
            <a:fontRef idx="minor">
              <a:sysClr val="windowText" lastClr="000000"/>
            </a:fontRef>
          </p:style>
        </p:cxnSp>
      </p:grpSp>
      <p:grpSp>
        <p:nvGrpSpPr>
          <p:cNvPr id="205" name="组合 204"/>
          <p:cNvGrpSpPr/>
          <p:nvPr/>
        </p:nvGrpSpPr>
        <p:grpSpPr>
          <a:xfrm rot="10800000">
            <a:off x="534461" y="1722120"/>
            <a:ext cx="306883" cy="4365530"/>
            <a:chOff x="11308861" y="1925354"/>
            <a:chExt cx="308460" cy="4133342"/>
          </a:xfrm>
        </p:grpSpPr>
        <p:cxnSp>
          <p:nvCxnSpPr>
            <p:cNvPr id="206" name="连接符: 肘形 194"/>
            <p:cNvCxnSpPr/>
            <p:nvPr/>
          </p:nvCxnSpPr>
          <p:spPr>
            <a:xfrm rot="5400000">
              <a:off x="9404356" y="3851500"/>
              <a:ext cx="4133342" cy="281050"/>
            </a:xfrm>
            <a:prstGeom prst="bentConnector3">
              <a:avLst>
                <a:gd name="adj1" fmla="val 99846"/>
              </a:avLst>
            </a:prstGeom>
            <a:ln w="19050">
              <a:solidFill>
                <a:schemeClr val="tx2">
                  <a:alpha val="70000"/>
                </a:schemeClr>
              </a:solidFill>
              <a:tailEnd type="triangle"/>
            </a:ln>
          </p:spPr>
          <p:style>
            <a:lnRef idx="1">
              <a:srgbClr val="2555C1"/>
            </a:lnRef>
            <a:fillRef idx="0">
              <a:srgbClr val="2555C1"/>
            </a:fillRef>
            <a:effectRef idx="0">
              <a:srgbClr val="2555C1"/>
            </a:effectRef>
            <a:fontRef idx="minor">
              <a:sysClr val="windowText" lastClr="000000"/>
            </a:fontRef>
          </p:style>
        </p:cxnSp>
        <p:cxnSp>
          <p:nvCxnSpPr>
            <p:cNvPr id="207" name="直接连接符 206"/>
            <p:cNvCxnSpPr/>
            <p:nvPr/>
          </p:nvCxnSpPr>
          <p:spPr>
            <a:xfrm>
              <a:off x="11308861" y="1927670"/>
              <a:ext cx="308460" cy="0"/>
            </a:xfrm>
            <a:prstGeom prst="line">
              <a:avLst/>
            </a:prstGeom>
            <a:ln w="19050">
              <a:solidFill>
                <a:schemeClr val="tx2">
                  <a:alpha val="70000"/>
                </a:schemeClr>
              </a:solidFill>
            </a:ln>
          </p:spPr>
          <p:style>
            <a:lnRef idx="1">
              <a:srgbClr val="2555C1"/>
            </a:lnRef>
            <a:fillRef idx="0">
              <a:srgbClr val="2555C1"/>
            </a:fillRef>
            <a:effectRef idx="0">
              <a:srgbClr val="2555C1"/>
            </a:effectRef>
            <a:fontRef idx="minor">
              <a:sysClr val="windowText" lastClr="000000"/>
            </a:fontRef>
          </p:style>
        </p:cxnSp>
      </p:grpSp>
      <p:sp>
        <p:nvSpPr>
          <p:cNvPr id="227" name="Rectangle 2515"/>
          <p:cNvSpPr/>
          <p:nvPr/>
        </p:nvSpPr>
        <p:spPr>
          <a:xfrm>
            <a:off x="8461990" y="3115713"/>
            <a:ext cx="396239" cy="184150"/>
          </a:xfrm>
          <a:prstGeom prst="rect">
            <a:avLst/>
          </a:prstGeom>
        </p:spPr>
        <p:txBody>
          <a:bodyPr wrap="square" lIns="0" tIns="0" rIns="0" bIns="0">
            <a:spAutoFit/>
          </a:bodyPr>
          <a:lstStyle/>
          <a:p>
            <a:pPr marL="0">
              <a:tabLst>
                <a:tab pos="1581150" algn="l"/>
              </a:tabLst>
            </a:pPr>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咨询</a:t>
            </a:r>
            <a:endPar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28" name="Rectangle 2515"/>
          <p:cNvSpPr/>
          <p:nvPr/>
        </p:nvSpPr>
        <p:spPr>
          <a:xfrm>
            <a:off x="7381150" y="3115713"/>
            <a:ext cx="699836" cy="184150"/>
          </a:xfrm>
          <a:prstGeom prst="rect">
            <a:avLst/>
          </a:prstGeom>
        </p:spPr>
        <p:txBody>
          <a:bodyPr wrap="square" lIns="0" tIns="0" rIns="0" bIns="0">
            <a:spAutoFit/>
          </a:bodyPr>
          <a:lstStyle/>
          <a:p>
            <a:pPr marL="0" algn="ctr">
              <a:tabLst>
                <a:tab pos="1581150" algn="l"/>
              </a:tabLst>
            </a:pPr>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App</a:t>
            </a:r>
            <a:r>
              <a:rPr lang="zh-CN" alt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激活</a:t>
            </a:r>
            <a:endParaRPr lang="zh-CN" altLang="en-US" sz="1200"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29" name="Rectangle 2515"/>
          <p:cNvSpPr/>
          <p:nvPr/>
        </p:nvSpPr>
        <p:spPr>
          <a:xfrm>
            <a:off x="8338525" y="2757234"/>
            <a:ext cx="643170" cy="184150"/>
          </a:xfrm>
          <a:prstGeom prst="rect">
            <a:avLst/>
          </a:prstGeom>
        </p:spPr>
        <p:txBody>
          <a:bodyPr wrap="square" lIns="0" tIns="0" rIns="0" bIns="0">
            <a:spAutoFit/>
          </a:bodyPr>
          <a:lstStyle/>
          <a:p>
            <a:pPr marL="0" algn="ctr">
              <a:tabLst>
                <a:tab pos="1581150" algn="l"/>
              </a:tabLst>
            </a:pPr>
            <a:r>
              <a:rPr lang="zh-CN" alt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表单提交</a:t>
            </a:r>
            <a:endParaRPr lang="zh-CN" altLang="en-US" sz="1200"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30" name="Rectangle 2515"/>
          <p:cNvSpPr/>
          <p:nvPr/>
        </p:nvSpPr>
        <p:spPr>
          <a:xfrm>
            <a:off x="7336056" y="2757234"/>
            <a:ext cx="790024" cy="184150"/>
          </a:xfrm>
          <a:prstGeom prst="rect">
            <a:avLst/>
          </a:prstGeom>
        </p:spPr>
        <p:txBody>
          <a:bodyPr wrap="square" lIns="0" tIns="0" rIns="0" bIns="0">
            <a:spAutoFit/>
          </a:bodyPr>
          <a:lstStyle/>
          <a:p>
            <a:pPr marL="0" algn="ctr">
              <a:tabLst>
                <a:tab pos="1581150" algn="l"/>
              </a:tabLst>
            </a:pPr>
            <a:r>
              <a:rPr lang="en-US" altLang="zh-CN" sz="1200" spc="0" baseline="0" dirty="0">
                <a:solidFill>
                  <a:schemeClr val="accent1"/>
                </a:solidFill>
                <a:latin typeface="微软雅黑" panose="020B0503020204020204" charset="-122"/>
                <a:ea typeface="微软雅黑" panose="020B0503020204020204" charset="-122"/>
                <a:cs typeface="微软雅黑" panose="020B0503020204020204" charset="-122"/>
              </a:rPr>
              <a:t>App</a:t>
            </a:r>
            <a:r>
              <a:rPr lang="zh-CN" alt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下载</a:t>
            </a:r>
            <a:endParaRPr lang="zh-CN" altLang="en-US" sz="1200"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34" name="Rectangle 2513"/>
          <p:cNvSpPr/>
          <p:nvPr/>
        </p:nvSpPr>
        <p:spPr>
          <a:xfrm>
            <a:off x="7428100" y="3961644"/>
            <a:ext cx="600075" cy="184150"/>
          </a:xfrm>
          <a:prstGeom prst="rect">
            <a:avLst/>
          </a:prstGeom>
        </p:spPr>
        <p:txBody>
          <a:bodyPr wrap="none" lIns="0" tIns="0" rIns="0" bIns="0">
            <a:spAutoFit/>
          </a:bodyPr>
          <a:lstStyle/>
          <a:p>
            <a:pPr marL="0"/>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留</a:t>
            </a:r>
            <a:r>
              <a:rPr lang="en-US" sz="1200" spc="2325" baseline="0" dirty="0">
                <a:solidFill>
                  <a:schemeClr val="accent1"/>
                </a:solidFill>
                <a:latin typeface="微软雅黑" panose="020B0503020204020204" charset="-122"/>
                <a:ea typeface="微软雅黑" panose="020B0503020204020204" charset="-122"/>
                <a:cs typeface="微软雅黑" panose="020B0503020204020204" charset="-122"/>
              </a:rPr>
              <a:t>存</a:t>
            </a:r>
            <a:endParaRPr lang="en-US" sz="1200" spc="2325"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35" name="Rectangle 2513"/>
          <p:cNvSpPr/>
          <p:nvPr/>
        </p:nvSpPr>
        <p:spPr>
          <a:xfrm>
            <a:off x="8662284" y="3959784"/>
            <a:ext cx="248920" cy="180975"/>
          </a:xfrm>
          <a:prstGeom prst="rect">
            <a:avLst/>
          </a:prstGeom>
        </p:spPr>
        <p:txBody>
          <a:bodyPr wrap="none" lIns="0" tIns="0" rIns="0" bIns="0">
            <a:spAutoFit/>
          </a:bodyPr>
          <a:lstStyle/>
          <a:p>
            <a:pPr marL="0"/>
            <a:r>
              <a:rPr lang="en-US" sz="1820" spc="0" baseline="-2000" dirty="0">
                <a:solidFill>
                  <a:schemeClr val="accent1"/>
                </a:solidFill>
                <a:latin typeface="微软雅黑" panose="020B0503020204020204" charset="-122"/>
                <a:ea typeface="微软雅黑" panose="020B0503020204020204" charset="-122"/>
                <a:cs typeface="微软雅黑" panose="020B0503020204020204" charset="-122"/>
              </a:rPr>
              <a:t>ROI</a:t>
            </a:r>
            <a:endParaRPr lang="en-US" sz="1820" spc="0" baseline="-20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47" name="圆角矩形 8"/>
          <p:cNvSpPr/>
          <p:nvPr/>
        </p:nvSpPr>
        <p:spPr>
          <a:xfrm>
            <a:off x="2934081" y="2450201"/>
            <a:ext cx="1974073" cy="1002743"/>
          </a:xfrm>
          <a:prstGeom prst="roundRect">
            <a:avLst>
              <a:gd name="adj" fmla="val 2689"/>
            </a:avLst>
          </a:prstGeom>
          <a:solidFill>
            <a:sysClr val="window" lastClr="FFFFFF"/>
          </a:solidFill>
          <a:ln>
            <a:noFill/>
          </a:ln>
          <a:effectLst/>
        </p:spPr>
        <p:style>
          <a:lnRef idx="2">
            <a:srgbClr val="2555C1">
              <a:shade val="15000"/>
            </a:srgbClr>
          </a:lnRef>
          <a:fillRef idx="1">
            <a:srgbClr val="2555C1"/>
          </a:fillRef>
          <a:effectRef idx="0">
            <a:srgbClr val="2555C1"/>
          </a:effectRef>
          <a:fontRef idx="minor">
            <a:sysClr val="window" lastClr="FFFFFF"/>
          </a:fontRef>
        </p:style>
        <p:txBody>
          <a:bodyPr rtlCol="0" anchor="ctr"/>
          <a:lstStyle/>
          <a:p>
            <a:pPr algn="ctr"/>
            <a:endParaRPr kumimoji="1"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48" name="圆角矩形 8"/>
          <p:cNvSpPr/>
          <p:nvPr/>
        </p:nvSpPr>
        <p:spPr>
          <a:xfrm>
            <a:off x="2934081" y="3689608"/>
            <a:ext cx="1974073" cy="1002743"/>
          </a:xfrm>
          <a:prstGeom prst="roundRect">
            <a:avLst>
              <a:gd name="adj" fmla="val 2689"/>
            </a:avLst>
          </a:prstGeom>
          <a:solidFill>
            <a:sysClr val="window" lastClr="FFFFFF"/>
          </a:solidFill>
          <a:ln>
            <a:noFill/>
          </a:ln>
          <a:effectLst/>
        </p:spPr>
        <p:style>
          <a:lnRef idx="2">
            <a:srgbClr val="2555C1">
              <a:shade val="15000"/>
            </a:srgbClr>
          </a:lnRef>
          <a:fillRef idx="1">
            <a:srgbClr val="2555C1"/>
          </a:fillRef>
          <a:effectRef idx="0">
            <a:srgbClr val="2555C1"/>
          </a:effectRef>
          <a:fontRef idx="minor">
            <a:sysClr val="window" lastClr="FFFFFF"/>
          </a:fontRef>
        </p:style>
        <p:txBody>
          <a:bodyPr rtlCol="0" anchor="ctr"/>
          <a:lstStyle/>
          <a:p>
            <a:pPr algn="ctr"/>
            <a:endParaRPr kumimoji="1"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49" name="Freeform 2470"/>
          <p:cNvSpPr/>
          <p:nvPr/>
        </p:nvSpPr>
        <p:spPr>
          <a:xfrm>
            <a:off x="3161355" y="1391302"/>
            <a:ext cx="1648968" cy="527305"/>
          </a:xfrm>
          <a:custGeom>
            <a:avLst/>
            <a:gdLst/>
            <a:ahLst/>
            <a:cxnLst/>
            <a:rect l="0" t="0" r="0" b="0"/>
            <a:pathLst>
              <a:path w="1648968" h="527305">
                <a:moveTo>
                  <a:pt x="0" y="108967"/>
                </a:moveTo>
                <a:lnTo>
                  <a:pt x="108965" y="0"/>
                </a:lnTo>
                <a:lnTo>
                  <a:pt x="1648968" y="0"/>
                </a:lnTo>
                <a:lnTo>
                  <a:pt x="1648968" y="418338"/>
                </a:lnTo>
                <a:lnTo>
                  <a:pt x="1540002" y="527305"/>
                </a:lnTo>
                <a:lnTo>
                  <a:pt x="0" y="527305"/>
                </a:lnTo>
                <a:close/>
                <a:moveTo>
                  <a:pt x="0" y="108967"/>
                </a:moveTo>
                <a:lnTo>
                  <a:pt x="1540002" y="108967"/>
                </a:lnTo>
                <a:lnTo>
                  <a:pt x="1648968" y="0"/>
                </a:lnTo>
                <a:moveTo>
                  <a:pt x="1540002" y="108967"/>
                </a:moveTo>
                <a:lnTo>
                  <a:pt x="1540002" y="527305"/>
                </a:lnTo>
              </a:path>
            </a:pathLst>
          </a:custGeom>
          <a:noFill/>
          <a:ln w="6095" cap="flat" cmpd="sng">
            <a:solidFill>
              <a:schemeClr val="accent1"/>
            </a:solidFill>
            <a:miter lim="101600"/>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50" name="Freeform 2471"/>
          <p:cNvSpPr/>
          <p:nvPr/>
        </p:nvSpPr>
        <p:spPr>
          <a:xfrm>
            <a:off x="3158306" y="1497982"/>
            <a:ext cx="1545336" cy="425196"/>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51" name="Freeform 2472"/>
          <p:cNvSpPr/>
          <p:nvPr/>
        </p:nvSpPr>
        <p:spPr>
          <a:xfrm>
            <a:off x="2944946" y="2339093"/>
            <a:ext cx="1976629" cy="283465"/>
          </a:xfrm>
          <a:custGeom>
            <a:avLst/>
            <a:gdLst/>
            <a:ahLst/>
            <a:cxnLst/>
            <a:rect l="0" t="0" r="0" b="0"/>
            <a:pathLst>
              <a:path w="1976629" h="283465">
                <a:moveTo>
                  <a:pt x="1929385" y="283465"/>
                </a:moveTo>
                <a:lnTo>
                  <a:pt x="47244" y="283465"/>
                </a:lnTo>
                <a:cubicBezTo>
                  <a:pt x="21209" y="283465"/>
                  <a:pt x="0" y="262255"/>
                  <a:pt x="0" y="236220"/>
                </a:cubicBezTo>
                <a:lnTo>
                  <a:pt x="0" y="0"/>
                </a:lnTo>
                <a:lnTo>
                  <a:pt x="1976629" y="0"/>
                </a:lnTo>
                <a:lnTo>
                  <a:pt x="1976629" y="236220"/>
                </a:lnTo>
                <a:cubicBezTo>
                  <a:pt x="1976629" y="262255"/>
                  <a:pt x="1955419" y="283465"/>
                  <a:pt x="1929385" y="283465"/>
                </a:cubicBezTo>
                <a:close/>
              </a:path>
            </a:pathLst>
          </a:custGeom>
          <a:solidFill>
            <a:schemeClr val="accent1"/>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2" name="Freeform 2473"/>
          <p:cNvSpPr/>
          <p:nvPr/>
        </p:nvSpPr>
        <p:spPr>
          <a:xfrm>
            <a:off x="3050102" y="2710950"/>
            <a:ext cx="864108" cy="307848"/>
          </a:xfrm>
          <a:custGeom>
            <a:avLst/>
            <a:gdLst/>
            <a:ahLst/>
            <a:cxnLst/>
            <a:rect l="0" t="0" r="0" b="0"/>
            <a:pathLst>
              <a:path w="864108" h="307848">
                <a:moveTo>
                  <a:pt x="0" y="307848"/>
                </a:moveTo>
                <a:lnTo>
                  <a:pt x="864108" y="307848"/>
                </a:lnTo>
                <a:lnTo>
                  <a:pt x="864108" y="0"/>
                </a:lnTo>
                <a:lnTo>
                  <a:pt x="0" y="0"/>
                </a:lnTo>
                <a:lnTo>
                  <a:pt x="0" y="307848"/>
                </a:lnTo>
                <a:close/>
              </a:path>
            </a:pathLst>
          </a:custGeom>
          <a:noFill/>
          <a:ln w="6095">
            <a:solidFill>
              <a:schemeClr val="accent1"/>
            </a:solidFill>
          </a:ln>
          <a:extLst>
            <a:ext uri="{909E8E84-426E-40DD-AFC4-6F175D3DCCD1}">
              <a14:hiddenFill xmlns:a14="http://schemas.microsoft.com/office/drawing/2010/main">
                <a:solidFill>
                  <a:srgbClr val="193983">
                    <a:lumMod val="20000"/>
                    <a:lumOff val="80000"/>
                  </a:srgbClr>
                </a:solidFill>
              </a14:hiddenFill>
            </a:ext>
          </a:ex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53" name="Freeform 2474"/>
          <p:cNvSpPr/>
          <p:nvPr/>
        </p:nvSpPr>
        <p:spPr>
          <a:xfrm>
            <a:off x="3956882" y="2710950"/>
            <a:ext cx="864108" cy="307848"/>
          </a:xfrm>
          <a:custGeom>
            <a:avLst/>
            <a:gdLst/>
            <a:ahLst/>
            <a:cxnLst/>
            <a:rect l="0" t="0" r="0" b="0"/>
            <a:pathLst>
              <a:path w="864108" h="307848">
                <a:moveTo>
                  <a:pt x="0" y="307848"/>
                </a:moveTo>
                <a:lnTo>
                  <a:pt x="864108" y="307848"/>
                </a:lnTo>
                <a:lnTo>
                  <a:pt x="864108" y="0"/>
                </a:lnTo>
                <a:lnTo>
                  <a:pt x="0" y="0"/>
                </a:lnTo>
                <a:lnTo>
                  <a:pt x="0" y="307848"/>
                </a:lnTo>
                <a:close/>
              </a:path>
            </a:pathLst>
          </a:custGeom>
          <a:noFill/>
          <a:ln w="6095">
            <a:solidFill>
              <a:schemeClr val="accent1"/>
            </a:solidFill>
          </a:ln>
          <a:extLst>
            <a:ext uri="{909E8E84-426E-40DD-AFC4-6F175D3DCCD1}">
              <a14:hiddenFill xmlns:a14="http://schemas.microsoft.com/office/drawing/2010/main">
                <a:solidFill>
                  <a:srgbClr val="193983">
                    <a:lumMod val="20000"/>
                    <a:lumOff val="80000"/>
                  </a:srgbClr>
                </a:solidFill>
              </a14:hiddenFill>
            </a:ext>
          </a:ex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4" name="Freeform 2475"/>
          <p:cNvSpPr/>
          <p:nvPr/>
        </p:nvSpPr>
        <p:spPr>
          <a:xfrm>
            <a:off x="3050102" y="3058421"/>
            <a:ext cx="864108" cy="307848"/>
          </a:xfrm>
          <a:custGeom>
            <a:avLst/>
            <a:gdLst/>
            <a:ahLst/>
            <a:cxnLst/>
            <a:rect l="0" t="0" r="0" b="0"/>
            <a:pathLst>
              <a:path w="864108" h="307848">
                <a:moveTo>
                  <a:pt x="0" y="307848"/>
                </a:moveTo>
                <a:lnTo>
                  <a:pt x="864108" y="307848"/>
                </a:lnTo>
                <a:lnTo>
                  <a:pt x="864108" y="0"/>
                </a:lnTo>
                <a:lnTo>
                  <a:pt x="0" y="0"/>
                </a:lnTo>
                <a:lnTo>
                  <a:pt x="0" y="307848"/>
                </a:lnTo>
                <a:close/>
              </a:path>
            </a:pathLst>
          </a:custGeom>
          <a:noFill/>
          <a:ln w="6095">
            <a:solidFill>
              <a:schemeClr val="accent1"/>
            </a:solidFill>
          </a:ln>
          <a:extLst>
            <a:ext uri="{909E8E84-426E-40DD-AFC4-6F175D3DCCD1}">
              <a14:hiddenFill xmlns:a14="http://schemas.microsoft.com/office/drawing/2010/main">
                <a:solidFill>
                  <a:srgbClr val="193983">
                    <a:lumMod val="20000"/>
                    <a:lumOff val="80000"/>
                  </a:srgbClr>
                </a:solidFill>
              </a14:hiddenFill>
            </a:ext>
          </a:ex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5" name="Freeform 2476"/>
          <p:cNvSpPr/>
          <p:nvPr/>
        </p:nvSpPr>
        <p:spPr>
          <a:xfrm>
            <a:off x="3944690" y="3055374"/>
            <a:ext cx="864108" cy="307848"/>
          </a:xfrm>
          <a:custGeom>
            <a:avLst/>
            <a:gdLst/>
            <a:ahLst/>
            <a:cxnLst/>
            <a:rect l="0" t="0" r="0" b="0"/>
            <a:pathLst>
              <a:path w="864108" h="307848">
                <a:moveTo>
                  <a:pt x="0" y="307848"/>
                </a:moveTo>
                <a:lnTo>
                  <a:pt x="864108" y="307848"/>
                </a:lnTo>
                <a:lnTo>
                  <a:pt x="864108" y="0"/>
                </a:lnTo>
                <a:lnTo>
                  <a:pt x="0" y="0"/>
                </a:lnTo>
                <a:lnTo>
                  <a:pt x="0" y="307848"/>
                </a:lnTo>
                <a:close/>
              </a:path>
            </a:pathLst>
          </a:custGeom>
          <a:noFill/>
          <a:ln w="6095">
            <a:solidFill>
              <a:schemeClr val="accent1"/>
            </a:solidFill>
          </a:ln>
          <a:extLst>
            <a:ext uri="{909E8E84-426E-40DD-AFC4-6F175D3DCCD1}">
              <a14:hiddenFill xmlns:a14="http://schemas.microsoft.com/office/drawing/2010/main">
                <a:solidFill>
                  <a:srgbClr val="193983">
                    <a:lumMod val="20000"/>
                    <a:lumOff val="80000"/>
                  </a:srgbClr>
                </a:solidFill>
              </a14:hiddenFill>
            </a:ext>
          </a:ex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6" name="Freeform 2480"/>
          <p:cNvSpPr/>
          <p:nvPr/>
        </p:nvSpPr>
        <p:spPr>
          <a:xfrm>
            <a:off x="2935802" y="3529337"/>
            <a:ext cx="1976629" cy="283465"/>
          </a:xfrm>
          <a:custGeom>
            <a:avLst/>
            <a:gdLst/>
            <a:ahLst/>
            <a:cxnLst/>
            <a:rect l="0" t="0" r="0" b="0"/>
            <a:pathLst>
              <a:path w="1976629" h="283465">
                <a:moveTo>
                  <a:pt x="1929385" y="283465"/>
                </a:moveTo>
                <a:lnTo>
                  <a:pt x="47244" y="283465"/>
                </a:lnTo>
                <a:cubicBezTo>
                  <a:pt x="21209" y="283465"/>
                  <a:pt x="0" y="262256"/>
                  <a:pt x="0" y="236221"/>
                </a:cubicBezTo>
                <a:lnTo>
                  <a:pt x="0" y="0"/>
                </a:lnTo>
                <a:lnTo>
                  <a:pt x="1976629" y="0"/>
                </a:lnTo>
                <a:lnTo>
                  <a:pt x="1976629" y="236221"/>
                </a:lnTo>
                <a:cubicBezTo>
                  <a:pt x="1976629" y="262256"/>
                  <a:pt x="1955419" y="283465"/>
                  <a:pt x="1929385" y="283465"/>
                </a:cubicBezTo>
                <a:close/>
              </a:path>
            </a:pathLst>
          </a:custGeom>
          <a:solidFill>
            <a:schemeClr val="accent1"/>
          </a:solidFill>
          <a:ln w="6095">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7" name="Freeform 2481"/>
          <p:cNvSpPr/>
          <p:nvPr/>
        </p:nvSpPr>
        <p:spPr>
          <a:xfrm>
            <a:off x="3031814" y="3895098"/>
            <a:ext cx="1758696" cy="297180"/>
          </a:xfrm>
          <a:custGeom>
            <a:avLst/>
            <a:gdLst/>
            <a:ahLst/>
            <a:cxnLst/>
            <a:rect l="0" t="0" r="0" b="0"/>
            <a:pathLst>
              <a:path w="1758696" h="297180">
                <a:moveTo>
                  <a:pt x="0" y="297180"/>
                </a:moveTo>
                <a:lnTo>
                  <a:pt x="1758696" y="297180"/>
                </a:lnTo>
                <a:lnTo>
                  <a:pt x="1758696" y="0"/>
                </a:lnTo>
                <a:lnTo>
                  <a:pt x="0" y="0"/>
                </a:lnTo>
                <a:lnTo>
                  <a:pt x="0" y="297180"/>
                </a:lnTo>
                <a:close/>
              </a:path>
            </a:pathLst>
          </a:custGeom>
          <a:noFill/>
          <a:ln w="6095">
            <a:solidFill>
              <a:schemeClr val="accent1"/>
            </a:solidFill>
          </a:ln>
          <a:extLst>
            <a:ext uri="{909E8E84-426E-40DD-AFC4-6F175D3DCCD1}">
              <a14:hiddenFill xmlns:a14="http://schemas.microsoft.com/office/drawing/2010/main">
                <a:solidFill>
                  <a:srgbClr val="193983">
                    <a:lumMod val="20000"/>
                    <a:lumOff val="80000"/>
                  </a:srgbClr>
                </a:solidFill>
              </a14:hiddenFill>
            </a:ext>
          </a:ex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8" name="Freeform 2492"/>
          <p:cNvSpPr/>
          <p:nvPr/>
        </p:nvSpPr>
        <p:spPr>
          <a:xfrm>
            <a:off x="3031814" y="4285241"/>
            <a:ext cx="1758696" cy="297180"/>
          </a:xfrm>
          <a:custGeom>
            <a:avLst/>
            <a:gdLst/>
            <a:ahLst/>
            <a:cxnLst/>
            <a:rect l="0" t="0" r="0" b="0"/>
            <a:pathLst>
              <a:path w="1758696" h="297180">
                <a:moveTo>
                  <a:pt x="0" y="297180"/>
                </a:moveTo>
                <a:lnTo>
                  <a:pt x="1758696" y="297180"/>
                </a:lnTo>
                <a:lnTo>
                  <a:pt x="1758696" y="0"/>
                </a:lnTo>
                <a:lnTo>
                  <a:pt x="0" y="0"/>
                </a:lnTo>
                <a:lnTo>
                  <a:pt x="0" y="297180"/>
                </a:lnTo>
                <a:close/>
              </a:path>
            </a:pathLst>
          </a:custGeom>
          <a:noFill/>
          <a:ln w="6095">
            <a:solidFill>
              <a:schemeClr val="accent1"/>
            </a:solidFill>
          </a:ln>
          <a:extLst>
            <a:ext uri="{909E8E84-426E-40DD-AFC4-6F175D3DCCD1}">
              <a14:hiddenFill xmlns:a14="http://schemas.microsoft.com/office/drawing/2010/main">
                <a:solidFill>
                  <a:srgbClr val="193983">
                    <a:lumMod val="20000"/>
                    <a:lumOff val="80000"/>
                  </a:srgbClr>
                </a:solidFill>
              </a14:hiddenFill>
            </a:ext>
          </a:ex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9" name="Rectangle 2516"/>
          <p:cNvSpPr/>
          <p:nvPr/>
        </p:nvSpPr>
        <p:spPr>
          <a:xfrm>
            <a:off x="3507049" y="1579896"/>
            <a:ext cx="914400" cy="285841"/>
          </a:xfrm>
          <a:prstGeom prst="rect">
            <a:avLst/>
          </a:prstGeom>
        </p:spPr>
        <p:txBody>
          <a:bodyPr wrap="none" lIns="0" tIns="0" rIns="0" bIns="0">
            <a:spAutoFit/>
          </a:bodyPr>
          <a:lstStyle/>
          <a:p>
            <a:pPr marL="0"/>
            <a:r>
              <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rPr>
              <a:t>精准定向</a:t>
            </a:r>
            <a:endParaRPr lang="en-US" sz="18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60" name="Rectangle 2517"/>
          <p:cNvSpPr/>
          <p:nvPr/>
        </p:nvSpPr>
        <p:spPr>
          <a:xfrm>
            <a:off x="3628969" y="2388816"/>
            <a:ext cx="609600" cy="190559"/>
          </a:xfrm>
          <a:prstGeom prst="rect">
            <a:avLst/>
          </a:prstGeom>
        </p:spPr>
        <p:txBody>
          <a:bodyPr wrap="none" lIns="0" tIns="0" rIns="0" bIns="0">
            <a:spAutoFit/>
          </a:bodyPr>
          <a:lstStyle/>
          <a:p>
            <a:pPr marL="0"/>
            <a:r>
              <a:rPr lang="en-US" sz="1200" b="1" spc="0" baseline="0" dirty="0">
                <a:solidFill>
                  <a:srgbClr val="FFFFFF"/>
                </a:solidFill>
                <a:latin typeface="微软雅黑" panose="020B0503020204020204" charset="-122"/>
                <a:ea typeface="微软雅黑" panose="020B0503020204020204" charset="-122"/>
                <a:cs typeface="微软雅黑" panose="020B0503020204020204" charset="-122"/>
              </a:rPr>
              <a:t>搜索场景</a:t>
            </a:r>
            <a:endParaRPr lang="en-US" sz="12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61" name="Rectangle 2518"/>
          <p:cNvSpPr/>
          <p:nvPr/>
        </p:nvSpPr>
        <p:spPr>
          <a:xfrm>
            <a:off x="3253430" y="2776720"/>
            <a:ext cx="1287145" cy="184150"/>
          </a:xfrm>
          <a:prstGeom prst="rect">
            <a:avLst/>
          </a:prstGeom>
        </p:spPr>
        <p:txBody>
          <a:bodyPr wrap="none" lIns="0" tIns="0" rIns="0" bIns="0">
            <a:spAutoFit/>
          </a:bodyPr>
          <a:lstStyle/>
          <a:p>
            <a:pPr marL="0">
              <a:tabLst>
                <a:tab pos="982345" algn="l"/>
              </a:tabLst>
            </a:pPr>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关键词	词包</a:t>
            </a:r>
            <a:endPar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62" name="Rectangle 2519"/>
          <p:cNvSpPr/>
          <p:nvPr/>
        </p:nvSpPr>
        <p:spPr>
          <a:xfrm>
            <a:off x="3329630" y="3121607"/>
            <a:ext cx="1194435" cy="184150"/>
          </a:xfrm>
          <a:prstGeom prst="rect">
            <a:avLst/>
          </a:prstGeom>
        </p:spPr>
        <p:txBody>
          <a:bodyPr wrap="none" lIns="0" tIns="0" rIns="0" bIns="0">
            <a:spAutoFit/>
          </a:bodyPr>
          <a:lstStyle/>
          <a:p>
            <a:pPr marL="0">
              <a:tabLst>
                <a:tab pos="894715" algn="l"/>
              </a:tabLst>
            </a:pPr>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网址	</a:t>
            </a:r>
            <a:r>
              <a:rPr lang="en-US" sz="1820" spc="0" baseline="2000" dirty="0">
                <a:solidFill>
                  <a:schemeClr val="accent1"/>
                </a:solidFill>
                <a:latin typeface="微软雅黑" panose="020B0503020204020204" charset="-122"/>
                <a:ea typeface="微软雅黑" panose="020B0503020204020204" charset="-122"/>
                <a:cs typeface="微软雅黑" panose="020B0503020204020204" charset="-122"/>
              </a:rPr>
              <a:t>商品</a:t>
            </a:r>
            <a:endParaRPr lang="en-US" sz="1820" spc="0" baseline="20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63" name="Rectangle 2520"/>
          <p:cNvSpPr/>
          <p:nvPr/>
        </p:nvSpPr>
        <p:spPr>
          <a:xfrm>
            <a:off x="3618808" y="3573345"/>
            <a:ext cx="609600" cy="190559"/>
          </a:xfrm>
          <a:prstGeom prst="rect">
            <a:avLst/>
          </a:prstGeom>
        </p:spPr>
        <p:txBody>
          <a:bodyPr wrap="none" lIns="0" tIns="0" rIns="0" bIns="0">
            <a:spAutoFit/>
          </a:bodyPr>
          <a:lstStyle/>
          <a:p>
            <a:pPr marL="0"/>
            <a:r>
              <a:rPr lang="en-US" sz="1200" b="1" spc="0" baseline="0" dirty="0">
                <a:solidFill>
                  <a:srgbClr val="FFFFFF"/>
                </a:solidFill>
                <a:latin typeface="微软雅黑" panose="020B0503020204020204" charset="-122"/>
                <a:ea typeface="微软雅黑" panose="020B0503020204020204" charset="-122"/>
                <a:cs typeface="微软雅黑" panose="020B0503020204020204" charset="-122"/>
              </a:rPr>
              <a:t>推荐场景</a:t>
            </a:r>
            <a:endParaRPr lang="en-US" sz="12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64" name="Rectangle 2521"/>
          <p:cNvSpPr/>
          <p:nvPr/>
        </p:nvSpPr>
        <p:spPr>
          <a:xfrm>
            <a:off x="3606617" y="3958791"/>
            <a:ext cx="609600" cy="184150"/>
          </a:xfrm>
          <a:prstGeom prst="rect">
            <a:avLst/>
          </a:prstGeom>
        </p:spPr>
        <p:txBody>
          <a:bodyPr wrap="none" lIns="0" tIns="0" rIns="0" bIns="0">
            <a:spAutoFit/>
          </a:bodyPr>
          <a:lstStyle/>
          <a:p>
            <a:pPr marL="0"/>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用户标签</a:t>
            </a:r>
            <a:endPar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65" name="Rectangle 2528"/>
          <p:cNvSpPr/>
          <p:nvPr/>
        </p:nvSpPr>
        <p:spPr>
          <a:xfrm>
            <a:off x="3530417" y="4342077"/>
            <a:ext cx="762000" cy="184150"/>
          </a:xfrm>
          <a:prstGeom prst="rect">
            <a:avLst/>
          </a:prstGeom>
        </p:spPr>
        <p:txBody>
          <a:bodyPr wrap="none" lIns="0" tIns="0" rIns="0" bIns="0">
            <a:spAutoFit/>
          </a:bodyPr>
          <a:lstStyle/>
          <a:p>
            <a:pPr marL="0"/>
            <a:r>
              <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rPr>
              <a:t>定制人群包</a:t>
            </a:r>
            <a:endParaRPr lang="en-US" sz="1200"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83" name="文本框 282"/>
          <p:cNvSpPr txBox="1"/>
          <p:nvPr/>
        </p:nvSpPr>
        <p:spPr>
          <a:xfrm>
            <a:off x="1163955" y="5001895"/>
            <a:ext cx="2814320" cy="511810"/>
          </a:xfrm>
          <a:prstGeom prst="rect">
            <a:avLst/>
          </a:prstGeom>
          <a:noFill/>
          <a:effectLst/>
        </p:spPr>
        <p:txBody>
          <a:bodyPr wrap="square" lIns="86868" tIns="43434" rIns="86868" bIns="43434">
            <a:spAutoFit/>
          </a:bodyPr>
          <a:lstStyle/>
          <a:p>
            <a:pPr marL="228600" algn="ctr"/>
            <a:r>
              <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rPr>
              <a:t>全链路数据打通</a:t>
            </a:r>
            <a:endParaRPr lang="en-US" sz="1330" b="1" spc="0" baseline="0" dirty="0">
              <a:solidFill>
                <a:schemeClr val="bg1"/>
              </a:solidFill>
              <a:latin typeface="微软雅黑" panose="020B0503020204020204" charset="-122"/>
              <a:ea typeface="微软雅黑" panose="020B0503020204020204" charset="-122"/>
              <a:cs typeface="微软雅黑" panose="020B0503020204020204" charset="-122"/>
            </a:endParaRPr>
          </a:p>
          <a:p>
            <a:pPr marL="0" algn="ctr">
              <a:lnSpc>
                <a:spcPts val="1725"/>
              </a:lnSpc>
            </a:pPr>
            <a:r>
              <a:rPr lang="en-US" sz="1330" b="1" dirty="0">
                <a:solidFill>
                  <a:schemeClr val="bg1"/>
                </a:solidFill>
                <a:latin typeface="微软雅黑" panose="020B0503020204020204" charset="-122"/>
                <a:ea typeface="微软雅黑" panose="020B0503020204020204" charset="-122"/>
                <a:cs typeface="微软雅黑" panose="020B0503020204020204" charset="-122"/>
                <a:sym typeface="+mn-ea"/>
              </a:rPr>
              <a:t>驱动投放效果持续优化</a:t>
            </a:r>
            <a:endParaRPr lang="zh-CN" altLang="en-US" sz="1330" b="0"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pic>
        <p:nvPicPr>
          <p:cNvPr id="301" name="图片 300" descr="saas (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00505" y="3886200"/>
            <a:ext cx="695325" cy="695325"/>
          </a:xfrm>
          <a:prstGeom prst="rect">
            <a:avLst/>
          </a:prstGeom>
        </p:spPr>
      </p:pic>
      <p:grpSp>
        <p:nvGrpSpPr>
          <p:cNvPr id="6" name="组合 5"/>
          <p:cNvGrpSpPr/>
          <p:nvPr/>
        </p:nvGrpSpPr>
        <p:grpSpPr>
          <a:xfrm>
            <a:off x="2585085" y="1475740"/>
            <a:ext cx="482600" cy="382905"/>
            <a:chOff x="3998" y="2579"/>
            <a:chExt cx="760" cy="603"/>
          </a:xfrm>
        </p:grpSpPr>
        <p:sp>
          <p:nvSpPr>
            <p:cNvPr id="287" name="菱形 286"/>
            <p:cNvSpPr/>
            <p:nvPr/>
          </p:nvSpPr>
          <p:spPr>
            <a:xfrm rot="10800000" flipV="1">
              <a:off x="4191"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 name="菱形 2"/>
            <p:cNvSpPr/>
            <p:nvPr/>
          </p:nvSpPr>
          <p:spPr>
            <a:xfrm rot="10800000" flipV="1">
              <a:off x="3998"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4" name="组合 23"/>
          <p:cNvGrpSpPr/>
          <p:nvPr/>
        </p:nvGrpSpPr>
        <p:grpSpPr>
          <a:xfrm>
            <a:off x="4785360" y="1475740"/>
            <a:ext cx="482600" cy="382905"/>
            <a:chOff x="3998" y="2579"/>
            <a:chExt cx="760" cy="603"/>
          </a:xfrm>
        </p:grpSpPr>
        <p:sp>
          <p:nvSpPr>
            <p:cNvPr id="25" name="菱形 24"/>
            <p:cNvSpPr/>
            <p:nvPr/>
          </p:nvSpPr>
          <p:spPr>
            <a:xfrm rot="10800000" flipV="1">
              <a:off x="4191"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6" name="菱形 25"/>
            <p:cNvSpPr/>
            <p:nvPr/>
          </p:nvSpPr>
          <p:spPr>
            <a:xfrm rot="10800000" flipV="1">
              <a:off x="3998"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9" name="组合 28"/>
          <p:cNvGrpSpPr/>
          <p:nvPr/>
        </p:nvGrpSpPr>
        <p:grpSpPr>
          <a:xfrm>
            <a:off x="6841490" y="1475740"/>
            <a:ext cx="482600" cy="382905"/>
            <a:chOff x="3998" y="2579"/>
            <a:chExt cx="760" cy="603"/>
          </a:xfrm>
        </p:grpSpPr>
        <p:sp>
          <p:nvSpPr>
            <p:cNvPr id="30" name="菱形 29"/>
            <p:cNvSpPr/>
            <p:nvPr/>
          </p:nvSpPr>
          <p:spPr>
            <a:xfrm rot="10800000" flipV="1">
              <a:off x="4191"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1" name="菱形 30"/>
            <p:cNvSpPr/>
            <p:nvPr/>
          </p:nvSpPr>
          <p:spPr>
            <a:xfrm rot="10800000" flipV="1">
              <a:off x="3998"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32" name="组合 31"/>
          <p:cNvGrpSpPr/>
          <p:nvPr/>
        </p:nvGrpSpPr>
        <p:grpSpPr>
          <a:xfrm>
            <a:off x="8981440" y="1475740"/>
            <a:ext cx="482600" cy="382905"/>
            <a:chOff x="3998" y="2579"/>
            <a:chExt cx="760" cy="603"/>
          </a:xfrm>
        </p:grpSpPr>
        <p:sp>
          <p:nvSpPr>
            <p:cNvPr id="33" name="菱形 32"/>
            <p:cNvSpPr/>
            <p:nvPr/>
          </p:nvSpPr>
          <p:spPr>
            <a:xfrm rot="10800000" flipV="1">
              <a:off x="4191" y="2579"/>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4" name="菱形 33"/>
            <p:cNvSpPr/>
            <p:nvPr/>
          </p:nvSpPr>
          <p:spPr>
            <a:xfrm rot="10800000" flipV="1">
              <a:off x="3998" y="2579"/>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37" name="组合 36"/>
          <p:cNvGrpSpPr/>
          <p:nvPr/>
        </p:nvGrpSpPr>
        <p:grpSpPr>
          <a:xfrm flipH="1">
            <a:off x="782955" y="5114290"/>
            <a:ext cx="482600" cy="382905"/>
            <a:chOff x="3998" y="2579"/>
            <a:chExt cx="760" cy="603"/>
          </a:xfrm>
        </p:grpSpPr>
        <p:sp>
          <p:nvSpPr>
            <p:cNvPr id="38" name="菱形 37"/>
            <p:cNvSpPr/>
            <p:nvPr/>
          </p:nvSpPr>
          <p:spPr>
            <a:xfrm rot="10800000" flipV="1">
              <a:off x="4191" y="2579"/>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9" name="菱形 38"/>
            <p:cNvSpPr/>
            <p:nvPr/>
          </p:nvSpPr>
          <p:spPr>
            <a:xfrm rot="10800000" flipV="1">
              <a:off x="3998" y="2579"/>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0" name="组合 39"/>
          <p:cNvGrpSpPr/>
          <p:nvPr/>
        </p:nvGrpSpPr>
        <p:grpSpPr>
          <a:xfrm flipH="1">
            <a:off x="4220845" y="5114290"/>
            <a:ext cx="482600" cy="382905"/>
            <a:chOff x="3998" y="2579"/>
            <a:chExt cx="760" cy="603"/>
          </a:xfrm>
        </p:grpSpPr>
        <p:sp>
          <p:nvSpPr>
            <p:cNvPr id="41" name="菱形 40"/>
            <p:cNvSpPr/>
            <p:nvPr/>
          </p:nvSpPr>
          <p:spPr>
            <a:xfrm rot="10800000" flipV="1">
              <a:off x="4191"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2" name="菱形 41"/>
            <p:cNvSpPr/>
            <p:nvPr/>
          </p:nvSpPr>
          <p:spPr>
            <a:xfrm rot="10800000" flipV="1">
              <a:off x="3998"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3" name="组合 42"/>
          <p:cNvGrpSpPr/>
          <p:nvPr/>
        </p:nvGrpSpPr>
        <p:grpSpPr>
          <a:xfrm flipH="1">
            <a:off x="7856220" y="5114290"/>
            <a:ext cx="482600" cy="382905"/>
            <a:chOff x="3998" y="2579"/>
            <a:chExt cx="760" cy="603"/>
          </a:xfrm>
        </p:grpSpPr>
        <p:sp>
          <p:nvSpPr>
            <p:cNvPr id="44" name="菱形 43"/>
            <p:cNvSpPr/>
            <p:nvPr/>
          </p:nvSpPr>
          <p:spPr>
            <a:xfrm rot="10800000" flipV="1">
              <a:off x="4191"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5" name="菱形 44"/>
            <p:cNvSpPr/>
            <p:nvPr/>
          </p:nvSpPr>
          <p:spPr>
            <a:xfrm rot="10800000" flipV="1">
              <a:off x="3998" y="2579"/>
              <a:ext cx="567" cy="603"/>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lstStyle/>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4"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8738235" y="348615"/>
            <a:ext cx="3219450" cy="332740"/>
            <a:chOff x="13761" y="549"/>
            <a:chExt cx="5070" cy="524"/>
          </a:xfrm>
        </p:grpSpPr>
        <p:pic>
          <p:nvPicPr>
            <p:cNvPr id="47" name="图片 46"/>
            <p:cNvPicPr>
              <a:picLocks noChangeAspect="1"/>
            </p:cNvPicPr>
            <p:nvPr userDrawn="1"/>
          </p:nvPicPr>
          <p:blipFill>
            <a:blip r:embed="rId8"/>
            <a:srcRect l="17002" t="-1765" r="56499" b="-1176"/>
            <a:stretch>
              <a:fillRect/>
            </a:stretch>
          </p:blipFill>
          <p:spPr>
            <a:xfrm>
              <a:off x="13761" y="549"/>
              <a:ext cx="1582" cy="525"/>
            </a:xfrm>
            <a:prstGeom prst="rect">
              <a:avLst/>
            </a:prstGeom>
          </p:spPr>
        </p:pic>
        <p:sp>
          <p:nvSpPr>
            <p:cNvPr id="48" name="文本框 47"/>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a:t>
            </a:r>
            <a:r>
              <a:rPr sz="2500">
                <a:solidFill>
                  <a:srgbClr val="213271"/>
                </a:solidFill>
                <a:effectLst/>
                <a:latin typeface="微软雅黑" panose="020B0503020204020204" charset="-122"/>
                <a:ea typeface="微软雅黑" panose="020B0503020204020204" charset="-122"/>
                <a:cs typeface="微软雅黑" panose="020B0503020204020204" charset="-122"/>
              </a:rPr>
              <a:t>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会员体系框架流程</a:t>
            </a:r>
            <a:endParaRPr lang="zh-CN" altLang="en-US"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501" name="梯形 500"/>
          <p:cNvSpPr/>
          <p:nvPr/>
        </p:nvSpPr>
        <p:spPr>
          <a:xfrm>
            <a:off x="334963" y="5653312"/>
            <a:ext cx="11557000" cy="507201"/>
          </a:xfrm>
          <a:prstGeom prst="trapezoid">
            <a:avLst>
              <a:gd name="adj" fmla="val 140533"/>
            </a:avLst>
          </a:prstGeom>
          <a:gradFill>
            <a:gsLst>
              <a:gs pos="38000">
                <a:schemeClr val="accent1">
                  <a:lumMod val="60000"/>
                  <a:lumOff val="40000"/>
                  <a:alpha val="0"/>
                </a:schemeClr>
              </a:gs>
              <a:gs pos="100000">
                <a:schemeClr val="accent1">
                  <a:lumMod val="60000"/>
                  <a:lumOff val="40000"/>
                </a:schemeClr>
              </a:gs>
            </a:gsLst>
            <a:lin ang="5400000" scaled="0"/>
          </a:gra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02" name="矩形: 圆角 501"/>
          <p:cNvSpPr/>
          <p:nvPr/>
        </p:nvSpPr>
        <p:spPr>
          <a:xfrm>
            <a:off x="334963" y="6166121"/>
            <a:ext cx="11557000" cy="386443"/>
          </a:xfrm>
          <a:prstGeom prst="roundRect">
            <a:avLst>
              <a:gd name="adj" fmla="val 5940"/>
            </a:avLst>
          </a:prstGeom>
          <a:gradFill>
            <a:gsLst>
              <a:gs pos="100000">
                <a:schemeClr val="accent1">
                  <a:lumMod val="60000"/>
                  <a:lumOff val="40000"/>
                </a:schemeClr>
              </a:gs>
              <a:gs pos="0">
                <a:schemeClr val="accent1"/>
              </a:gs>
            </a:gsLst>
            <a:lin ang="2700000" scaled="0"/>
          </a:gradFill>
          <a:ln w="38100">
            <a:noFill/>
          </a:ln>
          <a:effectLst>
            <a:outerShdw blurRad="190500" dist="50800" dir="5400000" sx="101000" sy="101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dirty="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503" name="文本框 502"/>
          <p:cNvSpPr txBox="1"/>
          <p:nvPr/>
        </p:nvSpPr>
        <p:spPr>
          <a:xfrm>
            <a:off x="3240314" y="6183233"/>
            <a:ext cx="2997200" cy="369332"/>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en-US" altLang="zh-CN" dirty="0">
                <a:solidFill>
                  <a:schemeClr val="bg1"/>
                </a:solidFill>
                <a:latin typeface="微软雅黑" panose="020B0503020204020204" charset="-122"/>
                <a:ea typeface="微软雅黑" panose="020B0503020204020204" charset="-122"/>
                <a:cs typeface="微软雅黑" panose="020B0503020204020204" charset="-122"/>
              </a:rPr>
              <a:t>TRR </a:t>
            </a:r>
            <a:r>
              <a:rPr lang="zh-CN" altLang="en-US" dirty="0">
                <a:solidFill>
                  <a:schemeClr val="bg1"/>
                </a:solidFill>
                <a:latin typeface="微软雅黑" panose="020B0503020204020204" charset="-122"/>
                <a:ea typeface="微软雅黑" panose="020B0503020204020204" charset="-122"/>
                <a:cs typeface="微软雅黑" panose="020B0503020204020204" charset="-122"/>
              </a:rPr>
              <a:t>快时尚品牌策略洞察</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05" name="文本框 504"/>
          <p:cNvSpPr txBox="1"/>
          <p:nvPr/>
        </p:nvSpPr>
        <p:spPr>
          <a:xfrm>
            <a:off x="6160245" y="6236952"/>
            <a:ext cx="3862938" cy="307777"/>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建设基于</a:t>
            </a:r>
            <a:r>
              <a:rPr lang="en-US" altLang="zh-CN" sz="1400" dirty="0">
                <a:solidFill>
                  <a:schemeClr val="bg1"/>
                </a:solidFill>
                <a:latin typeface="微软雅黑" panose="020B0503020204020204" charset="-122"/>
                <a:ea typeface="微软雅黑" panose="020B0503020204020204" charset="-122"/>
                <a:cs typeface="微软雅黑" panose="020B0503020204020204" charset="-122"/>
              </a:rPr>
              <a:t>AARRR</a:t>
            </a: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的会员运营体系 </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4" name="直接箭头连接符 3"/>
          <p:cNvCxnSpPr/>
          <p:nvPr/>
        </p:nvCxnSpPr>
        <p:spPr>
          <a:xfrm>
            <a:off x="1129053" y="1570320"/>
            <a:ext cx="0" cy="355895"/>
          </a:xfrm>
          <a:prstGeom prst="straightConnector1">
            <a:avLst/>
          </a:prstGeom>
          <a:ln>
            <a:solidFill>
              <a:schemeClr val="accent6">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39445" y="1080770"/>
            <a:ext cx="998855" cy="417830"/>
          </a:xfrm>
          <a:prstGeom prst="rect">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rPr>
              <a:t>用户触达</a:t>
            </a:r>
            <a:endPar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8" name="矩形 7"/>
          <p:cNvSpPr/>
          <p:nvPr/>
        </p:nvSpPr>
        <p:spPr>
          <a:xfrm>
            <a:off x="4915535" y="1484630"/>
            <a:ext cx="1548000" cy="337185"/>
          </a:xfrm>
          <a:prstGeom prst="rect">
            <a:avLst/>
          </a:prstGeom>
          <a:solidFill>
            <a:schemeClr val="accent1">
              <a:lumMod val="20000"/>
              <a:lumOff val="80000"/>
              <a:alpha val="10000"/>
            </a:schemeClr>
          </a:solidFill>
          <a:ln>
            <a:solidFill>
              <a:schemeClr val="accent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数字媒体广告投放</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901190" y="1110615"/>
            <a:ext cx="2084705" cy="712470"/>
          </a:xfrm>
          <a:prstGeom prst="rect">
            <a:avLst/>
          </a:prstGeom>
          <a:solidFill>
            <a:schemeClr val="accent1">
              <a:lumMod val="20000"/>
              <a:lumOff val="80000"/>
              <a:alpha val="50000"/>
            </a:schemeClr>
          </a:solidFill>
          <a:ln>
            <a:solidFill>
              <a:schemeClr val="accent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2195195" y="1121410"/>
            <a:ext cx="795020" cy="275590"/>
          </a:xfrm>
          <a:prstGeom prst="rect">
            <a:avLst/>
          </a:prstGeom>
          <a:noFill/>
        </p:spPr>
        <p:txBody>
          <a:bodyPr wrap="none" rtlCol="0">
            <a:spAutoFit/>
          </a:bodyPr>
          <a:lstStyle/>
          <a:p>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考核指标</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 name="任意多边形: 形状 60"/>
          <p:cNvSpPr/>
          <p:nvPr/>
        </p:nvSpPr>
        <p:spPr>
          <a:xfrm>
            <a:off x="1896745" y="1102995"/>
            <a:ext cx="317500" cy="332105"/>
          </a:xfrm>
          <a:custGeom>
            <a:avLst/>
            <a:gdLst>
              <a:gd name="connsiteX0" fmla="*/ 0 w 408602"/>
              <a:gd name="connsiteY0" fmla="*/ 0 h 427068"/>
              <a:gd name="connsiteX1" fmla="*/ 406519 w 408602"/>
              <a:gd name="connsiteY1" fmla="*/ 0 h 427068"/>
              <a:gd name="connsiteX2" fmla="*/ 408602 w 408602"/>
              <a:gd name="connsiteY2" fmla="*/ 20668 h 427068"/>
              <a:gd name="connsiteX3" fmla="*/ 2202 w 408602"/>
              <a:gd name="connsiteY3" fmla="*/ 427068 h 427068"/>
              <a:gd name="connsiteX4" fmla="*/ 0 w 408602"/>
              <a:gd name="connsiteY4" fmla="*/ 426846 h 427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602" h="427068">
                <a:moveTo>
                  <a:pt x="0" y="0"/>
                </a:moveTo>
                <a:lnTo>
                  <a:pt x="406519" y="0"/>
                </a:lnTo>
                <a:lnTo>
                  <a:pt x="408602" y="20668"/>
                </a:lnTo>
                <a:cubicBezTo>
                  <a:pt x="408602" y="245117"/>
                  <a:pt x="226651" y="427068"/>
                  <a:pt x="2202" y="427068"/>
                </a:cubicBezTo>
                <a:lnTo>
                  <a:pt x="0" y="426846"/>
                </a:ln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1860550" y="1092835"/>
            <a:ext cx="278130" cy="239395"/>
          </a:xfrm>
          <a:prstGeom prst="rect">
            <a:avLst/>
          </a:prstGeom>
          <a:noFill/>
        </p:spPr>
        <p:txBody>
          <a:bodyPr wrap="none" rtlCol="0">
            <a:spAutoFit/>
          </a:bodyPr>
          <a:lstStyle/>
          <a:p>
            <a:r>
              <a:rPr lang="en-US" altLang="zh-CN" sz="1400" dirty="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49" name="文本框 448"/>
          <p:cNvSpPr txBox="1"/>
          <p:nvPr/>
        </p:nvSpPr>
        <p:spPr>
          <a:xfrm>
            <a:off x="2200275" y="1367790"/>
            <a:ext cx="798830" cy="246380"/>
          </a:xfrm>
          <a:prstGeom prst="rect">
            <a:avLst/>
          </a:prstGeom>
          <a:noFill/>
        </p:spPr>
        <p:txBody>
          <a:bodyPr wrap="none" rtlCol="0">
            <a:spAutoFit/>
          </a:bodyPr>
          <a:lstStyle/>
          <a:p>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App</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访问量</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0" name="文本框 449"/>
          <p:cNvSpPr txBox="1"/>
          <p:nvPr/>
        </p:nvSpPr>
        <p:spPr>
          <a:xfrm>
            <a:off x="2976245" y="1367790"/>
            <a:ext cx="826135" cy="246380"/>
          </a:xfrm>
          <a:prstGeom prst="rect">
            <a:avLst/>
          </a:prstGeom>
          <a:noFill/>
        </p:spPr>
        <p:txBody>
          <a:bodyPr wrap="none" rtlCol="0">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注册用户数</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2" name="文本框 451"/>
          <p:cNvSpPr txBox="1"/>
          <p:nvPr/>
        </p:nvSpPr>
        <p:spPr>
          <a:xfrm>
            <a:off x="2200275" y="1574165"/>
            <a:ext cx="644525" cy="246380"/>
          </a:xfrm>
          <a:prstGeom prst="rect">
            <a:avLst/>
          </a:prstGeom>
          <a:noFill/>
        </p:spPr>
        <p:txBody>
          <a:bodyPr wrap="none" rtlCol="0">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广告</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ROI</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3" name="文本框 452"/>
          <p:cNvSpPr txBox="1"/>
          <p:nvPr/>
        </p:nvSpPr>
        <p:spPr>
          <a:xfrm>
            <a:off x="2976245" y="1574165"/>
            <a:ext cx="697865" cy="246380"/>
          </a:xfrm>
          <a:prstGeom prst="rect">
            <a:avLst/>
          </a:prstGeom>
          <a:noFill/>
        </p:spPr>
        <p:txBody>
          <a:bodyPr wrap="none" rtlCol="0">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考核指标</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5" name="文本框 454"/>
          <p:cNvSpPr txBox="1"/>
          <p:nvPr/>
        </p:nvSpPr>
        <p:spPr>
          <a:xfrm>
            <a:off x="4088765" y="1520825"/>
            <a:ext cx="80010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资源支持</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8" name="矩形 457"/>
          <p:cNvSpPr/>
          <p:nvPr/>
        </p:nvSpPr>
        <p:spPr>
          <a:xfrm>
            <a:off x="6598790" y="1484630"/>
            <a:ext cx="1547495" cy="337185"/>
          </a:xfrm>
          <a:prstGeom prst="rect">
            <a:avLst/>
          </a:prstGeom>
          <a:solidFill>
            <a:schemeClr val="accent1">
              <a:lumMod val="20000"/>
              <a:lumOff val="80000"/>
              <a:alpha val="10000"/>
            </a:schemeClr>
          </a:solidFill>
          <a:ln>
            <a:solidFill>
              <a:schemeClr val="accent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SEO优化</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59" name="矩形 458"/>
          <p:cNvSpPr/>
          <p:nvPr/>
        </p:nvSpPr>
        <p:spPr>
          <a:xfrm>
            <a:off x="8281540" y="1484630"/>
            <a:ext cx="1547495" cy="337185"/>
          </a:xfrm>
          <a:prstGeom prst="rect">
            <a:avLst/>
          </a:prstGeom>
          <a:solidFill>
            <a:schemeClr val="accent1">
              <a:lumMod val="20000"/>
              <a:lumOff val="80000"/>
              <a:alpha val="10000"/>
            </a:schemeClr>
          </a:solidFill>
          <a:ln>
            <a:solidFill>
              <a:schemeClr val="accent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社交媒体内容创作</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60" name="矩形 459"/>
          <p:cNvSpPr/>
          <p:nvPr/>
        </p:nvSpPr>
        <p:spPr>
          <a:xfrm>
            <a:off x="9964290" y="1483360"/>
            <a:ext cx="1547495" cy="337185"/>
          </a:xfrm>
          <a:prstGeom prst="rect">
            <a:avLst/>
          </a:prstGeom>
          <a:solidFill>
            <a:schemeClr val="accent1">
              <a:lumMod val="20000"/>
              <a:lumOff val="80000"/>
              <a:alpha val="10000"/>
            </a:schemeClr>
          </a:solidFill>
          <a:ln>
            <a:solidFill>
              <a:schemeClr val="accent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品牌合作</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65" name="文本框 464"/>
          <p:cNvSpPr txBox="1"/>
          <p:nvPr/>
        </p:nvSpPr>
        <p:spPr>
          <a:xfrm>
            <a:off x="4225290" y="1103630"/>
            <a:ext cx="49276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方法</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66" name="矩形 465"/>
          <p:cNvSpPr/>
          <p:nvPr/>
        </p:nvSpPr>
        <p:spPr>
          <a:xfrm>
            <a:off x="4915535" y="1080770"/>
            <a:ext cx="6597015" cy="337185"/>
          </a:xfrm>
          <a:prstGeom prst="rect">
            <a:avLst/>
          </a:prstGeom>
          <a:solidFill>
            <a:schemeClr val="accent1">
              <a:lumMod val="20000"/>
              <a:lumOff val="80000"/>
              <a:alpha val="50000"/>
            </a:schemeClr>
          </a:solidFill>
          <a:ln>
            <a:solidFill>
              <a:schemeClr val="accent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67" name="任意多边形: 形状 466"/>
          <p:cNvSpPr/>
          <p:nvPr/>
        </p:nvSpPr>
        <p:spPr>
          <a:xfrm>
            <a:off x="4406265" y="1336040"/>
            <a:ext cx="158115" cy="2635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68" name="文本框 467"/>
          <p:cNvSpPr txBox="1"/>
          <p:nvPr/>
        </p:nvSpPr>
        <p:spPr>
          <a:xfrm>
            <a:off x="5010785" y="1137285"/>
            <a:ext cx="6415405" cy="261620"/>
          </a:xfrm>
          <a:prstGeom prst="rect">
            <a:avLst/>
          </a:prstGeom>
          <a:noFill/>
        </p:spPr>
        <p:txBody>
          <a:bodyPr wrap="square">
            <a:spAutoFit/>
          </a:bodyPr>
          <a:lstStyle/>
          <a:p>
            <a:pPr algn="l"/>
            <a:r>
              <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rPr>
              <a:t>通过广告投放、社交媒体推广、搜索引擎优化等方式，吸引更多目标用户进入会员系统。</a:t>
            </a:r>
            <a:endPar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8" name="矩形 17"/>
          <p:cNvSpPr/>
          <p:nvPr/>
        </p:nvSpPr>
        <p:spPr>
          <a:xfrm>
            <a:off x="639445" y="1983740"/>
            <a:ext cx="998855" cy="417830"/>
          </a:xfrm>
          <a:prstGeom prst="rect">
            <a:avLst/>
          </a:prstGeom>
          <a:solidFill>
            <a:schemeClr val="accent1">
              <a:lumMod val="60000"/>
              <a:lumOff val="4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rPr>
              <a:t>用户促活</a:t>
            </a:r>
            <a:endPar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515" name="矩形 514"/>
          <p:cNvSpPr/>
          <p:nvPr/>
        </p:nvSpPr>
        <p:spPr>
          <a:xfrm>
            <a:off x="4915535" y="2456180"/>
            <a:ext cx="1548000" cy="337185"/>
          </a:xfrm>
          <a:prstGeom prst="rect">
            <a:avLst/>
          </a:prstGeom>
          <a:solidFill>
            <a:schemeClr val="accent1">
              <a:lumMod val="20000"/>
              <a:lumOff val="80000"/>
              <a:alpha val="20000"/>
            </a:schemeClr>
          </a:solidFill>
          <a:ln>
            <a:solidFill>
              <a:schemeClr val="accent2">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优惠券发放</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16" name="矩形 515"/>
          <p:cNvSpPr/>
          <p:nvPr/>
        </p:nvSpPr>
        <p:spPr>
          <a:xfrm>
            <a:off x="1901190" y="2015490"/>
            <a:ext cx="2084705" cy="713105"/>
          </a:xfrm>
          <a:prstGeom prst="rect">
            <a:avLst/>
          </a:prstGeom>
          <a:noFill/>
          <a:ln>
            <a:solidFill>
              <a:schemeClr val="accent1">
                <a:lumMod val="60000"/>
                <a:lumOff val="40000"/>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33" name="任意多边形: 形状 532"/>
          <p:cNvSpPr/>
          <p:nvPr/>
        </p:nvSpPr>
        <p:spPr>
          <a:xfrm>
            <a:off x="1896745" y="2007870"/>
            <a:ext cx="317500" cy="332105"/>
          </a:xfrm>
          <a:custGeom>
            <a:avLst/>
            <a:gdLst>
              <a:gd name="connsiteX0" fmla="*/ 0 w 408602"/>
              <a:gd name="connsiteY0" fmla="*/ 0 h 427068"/>
              <a:gd name="connsiteX1" fmla="*/ 406519 w 408602"/>
              <a:gd name="connsiteY1" fmla="*/ 0 h 427068"/>
              <a:gd name="connsiteX2" fmla="*/ 408602 w 408602"/>
              <a:gd name="connsiteY2" fmla="*/ 20668 h 427068"/>
              <a:gd name="connsiteX3" fmla="*/ 2202 w 408602"/>
              <a:gd name="connsiteY3" fmla="*/ 427068 h 427068"/>
              <a:gd name="connsiteX4" fmla="*/ 0 w 408602"/>
              <a:gd name="connsiteY4" fmla="*/ 426846 h 427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602" h="427068">
                <a:moveTo>
                  <a:pt x="0" y="0"/>
                </a:moveTo>
                <a:lnTo>
                  <a:pt x="406519" y="0"/>
                </a:lnTo>
                <a:lnTo>
                  <a:pt x="408602" y="20668"/>
                </a:lnTo>
                <a:cubicBezTo>
                  <a:pt x="408602" y="245117"/>
                  <a:pt x="226651" y="427068"/>
                  <a:pt x="2202" y="427068"/>
                </a:cubicBezTo>
                <a:lnTo>
                  <a:pt x="0" y="426846"/>
                </a:lnTo>
                <a:close/>
              </a:path>
            </a:pathLst>
          </a:custGeom>
          <a:solidFill>
            <a:schemeClr val="accent1">
              <a:lumMod val="60000"/>
              <a:lumOff val="4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534" name="文本框 533"/>
          <p:cNvSpPr txBox="1"/>
          <p:nvPr/>
        </p:nvSpPr>
        <p:spPr>
          <a:xfrm>
            <a:off x="1860550" y="1997710"/>
            <a:ext cx="278130" cy="239395"/>
          </a:xfrm>
          <a:prstGeom prst="rect">
            <a:avLst/>
          </a:prstGeom>
          <a:noFill/>
        </p:spPr>
        <p:txBody>
          <a:bodyPr wrap="none" rtlCol="0">
            <a:spAutoFit/>
          </a:bodyPr>
          <a:lstStyle/>
          <a:p>
            <a:r>
              <a:rPr lang="en-US" altLang="zh-CN" sz="1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25" name="文本框 524"/>
          <p:cNvSpPr txBox="1"/>
          <p:nvPr/>
        </p:nvSpPr>
        <p:spPr>
          <a:xfrm>
            <a:off x="4088765" y="2425700"/>
            <a:ext cx="80010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资源支持</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6" name="矩形 525"/>
          <p:cNvSpPr/>
          <p:nvPr/>
        </p:nvSpPr>
        <p:spPr>
          <a:xfrm>
            <a:off x="6598790" y="2456180"/>
            <a:ext cx="1547495" cy="337185"/>
          </a:xfrm>
          <a:prstGeom prst="rect">
            <a:avLst/>
          </a:prstGeom>
          <a:solidFill>
            <a:schemeClr val="accent1">
              <a:lumMod val="20000"/>
              <a:lumOff val="80000"/>
              <a:alpha val="20000"/>
            </a:schemeClr>
          </a:solidFill>
          <a:ln>
            <a:solidFill>
              <a:schemeClr val="accent2">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线下实体店活动</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27" name="矩形 526"/>
          <p:cNvSpPr/>
          <p:nvPr/>
        </p:nvSpPr>
        <p:spPr>
          <a:xfrm>
            <a:off x="8281540" y="2456180"/>
            <a:ext cx="1547495" cy="337185"/>
          </a:xfrm>
          <a:prstGeom prst="rect">
            <a:avLst/>
          </a:prstGeom>
          <a:solidFill>
            <a:schemeClr val="accent1">
              <a:lumMod val="20000"/>
              <a:lumOff val="80000"/>
              <a:alpha val="20000"/>
            </a:schemeClr>
          </a:solidFill>
          <a:ln>
            <a:solidFill>
              <a:schemeClr val="accent2">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用户引导教程</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28" name="矩形 527"/>
          <p:cNvSpPr/>
          <p:nvPr/>
        </p:nvSpPr>
        <p:spPr>
          <a:xfrm>
            <a:off x="9964290" y="2456180"/>
            <a:ext cx="1547495" cy="337185"/>
          </a:xfrm>
          <a:prstGeom prst="rect">
            <a:avLst/>
          </a:prstGeom>
          <a:solidFill>
            <a:schemeClr val="accent1">
              <a:lumMod val="20000"/>
              <a:lumOff val="80000"/>
              <a:alpha val="20000"/>
            </a:schemeClr>
          </a:solidFill>
          <a:ln>
            <a:solidFill>
              <a:schemeClr val="accent2">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商城积分</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29" name="文本框 528"/>
          <p:cNvSpPr txBox="1"/>
          <p:nvPr/>
        </p:nvSpPr>
        <p:spPr>
          <a:xfrm>
            <a:off x="4225290" y="2008505"/>
            <a:ext cx="49276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方法</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0" name="矩形 529"/>
          <p:cNvSpPr/>
          <p:nvPr/>
        </p:nvSpPr>
        <p:spPr>
          <a:xfrm>
            <a:off x="4915535" y="1985645"/>
            <a:ext cx="6597015" cy="414020"/>
          </a:xfrm>
          <a:prstGeom prst="rect">
            <a:avLst/>
          </a:prstGeom>
          <a:solidFill>
            <a:schemeClr val="accent1">
              <a:lumMod val="20000"/>
              <a:lumOff val="80000"/>
              <a:alpha val="50000"/>
            </a:schemeClr>
          </a:solidFill>
          <a:ln>
            <a:solidFill>
              <a:schemeClr val="accent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31" name="任意多边形: 形状 530"/>
          <p:cNvSpPr/>
          <p:nvPr/>
        </p:nvSpPr>
        <p:spPr>
          <a:xfrm>
            <a:off x="4406265" y="2240915"/>
            <a:ext cx="158115" cy="2635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32" name="文本框 531"/>
          <p:cNvSpPr txBox="1"/>
          <p:nvPr/>
        </p:nvSpPr>
        <p:spPr>
          <a:xfrm>
            <a:off x="4984115" y="1983740"/>
            <a:ext cx="6415405" cy="431165"/>
          </a:xfrm>
          <a:prstGeom prst="rect">
            <a:avLst/>
          </a:prstGeom>
          <a:noFill/>
        </p:spPr>
        <p:txBody>
          <a:bodyPr wrap="square">
            <a:spAutoFit/>
          </a:bodyPr>
          <a:lstStyle/>
          <a:p>
            <a:pPr algn="l"/>
            <a:r>
              <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rPr>
              <a:t>将用户从注册变为真正的活跃用户，可以通过发放优惠券、赠送礼品等方式鼓励用户首次购买；另外，可以通过用户引导和教育，加深用户对品牌的认知度和信任感。</a:t>
            </a:r>
            <a:endPar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602" name="文本框 601"/>
          <p:cNvSpPr txBox="1"/>
          <p:nvPr/>
        </p:nvSpPr>
        <p:spPr>
          <a:xfrm>
            <a:off x="2195195" y="2004695"/>
            <a:ext cx="795020" cy="275590"/>
          </a:xfrm>
          <a:prstGeom prst="rect">
            <a:avLst/>
          </a:prstGeom>
          <a:noFill/>
        </p:spPr>
        <p:txBody>
          <a:bodyPr wrap="none" rtlCol="0">
            <a:spAutoFit/>
          </a:bodyPr>
          <a:lstStyle/>
          <a:p>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考核指标</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03" name="文本框 602"/>
          <p:cNvSpPr txBox="1"/>
          <p:nvPr/>
        </p:nvSpPr>
        <p:spPr>
          <a:xfrm>
            <a:off x="2186940" y="2250440"/>
            <a:ext cx="826135" cy="246380"/>
          </a:xfrm>
          <a:prstGeom prst="rect">
            <a:avLst/>
          </a:prstGeom>
          <a:noFill/>
        </p:spPr>
        <p:txBody>
          <a:bodyPr wrap="none" rtlCol="0">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活跃用户数</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04" name="文本框 603"/>
          <p:cNvSpPr txBox="1"/>
          <p:nvPr/>
        </p:nvSpPr>
        <p:spPr>
          <a:xfrm>
            <a:off x="2976245" y="2250440"/>
            <a:ext cx="954405" cy="246380"/>
          </a:xfrm>
          <a:prstGeom prst="rect">
            <a:avLst/>
          </a:prstGeom>
          <a:noFill/>
        </p:spPr>
        <p:txBody>
          <a:bodyPr wrap="none" rtlCol="0">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新用户转化率</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05" name="文本框 604"/>
          <p:cNvSpPr txBox="1"/>
          <p:nvPr/>
        </p:nvSpPr>
        <p:spPr>
          <a:xfrm>
            <a:off x="2200275" y="2457450"/>
            <a:ext cx="697865" cy="246380"/>
          </a:xfrm>
          <a:prstGeom prst="rect">
            <a:avLst/>
          </a:prstGeom>
          <a:noFill/>
        </p:spPr>
        <p:txBody>
          <a:bodyPr wrap="none" rtlCol="0">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日活月活</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06" name="文本框 605"/>
          <p:cNvSpPr txBox="1"/>
          <p:nvPr/>
        </p:nvSpPr>
        <p:spPr>
          <a:xfrm>
            <a:off x="2976245" y="2457450"/>
            <a:ext cx="697865" cy="246380"/>
          </a:xfrm>
          <a:prstGeom prst="rect">
            <a:avLst/>
          </a:prstGeom>
          <a:noFill/>
        </p:spPr>
        <p:txBody>
          <a:bodyPr wrap="none" rtlCol="0">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在线时长</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 name="矩形 18"/>
          <p:cNvSpPr/>
          <p:nvPr/>
        </p:nvSpPr>
        <p:spPr>
          <a:xfrm>
            <a:off x="639445" y="2952750"/>
            <a:ext cx="998855" cy="417830"/>
          </a:xfrm>
          <a:prstGeom prst="rect">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rPr>
              <a:t>用户留存</a:t>
            </a:r>
            <a:endPar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536" name="矩形 535"/>
          <p:cNvSpPr/>
          <p:nvPr/>
        </p:nvSpPr>
        <p:spPr>
          <a:xfrm>
            <a:off x="4915535" y="3456305"/>
            <a:ext cx="1548130" cy="337185"/>
          </a:xfrm>
          <a:prstGeom prst="rect">
            <a:avLst/>
          </a:prstGeom>
          <a:solidFill>
            <a:schemeClr val="accent1">
              <a:lumMod val="20000"/>
              <a:lumOff val="80000"/>
              <a:alpha val="10000"/>
            </a:schemeClr>
          </a:solidFill>
          <a:ln>
            <a:solidFill>
              <a:schemeClr val="accent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CRM系统建设</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37" name="矩形 536"/>
          <p:cNvSpPr/>
          <p:nvPr/>
        </p:nvSpPr>
        <p:spPr>
          <a:xfrm>
            <a:off x="1901190" y="2982595"/>
            <a:ext cx="2084705" cy="712470"/>
          </a:xfrm>
          <a:prstGeom prst="rect">
            <a:avLst/>
          </a:prstGeom>
          <a:solidFill>
            <a:schemeClr val="accent1">
              <a:lumMod val="20000"/>
              <a:lumOff val="80000"/>
              <a:alpha val="50000"/>
            </a:schemeClr>
          </a:solidFill>
          <a:ln>
            <a:solidFill>
              <a:schemeClr val="accent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54" name="任意多边形: 形状 553"/>
          <p:cNvSpPr/>
          <p:nvPr/>
        </p:nvSpPr>
        <p:spPr>
          <a:xfrm>
            <a:off x="1896745" y="2974975"/>
            <a:ext cx="317500" cy="332105"/>
          </a:xfrm>
          <a:custGeom>
            <a:avLst/>
            <a:gdLst>
              <a:gd name="connsiteX0" fmla="*/ 0 w 408602"/>
              <a:gd name="connsiteY0" fmla="*/ 0 h 427068"/>
              <a:gd name="connsiteX1" fmla="*/ 406519 w 408602"/>
              <a:gd name="connsiteY1" fmla="*/ 0 h 427068"/>
              <a:gd name="connsiteX2" fmla="*/ 408602 w 408602"/>
              <a:gd name="connsiteY2" fmla="*/ 20668 h 427068"/>
              <a:gd name="connsiteX3" fmla="*/ 2202 w 408602"/>
              <a:gd name="connsiteY3" fmla="*/ 427068 h 427068"/>
              <a:gd name="connsiteX4" fmla="*/ 0 w 408602"/>
              <a:gd name="connsiteY4" fmla="*/ 426846 h 427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602" h="427068">
                <a:moveTo>
                  <a:pt x="0" y="0"/>
                </a:moveTo>
                <a:lnTo>
                  <a:pt x="406519" y="0"/>
                </a:lnTo>
                <a:lnTo>
                  <a:pt x="408602" y="20668"/>
                </a:lnTo>
                <a:cubicBezTo>
                  <a:pt x="408602" y="245117"/>
                  <a:pt x="226651" y="427068"/>
                  <a:pt x="2202" y="427068"/>
                </a:cubicBezTo>
                <a:lnTo>
                  <a:pt x="0" y="426846"/>
                </a:ln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55" name="文本框 554"/>
          <p:cNvSpPr txBox="1"/>
          <p:nvPr/>
        </p:nvSpPr>
        <p:spPr>
          <a:xfrm>
            <a:off x="1860550" y="2964815"/>
            <a:ext cx="278130" cy="239395"/>
          </a:xfrm>
          <a:prstGeom prst="rect">
            <a:avLst/>
          </a:prstGeom>
          <a:noFill/>
        </p:spPr>
        <p:txBody>
          <a:bodyPr wrap="none" rtlCol="0">
            <a:spAutoFit/>
          </a:bodyPr>
          <a:lstStyle/>
          <a:p>
            <a:r>
              <a:rPr lang="en-US" altLang="zh-CN" sz="1400" dirty="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46" name="文本框 545"/>
          <p:cNvSpPr txBox="1"/>
          <p:nvPr/>
        </p:nvSpPr>
        <p:spPr>
          <a:xfrm>
            <a:off x="4088765" y="3392805"/>
            <a:ext cx="80010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资源支持</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47" name="矩形 546"/>
          <p:cNvSpPr/>
          <p:nvPr/>
        </p:nvSpPr>
        <p:spPr>
          <a:xfrm>
            <a:off x="6598285" y="3456305"/>
            <a:ext cx="1548130" cy="337185"/>
          </a:xfrm>
          <a:prstGeom prst="rect">
            <a:avLst/>
          </a:prstGeom>
          <a:solidFill>
            <a:schemeClr val="accent1">
              <a:lumMod val="20000"/>
              <a:lumOff val="80000"/>
              <a:alpha val="10000"/>
            </a:schemeClr>
          </a:solidFill>
          <a:ln>
            <a:solidFill>
              <a:schemeClr val="accent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VIP会员服务</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48" name="矩形 547"/>
          <p:cNvSpPr/>
          <p:nvPr/>
        </p:nvSpPr>
        <p:spPr>
          <a:xfrm>
            <a:off x="8282305" y="3456305"/>
            <a:ext cx="1547495" cy="337185"/>
          </a:xfrm>
          <a:prstGeom prst="rect">
            <a:avLst/>
          </a:prstGeom>
          <a:solidFill>
            <a:schemeClr val="accent1">
              <a:lumMod val="20000"/>
              <a:lumOff val="80000"/>
              <a:alpha val="10000"/>
            </a:schemeClr>
          </a:solidFill>
          <a:ln>
            <a:solidFill>
              <a:schemeClr val="accent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专属客服</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49" name="矩形 548"/>
          <p:cNvSpPr/>
          <p:nvPr/>
        </p:nvSpPr>
        <p:spPr>
          <a:xfrm>
            <a:off x="9963785" y="3456305"/>
            <a:ext cx="1547495" cy="337185"/>
          </a:xfrm>
          <a:prstGeom prst="rect">
            <a:avLst/>
          </a:prstGeom>
          <a:solidFill>
            <a:schemeClr val="accent1">
              <a:lumMod val="20000"/>
              <a:lumOff val="80000"/>
              <a:alpha val="10000"/>
            </a:schemeClr>
          </a:solidFill>
          <a:ln>
            <a:solidFill>
              <a:schemeClr val="accent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数据分析师</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50" name="文本框 549"/>
          <p:cNvSpPr txBox="1"/>
          <p:nvPr/>
        </p:nvSpPr>
        <p:spPr>
          <a:xfrm>
            <a:off x="4225290" y="2975610"/>
            <a:ext cx="49276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方法</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1" name="矩形 550"/>
          <p:cNvSpPr/>
          <p:nvPr/>
        </p:nvSpPr>
        <p:spPr>
          <a:xfrm>
            <a:off x="4915535" y="2952750"/>
            <a:ext cx="6597015" cy="447040"/>
          </a:xfrm>
          <a:prstGeom prst="rect">
            <a:avLst/>
          </a:prstGeom>
          <a:solidFill>
            <a:schemeClr val="accent1">
              <a:lumMod val="20000"/>
              <a:lumOff val="80000"/>
              <a:alpha val="50000"/>
            </a:schemeClr>
          </a:solidFill>
          <a:ln>
            <a:solidFill>
              <a:schemeClr val="accent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52" name="任意多边形: 形状 551"/>
          <p:cNvSpPr/>
          <p:nvPr/>
        </p:nvSpPr>
        <p:spPr>
          <a:xfrm>
            <a:off x="4406265" y="3208020"/>
            <a:ext cx="158115" cy="2635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53" name="文本框 552"/>
          <p:cNvSpPr txBox="1"/>
          <p:nvPr/>
        </p:nvSpPr>
        <p:spPr>
          <a:xfrm>
            <a:off x="4984115" y="2994025"/>
            <a:ext cx="6415405" cy="430530"/>
          </a:xfrm>
          <a:prstGeom prst="rect">
            <a:avLst/>
          </a:prstGeom>
          <a:noFill/>
        </p:spPr>
        <p:txBody>
          <a:bodyPr wrap="square">
            <a:spAutoFit/>
          </a:bodyPr>
          <a:lstStyle/>
          <a:p>
            <a:pPr algn="l"/>
            <a:r>
              <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rPr>
              <a:t>留住现有用户，可以通过定期发放专属优惠券、积分等奖励机制，及时了解用户需求并提供个性化服务等方式来提高用户粘性，增强用户满意度。</a:t>
            </a:r>
            <a:endPar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607" name="文本框 606"/>
          <p:cNvSpPr txBox="1"/>
          <p:nvPr/>
        </p:nvSpPr>
        <p:spPr>
          <a:xfrm>
            <a:off x="2195195" y="2978785"/>
            <a:ext cx="800100" cy="276860"/>
          </a:xfrm>
          <a:prstGeom prst="rect">
            <a:avLst/>
          </a:prstGeom>
          <a:noFill/>
        </p:spPr>
        <p:txBody>
          <a:bodyPr wrap="none" rtlCol="0">
            <a:spAutoFit/>
          </a:bodyPr>
          <a:lstStyle/>
          <a:p>
            <a:r>
              <a:rPr lang="zh-CN" altLang="en-US" sz="1200" dirty="0">
                <a:latin typeface="微软雅黑" panose="020B0503020204020204" charset="-122"/>
                <a:ea typeface="微软雅黑" panose="020B0503020204020204" charset="-122"/>
                <a:cs typeface="微软雅黑" panose="020B0503020204020204" charset="-122"/>
              </a:rPr>
              <a:t>考核指标</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608" name="文本框 607"/>
          <p:cNvSpPr txBox="1"/>
          <p:nvPr/>
        </p:nvSpPr>
        <p:spPr>
          <a:xfrm>
            <a:off x="2200275" y="3225165"/>
            <a:ext cx="826135" cy="246380"/>
          </a:xfrm>
          <a:prstGeom prst="rect">
            <a:avLst/>
          </a:prstGeom>
          <a:noFill/>
        </p:spPr>
        <p:txBody>
          <a:bodyPr wrap="none" rtlCol="0">
            <a:spAutoFit/>
          </a:bodyPr>
          <a:lstStyle/>
          <a:p>
            <a:r>
              <a:rPr lang="zh-CN" altLang="en-US" sz="1000" dirty="0">
                <a:latin typeface="微软雅黑" panose="020B0503020204020204" charset="-122"/>
                <a:ea typeface="微软雅黑" panose="020B0503020204020204" charset="-122"/>
                <a:cs typeface="微软雅黑" panose="020B0503020204020204" charset="-122"/>
              </a:rPr>
              <a:t>用户留存率</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609" name="文本框 608"/>
          <p:cNvSpPr txBox="1"/>
          <p:nvPr/>
        </p:nvSpPr>
        <p:spPr>
          <a:xfrm>
            <a:off x="2976245" y="3225165"/>
            <a:ext cx="569595" cy="246380"/>
          </a:xfrm>
          <a:prstGeom prst="rect">
            <a:avLst/>
          </a:prstGeom>
          <a:noFill/>
        </p:spPr>
        <p:txBody>
          <a:bodyPr wrap="none" rtlCol="0">
            <a:spAutoFit/>
          </a:bodyPr>
          <a:lstStyle/>
          <a:p>
            <a:r>
              <a:rPr lang="zh-CN" altLang="en-US" sz="1000" dirty="0">
                <a:latin typeface="微软雅黑" panose="020B0503020204020204" charset="-122"/>
                <a:ea typeface="微软雅黑" panose="020B0503020204020204" charset="-122"/>
                <a:cs typeface="微软雅黑" panose="020B0503020204020204" charset="-122"/>
              </a:rPr>
              <a:t>复购率</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610" name="文本框 609"/>
          <p:cNvSpPr txBox="1"/>
          <p:nvPr/>
        </p:nvSpPr>
        <p:spPr>
          <a:xfrm>
            <a:off x="2200275" y="3431540"/>
            <a:ext cx="697865" cy="246380"/>
          </a:xfrm>
          <a:prstGeom prst="rect">
            <a:avLst/>
          </a:prstGeom>
          <a:noFill/>
        </p:spPr>
        <p:txBody>
          <a:bodyPr wrap="none" rtlCol="0">
            <a:spAutoFit/>
          </a:bodyPr>
          <a:lstStyle/>
          <a:p>
            <a:r>
              <a:rPr lang="zh-CN" altLang="en-US" sz="1000" dirty="0">
                <a:latin typeface="微软雅黑" panose="020B0503020204020204" charset="-122"/>
                <a:ea typeface="微软雅黑" panose="020B0503020204020204" charset="-122"/>
                <a:cs typeface="微软雅黑" panose="020B0503020204020204" charset="-122"/>
              </a:rPr>
              <a:t>登录频次</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611" name="文本框 610"/>
          <p:cNvSpPr txBox="1"/>
          <p:nvPr/>
        </p:nvSpPr>
        <p:spPr>
          <a:xfrm>
            <a:off x="2976245" y="3431540"/>
            <a:ext cx="697865" cy="246380"/>
          </a:xfrm>
          <a:prstGeom prst="rect">
            <a:avLst/>
          </a:prstGeom>
          <a:noFill/>
        </p:spPr>
        <p:txBody>
          <a:bodyPr wrap="none" rtlCol="0">
            <a:spAutoFit/>
          </a:bodyPr>
          <a:lstStyle/>
          <a:p>
            <a:r>
              <a:rPr lang="zh-CN" altLang="en-US" sz="1000" dirty="0">
                <a:latin typeface="微软雅黑" panose="020B0503020204020204" charset="-122"/>
                <a:ea typeface="微软雅黑" panose="020B0503020204020204" charset="-122"/>
                <a:cs typeface="微软雅黑" panose="020B0503020204020204" charset="-122"/>
              </a:rPr>
              <a:t>考核指标</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20" name="矩形 19"/>
          <p:cNvSpPr/>
          <p:nvPr/>
        </p:nvSpPr>
        <p:spPr>
          <a:xfrm>
            <a:off x="639445" y="3953510"/>
            <a:ext cx="998855" cy="417830"/>
          </a:xfrm>
          <a:prstGeom prst="rect">
            <a:avLst/>
          </a:prstGeom>
          <a:solidFill>
            <a:schemeClr val="accent1">
              <a:lumMod val="60000"/>
              <a:lumOff val="4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rPr>
              <a:t>用户转化</a:t>
            </a:r>
            <a:endPar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557" name="矩形 556"/>
          <p:cNvSpPr/>
          <p:nvPr/>
        </p:nvSpPr>
        <p:spPr>
          <a:xfrm>
            <a:off x="4915535" y="4479925"/>
            <a:ext cx="1548000" cy="337185"/>
          </a:xfrm>
          <a:prstGeom prst="rect">
            <a:avLst/>
          </a:prstGeom>
          <a:solidFill>
            <a:schemeClr val="accent1">
              <a:lumMod val="20000"/>
              <a:lumOff val="80000"/>
              <a:alpha val="20000"/>
            </a:schemeClr>
          </a:solidFill>
          <a:ln>
            <a:solidFill>
              <a:schemeClr val="accent2">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电商渠道</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58" name="矩形 557"/>
          <p:cNvSpPr/>
          <p:nvPr/>
        </p:nvSpPr>
        <p:spPr>
          <a:xfrm>
            <a:off x="1901190" y="3983355"/>
            <a:ext cx="2084705" cy="712470"/>
          </a:xfrm>
          <a:prstGeom prst="rect">
            <a:avLst/>
          </a:prstGeom>
          <a:noFill/>
          <a:ln>
            <a:solidFill>
              <a:schemeClr val="accent1">
                <a:lumMod val="60000"/>
                <a:lumOff val="40000"/>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75" name="任意多边形: 形状 574"/>
          <p:cNvSpPr/>
          <p:nvPr/>
        </p:nvSpPr>
        <p:spPr>
          <a:xfrm>
            <a:off x="1896745" y="3975735"/>
            <a:ext cx="317500" cy="332105"/>
          </a:xfrm>
          <a:custGeom>
            <a:avLst/>
            <a:gdLst>
              <a:gd name="connsiteX0" fmla="*/ 0 w 408602"/>
              <a:gd name="connsiteY0" fmla="*/ 0 h 427068"/>
              <a:gd name="connsiteX1" fmla="*/ 406519 w 408602"/>
              <a:gd name="connsiteY1" fmla="*/ 0 h 427068"/>
              <a:gd name="connsiteX2" fmla="*/ 408602 w 408602"/>
              <a:gd name="connsiteY2" fmla="*/ 20668 h 427068"/>
              <a:gd name="connsiteX3" fmla="*/ 2202 w 408602"/>
              <a:gd name="connsiteY3" fmla="*/ 427068 h 427068"/>
              <a:gd name="connsiteX4" fmla="*/ 0 w 408602"/>
              <a:gd name="connsiteY4" fmla="*/ 426846 h 427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602" h="427068">
                <a:moveTo>
                  <a:pt x="0" y="0"/>
                </a:moveTo>
                <a:lnTo>
                  <a:pt x="406519" y="0"/>
                </a:lnTo>
                <a:lnTo>
                  <a:pt x="408602" y="20668"/>
                </a:lnTo>
                <a:cubicBezTo>
                  <a:pt x="408602" y="245117"/>
                  <a:pt x="226651" y="427068"/>
                  <a:pt x="2202" y="427068"/>
                </a:cubicBezTo>
                <a:lnTo>
                  <a:pt x="0" y="426846"/>
                </a:lnTo>
                <a:close/>
              </a:path>
            </a:pathLst>
          </a:custGeom>
          <a:solidFill>
            <a:schemeClr val="accent1">
              <a:lumMod val="60000"/>
              <a:lumOff val="4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76" name="文本框 575"/>
          <p:cNvSpPr txBox="1"/>
          <p:nvPr/>
        </p:nvSpPr>
        <p:spPr>
          <a:xfrm>
            <a:off x="1860550" y="3965575"/>
            <a:ext cx="278130" cy="239395"/>
          </a:xfrm>
          <a:prstGeom prst="rect">
            <a:avLst/>
          </a:prstGeom>
          <a:noFill/>
        </p:spPr>
        <p:txBody>
          <a:bodyPr wrap="none" rtlCol="0">
            <a:spAutoFit/>
          </a:bodyPr>
          <a:lstStyle/>
          <a:p>
            <a:r>
              <a:rPr lang="en-US" altLang="zh-CN" sz="1400" dirty="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67" name="文本框 566"/>
          <p:cNvSpPr txBox="1"/>
          <p:nvPr/>
        </p:nvSpPr>
        <p:spPr>
          <a:xfrm>
            <a:off x="4088765" y="4393565"/>
            <a:ext cx="80010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资源支持</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68" name="矩形 567"/>
          <p:cNvSpPr/>
          <p:nvPr/>
        </p:nvSpPr>
        <p:spPr>
          <a:xfrm>
            <a:off x="6598790" y="4479925"/>
            <a:ext cx="1547495" cy="337185"/>
          </a:xfrm>
          <a:prstGeom prst="rect">
            <a:avLst/>
          </a:prstGeom>
          <a:solidFill>
            <a:schemeClr val="accent1">
              <a:lumMod val="20000"/>
              <a:lumOff val="80000"/>
              <a:alpha val="20000"/>
            </a:schemeClr>
          </a:solidFill>
          <a:ln>
            <a:solidFill>
              <a:schemeClr val="accent2">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产品设计师</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69" name="矩形 568"/>
          <p:cNvSpPr/>
          <p:nvPr/>
        </p:nvSpPr>
        <p:spPr>
          <a:xfrm>
            <a:off x="8281540" y="4479925"/>
            <a:ext cx="1547495" cy="337185"/>
          </a:xfrm>
          <a:prstGeom prst="rect">
            <a:avLst/>
          </a:prstGeom>
          <a:solidFill>
            <a:schemeClr val="accent1">
              <a:lumMod val="20000"/>
              <a:lumOff val="80000"/>
              <a:alpha val="20000"/>
            </a:schemeClr>
          </a:solidFill>
          <a:ln>
            <a:solidFill>
              <a:schemeClr val="accent2">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优质供应商</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70" name="矩形 569"/>
          <p:cNvSpPr/>
          <p:nvPr/>
        </p:nvSpPr>
        <p:spPr>
          <a:xfrm>
            <a:off x="9964290" y="4479925"/>
            <a:ext cx="1547495" cy="337185"/>
          </a:xfrm>
          <a:prstGeom prst="rect">
            <a:avLst/>
          </a:prstGeom>
          <a:solidFill>
            <a:schemeClr val="accent1">
              <a:lumMod val="20000"/>
              <a:lumOff val="80000"/>
              <a:alpha val="20000"/>
            </a:schemeClr>
          </a:solidFill>
          <a:ln>
            <a:solidFill>
              <a:schemeClr val="accent2">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物流合作伙伴</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71" name="文本框 570"/>
          <p:cNvSpPr txBox="1"/>
          <p:nvPr/>
        </p:nvSpPr>
        <p:spPr>
          <a:xfrm>
            <a:off x="4225290" y="3976370"/>
            <a:ext cx="49276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方法</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2" name="矩形 571"/>
          <p:cNvSpPr/>
          <p:nvPr/>
        </p:nvSpPr>
        <p:spPr>
          <a:xfrm>
            <a:off x="4915535" y="3953510"/>
            <a:ext cx="6597015" cy="471170"/>
          </a:xfrm>
          <a:prstGeom prst="rect">
            <a:avLst/>
          </a:prstGeom>
          <a:solidFill>
            <a:schemeClr val="accent1">
              <a:lumMod val="20000"/>
              <a:lumOff val="80000"/>
              <a:alpha val="50000"/>
            </a:schemeClr>
          </a:solidFill>
          <a:ln>
            <a:solidFill>
              <a:schemeClr val="accent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73" name="任意多边形: 形状 572"/>
          <p:cNvSpPr/>
          <p:nvPr/>
        </p:nvSpPr>
        <p:spPr>
          <a:xfrm>
            <a:off x="4406265" y="4208780"/>
            <a:ext cx="158115" cy="2635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74" name="文本框 573"/>
          <p:cNvSpPr txBox="1"/>
          <p:nvPr/>
        </p:nvSpPr>
        <p:spPr>
          <a:xfrm>
            <a:off x="4984115" y="3994785"/>
            <a:ext cx="6415405" cy="430530"/>
          </a:xfrm>
          <a:prstGeom prst="rect">
            <a:avLst/>
          </a:prstGeom>
          <a:noFill/>
        </p:spPr>
        <p:txBody>
          <a:bodyPr wrap="square">
            <a:spAutoFit/>
          </a:bodyPr>
          <a:lstStyle/>
          <a:p>
            <a:pPr algn="l"/>
            <a:r>
              <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rPr>
              <a:t>促进用户转化，提高订单量和订单价值。可以通过定期推送产品推荐信息和满足用户个性化需求的宣传手段来增加用户消费频次和精准转化目标用户。</a:t>
            </a:r>
            <a:endPar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612" name="文本框 611"/>
          <p:cNvSpPr txBox="1"/>
          <p:nvPr/>
        </p:nvSpPr>
        <p:spPr>
          <a:xfrm>
            <a:off x="2195195" y="3987165"/>
            <a:ext cx="800100" cy="276860"/>
          </a:xfrm>
          <a:prstGeom prst="rect">
            <a:avLst/>
          </a:prstGeom>
          <a:noFill/>
        </p:spPr>
        <p:txBody>
          <a:bodyPr wrap="none" rtlCol="0">
            <a:spAutoFit/>
          </a:bodyPr>
          <a:lstStyle/>
          <a:p>
            <a:r>
              <a:rPr lang="zh-CN" altLang="en-US" sz="1200" dirty="0">
                <a:latin typeface="微软雅黑" panose="020B0503020204020204" charset="-122"/>
                <a:ea typeface="微软雅黑" panose="020B0503020204020204" charset="-122"/>
                <a:cs typeface="微软雅黑" panose="020B0503020204020204" charset="-122"/>
              </a:rPr>
              <a:t>考核指标</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613" name="文本框 612"/>
          <p:cNvSpPr txBox="1"/>
          <p:nvPr/>
        </p:nvSpPr>
        <p:spPr>
          <a:xfrm>
            <a:off x="2200275" y="4232910"/>
            <a:ext cx="826135" cy="246380"/>
          </a:xfrm>
          <a:prstGeom prst="rect">
            <a:avLst/>
          </a:prstGeom>
          <a:noFill/>
        </p:spPr>
        <p:txBody>
          <a:bodyPr wrap="none" rtlCol="0">
            <a:spAutoFit/>
          </a:bodyPr>
          <a:lstStyle/>
          <a:p>
            <a:r>
              <a:rPr lang="zh-CN" altLang="en-US" sz="1000" dirty="0">
                <a:latin typeface="微软雅黑" panose="020B0503020204020204" charset="-122"/>
                <a:ea typeface="微软雅黑" panose="020B0503020204020204" charset="-122"/>
                <a:cs typeface="微软雅黑" panose="020B0503020204020204" charset="-122"/>
              </a:rPr>
              <a:t>订单成交量</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614" name="文本框 613"/>
          <p:cNvSpPr txBox="1"/>
          <p:nvPr/>
        </p:nvSpPr>
        <p:spPr>
          <a:xfrm>
            <a:off x="2976245" y="4232910"/>
            <a:ext cx="569595" cy="246380"/>
          </a:xfrm>
          <a:prstGeom prst="rect">
            <a:avLst/>
          </a:prstGeom>
          <a:noFill/>
        </p:spPr>
        <p:txBody>
          <a:bodyPr wrap="none" rtlCol="0">
            <a:spAutoFit/>
          </a:bodyPr>
          <a:lstStyle/>
          <a:p>
            <a:r>
              <a:rPr lang="zh-CN" altLang="en-US" sz="1000" dirty="0">
                <a:latin typeface="微软雅黑" panose="020B0503020204020204" charset="-122"/>
                <a:ea typeface="微软雅黑" panose="020B0503020204020204" charset="-122"/>
                <a:cs typeface="微软雅黑" panose="020B0503020204020204" charset="-122"/>
              </a:rPr>
              <a:t>销售额</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615" name="文本框 614"/>
          <p:cNvSpPr txBox="1"/>
          <p:nvPr/>
        </p:nvSpPr>
        <p:spPr>
          <a:xfrm>
            <a:off x="2200275" y="4439285"/>
            <a:ext cx="1210310" cy="246380"/>
          </a:xfrm>
          <a:prstGeom prst="rect">
            <a:avLst/>
          </a:prstGeom>
          <a:noFill/>
        </p:spPr>
        <p:txBody>
          <a:bodyPr wrap="none" rtlCol="0">
            <a:spAutoFit/>
          </a:bodyPr>
          <a:lstStyle/>
          <a:p>
            <a:r>
              <a:rPr lang="zh-CN" altLang="en-US" sz="1000" dirty="0">
                <a:latin typeface="微软雅黑" panose="020B0503020204020204" charset="-122"/>
                <a:ea typeface="微软雅黑" panose="020B0503020204020204" charset="-122"/>
                <a:cs typeface="微软雅黑" panose="020B0503020204020204" charset="-122"/>
              </a:rPr>
              <a:t>客户生命周期价值</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21" name="矩形 20"/>
          <p:cNvSpPr/>
          <p:nvPr/>
        </p:nvSpPr>
        <p:spPr>
          <a:xfrm>
            <a:off x="639445" y="4963795"/>
            <a:ext cx="998855" cy="417830"/>
          </a:xfrm>
          <a:prstGeom prst="rect">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rPr>
              <a:t>口碑传播</a:t>
            </a:r>
            <a:endParaRPr lang="zh-CN" altLang="en-US" sz="12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578" name="矩形 577"/>
          <p:cNvSpPr/>
          <p:nvPr/>
        </p:nvSpPr>
        <p:spPr>
          <a:xfrm>
            <a:off x="4915535" y="5492115"/>
            <a:ext cx="1317625" cy="337185"/>
          </a:xfrm>
          <a:prstGeom prst="rect">
            <a:avLst/>
          </a:prstGeom>
          <a:solidFill>
            <a:schemeClr val="accent5">
              <a:lumMod val="20000"/>
              <a:lumOff val="80000"/>
              <a:alpha val="15000"/>
            </a:schemeClr>
          </a:solidFill>
          <a:ln>
            <a:solidFill>
              <a:schemeClr val="accent5">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社群运营及奖励方案设计</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79" name="矩形 578"/>
          <p:cNvSpPr/>
          <p:nvPr/>
        </p:nvSpPr>
        <p:spPr>
          <a:xfrm>
            <a:off x="1901190" y="4993640"/>
            <a:ext cx="2084705" cy="713105"/>
          </a:xfrm>
          <a:prstGeom prst="rect">
            <a:avLst/>
          </a:prstGeom>
          <a:solidFill>
            <a:schemeClr val="accent5">
              <a:lumMod val="20000"/>
              <a:lumOff val="80000"/>
              <a:alpha val="50000"/>
            </a:schemeClr>
          </a:solidFill>
          <a:ln>
            <a:solidFill>
              <a:schemeClr val="accent5">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96" name="任意多边形: 形状 595"/>
          <p:cNvSpPr/>
          <p:nvPr/>
        </p:nvSpPr>
        <p:spPr>
          <a:xfrm>
            <a:off x="1896745" y="4986020"/>
            <a:ext cx="317500" cy="332105"/>
          </a:xfrm>
          <a:custGeom>
            <a:avLst/>
            <a:gdLst>
              <a:gd name="connsiteX0" fmla="*/ 0 w 408602"/>
              <a:gd name="connsiteY0" fmla="*/ 0 h 427068"/>
              <a:gd name="connsiteX1" fmla="*/ 406519 w 408602"/>
              <a:gd name="connsiteY1" fmla="*/ 0 h 427068"/>
              <a:gd name="connsiteX2" fmla="*/ 408602 w 408602"/>
              <a:gd name="connsiteY2" fmla="*/ 20668 h 427068"/>
              <a:gd name="connsiteX3" fmla="*/ 2202 w 408602"/>
              <a:gd name="connsiteY3" fmla="*/ 427068 h 427068"/>
              <a:gd name="connsiteX4" fmla="*/ 0 w 408602"/>
              <a:gd name="connsiteY4" fmla="*/ 426846 h 427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602" h="427068">
                <a:moveTo>
                  <a:pt x="0" y="0"/>
                </a:moveTo>
                <a:lnTo>
                  <a:pt x="406519" y="0"/>
                </a:lnTo>
                <a:lnTo>
                  <a:pt x="408602" y="20668"/>
                </a:lnTo>
                <a:cubicBezTo>
                  <a:pt x="408602" y="245117"/>
                  <a:pt x="226651" y="427068"/>
                  <a:pt x="2202" y="427068"/>
                </a:cubicBezTo>
                <a:lnTo>
                  <a:pt x="0" y="426846"/>
                </a:lnTo>
                <a:close/>
              </a:path>
            </a:pathLst>
          </a:cu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97" name="文本框 596"/>
          <p:cNvSpPr txBox="1"/>
          <p:nvPr/>
        </p:nvSpPr>
        <p:spPr>
          <a:xfrm>
            <a:off x="1860550" y="4975860"/>
            <a:ext cx="278130" cy="239395"/>
          </a:xfrm>
          <a:prstGeom prst="rect">
            <a:avLst/>
          </a:prstGeom>
          <a:noFill/>
        </p:spPr>
        <p:txBody>
          <a:bodyPr wrap="none" rtlCol="0">
            <a:spAutoFit/>
          </a:bodyPr>
          <a:lstStyle/>
          <a:p>
            <a:r>
              <a:rPr lang="en-US" altLang="zh-CN" sz="1400" dirty="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88" name="文本框 587"/>
          <p:cNvSpPr txBox="1"/>
          <p:nvPr/>
        </p:nvSpPr>
        <p:spPr>
          <a:xfrm>
            <a:off x="4088765" y="5403850"/>
            <a:ext cx="80010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资源支持</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89" name="矩形 588"/>
          <p:cNvSpPr/>
          <p:nvPr/>
        </p:nvSpPr>
        <p:spPr>
          <a:xfrm>
            <a:off x="6675120" y="5492115"/>
            <a:ext cx="1317625" cy="337185"/>
          </a:xfrm>
          <a:prstGeom prst="rect">
            <a:avLst/>
          </a:prstGeom>
          <a:solidFill>
            <a:schemeClr val="accent5">
              <a:lumMod val="20000"/>
              <a:lumOff val="80000"/>
              <a:alpha val="15000"/>
            </a:schemeClr>
          </a:solidFill>
          <a:ln>
            <a:solidFill>
              <a:schemeClr val="accent5">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口碑营销策划投放</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90" name="矩形 589"/>
          <p:cNvSpPr/>
          <p:nvPr/>
        </p:nvSpPr>
        <p:spPr>
          <a:xfrm>
            <a:off x="8434070" y="5492115"/>
            <a:ext cx="1317625" cy="337185"/>
          </a:xfrm>
          <a:prstGeom prst="rect">
            <a:avLst/>
          </a:prstGeom>
          <a:solidFill>
            <a:schemeClr val="accent5">
              <a:lumMod val="20000"/>
              <a:lumOff val="80000"/>
              <a:alpha val="15000"/>
            </a:schemeClr>
          </a:solidFill>
          <a:ln>
            <a:solidFill>
              <a:schemeClr val="accent5">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客户体验管理</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91" name="矩形 590"/>
          <p:cNvSpPr/>
          <p:nvPr/>
        </p:nvSpPr>
        <p:spPr>
          <a:xfrm>
            <a:off x="10193655" y="5492115"/>
            <a:ext cx="1317625" cy="337185"/>
          </a:xfrm>
          <a:prstGeom prst="rect">
            <a:avLst/>
          </a:prstGeom>
          <a:solidFill>
            <a:schemeClr val="accent5">
              <a:lumMod val="20000"/>
              <a:lumOff val="80000"/>
              <a:alpha val="15000"/>
            </a:schemeClr>
          </a:solidFill>
          <a:ln>
            <a:solidFill>
              <a:schemeClr val="accent5">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rPr>
              <a:t>社交媒体内容创作</a:t>
            </a: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92" name="文本框 591"/>
          <p:cNvSpPr txBox="1"/>
          <p:nvPr/>
        </p:nvSpPr>
        <p:spPr>
          <a:xfrm>
            <a:off x="4225290" y="4986655"/>
            <a:ext cx="492760" cy="276860"/>
          </a:xfrm>
          <a:prstGeom prst="rect">
            <a:avLst/>
          </a:prstGeom>
          <a:noFill/>
        </p:spPr>
        <p:txBody>
          <a:bodyPr wrap="none" rtlCol="0">
            <a:sp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方法</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93" name="矩形 592"/>
          <p:cNvSpPr/>
          <p:nvPr/>
        </p:nvSpPr>
        <p:spPr>
          <a:xfrm>
            <a:off x="4915535" y="4963795"/>
            <a:ext cx="6597015" cy="478155"/>
          </a:xfrm>
          <a:prstGeom prst="rect">
            <a:avLst/>
          </a:prstGeom>
          <a:solidFill>
            <a:schemeClr val="accent5">
              <a:lumMod val="20000"/>
              <a:lumOff val="80000"/>
              <a:alpha val="50000"/>
            </a:schemeClr>
          </a:solidFill>
          <a:ln>
            <a:solidFill>
              <a:schemeClr val="accent5">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94" name="任意多边形: 形状 593"/>
          <p:cNvSpPr/>
          <p:nvPr/>
        </p:nvSpPr>
        <p:spPr>
          <a:xfrm>
            <a:off x="4406265" y="5219065"/>
            <a:ext cx="158115" cy="2635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95" name="文本框 594"/>
          <p:cNvSpPr txBox="1"/>
          <p:nvPr/>
        </p:nvSpPr>
        <p:spPr>
          <a:xfrm>
            <a:off x="4984115" y="5005070"/>
            <a:ext cx="6415405" cy="431165"/>
          </a:xfrm>
          <a:prstGeom prst="rect">
            <a:avLst/>
          </a:prstGeom>
          <a:noFill/>
        </p:spPr>
        <p:txBody>
          <a:bodyPr wrap="square">
            <a:spAutoFit/>
          </a:bodyPr>
          <a:lstStyle/>
          <a:p>
            <a:pPr algn="l"/>
            <a:r>
              <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rPr>
              <a:t>利用现有客户的口碑影响力，吸引更多潜在客户。可以通过现有用户推荐返利、社交媒体用户</a:t>
            </a:r>
            <a:r>
              <a:rPr lang="en-US" altLang="zh-CN" sz="1100" b="0" i="0" dirty="0">
                <a:solidFill>
                  <a:schemeClr val="tx2"/>
                </a:solidFill>
                <a:effectLst/>
                <a:latin typeface="微软雅黑" panose="020B0503020204020204" charset="-122"/>
                <a:ea typeface="微软雅黑" panose="020B0503020204020204" charset="-122"/>
                <a:cs typeface="微软雅黑" panose="020B0503020204020204" charset="-122"/>
              </a:rPr>
              <a:t>UGC</a:t>
            </a:r>
            <a:r>
              <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rPr>
              <a:t>等方式，鼓励用户进行品牌口碑传播。</a:t>
            </a:r>
            <a:endParaRPr lang="zh-CN" altLang="en-US" sz="1100" b="0"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617" name="文本框 616"/>
          <p:cNvSpPr txBox="1"/>
          <p:nvPr/>
        </p:nvSpPr>
        <p:spPr>
          <a:xfrm>
            <a:off x="2195195" y="5012055"/>
            <a:ext cx="800100" cy="276860"/>
          </a:xfrm>
          <a:prstGeom prst="rect">
            <a:avLst/>
          </a:prstGeom>
          <a:noFill/>
        </p:spPr>
        <p:txBody>
          <a:bodyPr wrap="none" rtlCol="0">
            <a:spAutoFit/>
          </a:bodyPr>
          <a:lstStyle/>
          <a:p>
            <a:r>
              <a:rPr lang="zh-CN" altLang="en-US" sz="1200" dirty="0">
                <a:latin typeface="微软雅黑" panose="020B0503020204020204" charset="-122"/>
                <a:ea typeface="微软雅黑" panose="020B0503020204020204" charset="-122"/>
                <a:cs typeface="微软雅黑" panose="020B0503020204020204" charset="-122"/>
              </a:rPr>
              <a:t>考核指标</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618" name="文本框 617"/>
          <p:cNvSpPr txBox="1"/>
          <p:nvPr/>
        </p:nvSpPr>
        <p:spPr>
          <a:xfrm>
            <a:off x="2200275" y="5257800"/>
            <a:ext cx="1338580" cy="246380"/>
          </a:xfrm>
          <a:prstGeom prst="rect">
            <a:avLst/>
          </a:prstGeom>
          <a:noFill/>
        </p:spPr>
        <p:txBody>
          <a:bodyPr wrap="none" rtlCol="0">
            <a:spAutoFit/>
          </a:bodyPr>
          <a:lstStyle/>
          <a:p>
            <a:r>
              <a:rPr lang="zh-CN" altLang="en-US" sz="1000" dirty="0">
                <a:latin typeface="微软雅黑" panose="020B0503020204020204" charset="-122"/>
                <a:ea typeface="微软雅黑" panose="020B0503020204020204" charset="-122"/>
                <a:cs typeface="微软雅黑" panose="020B0503020204020204" charset="-122"/>
              </a:rPr>
              <a:t>引导新注册用户数量</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620" name="文本框 619"/>
          <p:cNvSpPr txBox="1"/>
          <p:nvPr/>
        </p:nvSpPr>
        <p:spPr>
          <a:xfrm>
            <a:off x="2200275" y="5464175"/>
            <a:ext cx="1338580" cy="246380"/>
          </a:xfrm>
          <a:prstGeom prst="rect">
            <a:avLst/>
          </a:prstGeom>
          <a:noFill/>
        </p:spPr>
        <p:txBody>
          <a:bodyPr wrap="none" rtlCol="0">
            <a:spAutoFit/>
          </a:bodyPr>
          <a:lstStyle/>
          <a:p>
            <a:r>
              <a:rPr lang="zh-CN" altLang="en-US" sz="1000" dirty="0">
                <a:latin typeface="微软雅黑" panose="020B0503020204020204" charset="-122"/>
                <a:ea typeface="微软雅黑" panose="020B0503020204020204" charset="-122"/>
                <a:cs typeface="微软雅黑" panose="020B0503020204020204" charset="-122"/>
              </a:rPr>
              <a:t>受邀用户订单成交量</a:t>
            </a:r>
            <a:endParaRPr lang="zh-CN" altLang="en-US" sz="1000" dirty="0">
              <a:latin typeface="微软雅黑" panose="020B0503020204020204" charset="-122"/>
              <a:ea typeface="微软雅黑" panose="020B0503020204020204" charset="-122"/>
              <a:cs typeface="微软雅黑" panose="020B0503020204020204" charset="-122"/>
            </a:endParaRPr>
          </a:p>
        </p:txBody>
      </p:sp>
      <p:cxnSp>
        <p:nvCxnSpPr>
          <p:cNvPr id="636" name="直接箭头连接符 635"/>
          <p:cNvCxnSpPr/>
          <p:nvPr/>
        </p:nvCxnSpPr>
        <p:spPr>
          <a:xfrm>
            <a:off x="1129053" y="2508532"/>
            <a:ext cx="0" cy="355895"/>
          </a:xfrm>
          <a:prstGeom prst="straightConnector1">
            <a:avLst/>
          </a:prstGeom>
          <a:ln>
            <a:solidFill>
              <a:schemeClr val="accent6">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37" name="直接箭头连接符 636"/>
          <p:cNvCxnSpPr/>
          <p:nvPr/>
        </p:nvCxnSpPr>
        <p:spPr>
          <a:xfrm>
            <a:off x="1129053" y="3496507"/>
            <a:ext cx="0" cy="355895"/>
          </a:xfrm>
          <a:prstGeom prst="straightConnector1">
            <a:avLst/>
          </a:prstGeom>
          <a:ln>
            <a:solidFill>
              <a:schemeClr val="accent6">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38" name="直接箭头连接符 637"/>
          <p:cNvCxnSpPr/>
          <p:nvPr/>
        </p:nvCxnSpPr>
        <p:spPr>
          <a:xfrm>
            <a:off x="1129053" y="4515585"/>
            <a:ext cx="0" cy="355895"/>
          </a:xfrm>
          <a:prstGeom prst="straightConnector1">
            <a:avLst/>
          </a:prstGeom>
          <a:ln>
            <a:solidFill>
              <a:schemeClr val="accent6">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圆角 247"/>
          <p:cNvSpPr/>
          <p:nvPr/>
        </p:nvSpPr>
        <p:spPr>
          <a:xfrm>
            <a:off x="8648700" y="4318000"/>
            <a:ext cx="1552575" cy="1539240"/>
          </a:xfrm>
          <a:prstGeom prst="roundRect">
            <a:avLst>
              <a:gd name="adj" fmla="val 8240"/>
            </a:avLst>
          </a:prstGeom>
          <a:solidFill>
            <a:schemeClr val="accent5">
              <a:lumMod val="20000"/>
              <a:lumOff val="80000"/>
              <a:alpha val="20000"/>
            </a:schemeClr>
          </a:solidFill>
          <a:ln>
            <a:solidFill>
              <a:schemeClr val="accent5">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6" name="矩形: 圆角 217"/>
          <p:cNvSpPr/>
          <p:nvPr/>
        </p:nvSpPr>
        <p:spPr>
          <a:xfrm>
            <a:off x="8648700" y="1508760"/>
            <a:ext cx="1552575" cy="2136140"/>
          </a:xfrm>
          <a:prstGeom prst="roundRect">
            <a:avLst>
              <a:gd name="adj" fmla="val 8240"/>
            </a:avLst>
          </a:prstGeom>
          <a:solidFill>
            <a:schemeClr val="accent5">
              <a:lumMod val="20000"/>
              <a:lumOff val="80000"/>
              <a:alpha val="20000"/>
            </a:schemeClr>
          </a:solidFill>
          <a:ln>
            <a:solidFill>
              <a:schemeClr val="accent5">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客户运营计划全景图</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5" name="矩形: 圆角 184"/>
          <p:cNvSpPr/>
          <p:nvPr/>
        </p:nvSpPr>
        <p:spPr>
          <a:xfrm>
            <a:off x="5326360" y="1509268"/>
            <a:ext cx="2888980" cy="983551"/>
          </a:xfrm>
          <a:prstGeom prst="roundRect">
            <a:avLst>
              <a:gd name="adj" fmla="val 8240"/>
            </a:avLst>
          </a:prstGeom>
          <a:solidFill>
            <a:schemeClr val="accent1">
              <a:lumMod val="20000"/>
              <a:lumOff val="80000"/>
              <a:alpha val="20000"/>
            </a:schemeClr>
          </a:solidFill>
          <a:ln>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71" name="任意多边形: 形状 370"/>
          <p:cNvSpPr/>
          <p:nvPr/>
        </p:nvSpPr>
        <p:spPr>
          <a:xfrm>
            <a:off x="5326360" y="1509268"/>
            <a:ext cx="2888980" cy="326128"/>
          </a:xfrm>
          <a:custGeom>
            <a:avLst/>
            <a:gdLst>
              <a:gd name="connsiteX0" fmla="*/ 81045 w 2888980"/>
              <a:gd name="connsiteY0" fmla="*/ 0 h 326128"/>
              <a:gd name="connsiteX1" fmla="*/ 2807935 w 2888980"/>
              <a:gd name="connsiteY1" fmla="*/ 0 h 326128"/>
              <a:gd name="connsiteX2" fmla="*/ 2888980 w 2888980"/>
              <a:gd name="connsiteY2" fmla="*/ 81045 h 326128"/>
              <a:gd name="connsiteX3" fmla="*/ 2888980 w 2888980"/>
              <a:gd name="connsiteY3" fmla="*/ 326128 h 326128"/>
              <a:gd name="connsiteX4" fmla="*/ 0 w 2888980"/>
              <a:gd name="connsiteY4" fmla="*/ 326128 h 326128"/>
              <a:gd name="connsiteX5" fmla="*/ 0 w 2888980"/>
              <a:gd name="connsiteY5" fmla="*/ 81045 h 326128"/>
              <a:gd name="connsiteX6" fmla="*/ 81045 w 2888980"/>
              <a:gd name="connsiteY6" fmla="*/ 0 h 32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980" h="326128">
                <a:moveTo>
                  <a:pt x="81045" y="0"/>
                </a:moveTo>
                <a:lnTo>
                  <a:pt x="2807935" y="0"/>
                </a:lnTo>
                <a:cubicBezTo>
                  <a:pt x="2852695" y="0"/>
                  <a:pt x="2888980" y="36285"/>
                  <a:pt x="2888980" y="81045"/>
                </a:cubicBezTo>
                <a:lnTo>
                  <a:pt x="2888980" y="326128"/>
                </a:lnTo>
                <a:lnTo>
                  <a:pt x="0" y="326128"/>
                </a:lnTo>
                <a:lnTo>
                  <a:pt x="0" y="81045"/>
                </a:lnTo>
                <a:cubicBezTo>
                  <a:pt x="0" y="36285"/>
                  <a:pt x="36285" y="0"/>
                  <a:pt x="81045" y="0"/>
                </a:cubicBezTo>
                <a:close/>
              </a:path>
            </a:pathLst>
          </a:custGeom>
          <a:gradFill flip="none" rotWithShape="1">
            <a:gsLst>
              <a:gs pos="0">
                <a:schemeClr val="accent1">
                  <a:lumMod val="60000"/>
                  <a:lumOff val="40000"/>
                </a:schemeClr>
              </a:gs>
              <a:gs pos="100000">
                <a:schemeClr val="accent1">
                  <a:lumMod val="40000"/>
                  <a:lumOff val="6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6" name="矩形: 圆角 62"/>
          <p:cNvSpPr/>
          <p:nvPr/>
        </p:nvSpPr>
        <p:spPr>
          <a:xfrm>
            <a:off x="3295650" y="1486535"/>
            <a:ext cx="1552575" cy="2157730"/>
          </a:xfrm>
          <a:prstGeom prst="roundRect">
            <a:avLst>
              <a:gd name="adj" fmla="val 8240"/>
            </a:avLst>
          </a:prstGeom>
          <a:solidFill>
            <a:schemeClr val="accent1">
              <a:lumMod val="20000"/>
              <a:lumOff val="80000"/>
              <a:alpha val="20000"/>
            </a:schemeClr>
          </a:solidFill>
          <a:ln>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cxnSp>
        <p:nvCxnSpPr>
          <p:cNvPr id="355" name="连接符: 曲线 354"/>
          <p:cNvCxnSpPr>
            <a:stCxn id="140" idx="2"/>
          </p:cNvCxnSpPr>
          <p:nvPr/>
        </p:nvCxnSpPr>
        <p:spPr>
          <a:xfrm rot="5400000">
            <a:off x="9425305" y="4488815"/>
            <a:ext cx="252730" cy="2987675"/>
          </a:xfrm>
          <a:prstGeom prst="curvedConnector2">
            <a:avLst/>
          </a:prstGeom>
          <a:ln>
            <a:solidFill>
              <a:schemeClr val="tx2">
                <a:alpha val="7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23" name="梯形 322"/>
          <p:cNvSpPr/>
          <p:nvPr/>
        </p:nvSpPr>
        <p:spPr>
          <a:xfrm rot="16200000">
            <a:off x="2482850" y="2732405"/>
            <a:ext cx="1182370" cy="531495"/>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697627">
                <a:moveTo>
                  <a:pt x="0" y="697627"/>
                </a:moveTo>
                <a:cubicBezTo>
                  <a:pt x="142112" y="493080"/>
                  <a:pt x="223106" y="307190"/>
                  <a:pt x="197267" y="0"/>
                </a:cubicBezTo>
                <a:lnTo>
                  <a:pt x="745261" y="0"/>
                </a:lnTo>
                <a:cubicBezTo>
                  <a:pt x="747414" y="269867"/>
                  <a:pt x="823278" y="399774"/>
                  <a:pt x="965390" y="697627"/>
                </a:cubicBezTo>
                <a:lnTo>
                  <a:pt x="0" y="697627"/>
                </a:lnTo>
                <a:close/>
              </a:path>
            </a:pathLst>
          </a:custGeom>
          <a:gradFill>
            <a:gsLst>
              <a:gs pos="0">
                <a:schemeClr val="accent1">
                  <a:lumMod val="20000"/>
                  <a:lumOff val="80000"/>
                  <a:alpha val="0"/>
                </a:schemeClr>
              </a:gs>
              <a:gs pos="100000">
                <a:schemeClr val="accent1">
                  <a:lumMod val="20000"/>
                  <a:lumOff val="8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81" name="矩形: 圆角 180"/>
          <p:cNvSpPr/>
          <p:nvPr/>
        </p:nvSpPr>
        <p:spPr>
          <a:xfrm>
            <a:off x="3411456" y="1947294"/>
            <a:ext cx="623872" cy="218663"/>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82" name="矩形: 圆角 181"/>
          <p:cNvSpPr/>
          <p:nvPr/>
        </p:nvSpPr>
        <p:spPr>
          <a:xfrm>
            <a:off x="4130044" y="1947294"/>
            <a:ext cx="623872" cy="218663"/>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0" name="矩形: 圆角 34"/>
          <p:cNvSpPr/>
          <p:nvPr/>
        </p:nvSpPr>
        <p:spPr>
          <a:xfrm>
            <a:off x="439420" y="1532255"/>
            <a:ext cx="1087120" cy="2887345"/>
          </a:xfrm>
          <a:prstGeom prst="roundRect">
            <a:avLst>
              <a:gd name="adj" fmla="val 8240"/>
            </a:avLst>
          </a:prstGeom>
          <a:solidFill>
            <a:schemeClr val="accent1">
              <a:lumMod val="20000"/>
              <a:lumOff val="80000"/>
              <a:alpha val="20000"/>
            </a:schemeClr>
          </a:solidFill>
          <a:ln>
            <a:solidFill>
              <a:schemeClr val="accent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442288" y="1515110"/>
            <a:ext cx="1083981" cy="367665"/>
            <a:chOff x="692" y="2342"/>
            <a:chExt cx="1712" cy="579"/>
          </a:xfrm>
        </p:grpSpPr>
        <p:sp>
          <p:nvSpPr>
            <p:cNvPr id="41" name="任意多边形: 形状 37"/>
            <p:cNvSpPr/>
            <p:nvPr/>
          </p:nvSpPr>
          <p:spPr>
            <a:xfrm>
              <a:off x="692" y="2377"/>
              <a:ext cx="1712" cy="508"/>
            </a:xfrm>
            <a:custGeom>
              <a:avLst/>
              <a:gdLst>
                <a:gd name="connsiteX0" fmla="*/ 89582 w 1087156"/>
                <a:gd name="connsiteY0" fmla="*/ 0 h 322421"/>
                <a:gd name="connsiteX1" fmla="*/ 997574 w 1087156"/>
                <a:gd name="connsiteY1" fmla="*/ 0 h 322421"/>
                <a:gd name="connsiteX2" fmla="*/ 1087156 w 1087156"/>
                <a:gd name="connsiteY2" fmla="*/ 89582 h 322421"/>
                <a:gd name="connsiteX3" fmla="*/ 1087156 w 1087156"/>
                <a:gd name="connsiteY3" fmla="*/ 322421 h 322421"/>
                <a:gd name="connsiteX4" fmla="*/ 0 w 1087156"/>
                <a:gd name="connsiteY4" fmla="*/ 322421 h 322421"/>
                <a:gd name="connsiteX5" fmla="*/ 0 w 1087156"/>
                <a:gd name="connsiteY5" fmla="*/ 89582 h 322421"/>
                <a:gd name="connsiteX6" fmla="*/ 89582 w 1087156"/>
                <a:gd name="connsiteY6" fmla="*/ 0 h 32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7156" h="322421">
                  <a:moveTo>
                    <a:pt x="89582" y="0"/>
                  </a:moveTo>
                  <a:lnTo>
                    <a:pt x="997574" y="0"/>
                  </a:lnTo>
                  <a:cubicBezTo>
                    <a:pt x="1047049" y="0"/>
                    <a:pt x="1087156" y="40107"/>
                    <a:pt x="1087156" y="89582"/>
                  </a:cubicBezTo>
                  <a:lnTo>
                    <a:pt x="1087156" y="322421"/>
                  </a:lnTo>
                  <a:lnTo>
                    <a:pt x="0" y="322421"/>
                  </a:lnTo>
                  <a:lnTo>
                    <a:pt x="0" y="89582"/>
                  </a:lnTo>
                  <a:cubicBezTo>
                    <a:pt x="0" y="40107"/>
                    <a:pt x="40107" y="0"/>
                    <a:pt x="89582" y="0"/>
                  </a:cubicBezTo>
                  <a:close/>
                </a:path>
              </a:pathLst>
            </a:custGeom>
            <a:gradFill>
              <a:gsLst>
                <a:gs pos="100000">
                  <a:schemeClr val="accent1">
                    <a:lumMod val="60000"/>
                    <a:lumOff val="40000"/>
                  </a:schemeClr>
                </a:gs>
                <a:gs pos="9000">
                  <a:schemeClr val="accent1"/>
                </a:gs>
              </a:gsLst>
              <a:lin ang="27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994" y="2559"/>
              <a:ext cx="1107" cy="36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线上</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1270" y="2342"/>
              <a:ext cx="574" cy="36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01</a:t>
              </a:r>
              <a:endParaRPr lang="en-US" altLang="zh-CN" sz="900" dirty="0">
                <a:latin typeface="微软雅黑" panose="020B0503020204020204" charset="-122"/>
                <a:ea typeface="微软雅黑" panose="020B0503020204020204" charset="-122"/>
                <a:cs typeface="微软雅黑" panose="020B0503020204020204" charset="-122"/>
              </a:endParaRPr>
            </a:p>
          </p:txBody>
        </p:sp>
      </p:grpSp>
      <p:sp>
        <p:nvSpPr>
          <p:cNvPr id="44" name="矩形: 圆角 40"/>
          <p:cNvSpPr/>
          <p:nvPr/>
        </p:nvSpPr>
        <p:spPr>
          <a:xfrm>
            <a:off x="439420" y="4620895"/>
            <a:ext cx="1087120" cy="1221740"/>
          </a:xfrm>
          <a:prstGeom prst="roundRect">
            <a:avLst>
              <a:gd name="adj" fmla="val 8240"/>
            </a:avLst>
          </a:prstGeom>
          <a:solidFill>
            <a:schemeClr val="accent1">
              <a:lumMod val="20000"/>
              <a:lumOff val="80000"/>
              <a:alpha val="20000"/>
            </a:schemeClr>
          </a:solidFill>
          <a:ln>
            <a:solidFill>
              <a:schemeClr val="accent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7" name="文本框 46"/>
          <p:cNvSpPr txBox="1"/>
          <p:nvPr/>
        </p:nvSpPr>
        <p:spPr>
          <a:xfrm>
            <a:off x="630410" y="1958698"/>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垂直媒体</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0" name="文本框 89"/>
          <p:cNvSpPr txBox="1"/>
          <p:nvPr/>
        </p:nvSpPr>
        <p:spPr>
          <a:xfrm>
            <a:off x="686492" y="2246597"/>
            <a:ext cx="570990" cy="246221"/>
          </a:xfrm>
          <a:prstGeom prst="rect">
            <a:avLst/>
          </a:prstGeom>
          <a:noFill/>
        </p:spPr>
        <p:txBody>
          <a:bodyPr wrap="none" rtlCol="0">
            <a:spAutoFit/>
          </a:bodyPr>
          <a:lstStyle/>
          <a:p>
            <a:pPr algn="ct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SEO/M</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1" name="文本框 90"/>
          <p:cNvSpPr txBox="1"/>
          <p:nvPr/>
        </p:nvSpPr>
        <p:spPr>
          <a:xfrm>
            <a:off x="642219" y="2534978"/>
            <a:ext cx="668773"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头部</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KOL</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nvSpPr>
        <p:spPr>
          <a:xfrm>
            <a:off x="630411" y="2822398"/>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微博抖音</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3" name="文本框 92"/>
          <p:cNvSpPr txBox="1"/>
          <p:nvPr/>
        </p:nvSpPr>
        <p:spPr>
          <a:xfrm>
            <a:off x="566292" y="3110298"/>
            <a:ext cx="82586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微信公众号</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4" name="文本框 93"/>
          <p:cNvSpPr txBox="1"/>
          <p:nvPr/>
        </p:nvSpPr>
        <p:spPr>
          <a:xfrm>
            <a:off x="623998" y="3398198"/>
            <a:ext cx="710452"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企业微信</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5" name="文本框 94"/>
          <p:cNvSpPr txBox="1"/>
          <p:nvPr/>
        </p:nvSpPr>
        <p:spPr>
          <a:xfrm>
            <a:off x="552664" y="3686098"/>
            <a:ext cx="853119"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个人收藏夹</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6" name="文本框 95"/>
          <p:cNvSpPr txBox="1"/>
          <p:nvPr/>
        </p:nvSpPr>
        <p:spPr>
          <a:xfrm>
            <a:off x="630411" y="3973998"/>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广告平台</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630410" y="5077038"/>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线下媒体</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8" name="文本框 97"/>
          <p:cNvSpPr txBox="1"/>
          <p:nvPr/>
        </p:nvSpPr>
        <p:spPr>
          <a:xfrm>
            <a:off x="630410" y="5364938"/>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应用场景</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9" name="矩形: 圆角 54"/>
          <p:cNvSpPr/>
          <p:nvPr/>
        </p:nvSpPr>
        <p:spPr>
          <a:xfrm>
            <a:off x="2056276" y="2617979"/>
            <a:ext cx="780219" cy="780219"/>
          </a:xfrm>
          <a:prstGeom prst="roundRect">
            <a:avLst>
              <a:gd name="adj" fmla="val 9342"/>
            </a:avLst>
          </a:prstGeom>
          <a:gradFill flip="none" rotWithShape="1">
            <a:gsLst>
              <a:gs pos="0">
                <a:schemeClr val="accent1">
                  <a:lumMod val="90000"/>
                  <a:lumOff val="10000"/>
                </a:schemeClr>
              </a:gs>
              <a:gs pos="100000">
                <a:schemeClr val="accent1">
                  <a:lumMod val="60000"/>
                  <a:lumOff val="40000"/>
                </a:schemeClr>
              </a:gs>
            </a:gsLst>
            <a:path path="circle">
              <a:fillToRect t="100000" r="100000"/>
            </a:path>
            <a:tileRect l="-100000" b="-100000"/>
          </a:gradFill>
          <a:ln w="38100">
            <a:no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nvSpPr>
        <p:spPr>
          <a:xfrm>
            <a:off x="2094990" y="2854736"/>
            <a:ext cx="702790" cy="306705"/>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1400" b="1" dirty="0">
                <a:latin typeface="微软雅黑" panose="020B0503020204020204" charset="-122"/>
                <a:ea typeface="微软雅黑" panose="020B0503020204020204" charset="-122"/>
                <a:cs typeface="微软雅黑" panose="020B0503020204020204" charset="-122"/>
              </a:rPr>
              <a:t>首页</a:t>
            </a:r>
            <a:endParaRPr lang="zh-CN" altLang="en-US" sz="1400" b="1" dirty="0">
              <a:latin typeface="微软雅黑" panose="020B0503020204020204" charset="-122"/>
              <a:ea typeface="微软雅黑" panose="020B0503020204020204" charset="-122"/>
              <a:cs typeface="微软雅黑" panose="020B0503020204020204" charset="-122"/>
            </a:endParaRPr>
          </a:p>
        </p:txBody>
      </p:sp>
      <p:sp>
        <p:nvSpPr>
          <p:cNvPr id="102" name="矩形: 圆角 59"/>
          <p:cNvSpPr/>
          <p:nvPr/>
        </p:nvSpPr>
        <p:spPr>
          <a:xfrm>
            <a:off x="2056276" y="5011089"/>
            <a:ext cx="780219" cy="780219"/>
          </a:xfrm>
          <a:prstGeom prst="roundRect">
            <a:avLst>
              <a:gd name="adj" fmla="val 9342"/>
            </a:avLst>
          </a:prstGeom>
          <a:gradFill flip="none" rotWithShape="1">
            <a:gsLst>
              <a:gs pos="0">
                <a:schemeClr val="accent1">
                  <a:lumMod val="90000"/>
                  <a:lumOff val="10000"/>
                </a:schemeClr>
              </a:gs>
              <a:gs pos="100000">
                <a:schemeClr val="accent1">
                  <a:lumMod val="60000"/>
                  <a:lumOff val="40000"/>
                </a:schemeClr>
              </a:gs>
            </a:gsLst>
            <a:path path="circle">
              <a:fillToRect t="100000" r="100000"/>
            </a:path>
            <a:tileRect l="-100000" b="-100000"/>
          </a:gradFill>
          <a:ln w="38100">
            <a:no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4" name="文本框 103"/>
          <p:cNvSpPr txBox="1"/>
          <p:nvPr/>
        </p:nvSpPr>
        <p:spPr>
          <a:xfrm>
            <a:off x="2094990" y="5247846"/>
            <a:ext cx="702790" cy="306705"/>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1400" b="1" dirty="0">
                <a:latin typeface="微软雅黑" panose="020B0503020204020204" charset="-122"/>
                <a:ea typeface="微软雅黑" panose="020B0503020204020204" charset="-122"/>
                <a:cs typeface="微软雅黑" panose="020B0503020204020204" charset="-122"/>
              </a:rPr>
              <a:t>我的</a:t>
            </a:r>
            <a:endParaRPr lang="zh-CN" altLang="en-US" sz="1400" b="1" dirty="0">
              <a:latin typeface="微软雅黑" panose="020B0503020204020204" charset="-122"/>
              <a:ea typeface="微软雅黑" panose="020B0503020204020204" charset="-122"/>
              <a:cs typeface="微软雅黑" panose="020B0503020204020204" charset="-122"/>
            </a:endParaRPr>
          </a:p>
        </p:txBody>
      </p:sp>
      <p:grpSp>
        <p:nvGrpSpPr>
          <p:cNvPr id="4" name="组合 3"/>
          <p:cNvGrpSpPr/>
          <p:nvPr/>
        </p:nvGrpSpPr>
        <p:grpSpPr>
          <a:xfrm>
            <a:off x="3299460" y="1469709"/>
            <a:ext cx="1548765" cy="368851"/>
            <a:chOff x="5190" y="2342"/>
            <a:chExt cx="2439" cy="581"/>
          </a:xfrm>
        </p:grpSpPr>
        <p:sp>
          <p:nvSpPr>
            <p:cNvPr id="366" name="任意多边形: 形状 365"/>
            <p:cNvSpPr/>
            <p:nvPr/>
          </p:nvSpPr>
          <p:spPr>
            <a:xfrm>
              <a:off x="5190" y="2377"/>
              <a:ext cx="2439" cy="510"/>
            </a:xfrm>
            <a:custGeom>
              <a:avLst/>
              <a:gdLst>
                <a:gd name="connsiteX0" fmla="*/ 127955 w 1552852"/>
                <a:gd name="connsiteY0" fmla="*/ 0 h 323765"/>
                <a:gd name="connsiteX1" fmla="*/ 1424897 w 1552852"/>
                <a:gd name="connsiteY1" fmla="*/ 0 h 323765"/>
                <a:gd name="connsiteX2" fmla="*/ 1552852 w 1552852"/>
                <a:gd name="connsiteY2" fmla="*/ 127955 h 323765"/>
                <a:gd name="connsiteX3" fmla="*/ 1552852 w 1552852"/>
                <a:gd name="connsiteY3" fmla="*/ 323765 h 323765"/>
                <a:gd name="connsiteX4" fmla="*/ 0 w 1552852"/>
                <a:gd name="connsiteY4" fmla="*/ 323765 h 323765"/>
                <a:gd name="connsiteX5" fmla="*/ 0 w 1552852"/>
                <a:gd name="connsiteY5" fmla="*/ 127955 h 323765"/>
                <a:gd name="connsiteX6" fmla="*/ 127955 w 1552852"/>
                <a:gd name="connsiteY6" fmla="*/ 0 h 323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2852" h="323765">
                  <a:moveTo>
                    <a:pt x="127955" y="0"/>
                  </a:moveTo>
                  <a:lnTo>
                    <a:pt x="1424897" y="0"/>
                  </a:lnTo>
                  <a:cubicBezTo>
                    <a:pt x="1495565" y="0"/>
                    <a:pt x="1552852" y="57287"/>
                    <a:pt x="1552852" y="127955"/>
                  </a:cubicBezTo>
                  <a:lnTo>
                    <a:pt x="1552852" y="323765"/>
                  </a:lnTo>
                  <a:lnTo>
                    <a:pt x="0" y="323765"/>
                  </a:lnTo>
                  <a:lnTo>
                    <a:pt x="0" y="127955"/>
                  </a:lnTo>
                  <a:cubicBezTo>
                    <a:pt x="0" y="57287"/>
                    <a:pt x="57287" y="0"/>
                    <a:pt x="127955" y="0"/>
                  </a:cubicBezTo>
                  <a:close/>
                </a:path>
              </a:pathLst>
            </a:custGeom>
            <a:gradFill flip="none" rotWithShape="1">
              <a:gsLst>
                <a:gs pos="0">
                  <a:schemeClr val="accent1">
                    <a:lumMod val="60000"/>
                    <a:lumOff val="40000"/>
                  </a:schemeClr>
                </a:gs>
                <a:gs pos="100000">
                  <a:schemeClr val="accent1">
                    <a:lumMod val="40000"/>
                    <a:lumOff val="6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61" name="文本框 160"/>
            <p:cNvSpPr txBox="1"/>
            <p:nvPr/>
          </p:nvSpPr>
          <p:spPr>
            <a:xfrm>
              <a:off x="5908" y="2559"/>
              <a:ext cx="1107" cy="364"/>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流量分发</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106" name="文本框 105"/>
            <p:cNvSpPr txBox="1"/>
            <p:nvPr/>
          </p:nvSpPr>
          <p:spPr>
            <a:xfrm>
              <a:off x="6184" y="2342"/>
              <a:ext cx="574" cy="364"/>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03</a:t>
              </a:r>
              <a:endParaRPr lang="en-US" altLang="zh-CN" sz="900" dirty="0">
                <a:latin typeface="微软雅黑" panose="020B0503020204020204" charset="-122"/>
                <a:ea typeface="微软雅黑" panose="020B0503020204020204" charset="-122"/>
                <a:cs typeface="微软雅黑" panose="020B0503020204020204" charset="-122"/>
              </a:endParaRPr>
            </a:p>
          </p:txBody>
        </p:sp>
      </p:grpSp>
      <p:sp>
        <p:nvSpPr>
          <p:cNvPr id="163" name="文本框 162"/>
          <p:cNvSpPr txBox="1"/>
          <p:nvPr/>
        </p:nvSpPr>
        <p:spPr>
          <a:xfrm>
            <a:off x="3523780" y="1935864"/>
            <a:ext cx="441146" cy="246221"/>
          </a:xfrm>
          <a:prstGeom prst="rect">
            <a:avLst/>
          </a:prstGeom>
          <a:noFill/>
          <a:extLst>
            <a:ext uri="{909E8E84-426E-40DD-AFC4-6F175D3DCCD1}">
              <a14:hiddenFill xmlns:a14="http://schemas.microsoft.com/office/drawing/2010/main">
                <a:solidFill>
                  <a:schemeClr val="accent1">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内容</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1" name="文本框 170"/>
          <p:cNvSpPr txBox="1"/>
          <p:nvPr/>
        </p:nvSpPr>
        <p:spPr>
          <a:xfrm>
            <a:off x="4200448" y="1935864"/>
            <a:ext cx="441146" cy="246221"/>
          </a:xfrm>
          <a:prstGeom prst="rect">
            <a:avLst/>
          </a:prstGeom>
          <a:noFill/>
          <a:extLst>
            <a:ext uri="{909E8E84-426E-40DD-AFC4-6F175D3DCCD1}">
              <a14:hiddenFill xmlns:a14="http://schemas.microsoft.com/office/drawing/2010/main">
                <a:solidFill>
                  <a:schemeClr val="accent1">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功能</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6" name="文本框 175"/>
          <p:cNvSpPr txBox="1"/>
          <p:nvPr/>
        </p:nvSpPr>
        <p:spPr>
          <a:xfrm>
            <a:off x="3851632" y="2383380"/>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搜索</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7" name="文本框 176"/>
          <p:cNvSpPr txBox="1"/>
          <p:nvPr/>
        </p:nvSpPr>
        <p:spPr>
          <a:xfrm>
            <a:off x="3723392" y="2671280"/>
            <a:ext cx="697628"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分类列表</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8" name="文本框 177"/>
          <p:cNvSpPr txBox="1"/>
          <p:nvPr/>
        </p:nvSpPr>
        <p:spPr>
          <a:xfrm>
            <a:off x="3787513" y="2959180"/>
            <a:ext cx="56938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详情页</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9" name="文本框 178"/>
          <p:cNvSpPr txBox="1"/>
          <p:nvPr/>
        </p:nvSpPr>
        <p:spPr>
          <a:xfrm>
            <a:off x="3723393" y="3247080"/>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栏目专区</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7" name="文本框 106"/>
          <p:cNvSpPr txBox="1"/>
          <p:nvPr/>
        </p:nvSpPr>
        <p:spPr>
          <a:xfrm>
            <a:off x="6440950" y="1624873"/>
            <a:ext cx="702790"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成长体系</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108" name="文本框 107"/>
          <p:cNvSpPr txBox="1"/>
          <p:nvPr/>
        </p:nvSpPr>
        <p:spPr>
          <a:xfrm>
            <a:off x="6616039" y="1486854"/>
            <a:ext cx="364731"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04</a:t>
            </a:r>
            <a:endParaRPr lang="en-US" altLang="zh-CN" sz="900" dirty="0">
              <a:latin typeface="微软雅黑" panose="020B0503020204020204" charset="-122"/>
              <a:ea typeface="微软雅黑" panose="020B0503020204020204" charset="-122"/>
              <a:cs typeface="微软雅黑" panose="020B0503020204020204" charset="-122"/>
            </a:endParaRPr>
          </a:p>
        </p:txBody>
      </p:sp>
      <p:sp>
        <p:nvSpPr>
          <p:cNvPr id="109" name="矩形: 圆角 194"/>
          <p:cNvSpPr/>
          <p:nvPr/>
        </p:nvSpPr>
        <p:spPr>
          <a:xfrm>
            <a:off x="5325745" y="2763520"/>
            <a:ext cx="2889885" cy="845185"/>
          </a:xfrm>
          <a:prstGeom prst="roundRect">
            <a:avLst>
              <a:gd name="adj" fmla="val 8240"/>
            </a:avLst>
          </a:prstGeom>
          <a:solidFill>
            <a:schemeClr val="accent1">
              <a:lumMod val="20000"/>
              <a:lumOff val="80000"/>
              <a:alpha val="20000"/>
            </a:schemeClr>
          </a:solidFill>
          <a:ln>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1" name="文本框 110"/>
          <p:cNvSpPr txBox="1"/>
          <p:nvPr/>
        </p:nvSpPr>
        <p:spPr>
          <a:xfrm>
            <a:off x="6440950" y="2741023"/>
            <a:ext cx="702790"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线上</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198" name="文本框 197"/>
          <p:cNvSpPr txBox="1"/>
          <p:nvPr/>
        </p:nvSpPr>
        <p:spPr>
          <a:xfrm>
            <a:off x="6616039" y="2603004"/>
            <a:ext cx="364731"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01</a:t>
            </a:r>
            <a:endParaRPr lang="en-US" altLang="zh-CN" sz="900" dirty="0">
              <a:latin typeface="微软雅黑" panose="020B0503020204020204" charset="-122"/>
              <a:ea typeface="微软雅黑" panose="020B0503020204020204" charset="-122"/>
              <a:cs typeface="微软雅黑" panose="020B0503020204020204" charset="-122"/>
            </a:endParaRPr>
          </a:p>
        </p:txBody>
      </p:sp>
      <p:sp>
        <p:nvSpPr>
          <p:cNvPr id="112" name="文本框 111"/>
          <p:cNvSpPr txBox="1"/>
          <p:nvPr/>
        </p:nvSpPr>
        <p:spPr>
          <a:xfrm>
            <a:off x="5742942" y="1919736"/>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注册</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0" name="文本框 199"/>
          <p:cNvSpPr txBox="1"/>
          <p:nvPr/>
        </p:nvSpPr>
        <p:spPr>
          <a:xfrm>
            <a:off x="6571773" y="1919736"/>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标签</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1" name="文本框 200"/>
          <p:cNvSpPr txBox="1"/>
          <p:nvPr/>
        </p:nvSpPr>
        <p:spPr>
          <a:xfrm>
            <a:off x="7463547" y="1919736"/>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测评</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2" name="文本框 201"/>
          <p:cNvSpPr txBox="1"/>
          <p:nvPr/>
        </p:nvSpPr>
        <p:spPr>
          <a:xfrm>
            <a:off x="5742942" y="2161169"/>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打卡</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3" name="文本框 202"/>
          <p:cNvSpPr txBox="1"/>
          <p:nvPr/>
        </p:nvSpPr>
        <p:spPr>
          <a:xfrm>
            <a:off x="6571774" y="2161169"/>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任务</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4" name="文本框 203"/>
          <p:cNvSpPr txBox="1"/>
          <p:nvPr/>
        </p:nvSpPr>
        <p:spPr>
          <a:xfrm>
            <a:off x="7463547" y="2161169"/>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荣誉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5" name="文本框 204"/>
          <p:cNvSpPr txBox="1"/>
          <p:nvPr/>
        </p:nvSpPr>
        <p:spPr>
          <a:xfrm>
            <a:off x="5742943" y="3042109"/>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点赞</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3" name="文本框 112"/>
          <p:cNvSpPr txBox="1"/>
          <p:nvPr/>
        </p:nvSpPr>
        <p:spPr>
          <a:xfrm>
            <a:off x="6571772" y="3042109"/>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收藏</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4" name="文本框 113"/>
          <p:cNvSpPr txBox="1"/>
          <p:nvPr/>
        </p:nvSpPr>
        <p:spPr>
          <a:xfrm>
            <a:off x="7463548" y="3042109"/>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关注</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5" name="文本框 114"/>
          <p:cNvSpPr txBox="1"/>
          <p:nvPr/>
        </p:nvSpPr>
        <p:spPr>
          <a:xfrm>
            <a:off x="5742943" y="3283542"/>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评论</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6" name="文本框 115"/>
          <p:cNvSpPr txBox="1"/>
          <p:nvPr/>
        </p:nvSpPr>
        <p:spPr>
          <a:xfrm>
            <a:off x="6566962" y="3283542"/>
            <a:ext cx="450764"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私信</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7" name="文本框 116"/>
          <p:cNvSpPr txBox="1"/>
          <p:nvPr/>
        </p:nvSpPr>
        <p:spPr>
          <a:xfrm>
            <a:off x="7463547" y="3283542"/>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小组</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8" name="矩形: 圆角 213"/>
          <p:cNvSpPr/>
          <p:nvPr/>
        </p:nvSpPr>
        <p:spPr>
          <a:xfrm>
            <a:off x="3278635" y="4072122"/>
            <a:ext cx="4919559" cy="526669"/>
          </a:xfrm>
          <a:prstGeom prst="roundRect">
            <a:avLst>
              <a:gd name="adj" fmla="val 9342"/>
            </a:avLst>
          </a:prstGeom>
          <a:gradFill flip="none" rotWithShape="1">
            <a:gsLst>
              <a:gs pos="0">
                <a:schemeClr val="accent1">
                  <a:lumMod val="60000"/>
                  <a:lumOff val="40000"/>
                </a:schemeClr>
              </a:gs>
              <a:gs pos="100000">
                <a:schemeClr val="accent1">
                  <a:lumMod val="40000"/>
                  <a:lumOff val="6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a:off x="4103370" y="4156710"/>
            <a:ext cx="3408680" cy="306705"/>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1400" b="1">
                <a:latin typeface="微软雅黑" panose="020B0503020204020204" charset="-122"/>
                <a:ea typeface="微软雅黑" panose="020B0503020204020204" charset="-122"/>
                <a:cs typeface="微软雅黑" panose="020B0503020204020204" charset="-122"/>
              </a:rPr>
              <a:t>First one </a:t>
            </a:r>
            <a:r>
              <a:rPr lang="zh-CN" altLang="en-US" sz="1400" b="1">
                <a:latin typeface="微软雅黑" panose="020B0503020204020204" charset="-122"/>
                <a:ea typeface="微软雅黑" panose="020B0503020204020204" charset="-122"/>
                <a:cs typeface="微软雅黑" panose="020B0503020204020204" charset="-122"/>
              </a:rPr>
              <a:t>智能</a:t>
            </a:r>
            <a:r>
              <a:rPr lang="zh-CN" altLang="en-US" sz="1400" b="1" dirty="0">
                <a:latin typeface="微软雅黑" panose="020B0503020204020204" charset="-122"/>
                <a:ea typeface="微软雅黑" panose="020B0503020204020204" charset="-122"/>
                <a:cs typeface="微软雅黑" panose="020B0503020204020204" charset="-122"/>
              </a:rPr>
              <a:t>推荐系统</a:t>
            </a:r>
            <a:endParaRPr lang="zh-CN" altLang="en-US" sz="1400" b="1" dirty="0">
              <a:latin typeface="微软雅黑" panose="020B0503020204020204" charset="-122"/>
              <a:ea typeface="微软雅黑" panose="020B0503020204020204" charset="-122"/>
              <a:cs typeface="微软雅黑" panose="020B0503020204020204" charset="-122"/>
            </a:endParaRPr>
          </a:p>
        </p:txBody>
      </p:sp>
      <p:sp>
        <p:nvSpPr>
          <p:cNvPr id="122" name="矩形: 圆角 215"/>
          <p:cNvSpPr/>
          <p:nvPr/>
        </p:nvSpPr>
        <p:spPr>
          <a:xfrm>
            <a:off x="8764399" y="1947294"/>
            <a:ext cx="623872" cy="218663"/>
          </a:xfrm>
          <a:prstGeom prst="roundRect">
            <a:avLst>
              <a:gd name="adj" fmla="val 5000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25" name="矩形: 圆角 216"/>
          <p:cNvSpPr/>
          <p:nvPr/>
        </p:nvSpPr>
        <p:spPr>
          <a:xfrm>
            <a:off x="9482987" y="1947294"/>
            <a:ext cx="623872" cy="218663"/>
          </a:xfrm>
          <a:prstGeom prst="roundRect">
            <a:avLst>
              <a:gd name="adj" fmla="val 5000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nvGrpSpPr>
          <p:cNvPr id="6" name="组合 5"/>
          <p:cNvGrpSpPr/>
          <p:nvPr/>
        </p:nvGrpSpPr>
        <p:grpSpPr>
          <a:xfrm>
            <a:off x="8648723" y="1489075"/>
            <a:ext cx="1553487" cy="367665"/>
            <a:chOff x="13620" y="2342"/>
            <a:chExt cx="2445" cy="579"/>
          </a:xfrm>
        </p:grpSpPr>
        <p:sp>
          <p:nvSpPr>
            <p:cNvPr id="219" name="任意多边形: 形状 218"/>
            <p:cNvSpPr/>
            <p:nvPr/>
          </p:nvSpPr>
          <p:spPr>
            <a:xfrm>
              <a:off x="13620" y="2377"/>
              <a:ext cx="2445" cy="508"/>
            </a:xfrm>
            <a:custGeom>
              <a:avLst/>
              <a:gdLst>
                <a:gd name="connsiteX0" fmla="*/ 89582 w 1087156"/>
                <a:gd name="connsiteY0" fmla="*/ 0 h 322421"/>
                <a:gd name="connsiteX1" fmla="*/ 997574 w 1087156"/>
                <a:gd name="connsiteY1" fmla="*/ 0 h 322421"/>
                <a:gd name="connsiteX2" fmla="*/ 1087156 w 1087156"/>
                <a:gd name="connsiteY2" fmla="*/ 89582 h 322421"/>
                <a:gd name="connsiteX3" fmla="*/ 1087156 w 1087156"/>
                <a:gd name="connsiteY3" fmla="*/ 322421 h 322421"/>
                <a:gd name="connsiteX4" fmla="*/ 0 w 1087156"/>
                <a:gd name="connsiteY4" fmla="*/ 322421 h 322421"/>
                <a:gd name="connsiteX5" fmla="*/ 0 w 1087156"/>
                <a:gd name="connsiteY5" fmla="*/ 89582 h 322421"/>
                <a:gd name="connsiteX6" fmla="*/ 89582 w 1087156"/>
                <a:gd name="connsiteY6" fmla="*/ 0 h 32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7156" h="322421">
                  <a:moveTo>
                    <a:pt x="89582" y="0"/>
                  </a:moveTo>
                  <a:lnTo>
                    <a:pt x="997574" y="0"/>
                  </a:lnTo>
                  <a:cubicBezTo>
                    <a:pt x="1047049" y="0"/>
                    <a:pt x="1087156" y="40107"/>
                    <a:pt x="1087156" y="89582"/>
                  </a:cubicBezTo>
                  <a:lnTo>
                    <a:pt x="1087156" y="322421"/>
                  </a:lnTo>
                  <a:lnTo>
                    <a:pt x="0" y="322421"/>
                  </a:lnTo>
                  <a:lnTo>
                    <a:pt x="0" y="89582"/>
                  </a:lnTo>
                  <a:cubicBezTo>
                    <a:pt x="0" y="40107"/>
                    <a:pt x="40107" y="0"/>
                    <a:pt x="89582" y="0"/>
                  </a:cubicBezTo>
                  <a:close/>
                </a:path>
              </a:pathLst>
            </a:custGeom>
            <a:gradFill>
              <a:gsLst>
                <a:gs pos="0">
                  <a:schemeClr val="accent5">
                    <a:lumMod val="60000"/>
                    <a:lumOff val="40000"/>
                  </a:schemeClr>
                </a:gs>
                <a:gs pos="100000">
                  <a:schemeClr val="accent5"/>
                </a:gs>
              </a:gsLst>
              <a:lin ang="162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220" name="文本框 219"/>
            <p:cNvSpPr txBox="1"/>
            <p:nvPr/>
          </p:nvSpPr>
          <p:spPr>
            <a:xfrm>
              <a:off x="14338" y="2559"/>
              <a:ext cx="1107" cy="36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付费</a:t>
              </a:r>
              <a:r>
                <a:rPr lang="en-US" altLang="zh-CN" sz="900" dirty="0">
                  <a:latin typeface="微软雅黑" panose="020B0503020204020204" charset="-122"/>
                  <a:ea typeface="微软雅黑" panose="020B0503020204020204" charset="-122"/>
                  <a:cs typeface="微软雅黑" panose="020B0503020204020204" charset="-122"/>
                </a:rPr>
                <a:t>/</a:t>
              </a:r>
              <a:r>
                <a:rPr lang="zh-CN" altLang="en-US" sz="900" dirty="0">
                  <a:latin typeface="微软雅黑" panose="020B0503020204020204" charset="-122"/>
                  <a:ea typeface="微软雅黑" panose="020B0503020204020204" charset="-122"/>
                  <a:cs typeface="微软雅黑" panose="020B0503020204020204" charset="-122"/>
                </a:rPr>
                <a:t>续费</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221" name="文本框 220"/>
            <p:cNvSpPr txBox="1"/>
            <p:nvPr/>
          </p:nvSpPr>
          <p:spPr>
            <a:xfrm>
              <a:off x="14614" y="2342"/>
              <a:ext cx="574" cy="36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05</a:t>
              </a:r>
              <a:endParaRPr lang="en-US" altLang="zh-CN" sz="900" dirty="0">
                <a:latin typeface="微软雅黑" panose="020B0503020204020204" charset="-122"/>
                <a:ea typeface="微软雅黑" panose="020B0503020204020204" charset="-122"/>
                <a:cs typeface="微软雅黑" panose="020B0503020204020204" charset="-122"/>
              </a:endParaRPr>
            </a:p>
          </p:txBody>
        </p:sp>
      </p:grpSp>
      <p:sp>
        <p:nvSpPr>
          <p:cNvPr id="222" name="文本框 221"/>
          <p:cNvSpPr txBox="1"/>
          <p:nvPr/>
        </p:nvSpPr>
        <p:spPr>
          <a:xfrm>
            <a:off x="8876724" y="1926339"/>
            <a:ext cx="441146" cy="246221"/>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售货</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3" name="文本框 222"/>
          <p:cNvSpPr txBox="1"/>
          <p:nvPr/>
        </p:nvSpPr>
        <p:spPr>
          <a:xfrm>
            <a:off x="9553390" y="1926974"/>
            <a:ext cx="441146" cy="246221"/>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订阅</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4" name="文本框 223"/>
          <p:cNvSpPr txBox="1"/>
          <p:nvPr/>
        </p:nvSpPr>
        <p:spPr>
          <a:xfrm>
            <a:off x="9076336" y="2383380"/>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高潜预警</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5" name="文本框 224"/>
          <p:cNvSpPr txBox="1"/>
          <p:nvPr/>
        </p:nvSpPr>
        <p:spPr>
          <a:xfrm>
            <a:off x="9076334" y="2671280"/>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分群引导</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6" name="文本框 225"/>
          <p:cNvSpPr txBox="1"/>
          <p:nvPr/>
        </p:nvSpPr>
        <p:spPr>
          <a:xfrm>
            <a:off x="9063512" y="2959180"/>
            <a:ext cx="723275"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流失预测</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7" name="文本框 226"/>
          <p:cNvSpPr txBox="1"/>
          <p:nvPr/>
        </p:nvSpPr>
        <p:spPr>
          <a:xfrm>
            <a:off x="9076334" y="3247080"/>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个性召回</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8" name="矩形: 圆角 227"/>
          <p:cNvSpPr/>
          <p:nvPr/>
        </p:nvSpPr>
        <p:spPr>
          <a:xfrm>
            <a:off x="10527665" y="1511300"/>
            <a:ext cx="1087120" cy="2908300"/>
          </a:xfrm>
          <a:prstGeom prst="roundRect">
            <a:avLst>
              <a:gd name="adj" fmla="val 8240"/>
            </a:avLst>
          </a:prstGeom>
          <a:solidFill>
            <a:schemeClr val="accent5">
              <a:lumMod val="20000"/>
              <a:lumOff val="80000"/>
              <a:alpha val="20000"/>
            </a:schemeClr>
          </a:solidFill>
          <a:ln>
            <a:solidFill>
              <a:schemeClr val="accent5">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7" name="任意多边形: 形状 228"/>
          <p:cNvSpPr/>
          <p:nvPr/>
        </p:nvSpPr>
        <p:spPr>
          <a:xfrm>
            <a:off x="10527741" y="1509268"/>
            <a:ext cx="1087156" cy="322421"/>
          </a:xfrm>
          <a:custGeom>
            <a:avLst/>
            <a:gdLst>
              <a:gd name="connsiteX0" fmla="*/ 89582 w 1087156"/>
              <a:gd name="connsiteY0" fmla="*/ 0 h 322421"/>
              <a:gd name="connsiteX1" fmla="*/ 997574 w 1087156"/>
              <a:gd name="connsiteY1" fmla="*/ 0 h 322421"/>
              <a:gd name="connsiteX2" fmla="*/ 1087156 w 1087156"/>
              <a:gd name="connsiteY2" fmla="*/ 89582 h 322421"/>
              <a:gd name="connsiteX3" fmla="*/ 1087156 w 1087156"/>
              <a:gd name="connsiteY3" fmla="*/ 322421 h 322421"/>
              <a:gd name="connsiteX4" fmla="*/ 0 w 1087156"/>
              <a:gd name="connsiteY4" fmla="*/ 322421 h 322421"/>
              <a:gd name="connsiteX5" fmla="*/ 0 w 1087156"/>
              <a:gd name="connsiteY5" fmla="*/ 89582 h 322421"/>
              <a:gd name="connsiteX6" fmla="*/ 89582 w 1087156"/>
              <a:gd name="connsiteY6" fmla="*/ 0 h 32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7156" h="322421">
                <a:moveTo>
                  <a:pt x="89582" y="0"/>
                </a:moveTo>
                <a:lnTo>
                  <a:pt x="997574" y="0"/>
                </a:lnTo>
                <a:cubicBezTo>
                  <a:pt x="1047049" y="0"/>
                  <a:pt x="1087156" y="40107"/>
                  <a:pt x="1087156" y="89582"/>
                </a:cubicBezTo>
                <a:lnTo>
                  <a:pt x="1087156" y="322421"/>
                </a:lnTo>
                <a:lnTo>
                  <a:pt x="0" y="322421"/>
                </a:lnTo>
                <a:lnTo>
                  <a:pt x="0" y="89582"/>
                </a:lnTo>
                <a:cubicBezTo>
                  <a:pt x="0" y="40107"/>
                  <a:pt x="40107" y="0"/>
                  <a:pt x="89582" y="0"/>
                </a:cubicBezTo>
                <a:close/>
              </a:path>
            </a:pathLst>
          </a:custGeom>
          <a:gradFill>
            <a:gsLst>
              <a:gs pos="0">
                <a:schemeClr val="accent5">
                  <a:lumMod val="60000"/>
                  <a:lumOff val="40000"/>
                </a:schemeClr>
              </a:gs>
              <a:gs pos="100000">
                <a:schemeClr val="accent5"/>
              </a:gs>
            </a:gsLst>
            <a:lin ang="162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28" name="文本框 127"/>
          <p:cNvSpPr txBox="1"/>
          <p:nvPr/>
        </p:nvSpPr>
        <p:spPr>
          <a:xfrm>
            <a:off x="10719924" y="1624873"/>
            <a:ext cx="702790"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内容裂变</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129" name="文本框 128"/>
          <p:cNvSpPr txBox="1"/>
          <p:nvPr/>
        </p:nvSpPr>
        <p:spPr>
          <a:xfrm>
            <a:off x="10895013" y="1486854"/>
            <a:ext cx="364731"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06</a:t>
            </a:r>
            <a:endParaRPr lang="en-US" altLang="zh-CN" sz="900" dirty="0">
              <a:latin typeface="微软雅黑" panose="020B0503020204020204" charset="-122"/>
              <a:ea typeface="微软雅黑" panose="020B0503020204020204" charset="-122"/>
              <a:cs typeface="微软雅黑" panose="020B0503020204020204" charset="-122"/>
            </a:endParaRPr>
          </a:p>
        </p:txBody>
      </p:sp>
      <p:sp>
        <p:nvSpPr>
          <p:cNvPr id="131" name="文本框 130"/>
          <p:cNvSpPr txBox="1"/>
          <p:nvPr/>
        </p:nvSpPr>
        <p:spPr>
          <a:xfrm>
            <a:off x="10719040" y="1958698"/>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唤起意愿</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2" name="文本框 131"/>
          <p:cNvSpPr txBox="1"/>
          <p:nvPr/>
        </p:nvSpPr>
        <p:spPr>
          <a:xfrm>
            <a:off x="10719038" y="2246598"/>
            <a:ext cx="697628"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选择素材</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a:off x="10716636" y="2534498"/>
            <a:ext cx="70243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落地页面</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5" name="文本框 134"/>
          <p:cNvSpPr txBox="1"/>
          <p:nvPr/>
        </p:nvSpPr>
        <p:spPr>
          <a:xfrm>
            <a:off x="10719040" y="2822398"/>
            <a:ext cx="697628"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跳转路径</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6" name="文本框 135"/>
          <p:cNvSpPr txBox="1"/>
          <p:nvPr/>
        </p:nvSpPr>
        <p:spPr>
          <a:xfrm>
            <a:off x="10653317" y="3110298"/>
            <a:ext cx="829073"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朋友圈分享</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7" name="文本框 136"/>
          <p:cNvSpPr txBox="1"/>
          <p:nvPr/>
        </p:nvSpPr>
        <p:spPr>
          <a:xfrm>
            <a:off x="10653318" y="3398198"/>
            <a:ext cx="829073"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微信群分享</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nvSpPr>
        <p:spPr>
          <a:xfrm>
            <a:off x="10847282" y="3686098"/>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分佣</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9" name="文本框 138"/>
          <p:cNvSpPr txBox="1"/>
          <p:nvPr/>
        </p:nvSpPr>
        <p:spPr>
          <a:xfrm>
            <a:off x="10847282" y="3973998"/>
            <a:ext cx="441146"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活动</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0" name="矩形: 圆角 239"/>
          <p:cNvSpPr/>
          <p:nvPr/>
        </p:nvSpPr>
        <p:spPr>
          <a:xfrm>
            <a:off x="10502396" y="4775933"/>
            <a:ext cx="1087156" cy="1081073"/>
          </a:xfrm>
          <a:prstGeom prst="roundRect">
            <a:avLst>
              <a:gd name="adj" fmla="val 8240"/>
            </a:avLst>
          </a:prstGeom>
          <a:solidFill>
            <a:schemeClr val="accent5">
              <a:lumMod val="20000"/>
              <a:lumOff val="80000"/>
              <a:alpha val="20000"/>
            </a:schemeClr>
          </a:solidFill>
          <a:ln>
            <a:solidFill>
              <a:schemeClr val="accent5">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49" name="任意多边形: 形状 240"/>
          <p:cNvSpPr/>
          <p:nvPr/>
        </p:nvSpPr>
        <p:spPr>
          <a:xfrm>
            <a:off x="10502396" y="4779446"/>
            <a:ext cx="1087156" cy="322421"/>
          </a:xfrm>
          <a:custGeom>
            <a:avLst/>
            <a:gdLst>
              <a:gd name="connsiteX0" fmla="*/ 89582 w 1087156"/>
              <a:gd name="connsiteY0" fmla="*/ 0 h 322421"/>
              <a:gd name="connsiteX1" fmla="*/ 997574 w 1087156"/>
              <a:gd name="connsiteY1" fmla="*/ 0 h 322421"/>
              <a:gd name="connsiteX2" fmla="*/ 1087156 w 1087156"/>
              <a:gd name="connsiteY2" fmla="*/ 89582 h 322421"/>
              <a:gd name="connsiteX3" fmla="*/ 1087156 w 1087156"/>
              <a:gd name="connsiteY3" fmla="*/ 322421 h 322421"/>
              <a:gd name="connsiteX4" fmla="*/ 0 w 1087156"/>
              <a:gd name="connsiteY4" fmla="*/ 322421 h 322421"/>
              <a:gd name="connsiteX5" fmla="*/ 0 w 1087156"/>
              <a:gd name="connsiteY5" fmla="*/ 89582 h 322421"/>
              <a:gd name="connsiteX6" fmla="*/ 89582 w 1087156"/>
              <a:gd name="connsiteY6" fmla="*/ 0 h 32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7156" h="322421">
                <a:moveTo>
                  <a:pt x="89582" y="0"/>
                </a:moveTo>
                <a:lnTo>
                  <a:pt x="997574" y="0"/>
                </a:lnTo>
                <a:cubicBezTo>
                  <a:pt x="1047049" y="0"/>
                  <a:pt x="1087156" y="40107"/>
                  <a:pt x="1087156" y="89582"/>
                </a:cubicBezTo>
                <a:lnTo>
                  <a:pt x="1087156" y="322421"/>
                </a:lnTo>
                <a:lnTo>
                  <a:pt x="0" y="322421"/>
                </a:lnTo>
                <a:lnTo>
                  <a:pt x="0" y="89582"/>
                </a:lnTo>
                <a:cubicBezTo>
                  <a:pt x="0" y="40107"/>
                  <a:pt x="40107" y="0"/>
                  <a:pt x="89582" y="0"/>
                </a:cubicBezTo>
                <a:close/>
              </a:path>
            </a:pathLst>
          </a:custGeom>
          <a:gradFill>
            <a:gsLst>
              <a:gs pos="0">
                <a:schemeClr val="accent5">
                  <a:lumMod val="60000"/>
                  <a:lumOff val="40000"/>
                </a:schemeClr>
              </a:gs>
              <a:gs pos="100000">
                <a:schemeClr val="accent5"/>
              </a:gs>
            </a:gsLst>
            <a:lin ang="162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50" name="文本框 149"/>
          <p:cNvSpPr txBox="1"/>
          <p:nvPr/>
        </p:nvSpPr>
        <p:spPr>
          <a:xfrm>
            <a:off x="10694579" y="4895051"/>
            <a:ext cx="702790"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会员互换</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151" name="文本框 150"/>
          <p:cNvSpPr txBox="1"/>
          <p:nvPr/>
        </p:nvSpPr>
        <p:spPr>
          <a:xfrm>
            <a:off x="10869668" y="4757032"/>
            <a:ext cx="364731"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08</a:t>
            </a:r>
            <a:endParaRPr lang="en-US" altLang="zh-CN" sz="900" dirty="0">
              <a:latin typeface="微软雅黑" panose="020B0503020204020204" charset="-122"/>
              <a:ea typeface="微软雅黑" panose="020B0503020204020204" charset="-122"/>
              <a:cs typeface="微软雅黑" panose="020B0503020204020204" charset="-122"/>
            </a:endParaRPr>
          </a:p>
        </p:txBody>
      </p:sp>
      <p:sp>
        <p:nvSpPr>
          <p:cNvPr id="152" name="文本框 151"/>
          <p:cNvSpPr txBox="1"/>
          <p:nvPr/>
        </p:nvSpPr>
        <p:spPr>
          <a:xfrm>
            <a:off x="10693695" y="5406936"/>
            <a:ext cx="697628"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异业合作</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6" name="任意多边形: 形状 248"/>
          <p:cNvSpPr/>
          <p:nvPr/>
        </p:nvSpPr>
        <p:spPr>
          <a:xfrm>
            <a:off x="8648723" y="4317995"/>
            <a:ext cx="1552852" cy="322421"/>
          </a:xfrm>
          <a:custGeom>
            <a:avLst/>
            <a:gdLst>
              <a:gd name="connsiteX0" fmla="*/ 89582 w 1087156"/>
              <a:gd name="connsiteY0" fmla="*/ 0 h 322421"/>
              <a:gd name="connsiteX1" fmla="*/ 997574 w 1087156"/>
              <a:gd name="connsiteY1" fmla="*/ 0 h 322421"/>
              <a:gd name="connsiteX2" fmla="*/ 1087156 w 1087156"/>
              <a:gd name="connsiteY2" fmla="*/ 89582 h 322421"/>
              <a:gd name="connsiteX3" fmla="*/ 1087156 w 1087156"/>
              <a:gd name="connsiteY3" fmla="*/ 322421 h 322421"/>
              <a:gd name="connsiteX4" fmla="*/ 0 w 1087156"/>
              <a:gd name="connsiteY4" fmla="*/ 322421 h 322421"/>
              <a:gd name="connsiteX5" fmla="*/ 0 w 1087156"/>
              <a:gd name="connsiteY5" fmla="*/ 89582 h 322421"/>
              <a:gd name="connsiteX6" fmla="*/ 89582 w 1087156"/>
              <a:gd name="connsiteY6" fmla="*/ 0 h 32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7156" h="322421">
                <a:moveTo>
                  <a:pt x="89582" y="0"/>
                </a:moveTo>
                <a:lnTo>
                  <a:pt x="997574" y="0"/>
                </a:lnTo>
                <a:cubicBezTo>
                  <a:pt x="1047049" y="0"/>
                  <a:pt x="1087156" y="40107"/>
                  <a:pt x="1087156" y="89582"/>
                </a:cubicBezTo>
                <a:lnTo>
                  <a:pt x="1087156" y="322421"/>
                </a:lnTo>
                <a:lnTo>
                  <a:pt x="0" y="322421"/>
                </a:lnTo>
                <a:lnTo>
                  <a:pt x="0" y="89582"/>
                </a:lnTo>
                <a:cubicBezTo>
                  <a:pt x="0" y="40107"/>
                  <a:pt x="40107" y="0"/>
                  <a:pt x="89582" y="0"/>
                </a:cubicBezTo>
                <a:close/>
              </a:path>
            </a:pathLst>
          </a:custGeom>
          <a:gradFill>
            <a:gsLst>
              <a:gs pos="0">
                <a:schemeClr val="accent5">
                  <a:lumMod val="60000"/>
                  <a:lumOff val="40000"/>
                </a:schemeClr>
              </a:gs>
              <a:gs pos="100000">
                <a:schemeClr val="accent5"/>
              </a:gs>
            </a:gsLst>
            <a:lin ang="162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57" name="文本框 156"/>
          <p:cNvSpPr txBox="1"/>
          <p:nvPr/>
        </p:nvSpPr>
        <p:spPr>
          <a:xfrm>
            <a:off x="9104679" y="4433600"/>
            <a:ext cx="702790"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积分</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158" name="文本框 157"/>
          <p:cNvSpPr txBox="1"/>
          <p:nvPr/>
        </p:nvSpPr>
        <p:spPr>
          <a:xfrm>
            <a:off x="9279768" y="4295581"/>
            <a:ext cx="364731"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07</a:t>
            </a:r>
            <a:endParaRPr lang="en-US" altLang="zh-CN" sz="900" dirty="0">
              <a:latin typeface="微软雅黑" panose="020B0503020204020204" charset="-122"/>
              <a:ea typeface="微软雅黑" panose="020B0503020204020204" charset="-122"/>
              <a:cs typeface="微软雅黑" panose="020B0503020204020204" charset="-122"/>
            </a:endParaRPr>
          </a:p>
        </p:txBody>
      </p:sp>
      <p:sp>
        <p:nvSpPr>
          <p:cNvPr id="164" name="文本框 163"/>
          <p:cNvSpPr txBox="1"/>
          <p:nvPr/>
        </p:nvSpPr>
        <p:spPr>
          <a:xfrm>
            <a:off x="9076335" y="5192107"/>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积分商城</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5" name="文本框 164"/>
          <p:cNvSpPr txBox="1"/>
          <p:nvPr/>
        </p:nvSpPr>
        <p:spPr>
          <a:xfrm>
            <a:off x="9076337" y="5480007"/>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全易兑换</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6" name="矩形: 圆角 257"/>
          <p:cNvSpPr/>
          <p:nvPr/>
        </p:nvSpPr>
        <p:spPr>
          <a:xfrm>
            <a:off x="3484245" y="4719320"/>
            <a:ext cx="4559935" cy="635635"/>
          </a:xfrm>
          <a:prstGeom prst="roundRect">
            <a:avLst>
              <a:gd name="adj" fmla="val 8240"/>
            </a:avLst>
          </a:prstGeom>
          <a:solidFill>
            <a:schemeClr val="accent1">
              <a:lumMod val="20000"/>
              <a:lumOff val="80000"/>
              <a:alpha val="20000"/>
            </a:schemeClr>
          </a:solidFill>
          <a:ln>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7" name="矩形: 圆角 258"/>
          <p:cNvSpPr/>
          <p:nvPr/>
        </p:nvSpPr>
        <p:spPr>
          <a:xfrm>
            <a:off x="3486785" y="5488940"/>
            <a:ext cx="4556760" cy="909955"/>
          </a:xfrm>
          <a:prstGeom prst="roundRect">
            <a:avLst>
              <a:gd name="adj" fmla="val 8240"/>
            </a:avLst>
          </a:prstGeom>
          <a:solidFill>
            <a:schemeClr val="accent1">
              <a:lumMod val="20000"/>
              <a:lumOff val="80000"/>
              <a:alpha val="20000"/>
            </a:schemeClr>
          </a:solidFill>
          <a:ln>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9" name="文本框 168"/>
          <p:cNvSpPr txBox="1"/>
          <p:nvPr/>
        </p:nvSpPr>
        <p:spPr>
          <a:xfrm>
            <a:off x="5434608" y="1099382"/>
            <a:ext cx="864235" cy="275590"/>
          </a:xfrm>
          <a:prstGeom prst="rect">
            <a:avLst/>
          </a:prstGeom>
          <a:noFill/>
          <a:ln>
            <a:noFill/>
          </a:ln>
        </p:spPr>
        <p:txBody>
          <a:bodyPr wrap="none" rtlCol="0">
            <a:spAutoFit/>
          </a:bodyPr>
          <a:lstStyle>
            <a:defPPr>
              <a:defRPr lang="zh-CN"/>
            </a:defPPr>
            <a:lvl1pPr>
              <a:defRPr sz="1600">
                <a:solidFill>
                  <a:schemeClr val="accent1"/>
                </a:solidFill>
              </a:defRPr>
            </a:lvl1pPr>
          </a:lstStyle>
          <a:p>
            <a:pPr lvl="0" algn="ctr">
              <a:buClrTx/>
              <a:buSzTx/>
              <a:buFontTx/>
            </a:pP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sym typeface="+mn-ea"/>
              </a:rPr>
              <a:t>激活</a:t>
            </a: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sym typeface="+mn-ea"/>
              </a:rPr>
              <a:t>留存</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70" name="文本框 169"/>
          <p:cNvSpPr txBox="1"/>
          <p:nvPr/>
        </p:nvSpPr>
        <p:spPr>
          <a:xfrm>
            <a:off x="1379579" y="1099382"/>
            <a:ext cx="488950" cy="275590"/>
          </a:xfrm>
          <a:prstGeom prst="rect">
            <a:avLst/>
          </a:prstGeom>
          <a:noFill/>
          <a:ln>
            <a:noFill/>
          </a:ln>
        </p:spPr>
        <p:txBody>
          <a:bodyPr wrap="none" rtlCol="0">
            <a:spAutoFit/>
          </a:bodyPr>
          <a:lstStyle>
            <a:defPPr>
              <a:defRPr lang="zh-CN"/>
            </a:defPPr>
            <a:lvl1pPr>
              <a:defRPr sz="1600">
                <a:solidFill>
                  <a:schemeClr val="accent1"/>
                </a:solidFill>
              </a:defRPr>
            </a:lvl1pPr>
          </a:lstStyle>
          <a:p>
            <a:pPr algn="ct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拉新</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2" name="文本框 171"/>
          <p:cNvSpPr txBox="1"/>
          <p:nvPr/>
        </p:nvSpPr>
        <p:spPr>
          <a:xfrm>
            <a:off x="9636226" y="1099382"/>
            <a:ext cx="864235" cy="275590"/>
          </a:xfrm>
          <a:prstGeom prst="rect">
            <a:avLst/>
          </a:prstGeom>
          <a:noFill/>
          <a:ln>
            <a:noFill/>
          </a:ln>
        </p:spPr>
        <p:txBody>
          <a:bodyPr wrap="none" rtlCol="0">
            <a:spAutoFit/>
          </a:bodyPr>
          <a:lstStyle>
            <a:defPPr>
              <a:defRPr lang="zh-CN"/>
            </a:defPPr>
            <a:lvl1pPr>
              <a:defRPr sz="1600">
                <a:solidFill>
                  <a:schemeClr val="accent1"/>
                </a:solidFill>
              </a:defRPr>
            </a:lvl1pPr>
          </a:lstStyle>
          <a:p>
            <a:pPr lvl="0" algn="ctr">
              <a:buClrTx/>
              <a:buSzTx/>
              <a:buFontTx/>
            </a:pP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sym typeface="+mn-ea"/>
              </a:rPr>
              <a:t>变现</a:t>
            </a: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sym typeface="+mn-ea"/>
              </a:rPr>
              <a:t>推荐</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174" name="直接箭头连接符 173"/>
          <p:cNvCxnSpPr/>
          <p:nvPr/>
        </p:nvCxnSpPr>
        <p:spPr>
          <a:xfrm flipV="1">
            <a:off x="1949558" y="1211920"/>
            <a:ext cx="984250" cy="3810"/>
          </a:xfrm>
          <a:prstGeom prst="straightConnector1">
            <a:avLst/>
          </a:prstGeom>
          <a:ln>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5" name="直接箭头连接符 174"/>
          <p:cNvCxnSpPr/>
          <p:nvPr/>
        </p:nvCxnSpPr>
        <p:spPr>
          <a:xfrm flipH="1">
            <a:off x="464702" y="1215730"/>
            <a:ext cx="913130" cy="0"/>
          </a:xfrm>
          <a:prstGeom prst="straightConnector1">
            <a:avLst/>
          </a:prstGeom>
          <a:ln>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0" name="直接箭头连接符 179"/>
          <p:cNvCxnSpPr/>
          <p:nvPr/>
        </p:nvCxnSpPr>
        <p:spPr>
          <a:xfrm>
            <a:off x="6295689" y="1215730"/>
            <a:ext cx="2108082" cy="0"/>
          </a:xfrm>
          <a:prstGeom prst="straightConnector1">
            <a:avLst/>
          </a:prstGeom>
          <a:ln>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3" name="直接箭头连接符 192"/>
          <p:cNvCxnSpPr/>
          <p:nvPr/>
        </p:nvCxnSpPr>
        <p:spPr>
          <a:xfrm flipH="1">
            <a:off x="3066921" y="1215730"/>
            <a:ext cx="2303145" cy="0"/>
          </a:xfrm>
          <a:prstGeom prst="straightConnector1">
            <a:avLst/>
          </a:prstGeom>
          <a:ln>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8" name="直接箭头连接符 207"/>
          <p:cNvCxnSpPr/>
          <p:nvPr/>
        </p:nvCxnSpPr>
        <p:spPr>
          <a:xfrm>
            <a:off x="10527741" y="1215730"/>
            <a:ext cx="1026160" cy="0"/>
          </a:xfrm>
          <a:prstGeom prst="straightConnector1">
            <a:avLst/>
          </a:prstGeom>
          <a:ln>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4" name="直接箭头连接符 313"/>
          <p:cNvCxnSpPr/>
          <p:nvPr/>
        </p:nvCxnSpPr>
        <p:spPr>
          <a:xfrm flipH="1">
            <a:off x="8510588" y="1215730"/>
            <a:ext cx="1044575" cy="0"/>
          </a:xfrm>
          <a:prstGeom prst="straightConnector1">
            <a:avLst/>
          </a:prstGeom>
          <a:ln>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5" name="任意多边形: 形状 280"/>
          <p:cNvSpPr/>
          <p:nvPr/>
        </p:nvSpPr>
        <p:spPr>
          <a:xfrm>
            <a:off x="3862705" y="3529965"/>
            <a:ext cx="429895" cy="50292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17" name="文本框 316"/>
          <p:cNvSpPr txBox="1"/>
          <p:nvPr/>
        </p:nvSpPr>
        <p:spPr>
          <a:xfrm>
            <a:off x="3745412" y="4942749"/>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发布内容</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8" name="文本框 317"/>
          <p:cNvSpPr txBox="1"/>
          <p:nvPr/>
        </p:nvSpPr>
        <p:spPr>
          <a:xfrm>
            <a:off x="4698928" y="4942749"/>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粉丝互动</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9" name="文本框 318"/>
          <p:cNvSpPr txBox="1"/>
          <p:nvPr/>
        </p:nvSpPr>
        <p:spPr>
          <a:xfrm>
            <a:off x="5652443" y="4942749"/>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组织管理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0" name="文本框 319"/>
          <p:cNvSpPr txBox="1"/>
          <p:nvPr/>
        </p:nvSpPr>
        <p:spPr>
          <a:xfrm>
            <a:off x="6605958" y="4942749"/>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奖励收获</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1" name="文本框 320"/>
          <p:cNvSpPr txBox="1"/>
          <p:nvPr/>
        </p:nvSpPr>
        <p:spPr>
          <a:xfrm>
            <a:off x="3782863" y="5621853"/>
            <a:ext cx="56938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大曝光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2" name="文本框 321"/>
          <p:cNvSpPr txBox="1"/>
          <p:nvPr/>
        </p:nvSpPr>
        <p:spPr>
          <a:xfrm>
            <a:off x="4672259" y="5621853"/>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活动运营</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4" name="文本框 323"/>
          <p:cNvSpPr txBox="1"/>
          <p:nvPr/>
        </p:nvSpPr>
        <p:spPr>
          <a:xfrm>
            <a:off x="5625773" y="5621853"/>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粉丝增长</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5" name="文本框 324"/>
          <p:cNvSpPr txBox="1"/>
          <p:nvPr/>
        </p:nvSpPr>
        <p:spPr>
          <a:xfrm>
            <a:off x="6579288" y="5621853"/>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流量广告</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9" name="文本框 328"/>
          <p:cNvSpPr txBox="1"/>
          <p:nvPr/>
        </p:nvSpPr>
        <p:spPr>
          <a:xfrm>
            <a:off x="3718744" y="6099736"/>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分群曝光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0" name="文本框 329"/>
          <p:cNvSpPr txBox="1"/>
          <p:nvPr/>
        </p:nvSpPr>
        <p:spPr>
          <a:xfrm>
            <a:off x="4686685" y="6099736"/>
            <a:ext cx="668774"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定位</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KOL</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1" name="文本框 330"/>
          <p:cNvSpPr txBox="1"/>
          <p:nvPr/>
        </p:nvSpPr>
        <p:spPr>
          <a:xfrm>
            <a:off x="5625773" y="6099736"/>
            <a:ext cx="69762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粉丝培育</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2" name="文本框 331"/>
          <p:cNvSpPr txBox="1"/>
          <p:nvPr/>
        </p:nvSpPr>
        <p:spPr>
          <a:xfrm>
            <a:off x="6643409" y="6099736"/>
            <a:ext cx="569387" cy="246221"/>
          </a:xfrm>
          <a:prstGeom prst="rect">
            <a:avLst/>
          </a:prstGeom>
          <a:noFill/>
        </p:spPr>
        <p:txBody>
          <a:bodyPr wrap="non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用户池</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3" name="右大括号 332"/>
          <p:cNvSpPr/>
          <p:nvPr/>
        </p:nvSpPr>
        <p:spPr>
          <a:xfrm>
            <a:off x="1691386" y="2006600"/>
            <a:ext cx="222565" cy="2095916"/>
          </a:xfrm>
          <a:prstGeom prst="rightBrace">
            <a:avLst>
              <a:gd name="adj1" fmla="val 53950"/>
              <a:gd name="adj2" fmla="val 50000"/>
            </a:avLst>
          </a:prstGeom>
          <a:noFill/>
          <a:ln w="12700">
            <a:solidFill>
              <a:schemeClr val="tx2">
                <a:alpha val="7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334" name="右大括号 333"/>
          <p:cNvSpPr/>
          <p:nvPr/>
        </p:nvSpPr>
        <p:spPr>
          <a:xfrm>
            <a:off x="1691386" y="5192106"/>
            <a:ext cx="222565" cy="320327"/>
          </a:xfrm>
          <a:prstGeom prst="rightBrace">
            <a:avLst>
              <a:gd name="adj1" fmla="val 18863"/>
              <a:gd name="adj2" fmla="val 50000"/>
            </a:avLst>
          </a:prstGeom>
          <a:noFill/>
          <a:ln w="12700">
            <a:solidFill>
              <a:schemeClr val="tx2">
                <a:alpha val="7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335" name="椭圆 334"/>
          <p:cNvSpPr/>
          <p:nvPr/>
        </p:nvSpPr>
        <p:spPr>
          <a:xfrm>
            <a:off x="3657600" y="2476485"/>
            <a:ext cx="51726" cy="5172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6" name="椭圆 335"/>
          <p:cNvSpPr/>
          <p:nvPr/>
        </p:nvSpPr>
        <p:spPr>
          <a:xfrm>
            <a:off x="3657600" y="2776720"/>
            <a:ext cx="51726" cy="5172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7" name="椭圆 336"/>
          <p:cNvSpPr/>
          <p:nvPr/>
        </p:nvSpPr>
        <p:spPr>
          <a:xfrm>
            <a:off x="3657600" y="3056967"/>
            <a:ext cx="51726" cy="5172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8" name="椭圆 337"/>
          <p:cNvSpPr/>
          <p:nvPr/>
        </p:nvSpPr>
        <p:spPr>
          <a:xfrm>
            <a:off x="3657600" y="3366278"/>
            <a:ext cx="51726" cy="5172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39" name="连接符: 曲线 325"/>
          <p:cNvCxnSpPr>
            <a:stCxn id="102" idx="3"/>
            <a:endCxn id="166" idx="1"/>
          </p:cNvCxnSpPr>
          <p:nvPr/>
        </p:nvCxnSpPr>
        <p:spPr>
          <a:xfrm flipV="1">
            <a:off x="2836545" y="5037455"/>
            <a:ext cx="647700" cy="363855"/>
          </a:xfrm>
          <a:prstGeom prst="curvedConnector3">
            <a:avLst>
              <a:gd name="adj1" fmla="val 50000"/>
            </a:avLst>
          </a:prstGeom>
          <a:ln>
            <a:solidFill>
              <a:schemeClr val="tx2">
                <a:alpha val="7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0" name="连接符: 曲线 327"/>
          <p:cNvCxnSpPr>
            <a:stCxn id="35" idx="3"/>
            <a:endCxn id="126" idx="1"/>
          </p:cNvCxnSpPr>
          <p:nvPr/>
        </p:nvCxnSpPr>
        <p:spPr>
          <a:xfrm>
            <a:off x="8215630" y="2001520"/>
            <a:ext cx="433070" cy="575310"/>
          </a:xfrm>
          <a:prstGeom prst="curvedConnector3">
            <a:avLst>
              <a:gd name="adj1" fmla="val 50000"/>
            </a:avLst>
          </a:prstGeom>
          <a:ln>
            <a:solidFill>
              <a:schemeClr val="tx2">
                <a:alpha val="7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1" name="连接符: 曲线 329"/>
          <p:cNvCxnSpPr>
            <a:stCxn id="109" idx="3"/>
          </p:cNvCxnSpPr>
          <p:nvPr/>
        </p:nvCxnSpPr>
        <p:spPr>
          <a:xfrm flipV="1">
            <a:off x="8215339" y="2845516"/>
            <a:ext cx="427612" cy="340813"/>
          </a:xfrm>
          <a:prstGeom prst="curvedConnector3">
            <a:avLst>
              <a:gd name="adj1" fmla="val 50000"/>
            </a:avLst>
          </a:prstGeom>
          <a:ln>
            <a:solidFill>
              <a:schemeClr val="tx2">
                <a:alpha val="7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2" name="连接符: 曲线 333"/>
          <p:cNvCxnSpPr>
            <a:stCxn id="166" idx="3"/>
            <a:endCxn id="155" idx="1"/>
          </p:cNvCxnSpPr>
          <p:nvPr/>
        </p:nvCxnSpPr>
        <p:spPr>
          <a:xfrm>
            <a:off x="8044180" y="5037455"/>
            <a:ext cx="604520" cy="50165"/>
          </a:xfrm>
          <a:prstGeom prst="curvedConnector3">
            <a:avLst>
              <a:gd name="adj1" fmla="val 50000"/>
            </a:avLst>
          </a:prstGeom>
          <a:ln>
            <a:solidFill>
              <a:schemeClr val="tx2">
                <a:alpha val="7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6" name="连接符: 曲线 345"/>
          <p:cNvCxnSpPr>
            <a:stCxn id="126" idx="3"/>
            <a:endCxn id="228" idx="1"/>
          </p:cNvCxnSpPr>
          <p:nvPr/>
        </p:nvCxnSpPr>
        <p:spPr>
          <a:xfrm>
            <a:off x="10201275" y="2576830"/>
            <a:ext cx="326390" cy="388620"/>
          </a:xfrm>
          <a:prstGeom prst="curvedConnector3">
            <a:avLst>
              <a:gd name="adj1" fmla="val 50000"/>
            </a:avLst>
          </a:prstGeom>
          <a:ln>
            <a:solidFill>
              <a:schemeClr val="tx2">
                <a:alpha val="70000"/>
              </a:schemeClr>
            </a:solidFill>
            <a:prstDash val="dash"/>
            <a:tailEnd type="triangle" w="sm" len="sm"/>
          </a:ln>
        </p:spPr>
        <p:style>
          <a:lnRef idx="1">
            <a:schemeClr val="accent1"/>
          </a:lnRef>
          <a:fillRef idx="0">
            <a:schemeClr val="accent1"/>
          </a:fillRef>
          <a:effectRef idx="0">
            <a:schemeClr val="accent1"/>
          </a:effectRef>
          <a:fontRef idx="minor">
            <a:schemeClr val="tx1"/>
          </a:fontRef>
        </p:style>
      </p:cxnSp>
      <p:cxnSp>
        <p:nvCxnSpPr>
          <p:cNvPr id="349" name="连接符: 曲线 348"/>
          <p:cNvCxnSpPr>
            <a:stCxn id="155" idx="3"/>
            <a:endCxn id="228" idx="1"/>
          </p:cNvCxnSpPr>
          <p:nvPr/>
        </p:nvCxnSpPr>
        <p:spPr>
          <a:xfrm flipV="1">
            <a:off x="10201275" y="2965450"/>
            <a:ext cx="326390" cy="2122170"/>
          </a:xfrm>
          <a:prstGeom prst="curvedConnector3">
            <a:avLst>
              <a:gd name="adj1" fmla="val 50000"/>
            </a:avLst>
          </a:prstGeom>
          <a:ln>
            <a:solidFill>
              <a:schemeClr val="tx2">
                <a:alpha val="7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352" name="连接符: 曲线 351"/>
          <p:cNvCxnSpPr>
            <a:endCxn id="140" idx="1"/>
          </p:cNvCxnSpPr>
          <p:nvPr/>
        </p:nvCxnSpPr>
        <p:spPr>
          <a:xfrm>
            <a:off x="10290447" y="5248204"/>
            <a:ext cx="211949" cy="68266"/>
          </a:xfrm>
          <a:prstGeom prst="curvedConnector3">
            <a:avLst>
              <a:gd name="adj1" fmla="val 50000"/>
            </a:avLst>
          </a:prstGeom>
          <a:ln>
            <a:solidFill>
              <a:schemeClr val="tx2">
                <a:alpha val="7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72" name="任意多边形: 形状 371"/>
          <p:cNvSpPr/>
          <p:nvPr/>
        </p:nvSpPr>
        <p:spPr>
          <a:xfrm>
            <a:off x="5326360" y="2648823"/>
            <a:ext cx="2888980" cy="326128"/>
          </a:xfrm>
          <a:custGeom>
            <a:avLst/>
            <a:gdLst>
              <a:gd name="connsiteX0" fmla="*/ 81045 w 2888980"/>
              <a:gd name="connsiteY0" fmla="*/ 0 h 326128"/>
              <a:gd name="connsiteX1" fmla="*/ 2807935 w 2888980"/>
              <a:gd name="connsiteY1" fmla="*/ 0 h 326128"/>
              <a:gd name="connsiteX2" fmla="*/ 2888980 w 2888980"/>
              <a:gd name="connsiteY2" fmla="*/ 81045 h 326128"/>
              <a:gd name="connsiteX3" fmla="*/ 2888980 w 2888980"/>
              <a:gd name="connsiteY3" fmla="*/ 326128 h 326128"/>
              <a:gd name="connsiteX4" fmla="*/ 0 w 2888980"/>
              <a:gd name="connsiteY4" fmla="*/ 326128 h 326128"/>
              <a:gd name="connsiteX5" fmla="*/ 0 w 2888980"/>
              <a:gd name="connsiteY5" fmla="*/ 81045 h 326128"/>
              <a:gd name="connsiteX6" fmla="*/ 81045 w 2888980"/>
              <a:gd name="connsiteY6" fmla="*/ 0 h 32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980" h="326128">
                <a:moveTo>
                  <a:pt x="81045" y="0"/>
                </a:moveTo>
                <a:lnTo>
                  <a:pt x="2807935" y="0"/>
                </a:lnTo>
                <a:cubicBezTo>
                  <a:pt x="2852695" y="0"/>
                  <a:pt x="2888980" y="36285"/>
                  <a:pt x="2888980" y="81045"/>
                </a:cubicBezTo>
                <a:lnTo>
                  <a:pt x="2888980" y="326128"/>
                </a:lnTo>
                <a:lnTo>
                  <a:pt x="0" y="326128"/>
                </a:lnTo>
                <a:lnTo>
                  <a:pt x="0" y="81045"/>
                </a:lnTo>
                <a:cubicBezTo>
                  <a:pt x="0" y="36285"/>
                  <a:pt x="36285" y="0"/>
                  <a:pt x="81045" y="0"/>
                </a:cubicBezTo>
                <a:close/>
              </a:path>
            </a:pathLst>
          </a:custGeom>
          <a:gradFill flip="none" rotWithShape="1">
            <a:gsLst>
              <a:gs pos="0">
                <a:schemeClr val="accent1">
                  <a:lumMod val="60000"/>
                  <a:lumOff val="40000"/>
                </a:schemeClr>
              </a:gs>
              <a:gs pos="100000">
                <a:schemeClr val="accent1">
                  <a:lumMod val="40000"/>
                  <a:lumOff val="6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73" name="文本框 372"/>
          <p:cNvSpPr txBox="1"/>
          <p:nvPr/>
        </p:nvSpPr>
        <p:spPr>
          <a:xfrm>
            <a:off x="6440950" y="2764428"/>
            <a:ext cx="702790"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社交体系</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374" name="文本框 373"/>
          <p:cNvSpPr txBox="1"/>
          <p:nvPr/>
        </p:nvSpPr>
        <p:spPr>
          <a:xfrm>
            <a:off x="6616039" y="2626409"/>
            <a:ext cx="364731" cy="230832"/>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05</a:t>
            </a:r>
            <a:endParaRPr lang="en-US" altLang="zh-CN" sz="900" dirty="0">
              <a:latin typeface="微软雅黑" panose="020B0503020204020204" charset="-122"/>
              <a:ea typeface="微软雅黑" panose="020B0503020204020204" charset="-122"/>
              <a:cs typeface="微软雅黑" panose="020B0503020204020204" charset="-122"/>
            </a:endParaRPr>
          </a:p>
        </p:txBody>
      </p:sp>
      <p:grpSp>
        <p:nvGrpSpPr>
          <p:cNvPr id="3" name="组合 2"/>
          <p:cNvGrpSpPr/>
          <p:nvPr/>
        </p:nvGrpSpPr>
        <p:grpSpPr>
          <a:xfrm>
            <a:off x="439420" y="4598670"/>
            <a:ext cx="1087120" cy="368935"/>
            <a:chOff x="692" y="7242"/>
            <a:chExt cx="1712" cy="581"/>
          </a:xfrm>
        </p:grpSpPr>
        <p:sp>
          <p:nvSpPr>
            <p:cNvPr id="377" name="任意多边形: 形状 376"/>
            <p:cNvSpPr/>
            <p:nvPr/>
          </p:nvSpPr>
          <p:spPr>
            <a:xfrm>
              <a:off x="692" y="7277"/>
              <a:ext cx="1712" cy="508"/>
            </a:xfrm>
            <a:custGeom>
              <a:avLst/>
              <a:gdLst>
                <a:gd name="connsiteX0" fmla="*/ 89582 w 1087156"/>
                <a:gd name="connsiteY0" fmla="*/ 0 h 322421"/>
                <a:gd name="connsiteX1" fmla="*/ 997574 w 1087156"/>
                <a:gd name="connsiteY1" fmla="*/ 0 h 322421"/>
                <a:gd name="connsiteX2" fmla="*/ 1087156 w 1087156"/>
                <a:gd name="connsiteY2" fmla="*/ 89582 h 322421"/>
                <a:gd name="connsiteX3" fmla="*/ 1087156 w 1087156"/>
                <a:gd name="connsiteY3" fmla="*/ 322421 h 322421"/>
                <a:gd name="connsiteX4" fmla="*/ 0 w 1087156"/>
                <a:gd name="connsiteY4" fmla="*/ 322421 h 322421"/>
                <a:gd name="connsiteX5" fmla="*/ 0 w 1087156"/>
                <a:gd name="connsiteY5" fmla="*/ 89582 h 322421"/>
                <a:gd name="connsiteX6" fmla="*/ 89582 w 1087156"/>
                <a:gd name="connsiteY6" fmla="*/ 0 h 32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7156" h="322421">
                  <a:moveTo>
                    <a:pt x="89582" y="0"/>
                  </a:moveTo>
                  <a:lnTo>
                    <a:pt x="997574" y="0"/>
                  </a:lnTo>
                  <a:cubicBezTo>
                    <a:pt x="1047049" y="0"/>
                    <a:pt x="1087156" y="40107"/>
                    <a:pt x="1087156" y="89582"/>
                  </a:cubicBezTo>
                  <a:lnTo>
                    <a:pt x="1087156" y="322421"/>
                  </a:lnTo>
                  <a:lnTo>
                    <a:pt x="0" y="322421"/>
                  </a:lnTo>
                  <a:lnTo>
                    <a:pt x="0" y="89582"/>
                  </a:lnTo>
                  <a:cubicBezTo>
                    <a:pt x="0" y="40107"/>
                    <a:pt x="40107" y="0"/>
                    <a:pt x="89582" y="0"/>
                  </a:cubicBezTo>
                  <a:close/>
                </a:path>
              </a:pathLst>
            </a:custGeom>
            <a:gradFill>
              <a:gsLst>
                <a:gs pos="100000">
                  <a:schemeClr val="accent1">
                    <a:lumMod val="60000"/>
                    <a:lumOff val="40000"/>
                  </a:schemeClr>
                </a:gs>
                <a:gs pos="9000">
                  <a:schemeClr val="accent1"/>
                </a:gs>
              </a:gsLst>
              <a:lin ang="27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78" name="文本框 377"/>
            <p:cNvSpPr txBox="1"/>
            <p:nvPr/>
          </p:nvSpPr>
          <p:spPr>
            <a:xfrm>
              <a:off x="994" y="7459"/>
              <a:ext cx="1107" cy="364"/>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zh-CN" altLang="en-US" sz="900" dirty="0">
                  <a:latin typeface="微软雅黑" panose="020B0503020204020204" charset="-122"/>
                  <a:ea typeface="微软雅黑" panose="020B0503020204020204" charset="-122"/>
                  <a:cs typeface="微软雅黑" panose="020B0503020204020204" charset="-122"/>
                </a:rPr>
                <a:t>线下</a:t>
              </a:r>
              <a:endParaRPr lang="zh-CN" altLang="en-US" sz="900" dirty="0">
                <a:latin typeface="微软雅黑" panose="020B0503020204020204" charset="-122"/>
                <a:ea typeface="微软雅黑" panose="020B0503020204020204" charset="-122"/>
                <a:cs typeface="微软雅黑" panose="020B0503020204020204" charset="-122"/>
              </a:endParaRPr>
            </a:p>
          </p:txBody>
        </p:sp>
        <p:sp>
          <p:nvSpPr>
            <p:cNvPr id="379" name="文本框 378"/>
            <p:cNvSpPr txBox="1"/>
            <p:nvPr/>
          </p:nvSpPr>
          <p:spPr>
            <a:xfrm>
              <a:off x="1270" y="7242"/>
              <a:ext cx="574" cy="364"/>
            </a:xfrm>
            <a:prstGeom prst="rect">
              <a:avLst/>
            </a:prstGeom>
            <a:noFill/>
          </p:spPr>
          <p:txBody>
            <a:bodyPr wrap="square" rtlCol="0">
              <a:spAutoFit/>
            </a:bodyPr>
            <a:lstStyle>
              <a:defPPr>
                <a:defRPr lang="zh-CN"/>
              </a:defPPr>
              <a:lvl1pPr algn="ctr">
                <a:defRPr>
                  <a:solidFill>
                    <a:schemeClr val="bg1"/>
                  </a:solidFill>
                  <a:latin typeface="+mj-ea"/>
                  <a:ea typeface="+mj-ea"/>
                </a:defRPr>
              </a:lvl1pPr>
            </a:lstStyle>
            <a:p>
              <a:r>
                <a:rPr lang="en-US" altLang="zh-CN" sz="900" dirty="0">
                  <a:latin typeface="微软雅黑" panose="020B0503020204020204" charset="-122"/>
                  <a:ea typeface="微软雅黑" panose="020B0503020204020204" charset="-122"/>
                  <a:cs typeface="微软雅黑" panose="020B0503020204020204" charset="-122"/>
                </a:rPr>
                <a:t>02</a:t>
              </a:r>
              <a:endParaRPr lang="en-US" altLang="zh-CN" sz="900" dirty="0">
                <a:latin typeface="微软雅黑" panose="020B0503020204020204" charset="-122"/>
                <a:ea typeface="微软雅黑" panose="020B0503020204020204" charset="-122"/>
                <a:cs typeface="微软雅黑" panose="020B0503020204020204" charset="-122"/>
              </a:endParaRPr>
            </a:p>
          </p:txBody>
        </p:sp>
      </p:grpSp>
      <p:sp>
        <p:nvSpPr>
          <p:cNvPr id="380" name="矩形: 圆角 379"/>
          <p:cNvSpPr/>
          <p:nvPr/>
        </p:nvSpPr>
        <p:spPr>
          <a:xfrm>
            <a:off x="7541902" y="4793291"/>
            <a:ext cx="264357" cy="506723"/>
          </a:xfrm>
          <a:prstGeom prst="roundRect">
            <a:avLst>
              <a:gd name="adj" fmla="val 9342"/>
            </a:avLst>
          </a:prstGeom>
          <a:solidFill>
            <a:schemeClr val="accent1">
              <a:lumMod val="60000"/>
              <a:lumOff val="4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r>
              <a:rPr lang="en-US" altLang="zh-CN" sz="700" dirty="0">
                <a:solidFill>
                  <a:schemeClr val="bg1"/>
                </a:solidFill>
                <a:latin typeface="微软雅黑" panose="020B0503020204020204" charset="-122"/>
                <a:ea typeface="微软雅黑" panose="020B0503020204020204" charset="-122"/>
                <a:cs typeface="微软雅黑" panose="020B0503020204020204" charset="-122"/>
                <a:sym typeface="+mn-ea"/>
              </a:rPr>
              <a:t>UGC</a:t>
            </a:r>
            <a:endParaRPr lang="en-US" altLang="zh-CN" sz="7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82" name="矩形: 圆角 381"/>
          <p:cNvSpPr/>
          <p:nvPr/>
        </p:nvSpPr>
        <p:spPr>
          <a:xfrm>
            <a:off x="7552062" y="5723041"/>
            <a:ext cx="264357" cy="506723"/>
          </a:xfrm>
          <a:prstGeom prst="roundRect">
            <a:avLst>
              <a:gd name="adj" fmla="val 9342"/>
            </a:avLst>
          </a:prstGeom>
          <a:solidFill>
            <a:schemeClr val="accent1">
              <a:lumMod val="60000"/>
              <a:lumOff val="4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en-US" altLang="zh-CN" sz="700" dirty="0">
                <a:solidFill>
                  <a:schemeClr val="bg1"/>
                </a:solidFill>
                <a:latin typeface="微软雅黑" panose="020B0503020204020204" charset="-122"/>
                <a:ea typeface="微软雅黑" panose="020B0503020204020204" charset="-122"/>
                <a:cs typeface="微软雅黑" panose="020B0503020204020204" charset="-122"/>
              </a:rPr>
              <a:t>DMP</a:t>
            </a:r>
            <a:endParaRPr lang="en-US" altLang="zh-CN" sz="7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85" name="任意多边形: 形状 384"/>
          <p:cNvSpPr/>
          <p:nvPr/>
        </p:nvSpPr>
        <p:spPr>
          <a:xfrm rot="10800000">
            <a:off x="3947268" y="5856212"/>
            <a:ext cx="232572" cy="27155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6" name="任意多边形: 形状 385"/>
          <p:cNvSpPr/>
          <p:nvPr/>
        </p:nvSpPr>
        <p:spPr>
          <a:xfrm rot="10800000">
            <a:off x="4905721" y="5856212"/>
            <a:ext cx="232572" cy="27155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7" name="任意多边形: 形状 386"/>
          <p:cNvSpPr/>
          <p:nvPr/>
        </p:nvSpPr>
        <p:spPr>
          <a:xfrm rot="10800000">
            <a:off x="5848767" y="5856212"/>
            <a:ext cx="232572" cy="27155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8" name="任意多边形: 形状 387"/>
          <p:cNvSpPr/>
          <p:nvPr/>
        </p:nvSpPr>
        <p:spPr>
          <a:xfrm rot="10800000">
            <a:off x="6819118" y="5856212"/>
            <a:ext cx="232572" cy="27155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43" name="矩形: 圆角 215"/>
          <p:cNvSpPr/>
          <p:nvPr/>
        </p:nvSpPr>
        <p:spPr>
          <a:xfrm>
            <a:off x="8764399" y="4769234"/>
            <a:ext cx="623872" cy="218663"/>
          </a:xfrm>
          <a:prstGeom prst="roundRect">
            <a:avLst>
              <a:gd name="adj" fmla="val 5000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44" name="矩形: 圆角 216"/>
          <p:cNvSpPr/>
          <p:nvPr/>
        </p:nvSpPr>
        <p:spPr>
          <a:xfrm>
            <a:off x="9482987" y="4769234"/>
            <a:ext cx="623872" cy="218663"/>
          </a:xfrm>
          <a:prstGeom prst="roundRect">
            <a:avLst>
              <a:gd name="adj" fmla="val 5000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45" name="文本框 344"/>
          <p:cNvSpPr txBox="1"/>
          <p:nvPr/>
        </p:nvSpPr>
        <p:spPr>
          <a:xfrm>
            <a:off x="8878857" y="4743199"/>
            <a:ext cx="436880" cy="245110"/>
          </a:xfrm>
          <a:prstGeom prst="rect">
            <a:avLst/>
          </a:prstGeom>
          <a:noFill/>
        </p:spPr>
        <p:txBody>
          <a:bodyPr wrap="none" rtlCol="0">
            <a:spAutoFit/>
          </a:bodyPr>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获取</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47" name="文本框 346"/>
          <p:cNvSpPr txBox="1"/>
          <p:nvPr/>
        </p:nvSpPr>
        <p:spPr>
          <a:xfrm>
            <a:off x="9555523" y="4738754"/>
            <a:ext cx="436880" cy="245110"/>
          </a:xfrm>
          <a:prstGeom prst="rect">
            <a:avLst/>
          </a:prstGeom>
          <a:noFill/>
        </p:spPr>
        <p:txBody>
          <a:bodyPr wrap="none" rtlCol="0">
            <a:spAutoFit/>
          </a:bodyPr>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消耗</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350" name="连接符: 曲线 354"/>
          <p:cNvCxnSpPr>
            <a:endCxn id="44" idx="2"/>
          </p:cNvCxnSpPr>
          <p:nvPr/>
        </p:nvCxnSpPr>
        <p:spPr>
          <a:xfrm rot="10800000">
            <a:off x="982980" y="5842635"/>
            <a:ext cx="2468245" cy="285115"/>
          </a:xfrm>
          <a:prstGeom prst="curvedConnector2">
            <a:avLst/>
          </a:prstGeom>
          <a:ln>
            <a:solidFill>
              <a:schemeClr val="tx2">
                <a:alpha val="7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1" name="任意多边形: 形状 280"/>
          <p:cNvSpPr/>
          <p:nvPr/>
        </p:nvSpPr>
        <p:spPr>
          <a:xfrm>
            <a:off x="6643370" y="3529965"/>
            <a:ext cx="429895" cy="50292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60000"/>
                  <a:lumOff val="40000"/>
                  <a:alpha val="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7" name="直接连接符 6"/>
          <p:cNvCxnSpPr/>
          <p:nvPr/>
        </p:nvCxnSpPr>
        <p:spPr>
          <a:xfrm>
            <a:off x="411480" y="1097915"/>
            <a:ext cx="0" cy="22479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3004185" y="1099185"/>
            <a:ext cx="0" cy="22479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8463280" y="1099185"/>
            <a:ext cx="0" cy="22479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11668125" y="1099185"/>
            <a:ext cx="0" cy="22479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12" name="图片 11"/>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品牌供应链升级路径</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2" name="紫荆的职场Point2"/>
          <p:cNvSpPr/>
          <p:nvPr/>
        </p:nvSpPr>
        <p:spPr>
          <a:xfrm>
            <a:off x="4181623" y="1383610"/>
            <a:ext cx="7705577" cy="4892426"/>
          </a:xfrm>
          <a:prstGeom prst="roundRect">
            <a:avLst>
              <a:gd name="adj" fmla="val 1693"/>
            </a:avLst>
          </a:prstGeom>
          <a:solidFill>
            <a:schemeClr val="accent1">
              <a:lumMod val="20000"/>
              <a:lumOff val="80000"/>
              <a:alpha val="20000"/>
            </a:schemeClr>
          </a:solidFill>
          <a:ln>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 name="紫荆的职场Point3"/>
          <p:cNvSpPr/>
          <p:nvPr/>
        </p:nvSpPr>
        <p:spPr>
          <a:xfrm>
            <a:off x="304800" y="1383610"/>
            <a:ext cx="3289766" cy="4892426"/>
          </a:xfrm>
          <a:prstGeom prst="roundRect">
            <a:avLst>
              <a:gd name="adj" fmla="val 1693"/>
            </a:avLst>
          </a:prstGeom>
          <a:solidFill>
            <a:schemeClr val="accent5">
              <a:lumMod val="20000"/>
              <a:lumOff val="80000"/>
              <a:alpha val="20000"/>
            </a:schemeClr>
          </a:solidFill>
          <a:ln>
            <a:solidFill>
              <a:schemeClr val="accent5">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27" name="紫荆的职场Point4"/>
          <p:cNvSpPr/>
          <p:nvPr/>
        </p:nvSpPr>
        <p:spPr>
          <a:xfrm flipH="1" flipV="1">
            <a:off x="4181623" y="1383610"/>
            <a:ext cx="4412559" cy="418034"/>
          </a:xfrm>
          <a:custGeom>
            <a:avLst/>
            <a:gdLst>
              <a:gd name="connsiteX0" fmla="*/ 3967227 w 4049692"/>
              <a:gd name="connsiteY0" fmla="*/ 416200 h 416200"/>
              <a:gd name="connsiteX1" fmla="*/ 3921414 w 4049692"/>
              <a:gd name="connsiteY1" fmla="*/ 416200 h 416200"/>
              <a:gd name="connsiteX2" fmla="*/ 2600305 w 4049692"/>
              <a:gd name="connsiteY2" fmla="*/ 416200 h 416200"/>
              <a:gd name="connsiteX3" fmla="*/ 2205970 w 4049692"/>
              <a:gd name="connsiteY3" fmla="*/ 416200 h 416200"/>
              <a:gd name="connsiteX4" fmla="*/ 884862 w 4049692"/>
              <a:gd name="connsiteY4" fmla="*/ 416200 h 416200"/>
              <a:gd name="connsiteX5" fmla="*/ 0 w 4049692"/>
              <a:gd name="connsiteY5" fmla="*/ 416200 h 416200"/>
              <a:gd name="connsiteX6" fmla="*/ 310025 w 4049692"/>
              <a:gd name="connsiteY6" fmla="*/ 246200 h 416200"/>
              <a:gd name="connsiteX7" fmla="*/ 704027 w 4049692"/>
              <a:gd name="connsiteY7" fmla="*/ 0 h 416200"/>
              <a:gd name="connsiteX8" fmla="*/ 884862 w 4049692"/>
              <a:gd name="connsiteY8" fmla="*/ 0 h 416200"/>
              <a:gd name="connsiteX9" fmla="*/ 2205970 w 4049692"/>
              <a:gd name="connsiteY9" fmla="*/ 0 h 416200"/>
              <a:gd name="connsiteX10" fmla="*/ 2600305 w 4049692"/>
              <a:gd name="connsiteY10" fmla="*/ 0 h 416200"/>
              <a:gd name="connsiteX11" fmla="*/ 3921414 w 4049692"/>
              <a:gd name="connsiteY11" fmla="*/ 0 h 416200"/>
              <a:gd name="connsiteX12" fmla="*/ 4049692 w 4049692"/>
              <a:gd name="connsiteY12" fmla="*/ 0 h 416200"/>
              <a:gd name="connsiteX13" fmla="*/ 4049692 w 4049692"/>
              <a:gd name="connsiteY13" fmla="*/ 333735 h 416200"/>
              <a:gd name="connsiteX14" fmla="*/ 3967227 w 404969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49692" h="416200">
                <a:moveTo>
                  <a:pt x="3967227" y="416200"/>
                </a:moveTo>
                <a:lnTo>
                  <a:pt x="3921414" y="416200"/>
                </a:lnTo>
                <a:lnTo>
                  <a:pt x="2600305" y="416200"/>
                </a:lnTo>
                <a:lnTo>
                  <a:pt x="2205970" y="416200"/>
                </a:lnTo>
                <a:lnTo>
                  <a:pt x="884862" y="416200"/>
                </a:lnTo>
                <a:lnTo>
                  <a:pt x="0" y="416200"/>
                </a:lnTo>
                <a:cubicBezTo>
                  <a:pt x="201516" y="386520"/>
                  <a:pt x="186016" y="377479"/>
                  <a:pt x="310025" y="246200"/>
                </a:cubicBezTo>
                <a:cubicBezTo>
                  <a:pt x="434037" y="114921"/>
                  <a:pt x="479578" y="0"/>
                  <a:pt x="704027" y="0"/>
                </a:cubicBezTo>
                <a:lnTo>
                  <a:pt x="884862" y="0"/>
                </a:lnTo>
                <a:lnTo>
                  <a:pt x="2205970" y="0"/>
                </a:lnTo>
                <a:lnTo>
                  <a:pt x="2600305" y="0"/>
                </a:lnTo>
                <a:lnTo>
                  <a:pt x="3921414" y="0"/>
                </a:lnTo>
                <a:lnTo>
                  <a:pt x="4049692" y="0"/>
                </a:lnTo>
                <a:lnTo>
                  <a:pt x="4049692" y="333735"/>
                </a:lnTo>
                <a:cubicBezTo>
                  <a:pt x="4049692" y="379279"/>
                  <a:pt x="4012771" y="416200"/>
                  <a:pt x="3967227" y="416200"/>
                </a:cubicBezTo>
                <a:close/>
              </a:path>
            </a:pathLst>
          </a:custGeom>
          <a:gradFill flip="none" rotWithShape="1">
            <a:gsLst>
              <a:gs pos="0">
                <a:schemeClr val="accent1">
                  <a:lumMod val="60000"/>
                  <a:lumOff val="40000"/>
                </a:schemeClr>
              </a:gs>
              <a:gs pos="70000">
                <a:schemeClr val="accent1"/>
              </a:gs>
            </a:gsLst>
            <a:lin ang="16200000" scaled="1"/>
            <a:tileRect/>
          </a:gradFill>
          <a:ln w="12700" cap="flat" cmpd="sng" algn="ctr">
            <a:noFill/>
            <a:prstDash val="solid"/>
            <a:miter lim="800000"/>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 name="紫荆的职场Point5"/>
          <p:cNvSpPr txBox="1"/>
          <p:nvPr/>
        </p:nvSpPr>
        <p:spPr>
          <a:xfrm>
            <a:off x="4398315" y="1287746"/>
            <a:ext cx="3557270" cy="506730"/>
          </a:xfrm>
          <a:prstGeom prst="rect">
            <a:avLst/>
          </a:prstGeom>
          <a:noFill/>
        </p:spPr>
        <p:txBody>
          <a:bodyPr wrap="none">
            <a:spAutoFit/>
          </a:bodyPr>
          <a:lstStyle/>
          <a:p>
            <a:pPr lvl="0" algn="r">
              <a:lnSpc>
                <a:spcPct val="150000"/>
              </a:lnSpc>
              <a:spcBef>
                <a:spcPts val="0"/>
              </a:spcBef>
              <a:spcAft>
                <a:spcPts val="0"/>
              </a:spcAft>
              <a:buClrTx/>
              <a:buSzTx/>
              <a:buFontTx/>
              <a:defRPr/>
            </a:pPr>
            <a:r>
              <a:rPr lang="zh-CN" altLang="en-US" b="1"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rPr>
              <a:t>全渠道供应链升级（线上+线下）</a:t>
            </a:r>
            <a:endParaRPr lang="zh-CN" altLang="en-US" b="1"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6" name="紫荆的职场Point6"/>
          <p:cNvSpPr/>
          <p:nvPr/>
        </p:nvSpPr>
        <p:spPr>
          <a:xfrm flipH="1" flipV="1">
            <a:off x="304800" y="1367746"/>
            <a:ext cx="2791379" cy="418034"/>
          </a:xfrm>
          <a:custGeom>
            <a:avLst/>
            <a:gdLst>
              <a:gd name="connsiteX0" fmla="*/ 2723684 w 2779135"/>
              <a:gd name="connsiteY0" fmla="*/ 416200 h 416200"/>
              <a:gd name="connsiteX1" fmla="*/ 2600305 w 2779135"/>
              <a:gd name="connsiteY1" fmla="*/ 416200 h 416200"/>
              <a:gd name="connsiteX2" fmla="*/ 2205970 w 2779135"/>
              <a:gd name="connsiteY2" fmla="*/ 416200 h 416200"/>
              <a:gd name="connsiteX3" fmla="*/ 884862 w 2779135"/>
              <a:gd name="connsiteY3" fmla="*/ 416200 h 416200"/>
              <a:gd name="connsiteX4" fmla="*/ 0 w 2779135"/>
              <a:gd name="connsiteY4" fmla="*/ 416200 h 416200"/>
              <a:gd name="connsiteX5" fmla="*/ 310025 w 2779135"/>
              <a:gd name="connsiteY5" fmla="*/ 246200 h 416200"/>
              <a:gd name="connsiteX6" fmla="*/ 704027 w 2779135"/>
              <a:gd name="connsiteY6" fmla="*/ 0 h 416200"/>
              <a:gd name="connsiteX7" fmla="*/ 884862 w 2779135"/>
              <a:gd name="connsiteY7" fmla="*/ 0 h 416200"/>
              <a:gd name="connsiteX8" fmla="*/ 2205970 w 2779135"/>
              <a:gd name="connsiteY8" fmla="*/ 0 h 416200"/>
              <a:gd name="connsiteX9" fmla="*/ 2600305 w 2779135"/>
              <a:gd name="connsiteY9" fmla="*/ 0 h 416200"/>
              <a:gd name="connsiteX10" fmla="*/ 2779135 w 2779135"/>
              <a:gd name="connsiteY10" fmla="*/ 0 h 416200"/>
              <a:gd name="connsiteX11" fmla="*/ 2779135 w 2779135"/>
              <a:gd name="connsiteY11" fmla="*/ 360749 h 416200"/>
              <a:gd name="connsiteX12" fmla="*/ 2723684 w 2779135"/>
              <a:gd name="connsiteY12"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9135" h="416200">
                <a:moveTo>
                  <a:pt x="2723684" y="416200"/>
                </a:moveTo>
                <a:lnTo>
                  <a:pt x="2600305" y="416200"/>
                </a:lnTo>
                <a:lnTo>
                  <a:pt x="2205970" y="416200"/>
                </a:lnTo>
                <a:lnTo>
                  <a:pt x="884862" y="416200"/>
                </a:lnTo>
                <a:lnTo>
                  <a:pt x="0" y="416200"/>
                </a:lnTo>
                <a:cubicBezTo>
                  <a:pt x="201515" y="386520"/>
                  <a:pt x="186015" y="377479"/>
                  <a:pt x="310025" y="246200"/>
                </a:cubicBezTo>
                <a:cubicBezTo>
                  <a:pt x="434037" y="114921"/>
                  <a:pt x="479578" y="0"/>
                  <a:pt x="704027" y="0"/>
                </a:cubicBezTo>
                <a:lnTo>
                  <a:pt x="884862" y="0"/>
                </a:lnTo>
                <a:lnTo>
                  <a:pt x="2205970" y="0"/>
                </a:lnTo>
                <a:lnTo>
                  <a:pt x="2600305" y="0"/>
                </a:lnTo>
                <a:lnTo>
                  <a:pt x="2779135" y="0"/>
                </a:lnTo>
                <a:lnTo>
                  <a:pt x="2779135" y="360749"/>
                </a:lnTo>
                <a:cubicBezTo>
                  <a:pt x="2779135" y="391374"/>
                  <a:pt x="2754309" y="416200"/>
                  <a:pt x="2723684" y="416200"/>
                </a:cubicBezTo>
                <a:close/>
              </a:path>
            </a:pathLst>
          </a:custGeom>
          <a:gradFill flip="none" rotWithShape="1">
            <a:gsLst>
              <a:gs pos="0">
                <a:schemeClr val="accent5">
                  <a:lumMod val="60000"/>
                  <a:lumOff val="40000"/>
                </a:schemeClr>
              </a:gs>
              <a:gs pos="70000">
                <a:schemeClr val="accent5"/>
              </a:gs>
            </a:gsLst>
            <a:lin ang="16200000" scaled="1"/>
            <a:tileRect/>
          </a:gradFill>
          <a:ln w="12700" cap="flat" cmpd="sng" algn="ctr">
            <a:noFill/>
            <a:prstDash val="solid"/>
            <a:miter lim="800000"/>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 name="紫荆的职场Point7"/>
          <p:cNvSpPr txBox="1"/>
          <p:nvPr/>
        </p:nvSpPr>
        <p:spPr>
          <a:xfrm>
            <a:off x="502732" y="1278948"/>
            <a:ext cx="1783080" cy="506730"/>
          </a:xfrm>
          <a:prstGeom prst="rect">
            <a:avLst/>
          </a:prstGeom>
          <a:noFill/>
        </p:spPr>
        <p:txBody>
          <a:bodyPr wrap="none">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生产物流一盘货</a:t>
            </a:r>
            <a:endParaRPr kumimoji="0" lang="zh-CN" altLang="en-US"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9" name="紫荆的职场Point8-1"/>
          <p:cNvSpPr/>
          <p:nvPr/>
        </p:nvSpPr>
        <p:spPr>
          <a:xfrm>
            <a:off x="454660" y="3202940"/>
            <a:ext cx="1127125" cy="638810"/>
          </a:xfrm>
          <a:prstGeom prst="roundRect">
            <a:avLst>
              <a:gd name="adj" fmla="val 6430"/>
            </a:avLst>
          </a:prstGeom>
          <a:solidFill>
            <a:schemeClr val="accent5">
              <a:lumMod val="60000"/>
              <a:lumOff val="40000"/>
            </a:schemeClr>
          </a:solidFill>
          <a:ln w="38100">
            <a:noFill/>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0" name="紫荆的职场Point8-2"/>
          <p:cNvSpPr txBox="1"/>
          <p:nvPr/>
        </p:nvSpPr>
        <p:spPr>
          <a:xfrm>
            <a:off x="499745" y="3259455"/>
            <a:ext cx="1036955" cy="525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原材料</a:t>
            </a:r>
            <a:endParaRPr kumimoji="0" lang="en-US" altLang="zh-CN"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供应商</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3" name="紫荆的职场Point9-1"/>
          <p:cNvSpPr/>
          <p:nvPr/>
        </p:nvSpPr>
        <p:spPr>
          <a:xfrm>
            <a:off x="454660" y="4126230"/>
            <a:ext cx="1127125" cy="638810"/>
          </a:xfrm>
          <a:prstGeom prst="roundRect">
            <a:avLst>
              <a:gd name="adj" fmla="val 6430"/>
            </a:avLst>
          </a:prstGeom>
          <a:solidFill>
            <a:schemeClr val="accent5">
              <a:lumMod val="60000"/>
              <a:lumOff val="40000"/>
            </a:schemeClr>
          </a:solidFill>
          <a:ln w="38100">
            <a:noFill/>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spcBef>
                <a:spcPts val="0"/>
              </a:spcBef>
              <a:spcAft>
                <a:spcPts val="0"/>
              </a:spcAft>
              <a:buClrTx/>
              <a:buSzTx/>
              <a:buFontTx/>
              <a:defRPr/>
            </a:pPr>
            <a:endParaRPr lang="zh-CN" altLang="en-US" sz="10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4" name="紫荆的职场Point9-2"/>
          <p:cNvSpPr txBox="1"/>
          <p:nvPr/>
        </p:nvSpPr>
        <p:spPr>
          <a:xfrm>
            <a:off x="499745" y="4182745"/>
            <a:ext cx="1036955" cy="525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原材料</a:t>
            </a:r>
            <a:endParaRPr kumimoji="0" lang="en-US" altLang="zh-CN"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供应商</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6" name="紫荆的职场Point10-1"/>
          <p:cNvSpPr/>
          <p:nvPr/>
        </p:nvSpPr>
        <p:spPr>
          <a:xfrm>
            <a:off x="454660" y="5049520"/>
            <a:ext cx="1127125" cy="638810"/>
          </a:xfrm>
          <a:prstGeom prst="roundRect">
            <a:avLst>
              <a:gd name="adj" fmla="val 6430"/>
            </a:avLst>
          </a:prstGeom>
          <a:solidFill>
            <a:schemeClr val="accent5">
              <a:lumMod val="60000"/>
              <a:lumOff val="40000"/>
            </a:schemeClr>
          </a:solidFill>
          <a:ln w="38100">
            <a:noFill/>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spcBef>
                <a:spcPts val="0"/>
              </a:spcBef>
              <a:spcAft>
                <a:spcPts val="0"/>
              </a:spcAft>
              <a:buClrTx/>
              <a:buSzTx/>
              <a:buFontTx/>
              <a:defRPr/>
            </a:pPr>
            <a:endParaRPr lang="zh-CN" altLang="en-US" sz="10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7" name="紫荆的职场Point10-2"/>
          <p:cNvSpPr txBox="1"/>
          <p:nvPr/>
        </p:nvSpPr>
        <p:spPr>
          <a:xfrm>
            <a:off x="499745" y="5106035"/>
            <a:ext cx="1036955" cy="525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原材料</a:t>
            </a:r>
            <a:endParaRPr kumimoji="0" lang="en-US" altLang="zh-CN"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供应商</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68" name="紫荆的职场Point11"/>
          <p:cNvGrpSpPr/>
          <p:nvPr/>
        </p:nvGrpSpPr>
        <p:grpSpPr>
          <a:xfrm flipH="1">
            <a:off x="1613375" y="3497182"/>
            <a:ext cx="672616" cy="871072"/>
            <a:chOff x="5286396" y="1495505"/>
            <a:chExt cx="669666" cy="867251"/>
          </a:xfrm>
        </p:grpSpPr>
        <p:sp>
          <p:nvSpPr>
            <p:cNvPr id="69" name="紫荆的职场Point11-1"/>
            <p:cNvSpPr/>
            <p:nvPr/>
          </p:nvSpPr>
          <p:spPr>
            <a:xfrm>
              <a:off x="5286396" y="1888054"/>
              <a:ext cx="87472" cy="87472"/>
            </a:xfrm>
            <a:prstGeom prst="ellipse">
              <a:avLst/>
            </a:prstGeom>
            <a:noFill/>
            <a:ln>
              <a:solidFill>
                <a:schemeClr val="accent5">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0" name="紫荆的职场Point11-2"/>
            <p:cNvSpPr/>
            <p:nvPr/>
          </p:nvSpPr>
          <p:spPr>
            <a:xfrm>
              <a:off x="5868590" y="1495505"/>
              <a:ext cx="87472" cy="87472"/>
            </a:xfrm>
            <a:prstGeom prst="ellipse">
              <a:avLst/>
            </a:prstGeom>
            <a:noFill/>
            <a:ln>
              <a:solidFill>
                <a:schemeClr val="accent5">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71" name="紫荆的职场Point11-3"/>
            <p:cNvCxnSpPr>
              <a:stCxn id="69" idx="6"/>
              <a:endCxn id="72" idx="1"/>
            </p:cNvCxnSpPr>
            <p:nvPr/>
          </p:nvCxnSpPr>
          <p:spPr>
            <a:xfrm flipV="1">
              <a:off x="5373868" y="1930400"/>
              <a:ext cx="289057" cy="1390"/>
            </a:xfrm>
            <a:prstGeom prst="line">
              <a:avLst/>
            </a:prstGeom>
            <a:ln w="12700" cap="rnd">
              <a:solidFill>
                <a:schemeClr val="accent5">
                  <a:alpha val="7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2" name="紫荆的职场Point11-4"/>
            <p:cNvSpPr/>
            <p:nvPr/>
          </p:nvSpPr>
          <p:spPr>
            <a:xfrm>
              <a:off x="5662925" y="1541780"/>
              <a:ext cx="206340" cy="777240"/>
            </a:xfrm>
            <a:prstGeom prst="leftBracket">
              <a:avLst>
                <a:gd name="adj" fmla="val 0"/>
              </a:avLst>
            </a:prstGeom>
            <a:ln w="12700" cap="rnd">
              <a:solidFill>
                <a:schemeClr val="accent5">
                  <a:alpha val="70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000000"/>
                  </a:solidFill>
                  <a:latin typeface="Roboto Regular"/>
                  <a:ea typeface="+mn-ea"/>
                  <a:cs typeface="+mn-cs"/>
                </a:defRPr>
              </a:lvl1pPr>
              <a:lvl2pPr marL="457200" algn="l" defTabSz="914400" rtl="0" eaLnBrk="1" latinLnBrk="0" hangingPunct="1">
                <a:defRPr sz="1800" kern="1200">
                  <a:solidFill>
                    <a:srgbClr val="000000"/>
                  </a:solidFill>
                  <a:latin typeface="Roboto Regular"/>
                  <a:ea typeface="+mn-ea"/>
                  <a:cs typeface="+mn-cs"/>
                </a:defRPr>
              </a:lvl2pPr>
              <a:lvl3pPr marL="914400" algn="l" defTabSz="914400" rtl="0" eaLnBrk="1" latinLnBrk="0" hangingPunct="1">
                <a:defRPr sz="1800" kern="1200">
                  <a:solidFill>
                    <a:srgbClr val="000000"/>
                  </a:solidFill>
                  <a:latin typeface="Roboto Regular"/>
                  <a:ea typeface="+mn-ea"/>
                  <a:cs typeface="+mn-cs"/>
                </a:defRPr>
              </a:lvl3pPr>
              <a:lvl4pPr marL="1371600" algn="l" defTabSz="914400" rtl="0" eaLnBrk="1" latinLnBrk="0" hangingPunct="1">
                <a:defRPr sz="1800" kern="1200">
                  <a:solidFill>
                    <a:srgbClr val="000000"/>
                  </a:solidFill>
                  <a:latin typeface="Roboto Regular"/>
                  <a:ea typeface="+mn-ea"/>
                  <a:cs typeface="+mn-cs"/>
                </a:defRPr>
              </a:lvl4pPr>
              <a:lvl5pPr marL="1828800" algn="l" defTabSz="914400" rtl="0" eaLnBrk="1" latinLnBrk="0" hangingPunct="1">
                <a:defRPr sz="1800" kern="1200">
                  <a:solidFill>
                    <a:srgbClr val="000000"/>
                  </a:solidFill>
                  <a:latin typeface="Roboto Regular"/>
                  <a:ea typeface="+mn-ea"/>
                  <a:cs typeface="+mn-cs"/>
                </a:defRPr>
              </a:lvl5pPr>
              <a:lvl6pPr marL="2286000" algn="l" defTabSz="914400" rtl="0" eaLnBrk="1" latinLnBrk="0" hangingPunct="1">
                <a:defRPr sz="1800" kern="1200">
                  <a:solidFill>
                    <a:srgbClr val="000000"/>
                  </a:solidFill>
                  <a:latin typeface="Roboto Regular"/>
                  <a:ea typeface="+mn-ea"/>
                  <a:cs typeface="+mn-cs"/>
                </a:defRPr>
              </a:lvl6pPr>
              <a:lvl7pPr marL="2743200" algn="l" defTabSz="914400" rtl="0" eaLnBrk="1" latinLnBrk="0" hangingPunct="1">
                <a:defRPr sz="1800" kern="1200">
                  <a:solidFill>
                    <a:srgbClr val="000000"/>
                  </a:solidFill>
                  <a:latin typeface="Roboto Regular"/>
                  <a:ea typeface="+mn-ea"/>
                  <a:cs typeface="+mn-cs"/>
                </a:defRPr>
              </a:lvl7pPr>
              <a:lvl8pPr marL="3200400" algn="l" defTabSz="914400" rtl="0" eaLnBrk="1" latinLnBrk="0" hangingPunct="1">
                <a:defRPr sz="1800" kern="1200">
                  <a:solidFill>
                    <a:srgbClr val="000000"/>
                  </a:solidFill>
                  <a:latin typeface="Roboto Regular"/>
                  <a:ea typeface="+mn-ea"/>
                  <a:cs typeface="+mn-cs"/>
                </a:defRPr>
              </a:lvl8pPr>
              <a:lvl9pPr marL="3657600" algn="l" defTabSz="914400" rtl="0" eaLnBrk="1" latinLnBrk="0" hangingPunct="1">
                <a:defRPr sz="1800" kern="1200">
                  <a:solidFill>
                    <a:srgbClr val="000000"/>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3" name="紫荆的职场Point11-5"/>
            <p:cNvSpPr/>
            <p:nvPr/>
          </p:nvSpPr>
          <p:spPr>
            <a:xfrm>
              <a:off x="5868590" y="2275284"/>
              <a:ext cx="87472" cy="87472"/>
            </a:xfrm>
            <a:prstGeom prst="ellipse">
              <a:avLst/>
            </a:prstGeom>
            <a:noFill/>
            <a:ln>
              <a:solidFill>
                <a:schemeClr val="accent5">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81" name="紫荆的职场Point12"/>
          <p:cNvGrpSpPr/>
          <p:nvPr/>
        </p:nvGrpSpPr>
        <p:grpSpPr>
          <a:xfrm flipH="1">
            <a:off x="1613375" y="4522527"/>
            <a:ext cx="672616" cy="871072"/>
            <a:chOff x="5286396" y="1495505"/>
            <a:chExt cx="669666" cy="867251"/>
          </a:xfrm>
        </p:grpSpPr>
        <p:sp>
          <p:nvSpPr>
            <p:cNvPr id="82" name="紫荆的职场Point12-1"/>
            <p:cNvSpPr/>
            <p:nvPr/>
          </p:nvSpPr>
          <p:spPr>
            <a:xfrm>
              <a:off x="5286396" y="1888054"/>
              <a:ext cx="87472" cy="87472"/>
            </a:xfrm>
            <a:prstGeom prst="ellipse">
              <a:avLst/>
            </a:prstGeom>
            <a:noFill/>
            <a:ln>
              <a:solidFill>
                <a:schemeClr val="accent5">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3" name="紫荆的职场Point12-2"/>
            <p:cNvSpPr/>
            <p:nvPr/>
          </p:nvSpPr>
          <p:spPr>
            <a:xfrm>
              <a:off x="5868590" y="1495505"/>
              <a:ext cx="87472" cy="87472"/>
            </a:xfrm>
            <a:prstGeom prst="ellipse">
              <a:avLst/>
            </a:prstGeom>
            <a:noFill/>
            <a:ln>
              <a:solidFill>
                <a:schemeClr val="accent5">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84" name="紫荆的职场Point12-3"/>
            <p:cNvCxnSpPr>
              <a:stCxn id="82" idx="6"/>
              <a:endCxn id="85" idx="1"/>
            </p:cNvCxnSpPr>
            <p:nvPr/>
          </p:nvCxnSpPr>
          <p:spPr>
            <a:xfrm flipV="1">
              <a:off x="5373868" y="1930400"/>
              <a:ext cx="289057" cy="1390"/>
            </a:xfrm>
            <a:prstGeom prst="line">
              <a:avLst/>
            </a:prstGeom>
            <a:ln w="12700" cap="rnd">
              <a:solidFill>
                <a:schemeClr val="accent5">
                  <a:alpha val="7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紫荆的职场Point12-4"/>
            <p:cNvSpPr/>
            <p:nvPr/>
          </p:nvSpPr>
          <p:spPr>
            <a:xfrm>
              <a:off x="5662925" y="1541780"/>
              <a:ext cx="206340" cy="777240"/>
            </a:xfrm>
            <a:prstGeom prst="leftBracket">
              <a:avLst>
                <a:gd name="adj" fmla="val 0"/>
              </a:avLst>
            </a:prstGeom>
            <a:ln w="12700" cap="rnd">
              <a:solidFill>
                <a:schemeClr val="accent5">
                  <a:alpha val="70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000000"/>
                  </a:solidFill>
                  <a:latin typeface="Roboto Regular"/>
                  <a:ea typeface="+mn-ea"/>
                  <a:cs typeface="+mn-cs"/>
                </a:defRPr>
              </a:lvl1pPr>
              <a:lvl2pPr marL="457200" algn="l" defTabSz="914400" rtl="0" eaLnBrk="1" latinLnBrk="0" hangingPunct="1">
                <a:defRPr sz="1800" kern="1200">
                  <a:solidFill>
                    <a:srgbClr val="000000"/>
                  </a:solidFill>
                  <a:latin typeface="Roboto Regular"/>
                  <a:ea typeface="+mn-ea"/>
                  <a:cs typeface="+mn-cs"/>
                </a:defRPr>
              </a:lvl2pPr>
              <a:lvl3pPr marL="914400" algn="l" defTabSz="914400" rtl="0" eaLnBrk="1" latinLnBrk="0" hangingPunct="1">
                <a:defRPr sz="1800" kern="1200">
                  <a:solidFill>
                    <a:srgbClr val="000000"/>
                  </a:solidFill>
                  <a:latin typeface="Roboto Regular"/>
                  <a:ea typeface="+mn-ea"/>
                  <a:cs typeface="+mn-cs"/>
                </a:defRPr>
              </a:lvl3pPr>
              <a:lvl4pPr marL="1371600" algn="l" defTabSz="914400" rtl="0" eaLnBrk="1" latinLnBrk="0" hangingPunct="1">
                <a:defRPr sz="1800" kern="1200">
                  <a:solidFill>
                    <a:srgbClr val="000000"/>
                  </a:solidFill>
                  <a:latin typeface="Roboto Regular"/>
                  <a:ea typeface="+mn-ea"/>
                  <a:cs typeface="+mn-cs"/>
                </a:defRPr>
              </a:lvl4pPr>
              <a:lvl5pPr marL="1828800" algn="l" defTabSz="914400" rtl="0" eaLnBrk="1" latinLnBrk="0" hangingPunct="1">
                <a:defRPr sz="1800" kern="1200">
                  <a:solidFill>
                    <a:srgbClr val="000000"/>
                  </a:solidFill>
                  <a:latin typeface="Roboto Regular"/>
                  <a:ea typeface="+mn-ea"/>
                  <a:cs typeface="+mn-cs"/>
                </a:defRPr>
              </a:lvl5pPr>
              <a:lvl6pPr marL="2286000" algn="l" defTabSz="914400" rtl="0" eaLnBrk="1" latinLnBrk="0" hangingPunct="1">
                <a:defRPr sz="1800" kern="1200">
                  <a:solidFill>
                    <a:srgbClr val="000000"/>
                  </a:solidFill>
                  <a:latin typeface="Roboto Regular"/>
                  <a:ea typeface="+mn-ea"/>
                  <a:cs typeface="+mn-cs"/>
                </a:defRPr>
              </a:lvl6pPr>
              <a:lvl7pPr marL="2743200" algn="l" defTabSz="914400" rtl="0" eaLnBrk="1" latinLnBrk="0" hangingPunct="1">
                <a:defRPr sz="1800" kern="1200">
                  <a:solidFill>
                    <a:srgbClr val="000000"/>
                  </a:solidFill>
                  <a:latin typeface="Roboto Regular"/>
                  <a:ea typeface="+mn-ea"/>
                  <a:cs typeface="+mn-cs"/>
                </a:defRPr>
              </a:lvl7pPr>
              <a:lvl8pPr marL="3200400" algn="l" defTabSz="914400" rtl="0" eaLnBrk="1" latinLnBrk="0" hangingPunct="1">
                <a:defRPr sz="1800" kern="1200">
                  <a:solidFill>
                    <a:srgbClr val="000000"/>
                  </a:solidFill>
                  <a:latin typeface="Roboto Regular"/>
                  <a:ea typeface="+mn-ea"/>
                  <a:cs typeface="+mn-cs"/>
                </a:defRPr>
              </a:lvl8pPr>
              <a:lvl9pPr marL="3657600" algn="l" defTabSz="914400" rtl="0" eaLnBrk="1" latinLnBrk="0" hangingPunct="1">
                <a:defRPr sz="1800" kern="1200">
                  <a:solidFill>
                    <a:srgbClr val="000000"/>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6" name="紫荆的职场Point12-5"/>
            <p:cNvSpPr/>
            <p:nvPr/>
          </p:nvSpPr>
          <p:spPr>
            <a:xfrm>
              <a:off x="5868590" y="2275284"/>
              <a:ext cx="87472" cy="87472"/>
            </a:xfrm>
            <a:prstGeom prst="ellipse">
              <a:avLst/>
            </a:prstGeom>
            <a:noFill/>
            <a:ln>
              <a:solidFill>
                <a:schemeClr val="accent5">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6" name="紫荆的职场Point13"/>
          <p:cNvSpPr/>
          <p:nvPr/>
        </p:nvSpPr>
        <p:spPr>
          <a:xfrm>
            <a:off x="2348042" y="3626378"/>
            <a:ext cx="917379" cy="612680"/>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5">
                <a:lumMod val="60000"/>
                <a:lumOff val="40000"/>
              </a:schemeClr>
            </a:solidFill>
            <a:prstDash val="solid"/>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 name="紫荆的职场Point14"/>
          <p:cNvSpPr txBox="1"/>
          <p:nvPr/>
        </p:nvSpPr>
        <p:spPr>
          <a:xfrm>
            <a:off x="2424144" y="3779366"/>
            <a:ext cx="76517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ODM</a:t>
            </a:r>
            <a:endParaRPr kumimoji="0" lang="en-US" altLang="zh-CN" sz="14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 name="紫荆的职场Point15-1"/>
          <p:cNvSpPr/>
          <p:nvPr/>
        </p:nvSpPr>
        <p:spPr>
          <a:xfrm>
            <a:off x="2348042" y="4651723"/>
            <a:ext cx="917379" cy="612680"/>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5">
                <a:lumMod val="60000"/>
                <a:lumOff val="40000"/>
              </a:schemeClr>
            </a:solidFill>
            <a:prstDash val="solid"/>
          </a:ln>
          <a:effectLst>
            <a:outerShdw blurRad="50800" dist="38100" dir="2700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 name="紫荆的职场Point15-2"/>
          <p:cNvSpPr txBox="1"/>
          <p:nvPr/>
        </p:nvSpPr>
        <p:spPr>
          <a:xfrm>
            <a:off x="2485166" y="4695300"/>
            <a:ext cx="643129" cy="52552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自有工厂</a:t>
            </a:r>
            <a:endParaRPr kumimoji="0" lang="zh-CN" altLang="en-US" sz="14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 name="紫荆的职场Point16"/>
          <p:cNvSpPr txBox="1"/>
          <p:nvPr/>
        </p:nvSpPr>
        <p:spPr>
          <a:xfrm>
            <a:off x="359290" y="1919338"/>
            <a:ext cx="2986690"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推动在生产环节的需求与库存统一管控</a:t>
            </a:r>
            <a:endParaRPr kumimoji="0" lang="zh-CN" altLang="en-US"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 name="紫荆的职场Point17"/>
          <p:cNvSpPr/>
          <p:nvPr/>
        </p:nvSpPr>
        <p:spPr>
          <a:xfrm>
            <a:off x="3251938" y="3940668"/>
            <a:ext cx="509842" cy="1025346"/>
          </a:xfrm>
          <a:prstGeom prst="rightBrace">
            <a:avLst>
              <a:gd name="adj1" fmla="val 38356"/>
              <a:gd name="adj2" fmla="val 50000"/>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 name="紫荆的职场Point18-1"/>
          <p:cNvSpPr/>
          <p:nvPr/>
        </p:nvSpPr>
        <p:spPr>
          <a:xfrm>
            <a:off x="5167630" y="4104640"/>
            <a:ext cx="727075" cy="727075"/>
          </a:xfrm>
          <a:prstGeom prst="roundRect">
            <a:avLst/>
          </a:prstGeom>
          <a:solidFill>
            <a:schemeClr val="accent1">
              <a:lumMod val="60000"/>
              <a:lumOff val="40000"/>
            </a:schemeClr>
          </a:solidFill>
          <a:ln w="38100">
            <a:noFill/>
          </a:ln>
          <a:effectLst>
            <a:outerShdw blurRad="411480" dist="123444" dir="5400000" sx="108000" sy="108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spcBef>
                <a:spcPts val="0"/>
              </a:spcBef>
              <a:spcAft>
                <a:spcPts val="0"/>
              </a:spcAft>
              <a:buClrTx/>
              <a:buSzTx/>
              <a:buFontTx/>
              <a:defRPr/>
            </a:pPr>
            <a:endParaRPr lang="zh-CN" altLang="en-US" sz="10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4" name="紫荆的职场Point18-2"/>
          <p:cNvSpPr txBox="1"/>
          <p:nvPr/>
        </p:nvSpPr>
        <p:spPr>
          <a:xfrm>
            <a:off x="5258435" y="4205605"/>
            <a:ext cx="546100" cy="52578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销售</a:t>
            </a:r>
            <a:endParaRPr kumimoji="0" lang="en-US" altLang="zh-CN"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公司</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 name="紫荆的职场Point19-1"/>
          <p:cNvSpPr/>
          <p:nvPr/>
        </p:nvSpPr>
        <p:spPr>
          <a:xfrm>
            <a:off x="5167630" y="2378075"/>
            <a:ext cx="727075" cy="727075"/>
          </a:xfrm>
          <a:prstGeom prst="roundRect">
            <a:avLst/>
          </a:prstGeom>
          <a:solidFill>
            <a:schemeClr val="accent1">
              <a:lumMod val="60000"/>
              <a:lumOff val="40000"/>
            </a:schemeClr>
          </a:solidFill>
          <a:ln w="38100">
            <a:noFill/>
          </a:ln>
          <a:effectLst>
            <a:outerShdw blurRad="411480" dist="123444" dir="5400000" sx="108000" sy="108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7" name="紫荆的职场Point19-2"/>
          <p:cNvSpPr txBox="1"/>
          <p:nvPr/>
        </p:nvSpPr>
        <p:spPr>
          <a:xfrm>
            <a:off x="5258435" y="2479040"/>
            <a:ext cx="546100" cy="52578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电商</a:t>
            </a:r>
            <a:endPar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部门</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6" name="紫荆的职场Point20-1"/>
          <p:cNvSpPr/>
          <p:nvPr/>
        </p:nvSpPr>
        <p:spPr>
          <a:xfrm>
            <a:off x="6752590" y="1945005"/>
            <a:ext cx="1202690" cy="346075"/>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1"/>
            </a:solidFill>
            <a:prstDash val="solid"/>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7" name="紫荆的职场Point20-2"/>
          <p:cNvSpPr txBox="1"/>
          <p:nvPr/>
        </p:nvSpPr>
        <p:spPr>
          <a:xfrm>
            <a:off x="6919595" y="1978660"/>
            <a:ext cx="868045" cy="27813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官网</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/APP</a:t>
            </a:r>
            <a:endParaRPr kumimoji="0" lang="en-US" altLang="zh-CN"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 name="紫荆的职场Point21-1"/>
          <p:cNvSpPr/>
          <p:nvPr/>
        </p:nvSpPr>
        <p:spPr>
          <a:xfrm>
            <a:off x="6752590" y="2568575"/>
            <a:ext cx="1202690" cy="346075"/>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1"/>
            </a:solidFill>
            <a:prstDash val="solid"/>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1" name="紫荆的职场Point21-2"/>
          <p:cNvSpPr txBox="1"/>
          <p:nvPr/>
        </p:nvSpPr>
        <p:spPr>
          <a:xfrm>
            <a:off x="6900545" y="2602865"/>
            <a:ext cx="906780" cy="27813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TP/</a:t>
            </a:r>
            <a:r>
              <a:rPr kumimoji="0" lang="zh-CN" altLang="en-US" sz="1200" b="1"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经销商</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4" name="紫荆的职场Point22-1"/>
          <p:cNvSpPr/>
          <p:nvPr/>
        </p:nvSpPr>
        <p:spPr>
          <a:xfrm>
            <a:off x="6752590" y="3192145"/>
            <a:ext cx="1202690" cy="346075"/>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1"/>
            </a:solidFill>
            <a:prstDash val="solid"/>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2" name="紫荆的职场Point22-2"/>
          <p:cNvSpPr txBox="1"/>
          <p:nvPr/>
        </p:nvSpPr>
        <p:spPr>
          <a:xfrm>
            <a:off x="6951980" y="3226435"/>
            <a:ext cx="803910" cy="27813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公域电商</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90" name="紫荆的职场Point23"/>
          <p:cNvGrpSpPr/>
          <p:nvPr/>
        </p:nvGrpSpPr>
        <p:grpSpPr>
          <a:xfrm>
            <a:off x="5962834" y="2077131"/>
            <a:ext cx="672616" cy="1313858"/>
            <a:chOff x="6007154" y="2458584"/>
            <a:chExt cx="669666" cy="1308095"/>
          </a:xfrm>
        </p:grpSpPr>
        <p:sp>
          <p:nvSpPr>
            <p:cNvPr id="141" name="紫荆的职场Point23-1"/>
            <p:cNvSpPr/>
            <p:nvPr/>
          </p:nvSpPr>
          <p:spPr>
            <a:xfrm>
              <a:off x="6007154" y="3068896"/>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2" name="紫荆的职场Point23-2"/>
            <p:cNvSpPr/>
            <p:nvPr/>
          </p:nvSpPr>
          <p:spPr>
            <a:xfrm>
              <a:off x="6589348" y="3068896"/>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4" name="紫荆的职场Point23-3"/>
            <p:cNvSpPr/>
            <p:nvPr/>
          </p:nvSpPr>
          <p:spPr>
            <a:xfrm>
              <a:off x="6383683" y="2483579"/>
              <a:ext cx="206340" cy="1241839"/>
            </a:xfrm>
            <a:prstGeom prst="leftBracket">
              <a:avLst>
                <a:gd name="adj" fmla="val 0"/>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000000"/>
                  </a:solidFill>
                  <a:latin typeface="Roboto Regular"/>
                  <a:ea typeface="+mn-ea"/>
                  <a:cs typeface="+mn-cs"/>
                </a:defRPr>
              </a:lvl1pPr>
              <a:lvl2pPr marL="457200" algn="l" defTabSz="914400" rtl="0" eaLnBrk="1" latinLnBrk="0" hangingPunct="1">
                <a:defRPr sz="1800" kern="1200">
                  <a:solidFill>
                    <a:srgbClr val="000000"/>
                  </a:solidFill>
                  <a:latin typeface="Roboto Regular"/>
                  <a:ea typeface="+mn-ea"/>
                  <a:cs typeface="+mn-cs"/>
                </a:defRPr>
              </a:lvl2pPr>
              <a:lvl3pPr marL="914400" algn="l" defTabSz="914400" rtl="0" eaLnBrk="1" latinLnBrk="0" hangingPunct="1">
                <a:defRPr sz="1800" kern="1200">
                  <a:solidFill>
                    <a:srgbClr val="000000"/>
                  </a:solidFill>
                  <a:latin typeface="Roboto Regular"/>
                  <a:ea typeface="+mn-ea"/>
                  <a:cs typeface="+mn-cs"/>
                </a:defRPr>
              </a:lvl3pPr>
              <a:lvl4pPr marL="1371600" algn="l" defTabSz="914400" rtl="0" eaLnBrk="1" latinLnBrk="0" hangingPunct="1">
                <a:defRPr sz="1800" kern="1200">
                  <a:solidFill>
                    <a:srgbClr val="000000"/>
                  </a:solidFill>
                  <a:latin typeface="Roboto Regular"/>
                  <a:ea typeface="+mn-ea"/>
                  <a:cs typeface="+mn-cs"/>
                </a:defRPr>
              </a:lvl4pPr>
              <a:lvl5pPr marL="1828800" algn="l" defTabSz="914400" rtl="0" eaLnBrk="1" latinLnBrk="0" hangingPunct="1">
                <a:defRPr sz="1800" kern="1200">
                  <a:solidFill>
                    <a:srgbClr val="000000"/>
                  </a:solidFill>
                  <a:latin typeface="Roboto Regular"/>
                  <a:ea typeface="+mn-ea"/>
                  <a:cs typeface="+mn-cs"/>
                </a:defRPr>
              </a:lvl5pPr>
              <a:lvl6pPr marL="2286000" algn="l" defTabSz="914400" rtl="0" eaLnBrk="1" latinLnBrk="0" hangingPunct="1">
                <a:defRPr sz="1800" kern="1200">
                  <a:solidFill>
                    <a:srgbClr val="000000"/>
                  </a:solidFill>
                  <a:latin typeface="Roboto Regular"/>
                  <a:ea typeface="+mn-ea"/>
                  <a:cs typeface="+mn-cs"/>
                </a:defRPr>
              </a:lvl6pPr>
              <a:lvl7pPr marL="2743200" algn="l" defTabSz="914400" rtl="0" eaLnBrk="1" latinLnBrk="0" hangingPunct="1">
                <a:defRPr sz="1800" kern="1200">
                  <a:solidFill>
                    <a:srgbClr val="000000"/>
                  </a:solidFill>
                  <a:latin typeface="Roboto Regular"/>
                  <a:ea typeface="+mn-ea"/>
                  <a:cs typeface="+mn-cs"/>
                </a:defRPr>
              </a:lvl7pPr>
              <a:lvl8pPr marL="3200400" algn="l" defTabSz="914400" rtl="0" eaLnBrk="1" latinLnBrk="0" hangingPunct="1">
                <a:defRPr sz="1800" kern="1200">
                  <a:solidFill>
                    <a:srgbClr val="000000"/>
                  </a:solidFill>
                  <a:latin typeface="Roboto Regular"/>
                  <a:ea typeface="+mn-ea"/>
                  <a:cs typeface="+mn-cs"/>
                </a:defRPr>
              </a:lvl8pPr>
              <a:lvl9pPr marL="3657600" algn="l" defTabSz="914400" rtl="0" eaLnBrk="1" latinLnBrk="0" hangingPunct="1">
                <a:defRPr sz="1800" kern="1200">
                  <a:solidFill>
                    <a:srgbClr val="000000"/>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5" name="紫荆的职场Point23-4"/>
            <p:cNvSpPr/>
            <p:nvPr/>
          </p:nvSpPr>
          <p:spPr>
            <a:xfrm>
              <a:off x="6589348" y="3679207"/>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33" name="紫荆的职场Point23-5"/>
            <p:cNvCxnSpPr/>
            <p:nvPr/>
          </p:nvCxnSpPr>
          <p:spPr>
            <a:xfrm>
              <a:off x="6383683" y="3104498"/>
              <a:ext cx="208800" cy="0"/>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34" name="紫荆的职场Point23-6"/>
            <p:cNvSpPr/>
            <p:nvPr/>
          </p:nvSpPr>
          <p:spPr>
            <a:xfrm>
              <a:off x="6589348" y="2458584"/>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37" name="紫荆的职场Point23-7"/>
            <p:cNvCxnSpPr/>
            <p:nvPr/>
          </p:nvCxnSpPr>
          <p:spPr>
            <a:xfrm>
              <a:off x="6094626" y="3104498"/>
              <a:ext cx="289057" cy="0"/>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grpSp>
      <p:grpSp>
        <p:nvGrpSpPr>
          <p:cNvPr id="38" name="紫荆的职场Point24"/>
          <p:cNvGrpSpPr/>
          <p:nvPr/>
        </p:nvGrpSpPr>
        <p:grpSpPr>
          <a:xfrm rot="5400000">
            <a:off x="7250204" y="2922609"/>
            <a:ext cx="207160" cy="258427"/>
            <a:chOff x="10783486" y="2365674"/>
            <a:chExt cx="290969" cy="362976"/>
          </a:xfrm>
        </p:grpSpPr>
        <p:sp>
          <p:nvSpPr>
            <p:cNvPr id="39" name="紫荆的职场Point24-1"/>
            <p:cNvSpPr/>
            <p:nvPr/>
          </p:nvSpPr>
          <p:spPr>
            <a:xfrm rot="16200000" flipH="1" flipV="1">
              <a:off x="10713998" y="2435162"/>
              <a:ext cx="362976" cy="223999"/>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gs>
                <a:gs pos="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3" name="紫荆的职场Point24-2"/>
            <p:cNvSpPr/>
            <p:nvPr/>
          </p:nvSpPr>
          <p:spPr>
            <a:xfrm rot="16200000" flipH="1" flipV="1">
              <a:off x="10854937" y="2468187"/>
              <a:ext cx="281088" cy="157949"/>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gs>
                <a:gs pos="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84" name="紫荆的职场Point25"/>
          <p:cNvSpPr/>
          <p:nvPr/>
        </p:nvSpPr>
        <p:spPr>
          <a:xfrm flipH="1">
            <a:off x="8152959" y="2102236"/>
            <a:ext cx="207249" cy="1247310"/>
          </a:xfrm>
          <a:prstGeom prst="leftBracket">
            <a:avLst>
              <a:gd name="adj" fmla="val 0"/>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000000"/>
                </a:solidFill>
                <a:latin typeface="Roboto Regular"/>
                <a:ea typeface="+mn-ea"/>
                <a:cs typeface="+mn-cs"/>
              </a:defRPr>
            </a:lvl1pPr>
            <a:lvl2pPr marL="457200" algn="l" defTabSz="914400" rtl="0" eaLnBrk="1" latinLnBrk="0" hangingPunct="1">
              <a:defRPr sz="1800" kern="1200">
                <a:solidFill>
                  <a:srgbClr val="000000"/>
                </a:solidFill>
                <a:latin typeface="Roboto Regular"/>
                <a:ea typeface="+mn-ea"/>
                <a:cs typeface="+mn-cs"/>
              </a:defRPr>
            </a:lvl2pPr>
            <a:lvl3pPr marL="914400" algn="l" defTabSz="914400" rtl="0" eaLnBrk="1" latinLnBrk="0" hangingPunct="1">
              <a:defRPr sz="1800" kern="1200">
                <a:solidFill>
                  <a:srgbClr val="000000"/>
                </a:solidFill>
                <a:latin typeface="Roboto Regular"/>
                <a:ea typeface="+mn-ea"/>
                <a:cs typeface="+mn-cs"/>
              </a:defRPr>
            </a:lvl3pPr>
            <a:lvl4pPr marL="1371600" algn="l" defTabSz="914400" rtl="0" eaLnBrk="1" latinLnBrk="0" hangingPunct="1">
              <a:defRPr sz="1800" kern="1200">
                <a:solidFill>
                  <a:srgbClr val="000000"/>
                </a:solidFill>
                <a:latin typeface="Roboto Regular"/>
                <a:ea typeface="+mn-ea"/>
                <a:cs typeface="+mn-cs"/>
              </a:defRPr>
            </a:lvl4pPr>
            <a:lvl5pPr marL="1828800" algn="l" defTabSz="914400" rtl="0" eaLnBrk="1" latinLnBrk="0" hangingPunct="1">
              <a:defRPr sz="1800" kern="1200">
                <a:solidFill>
                  <a:srgbClr val="000000"/>
                </a:solidFill>
                <a:latin typeface="Roboto Regular"/>
                <a:ea typeface="+mn-ea"/>
                <a:cs typeface="+mn-cs"/>
              </a:defRPr>
            </a:lvl5pPr>
            <a:lvl6pPr marL="2286000" algn="l" defTabSz="914400" rtl="0" eaLnBrk="1" latinLnBrk="0" hangingPunct="1">
              <a:defRPr sz="1800" kern="1200">
                <a:solidFill>
                  <a:srgbClr val="000000"/>
                </a:solidFill>
                <a:latin typeface="Roboto Regular"/>
                <a:ea typeface="+mn-ea"/>
                <a:cs typeface="+mn-cs"/>
              </a:defRPr>
            </a:lvl6pPr>
            <a:lvl7pPr marL="2743200" algn="l" defTabSz="914400" rtl="0" eaLnBrk="1" latinLnBrk="0" hangingPunct="1">
              <a:defRPr sz="1800" kern="1200">
                <a:solidFill>
                  <a:srgbClr val="000000"/>
                </a:solidFill>
                <a:latin typeface="Roboto Regular"/>
                <a:ea typeface="+mn-ea"/>
                <a:cs typeface="+mn-cs"/>
              </a:defRPr>
            </a:lvl7pPr>
            <a:lvl8pPr marL="3200400" algn="l" defTabSz="914400" rtl="0" eaLnBrk="1" latinLnBrk="0" hangingPunct="1">
              <a:defRPr sz="1800" kern="1200">
                <a:solidFill>
                  <a:srgbClr val="000000"/>
                </a:solidFill>
                <a:latin typeface="Roboto Regular"/>
                <a:ea typeface="+mn-ea"/>
                <a:cs typeface="+mn-cs"/>
              </a:defRPr>
            </a:lvl8pPr>
            <a:lvl9pPr marL="3657600" algn="l" defTabSz="914400" rtl="0" eaLnBrk="1" latinLnBrk="0" hangingPunct="1">
              <a:defRPr sz="1800" kern="1200">
                <a:solidFill>
                  <a:srgbClr val="000000"/>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5" name="紫荆的职场Point26"/>
          <p:cNvSpPr/>
          <p:nvPr/>
        </p:nvSpPr>
        <p:spPr>
          <a:xfrm flipH="1">
            <a:off x="8065780" y="3303132"/>
            <a:ext cx="87857" cy="8785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7" name="紫荆的职场Point27"/>
          <p:cNvSpPr/>
          <p:nvPr/>
        </p:nvSpPr>
        <p:spPr>
          <a:xfrm flipH="1">
            <a:off x="8065780" y="2077131"/>
            <a:ext cx="87857" cy="8785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2" name="紫荆的职场Point28-1"/>
          <p:cNvSpPr/>
          <p:nvPr/>
        </p:nvSpPr>
        <p:spPr>
          <a:xfrm>
            <a:off x="10321925" y="2378075"/>
            <a:ext cx="727075" cy="727075"/>
          </a:xfrm>
          <a:prstGeom prst="roundRect">
            <a:avLst/>
          </a:prstGeom>
          <a:solidFill>
            <a:schemeClr val="accent1">
              <a:lumMod val="60000"/>
              <a:lumOff val="40000"/>
            </a:schemeClr>
          </a:solidFill>
          <a:ln w="38100">
            <a:noFill/>
          </a:ln>
          <a:effectLst>
            <a:outerShdw blurRad="411480" dist="123444" dir="5400000" sx="108000" sy="108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spcBef>
                <a:spcPts val="0"/>
              </a:spcBef>
              <a:spcAft>
                <a:spcPts val="0"/>
              </a:spcAft>
              <a:buClrTx/>
              <a:buSzTx/>
              <a:buFontTx/>
              <a:defRPr/>
            </a:pPr>
            <a:endParaRPr lang="zh-CN" altLang="en-US" sz="10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6" name="紫荆的职场Point29"/>
          <p:cNvSpPr/>
          <p:nvPr/>
        </p:nvSpPr>
        <p:spPr>
          <a:xfrm flipH="1">
            <a:off x="4633120" y="2797351"/>
            <a:ext cx="522206" cy="2918526"/>
          </a:xfrm>
          <a:prstGeom prst="rightBrace">
            <a:avLst>
              <a:gd name="adj1" fmla="val 38356"/>
              <a:gd name="adj2" fmla="val 56814"/>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3" name="紫荆的职场Point30"/>
          <p:cNvSpPr/>
          <p:nvPr/>
        </p:nvSpPr>
        <p:spPr>
          <a:xfrm>
            <a:off x="3760693" y="3915032"/>
            <a:ext cx="949683" cy="949683"/>
          </a:xfrm>
          <a:prstGeom prst="ellipse">
            <a:avLst/>
          </a:prstGeom>
          <a:solidFill>
            <a:schemeClr val="accent1">
              <a:lumMod val="20000"/>
              <a:lumOff val="80000"/>
            </a:schemeClr>
          </a:solidFill>
          <a:ln>
            <a:noFill/>
          </a:ln>
          <a:effectLst>
            <a:outerShdw blurRad="254000" dist="114300" dir="5400000" sx="99000" sy="99000" algn="t" rotWithShape="0">
              <a:schemeClr val="accent3">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4" name="紫荆的职场Point31"/>
          <p:cNvSpPr/>
          <p:nvPr/>
        </p:nvSpPr>
        <p:spPr>
          <a:xfrm>
            <a:off x="3830909" y="3979357"/>
            <a:ext cx="809250" cy="809250"/>
          </a:xfrm>
          <a:prstGeom prst="ellipse">
            <a:avLst/>
          </a:prstGeom>
          <a:gradFill flip="none" rotWithShape="1">
            <a:gsLst>
              <a:gs pos="0">
                <a:schemeClr val="accent1"/>
              </a:gs>
              <a:gs pos="100000">
                <a:schemeClr val="accent1">
                  <a:lumMod val="60000"/>
                  <a:lumOff val="40000"/>
                </a:schemeClr>
              </a:gs>
            </a:gsLst>
            <a:lin ang="16200000" scaled="1"/>
            <a:tileRect/>
          </a:gradFill>
          <a:ln>
            <a:noFill/>
          </a:ln>
          <a:effectLst>
            <a:outerShdw blurRad="254000" dist="114300" dir="5400000" sx="99000" sy="99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6" name="紫荆的职场Point32"/>
          <p:cNvSpPr txBox="1"/>
          <p:nvPr/>
        </p:nvSpPr>
        <p:spPr>
          <a:xfrm>
            <a:off x="3910945" y="4275923"/>
            <a:ext cx="649179" cy="370959"/>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品牌</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8" name="紫荆的职场Point33"/>
          <p:cNvSpPr txBox="1"/>
          <p:nvPr/>
        </p:nvSpPr>
        <p:spPr>
          <a:xfrm>
            <a:off x="3923021" y="4083217"/>
            <a:ext cx="625027" cy="278219"/>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Brand</a:t>
            </a:r>
            <a:endPar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9" name="紫荆的职场Point34-1"/>
          <p:cNvSpPr/>
          <p:nvPr/>
        </p:nvSpPr>
        <p:spPr>
          <a:xfrm>
            <a:off x="5167630" y="5323205"/>
            <a:ext cx="727075" cy="727075"/>
          </a:xfrm>
          <a:prstGeom prst="roundRect">
            <a:avLst/>
          </a:prstGeom>
          <a:solidFill>
            <a:schemeClr val="accent1">
              <a:lumMod val="60000"/>
              <a:lumOff val="40000"/>
            </a:schemeClr>
          </a:solidFill>
          <a:ln w="38100">
            <a:noFill/>
          </a:ln>
          <a:effectLst>
            <a:outerShdw blurRad="411480" dist="123444" dir="5400000" sx="108000" sy="108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spcBef>
                <a:spcPts val="0"/>
              </a:spcBef>
              <a:spcAft>
                <a:spcPts val="0"/>
              </a:spcAft>
              <a:buClrTx/>
              <a:buSzTx/>
              <a:buFontTx/>
              <a:defRPr/>
            </a:pPr>
            <a:endParaRPr lang="zh-CN" altLang="en-US" sz="10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9" name="紫荆的职场Point34-2"/>
          <p:cNvSpPr txBox="1"/>
          <p:nvPr/>
        </p:nvSpPr>
        <p:spPr>
          <a:xfrm>
            <a:off x="5168265" y="5424170"/>
            <a:ext cx="726440" cy="52578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新零售</a:t>
            </a:r>
            <a:endParaRPr kumimoji="0" lang="en-US" altLang="zh-CN"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部门</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217" name="紫荆的职场Point35"/>
          <p:cNvGrpSpPr/>
          <p:nvPr/>
        </p:nvGrpSpPr>
        <p:grpSpPr>
          <a:xfrm>
            <a:off x="5967121" y="5628020"/>
            <a:ext cx="2455991" cy="87857"/>
            <a:chOff x="6007154" y="5665628"/>
            <a:chExt cx="2445218" cy="87472"/>
          </a:xfrm>
        </p:grpSpPr>
        <p:sp>
          <p:nvSpPr>
            <p:cNvPr id="50" name="紫荆的职场Point35-1"/>
            <p:cNvSpPr/>
            <p:nvPr/>
          </p:nvSpPr>
          <p:spPr>
            <a:xfrm>
              <a:off x="6007154" y="5665628"/>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1" name="紫荆的职场Point35-2"/>
            <p:cNvSpPr/>
            <p:nvPr/>
          </p:nvSpPr>
          <p:spPr>
            <a:xfrm>
              <a:off x="8364900" y="5665628"/>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07" name="紫荆的职场Point35-3"/>
            <p:cNvCxnSpPr/>
            <p:nvPr/>
          </p:nvCxnSpPr>
          <p:spPr>
            <a:xfrm>
              <a:off x="6094626" y="5701230"/>
              <a:ext cx="2255651" cy="0"/>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grpSp>
      <p:sp>
        <p:nvSpPr>
          <p:cNvPr id="212" name="紫荆的职场Point36-1"/>
          <p:cNvSpPr/>
          <p:nvPr/>
        </p:nvSpPr>
        <p:spPr>
          <a:xfrm>
            <a:off x="8495030" y="5407025"/>
            <a:ext cx="1442720" cy="559435"/>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1"/>
            </a:solidFill>
            <a:prstDash val="solid"/>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231" name="紫荆的职场Point37"/>
          <p:cNvGrpSpPr/>
          <p:nvPr/>
        </p:nvGrpSpPr>
        <p:grpSpPr>
          <a:xfrm>
            <a:off x="5962834" y="4032666"/>
            <a:ext cx="672616" cy="871072"/>
            <a:chOff x="5286396" y="1495505"/>
            <a:chExt cx="669666" cy="867251"/>
          </a:xfrm>
        </p:grpSpPr>
        <p:sp>
          <p:nvSpPr>
            <p:cNvPr id="232" name="紫荆的职场Point37-1"/>
            <p:cNvSpPr/>
            <p:nvPr/>
          </p:nvSpPr>
          <p:spPr>
            <a:xfrm>
              <a:off x="5286396" y="1888054"/>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3" name="紫荆的职场Point37-2"/>
            <p:cNvSpPr/>
            <p:nvPr/>
          </p:nvSpPr>
          <p:spPr>
            <a:xfrm>
              <a:off x="5868590" y="1495505"/>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34" name="紫荆的职场Point37-3"/>
            <p:cNvCxnSpPr>
              <a:stCxn id="232" idx="6"/>
              <a:endCxn id="235" idx="1"/>
            </p:cNvCxnSpPr>
            <p:nvPr/>
          </p:nvCxnSpPr>
          <p:spPr>
            <a:xfrm flipV="1">
              <a:off x="5373868" y="1930400"/>
              <a:ext cx="289057" cy="1390"/>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235" name="紫荆的职场Point37-4"/>
            <p:cNvSpPr/>
            <p:nvPr/>
          </p:nvSpPr>
          <p:spPr>
            <a:xfrm>
              <a:off x="5662925" y="1541780"/>
              <a:ext cx="206340" cy="777240"/>
            </a:xfrm>
            <a:prstGeom prst="leftBracket">
              <a:avLst>
                <a:gd name="adj" fmla="val 0"/>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000000"/>
                  </a:solidFill>
                  <a:latin typeface="Roboto Regular"/>
                  <a:ea typeface="+mn-ea"/>
                  <a:cs typeface="+mn-cs"/>
                </a:defRPr>
              </a:lvl1pPr>
              <a:lvl2pPr marL="457200" algn="l" defTabSz="914400" rtl="0" eaLnBrk="1" latinLnBrk="0" hangingPunct="1">
                <a:defRPr sz="1800" kern="1200">
                  <a:solidFill>
                    <a:srgbClr val="000000"/>
                  </a:solidFill>
                  <a:latin typeface="Roboto Regular"/>
                  <a:ea typeface="+mn-ea"/>
                  <a:cs typeface="+mn-cs"/>
                </a:defRPr>
              </a:lvl2pPr>
              <a:lvl3pPr marL="914400" algn="l" defTabSz="914400" rtl="0" eaLnBrk="1" latinLnBrk="0" hangingPunct="1">
                <a:defRPr sz="1800" kern="1200">
                  <a:solidFill>
                    <a:srgbClr val="000000"/>
                  </a:solidFill>
                  <a:latin typeface="Roboto Regular"/>
                  <a:ea typeface="+mn-ea"/>
                  <a:cs typeface="+mn-cs"/>
                </a:defRPr>
              </a:lvl3pPr>
              <a:lvl4pPr marL="1371600" algn="l" defTabSz="914400" rtl="0" eaLnBrk="1" latinLnBrk="0" hangingPunct="1">
                <a:defRPr sz="1800" kern="1200">
                  <a:solidFill>
                    <a:srgbClr val="000000"/>
                  </a:solidFill>
                  <a:latin typeface="Roboto Regular"/>
                  <a:ea typeface="+mn-ea"/>
                  <a:cs typeface="+mn-cs"/>
                </a:defRPr>
              </a:lvl4pPr>
              <a:lvl5pPr marL="1828800" algn="l" defTabSz="914400" rtl="0" eaLnBrk="1" latinLnBrk="0" hangingPunct="1">
                <a:defRPr sz="1800" kern="1200">
                  <a:solidFill>
                    <a:srgbClr val="000000"/>
                  </a:solidFill>
                  <a:latin typeface="Roboto Regular"/>
                  <a:ea typeface="+mn-ea"/>
                  <a:cs typeface="+mn-cs"/>
                </a:defRPr>
              </a:lvl5pPr>
              <a:lvl6pPr marL="2286000" algn="l" defTabSz="914400" rtl="0" eaLnBrk="1" latinLnBrk="0" hangingPunct="1">
                <a:defRPr sz="1800" kern="1200">
                  <a:solidFill>
                    <a:srgbClr val="000000"/>
                  </a:solidFill>
                  <a:latin typeface="Roboto Regular"/>
                  <a:ea typeface="+mn-ea"/>
                  <a:cs typeface="+mn-cs"/>
                </a:defRPr>
              </a:lvl6pPr>
              <a:lvl7pPr marL="2743200" algn="l" defTabSz="914400" rtl="0" eaLnBrk="1" latinLnBrk="0" hangingPunct="1">
                <a:defRPr sz="1800" kern="1200">
                  <a:solidFill>
                    <a:srgbClr val="000000"/>
                  </a:solidFill>
                  <a:latin typeface="Roboto Regular"/>
                  <a:ea typeface="+mn-ea"/>
                  <a:cs typeface="+mn-cs"/>
                </a:defRPr>
              </a:lvl7pPr>
              <a:lvl8pPr marL="3200400" algn="l" defTabSz="914400" rtl="0" eaLnBrk="1" latinLnBrk="0" hangingPunct="1">
                <a:defRPr sz="1800" kern="1200">
                  <a:solidFill>
                    <a:srgbClr val="000000"/>
                  </a:solidFill>
                  <a:latin typeface="Roboto Regular"/>
                  <a:ea typeface="+mn-ea"/>
                  <a:cs typeface="+mn-cs"/>
                </a:defRPr>
              </a:lvl8pPr>
              <a:lvl9pPr marL="3657600" algn="l" defTabSz="914400" rtl="0" eaLnBrk="1" latinLnBrk="0" hangingPunct="1">
                <a:defRPr sz="1800" kern="1200">
                  <a:solidFill>
                    <a:srgbClr val="000000"/>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6" name="紫荆的职场Point37-5"/>
            <p:cNvSpPr/>
            <p:nvPr/>
          </p:nvSpPr>
          <p:spPr>
            <a:xfrm>
              <a:off x="5868590" y="2275284"/>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238" name="紫荆的职场Point38-1"/>
          <p:cNvSpPr/>
          <p:nvPr/>
        </p:nvSpPr>
        <p:spPr>
          <a:xfrm>
            <a:off x="6690360" y="3813175"/>
            <a:ext cx="521970" cy="520700"/>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1"/>
            </a:solidFill>
            <a:prstDash val="solid"/>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42" name="紫荆的职场Point39-1"/>
          <p:cNvSpPr/>
          <p:nvPr/>
        </p:nvSpPr>
        <p:spPr>
          <a:xfrm>
            <a:off x="7506970" y="3813175"/>
            <a:ext cx="521970" cy="520700"/>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1"/>
            </a:solidFill>
            <a:prstDash val="solid"/>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45" name="紫荆的职场Point40-1"/>
          <p:cNvSpPr/>
          <p:nvPr/>
        </p:nvSpPr>
        <p:spPr>
          <a:xfrm>
            <a:off x="8781415" y="3813175"/>
            <a:ext cx="521970" cy="520700"/>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1"/>
            </a:solidFill>
            <a:prstDash val="solid"/>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248" name="紫荆的职场Point41"/>
          <p:cNvGrpSpPr/>
          <p:nvPr/>
        </p:nvGrpSpPr>
        <p:grpSpPr>
          <a:xfrm>
            <a:off x="7256120" y="3958143"/>
            <a:ext cx="207160" cy="258427"/>
            <a:chOff x="10783486" y="2365674"/>
            <a:chExt cx="290969" cy="362976"/>
          </a:xfrm>
        </p:grpSpPr>
        <p:sp>
          <p:nvSpPr>
            <p:cNvPr id="249" name="紫荆的职场Point41-1"/>
            <p:cNvSpPr/>
            <p:nvPr/>
          </p:nvSpPr>
          <p:spPr>
            <a:xfrm rot="16200000" flipH="1" flipV="1">
              <a:off x="10713998" y="2435162"/>
              <a:ext cx="362976" cy="223999"/>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gs>
                <a:gs pos="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0" name="紫荆的职场Point41-2"/>
            <p:cNvSpPr/>
            <p:nvPr/>
          </p:nvSpPr>
          <p:spPr>
            <a:xfrm rot="16200000" flipH="1" flipV="1">
              <a:off x="10854937" y="2468187"/>
              <a:ext cx="281088" cy="157949"/>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gs>
                <a:gs pos="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251" name="紫荆的职场Point42"/>
          <p:cNvGrpSpPr/>
          <p:nvPr/>
        </p:nvGrpSpPr>
        <p:grpSpPr>
          <a:xfrm>
            <a:off x="8072515" y="3958143"/>
            <a:ext cx="207160" cy="258427"/>
            <a:chOff x="10783486" y="2365674"/>
            <a:chExt cx="290969" cy="362976"/>
          </a:xfrm>
        </p:grpSpPr>
        <p:sp>
          <p:nvSpPr>
            <p:cNvPr id="252" name="紫荆的职场Point42-1"/>
            <p:cNvSpPr/>
            <p:nvPr/>
          </p:nvSpPr>
          <p:spPr>
            <a:xfrm rot="16200000" flipH="1" flipV="1">
              <a:off x="10713998" y="2435162"/>
              <a:ext cx="362976" cy="223999"/>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gs>
                <a:gs pos="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3" name="紫荆的职场Point42-2"/>
            <p:cNvSpPr/>
            <p:nvPr/>
          </p:nvSpPr>
          <p:spPr>
            <a:xfrm rot="16200000" flipH="1" flipV="1">
              <a:off x="10854937" y="2468187"/>
              <a:ext cx="281088" cy="157949"/>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gs>
                <a:gs pos="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254" name="紫荆的职场Point43"/>
          <p:cNvSpPr txBox="1"/>
          <p:nvPr/>
        </p:nvSpPr>
        <p:spPr>
          <a:xfrm>
            <a:off x="8202615" y="3833947"/>
            <a:ext cx="649178" cy="37095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a:t>
            </a:r>
            <a:endParaRPr kumimoji="0" lang="en-US" altLang="zh-CN" sz="18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6" name="紫荆的职场Point44-1"/>
          <p:cNvSpPr/>
          <p:nvPr/>
        </p:nvSpPr>
        <p:spPr>
          <a:xfrm>
            <a:off x="6690360" y="4587875"/>
            <a:ext cx="521970" cy="520700"/>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1"/>
            </a:solidFill>
            <a:prstDash val="solid"/>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269" name="紫荆的职场Point45"/>
          <p:cNvGrpSpPr/>
          <p:nvPr/>
        </p:nvGrpSpPr>
        <p:grpSpPr>
          <a:xfrm>
            <a:off x="7264307" y="4804167"/>
            <a:ext cx="1465609" cy="87857"/>
            <a:chOff x="7207706" y="4845389"/>
            <a:chExt cx="1459180" cy="87472"/>
          </a:xfrm>
        </p:grpSpPr>
        <p:sp>
          <p:nvSpPr>
            <p:cNvPr id="260" name="紫荆的职场Point45-1"/>
            <p:cNvSpPr/>
            <p:nvPr/>
          </p:nvSpPr>
          <p:spPr>
            <a:xfrm>
              <a:off x="7207706" y="4845389"/>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1" name="紫荆的职场Point45-2"/>
            <p:cNvSpPr/>
            <p:nvPr/>
          </p:nvSpPr>
          <p:spPr>
            <a:xfrm>
              <a:off x="8579414" y="4845389"/>
              <a:ext cx="87472" cy="8747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62" name="紫荆的职场Point45-3"/>
            <p:cNvCxnSpPr/>
            <p:nvPr/>
          </p:nvCxnSpPr>
          <p:spPr>
            <a:xfrm>
              <a:off x="7295178" y="4880991"/>
              <a:ext cx="1288046" cy="0"/>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grpSp>
      <p:sp>
        <p:nvSpPr>
          <p:cNvPr id="266" name="紫荆的职场Point46-1"/>
          <p:cNvSpPr/>
          <p:nvPr/>
        </p:nvSpPr>
        <p:spPr>
          <a:xfrm>
            <a:off x="8781415" y="4587875"/>
            <a:ext cx="521970" cy="520700"/>
          </a:xfrm>
          <a:prstGeom prst="roundRect">
            <a:avLst>
              <a:gd name="adj" fmla="val 8732"/>
            </a:avLst>
          </a:prstGeom>
          <a:gradFill flip="none" rotWithShape="1">
            <a:gsLst>
              <a:gs pos="100000">
                <a:schemeClr val="bg1"/>
              </a:gs>
              <a:gs pos="0">
                <a:schemeClr val="accent2">
                  <a:lumMod val="5000"/>
                  <a:lumOff val="95000"/>
                </a:schemeClr>
              </a:gs>
            </a:gsLst>
            <a:lin ang="16200000" scaled="1"/>
            <a:tileRect/>
          </a:gradFill>
          <a:ln w="6350">
            <a:solidFill>
              <a:schemeClr val="accent1"/>
            </a:solidFill>
            <a:prstDash val="solid"/>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cxnSp>
        <p:nvCxnSpPr>
          <p:cNvPr id="273" name="紫荆的职场Point47"/>
          <p:cNvCxnSpPr/>
          <p:nvPr/>
        </p:nvCxnSpPr>
        <p:spPr>
          <a:xfrm>
            <a:off x="4702394" y="4457302"/>
            <a:ext cx="470062" cy="0"/>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290" name="紫荆的职场Point48"/>
          <p:cNvCxnSpPr/>
          <p:nvPr/>
        </p:nvCxnSpPr>
        <p:spPr>
          <a:xfrm>
            <a:off x="9332864" y="4073680"/>
            <a:ext cx="2263134" cy="0"/>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291" name="紫荆的职场Point49"/>
          <p:cNvCxnSpPr/>
          <p:nvPr/>
        </p:nvCxnSpPr>
        <p:spPr>
          <a:xfrm>
            <a:off x="9332864" y="4848096"/>
            <a:ext cx="2263529" cy="0"/>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294" name="紫荆的职场Point50"/>
          <p:cNvCxnSpPr/>
          <p:nvPr/>
        </p:nvCxnSpPr>
        <p:spPr>
          <a:xfrm>
            <a:off x="9938645" y="5686961"/>
            <a:ext cx="1657353" cy="0"/>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296" name="紫荆的职场Point51"/>
          <p:cNvCxnSpPr/>
          <p:nvPr/>
        </p:nvCxnSpPr>
        <p:spPr>
          <a:xfrm>
            <a:off x="11595998" y="2741663"/>
            <a:ext cx="0" cy="2953801"/>
          </a:xfrm>
          <a:prstGeom prst="line">
            <a:avLst/>
          </a:prstGeom>
          <a:ln w="127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310" name="紫荆的职场Point52"/>
          <p:cNvCxnSpPr/>
          <p:nvPr/>
        </p:nvCxnSpPr>
        <p:spPr>
          <a:xfrm flipH="1">
            <a:off x="11139300" y="2741663"/>
            <a:ext cx="456697" cy="0"/>
          </a:xfrm>
          <a:prstGeom prst="straightConnector1">
            <a:avLst/>
          </a:prstGeom>
          <a:ln w="12700">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313" name="紫荆的职场Point53"/>
          <p:cNvCxnSpPr/>
          <p:nvPr/>
        </p:nvCxnSpPr>
        <p:spPr>
          <a:xfrm>
            <a:off x="8351537" y="2741663"/>
            <a:ext cx="1879998" cy="0"/>
          </a:xfrm>
          <a:prstGeom prst="straightConnector1">
            <a:avLst/>
          </a:prstGeom>
          <a:ln w="12700">
            <a:prstDash val="sysDash"/>
            <a:tailEnd type="triangle"/>
          </a:ln>
        </p:spPr>
        <p:style>
          <a:lnRef idx="2">
            <a:schemeClr val="accent1"/>
          </a:lnRef>
          <a:fillRef idx="0">
            <a:schemeClr val="accent1"/>
          </a:fillRef>
          <a:effectRef idx="1">
            <a:schemeClr val="accent1"/>
          </a:effectRef>
          <a:fontRef idx="minor">
            <a:schemeClr val="tx1"/>
          </a:fontRef>
        </p:style>
      </p:cxnSp>
      <p:sp>
        <p:nvSpPr>
          <p:cNvPr id="54" name="紫荆的职场Point55"/>
          <p:cNvSpPr txBox="1"/>
          <p:nvPr/>
        </p:nvSpPr>
        <p:spPr>
          <a:xfrm>
            <a:off x="9720857" y="3708872"/>
            <a:ext cx="1427480" cy="306705"/>
          </a:xfrm>
          <a:prstGeom prst="rect">
            <a:avLst/>
          </a:prstGeom>
          <a:noFill/>
        </p:spPr>
        <p:txBody>
          <a:bodyPr wrap="none">
            <a:spAutoFit/>
          </a:bodyPr>
          <a:lstStyle/>
          <a:p>
            <a:pPr algn="ctr">
              <a:defRPr/>
            </a:pP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线下供应链升级</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紫荆的职场Point56"/>
          <p:cNvSpPr txBox="1"/>
          <p:nvPr/>
        </p:nvSpPr>
        <p:spPr>
          <a:xfrm>
            <a:off x="8577796" y="2383026"/>
            <a:ext cx="1427480" cy="30670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线上供应链升级</a:t>
            </a:r>
            <a:endParaRPr kumimoji="0" lang="zh-CN" altLang="en-US" sz="14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7" name="紫荆的职场Point57"/>
          <p:cNvSpPr txBox="1"/>
          <p:nvPr/>
        </p:nvSpPr>
        <p:spPr>
          <a:xfrm>
            <a:off x="9720857" y="4477136"/>
            <a:ext cx="1427480" cy="30670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线下供应链升级</a:t>
            </a:r>
            <a:endParaRPr kumimoji="0" lang="zh-CN" altLang="en-US" sz="14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任意多边形: 形状 384"/>
          <p:cNvSpPr/>
          <p:nvPr/>
        </p:nvSpPr>
        <p:spPr>
          <a:xfrm rot="10800000">
            <a:off x="905510" y="2624455"/>
            <a:ext cx="363855" cy="42608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lumMod val="60000"/>
                  <a:lumOff val="40000"/>
                  <a:alpha val="0"/>
                </a:schemeClr>
              </a:gs>
              <a:gs pos="100000">
                <a:schemeClr val="accent5">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4" name="紫荆的职场Point28-2"/>
          <p:cNvSpPr txBox="1"/>
          <p:nvPr/>
        </p:nvSpPr>
        <p:spPr>
          <a:xfrm>
            <a:off x="10412351" y="2587097"/>
            <a:ext cx="546134" cy="309133"/>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用户</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5" name="紫荆的职场Point38-2"/>
          <p:cNvSpPr txBox="1"/>
          <p:nvPr/>
        </p:nvSpPr>
        <p:spPr>
          <a:xfrm>
            <a:off x="6704330" y="3841750"/>
            <a:ext cx="494665" cy="46355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一级</a:t>
            </a:r>
            <a:endParaRPr kumimoji="0" lang="zh-CN" altLang="en-US" sz="1200" b="1"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经销</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6" name="紫荆的职场Point39-2"/>
          <p:cNvSpPr txBox="1"/>
          <p:nvPr/>
        </p:nvSpPr>
        <p:spPr>
          <a:xfrm>
            <a:off x="7520305" y="3841750"/>
            <a:ext cx="494665" cy="46355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二级</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经销</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8" name="紫荆的职场Point36-2"/>
          <p:cNvSpPr txBox="1"/>
          <p:nvPr/>
        </p:nvSpPr>
        <p:spPr>
          <a:xfrm>
            <a:off x="8594090" y="5455285"/>
            <a:ext cx="1244600" cy="46355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数字门店</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自有</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加盟</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合作</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9" name="紫荆的职场Point44-2"/>
          <p:cNvSpPr txBox="1"/>
          <p:nvPr/>
        </p:nvSpPr>
        <p:spPr>
          <a:xfrm>
            <a:off x="6746240" y="4709160"/>
            <a:ext cx="410845" cy="27813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KA</a:t>
            </a:r>
            <a:endParaRPr kumimoji="0" lang="en-US" altLang="zh-CN"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0" name="紫荆的职场Point46-2"/>
          <p:cNvSpPr txBox="1"/>
          <p:nvPr/>
        </p:nvSpPr>
        <p:spPr>
          <a:xfrm>
            <a:off x="8795385" y="4709160"/>
            <a:ext cx="494665" cy="27813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门店</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7" name="紫荆的职场Point40-2"/>
          <p:cNvSpPr txBox="1"/>
          <p:nvPr/>
        </p:nvSpPr>
        <p:spPr>
          <a:xfrm>
            <a:off x="8795385" y="3934460"/>
            <a:ext cx="494665" cy="27813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门店</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会员运营管理流程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9" name="圆角矩形 28"/>
          <p:cNvSpPr/>
          <p:nvPr/>
        </p:nvSpPr>
        <p:spPr bwMode="auto">
          <a:xfrm>
            <a:off x="946150" y="1858645"/>
            <a:ext cx="10299700" cy="3926205"/>
          </a:xfrm>
          <a:prstGeom prst="roundRect">
            <a:avLst>
              <a:gd name="adj" fmla="val 1499"/>
            </a:avLst>
          </a:prstGeom>
          <a:solidFill>
            <a:schemeClr val="accent1">
              <a:lumMod val="20000"/>
              <a:lumOff val="80000"/>
              <a:alpha val="20000"/>
            </a:schemeClr>
          </a:solidFill>
          <a:ln w="19050" cap="flat" cmpd="sng" algn="ctr">
            <a:solidFill>
              <a:schemeClr val="accent1">
                <a:lumMod val="60000"/>
                <a:lumOff val="40000"/>
                <a:alpha val="70000"/>
              </a:schemeClr>
            </a:solidFill>
            <a:prstDash val="solid"/>
            <a:round/>
            <a:headEnd type="none" w="med" len="med"/>
            <a:tailEnd type="none" w="med" len="med"/>
          </a:ln>
          <a:effectLst/>
        </p:spPr>
        <p:txBody>
          <a:bodyPr wrap="none" anchor="ctr"/>
          <a:lstStyle/>
          <a:p>
            <a:pPr algn="ctr" eaLnBrk="0" hangingPunct="0">
              <a:lnSpc>
                <a:spcPts val="3350"/>
              </a:lnSpc>
              <a:defRPr/>
            </a:pP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94" name="组合 93"/>
          <p:cNvGrpSpPr/>
          <p:nvPr/>
        </p:nvGrpSpPr>
        <p:grpSpPr>
          <a:xfrm>
            <a:off x="7794625" y="4380391"/>
            <a:ext cx="530051" cy="578959"/>
            <a:chOff x="518443" y="3109316"/>
            <a:chExt cx="635000" cy="696384"/>
          </a:xfrm>
          <a:solidFill>
            <a:schemeClr val="accent5"/>
          </a:solidFill>
        </p:grpSpPr>
        <p:sp>
          <p:nvSpPr>
            <p:cNvPr id="66" name="矩形 2"/>
            <p:cNvSpPr>
              <a:spLocks noChangeArrowheads="1"/>
            </p:cNvSpPr>
            <p:nvPr/>
          </p:nvSpPr>
          <p:spPr bwMode="auto">
            <a:xfrm>
              <a:off x="518443" y="3109316"/>
              <a:ext cx="635000" cy="309765"/>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lIns="0" rIns="0" anchor="ctr"/>
            <a:lstStyle/>
            <a:p>
              <a:pPr algn="ctr" eaLnBrk="0" hangingPunct="0"/>
              <a:r>
                <a:rPr lang="zh-CN" sz="900" b="0" dirty="0">
                  <a:solidFill>
                    <a:schemeClr val="bg1"/>
                  </a:solidFill>
                  <a:latin typeface="微软雅黑" panose="020B0503020204020204" charset="-122"/>
                  <a:ea typeface="微软雅黑" panose="020B0503020204020204" charset="-122"/>
                  <a:cs typeface="微软雅黑" panose="020B0503020204020204" charset="-122"/>
                </a:rPr>
                <a:t>集团</a:t>
              </a:r>
              <a:endParaRPr lang="zh-CN" sz="900" b="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7" name="矩形 44"/>
            <p:cNvSpPr>
              <a:spLocks noChangeArrowheads="1"/>
            </p:cNvSpPr>
            <p:nvPr/>
          </p:nvSpPr>
          <p:spPr bwMode="auto">
            <a:xfrm>
              <a:off x="518443" y="3496736"/>
              <a:ext cx="635000" cy="308964"/>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lIns="0" rIns="0" anchor="ctr"/>
            <a:lstStyle/>
            <a:p>
              <a:pPr algn="ctr" eaLnBrk="0" hangingPunct="0"/>
              <a:r>
                <a:rPr lang="zh-CN" altLang="en-US" sz="900" b="0" dirty="0">
                  <a:solidFill>
                    <a:schemeClr val="bg1"/>
                  </a:solidFill>
                  <a:latin typeface="微软雅黑" panose="020B0503020204020204" charset="-122"/>
                  <a:ea typeface="微软雅黑" panose="020B0503020204020204" charset="-122"/>
                  <a:cs typeface="微软雅黑" panose="020B0503020204020204" charset="-122"/>
                </a:rPr>
                <a:t>子公司</a:t>
              </a:r>
              <a:endParaRPr lang="zh-CN" altLang="en-US" sz="900" b="0" dirty="0">
                <a:solidFill>
                  <a:schemeClr val="bg1"/>
                </a:solidFill>
                <a:latin typeface="微软雅黑" panose="020B0503020204020204" charset="-122"/>
                <a:ea typeface="微软雅黑" panose="020B0503020204020204" charset="-122"/>
                <a:cs typeface="微软雅黑" panose="020B0503020204020204" charset="-122"/>
              </a:endParaRPr>
            </a:p>
          </p:txBody>
        </p:sp>
      </p:grpSp>
      <p:cxnSp>
        <p:nvCxnSpPr>
          <p:cNvPr id="74" name="肘形连接符 73"/>
          <p:cNvCxnSpPr>
            <a:stCxn id="96" idx="1"/>
          </p:cNvCxnSpPr>
          <p:nvPr/>
        </p:nvCxnSpPr>
        <p:spPr bwMode="auto">
          <a:xfrm rot="10800000" flipV="1">
            <a:off x="4923155" y="3168650"/>
            <a:ext cx="954405" cy="7620"/>
          </a:xfrm>
          <a:prstGeom prst="bentConnector3">
            <a:avLst>
              <a:gd name="adj1" fmla="val 49967"/>
            </a:avLst>
          </a:prstGeom>
          <a:solidFill>
            <a:schemeClr val="bg1"/>
          </a:solidFill>
          <a:ln w="19050" cap="flat" cmpd="sng" algn="ctr">
            <a:solidFill>
              <a:schemeClr val="bg1">
                <a:lumMod val="65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96" name="TextBox 95"/>
          <p:cNvSpPr txBox="1"/>
          <p:nvPr/>
        </p:nvSpPr>
        <p:spPr>
          <a:xfrm>
            <a:off x="5878195" y="3003407"/>
            <a:ext cx="1638935" cy="331121"/>
          </a:xfrm>
          <a:prstGeom prst="roundRect">
            <a:avLst>
              <a:gd name="adj" fmla="val 12588"/>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p>
            <a:pPr lvl="0" algn="ctr">
              <a:buClrTx/>
              <a:buSzTx/>
              <a:buFontTx/>
              <a:defRPr/>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车主维系与关怀</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98" name="TextBox 97"/>
          <p:cNvSpPr txBox="1"/>
          <p:nvPr/>
        </p:nvSpPr>
        <p:spPr>
          <a:xfrm>
            <a:off x="5878195" y="3382010"/>
            <a:ext cx="1638935" cy="249555"/>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客户关怀服务提醒</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9" name="TextBox 98"/>
          <p:cNvSpPr txBox="1"/>
          <p:nvPr/>
        </p:nvSpPr>
        <p:spPr>
          <a:xfrm>
            <a:off x="5878195" y="3674110"/>
            <a:ext cx="1638935" cy="249555"/>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客户投诉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0" name="TextBox 99"/>
          <p:cNvSpPr txBox="1"/>
          <p:nvPr/>
        </p:nvSpPr>
        <p:spPr>
          <a:xfrm>
            <a:off x="5878195" y="3955415"/>
            <a:ext cx="1638935" cy="249555"/>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会员信息提醒</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1" name="TextBox 100"/>
          <p:cNvSpPr txBox="1"/>
          <p:nvPr/>
        </p:nvSpPr>
        <p:spPr>
          <a:xfrm>
            <a:off x="5878195" y="4239895"/>
            <a:ext cx="1638935" cy="249555"/>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奖励品管理与信息发布</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2" name="TextBox 101"/>
          <p:cNvSpPr txBox="1"/>
          <p:nvPr/>
        </p:nvSpPr>
        <p:spPr>
          <a:xfrm>
            <a:off x="5871845" y="4523740"/>
            <a:ext cx="1638935" cy="249555"/>
          </a:xfrm>
          <a:prstGeom prst="roundRect">
            <a:avLst>
              <a:gd name="adj" fmla="val 12588"/>
            </a:avLst>
          </a:prstGeom>
          <a:solidFill>
            <a:schemeClr val="accent5"/>
          </a:solidFill>
          <a:ln>
            <a:no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buNone/>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营销服务类活动</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1" name="TextBox 110"/>
          <p:cNvSpPr txBox="1"/>
          <p:nvPr/>
        </p:nvSpPr>
        <p:spPr>
          <a:xfrm>
            <a:off x="5871845" y="4808220"/>
            <a:ext cx="1638935" cy="249555"/>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产品、服务优势教育</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5" name="TextBox 114"/>
          <p:cNvSpPr txBox="1"/>
          <p:nvPr/>
        </p:nvSpPr>
        <p:spPr>
          <a:xfrm>
            <a:off x="1226820" y="2750042"/>
            <a:ext cx="1541780" cy="331121"/>
          </a:xfrm>
          <a:prstGeom prst="roundRect">
            <a:avLst>
              <a:gd name="adj" fmla="val 12588"/>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p>
            <a:pPr lvl="0" algn="ctr">
              <a:buClrTx/>
              <a:buSzTx/>
              <a:buFontTx/>
              <a:defRPr/>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存量客户</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16" name="Freeform 3"/>
          <p:cNvSpPr/>
          <p:nvPr/>
        </p:nvSpPr>
        <p:spPr>
          <a:xfrm>
            <a:off x="7592060" y="4511675"/>
            <a:ext cx="127635" cy="325755"/>
          </a:xfrm>
          <a:custGeom>
            <a:avLst/>
            <a:gdLst>
              <a:gd name="connsiteX0" fmla="*/ 569912 w 584199"/>
              <a:gd name="connsiteY0" fmla="*/ 1757870 h 1772157"/>
              <a:gd name="connsiteX1" fmla="*/ 292163 w 584199"/>
              <a:gd name="connsiteY1" fmla="*/ 1406842 h 1772157"/>
              <a:gd name="connsiteX2" fmla="*/ 292163 w 584199"/>
              <a:gd name="connsiteY2" fmla="*/ 1237170 h 1772157"/>
              <a:gd name="connsiteX3" fmla="*/ 14287 w 584199"/>
              <a:gd name="connsiteY3" fmla="*/ 886142 h 1772157"/>
              <a:gd name="connsiteX4" fmla="*/ 292163 w 584199"/>
              <a:gd name="connsiteY4" fmla="*/ 534987 h 1772157"/>
              <a:gd name="connsiteX5" fmla="*/ 292163 w 584199"/>
              <a:gd name="connsiteY5" fmla="*/ 365442 h 1772157"/>
              <a:gd name="connsiteX6" fmla="*/ 569912 w 584199"/>
              <a:gd name="connsiteY6" fmla="*/ 14287 h 17721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584199" h="1772157">
                <a:moveTo>
                  <a:pt x="569912" y="1757870"/>
                </a:moveTo>
                <a:cubicBezTo>
                  <a:pt x="416496" y="1757870"/>
                  <a:pt x="292163" y="1600771"/>
                  <a:pt x="292163" y="1406842"/>
                </a:cubicBezTo>
                <a:lnTo>
                  <a:pt x="292163" y="1237170"/>
                </a:lnTo>
                <a:cubicBezTo>
                  <a:pt x="292163" y="1043241"/>
                  <a:pt x="167703" y="886142"/>
                  <a:pt x="14287" y="886142"/>
                </a:cubicBezTo>
                <a:cubicBezTo>
                  <a:pt x="167703" y="886142"/>
                  <a:pt x="292163" y="728916"/>
                  <a:pt x="292163" y="534987"/>
                </a:cubicBezTo>
                <a:lnTo>
                  <a:pt x="292163" y="365442"/>
                </a:lnTo>
                <a:cubicBezTo>
                  <a:pt x="292163" y="171513"/>
                  <a:pt x="416496" y="14287"/>
                  <a:pt x="569912" y="14287"/>
                </a:cubicBezTo>
              </a:path>
            </a:pathLst>
          </a:custGeom>
          <a:ln w="25400">
            <a:solidFill>
              <a:schemeClr val="accent5"/>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118" name="肘形连接符 117"/>
          <p:cNvCxnSpPr/>
          <p:nvPr/>
        </p:nvCxnSpPr>
        <p:spPr bwMode="auto">
          <a:xfrm flipH="1">
            <a:off x="2768600" y="2912745"/>
            <a:ext cx="918210" cy="0"/>
          </a:xfrm>
          <a:prstGeom prst="straightConnector1">
            <a:avLst/>
          </a:prstGeom>
          <a:solidFill>
            <a:schemeClr val="bg1"/>
          </a:solidFill>
          <a:ln w="19050" cap="flat" cmpd="sng" algn="ctr">
            <a:solidFill>
              <a:schemeClr val="bg1">
                <a:lumMod val="65000"/>
              </a:schemeClr>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31" name="TextBox 130"/>
          <p:cNvSpPr txBox="1"/>
          <p:nvPr/>
        </p:nvSpPr>
        <p:spPr>
          <a:xfrm>
            <a:off x="5871845" y="2520315"/>
            <a:ext cx="1100455" cy="214630"/>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lIns="0" rIns="0" numCol="1" spcCol="0" rtlCol="0" fromWordArt="0" anchor="ctr" anchorCtr="0" forceAA="0" compatLnSpc="1">
            <a:noAutofit/>
          </a:bodyP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lvl="0" algn="ctr">
              <a:buClrTx/>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rPr>
              <a:t>沟通接触点管理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32" name="TextBox 131"/>
          <p:cNvSpPr txBox="1"/>
          <p:nvPr/>
        </p:nvSpPr>
        <p:spPr>
          <a:xfrm>
            <a:off x="1885315" y="2073910"/>
            <a:ext cx="1541780" cy="332105"/>
          </a:xfrm>
          <a:prstGeom prst="roundRect">
            <a:avLst>
              <a:gd name="adj" fmla="val 12588"/>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ctr">
              <a:defRPr/>
            </a:pPr>
            <a:r>
              <a:rPr lang="zh-CN" altLang="en-US" sz="1400" b="0" dirty="0">
                <a:solidFill>
                  <a:schemeClr val="bg1"/>
                </a:solidFill>
                <a:latin typeface="微软雅黑" panose="020B0503020204020204" charset="-122"/>
                <a:ea typeface="微软雅黑" panose="020B0503020204020204" charset="-122"/>
                <a:cs typeface="微软雅黑" panose="020B0503020204020204" charset="-122"/>
              </a:rPr>
              <a:t>增量客户</a:t>
            </a:r>
            <a:endParaRPr lang="zh-CN" altLang="en-US" sz="1400" b="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133" name="肘形连接符 132"/>
          <p:cNvCxnSpPr>
            <a:stCxn id="95" idx="0"/>
          </p:cNvCxnSpPr>
          <p:nvPr/>
        </p:nvCxnSpPr>
        <p:spPr bwMode="auto">
          <a:xfrm rot="16200000" flipV="1">
            <a:off x="3585210" y="2074545"/>
            <a:ext cx="567055" cy="873760"/>
          </a:xfrm>
          <a:prstGeom prst="bentConnector2">
            <a:avLst/>
          </a:prstGeom>
          <a:solidFill>
            <a:schemeClr val="bg1"/>
          </a:solidFill>
          <a:ln w="19050" cap="flat" cmpd="sng" algn="ctr">
            <a:solidFill>
              <a:schemeClr val="bg1">
                <a:lumMod val="65000"/>
              </a:schemeClr>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37" name="流程图: 联系 116"/>
          <p:cNvSpPr>
            <a:spLocks noChangeArrowheads="1"/>
          </p:cNvSpPr>
          <p:nvPr/>
        </p:nvSpPr>
        <p:spPr bwMode="auto">
          <a:xfrm>
            <a:off x="5815965" y="3328035"/>
            <a:ext cx="123825" cy="129540"/>
          </a:xfrm>
          <a:prstGeom prst="flowChartConnector">
            <a:avLst/>
          </a:prstGeom>
          <a:solidFill>
            <a:schemeClr val="bg1">
              <a:lumMod val="65000"/>
            </a:schemeClr>
          </a:solidFill>
          <a:ln w="9525" algn="ctr">
            <a:solidFill>
              <a:schemeClr val="bg1"/>
            </a:solidFill>
            <a:round/>
          </a:ln>
        </p:spPr>
        <p:txBody>
          <a:bodyPr lIns="0" tIns="0" rIns="0" bIns="0"/>
          <a:lstStyle/>
          <a:p>
            <a:pPr defTabSz="675005"/>
            <a:endParaRPr lang="zh-CN" altLang="en-US" sz="800" b="0"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8" name="流程图: 联系 116"/>
          <p:cNvSpPr>
            <a:spLocks noChangeArrowheads="1"/>
          </p:cNvSpPr>
          <p:nvPr/>
        </p:nvSpPr>
        <p:spPr bwMode="auto">
          <a:xfrm>
            <a:off x="5815965" y="3628390"/>
            <a:ext cx="123825" cy="129540"/>
          </a:xfrm>
          <a:prstGeom prst="flowChartConnector">
            <a:avLst/>
          </a:prstGeom>
          <a:solidFill>
            <a:schemeClr val="bg1">
              <a:lumMod val="65000"/>
            </a:schemeClr>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9" name="流程图: 联系 116"/>
          <p:cNvSpPr>
            <a:spLocks noChangeArrowheads="1"/>
          </p:cNvSpPr>
          <p:nvPr/>
        </p:nvSpPr>
        <p:spPr bwMode="auto">
          <a:xfrm>
            <a:off x="5815965" y="3916045"/>
            <a:ext cx="123825" cy="129540"/>
          </a:xfrm>
          <a:prstGeom prst="flowChartConnector">
            <a:avLst/>
          </a:prstGeom>
          <a:solidFill>
            <a:schemeClr val="bg1">
              <a:lumMod val="65000"/>
            </a:schemeClr>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0" name="流程图: 联系 116"/>
          <p:cNvSpPr>
            <a:spLocks noChangeArrowheads="1"/>
          </p:cNvSpPr>
          <p:nvPr/>
        </p:nvSpPr>
        <p:spPr bwMode="auto">
          <a:xfrm>
            <a:off x="5815965" y="4216400"/>
            <a:ext cx="123825" cy="129540"/>
          </a:xfrm>
          <a:prstGeom prst="flowChartConnector">
            <a:avLst/>
          </a:prstGeom>
          <a:solidFill>
            <a:schemeClr val="bg1">
              <a:lumMod val="65000"/>
            </a:schemeClr>
          </a:solidFill>
          <a:ln w="9525" algn="ctr">
            <a:solidFill>
              <a:schemeClr val="bg1">
                <a:lumMod val="65000"/>
              </a:schemeClr>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1" name="流程图: 联系 116"/>
          <p:cNvSpPr>
            <a:spLocks noChangeArrowheads="1"/>
          </p:cNvSpPr>
          <p:nvPr/>
        </p:nvSpPr>
        <p:spPr bwMode="auto">
          <a:xfrm>
            <a:off x="5815965" y="4472940"/>
            <a:ext cx="123825" cy="129540"/>
          </a:xfrm>
          <a:prstGeom prst="flowChartConnector">
            <a:avLst/>
          </a:prstGeom>
          <a:solidFill>
            <a:schemeClr val="accent5">
              <a:lumMod val="60000"/>
              <a:lumOff val="40000"/>
            </a:schemeClr>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2" name="流程图: 联系 116"/>
          <p:cNvSpPr>
            <a:spLocks noChangeArrowheads="1"/>
          </p:cNvSpPr>
          <p:nvPr/>
        </p:nvSpPr>
        <p:spPr bwMode="auto">
          <a:xfrm>
            <a:off x="5815965" y="4773295"/>
            <a:ext cx="123825" cy="129540"/>
          </a:xfrm>
          <a:prstGeom prst="flowChartConnector">
            <a:avLst/>
          </a:prstGeom>
          <a:solidFill>
            <a:schemeClr val="bg1">
              <a:lumMod val="65000"/>
            </a:schemeClr>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43" name="肘形连接符 5"/>
          <p:cNvCxnSpPr>
            <a:cxnSpLocks noChangeShapeType="1"/>
            <a:stCxn id="142" idx="2"/>
            <a:endCxn id="131" idx="1"/>
          </p:cNvCxnSpPr>
          <p:nvPr/>
        </p:nvCxnSpPr>
        <p:spPr bwMode="auto">
          <a:xfrm rot="10800000" flipH="1">
            <a:off x="5815965" y="2626995"/>
            <a:ext cx="55880" cy="2210435"/>
          </a:xfrm>
          <a:prstGeom prst="bentConnector3">
            <a:avLst>
              <a:gd name="adj1" fmla="val -76136"/>
            </a:avLst>
          </a:prstGeom>
          <a:noFill/>
          <a:ln w="12700" algn="ctr">
            <a:solidFill>
              <a:schemeClr val="tx2">
                <a:lumMod val="60000"/>
                <a:lumOff val="40000"/>
              </a:schemeClr>
            </a:solidFill>
            <a:prstDash val="sysDot"/>
            <a:round/>
            <a:tailEnd type="triangle" w="sm" len="sm"/>
          </a:ln>
          <a:extLst>
            <a:ext uri="{909E8E84-426E-40DD-AFC4-6F175D3DCCD1}">
              <a14:hiddenFill xmlns:a14="http://schemas.microsoft.com/office/drawing/2010/main">
                <a:noFill/>
              </a14:hiddenFill>
            </a:ext>
          </a:extLst>
        </p:spPr>
      </p:cxnSp>
      <p:cxnSp>
        <p:nvCxnSpPr>
          <p:cNvPr id="149" name="肘形连接符 148"/>
          <p:cNvCxnSpPr>
            <a:stCxn id="111" idx="2"/>
            <a:endCxn id="95" idx="1"/>
          </p:cNvCxnSpPr>
          <p:nvPr/>
        </p:nvCxnSpPr>
        <p:spPr bwMode="auto">
          <a:xfrm rot="5400000" flipH="1">
            <a:off x="4248150" y="2614295"/>
            <a:ext cx="1881505" cy="3005455"/>
          </a:xfrm>
          <a:prstGeom prst="bentConnector4">
            <a:avLst>
              <a:gd name="adj1" fmla="val -12657"/>
              <a:gd name="adj2" fmla="val 107918"/>
            </a:avLst>
          </a:prstGeom>
          <a:solidFill>
            <a:schemeClr val="bg1"/>
          </a:solidFill>
          <a:ln w="19050" cap="flat" cmpd="sng" algn="ctr">
            <a:solidFill>
              <a:schemeClr val="accent6">
                <a:lumMod val="60000"/>
                <a:lumOff val="40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肘形连接符 23"/>
          <p:cNvCxnSpPr>
            <a:stCxn id="25" idx="1"/>
            <a:endCxn id="6" idx="3"/>
          </p:cNvCxnSpPr>
          <p:nvPr/>
        </p:nvCxnSpPr>
        <p:spPr bwMode="auto">
          <a:xfrm rot="10800000" flipV="1">
            <a:off x="9515475" y="3386455"/>
            <a:ext cx="414655" cy="618490"/>
          </a:xfrm>
          <a:prstGeom prst="bentConnector3">
            <a:avLst>
              <a:gd name="adj1" fmla="val 49923"/>
            </a:avLst>
          </a:prstGeom>
          <a:solidFill>
            <a:schemeClr val="bg1"/>
          </a:solidFill>
          <a:ln w="19050" cap="flat" cmpd="sng" algn="ctr">
            <a:solidFill>
              <a:schemeClr val="accent6">
                <a:lumMod val="60000"/>
                <a:lumOff val="40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5" name="TextBox 173"/>
          <p:cNvSpPr txBox="1"/>
          <p:nvPr/>
        </p:nvSpPr>
        <p:spPr>
          <a:xfrm>
            <a:off x="9930130" y="3220577"/>
            <a:ext cx="1191895" cy="331121"/>
          </a:xfrm>
          <a:prstGeom prst="roundRect">
            <a:avLst>
              <a:gd name="adj" fmla="val 12588"/>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p>
            <a:pPr lvl="0" algn="ctr">
              <a:buClrTx/>
              <a:buSzTx/>
              <a:buFontTx/>
              <a:defRPr/>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异业联盟</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85" name="TextBox 184"/>
          <p:cNvSpPr txBox="1"/>
          <p:nvPr/>
        </p:nvSpPr>
        <p:spPr>
          <a:xfrm>
            <a:off x="5878195" y="2172827"/>
            <a:ext cx="1094105" cy="331121"/>
          </a:xfrm>
          <a:prstGeom prst="roundRect">
            <a:avLst>
              <a:gd name="adj" fmla="val 12588"/>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p>
            <a:pPr lvl="0" algn="ctr">
              <a:buClrTx/>
              <a:buSzTx/>
              <a:buFontTx/>
              <a:defRPr/>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服务流程</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86" name="TextBox 185"/>
          <p:cNvSpPr txBox="1"/>
          <p:nvPr/>
        </p:nvSpPr>
        <p:spPr>
          <a:xfrm>
            <a:off x="7967980" y="2162667"/>
            <a:ext cx="1292225" cy="331121"/>
          </a:xfrm>
          <a:prstGeom prst="roundRect">
            <a:avLst>
              <a:gd name="adj" fmla="val 12588"/>
            </a:avLst>
          </a:prstGeom>
          <a:solidFill>
            <a:schemeClr val="accent1">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p>
            <a:pPr lvl="0" algn="ctr">
              <a:buClrTx/>
              <a:buSzTx/>
              <a:buFontTx/>
              <a:defRPr/>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客户分析</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04" name="TextBox 203"/>
          <p:cNvSpPr txBox="1"/>
          <p:nvPr/>
        </p:nvSpPr>
        <p:spPr>
          <a:xfrm>
            <a:off x="1434465" y="4750927"/>
            <a:ext cx="1638935" cy="331121"/>
          </a:xfrm>
          <a:prstGeom prst="roundRect">
            <a:avLst>
              <a:gd name="adj" fmla="val 12588"/>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p>
            <a:pPr lvl="0" algn="ctr">
              <a:buClrTx/>
              <a:buSzTx/>
              <a:buFontTx/>
              <a:defRPr/>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协同配合</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89" name="肘形连接符 88"/>
          <p:cNvCxnSpPr>
            <a:endCxn id="30" idx="2"/>
          </p:cNvCxnSpPr>
          <p:nvPr/>
        </p:nvCxnSpPr>
        <p:spPr bwMode="auto">
          <a:xfrm flipV="1">
            <a:off x="6697345" y="4700905"/>
            <a:ext cx="3828415" cy="589280"/>
          </a:xfrm>
          <a:prstGeom prst="bentConnector2">
            <a:avLst/>
          </a:prstGeom>
          <a:solidFill>
            <a:schemeClr val="bg1"/>
          </a:solidFill>
          <a:ln w="19050" cap="flat" cmpd="sng" algn="ctr">
            <a:solidFill>
              <a:schemeClr val="accent6">
                <a:lumMod val="60000"/>
                <a:lumOff val="40000"/>
              </a:schemeClr>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3" name="肘形连接符 102"/>
          <p:cNvCxnSpPr>
            <a:stCxn id="30" idx="1"/>
            <a:endCxn id="22" idx="3"/>
          </p:cNvCxnSpPr>
          <p:nvPr/>
        </p:nvCxnSpPr>
        <p:spPr bwMode="auto">
          <a:xfrm rot="10800000" flipV="1">
            <a:off x="9544685" y="4572000"/>
            <a:ext cx="385445" cy="259080"/>
          </a:xfrm>
          <a:prstGeom prst="bentConnector3">
            <a:avLst>
              <a:gd name="adj1" fmla="val 50000"/>
            </a:avLst>
          </a:prstGeom>
          <a:solidFill>
            <a:schemeClr val="bg1"/>
          </a:solidFill>
          <a:ln w="19050" cap="flat" cmpd="sng" algn="ctr">
            <a:solidFill>
              <a:schemeClr val="accent6">
                <a:lumMod val="60000"/>
                <a:lumOff val="40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8" name="肘形连接符 5"/>
          <p:cNvCxnSpPr>
            <a:cxnSpLocks noChangeShapeType="1"/>
            <a:stCxn id="107" idx="4"/>
            <a:endCxn id="128" idx="1"/>
          </p:cNvCxnSpPr>
          <p:nvPr/>
        </p:nvCxnSpPr>
        <p:spPr bwMode="auto">
          <a:xfrm rot="5400000" flipH="1">
            <a:off x="59055" y="2392045"/>
            <a:ext cx="2099310" cy="249555"/>
          </a:xfrm>
          <a:prstGeom prst="bentConnector4">
            <a:avLst>
              <a:gd name="adj1" fmla="val -11328"/>
              <a:gd name="adj2" fmla="val 195547"/>
            </a:avLst>
          </a:prstGeom>
          <a:noFill/>
          <a:ln w="25400" algn="ctr">
            <a:solidFill>
              <a:schemeClr val="accent1"/>
            </a:solidFill>
            <a:prstDash val="sysDot"/>
            <a:round/>
            <a:tailEnd type="triangle" w="med" len="med"/>
          </a:ln>
          <a:extLst>
            <a:ext uri="{909E8E84-426E-40DD-AFC4-6F175D3DCCD1}">
              <a14:hiddenFill xmlns:a14="http://schemas.microsoft.com/office/drawing/2010/main">
                <a:noFill/>
              </a14:hiddenFill>
            </a:ext>
          </a:extLst>
        </p:spPr>
      </p:cxnSp>
      <p:cxnSp>
        <p:nvCxnSpPr>
          <p:cNvPr id="129" name="肘形连接符 128"/>
          <p:cNvCxnSpPr>
            <a:stCxn id="132" idx="2"/>
            <a:endCxn id="105" idx="1"/>
          </p:cNvCxnSpPr>
          <p:nvPr/>
        </p:nvCxnSpPr>
        <p:spPr bwMode="auto">
          <a:xfrm rot="5400000">
            <a:off x="1356360" y="2277745"/>
            <a:ext cx="1170940" cy="1428750"/>
          </a:xfrm>
          <a:prstGeom prst="bentConnector4">
            <a:avLst>
              <a:gd name="adj1" fmla="val 11169"/>
              <a:gd name="adj2" fmla="val 109574"/>
            </a:avLst>
          </a:prstGeom>
          <a:solidFill>
            <a:schemeClr val="bg1"/>
          </a:solidFill>
          <a:ln w="19050" cap="flat" cmpd="sng" algn="ctr">
            <a:solidFill>
              <a:schemeClr val="accent6">
                <a:lumMod val="60000"/>
                <a:lumOff val="40000"/>
                <a:alpha val="70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5" name="肘形连接符 5"/>
          <p:cNvCxnSpPr>
            <a:cxnSpLocks noChangeShapeType="1"/>
            <a:stCxn id="144" idx="6"/>
            <a:endCxn id="125" idx="2"/>
          </p:cNvCxnSpPr>
          <p:nvPr/>
        </p:nvCxnSpPr>
        <p:spPr bwMode="auto">
          <a:xfrm flipV="1">
            <a:off x="4963795" y="1704975"/>
            <a:ext cx="16510" cy="2052955"/>
          </a:xfrm>
          <a:prstGeom prst="bentConnector2">
            <a:avLst/>
          </a:prstGeom>
          <a:noFill/>
          <a:ln w="25400" algn="ctr">
            <a:solidFill>
              <a:schemeClr val="accent5">
                <a:lumMod val="60000"/>
                <a:lumOff val="40000"/>
              </a:schemeClr>
            </a:solidFill>
            <a:prstDash val="sysDot"/>
            <a:round/>
            <a:tailEnd type="triangle" w="med" len="med"/>
          </a:ln>
          <a:extLst>
            <a:ext uri="{909E8E84-426E-40DD-AFC4-6F175D3DCCD1}">
              <a14:hiddenFill xmlns:a14="http://schemas.microsoft.com/office/drawing/2010/main">
                <a:noFill/>
              </a14:hiddenFill>
            </a:ext>
          </a:extLst>
        </p:spPr>
      </p:cxnSp>
      <p:cxnSp>
        <p:nvCxnSpPr>
          <p:cNvPr id="152" name="肘形连接符 151"/>
          <p:cNvCxnSpPr>
            <a:stCxn id="186" idx="1"/>
            <a:endCxn id="151" idx="6"/>
          </p:cNvCxnSpPr>
          <p:nvPr/>
        </p:nvCxnSpPr>
        <p:spPr bwMode="auto">
          <a:xfrm rot="10800000" flipV="1">
            <a:off x="7510145" y="2328545"/>
            <a:ext cx="457835" cy="1422400"/>
          </a:xfrm>
          <a:prstGeom prst="bentConnector3">
            <a:avLst>
              <a:gd name="adj1" fmla="val 49896"/>
            </a:avLst>
          </a:prstGeom>
          <a:solidFill>
            <a:schemeClr val="bg1"/>
          </a:solidFill>
          <a:ln w="19050" cap="flat" cmpd="sng" algn="ctr">
            <a:solidFill>
              <a:schemeClr val="accent6">
                <a:lumMod val="60000"/>
                <a:lumOff val="40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02" name="肘形连接符 201"/>
          <p:cNvCxnSpPr/>
          <p:nvPr/>
        </p:nvCxnSpPr>
        <p:spPr bwMode="auto">
          <a:xfrm rot="10800000" flipV="1">
            <a:off x="2727960" y="3303270"/>
            <a:ext cx="711835" cy="0"/>
          </a:xfrm>
          <a:prstGeom prst="bentConnector3">
            <a:avLst>
              <a:gd name="adj1" fmla="val 75677"/>
            </a:avLst>
          </a:prstGeom>
          <a:solidFill>
            <a:schemeClr val="bg1"/>
          </a:solidFill>
          <a:ln w="19050" cap="flat" cmpd="sng" algn="ctr">
            <a:solidFill>
              <a:schemeClr val="accent6">
                <a:lumMod val="60000"/>
                <a:lumOff val="40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1" name="肘形连接符 5"/>
          <p:cNvCxnSpPr>
            <a:cxnSpLocks noChangeShapeType="1"/>
            <a:endCxn id="124" idx="3"/>
          </p:cNvCxnSpPr>
          <p:nvPr/>
        </p:nvCxnSpPr>
        <p:spPr bwMode="auto">
          <a:xfrm rot="5400000" flipH="1" flipV="1">
            <a:off x="3149600" y="1858010"/>
            <a:ext cx="1085850" cy="311150"/>
          </a:xfrm>
          <a:prstGeom prst="bentConnector4">
            <a:avLst>
              <a:gd name="adj1" fmla="val 68467"/>
              <a:gd name="adj2" fmla="val 176593"/>
            </a:avLst>
          </a:prstGeom>
          <a:noFill/>
          <a:ln w="25400" algn="ctr">
            <a:solidFill>
              <a:schemeClr val="accent1">
                <a:lumMod val="60000"/>
                <a:lumOff val="40000"/>
              </a:schemeClr>
            </a:solidFill>
            <a:prstDash val="sysDot"/>
            <a:round/>
            <a:tailEnd type="triangle" w="med" len="med"/>
          </a:ln>
          <a:extLst>
            <a:ext uri="{909E8E84-426E-40DD-AFC4-6F175D3DCCD1}">
              <a14:hiddenFill xmlns:a14="http://schemas.microsoft.com/office/drawing/2010/main">
                <a:noFill/>
              </a14:hiddenFill>
            </a:ext>
          </a:extLst>
        </p:spPr>
      </p:cxnSp>
      <p:sp>
        <p:nvSpPr>
          <p:cNvPr id="228" name="流程图: 联系 116"/>
          <p:cNvSpPr>
            <a:spLocks noChangeArrowheads="1"/>
          </p:cNvSpPr>
          <p:nvPr/>
        </p:nvSpPr>
        <p:spPr bwMode="auto">
          <a:xfrm>
            <a:off x="7416165" y="2964180"/>
            <a:ext cx="123825" cy="129540"/>
          </a:xfrm>
          <a:prstGeom prst="flowChartConnector">
            <a:avLst/>
          </a:prstGeom>
          <a:solidFill>
            <a:schemeClr val="accent1"/>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29" name="肘形连接符 5"/>
          <p:cNvCxnSpPr>
            <a:cxnSpLocks noChangeShapeType="1"/>
            <a:stCxn id="228" idx="0"/>
            <a:endCxn id="124" idx="2"/>
          </p:cNvCxnSpPr>
          <p:nvPr/>
        </p:nvCxnSpPr>
        <p:spPr bwMode="auto">
          <a:xfrm rot="16200000" flipV="1">
            <a:off x="4693285" y="179070"/>
            <a:ext cx="1259205" cy="4311015"/>
          </a:xfrm>
          <a:prstGeom prst="bentConnector3">
            <a:avLst>
              <a:gd name="adj1" fmla="val 90864"/>
            </a:avLst>
          </a:prstGeom>
          <a:noFill/>
          <a:ln w="25400" algn="ctr">
            <a:solidFill>
              <a:schemeClr val="accent1"/>
            </a:solidFill>
            <a:prstDash val="sysDot"/>
            <a:round/>
            <a:tailEnd type="triangle" w="med" len="med"/>
          </a:ln>
          <a:extLst>
            <a:ext uri="{909E8E84-426E-40DD-AFC4-6F175D3DCCD1}">
              <a14:hiddenFill xmlns:a14="http://schemas.microsoft.com/office/drawing/2010/main">
                <a:noFill/>
              </a14:hiddenFill>
            </a:ext>
          </a:extLst>
        </p:spPr>
      </p:cxnSp>
      <p:cxnSp>
        <p:nvCxnSpPr>
          <p:cNvPr id="269" name="肘形连接符 5"/>
          <p:cNvCxnSpPr>
            <a:cxnSpLocks noChangeShapeType="1"/>
            <a:stCxn id="276" idx="6"/>
            <a:endCxn id="117" idx="0"/>
          </p:cNvCxnSpPr>
          <p:nvPr/>
        </p:nvCxnSpPr>
        <p:spPr bwMode="auto">
          <a:xfrm flipV="1">
            <a:off x="11183620" y="3201670"/>
            <a:ext cx="481965" cy="40005"/>
          </a:xfrm>
          <a:prstGeom prst="bentConnector4">
            <a:avLst>
              <a:gd name="adj1" fmla="val 38460"/>
              <a:gd name="adj2" fmla="val 757831"/>
            </a:avLst>
          </a:prstGeom>
          <a:noFill/>
          <a:ln w="25400" algn="ctr">
            <a:solidFill>
              <a:schemeClr val="accent1"/>
            </a:solidFill>
            <a:prstDash val="sysDot"/>
            <a:round/>
            <a:tailEnd type="triangle" w="med" len="med"/>
          </a:ln>
          <a:extLst>
            <a:ext uri="{909E8E84-426E-40DD-AFC4-6F175D3DCCD1}">
              <a14:hiddenFill xmlns:a14="http://schemas.microsoft.com/office/drawing/2010/main">
                <a:noFill/>
              </a14:hiddenFill>
            </a:ext>
          </a:extLst>
        </p:spPr>
      </p:cxnSp>
      <p:sp>
        <p:nvSpPr>
          <p:cNvPr id="276" name="流程图: 联系 116"/>
          <p:cNvSpPr>
            <a:spLocks noChangeArrowheads="1"/>
          </p:cNvSpPr>
          <p:nvPr/>
        </p:nvSpPr>
        <p:spPr bwMode="auto">
          <a:xfrm>
            <a:off x="11059795" y="3176905"/>
            <a:ext cx="123825" cy="129540"/>
          </a:xfrm>
          <a:prstGeom prst="flowChartConnector">
            <a:avLst/>
          </a:prstGeom>
          <a:solidFill>
            <a:schemeClr val="accent1"/>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79" name="肘形连接符 5"/>
          <p:cNvCxnSpPr>
            <a:cxnSpLocks noChangeShapeType="1"/>
            <a:stCxn id="282" idx="0"/>
            <a:endCxn id="127" idx="3"/>
          </p:cNvCxnSpPr>
          <p:nvPr/>
        </p:nvCxnSpPr>
        <p:spPr bwMode="auto">
          <a:xfrm rot="16200000" flipV="1">
            <a:off x="8700135" y="1567180"/>
            <a:ext cx="624205" cy="437515"/>
          </a:xfrm>
          <a:prstGeom prst="bentConnector2">
            <a:avLst/>
          </a:prstGeom>
          <a:noFill/>
          <a:ln w="25400" algn="ctr">
            <a:solidFill>
              <a:schemeClr val="accent1">
                <a:lumMod val="60000"/>
                <a:lumOff val="40000"/>
              </a:schemeClr>
            </a:solidFill>
            <a:prstDash val="sysDot"/>
            <a:round/>
            <a:tailEnd type="triangle" w="med" len="med"/>
          </a:ln>
          <a:extLst>
            <a:ext uri="{909E8E84-426E-40DD-AFC4-6F175D3DCCD1}">
              <a14:hiddenFill xmlns:a14="http://schemas.microsoft.com/office/drawing/2010/main">
                <a:noFill/>
              </a14:hiddenFill>
            </a:ext>
          </a:extLst>
        </p:spPr>
      </p:cxnSp>
      <p:sp>
        <p:nvSpPr>
          <p:cNvPr id="281" name="流程图: 联系 116"/>
          <p:cNvSpPr>
            <a:spLocks noChangeArrowheads="1"/>
          </p:cNvSpPr>
          <p:nvPr/>
        </p:nvSpPr>
        <p:spPr bwMode="auto">
          <a:xfrm>
            <a:off x="5819775" y="2098675"/>
            <a:ext cx="123825" cy="129540"/>
          </a:xfrm>
          <a:prstGeom prst="flowChartConnector">
            <a:avLst/>
          </a:prstGeom>
          <a:solidFill>
            <a:schemeClr val="accent1">
              <a:lumMod val="60000"/>
              <a:lumOff val="40000"/>
            </a:schemeClr>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2" name="流程图: 联系 116"/>
          <p:cNvSpPr>
            <a:spLocks noChangeArrowheads="1"/>
          </p:cNvSpPr>
          <p:nvPr/>
        </p:nvSpPr>
        <p:spPr bwMode="auto">
          <a:xfrm>
            <a:off x="9168765" y="2098040"/>
            <a:ext cx="123825" cy="129540"/>
          </a:xfrm>
          <a:prstGeom prst="flowChartConnector">
            <a:avLst/>
          </a:prstGeom>
          <a:solidFill>
            <a:schemeClr val="accent1">
              <a:lumMod val="60000"/>
              <a:lumOff val="40000"/>
            </a:schemeClr>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85" name="肘形连接符 5"/>
          <p:cNvCxnSpPr>
            <a:cxnSpLocks noChangeShapeType="1"/>
            <a:stCxn id="281" idx="0"/>
            <a:endCxn id="127" idx="1"/>
          </p:cNvCxnSpPr>
          <p:nvPr/>
        </p:nvCxnSpPr>
        <p:spPr bwMode="auto">
          <a:xfrm rot="5400000" flipH="1" flipV="1">
            <a:off x="5826760" y="1527810"/>
            <a:ext cx="625475" cy="516255"/>
          </a:xfrm>
          <a:prstGeom prst="bentConnector2">
            <a:avLst/>
          </a:prstGeom>
          <a:noFill/>
          <a:ln w="25400" algn="ctr">
            <a:solidFill>
              <a:schemeClr val="accent1">
                <a:lumMod val="60000"/>
                <a:lumOff val="40000"/>
              </a:schemeClr>
            </a:solidFill>
            <a:prstDash val="sysDot"/>
            <a:round/>
            <a:tailEnd type="triangle" w="med" len="med"/>
          </a:ln>
          <a:extLst>
            <a:ext uri="{909E8E84-426E-40DD-AFC4-6F175D3DCCD1}">
              <a14:hiddenFill xmlns:a14="http://schemas.microsoft.com/office/drawing/2010/main">
                <a:noFill/>
              </a14:hiddenFill>
            </a:ext>
          </a:extLst>
        </p:spPr>
      </p:cxnSp>
      <p:sp>
        <p:nvSpPr>
          <p:cNvPr id="288" name="流程图: 联系 116"/>
          <p:cNvSpPr>
            <a:spLocks noChangeArrowheads="1"/>
          </p:cNvSpPr>
          <p:nvPr/>
        </p:nvSpPr>
        <p:spPr bwMode="auto">
          <a:xfrm>
            <a:off x="7422515" y="4205605"/>
            <a:ext cx="123825" cy="129540"/>
          </a:xfrm>
          <a:prstGeom prst="flowChartConnector">
            <a:avLst/>
          </a:prstGeom>
          <a:solidFill>
            <a:schemeClr val="accent5"/>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89" name="肘形连接符 5"/>
          <p:cNvCxnSpPr>
            <a:cxnSpLocks noChangeShapeType="1"/>
            <a:stCxn id="288" idx="5"/>
            <a:endCxn id="51" idx="3"/>
          </p:cNvCxnSpPr>
          <p:nvPr/>
        </p:nvCxnSpPr>
        <p:spPr bwMode="auto">
          <a:xfrm rot="5400000" flipV="1">
            <a:off x="7071995" y="4772025"/>
            <a:ext cx="1919605" cy="1007110"/>
          </a:xfrm>
          <a:prstGeom prst="bentConnector4">
            <a:avLst>
              <a:gd name="adj1" fmla="val 44376"/>
              <a:gd name="adj2" fmla="val 123613"/>
            </a:avLst>
          </a:prstGeom>
          <a:noFill/>
          <a:ln w="25400" algn="ctr">
            <a:solidFill>
              <a:schemeClr val="accent5"/>
            </a:solidFill>
            <a:prstDash val="sysDot"/>
            <a:round/>
            <a:tailEnd type="triangle" w="med" len="med"/>
          </a:ln>
          <a:extLst>
            <a:ext uri="{909E8E84-426E-40DD-AFC4-6F175D3DCCD1}">
              <a14:hiddenFill xmlns:a14="http://schemas.microsoft.com/office/drawing/2010/main">
                <a:noFill/>
              </a14:hiddenFill>
            </a:ext>
          </a:extLst>
        </p:spPr>
      </p:cxnSp>
      <p:sp>
        <p:nvSpPr>
          <p:cNvPr id="293" name="流程图: 联系 116"/>
          <p:cNvSpPr>
            <a:spLocks noChangeArrowheads="1"/>
          </p:cNvSpPr>
          <p:nvPr/>
        </p:nvSpPr>
        <p:spPr bwMode="auto">
          <a:xfrm>
            <a:off x="7720330" y="4636135"/>
            <a:ext cx="123825" cy="129540"/>
          </a:xfrm>
          <a:prstGeom prst="flowChartConnector">
            <a:avLst/>
          </a:prstGeom>
          <a:solidFill>
            <a:schemeClr val="accent5"/>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4" name="流程图: 联系 116"/>
          <p:cNvSpPr>
            <a:spLocks noChangeArrowheads="1"/>
          </p:cNvSpPr>
          <p:nvPr/>
        </p:nvSpPr>
        <p:spPr bwMode="auto">
          <a:xfrm>
            <a:off x="7732395" y="4335145"/>
            <a:ext cx="123825" cy="129540"/>
          </a:xfrm>
          <a:prstGeom prst="flowChartConnector">
            <a:avLst/>
          </a:prstGeom>
          <a:solidFill>
            <a:schemeClr val="accent5"/>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95" name="肘形连接符 5"/>
          <p:cNvCxnSpPr>
            <a:cxnSpLocks noChangeShapeType="1"/>
            <a:stCxn id="294" idx="4"/>
            <a:endCxn id="51" idx="0"/>
          </p:cNvCxnSpPr>
          <p:nvPr/>
        </p:nvCxnSpPr>
        <p:spPr bwMode="auto">
          <a:xfrm rot="5400000">
            <a:off x="6870700" y="5076190"/>
            <a:ext cx="1536065" cy="311785"/>
          </a:xfrm>
          <a:prstGeom prst="bentConnector3">
            <a:avLst>
              <a:gd name="adj1" fmla="val 80611"/>
            </a:avLst>
          </a:prstGeom>
          <a:solidFill>
            <a:schemeClr val="accent5"/>
          </a:solidFill>
          <a:ln w="25400" algn="ctr">
            <a:solidFill>
              <a:schemeClr val="accent5"/>
            </a:solidFill>
            <a:prstDash val="sysDot"/>
            <a:round/>
            <a:tailEnd type="triangle" w="med" len="med"/>
          </a:ln>
        </p:spPr>
      </p:cxnSp>
      <p:sp>
        <p:nvSpPr>
          <p:cNvPr id="300" name="流程图: 联系 116"/>
          <p:cNvSpPr>
            <a:spLocks noChangeArrowheads="1"/>
          </p:cNvSpPr>
          <p:nvPr/>
        </p:nvSpPr>
        <p:spPr bwMode="auto">
          <a:xfrm>
            <a:off x="1372235" y="4696460"/>
            <a:ext cx="123825" cy="129540"/>
          </a:xfrm>
          <a:prstGeom prst="flowChartConnector">
            <a:avLst/>
          </a:prstGeom>
          <a:solidFill>
            <a:schemeClr val="accent1"/>
          </a:solidFill>
          <a:ln w="9525" algn="ctr">
            <a:solidFill>
              <a:schemeClr val="bg1"/>
            </a:solidFill>
            <a:round/>
          </a:ln>
        </p:spPr>
        <p:txBody>
          <a:bodyPr lIns="0" tIns="0" rIns="0" bIns="0"/>
          <a:lstStyle/>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01" name="肘形连接符 5"/>
          <p:cNvCxnSpPr>
            <a:cxnSpLocks noChangeShapeType="1"/>
            <a:stCxn id="300" idx="2"/>
            <a:endCxn id="48" idx="1"/>
          </p:cNvCxnSpPr>
          <p:nvPr/>
        </p:nvCxnSpPr>
        <p:spPr bwMode="auto">
          <a:xfrm rot="10800000" flipH="1" flipV="1">
            <a:off x="1372235" y="4761230"/>
            <a:ext cx="2364740" cy="1474470"/>
          </a:xfrm>
          <a:prstGeom prst="bentConnector3">
            <a:avLst>
              <a:gd name="adj1" fmla="val -10070"/>
            </a:avLst>
          </a:prstGeom>
          <a:noFill/>
          <a:ln w="25400" algn="ctr">
            <a:solidFill>
              <a:schemeClr val="accent1"/>
            </a:solidFill>
            <a:prstDash val="sysDot"/>
            <a:round/>
            <a:tailEnd type="triangle" w="med" len="med"/>
          </a:ln>
          <a:extLst>
            <a:ext uri="{909E8E84-426E-40DD-AFC4-6F175D3DCCD1}">
              <a14:hiddenFill xmlns:a14="http://schemas.microsoft.com/office/drawing/2010/main">
                <a:noFill/>
              </a14:hiddenFill>
            </a:ext>
          </a:extLst>
        </p:spPr>
      </p:cxnSp>
      <p:grpSp>
        <p:nvGrpSpPr>
          <p:cNvPr id="16" name="组合 15"/>
          <p:cNvGrpSpPr/>
          <p:nvPr/>
        </p:nvGrpSpPr>
        <p:grpSpPr>
          <a:xfrm>
            <a:off x="5100492" y="4424045"/>
            <a:ext cx="569424" cy="562610"/>
            <a:chOff x="4092563" y="3298404"/>
            <a:chExt cx="546100" cy="539750"/>
          </a:xfrm>
        </p:grpSpPr>
        <p:sp>
          <p:nvSpPr>
            <p:cNvPr id="17" name="椭圆 44"/>
            <p:cNvSpPr>
              <a:spLocks noChangeArrowheads="1"/>
            </p:cNvSpPr>
            <p:nvPr/>
          </p:nvSpPr>
          <p:spPr bwMode="auto">
            <a:xfrm>
              <a:off x="4093616" y="3298404"/>
              <a:ext cx="539750" cy="539750"/>
            </a:xfrm>
            <a:prstGeom prst="ellipse">
              <a:avLst/>
            </a:prstGeom>
            <a:solidFill>
              <a:schemeClr val="accent5">
                <a:lumMod val="20000"/>
                <a:lumOff val="80000"/>
              </a:schemeClr>
            </a:solidFill>
            <a:ln w="19050" algn="ctr">
              <a:solidFill>
                <a:schemeClr val="accent5">
                  <a:alpha val="50000"/>
                </a:schemeClr>
              </a:solidFill>
              <a:round/>
            </a:ln>
          </p:spPr>
          <p:txBody>
            <a:bodyPr wrap="none" anchor="ctr"/>
            <a:lstStyle/>
            <a:p>
              <a:pPr algn="ctr" eaLnBrk="0" hangingPunct="0">
                <a:lnSpc>
                  <a:spcPts val="3350"/>
                </a:lnSpc>
              </a:pPr>
              <a:endParaRPr lang="zh-CN" altLang="en-US">
                <a:latin typeface="微软雅黑" panose="020B0503020204020204" charset="-122"/>
                <a:ea typeface="微软雅黑" panose="020B0503020204020204" charset="-122"/>
                <a:cs typeface="微软雅黑" panose="020B0503020204020204" charset="-122"/>
              </a:endParaRPr>
            </a:p>
          </p:txBody>
        </p:sp>
        <p:sp>
          <p:nvSpPr>
            <p:cNvPr id="18" name="TextBox 157"/>
            <p:cNvSpPr txBox="1"/>
            <p:nvPr/>
          </p:nvSpPr>
          <p:spPr bwMode="auto">
            <a:xfrm>
              <a:off x="4092563" y="3359933"/>
              <a:ext cx="546100" cy="441669"/>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lvl1pPr algn="l" eaLnBrk="0" hangingPunct="0">
                <a:defRPr sz="2100" b="1">
                  <a:solidFill>
                    <a:schemeClr val="accent1"/>
                  </a:solidFill>
                  <a:latin typeface="Arial" panose="020B0604020202020204" pitchFamily="34" charset="0"/>
                  <a:ea typeface="宋体" panose="02010600030101010101" pitchFamily="2" charset="-122"/>
                </a:defRPr>
              </a:lvl1pPr>
              <a:lvl2pPr marL="742950" indent="-285750" algn="l" eaLnBrk="0" hangingPunct="0">
                <a:defRPr sz="2100" b="1">
                  <a:solidFill>
                    <a:schemeClr val="accent1"/>
                  </a:solidFill>
                  <a:latin typeface="Arial" panose="020B0604020202020204" pitchFamily="34" charset="0"/>
                  <a:ea typeface="宋体" panose="02010600030101010101" pitchFamily="2" charset="-122"/>
                </a:defRPr>
              </a:lvl2pPr>
              <a:lvl3pPr marL="1143000" indent="-228600" algn="l" eaLnBrk="0" hangingPunct="0">
                <a:defRPr sz="2100" b="1">
                  <a:solidFill>
                    <a:schemeClr val="accent1"/>
                  </a:solidFill>
                  <a:latin typeface="Arial" panose="020B0604020202020204" pitchFamily="34" charset="0"/>
                  <a:ea typeface="宋体" panose="02010600030101010101" pitchFamily="2" charset="-122"/>
                </a:defRPr>
              </a:lvl3pPr>
              <a:lvl4pPr marL="1600200" indent="-228600" algn="l" eaLnBrk="0" hangingPunct="0">
                <a:defRPr sz="2100" b="1">
                  <a:solidFill>
                    <a:schemeClr val="accent1"/>
                  </a:solidFill>
                  <a:latin typeface="Arial" panose="020B0604020202020204" pitchFamily="34" charset="0"/>
                  <a:ea typeface="宋体" panose="02010600030101010101" pitchFamily="2" charset="-122"/>
                </a:defRPr>
              </a:lvl4pPr>
              <a:lvl5pPr marL="2057400" indent="-228600" algn="l" eaLnBrk="0" hangingPunct="0">
                <a:defRPr sz="2100" b="1">
                  <a:solidFill>
                    <a:schemeClr val="accent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9pPr>
            </a:lstStyle>
            <a:p>
              <a:pPr algn="ctr" eaLnBrk="1" hangingPunct="1">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协同内容</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9" name="组合 18"/>
          <p:cNvGrpSpPr/>
          <p:nvPr/>
        </p:nvGrpSpPr>
        <p:grpSpPr>
          <a:xfrm>
            <a:off x="2883071" y="2633981"/>
            <a:ext cx="569424" cy="496570"/>
            <a:chOff x="4088908" y="3314853"/>
            <a:chExt cx="546100" cy="476393"/>
          </a:xfrm>
        </p:grpSpPr>
        <p:sp>
          <p:nvSpPr>
            <p:cNvPr id="20" name="椭圆 44"/>
            <p:cNvSpPr>
              <a:spLocks noChangeArrowheads="1"/>
            </p:cNvSpPr>
            <p:nvPr/>
          </p:nvSpPr>
          <p:spPr bwMode="auto">
            <a:xfrm>
              <a:off x="4123843" y="3314853"/>
              <a:ext cx="476230" cy="476393"/>
            </a:xfrm>
            <a:prstGeom prst="ellipse">
              <a:avLst/>
            </a:prstGeom>
            <a:solidFill>
              <a:schemeClr val="accent1">
                <a:lumMod val="20000"/>
                <a:lumOff val="80000"/>
              </a:schemeClr>
            </a:solidFill>
            <a:ln w="19050" algn="ctr">
              <a:solidFill>
                <a:schemeClr val="accent1">
                  <a:alpha val="50000"/>
                </a:schemeClr>
              </a:solidFill>
              <a:round/>
            </a:ln>
          </p:spPr>
          <p:txBody>
            <a:bodyPr wrap="none" anchor="ctr"/>
            <a:lstStyle/>
            <a:p>
              <a:pPr algn="ctr" eaLnBrk="0" hangingPunct="0">
                <a:lnSpc>
                  <a:spcPts val="3350"/>
                </a:lnSpc>
              </a:pPr>
              <a:endParaRPr lang="zh-CN" altLang="en-US">
                <a:latin typeface="微软雅黑" panose="020B0503020204020204" charset="-122"/>
                <a:ea typeface="微软雅黑" panose="020B0503020204020204" charset="-122"/>
                <a:cs typeface="微软雅黑" panose="020B0503020204020204" charset="-122"/>
              </a:endParaRPr>
            </a:p>
          </p:txBody>
        </p:sp>
        <p:sp>
          <p:nvSpPr>
            <p:cNvPr id="21" name="TextBox 157"/>
            <p:cNvSpPr txBox="1"/>
            <p:nvPr/>
          </p:nvSpPr>
          <p:spPr bwMode="auto">
            <a:xfrm>
              <a:off x="4088908" y="3361758"/>
              <a:ext cx="546100" cy="382577"/>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lvl1pPr algn="l" eaLnBrk="0" hangingPunct="0">
                <a:defRPr sz="2100" b="1">
                  <a:solidFill>
                    <a:schemeClr val="accent1"/>
                  </a:solidFill>
                  <a:latin typeface="Arial" panose="020B0604020202020204" pitchFamily="34" charset="0"/>
                  <a:ea typeface="宋体" panose="02010600030101010101" pitchFamily="2" charset="-122"/>
                </a:defRPr>
              </a:lvl1pPr>
              <a:lvl2pPr marL="742950" indent="-285750" algn="l" eaLnBrk="0" hangingPunct="0">
                <a:defRPr sz="2100" b="1">
                  <a:solidFill>
                    <a:schemeClr val="accent1"/>
                  </a:solidFill>
                  <a:latin typeface="Arial" panose="020B0604020202020204" pitchFamily="34" charset="0"/>
                  <a:ea typeface="宋体" panose="02010600030101010101" pitchFamily="2" charset="-122"/>
                </a:defRPr>
              </a:lvl2pPr>
              <a:lvl3pPr marL="1143000" indent="-228600" algn="l" eaLnBrk="0" hangingPunct="0">
                <a:defRPr sz="2100" b="1">
                  <a:solidFill>
                    <a:schemeClr val="accent1"/>
                  </a:solidFill>
                  <a:latin typeface="Arial" panose="020B0604020202020204" pitchFamily="34" charset="0"/>
                  <a:ea typeface="宋体" panose="02010600030101010101" pitchFamily="2" charset="-122"/>
                </a:defRPr>
              </a:lvl3pPr>
              <a:lvl4pPr marL="1600200" indent="-228600" algn="l" eaLnBrk="0" hangingPunct="0">
                <a:defRPr sz="2100" b="1">
                  <a:solidFill>
                    <a:schemeClr val="accent1"/>
                  </a:solidFill>
                  <a:latin typeface="Arial" panose="020B0604020202020204" pitchFamily="34" charset="0"/>
                  <a:ea typeface="宋体" panose="02010600030101010101" pitchFamily="2" charset="-122"/>
                </a:defRPr>
              </a:lvl4pPr>
              <a:lvl5pPr marL="2057400" indent="-228600" algn="l" eaLnBrk="0" hangingPunct="0">
                <a:defRPr sz="2100" b="1">
                  <a:solidFill>
                    <a:schemeClr val="accent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9pPr>
            </a:lstStyle>
            <a:p>
              <a:pPr algn="ctr" eaLnBrk="1" hangingPunct="1">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分级</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eaLnBrk="1" hangingPunct="1">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入会</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38" name="椭圆 44"/>
          <p:cNvSpPr>
            <a:spLocks noChangeArrowheads="1"/>
          </p:cNvSpPr>
          <p:nvPr/>
        </p:nvSpPr>
        <p:spPr bwMode="auto">
          <a:xfrm>
            <a:off x="3709035" y="2018665"/>
            <a:ext cx="475615" cy="475615"/>
          </a:xfrm>
          <a:prstGeom prst="ellipse">
            <a:avLst/>
          </a:prstGeom>
          <a:solidFill>
            <a:schemeClr val="accent1">
              <a:lumMod val="20000"/>
              <a:lumOff val="80000"/>
            </a:schemeClr>
          </a:solidFill>
          <a:ln w="19050" algn="ctr">
            <a:solidFill>
              <a:schemeClr val="accent1">
                <a:lumMod val="60000"/>
                <a:lumOff val="40000"/>
                <a:alpha val="70000"/>
              </a:schemeClr>
            </a:solidFill>
            <a:round/>
          </a:ln>
        </p:spPr>
        <p:txBody>
          <a:bodyPr wrap="none" anchor="ctr"/>
          <a:lstStyle/>
          <a:p>
            <a:pPr algn="ctr" eaLnBrk="0" hangingPunct="0">
              <a:lnSpc>
                <a:spcPts val="3350"/>
              </a:lnSpc>
            </a:pPr>
            <a:endParaRPr lang="zh-CN" altLang="en-US">
              <a:latin typeface="微软雅黑" panose="020B0503020204020204" charset="-122"/>
              <a:ea typeface="微软雅黑" panose="020B0503020204020204" charset="-122"/>
              <a:cs typeface="微软雅黑" panose="020B0503020204020204" charset="-122"/>
            </a:endParaRPr>
          </a:p>
        </p:txBody>
      </p:sp>
      <p:sp>
        <p:nvSpPr>
          <p:cNvPr id="39" name="TextBox 157"/>
          <p:cNvSpPr txBox="1"/>
          <p:nvPr/>
        </p:nvSpPr>
        <p:spPr bwMode="auto">
          <a:xfrm>
            <a:off x="3698240" y="2058035"/>
            <a:ext cx="503555" cy="352425"/>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noAutofit/>
          </a:bodyPr>
          <a:lstStyle>
            <a:lvl1pPr algn="l" eaLnBrk="0" hangingPunct="0">
              <a:defRPr sz="2100" b="1">
                <a:solidFill>
                  <a:schemeClr val="accent1"/>
                </a:solidFill>
                <a:latin typeface="Arial" panose="020B0604020202020204" pitchFamily="34" charset="0"/>
                <a:ea typeface="宋体" panose="02010600030101010101" pitchFamily="2" charset="-122"/>
              </a:defRPr>
            </a:lvl1pPr>
            <a:lvl2pPr marL="742950" indent="-285750" algn="l" eaLnBrk="0" hangingPunct="0">
              <a:defRPr sz="2100" b="1">
                <a:solidFill>
                  <a:schemeClr val="accent1"/>
                </a:solidFill>
                <a:latin typeface="Arial" panose="020B0604020202020204" pitchFamily="34" charset="0"/>
                <a:ea typeface="宋体" panose="02010600030101010101" pitchFamily="2" charset="-122"/>
              </a:defRPr>
            </a:lvl2pPr>
            <a:lvl3pPr marL="1143000" indent="-228600" algn="l" eaLnBrk="0" hangingPunct="0">
              <a:defRPr sz="2100" b="1">
                <a:solidFill>
                  <a:schemeClr val="accent1"/>
                </a:solidFill>
                <a:latin typeface="Arial" panose="020B0604020202020204" pitchFamily="34" charset="0"/>
                <a:ea typeface="宋体" panose="02010600030101010101" pitchFamily="2" charset="-122"/>
              </a:defRPr>
            </a:lvl3pPr>
            <a:lvl4pPr marL="1600200" indent="-228600" algn="l" eaLnBrk="0" hangingPunct="0">
              <a:defRPr sz="2100" b="1">
                <a:solidFill>
                  <a:schemeClr val="accent1"/>
                </a:solidFill>
                <a:latin typeface="Arial" panose="020B0604020202020204" pitchFamily="34" charset="0"/>
                <a:ea typeface="宋体" panose="02010600030101010101" pitchFamily="2" charset="-122"/>
              </a:defRPr>
            </a:lvl4pPr>
            <a:lvl5pPr marL="2057400" indent="-228600" algn="l" eaLnBrk="0" hangingPunct="0">
              <a:defRPr sz="2100" b="1">
                <a:solidFill>
                  <a:schemeClr val="accent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9pPr>
          </a:lstStyle>
          <a:p>
            <a:pPr algn="ctr" eaLnBrk="1" hangingPunct="1">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吸引</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eaLnBrk="1" hangingPunct="1">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入会</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0" name="组合 39"/>
          <p:cNvGrpSpPr/>
          <p:nvPr/>
        </p:nvGrpSpPr>
        <p:grpSpPr>
          <a:xfrm>
            <a:off x="5101590" y="2865755"/>
            <a:ext cx="575945" cy="562610"/>
            <a:chOff x="4093616" y="3298404"/>
            <a:chExt cx="552354" cy="539750"/>
          </a:xfrm>
        </p:grpSpPr>
        <p:sp>
          <p:nvSpPr>
            <p:cNvPr id="41" name="椭圆 44"/>
            <p:cNvSpPr>
              <a:spLocks noChangeArrowheads="1"/>
            </p:cNvSpPr>
            <p:nvPr/>
          </p:nvSpPr>
          <p:spPr bwMode="auto">
            <a:xfrm>
              <a:off x="4093616" y="3298404"/>
              <a:ext cx="539750" cy="539750"/>
            </a:xfrm>
            <a:prstGeom prst="ellipse">
              <a:avLst/>
            </a:prstGeom>
            <a:solidFill>
              <a:schemeClr val="accent5">
                <a:lumMod val="20000"/>
                <a:lumOff val="80000"/>
              </a:schemeClr>
            </a:solidFill>
            <a:ln w="19050" algn="ctr">
              <a:solidFill>
                <a:schemeClr val="accent5">
                  <a:alpha val="50000"/>
                </a:schemeClr>
              </a:solidFill>
              <a:round/>
            </a:ln>
          </p:spPr>
          <p:txBody>
            <a:bodyPr wrap="none" anchor="ctr"/>
            <a:lstStyle/>
            <a:p>
              <a:pPr algn="ctr" eaLnBrk="0" hangingPunct="0">
                <a:lnSpc>
                  <a:spcPts val="3350"/>
                </a:lnSpc>
              </a:pPr>
              <a:endParaRPr lang="zh-CN" altLang="en-US">
                <a:latin typeface="微软雅黑" panose="020B0503020204020204" charset="-122"/>
                <a:ea typeface="微软雅黑" panose="020B0503020204020204" charset="-122"/>
                <a:cs typeface="微软雅黑" panose="020B0503020204020204" charset="-122"/>
              </a:endParaRPr>
            </a:p>
          </p:txBody>
        </p:sp>
        <p:sp>
          <p:nvSpPr>
            <p:cNvPr id="42" name="TextBox 157"/>
            <p:cNvSpPr txBox="1"/>
            <p:nvPr/>
          </p:nvSpPr>
          <p:spPr bwMode="auto">
            <a:xfrm>
              <a:off x="4099870" y="3356278"/>
              <a:ext cx="546100" cy="441669"/>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lvl1pPr algn="l" eaLnBrk="0" hangingPunct="0">
                <a:defRPr sz="2100" b="1">
                  <a:solidFill>
                    <a:schemeClr val="accent1"/>
                  </a:solidFill>
                  <a:latin typeface="Arial" panose="020B0604020202020204" pitchFamily="34" charset="0"/>
                  <a:ea typeface="宋体" panose="02010600030101010101" pitchFamily="2" charset="-122"/>
                </a:defRPr>
              </a:lvl1pPr>
              <a:lvl2pPr marL="742950" indent="-285750" algn="l" eaLnBrk="0" hangingPunct="0">
                <a:defRPr sz="2100" b="1">
                  <a:solidFill>
                    <a:schemeClr val="accent1"/>
                  </a:solidFill>
                  <a:latin typeface="Arial" panose="020B0604020202020204" pitchFamily="34" charset="0"/>
                  <a:ea typeface="宋体" panose="02010600030101010101" pitchFamily="2" charset="-122"/>
                </a:defRPr>
              </a:lvl2pPr>
              <a:lvl3pPr marL="1143000" indent="-228600" algn="l" eaLnBrk="0" hangingPunct="0">
                <a:defRPr sz="2100" b="1">
                  <a:solidFill>
                    <a:schemeClr val="accent1"/>
                  </a:solidFill>
                  <a:latin typeface="Arial" panose="020B0604020202020204" pitchFamily="34" charset="0"/>
                  <a:ea typeface="宋体" panose="02010600030101010101" pitchFamily="2" charset="-122"/>
                </a:defRPr>
              </a:lvl3pPr>
              <a:lvl4pPr marL="1600200" indent="-228600" algn="l" eaLnBrk="0" hangingPunct="0">
                <a:defRPr sz="2100" b="1">
                  <a:solidFill>
                    <a:schemeClr val="accent1"/>
                  </a:solidFill>
                  <a:latin typeface="Arial" panose="020B0604020202020204" pitchFamily="34" charset="0"/>
                  <a:ea typeface="宋体" panose="02010600030101010101" pitchFamily="2" charset="-122"/>
                </a:defRPr>
              </a:lvl4pPr>
              <a:lvl5pPr marL="2057400" indent="-228600" algn="l" eaLnBrk="0" hangingPunct="0">
                <a:defRPr sz="2100" b="1">
                  <a:solidFill>
                    <a:schemeClr val="accent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9pPr>
            </a:lstStyle>
            <a:p>
              <a:pPr algn="ctr" eaLnBrk="1" hangingPunct="1">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沟通渠道</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45" name="组合 44"/>
          <p:cNvGrpSpPr/>
          <p:nvPr/>
        </p:nvGrpSpPr>
        <p:grpSpPr>
          <a:xfrm>
            <a:off x="6986272" y="3543300"/>
            <a:ext cx="569595" cy="461645"/>
            <a:chOff x="4036470" y="3298404"/>
            <a:chExt cx="665737" cy="539750"/>
          </a:xfrm>
        </p:grpSpPr>
        <p:sp>
          <p:nvSpPr>
            <p:cNvPr id="46" name="椭圆 44"/>
            <p:cNvSpPr>
              <a:spLocks noChangeArrowheads="1"/>
            </p:cNvSpPr>
            <p:nvPr/>
          </p:nvSpPr>
          <p:spPr bwMode="auto">
            <a:xfrm>
              <a:off x="4093616" y="3298404"/>
              <a:ext cx="539750" cy="539750"/>
            </a:xfrm>
            <a:prstGeom prst="ellipse">
              <a:avLst/>
            </a:prstGeom>
            <a:solidFill>
              <a:schemeClr val="accent1">
                <a:lumMod val="20000"/>
                <a:lumOff val="80000"/>
              </a:schemeClr>
            </a:solidFill>
            <a:ln w="19050" algn="ctr">
              <a:solidFill>
                <a:schemeClr val="accent1">
                  <a:alpha val="50000"/>
                </a:schemeClr>
              </a:solidFill>
              <a:round/>
            </a:ln>
          </p:spPr>
          <p:txBody>
            <a:bodyPr wrap="none" anchor="ctr"/>
            <a:lstStyle/>
            <a:p>
              <a:pPr algn="ctr" eaLnBrk="0" hangingPunct="0">
                <a:lnSpc>
                  <a:spcPts val="3350"/>
                </a:lnSpc>
              </a:pPr>
              <a:endParaRPr lang="zh-CN" altLang="en-US">
                <a:latin typeface="微软雅黑" panose="020B0503020204020204" charset="-122"/>
                <a:ea typeface="微软雅黑" panose="020B0503020204020204" charset="-122"/>
                <a:cs typeface="微软雅黑" panose="020B0503020204020204" charset="-122"/>
              </a:endParaRPr>
            </a:p>
          </p:txBody>
        </p:sp>
        <p:sp>
          <p:nvSpPr>
            <p:cNvPr id="47" name="TextBox 157"/>
            <p:cNvSpPr txBox="1"/>
            <p:nvPr/>
          </p:nvSpPr>
          <p:spPr bwMode="auto">
            <a:xfrm>
              <a:off x="4036470" y="3418677"/>
              <a:ext cx="665737" cy="322217"/>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a:spAutoFit/>
            </a:bodyPr>
            <a:lstStyle>
              <a:lvl1pPr algn="l" eaLnBrk="0" hangingPunct="0">
                <a:defRPr sz="2100" b="1">
                  <a:solidFill>
                    <a:schemeClr val="accent1"/>
                  </a:solidFill>
                  <a:latin typeface="Arial" panose="020B0604020202020204" pitchFamily="34" charset="0"/>
                  <a:ea typeface="宋体" panose="02010600030101010101" pitchFamily="2" charset="-122"/>
                </a:defRPr>
              </a:lvl1pPr>
              <a:lvl2pPr marL="742950" indent="-285750" algn="l" eaLnBrk="0" hangingPunct="0">
                <a:defRPr sz="2100" b="1">
                  <a:solidFill>
                    <a:schemeClr val="accent1"/>
                  </a:solidFill>
                  <a:latin typeface="Arial" panose="020B0604020202020204" pitchFamily="34" charset="0"/>
                  <a:ea typeface="宋体" panose="02010600030101010101" pitchFamily="2" charset="-122"/>
                </a:defRPr>
              </a:lvl2pPr>
              <a:lvl3pPr marL="1143000" indent="-228600" algn="l" eaLnBrk="0" hangingPunct="0">
                <a:defRPr sz="2100" b="1">
                  <a:solidFill>
                    <a:schemeClr val="accent1"/>
                  </a:solidFill>
                  <a:latin typeface="Arial" panose="020B0604020202020204" pitchFamily="34" charset="0"/>
                  <a:ea typeface="宋体" panose="02010600030101010101" pitchFamily="2" charset="-122"/>
                </a:defRPr>
              </a:lvl3pPr>
              <a:lvl4pPr marL="1600200" indent="-228600" algn="l" eaLnBrk="0" hangingPunct="0">
                <a:defRPr sz="2100" b="1">
                  <a:solidFill>
                    <a:schemeClr val="accent1"/>
                  </a:solidFill>
                  <a:latin typeface="Arial" panose="020B0604020202020204" pitchFamily="34" charset="0"/>
                  <a:ea typeface="宋体" panose="02010600030101010101" pitchFamily="2" charset="-122"/>
                </a:defRPr>
              </a:lvl4pPr>
              <a:lvl5pPr marL="2057400" indent="-228600" algn="l" eaLnBrk="0" hangingPunct="0">
                <a:defRPr sz="2100" b="1">
                  <a:solidFill>
                    <a:schemeClr val="accent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9pPr>
            </a:lstStyle>
            <a:p>
              <a:pPr algn="ctr" eaLnBrk="1" hangingPunct="1">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分析</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11" name="文本框 10"/>
          <p:cNvSpPr txBox="1"/>
          <p:nvPr/>
        </p:nvSpPr>
        <p:spPr>
          <a:xfrm>
            <a:off x="3693795" y="2808605"/>
            <a:ext cx="1226185" cy="771525"/>
          </a:xfrm>
          <a:prstGeom prst="roundRect">
            <a:avLst/>
          </a:prstGeom>
          <a:solidFill>
            <a:schemeClr val="accent5"/>
          </a:solidFill>
          <a:ln>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defRPr/>
            </a:pP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成为会员</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2" name="TextBox 131"/>
          <p:cNvSpPr txBox="1"/>
          <p:nvPr/>
        </p:nvSpPr>
        <p:spPr>
          <a:xfrm>
            <a:off x="984250" y="1212215"/>
            <a:ext cx="1284605" cy="492760"/>
          </a:xfrm>
          <a:prstGeom prst="roundRect">
            <a:avLst>
              <a:gd name="adj" fmla="val 12588"/>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wrap="square" anchor="ctr" anchorCtr="0">
            <a:noAutofit/>
          </a:bodyPr>
          <a:p>
            <a:pPr algn="ctr">
              <a:defRPr/>
            </a:pP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财务管理组</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 name="TextBox 131"/>
          <p:cNvSpPr txBox="1"/>
          <p:nvPr/>
        </p:nvSpPr>
        <p:spPr>
          <a:xfrm>
            <a:off x="4305935" y="1212215"/>
            <a:ext cx="1284605" cy="492760"/>
          </a:xfrm>
          <a:prstGeom prst="roundRect">
            <a:avLst>
              <a:gd name="adj" fmla="val 12588"/>
            </a:avLst>
          </a:prstGeom>
          <a:solidFill>
            <a:schemeClr val="accent5">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wrap="square" anchor="ctr" anchorCtr="0">
            <a:noAutofit/>
          </a:bodyPr>
          <a:p>
            <a:pPr algn="ctr">
              <a:defRPr/>
            </a:pP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技术维护组</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 name="TextBox 131"/>
          <p:cNvSpPr txBox="1"/>
          <p:nvPr/>
        </p:nvSpPr>
        <p:spPr>
          <a:xfrm>
            <a:off x="2486660" y="1235710"/>
            <a:ext cx="1361440" cy="469265"/>
          </a:xfrm>
          <a:prstGeom prst="roundRect">
            <a:avLst>
              <a:gd name="adj" fmla="val 12588"/>
            </a:avLst>
          </a:prstGeom>
          <a:solidFill>
            <a:schemeClr val="accent1">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wrap="square" anchor="ctr" anchorCtr="0">
            <a:noAutofit/>
          </a:bodyPr>
          <a:p>
            <a:pPr algn="ctr">
              <a:defRPr/>
            </a:pP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会员关系管理组</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 name="椭圆 22"/>
          <p:cNvSpPr/>
          <p:nvPr/>
        </p:nvSpPr>
        <p:spPr>
          <a:xfrm>
            <a:off x="2375535" y="1138555"/>
            <a:ext cx="273050" cy="273050"/>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3" name="TextBox 131"/>
          <p:cNvSpPr txBox="1"/>
          <p:nvPr/>
        </p:nvSpPr>
        <p:spPr>
          <a:xfrm>
            <a:off x="6397625" y="1213485"/>
            <a:ext cx="2397125" cy="469265"/>
          </a:xfrm>
          <a:prstGeom prst="roundRect">
            <a:avLst>
              <a:gd name="adj" fmla="val 12588"/>
            </a:avLst>
          </a:prstGeom>
          <a:solidFill>
            <a:schemeClr val="accent1">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wrap="square" anchor="ctr" anchorCtr="0">
            <a:noAutofit/>
          </a:bodyPr>
          <a:p>
            <a:pPr algn="ctr">
              <a:defRPr/>
            </a:pP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运营管理组</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4" name="椭圆 43"/>
          <p:cNvSpPr/>
          <p:nvPr/>
        </p:nvSpPr>
        <p:spPr>
          <a:xfrm>
            <a:off x="6289040" y="1138555"/>
            <a:ext cx="273050" cy="273050"/>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1</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8" name="TextBox 131"/>
          <p:cNvSpPr txBox="1"/>
          <p:nvPr/>
        </p:nvSpPr>
        <p:spPr>
          <a:xfrm>
            <a:off x="3736975" y="6000750"/>
            <a:ext cx="2105025" cy="469265"/>
          </a:xfrm>
          <a:prstGeom prst="roundRect">
            <a:avLst>
              <a:gd name="adj" fmla="val 12588"/>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wrap="square" anchor="ctr" anchorCtr="0">
            <a:noAutofit/>
          </a:bodyPr>
          <a:p>
            <a:pPr lvl="0" algn="ctr">
              <a:buClrTx/>
              <a:buSzTx/>
              <a:buFontTx/>
            </a:pP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sym typeface="+mn-ea"/>
              </a:rPr>
              <a:t>市场活动管理组</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9" name="椭圆 48"/>
          <p:cNvSpPr/>
          <p:nvPr/>
        </p:nvSpPr>
        <p:spPr>
          <a:xfrm>
            <a:off x="3656965" y="5904230"/>
            <a:ext cx="273050" cy="273050"/>
          </a:xfrm>
          <a:prstGeom prst="ellipse">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accent1"/>
                </a:solidFill>
                <a:latin typeface="微软雅黑" panose="020B0503020204020204" charset="-122"/>
                <a:ea typeface="微软雅黑" panose="020B0503020204020204" charset="-122"/>
                <a:cs typeface="微软雅黑" panose="020B0503020204020204" charset="-122"/>
              </a:rPr>
              <a:t>3</a:t>
            </a:r>
            <a:endParaRPr lang="en-US" altLang="zh-CN"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1" name="TextBox 131"/>
          <p:cNvSpPr txBox="1"/>
          <p:nvPr/>
        </p:nvSpPr>
        <p:spPr>
          <a:xfrm>
            <a:off x="6430010" y="6000750"/>
            <a:ext cx="2105025" cy="469265"/>
          </a:xfrm>
          <a:prstGeom prst="roundRect">
            <a:avLst>
              <a:gd name="adj" fmla="val 12588"/>
            </a:avLst>
          </a:prstGeom>
          <a:solidFill>
            <a:schemeClr val="accent5"/>
          </a:solidFill>
          <a:ln>
            <a:noFill/>
          </a:ln>
        </p:spPr>
        <p:style>
          <a:lnRef idx="2">
            <a:schemeClr val="accent2"/>
          </a:lnRef>
          <a:fillRef idx="1">
            <a:schemeClr val="lt1"/>
          </a:fillRef>
          <a:effectRef idx="0">
            <a:schemeClr val="accent2"/>
          </a:effectRef>
          <a:fontRef idx="minor">
            <a:schemeClr val="dk1"/>
          </a:fontRef>
        </p:style>
        <p:txBody>
          <a:bodyPr wrap="square" anchor="ctr" anchorCtr="0">
            <a:noAutofit/>
          </a:bodyPr>
          <a:p>
            <a:pPr lvl="0" algn="ctr">
              <a:buClrTx/>
              <a:buSzTx/>
              <a:buFontTx/>
            </a:pP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奖励品管理组</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2" name="椭圆 51"/>
          <p:cNvSpPr/>
          <p:nvPr/>
        </p:nvSpPr>
        <p:spPr>
          <a:xfrm>
            <a:off x="8354060" y="5904230"/>
            <a:ext cx="273050" cy="273050"/>
          </a:xfrm>
          <a:prstGeom prst="ellipse">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4</a:t>
            </a:r>
            <a:endParaRPr lang="en-US" altLang="zh-CN"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53" name="TextBox 131"/>
          <p:cNvSpPr txBox="1"/>
          <p:nvPr/>
        </p:nvSpPr>
        <p:spPr>
          <a:xfrm>
            <a:off x="11421745" y="3220720"/>
            <a:ext cx="488315" cy="1462405"/>
          </a:xfrm>
          <a:prstGeom prst="roundRect">
            <a:avLst>
              <a:gd name="adj" fmla="val 12588"/>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wrap="square" anchor="ctr" anchorCtr="0">
            <a:noAutofit/>
          </a:bodyPr>
          <a:p>
            <a:pPr algn="ctr" eaLnBrk="1" hangingPunct="1"/>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sym typeface="+mn-ea"/>
              </a:rPr>
              <a:t>合作伙伴管理组</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4" name="椭圆 53"/>
          <p:cNvSpPr/>
          <p:nvPr/>
        </p:nvSpPr>
        <p:spPr>
          <a:xfrm>
            <a:off x="11765280" y="3061970"/>
            <a:ext cx="273050" cy="273050"/>
          </a:xfrm>
          <a:prstGeom prst="ellipse">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accent1"/>
                </a:solidFill>
                <a:latin typeface="微软雅黑" panose="020B0503020204020204" charset="-122"/>
                <a:ea typeface="微软雅黑" panose="020B0503020204020204" charset="-122"/>
                <a:cs typeface="微软雅黑" panose="020B0503020204020204" charset="-122"/>
              </a:rPr>
              <a:t>5</a:t>
            </a:r>
            <a:endParaRPr lang="en-US" altLang="zh-CN"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2" name="流程图: 联系 116"/>
          <p:cNvSpPr>
            <a:spLocks noChangeArrowheads="1"/>
          </p:cNvSpPr>
          <p:nvPr/>
        </p:nvSpPr>
        <p:spPr bwMode="auto">
          <a:xfrm>
            <a:off x="1171575" y="3437255"/>
            <a:ext cx="123825" cy="129540"/>
          </a:xfrm>
          <a:prstGeom prst="flowChartConnector">
            <a:avLst/>
          </a:prstGeom>
          <a:solidFill>
            <a:schemeClr val="accent1"/>
          </a:solidFill>
          <a:ln w="9525" algn="ctr">
            <a:solidFill>
              <a:schemeClr val="bg1"/>
            </a:solidFill>
            <a:round/>
          </a:ln>
        </p:spPr>
        <p:txBody>
          <a:bodyPr lIns="0" tIns="0" rIns="0" bIns="0"/>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5" name="矩形 64"/>
          <p:cNvSpPr/>
          <p:nvPr/>
        </p:nvSpPr>
        <p:spPr bwMode="auto">
          <a:xfrm>
            <a:off x="3846195" y="3756660"/>
            <a:ext cx="1062355" cy="240665"/>
          </a:xfrm>
          <a:prstGeom prst="rect">
            <a:avLst/>
          </a:prstGeom>
          <a:solidFill>
            <a:schemeClr val="accent5">
              <a:lumMod val="60000"/>
              <a:lumOff val="40000"/>
            </a:schemeClr>
          </a:solidFill>
          <a:ln w="12700" algn="ctr">
            <a:noFill/>
            <a:round/>
          </a:ln>
        </p:spPr>
        <p:txBody>
          <a:bodyPr wrap="none" rtlCol="0" anchor="ctr">
            <a:noAutofit/>
          </a:bodyPr>
          <a:p>
            <a:pPr lvl="0" algn="ctr" eaLnBrk="0" hangingPunct="0">
              <a:lnSpc>
                <a:spcPts val="3350"/>
              </a:lnSpc>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71" name="文本框 70"/>
          <p:cNvSpPr txBox="1"/>
          <p:nvPr/>
        </p:nvSpPr>
        <p:spPr>
          <a:xfrm>
            <a:off x="3886200" y="3778885"/>
            <a:ext cx="1000760" cy="194945"/>
          </a:xfrm>
          <a:prstGeom prst="rect">
            <a:avLst/>
          </a:prstGeom>
          <a:noFill/>
        </p:spPr>
        <p:txBody>
          <a:bodyPr wrap="square" rtlCol="0">
            <a:noAutofit/>
          </a:bodyPr>
          <a:p>
            <a:pPr algn="ctr"/>
            <a:r>
              <a:rPr lang="zh-CN" altLang="en-US" sz="800">
                <a:solidFill>
                  <a:schemeClr val="bg1"/>
                </a:solidFill>
                <a:latin typeface="微软雅黑" panose="020B0503020204020204" charset="-122"/>
                <a:ea typeface="微软雅黑" panose="020B0503020204020204" charset="-122"/>
                <a:cs typeface="微软雅黑" panose="020B0503020204020204" charset="-122"/>
              </a:rPr>
              <a:t>会员管理系统</a:t>
            </a:r>
            <a:endParaRPr lang="zh-CN" altLang="en-US" sz="8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2" name="流程图: 联系 116"/>
          <p:cNvSpPr>
            <a:spLocks noChangeArrowheads="1"/>
          </p:cNvSpPr>
          <p:nvPr/>
        </p:nvSpPr>
        <p:spPr bwMode="auto">
          <a:xfrm>
            <a:off x="4839970" y="3692525"/>
            <a:ext cx="123825" cy="129540"/>
          </a:xfrm>
          <a:prstGeom prst="flowChartConnector">
            <a:avLst/>
          </a:prstGeom>
          <a:solidFill>
            <a:schemeClr val="accent5">
              <a:lumMod val="60000"/>
              <a:lumOff val="40000"/>
            </a:schemeClr>
          </a:solidFill>
          <a:ln w="9525" algn="ctr">
            <a:solidFill>
              <a:schemeClr val="bg1"/>
            </a:solidFill>
            <a:round/>
          </a:ln>
        </p:spPr>
        <p:txBody>
          <a:bodyPr lIns="0" tIns="0" rIns="0" bIns="0"/>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2" name="椭圆 44"/>
          <p:cNvSpPr>
            <a:spLocks noChangeArrowheads="1"/>
          </p:cNvSpPr>
          <p:nvPr/>
        </p:nvSpPr>
        <p:spPr bwMode="auto">
          <a:xfrm>
            <a:off x="3199130" y="4959350"/>
            <a:ext cx="562610" cy="562610"/>
          </a:xfrm>
          <a:prstGeom prst="ellipse">
            <a:avLst/>
          </a:prstGeom>
          <a:solidFill>
            <a:schemeClr val="accent1">
              <a:lumMod val="20000"/>
              <a:lumOff val="80000"/>
            </a:schemeClr>
          </a:solidFill>
          <a:ln w="19050" algn="ctr">
            <a:solidFill>
              <a:schemeClr val="accent1">
                <a:alpha val="50000"/>
              </a:schemeClr>
            </a:solidFill>
            <a:round/>
          </a:ln>
        </p:spPr>
        <p:txBody>
          <a:bodyPr wrap="none" anchor="ctr">
            <a:noAutofit/>
          </a:bodyPr>
          <a:lstStyle/>
          <a:p>
            <a:pPr lvl="0" algn="ctr" eaLnBrk="0" hangingPunct="0">
              <a:lnSpc>
                <a:spcPts val="3350"/>
              </a:lnSpc>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3" name="TextBox 157"/>
          <p:cNvSpPr txBox="1"/>
          <p:nvPr/>
        </p:nvSpPr>
        <p:spPr bwMode="auto">
          <a:xfrm>
            <a:off x="3195638" y="5041265"/>
            <a:ext cx="569595" cy="398780"/>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lvl1pPr algn="l" eaLnBrk="0" hangingPunct="0">
              <a:defRPr sz="2100" b="1">
                <a:solidFill>
                  <a:schemeClr val="accent1"/>
                </a:solidFill>
                <a:latin typeface="Arial" panose="020B0604020202020204" pitchFamily="34" charset="0"/>
                <a:ea typeface="宋体" panose="02010600030101010101" pitchFamily="2" charset="-122"/>
              </a:defRPr>
            </a:lvl1pPr>
            <a:lvl2pPr marL="742950" indent="-285750" algn="l" eaLnBrk="0" hangingPunct="0">
              <a:defRPr sz="2100" b="1">
                <a:solidFill>
                  <a:schemeClr val="accent1"/>
                </a:solidFill>
                <a:latin typeface="Arial" panose="020B0604020202020204" pitchFamily="34" charset="0"/>
                <a:ea typeface="宋体" panose="02010600030101010101" pitchFamily="2" charset="-122"/>
              </a:defRPr>
            </a:lvl2pPr>
            <a:lvl3pPr marL="1143000" indent="-228600" algn="l" eaLnBrk="0" hangingPunct="0">
              <a:defRPr sz="2100" b="1">
                <a:solidFill>
                  <a:schemeClr val="accent1"/>
                </a:solidFill>
                <a:latin typeface="Arial" panose="020B0604020202020204" pitchFamily="34" charset="0"/>
                <a:ea typeface="宋体" panose="02010600030101010101" pitchFamily="2" charset="-122"/>
              </a:defRPr>
            </a:lvl3pPr>
            <a:lvl4pPr marL="1600200" indent="-228600" algn="l" eaLnBrk="0" hangingPunct="0">
              <a:defRPr sz="2100" b="1">
                <a:solidFill>
                  <a:schemeClr val="accent1"/>
                </a:solidFill>
                <a:latin typeface="Arial" panose="020B0604020202020204" pitchFamily="34" charset="0"/>
                <a:ea typeface="宋体" panose="02010600030101010101" pitchFamily="2" charset="-122"/>
              </a:defRPr>
            </a:lvl4pPr>
            <a:lvl5pPr marL="2057400" indent="-228600" algn="l" eaLnBrk="0" hangingPunct="0">
              <a:defRPr sz="2100" b="1">
                <a:solidFill>
                  <a:schemeClr val="accent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100" b="1">
                <a:solidFill>
                  <a:schemeClr val="accent1"/>
                </a:solidFill>
                <a:latin typeface="Arial" panose="020B0604020202020204" pitchFamily="34" charset="0"/>
                <a:ea typeface="宋体" panose="02010600030101010101" pitchFamily="2" charset="-122"/>
              </a:defRPr>
            </a:lvl9pPr>
          </a:lstStyle>
          <a:p>
            <a:pPr algn="ctr" eaLnBrk="1" hangingPunct="1">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协同</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eaLnBrk="1" hangingPunct="1">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配合</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5" name="矩形 134"/>
          <p:cNvSpPr/>
          <p:nvPr/>
        </p:nvSpPr>
        <p:spPr bwMode="auto">
          <a:xfrm>
            <a:off x="3568065" y="2559368"/>
            <a:ext cx="631190" cy="181610"/>
          </a:xfrm>
          <a:prstGeom prst="rect">
            <a:avLst/>
          </a:prstGeom>
          <a:solidFill>
            <a:schemeClr val="accent1">
              <a:lumMod val="60000"/>
              <a:lumOff val="40000"/>
            </a:schemeClr>
          </a:solidFill>
          <a:ln w="12700" algn="ctr">
            <a:solidFill>
              <a:schemeClr val="accent1">
                <a:lumMod val="60000"/>
                <a:lumOff val="40000"/>
              </a:schemeClr>
            </a:solidFill>
            <a:round/>
          </a:ln>
        </p:spPr>
        <p:txBody>
          <a:bodyPr wrap="none" rtlCol="0" anchor="ctr">
            <a:noAutofit/>
          </a:bodyPr>
          <a:p>
            <a:pPr lvl="0" algn="ctr" eaLnBrk="0" hangingPunct="0">
              <a:lnSpc>
                <a:spcPts val="3350"/>
              </a:lnSpc>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146" name="流程图: 联系 116"/>
          <p:cNvSpPr>
            <a:spLocks noChangeArrowheads="1"/>
          </p:cNvSpPr>
          <p:nvPr/>
        </p:nvSpPr>
        <p:spPr bwMode="auto">
          <a:xfrm>
            <a:off x="3475355" y="2527935"/>
            <a:ext cx="123825" cy="129540"/>
          </a:xfrm>
          <a:prstGeom prst="flowChartConnector">
            <a:avLst/>
          </a:prstGeom>
          <a:solidFill>
            <a:schemeClr val="accent1">
              <a:lumMod val="60000"/>
              <a:lumOff val="40000"/>
            </a:schemeClr>
          </a:solidFill>
          <a:ln w="9525" algn="ctr">
            <a:solidFill>
              <a:schemeClr val="bg1"/>
            </a:solidFill>
            <a:round/>
          </a:ln>
        </p:spPr>
        <p:txBody>
          <a:bodyPr lIns="0" tIns="0" rIns="0" bIns="0"/>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 name="矩形 2"/>
          <p:cNvSpPr txBox="1">
            <a:spLocks noChangeArrowheads="1"/>
          </p:cNvSpPr>
          <p:nvPr/>
        </p:nvSpPr>
        <p:spPr bwMode="auto">
          <a:xfrm>
            <a:off x="8324215" y="3821430"/>
            <a:ext cx="1191260" cy="307340"/>
          </a:xfrm>
          <a:prstGeom prst="rect">
            <a:avLst/>
          </a:prstGeom>
          <a:solidFill>
            <a:schemeClr val="accent1">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lIns="0" rIns="0" numCol="1" spcCol="0" rtlCol="0" fromWordArt="0" anchor="ctr" anchorCtr="0" forceAA="0" compatLnSpc="1">
            <a:noAutofit/>
          </a:bodyPr>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0" algn="l">
              <a:buClrTx/>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mn-ea"/>
              </a:rPr>
              <a:t>跨业态/企业营销活动、</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buClrTx/>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mn-ea"/>
              </a:rPr>
              <a:t>品牌主题类活动</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55" name="矩形 154"/>
          <p:cNvSpPr/>
          <p:nvPr/>
        </p:nvSpPr>
        <p:spPr bwMode="auto">
          <a:xfrm>
            <a:off x="5182235" y="2237740"/>
            <a:ext cx="120015" cy="561975"/>
          </a:xfrm>
          <a:prstGeom prst="rect">
            <a:avLst/>
          </a:prstGeom>
          <a:solidFill>
            <a:schemeClr val="bg1"/>
          </a:solidFill>
          <a:ln w="6350" algn="ctr">
            <a:solidFill>
              <a:schemeClr val="accent5">
                <a:lumMod val="60000"/>
                <a:lumOff val="40000"/>
              </a:schemeClr>
            </a:solidFill>
            <a:round/>
          </a:ln>
        </p:spPr>
        <p:txBody>
          <a:bodyPr wrap="none" rtlCol="0" anchor="ctr">
            <a:noAutofit/>
          </a:bodyPr>
          <a:p>
            <a:pPr lvl="0" algn="ctr" eaLnBrk="0" hangingPunct="0">
              <a:lnSpc>
                <a:spcPts val="3350"/>
              </a:lnSpc>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162" name="矩形 161"/>
          <p:cNvSpPr/>
          <p:nvPr/>
        </p:nvSpPr>
        <p:spPr bwMode="auto">
          <a:xfrm>
            <a:off x="5362575" y="2237740"/>
            <a:ext cx="120015" cy="565785"/>
          </a:xfrm>
          <a:prstGeom prst="rect">
            <a:avLst/>
          </a:prstGeom>
          <a:solidFill>
            <a:schemeClr val="bg1"/>
          </a:solidFill>
          <a:ln w="6350" algn="ctr">
            <a:solidFill>
              <a:schemeClr val="accent5">
                <a:lumMod val="60000"/>
                <a:lumOff val="40000"/>
              </a:schemeClr>
            </a:solidFill>
            <a:round/>
          </a:ln>
        </p:spPr>
        <p:txBody>
          <a:bodyPr wrap="none" rtlCol="0" anchor="ctr">
            <a:noAutofit/>
          </a:bodyPr>
          <a:p>
            <a:pPr lvl="0" algn="ctr" eaLnBrk="0" hangingPunct="0">
              <a:lnSpc>
                <a:spcPts val="3350"/>
              </a:lnSpc>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163" name="文本框 162"/>
          <p:cNvSpPr txBox="1"/>
          <p:nvPr/>
        </p:nvSpPr>
        <p:spPr bwMode="auto">
          <a:xfrm>
            <a:off x="5362575" y="2275205"/>
            <a:ext cx="121920" cy="487680"/>
          </a:xfrm>
          <a:prstGeom prst="rect">
            <a:avLst/>
          </a:prstGeom>
          <a:noFill/>
          <a:ln>
            <a:noFill/>
          </a:ln>
        </p:spPr>
        <p:txBody>
          <a:bodyPr wrap="square" rtlCol="0" anchor="ctr" anchorCtr="0">
            <a:noAutofit/>
          </a:bodyPr>
          <a:p>
            <a:pPr lvl="0" algn="ctr">
              <a:buClrTx/>
              <a:buSzTx/>
              <a:buFontTx/>
            </a:pPr>
            <a:r>
              <a:rPr lang="zh-CN" altLang="en-US" sz="700">
                <a:solidFill>
                  <a:schemeClr val="tx2"/>
                </a:solidFill>
                <a:latin typeface="微软雅黑" panose="020B0503020204020204" charset="-122"/>
                <a:ea typeface="微软雅黑" panose="020B0503020204020204" charset="-122"/>
                <a:cs typeface="微软雅黑" panose="020B0503020204020204" charset="-122"/>
                <a:sym typeface="+mn-ea"/>
              </a:rPr>
              <a:t>APP</a:t>
            </a:r>
            <a:endParaRPr lang="zh-CN" altLang="en-US" sz="7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65" name="矩形 164"/>
          <p:cNvSpPr/>
          <p:nvPr/>
        </p:nvSpPr>
        <p:spPr bwMode="auto">
          <a:xfrm>
            <a:off x="5542915" y="2237740"/>
            <a:ext cx="120015" cy="565785"/>
          </a:xfrm>
          <a:prstGeom prst="rect">
            <a:avLst/>
          </a:prstGeom>
          <a:solidFill>
            <a:schemeClr val="bg1"/>
          </a:solidFill>
          <a:ln w="6350" algn="ctr">
            <a:solidFill>
              <a:schemeClr val="accent5">
                <a:lumMod val="60000"/>
                <a:lumOff val="40000"/>
              </a:schemeClr>
            </a:solidFill>
            <a:round/>
          </a:ln>
        </p:spPr>
        <p:txBody>
          <a:bodyPr wrap="none" rtlCol="0" anchor="ctr">
            <a:noAutofit/>
          </a:bodyPr>
          <a:p>
            <a:pPr lvl="0" algn="ctr" eaLnBrk="0" hangingPunct="0">
              <a:lnSpc>
                <a:spcPts val="3350"/>
              </a:lnSpc>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166" name="文本框 165"/>
          <p:cNvSpPr txBox="1"/>
          <p:nvPr/>
        </p:nvSpPr>
        <p:spPr>
          <a:xfrm>
            <a:off x="5541010" y="2296160"/>
            <a:ext cx="121920" cy="445770"/>
          </a:xfrm>
          <a:prstGeom prst="rect">
            <a:avLst/>
          </a:prstGeom>
          <a:noFill/>
        </p:spPr>
        <p:txBody>
          <a:bodyPr wrap="square" rtlCol="0" anchor="ctr" anchorCtr="0">
            <a:noAutofit/>
          </a:bodyPr>
          <a:p>
            <a:pPr algn="ctr"/>
            <a:r>
              <a:rPr lang="zh-CN" altLang="en-US" sz="700">
                <a:solidFill>
                  <a:schemeClr val="tx2"/>
                </a:solidFill>
                <a:latin typeface="微软雅黑" panose="020B0503020204020204" charset="-122"/>
                <a:ea typeface="微软雅黑" panose="020B0503020204020204" charset="-122"/>
                <a:cs typeface="微软雅黑" panose="020B0503020204020204" charset="-122"/>
              </a:rPr>
              <a:t>小程序</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9" name="矩形 168"/>
          <p:cNvSpPr/>
          <p:nvPr/>
        </p:nvSpPr>
        <p:spPr bwMode="auto">
          <a:xfrm>
            <a:off x="5147945" y="3563620"/>
            <a:ext cx="120015" cy="565785"/>
          </a:xfrm>
          <a:prstGeom prst="rect">
            <a:avLst/>
          </a:prstGeom>
          <a:solidFill>
            <a:schemeClr val="bg1"/>
          </a:solidFill>
          <a:ln w="6350" algn="ctr">
            <a:solidFill>
              <a:schemeClr val="accent5">
                <a:lumMod val="60000"/>
                <a:lumOff val="40000"/>
              </a:schemeClr>
            </a:solidFill>
            <a:round/>
          </a:ln>
        </p:spPr>
        <p:txBody>
          <a:bodyPr wrap="none" rtlCol="0" anchor="ctr">
            <a:noAutofit/>
          </a:bodyPr>
          <a:p>
            <a:pPr lvl="0" algn="ctr" eaLnBrk="0" hangingPunct="0">
              <a:lnSpc>
                <a:spcPts val="3350"/>
              </a:lnSpc>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171" name="矩形 170"/>
          <p:cNvSpPr/>
          <p:nvPr/>
        </p:nvSpPr>
        <p:spPr bwMode="auto">
          <a:xfrm>
            <a:off x="5372100" y="3563620"/>
            <a:ext cx="120015" cy="565785"/>
          </a:xfrm>
          <a:prstGeom prst="rect">
            <a:avLst/>
          </a:prstGeom>
          <a:solidFill>
            <a:schemeClr val="bg1"/>
          </a:solidFill>
          <a:ln w="6350" algn="ctr">
            <a:solidFill>
              <a:schemeClr val="accent5">
                <a:lumMod val="60000"/>
                <a:lumOff val="40000"/>
              </a:schemeClr>
            </a:solidFill>
            <a:round/>
          </a:ln>
        </p:spPr>
        <p:txBody>
          <a:bodyPr wrap="none" rtlCol="0" anchor="ctr">
            <a:noAutofit/>
          </a:bodyPr>
          <a:p>
            <a:pPr lvl="0" algn="ctr" eaLnBrk="0" hangingPunct="0">
              <a:lnSpc>
                <a:spcPts val="3350"/>
              </a:lnSpc>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173" name="矩形 172"/>
          <p:cNvSpPr/>
          <p:nvPr/>
        </p:nvSpPr>
        <p:spPr bwMode="auto">
          <a:xfrm>
            <a:off x="5560060" y="3563620"/>
            <a:ext cx="120015" cy="565785"/>
          </a:xfrm>
          <a:prstGeom prst="rect">
            <a:avLst/>
          </a:prstGeom>
          <a:solidFill>
            <a:schemeClr val="bg1"/>
          </a:solidFill>
          <a:ln w="6350" algn="ctr">
            <a:solidFill>
              <a:schemeClr val="accent5">
                <a:lumMod val="60000"/>
                <a:lumOff val="40000"/>
              </a:schemeClr>
            </a:solidFill>
            <a:round/>
          </a:ln>
        </p:spPr>
        <p:txBody>
          <a:bodyPr wrap="none" rtlCol="0" anchor="ctr">
            <a:noAutofit/>
          </a:bodyPr>
          <a:p>
            <a:pPr lvl="0" algn="ctr" eaLnBrk="0" hangingPunct="0">
              <a:lnSpc>
                <a:spcPts val="3350"/>
              </a:lnSpc>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177" name="TextBox 97"/>
          <p:cNvSpPr txBox="1"/>
          <p:nvPr/>
        </p:nvSpPr>
        <p:spPr>
          <a:xfrm>
            <a:off x="1312545" y="3157220"/>
            <a:ext cx="1413510" cy="249555"/>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lgn="ctr">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会员等级与权益</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8" name="TextBox 98"/>
          <p:cNvSpPr txBox="1"/>
          <p:nvPr/>
        </p:nvSpPr>
        <p:spPr>
          <a:xfrm>
            <a:off x="1312545" y="3457575"/>
            <a:ext cx="1414145" cy="249555"/>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lgn="ctr">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会员积分管理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9" name="TextBox 97"/>
          <p:cNvSpPr txBox="1"/>
          <p:nvPr/>
        </p:nvSpPr>
        <p:spPr>
          <a:xfrm>
            <a:off x="1495425" y="5140325"/>
            <a:ext cx="1413510" cy="249555"/>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lgn="ctr">
              <a:buNone/>
            </a:pPr>
            <a:r>
              <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rPr>
              <a:t>沟通内容协同配合</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0" name="TextBox 98"/>
          <p:cNvSpPr txBox="1"/>
          <p:nvPr/>
        </p:nvSpPr>
        <p:spPr>
          <a:xfrm>
            <a:off x="1495425" y="5440680"/>
            <a:ext cx="1414145" cy="249555"/>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266700" indent="-174625" defTabSz="779780">
              <a:buSzPct val="70000"/>
              <a:buFont typeface="Wingdings 3" panose="05040102010807070707" pitchFamily="18" charset="2"/>
              <a:buChar char=""/>
              <a:defRPr sz="1200" b="0" kern="0">
                <a:solidFill>
                  <a:sysClr val="windowText" lastClr="000000"/>
                </a:solidFill>
                <a:latin typeface="Calibri" panose="020F0502020204030204" charset="0"/>
                <a:ea typeface="黑体" panose="02010609060101010101" charset="-122"/>
              </a:defRPr>
            </a:lvl1pPr>
          </a:lstStyle>
          <a:p>
            <a:pPr marL="92075" indent="0" algn="ctr">
              <a:buNone/>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rPr>
              <a:t>营销活动协同配合</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2" name="TextBox 130"/>
          <p:cNvSpPr txBox="1"/>
          <p:nvPr/>
        </p:nvSpPr>
        <p:spPr>
          <a:xfrm>
            <a:off x="9959340" y="3628390"/>
            <a:ext cx="1100455" cy="214630"/>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zh-CN" altLang="en-US">
                <a:solidFill>
                  <a:schemeClr val="tx2"/>
                </a:solidFill>
                <a:latin typeface="微软雅黑" panose="020B0503020204020204" charset="-122"/>
                <a:ea typeface="微软雅黑" panose="020B0503020204020204" charset="-122"/>
                <a:cs typeface="微软雅黑" panose="020B0503020204020204" charset="-122"/>
                <a:sym typeface="+mn-ea"/>
              </a:rPr>
              <a:t>整体规划</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83" name="TextBox 130"/>
          <p:cNvSpPr txBox="1"/>
          <p:nvPr/>
        </p:nvSpPr>
        <p:spPr>
          <a:xfrm>
            <a:off x="9959340" y="3909695"/>
            <a:ext cx="1100455" cy="214630"/>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zh-CN" altLang="en-US">
                <a:solidFill>
                  <a:schemeClr val="tx2"/>
                </a:solidFill>
                <a:latin typeface="微软雅黑" panose="020B0503020204020204" charset="-122"/>
                <a:ea typeface="微软雅黑" panose="020B0503020204020204" charset="-122"/>
                <a:cs typeface="微软雅黑" panose="020B0503020204020204" charset="-122"/>
                <a:sym typeface="+mn-ea"/>
              </a:rPr>
              <a:t>合作伙伴管理</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84" name="TextBox 130"/>
          <p:cNvSpPr txBox="1"/>
          <p:nvPr/>
        </p:nvSpPr>
        <p:spPr>
          <a:xfrm>
            <a:off x="9959340" y="4191000"/>
            <a:ext cx="1100455" cy="214630"/>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lIns="0" rIns="0" anchor="ctr"/>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zh-CN" altLang="en-US">
                <a:solidFill>
                  <a:schemeClr val="tx2"/>
                </a:solidFill>
                <a:latin typeface="微软雅黑" panose="020B0503020204020204" charset="-122"/>
                <a:ea typeface="微软雅黑" panose="020B0503020204020204" charset="-122"/>
                <a:cs typeface="微软雅黑" panose="020B0503020204020204" charset="-122"/>
                <a:sym typeface="+mn-ea"/>
              </a:rPr>
              <a:t>会员商城促销</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87" name="TextBox 130"/>
          <p:cNvSpPr txBox="1"/>
          <p:nvPr/>
        </p:nvSpPr>
        <p:spPr>
          <a:xfrm>
            <a:off x="9959340" y="4472305"/>
            <a:ext cx="1100455" cy="214630"/>
          </a:xfrm>
          <a:prstGeom prst="roundRect">
            <a:avLst>
              <a:gd name="adj" fmla="val 12588"/>
            </a:avLst>
          </a:prstGeom>
          <a:solidFill>
            <a:schemeClr val="bg1"/>
          </a:solidFill>
          <a:ln>
            <a:solidFill>
              <a:schemeClr val="accent1"/>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lIns="0" rIns="0" numCol="1" spcCol="0" rtlCol="0" fromWordArt="0" anchor="ctr" anchorCtr="0" forceAA="0" compatLnSpc="1">
            <a:noAutofit/>
          </a:bodyPr>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0" algn="ctr">
              <a:buClrTx/>
            </a:pPr>
            <a:r>
              <a:rPr lang="zh-CN" altLang="en-US">
                <a:solidFill>
                  <a:schemeClr val="tx2"/>
                </a:solidFill>
                <a:latin typeface="微软雅黑" panose="020B0503020204020204" charset="-122"/>
                <a:ea typeface="微软雅黑" panose="020B0503020204020204" charset="-122"/>
                <a:cs typeface="微软雅黑" panose="020B0503020204020204" charset="-122"/>
                <a:sym typeface="+mn-ea"/>
              </a:rPr>
              <a:t>会员权益设计</a:t>
            </a: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1" name="TextBox 130"/>
          <p:cNvSpPr txBox="1"/>
          <p:nvPr/>
        </p:nvSpPr>
        <p:spPr>
          <a:xfrm>
            <a:off x="8354060" y="4373880"/>
            <a:ext cx="1191895" cy="264795"/>
          </a:xfrm>
          <a:prstGeom prst="roundRect">
            <a:avLst>
              <a:gd name="adj" fmla="val 12588"/>
            </a:avLst>
          </a:prstGeom>
          <a:solidFill>
            <a:schemeClr val="bg1"/>
          </a:solidFill>
          <a:ln>
            <a:solidFill>
              <a:schemeClr val="accent5"/>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lIns="0" rIns="0" numCol="1" spcCol="0" rtlCol="0" fromWordArt="0" anchor="ctr" anchorCtr="0" forceAA="0" compatLnSpc="1">
            <a:noAutofit/>
          </a:bodyPr>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eaLnBrk="0" hangingPunct="0">
              <a:defRPr/>
            </a:pPr>
            <a:r>
              <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mn-ea"/>
              </a:rPr>
              <a:t>跨业态</a:t>
            </a:r>
            <a:r>
              <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mn-ea"/>
              </a:rPr>
              <a:t>企业营销活动、</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a:p>
            <a:pPr algn="ctr" eaLnBrk="0" hangingPunct="0">
              <a:defRPr/>
            </a:pPr>
            <a:r>
              <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mn-ea"/>
              </a:rPr>
              <a:t>品牌主题类活动</a:t>
            </a:r>
            <a:endParaRPr lang="zh-CN" altLang="en-US" sz="7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2" name="TextBox 130"/>
          <p:cNvSpPr txBox="1"/>
          <p:nvPr/>
        </p:nvSpPr>
        <p:spPr>
          <a:xfrm>
            <a:off x="8354060" y="4694555"/>
            <a:ext cx="1191895" cy="264795"/>
          </a:xfrm>
          <a:prstGeom prst="roundRect">
            <a:avLst>
              <a:gd name="adj" fmla="val 12588"/>
            </a:avLst>
          </a:prstGeom>
          <a:solidFill>
            <a:schemeClr val="bg1"/>
          </a:solidFill>
          <a:ln>
            <a:solidFill>
              <a:schemeClr val="accent5"/>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lIns="0" rIns="0" numCol="1" spcCol="0" rtlCol="0" fromWordArt="0" anchor="ctr" anchorCtr="0" forceAA="0" compatLnSpc="1">
            <a:noAutofit/>
          </a:bodyPr>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eaLnBrk="0" hangingPunct="0">
              <a:defRPr/>
            </a:pPr>
            <a:r>
              <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mn-ea"/>
              </a:rPr>
              <a:t>兴趣类、亲子类活动</a:t>
            </a:r>
            <a:endParaRPr lang="zh-CN" altLang="en-US" sz="7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3" name="TextBox 130"/>
          <p:cNvSpPr txBox="1"/>
          <p:nvPr/>
        </p:nvSpPr>
        <p:spPr>
          <a:xfrm>
            <a:off x="7967980" y="2561590"/>
            <a:ext cx="1263650" cy="214630"/>
          </a:xfrm>
          <a:prstGeom prst="roundRect">
            <a:avLst>
              <a:gd name="adj" fmla="val 12588"/>
            </a:avLst>
          </a:prstGeom>
          <a:solidFill>
            <a:schemeClr val="bg1"/>
          </a:solidFill>
          <a:ln>
            <a:solidFill>
              <a:schemeClr val="accent1">
                <a:lumMod val="60000"/>
                <a:lumOff val="40000"/>
              </a:schemeClr>
            </a:solidFill>
          </a:ln>
        </p:spPr>
        <p:style>
          <a:lnRef idx="2">
            <a:schemeClr val="accent2"/>
          </a:lnRef>
          <a:fillRef idx="1">
            <a:schemeClr val="lt1"/>
          </a:fillRef>
          <a:effectRef idx="0">
            <a:schemeClr val="accent2"/>
          </a:effectRef>
          <a:fontRef idx="minor">
            <a:schemeClr val="dk1"/>
          </a:fontRef>
        </p:style>
        <p:txBody>
          <a:bodyPr lIns="0" rIns="0" anchor="ctr" anchorCtr="0"/>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zh-CN" altLang="en-US">
                <a:solidFill>
                  <a:schemeClr val="tx2"/>
                </a:solidFill>
                <a:latin typeface="微软雅黑" panose="020B0503020204020204" charset="-122"/>
                <a:ea typeface="微软雅黑" panose="020B0503020204020204" charset="-122"/>
                <a:cs typeface="微软雅黑" panose="020B0503020204020204" charset="-122"/>
                <a:sym typeface="+mn-ea"/>
              </a:rPr>
              <a:t>客户忠诚度分析</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8" name="TextBox 130"/>
          <p:cNvSpPr txBox="1"/>
          <p:nvPr/>
        </p:nvSpPr>
        <p:spPr>
          <a:xfrm>
            <a:off x="7967980" y="2847340"/>
            <a:ext cx="1263650" cy="214630"/>
          </a:xfrm>
          <a:prstGeom prst="roundRect">
            <a:avLst>
              <a:gd name="adj" fmla="val 12588"/>
            </a:avLst>
          </a:prstGeom>
          <a:solidFill>
            <a:schemeClr val="bg1"/>
          </a:solidFill>
          <a:ln>
            <a:solidFill>
              <a:schemeClr val="accent1">
                <a:lumMod val="60000"/>
                <a:lumOff val="40000"/>
              </a:schemeClr>
            </a:solidFill>
          </a:ln>
        </p:spPr>
        <p:style>
          <a:lnRef idx="2">
            <a:schemeClr val="accent2"/>
          </a:lnRef>
          <a:fillRef idx="1">
            <a:schemeClr val="lt1"/>
          </a:fillRef>
          <a:effectRef idx="0">
            <a:schemeClr val="accent2"/>
          </a:effectRef>
          <a:fontRef idx="minor">
            <a:schemeClr val="dk1"/>
          </a:fontRef>
        </p:style>
        <p:txBody>
          <a:bodyPr lIns="0" rIns="0" anchor="ctr" anchorCtr="0"/>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zh-CN" altLang="en-US">
                <a:solidFill>
                  <a:schemeClr val="tx2"/>
                </a:solidFill>
                <a:latin typeface="微软雅黑" panose="020B0503020204020204" charset="-122"/>
                <a:ea typeface="微软雅黑" panose="020B0503020204020204" charset="-122"/>
                <a:cs typeface="微软雅黑" panose="020B0503020204020204" charset="-122"/>
                <a:sym typeface="+mn-ea"/>
              </a:rPr>
              <a:t>客户价值分析</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9" name="TextBox 130"/>
          <p:cNvSpPr txBox="1"/>
          <p:nvPr/>
        </p:nvSpPr>
        <p:spPr>
          <a:xfrm>
            <a:off x="7967980" y="3127375"/>
            <a:ext cx="1263650" cy="214630"/>
          </a:xfrm>
          <a:prstGeom prst="roundRect">
            <a:avLst>
              <a:gd name="adj" fmla="val 12588"/>
            </a:avLst>
          </a:prstGeom>
          <a:solidFill>
            <a:schemeClr val="bg1"/>
          </a:solidFill>
          <a:ln>
            <a:solidFill>
              <a:schemeClr val="accent1">
                <a:lumMod val="60000"/>
                <a:lumOff val="40000"/>
              </a:schemeClr>
            </a:solidFill>
          </a:ln>
        </p:spPr>
        <p:style>
          <a:lnRef idx="2">
            <a:schemeClr val="accent2"/>
          </a:lnRef>
          <a:fillRef idx="1">
            <a:schemeClr val="lt1"/>
          </a:fillRef>
          <a:effectRef idx="0">
            <a:schemeClr val="accent2"/>
          </a:effectRef>
          <a:fontRef idx="minor">
            <a:schemeClr val="dk1"/>
          </a:fontRef>
        </p:style>
        <p:txBody>
          <a:bodyPr lIns="0" rIns="0" anchor="ctr" anchorCtr="0"/>
          <a:lstStyle>
            <a:defPPr>
              <a:defRPr lang="de-DE"/>
            </a:defPPr>
            <a:lvl1pPr marL="92075" indent="0" defTabSz="779780">
              <a:buSzPct val="70000"/>
              <a:buFont typeface="Wingdings 3" panose="05040102010807070707" pitchFamily="18" charset="2"/>
              <a:buNone/>
              <a:defRPr sz="1000" b="0" kern="0">
                <a:solidFill>
                  <a:sysClr val="windowText" lastClr="000000"/>
                </a:solidFill>
                <a:latin typeface="Calibri" panose="020F0502020204030204" charset="0"/>
                <a:ea typeface="黑体" panose="02010609060101010101"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zh-CN" altLang="en-US">
                <a:solidFill>
                  <a:schemeClr val="tx2"/>
                </a:solidFill>
                <a:latin typeface="微软雅黑" panose="020B0503020204020204" charset="-122"/>
                <a:ea typeface="微软雅黑" panose="020B0503020204020204" charset="-122"/>
                <a:cs typeface="微软雅黑" panose="020B0503020204020204" charset="-122"/>
                <a:sym typeface="+mn-ea"/>
              </a:rPr>
              <a:t>流失客户分析</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3586480" y="2549525"/>
            <a:ext cx="600075" cy="191135"/>
          </a:xfrm>
          <a:prstGeom prst="rect">
            <a:avLst/>
          </a:prstGeom>
          <a:noFill/>
        </p:spPr>
        <p:txBody>
          <a:bodyPr wrap="square" rtlCol="0">
            <a:noAutofit/>
          </a:bodyPr>
          <a:p>
            <a:pPr algn="ctr"/>
            <a:r>
              <a:rPr lang="zh-CN" altLang="en-US" sz="800">
                <a:solidFill>
                  <a:schemeClr val="bg1"/>
                </a:solidFill>
                <a:latin typeface="微软雅黑" panose="020B0503020204020204" charset="-122"/>
                <a:ea typeface="微软雅黑" panose="020B0503020204020204" charset="-122"/>
                <a:cs typeface="微软雅黑" panose="020B0503020204020204" charset="-122"/>
              </a:rPr>
              <a:t>入会管理</a:t>
            </a:r>
            <a:endParaRPr lang="zh-CN" altLang="en-US" sz="8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5146675" y="3613785"/>
            <a:ext cx="121920" cy="445770"/>
          </a:xfrm>
          <a:prstGeom prst="rect">
            <a:avLst/>
          </a:prstGeom>
          <a:noFill/>
        </p:spPr>
        <p:txBody>
          <a:bodyPr wrap="square" rtlCol="0" anchor="ctr" anchorCtr="0">
            <a:noAutofit/>
          </a:bodyPr>
          <a:p>
            <a:pPr algn="ctr"/>
            <a:r>
              <a:rPr lang="zh-CN" altLang="en-US" sz="700">
                <a:solidFill>
                  <a:schemeClr val="tx2"/>
                </a:solidFill>
                <a:latin typeface="微软雅黑" panose="020B0503020204020204" charset="-122"/>
                <a:ea typeface="微软雅黑" panose="020B0503020204020204" charset="-122"/>
                <a:cs typeface="微软雅黑" panose="020B0503020204020204" charset="-122"/>
              </a:rPr>
              <a:t>客服中心</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5362575" y="3613785"/>
            <a:ext cx="121920" cy="445770"/>
          </a:xfrm>
          <a:prstGeom prst="rect">
            <a:avLst/>
          </a:prstGeom>
          <a:noFill/>
        </p:spPr>
        <p:txBody>
          <a:bodyPr wrap="square" rtlCol="0" anchor="ctr" anchorCtr="0">
            <a:noAutofit/>
          </a:bodyPr>
          <a:p>
            <a:pPr algn="ctr"/>
            <a:r>
              <a:rPr lang="zh-CN" altLang="en-US" sz="700">
                <a:solidFill>
                  <a:schemeClr val="tx2"/>
                </a:solidFill>
                <a:latin typeface="微软雅黑" panose="020B0503020204020204" charset="-122"/>
                <a:ea typeface="微软雅黑" panose="020B0503020204020204" charset="-122"/>
                <a:cs typeface="微软雅黑" panose="020B0503020204020204" charset="-122"/>
              </a:rPr>
              <a:t>微信</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5560060" y="3613785"/>
            <a:ext cx="121920" cy="445770"/>
          </a:xfrm>
          <a:prstGeom prst="rect">
            <a:avLst/>
          </a:prstGeom>
          <a:noFill/>
        </p:spPr>
        <p:txBody>
          <a:bodyPr wrap="square" rtlCol="0" anchor="ctr" anchorCtr="0">
            <a:noAutofit/>
          </a:bodyPr>
          <a:p>
            <a:pPr algn="ctr"/>
            <a:r>
              <a:rPr lang="zh-CN" altLang="en-US" sz="700">
                <a:solidFill>
                  <a:schemeClr val="tx2"/>
                </a:solidFill>
                <a:latin typeface="微软雅黑" panose="020B0503020204020204" charset="-122"/>
                <a:ea typeface="微软雅黑" panose="020B0503020204020204" charset="-122"/>
                <a:cs typeface="微软雅黑" panose="020B0503020204020204" charset="-122"/>
              </a:rPr>
              <a:t>短信</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7" name="组合 26"/>
          <p:cNvGrpSpPr/>
          <p:nvPr/>
        </p:nvGrpSpPr>
        <p:grpSpPr>
          <a:xfrm>
            <a:off x="5002530" y="3475355"/>
            <a:ext cx="660400" cy="118110"/>
            <a:chOff x="7878" y="5473"/>
            <a:chExt cx="1040" cy="186"/>
          </a:xfrm>
        </p:grpSpPr>
        <p:cxnSp>
          <p:nvCxnSpPr>
            <p:cNvPr id="36" name="直接连接符 105"/>
            <p:cNvCxnSpPr/>
            <p:nvPr/>
          </p:nvCxnSpPr>
          <p:spPr>
            <a:xfrm flipV="1">
              <a:off x="7878" y="5477"/>
              <a:ext cx="977" cy="2"/>
            </a:xfrm>
            <a:prstGeom prst="line">
              <a:avLst/>
            </a:prstGeom>
            <a:ln w="12700">
              <a:solidFill>
                <a:schemeClr val="accent5">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75" name="流程图: 联系 116"/>
            <p:cNvSpPr>
              <a:spLocks noChangeArrowheads="1"/>
            </p:cNvSpPr>
            <p:nvPr/>
          </p:nvSpPr>
          <p:spPr bwMode="auto">
            <a:xfrm>
              <a:off x="8476" y="5523"/>
              <a:ext cx="130" cy="136"/>
            </a:xfrm>
            <a:prstGeom prst="flowChartConnector">
              <a:avLst/>
            </a:prstGeom>
            <a:solidFill>
              <a:schemeClr val="accent5">
                <a:lumMod val="60000"/>
                <a:lumOff val="40000"/>
              </a:schemeClr>
            </a:solidFill>
            <a:ln w="9525" algn="ctr">
              <a:solidFill>
                <a:schemeClr val="bg1"/>
              </a:solidFill>
              <a:round/>
            </a:ln>
          </p:spPr>
          <p:txBody>
            <a:bodyPr lIns="0" tIns="0" rIns="0" bIns="0"/>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6" name="流程图: 联系 116"/>
            <p:cNvSpPr>
              <a:spLocks noChangeArrowheads="1"/>
            </p:cNvSpPr>
            <p:nvPr/>
          </p:nvSpPr>
          <p:spPr bwMode="auto">
            <a:xfrm>
              <a:off x="8136" y="5523"/>
              <a:ext cx="130" cy="136"/>
            </a:xfrm>
            <a:prstGeom prst="flowChartConnector">
              <a:avLst/>
            </a:prstGeom>
            <a:solidFill>
              <a:schemeClr val="accent5">
                <a:lumMod val="60000"/>
                <a:lumOff val="40000"/>
              </a:schemeClr>
            </a:solidFill>
            <a:ln w="9525" algn="ctr">
              <a:solidFill>
                <a:schemeClr val="bg1"/>
              </a:solidFill>
              <a:round/>
            </a:ln>
          </p:spPr>
          <p:txBody>
            <a:bodyPr lIns="0" tIns="0" rIns="0" bIns="0"/>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流程图: 联系 116"/>
            <p:cNvSpPr>
              <a:spLocks noChangeArrowheads="1"/>
            </p:cNvSpPr>
            <p:nvPr/>
          </p:nvSpPr>
          <p:spPr bwMode="auto">
            <a:xfrm>
              <a:off x="8788" y="5523"/>
              <a:ext cx="130" cy="136"/>
            </a:xfrm>
            <a:prstGeom prst="flowChartConnector">
              <a:avLst/>
            </a:prstGeom>
            <a:solidFill>
              <a:schemeClr val="accent5">
                <a:lumMod val="60000"/>
                <a:lumOff val="40000"/>
              </a:schemeClr>
            </a:solidFill>
            <a:ln w="9525" algn="ctr">
              <a:solidFill>
                <a:schemeClr val="bg1"/>
              </a:solidFill>
              <a:round/>
            </a:ln>
          </p:spPr>
          <p:txBody>
            <a:bodyPr lIns="0" tIns="0" rIns="0" bIns="0"/>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8" name="直接连接符 7"/>
            <p:cNvCxnSpPr>
              <a:stCxn id="176" idx="0"/>
            </p:cNvCxnSpPr>
            <p:nvPr/>
          </p:nvCxnSpPr>
          <p:spPr>
            <a:xfrm flipV="1">
              <a:off x="8201" y="5473"/>
              <a:ext cx="0" cy="50"/>
            </a:xfrm>
            <a:prstGeom prst="line">
              <a:avLst/>
            </a:prstGeom>
            <a:ln w="12700">
              <a:solidFill>
                <a:schemeClr val="accent5">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8541" y="5481"/>
              <a:ext cx="0" cy="50"/>
            </a:xfrm>
            <a:prstGeom prst="line">
              <a:avLst/>
            </a:prstGeom>
            <a:ln w="12700">
              <a:solidFill>
                <a:schemeClr val="accent5">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grpSp>
      <p:cxnSp>
        <p:nvCxnSpPr>
          <p:cNvPr id="15" name="直接连接符 14"/>
          <p:cNvCxnSpPr/>
          <p:nvPr/>
        </p:nvCxnSpPr>
        <p:spPr>
          <a:xfrm flipV="1">
            <a:off x="5621655" y="3480435"/>
            <a:ext cx="0" cy="31750"/>
          </a:xfrm>
          <a:prstGeom prst="line">
            <a:avLst/>
          </a:prstGeom>
          <a:ln w="12700">
            <a:solidFill>
              <a:schemeClr val="accent5">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5182235" y="2296160"/>
            <a:ext cx="121920" cy="480695"/>
          </a:xfrm>
          <a:prstGeom prst="rect">
            <a:avLst/>
          </a:prstGeom>
          <a:noFill/>
        </p:spPr>
        <p:txBody>
          <a:bodyPr wrap="square" rtlCol="0" anchor="ctr" anchorCtr="0">
            <a:noAutofit/>
          </a:bodyPr>
          <a:p>
            <a:pPr algn="ctr"/>
            <a:r>
              <a:rPr lang="zh-CN" altLang="en-US" sz="700">
                <a:solidFill>
                  <a:schemeClr val="tx2"/>
                </a:solidFill>
                <a:latin typeface="微软雅黑" panose="020B0503020204020204" charset="-122"/>
                <a:ea typeface="微软雅黑" panose="020B0503020204020204" charset="-122"/>
                <a:cs typeface="微软雅黑" panose="020B0503020204020204" charset="-122"/>
              </a:rPr>
              <a:t>会员网站</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0" name="直接连接符 105"/>
          <p:cNvCxnSpPr/>
          <p:nvPr/>
        </p:nvCxnSpPr>
        <p:spPr>
          <a:xfrm>
            <a:off x="4975225" y="2164080"/>
            <a:ext cx="632460" cy="635"/>
          </a:xfrm>
          <a:prstGeom prst="line">
            <a:avLst/>
          </a:prstGeom>
          <a:ln w="12700">
            <a:solidFill>
              <a:schemeClr val="accent5">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1" name="流程图: 联系 116"/>
          <p:cNvSpPr>
            <a:spLocks noChangeArrowheads="1"/>
          </p:cNvSpPr>
          <p:nvPr/>
        </p:nvSpPr>
        <p:spPr bwMode="auto">
          <a:xfrm>
            <a:off x="5388610" y="2192020"/>
            <a:ext cx="82550" cy="86360"/>
          </a:xfrm>
          <a:prstGeom prst="flowChartConnector">
            <a:avLst/>
          </a:prstGeom>
          <a:solidFill>
            <a:schemeClr val="accent5">
              <a:lumMod val="60000"/>
              <a:lumOff val="40000"/>
            </a:schemeClr>
          </a:solidFill>
          <a:ln w="9525" algn="ctr">
            <a:solidFill>
              <a:schemeClr val="bg1"/>
            </a:solidFill>
            <a:round/>
          </a:ln>
        </p:spPr>
        <p:txBody>
          <a:bodyPr lIns="0" tIns="0" rIns="0" bIns="0"/>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 name="流程图: 联系 116"/>
          <p:cNvSpPr>
            <a:spLocks noChangeArrowheads="1"/>
          </p:cNvSpPr>
          <p:nvPr/>
        </p:nvSpPr>
        <p:spPr bwMode="auto">
          <a:xfrm>
            <a:off x="5196205" y="2192020"/>
            <a:ext cx="82550" cy="86360"/>
          </a:xfrm>
          <a:prstGeom prst="flowChartConnector">
            <a:avLst/>
          </a:prstGeom>
          <a:solidFill>
            <a:schemeClr val="accent5">
              <a:lumMod val="60000"/>
              <a:lumOff val="40000"/>
            </a:schemeClr>
          </a:solidFill>
          <a:ln w="9525" algn="ctr">
            <a:solidFill>
              <a:schemeClr val="bg1"/>
            </a:solidFill>
            <a:round/>
          </a:ln>
        </p:spPr>
        <p:txBody>
          <a:bodyPr lIns="0" tIns="0" rIns="0" bIns="0"/>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流程图: 联系 116"/>
          <p:cNvSpPr>
            <a:spLocks noChangeArrowheads="1"/>
          </p:cNvSpPr>
          <p:nvPr/>
        </p:nvSpPr>
        <p:spPr bwMode="auto">
          <a:xfrm>
            <a:off x="5560060" y="2188845"/>
            <a:ext cx="82550" cy="86360"/>
          </a:xfrm>
          <a:prstGeom prst="flowChartConnector">
            <a:avLst/>
          </a:prstGeom>
          <a:solidFill>
            <a:schemeClr val="accent5">
              <a:lumMod val="60000"/>
              <a:lumOff val="40000"/>
            </a:schemeClr>
          </a:solidFill>
          <a:ln w="9525" algn="ctr">
            <a:solidFill>
              <a:schemeClr val="bg1"/>
            </a:solidFill>
            <a:round/>
          </a:ln>
        </p:spPr>
        <p:txBody>
          <a:bodyPr lIns="0" tIns="0" rIns="0" bIns="0"/>
          <a:p>
            <a:pPr defTabSz="675005"/>
            <a:endParaRPr lang="zh-CN" altLang="en-US" sz="800" b="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4" name="直接连接符 33"/>
          <p:cNvCxnSpPr>
            <a:stCxn id="32" idx="0"/>
          </p:cNvCxnSpPr>
          <p:nvPr/>
        </p:nvCxnSpPr>
        <p:spPr>
          <a:xfrm flipV="1">
            <a:off x="5237480" y="2160270"/>
            <a:ext cx="0" cy="31750"/>
          </a:xfrm>
          <a:prstGeom prst="line">
            <a:avLst/>
          </a:prstGeom>
          <a:ln w="12700">
            <a:solidFill>
              <a:schemeClr val="accent5">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5430520" y="2165350"/>
            <a:ext cx="0" cy="31750"/>
          </a:xfrm>
          <a:prstGeom prst="line">
            <a:avLst/>
          </a:prstGeom>
          <a:ln w="12700">
            <a:solidFill>
              <a:schemeClr val="accent5">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5602605" y="2162810"/>
            <a:ext cx="0" cy="31750"/>
          </a:xfrm>
          <a:prstGeom prst="line">
            <a:avLst/>
          </a:prstGeom>
          <a:ln w="12700">
            <a:solidFill>
              <a:schemeClr val="accent5">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137" idx="2"/>
          </p:cNvCxnSpPr>
          <p:nvPr/>
        </p:nvCxnSpPr>
        <p:spPr>
          <a:xfrm flipH="1">
            <a:off x="5774690" y="3392805"/>
            <a:ext cx="41275" cy="0"/>
          </a:xfrm>
          <a:prstGeom prst="line">
            <a:avLst/>
          </a:prstGeom>
          <a:ln>
            <a:solidFill>
              <a:schemeClr val="tx2">
                <a:lumMod val="60000"/>
                <a:lumOff val="40000"/>
              </a:schemeClr>
            </a:solidFill>
            <a:prstDash val="sysDot"/>
          </a:ln>
        </p:spPr>
        <p:style>
          <a:lnRef idx="2">
            <a:schemeClr val="accent1"/>
          </a:lnRef>
          <a:fillRef idx="0">
            <a:srgbClr val="FFFFFF"/>
          </a:fillRef>
          <a:effectRef idx="0">
            <a:srgbClr val="FFFFFF"/>
          </a:effectRef>
          <a:fontRef idx="minor">
            <a:schemeClr val="tx1"/>
          </a:fontRef>
        </p:style>
      </p:cxnSp>
      <p:cxnSp>
        <p:nvCxnSpPr>
          <p:cNvPr id="55" name="直接连接符 54"/>
          <p:cNvCxnSpPr/>
          <p:nvPr/>
        </p:nvCxnSpPr>
        <p:spPr>
          <a:xfrm flipH="1">
            <a:off x="5778500" y="3692525"/>
            <a:ext cx="41275" cy="0"/>
          </a:xfrm>
          <a:prstGeom prst="line">
            <a:avLst/>
          </a:prstGeom>
          <a:ln>
            <a:solidFill>
              <a:schemeClr val="tx2">
                <a:lumMod val="60000"/>
                <a:lumOff val="40000"/>
              </a:schemeClr>
            </a:solidFill>
            <a:prstDash val="sysDot"/>
          </a:ln>
        </p:spPr>
        <p:style>
          <a:lnRef idx="2">
            <a:schemeClr val="accent1"/>
          </a:lnRef>
          <a:fillRef idx="0">
            <a:srgbClr val="FFFFFF"/>
          </a:fillRef>
          <a:effectRef idx="0">
            <a:srgbClr val="FFFFFF"/>
          </a:effectRef>
          <a:fontRef idx="minor">
            <a:schemeClr val="tx1"/>
          </a:fontRef>
        </p:style>
      </p:cxnSp>
      <p:cxnSp>
        <p:nvCxnSpPr>
          <p:cNvPr id="56" name="直接连接符 55"/>
          <p:cNvCxnSpPr/>
          <p:nvPr/>
        </p:nvCxnSpPr>
        <p:spPr>
          <a:xfrm flipH="1">
            <a:off x="5778500" y="3973830"/>
            <a:ext cx="41275" cy="0"/>
          </a:xfrm>
          <a:prstGeom prst="line">
            <a:avLst/>
          </a:prstGeom>
          <a:ln>
            <a:solidFill>
              <a:schemeClr val="tx2">
                <a:lumMod val="60000"/>
                <a:lumOff val="40000"/>
              </a:schemeClr>
            </a:solidFill>
            <a:prstDash val="sysDot"/>
          </a:ln>
        </p:spPr>
        <p:style>
          <a:lnRef idx="2">
            <a:schemeClr val="accent1"/>
          </a:lnRef>
          <a:fillRef idx="0">
            <a:srgbClr val="FFFFFF"/>
          </a:fillRef>
          <a:effectRef idx="0">
            <a:srgbClr val="FFFFFF"/>
          </a:effectRef>
          <a:fontRef idx="minor">
            <a:schemeClr val="tx1"/>
          </a:fontRef>
        </p:style>
      </p:cxnSp>
      <p:cxnSp>
        <p:nvCxnSpPr>
          <p:cNvPr id="57" name="直接连接符 56"/>
          <p:cNvCxnSpPr/>
          <p:nvPr/>
        </p:nvCxnSpPr>
        <p:spPr>
          <a:xfrm flipH="1">
            <a:off x="5778500" y="4281170"/>
            <a:ext cx="41275" cy="0"/>
          </a:xfrm>
          <a:prstGeom prst="line">
            <a:avLst/>
          </a:prstGeom>
          <a:ln>
            <a:solidFill>
              <a:schemeClr val="tx2">
                <a:lumMod val="60000"/>
                <a:lumOff val="40000"/>
              </a:schemeClr>
            </a:solidFill>
            <a:prstDash val="sysDot"/>
          </a:ln>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flipH="1">
            <a:off x="5774690" y="4537710"/>
            <a:ext cx="41275" cy="0"/>
          </a:xfrm>
          <a:prstGeom prst="line">
            <a:avLst/>
          </a:prstGeom>
          <a:ln>
            <a:solidFill>
              <a:schemeClr val="accent5">
                <a:lumMod val="60000"/>
                <a:lumOff val="4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8738235" y="348615"/>
            <a:ext cx="3219450" cy="332740"/>
            <a:chOff x="13761" y="549"/>
            <a:chExt cx="5070" cy="524"/>
          </a:xfrm>
        </p:grpSpPr>
        <p:pic>
          <p:nvPicPr>
            <p:cNvPr id="59" name="图片 58"/>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60" name="文本框 59"/>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产品设计探索过程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圆角矩形 11"/>
          <p:cNvSpPr/>
          <p:nvPr/>
        </p:nvSpPr>
        <p:spPr>
          <a:xfrm>
            <a:off x="948055" y="1056005"/>
            <a:ext cx="10706100" cy="1930400"/>
          </a:xfrm>
          <a:prstGeom prst="roundRect">
            <a:avLst>
              <a:gd name="adj" fmla="val 3659"/>
            </a:avLst>
          </a:prstGeom>
          <a:solidFill>
            <a:schemeClr val="accent5">
              <a:lumMod val="20000"/>
              <a:lumOff val="80000"/>
              <a:alpha val="30000"/>
            </a:schemeClr>
          </a:solidFill>
          <a:ln w="12700">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7" name="组合 6"/>
          <p:cNvGrpSpPr/>
          <p:nvPr/>
        </p:nvGrpSpPr>
        <p:grpSpPr>
          <a:xfrm>
            <a:off x="3827691" y="1196514"/>
            <a:ext cx="7587339" cy="484632"/>
            <a:chOff x="3827691" y="1247314"/>
            <a:chExt cx="7762190" cy="484632"/>
          </a:xfrm>
          <a:solidFill>
            <a:schemeClr val="accent5"/>
          </a:solidFill>
          <a:effectLst>
            <a:outerShdw blurRad="50800" dist="38100" dir="2700000" algn="tl" rotWithShape="0">
              <a:schemeClr val="accent5">
                <a:lumMod val="60000"/>
                <a:lumOff val="40000"/>
                <a:alpha val="40000"/>
              </a:schemeClr>
            </a:outerShdw>
          </a:effectLst>
        </p:grpSpPr>
        <p:sp>
          <p:nvSpPr>
            <p:cNvPr id="8" name="箭头: 燕尾形 4"/>
            <p:cNvSpPr/>
            <p:nvPr/>
          </p:nvSpPr>
          <p:spPr>
            <a:xfrm>
              <a:off x="9501881" y="1247314"/>
              <a:ext cx="2088000" cy="484632"/>
            </a:xfrm>
            <a:prstGeom prst="notchedRightArrow">
              <a:avLst>
                <a:gd name="adj1" fmla="val 100000"/>
                <a:gd name="adj2" fmla="val 50000"/>
              </a:avLst>
            </a:prstGeom>
            <a:grpFill/>
            <a:ln w="9525" cap="flat" cmpd="sng" algn="ctr">
              <a:noFill/>
              <a:prstDash val="solid"/>
              <a:miter lim="800000"/>
            </a:ln>
            <a:effectLst>
              <a:outerShdw blurRad="368300" dist="203200" dir="5400000" sx="98000" sy="98000" algn="t" rotWithShape="0">
                <a:sysClr val="windowText" lastClr="000000">
                  <a:lumMod val="95000"/>
                  <a:lumOff val="5000"/>
                  <a:alpha val="18000"/>
                </a:sysClr>
              </a:outerShdw>
            </a:effectLst>
          </p:spPr>
          <p:txBody>
            <a:bodyPr rtlCol="0" anchor="ctr"/>
            <a:lstStyle/>
            <a:p>
              <a:pPr algn="ctr"/>
              <a:r>
                <a:rPr lang="en-US" altLang="zh-CN" sz="1300" kern="0" dirty="0">
                  <a:solidFill>
                    <a:prstClr val="white"/>
                  </a:solidFill>
                  <a:latin typeface="微软雅黑" panose="020B0503020204020204" charset="-122"/>
                  <a:ea typeface="微软雅黑" panose="020B0503020204020204" charset="-122"/>
                  <a:cs typeface="微软雅黑" panose="020B0503020204020204" charset="-122"/>
                </a:rPr>
                <a:t>E4 </a:t>
              </a: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rPr>
                <a:t>改进</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endParaRPr>
            </a:p>
            <a:p>
              <a:pPr algn="ct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rPr>
                <a:t>营销策略</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9" name="箭头: 燕尾形 8"/>
            <p:cNvSpPr/>
            <p:nvPr/>
          </p:nvSpPr>
          <p:spPr>
            <a:xfrm>
              <a:off x="7610485" y="1247314"/>
              <a:ext cx="2088000" cy="484632"/>
            </a:xfrm>
            <a:prstGeom prst="notchedRightArrow">
              <a:avLst>
                <a:gd name="adj1" fmla="val 100000"/>
                <a:gd name="adj2" fmla="val 50000"/>
              </a:avLst>
            </a:prstGeom>
            <a:grpFill/>
            <a:ln w="9525" cap="flat" cmpd="sng" algn="ctr">
              <a:noFill/>
              <a:prstDash val="solid"/>
              <a:miter lim="800000"/>
            </a:ln>
            <a:effectLst>
              <a:outerShdw blurRad="368300" dist="203200" dir="5400000" sx="98000" sy="98000" algn="t" rotWithShape="0">
                <a:sysClr val="windowText" lastClr="000000">
                  <a:lumMod val="95000"/>
                  <a:lumOff val="5000"/>
                  <a:alpha val="18000"/>
                </a:sysClr>
              </a:outerShdw>
            </a:effectLst>
          </p:spPr>
          <p:txBody>
            <a:bodyPr rtlCol="0" anchor="ctr"/>
            <a:lstStyle/>
            <a:p>
              <a:pPr algn="ctr"/>
              <a:r>
                <a:rPr lang="en-US" altLang="zh-CN" sz="1300" kern="0" dirty="0">
                  <a:solidFill>
                    <a:prstClr val="white"/>
                  </a:solidFill>
                  <a:latin typeface="微软雅黑" panose="020B0503020204020204" charset="-122"/>
                  <a:ea typeface="微软雅黑" panose="020B0503020204020204" charset="-122"/>
                  <a:cs typeface="微软雅黑" panose="020B0503020204020204" charset="-122"/>
                </a:rPr>
                <a:t>E3 </a:t>
              </a: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rPr>
                <a:t>衡量营销效果</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1" name="箭头: 燕尾形 9"/>
            <p:cNvSpPr/>
            <p:nvPr/>
          </p:nvSpPr>
          <p:spPr>
            <a:xfrm>
              <a:off x="5719088" y="1247314"/>
              <a:ext cx="2088000" cy="484632"/>
            </a:xfrm>
            <a:prstGeom prst="notchedRightArrow">
              <a:avLst>
                <a:gd name="adj1" fmla="val 100000"/>
                <a:gd name="adj2" fmla="val 50000"/>
              </a:avLst>
            </a:prstGeom>
            <a:grpFill/>
            <a:ln w="9525" cap="flat" cmpd="sng" algn="ctr">
              <a:noFill/>
              <a:prstDash val="solid"/>
              <a:miter lim="800000"/>
            </a:ln>
            <a:effectLst>
              <a:outerShdw blurRad="368300" dist="203200" dir="5400000" sx="98000" sy="98000" algn="t" rotWithShape="0">
                <a:sysClr val="windowText" lastClr="000000">
                  <a:lumMod val="95000"/>
                  <a:lumOff val="5000"/>
                  <a:alpha val="18000"/>
                </a:sysClr>
              </a:outerShdw>
            </a:effectLst>
          </p:spPr>
          <p:txBody>
            <a:bodyPr rtlCol="0" anchor="ctr"/>
            <a:lstStyle/>
            <a:p>
              <a:pPr algn="ctr"/>
              <a:r>
                <a:rPr lang="en-US" altLang="zh-CN" sz="1300" kern="0" dirty="0">
                  <a:solidFill>
                    <a:prstClr val="white"/>
                  </a:solidFill>
                  <a:latin typeface="微软雅黑" panose="020B0503020204020204" charset="-122"/>
                  <a:ea typeface="微软雅黑" panose="020B0503020204020204" charset="-122"/>
                  <a:cs typeface="微软雅黑" panose="020B0503020204020204" charset="-122"/>
                </a:rPr>
                <a:t>E2 </a:t>
              </a: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rPr>
                <a:t>执行营销计划</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2" name="箭头: 燕尾形 10"/>
            <p:cNvSpPr/>
            <p:nvPr/>
          </p:nvSpPr>
          <p:spPr>
            <a:xfrm>
              <a:off x="3827691" y="1247314"/>
              <a:ext cx="2088000" cy="484632"/>
            </a:xfrm>
            <a:prstGeom prst="notchedRightArrow">
              <a:avLst>
                <a:gd name="adj1" fmla="val 100000"/>
                <a:gd name="adj2" fmla="val 50000"/>
              </a:avLst>
            </a:prstGeom>
            <a:grpFill/>
            <a:ln w="9525" cap="flat" cmpd="sng" algn="ctr">
              <a:noFill/>
              <a:prstDash val="solid"/>
              <a:miter lim="800000"/>
            </a:ln>
            <a:effectLst>
              <a:outerShdw blurRad="368300" dist="203200" dir="5400000" sx="98000" sy="98000" algn="t" rotWithShape="0">
                <a:sysClr val="windowText" lastClr="000000">
                  <a:lumMod val="95000"/>
                  <a:lumOff val="5000"/>
                  <a:alpha val="18000"/>
                </a:sysClr>
              </a:outerShdw>
            </a:effectLst>
          </p:spPr>
          <p:txBody>
            <a:bodyPr rtlCol="0" anchor="ctr"/>
            <a:lstStyle/>
            <a:p>
              <a:pPr algn="ctr"/>
              <a:r>
                <a:rPr lang="en-US" altLang="zh-CN" sz="1300" kern="0" dirty="0">
                  <a:solidFill>
                    <a:prstClr val="white"/>
                  </a:solidFill>
                  <a:latin typeface="微软雅黑" panose="020B0503020204020204" charset="-122"/>
                  <a:ea typeface="微软雅黑" panose="020B0503020204020204" charset="-122"/>
                  <a:cs typeface="微软雅黑" panose="020B0503020204020204" charset="-122"/>
                </a:rPr>
                <a:t>E1 </a:t>
              </a: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rPr>
                <a:t>开发营销策略</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grpSp>
        <p:nvGrpSpPr>
          <p:cNvPr id="13" name="组合 12"/>
          <p:cNvGrpSpPr/>
          <p:nvPr/>
        </p:nvGrpSpPr>
        <p:grpSpPr>
          <a:xfrm>
            <a:off x="3866397" y="2345579"/>
            <a:ext cx="7548633" cy="484632"/>
            <a:chOff x="3866397" y="2175001"/>
            <a:chExt cx="7700462" cy="484632"/>
          </a:xfrm>
          <a:solidFill>
            <a:schemeClr val="accent5">
              <a:lumMod val="60000"/>
              <a:lumOff val="40000"/>
            </a:schemeClr>
          </a:solidFill>
          <a:effectLst>
            <a:outerShdw blurRad="50800" dist="38100" dir="2700000" algn="tl" rotWithShape="0">
              <a:schemeClr val="accent5">
                <a:lumMod val="60000"/>
                <a:lumOff val="40000"/>
                <a:alpha val="40000"/>
              </a:schemeClr>
            </a:outerShdw>
          </a:effectLst>
        </p:grpSpPr>
        <p:sp>
          <p:nvSpPr>
            <p:cNvPr id="14" name="箭头: 燕尾形 11"/>
            <p:cNvSpPr/>
            <p:nvPr/>
          </p:nvSpPr>
          <p:spPr>
            <a:xfrm>
              <a:off x="9874859" y="2175001"/>
              <a:ext cx="1692000" cy="484632"/>
            </a:xfrm>
            <a:prstGeom prst="notchedRightArrow">
              <a:avLst>
                <a:gd name="adj1" fmla="val 100000"/>
                <a:gd name="adj2" fmla="val 50000"/>
              </a:avLst>
            </a:prstGeom>
            <a:grpFill/>
            <a:ln>
              <a:noFill/>
            </a:ln>
            <a:effectLst>
              <a:outerShdw blurRad="2921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300" dirty="0">
                  <a:latin typeface="微软雅黑" panose="020B0503020204020204" charset="-122"/>
                  <a:ea typeface="微软雅黑" panose="020B0503020204020204" charset="-122"/>
                  <a:cs typeface="微软雅黑" panose="020B0503020204020204" charset="-122"/>
                </a:rPr>
                <a:t>Result</a:t>
              </a:r>
              <a:endParaRPr lang="en-US" altLang="zh-CN" sz="1300" dirty="0">
                <a:latin typeface="微软雅黑" panose="020B0503020204020204" charset="-122"/>
                <a:ea typeface="微软雅黑" panose="020B0503020204020204" charset="-122"/>
                <a:cs typeface="微软雅黑" panose="020B0503020204020204" charset="-122"/>
              </a:endParaRPr>
            </a:p>
            <a:p>
              <a:pPr algn="ctr"/>
              <a:r>
                <a:rPr lang="zh-CN" altLang="en-US" sz="1300" dirty="0">
                  <a:latin typeface="微软雅黑" panose="020B0503020204020204" charset="-122"/>
                  <a:ea typeface="微软雅黑" panose="020B0503020204020204" charset="-122"/>
                  <a:cs typeface="微软雅黑" panose="020B0503020204020204" charset="-122"/>
                </a:rPr>
                <a:t>复盘及优化</a:t>
              </a:r>
              <a:endParaRPr lang="en-US" altLang="zh-CN" sz="1300" dirty="0">
                <a:latin typeface="微软雅黑" panose="020B0503020204020204" charset="-122"/>
                <a:ea typeface="微软雅黑" panose="020B0503020204020204" charset="-122"/>
                <a:cs typeface="微软雅黑" panose="020B0503020204020204" charset="-122"/>
              </a:endParaRPr>
            </a:p>
          </p:txBody>
        </p:sp>
        <p:sp>
          <p:nvSpPr>
            <p:cNvPr id="15" name="箭头: 燕尾形 12"/>
            <p:cNvSpPr/>
            <p:nvPr/>
          </p:nvSpPr>
          <p:spPr>
            <a:xfrm>
              <a:off x="8372745" y="2175001"/>
              <a:ext cx="1692000" cy="484632"/>
            </a:xfrm>
            <a:prstGeom prst="notchedRightArrow">
              <a:avLst>
                <a:gd name="adj1" fmla="val 100000"/>
                <a:gd name="adj2" fmla="val 50000"/>
              </a:avLst>
            </a:prstGeom>
            <a:grpFill/>
            <a:ln>
              <a:noFill/>
            </a:ln>
            <a:effectLst>
              <a:outerShdw blurRad="2921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300" dirty="0">
                  <a:latin typeface="微软雅黑" panose="020B0503020204020204" charset="-122"/>
                  <a:ea typeface="微软雅黑" panose="020B0503020204020204" charset="-122"/>
                  <a:cs typeface="微软雅黑" panose="020B0503020204020204" charset="-122"/>
                </a:rPr>
                <a:t>Action</a:t>
              </a:r>
              <a:endParaRPr lang="en-US" altLang="zh-CN" sz="1300" dirty="0">
                <a:latin typeface="微软雅黑" panose="020B0503020204020204" charset="-122"/>
                <a:ea typeface="微软雅黑" panose="020B0503020204020204" charset="-122"/>
                <a:cs typeface="微软雅黑" panose="020B0503020204020204" charset="-122"/>
              </a:endParaRPr>
            </a:p>
            <a:p>
              <a:pPr algn="ctr"/>
              <a:r>
                <a:rPr lang="zh-CN" altLang="en-US" sz="1300" dirty="0">
                  <a:latin typeface="微软雅黑" panose="020B0503020204020204" charset="-122"/>
                  <a:ea typeface="微软雅黑" panose="020B0503020204020204" charset="-122"/>
                  <a:cs typeface="微软雅黑" panose="020B0503020204020204" charset="-122"/>
                </a:rPr>
                <a:t>营销执行</a:t>
              </a:r>
              <a:endParaRPr lang="en-US" altLang="zh-CN" sz="1300" dirty="0">
                <a:latin typeface="微软雅黑" panose="020B0503020204020204" charset="-122"/>
                <a:ea typeface="微软雅黑" panose="020B0503020204020204" charset="-122"/>
                <a:cs typeface="微软雅黑" panose="020B0503020204020204" charset="-122"/>
              </a:endParaRPr>
            </a:p>
          </p:txBody>
        </p:sp>
        <p:sp>
          <p:nvSpPr>
            <p:cNvPr id="16" name="箭头: 燕尾形 13"/>
            <p:cNvSpPr/>
            <p:nvPr/>
          </p:nvSpPr>
          <p:spPr>
            <a:xfrm>
              <a:off x="6870629" y="2175001"/>
              <a:ext cx="1692000" cy="484632"/>
            </a:xfrm>
            <a:prstGeom prst="notchedRightArrow">
              <a:avLst>
                <a:gd name="adj1" fmla="val 100000"/>
                <a:gd name="adj2" fmla="val 50000"/>
              </a:avLst>
            </a:prstGeom>
            <a:grpFill/>
            <a:ln>
              <a:noFill/>
            </a:ln>
            <a:effectLst>
              <a:outerShdw blurRad="2921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300" dirty="0">
                  <a:latin typeface="微软雅黑" panose="020B0503020204020204" charset="-122"/>
                  <a:ea typeface="微软雅黑" panose="020B0503020204020204" charset="-122"/>
                  <a:cs typeface="微软雅黑" panose="020B0503020204020204" charset="-122"/>
                </a:rPr>
                <a:t>Tactics</a:t>
              </a:r>
              <a:endParaRPr lang="en-US" altLang="zh-CN" sz="1300" dirty="0">
                <a:latin typeface="微软雅黑" panose="020B0503020204020204" charset="-122"/>
                <a:ea typeface="微软雅黑" panose="020B0503020204020204" charset="-122"/>
                <a:cs typeface="微软雅黑" panose="020B0503020204020204" charset="-122"/>
              </a:endParaRPr>
            </a:p>
            <a:p>
              <a:pPr algn="ctr"/>
              <a:r>
                <a:rPr lang="zh-CN" altLang="en-US" sz="1300" dirty="0">
                  <a:latin typeface="微软雅黑" panose="020B0503020204020204" charset="-122"/>
                  <a:ea typeface="微软雅黑" panose="020B0503020204020204" charset="-122"/>
                  <a:cs typeface="微软雅黑" panose="020B0503020204020204" charset="-122"/>
                </a:rPr>
                <a:t>营销策略</a:t>
              </a:r>
              <a:endParaRPr lang="en-US" altLang="zh-CN" sz="1300" dirty="0">
                <a:latin typeface="微软雅黑" panose="020B0503020204020204" charset="-122"/>
                <a:ea typeface="微软雅黑" panose="020B0503020204020204" charset="-122"/>
                <a:cs typeface="微软雅黑" panose="020B0503020204020204" charset="-122"/>
              </a:endParaRPr>
            </a:p>
          </p:txBody>
        </p:sp>
        <p:sp>
          <p:nvSpPr>
            <p:cNvPr id="17" name="箭头: 燕尾形 14"/>
            <p:cNvSpPr/>
            <p:nvPr/>
          </p:nvSpPr>
          <p:spPr>
            <a:xfrm>
              <a:off x="5368513" y="2175001"/>
              <a:ext cx="1692000" cy="484632"/>
            </a:xfrm>
            <a:prstGeom prst="notchedRightArrow">
              <a:avLst>
                <a:gd name="adj1" fmla="val 100000"/>
                <a:gd name="adj2" fmla="val 50000"/>
              </a:avLst>
            </a:prstGeom>
            <a:grpFill/>
            <a:ln>
              <a:noFill/>
            </a:ln>
            <a:effectLst>
              <a:outerShdw blurRad="2921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300" dirty="0">
                  <a:latin typeface="微软雅黑" panose="020B0503020204020204" charset="-122"/>
                  <a:ea typeface="微软雅黑" panose="020B0503020204020204" charset="-122"/>
                  <a:cs typeface="微软雅黑" panose="020B0503020204020204" charset="-122"/>
                </a:rPr>
                <a:t>Strategy</a:t>
              </a:r>
              <a:endParaRPr lang="en-US" altLang="zh-CN" sz="1300" dirty="0">
                <a:latin typeface="微软雅黑" panose="020B0503020204020204" charset="-122"/>
                <a:ea typeface="微软雅黑" panose="020B0503020204020204" charset="-122"/>
                <a:cs typeface="微软雅黑" panose="020B0503020204020204" charset="-122"/>
              </a:endParaRPr>
            </a:p>
            <a:p>
              <a:pPr algn="ctr"/>
              <a:r>
                <a:rPr lang="zh-CN" altLang="en-US" sz="1300" dirty="0">
                  <a:latin typeface="微软雅黑" panose="020B0503020204020204" charset="-122"/>
                  <a:ea typeface="微软雅黑" panose="020B0503020204020204" charset="-122"/>
                  <a:cs typeface="微软雅黑" panose="020B0503020204020204" charset="-122"/>
                </a:rPr>
                <a:t>营销战略</a:t>
              </a:r>
              <a:endParaRPr lang="en-US" altLang="zh-CN" sz="1300" dirty="0">
                <a:latin typeface="微软雅黑" panose="020B0503020204020204" charset="-122"/>
                <a:ea typeface="微软雅黑" panose="020B0503020204020204" charset="-122"/>
                <a:cs typeface="微软雅黑" panose="020B0503020204020204" charset="-122"/>
              </a:endParaRPr>
            </a:p>
          </p:txBody>
        </p:sp>
        <p:sp>
          <p:nvSpPr>
            <p:cNvPr id="18" name="箭头: 燕尾形 15"/>
            <p:cNvSpPr/>
            <p:nvPr/>
          </p:nvSpPr>
          <p:spPr>
            <a:xfrm>
              <a:off x="3866397" y="2175001"/>
              <a:ext cx="1692000" cy="484632"/>
            </a:xfrm>
            <a:prstGeom prst="notchedRightArrow">
              <a:avLst>
                <a:gd name="adj1" fmla="val 100000"/>
                <a:gd name="adj2" fmla="val 50000"/>
              </a:avLst>
            </a:prstGeom>
            <a:grpFill/>
            <a:ln>
              <a:noFill/>
            </a:ln>
            <a:effectLst>
              <a:outerShdw blurRad="2921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300" dirty="0">
                  <a:latin typeface="微软雅黑" panose="020B0503020204020204" charset="-122"/>
                  <a:ea typeface="微软雅黑" panose="020B0503020204020204" charset="-122"/>
                  <a:cs typeface="微软雅黑" panose="020B0503020204020204" charset="-122"/>
                </a:rPr>
                <a:t>Insight</a:t>
              </a:r>
              <a:endParaRPr lang="en-US" altLang="zh-CN" sz="1300" dirty="0">
                <a:latin typeface="微软雅黑" panose="020B0503020204020204" charset="-122"/>
                <a:ea typeface="微软雅黑" panose="020B0503020204020204" charset="-122"/>
                <a:cs typeface="微软雅黑" panose="020B0503020204020204" charset="-122"/>
              </a:endParaRPr>
            </a:p>
            <a:p>
              <a:pPr algn="ctr"/>
              <a:r>
                <a:rPr lang="zh-CN" altLang="en-US" sz="1300" dirty="0">
                  <a:latin typeface="微软雅黑" panose="020B0503020204020204" charset="-122"/>
                  <a:ea typeface="微软雅黑" panose="020B0503020204020204" charset="-122"/>
                  <a:cs typeface="微软雅黑" panose="020B0503020204020204" charset="-122"/>
                </a:rPr>
                <a:t>营销洞察</a:t>
              </a:r>
              <a:endParaRPr lang="en-US" altLang="zh-CN" sz="1300" dirty="0">
                <a:latin typeface="微软雅黑" panose="020B0503020204020204" charset="-122"/>
                <a:ea typeface="微软雅黑" panose="020B0503020204020204" charset="-122"/>
                <a:cs typeface="微软雅黑" panose="020B0503020204020204" charset="-122"/>
              </a:endParaRPr>
            </a:p>
          </p:txBody>
        </p:sp>
      </p:grpSp>
      <p:sp>
        <p:nvSpPr>
          <p:cNvPr id="19" name="矩形: 圆角 1"/>
          <p:cNvSpPr/>
          <p:nvPr/>
        </p:nvSpPr>
        <p:spPr>
          <a:xfrm>
            <a:off x="3022600" y="3392805"/>
            <a:ext cx="8320405" cy="3007995"/>
          </a:xfrm>
          <a:prstGeom prst="roundRect">
            <a:avLst>
              <a:gd name="adj" fmla="val 4787"/>
            </a:avLst>
          </a:prstGeom>
          <a:no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altLang="zh-CN" sz="1400" dirty="0">
              <a:latin typeface="微软雅黑" panose="020B0503020204020204" charset="-122"/>
              <a:ea typeface="微软雅黑" panose="020B0503020204020204" charset="-122"/>
              <a:cs typeface="微软雅黑" panose="020B0503020204020204" charset="-122"/>
            </a:endParaRPr>
          </a:p>
        </p:txBody>
      </p:sp>
      <p:grpSp>
        <p:nvGrpSpPr>
          <p:cNvPr id="20" name="组合 19"/>
          <p:cNvGrpSpPr/>
          <p:nvPr/>
        </p:nvGrpSpPr>
        <p:grpSpPr>
          <a:xfrm>
            <a:off x="4669503" y="6326670"/>
            <a:ext cx="6112672" cy="144000"/>
            <a:chOff x="4669503" y="6381534"/>
            <a:chExt cx="6112672" cy="144000"/>
          </a:xfrm>
          <a:solidFill>
            <a:schemeClr val="accent1">
              <a:lumMod val="60000"/>
              <a:lumOff val="40000"/>
            </a:schemeClr>
          </a:solidFill>
        </p:grpSpPr>
        <p:sp>
          <p:nvSpPr>
            <p:cNvPr id="21" name="箭头: V 形 16"/>
            <p:cNvSpPr/>
            <p:nvPr/>
          </p:nvSpPr>
          <p:spPr>
            <a:xfrm flipH="1">
              <a:off x="4669503" y="6381534"/>
              <a:ext cx="144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7" name="箭头: V 形 17"/>
            <p:cNvSpPr/>
            <p:nvPr/>
          </p:nvSpPr>
          <p:spPr>
            <a:xfrm flipH="1">
              <a:off x="5664282" y="6381534"/>
              <a:ext cx="144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8" name="箭头: V 形 18"/>
            <p:cNvSpPr/>
            <p:nvPr/>
          </p:nvSpPr>
          <p:spPr>
            <a:xfrm flipH="1">
              <a:off x="6659061" y="6381534"/>
              <a:ext cx="144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9" name="箭头: V 形 19"/>
            <p:cNvSpPr/>
            <p:nvPr/>
          </p:nvSpPr>
          <p:spPr>
            <a:xfrm flipH="1">
              <a:off x="7653840" y="6381534"/>
              <a:ext cx="144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0" name="箭头: V 形 20"/>
            <p:cNvSpPr/>
            <p:nvPr/>
          </p:nvSpPr>
          <p:spPr>
            <a:xfrm flipH="1">
              <a:off x="9643398" y="6381534"/>
              <a:ext cx="144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1" name="箭头: V 形 21"/>
            <p:cNvSpPr/>
            <p:nvPr/>
          </p:nvSpPr>
          <p:spPr>
            <a:xfrm flipH="1">
              <a:off x="10638175" y="6381534"/>
              <a:ext cx="144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2" name="箭头: V 形 22"/>
            <p:cNvSpPr/>
            <p:nvPr/>
          </p:nvSpPr>
          <p:spPr>
            <a:xfrm flipH="1">
              <a:off x="8648619" y="6381534"/>
              <a:ext cx="144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grpSp>
      <p:grpSp>
        <p:nvGrpSpPr>
          <p:cNvPr id="45" name="组合 44"/>
          <p:cNvGrpSpPr/>
          <p:nvPr/>
        </p:nvGrpSpPr>
        <p:grpSpPr>
          <a:xfrm>
            <a:off x="2955215" y="4162548"/>
            <a:ext cx="144000" cy="1742896"/>
            <a:chOff x="3782987" y="4003733"/>
            <a:chExt cx="144000" cy="1742896"/>
          </a:xfrm>
          <a:solidFill>
            <a:schemeClr val="accent1">
              <a:lumMod val="60000"/>
              <a:lumOff val="40000"/>
            </a:schemeClr>
          </a:solidFill>
        </p:grpSpPr>
        <p:sp>
          <p:nvSpPr>
            <p:cNvPr id="46" name="箭头: V 形 24"/>
            <p:cNvSpPr/>
            <p:nvPr/>
          </p:nvSpPr>
          <p:spPr>
            <a:xfrm rot="5400000" flipH="1">
              <a:off x="3728987" y="4057733"/>
              <a:ext cx="252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7" name="箭头: V 形 25"/>
            <p:cNvSpPr/>
            <p:nvPr/>
          </p:nvSpPr>
          <p:spPr>
            <a:xfrm rot="5400000" flipH="1">
              <a:off x="3728987" y="4803181"/>
              <a:ext cx="252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8" name="箭头: V 形 26"/>
            <p:cNvSpPr/>
            <p:nvPr/>
          </p:nvSpPr>
          <p:spPr>
            <a:xfrm rot="5400000" flipH="1">
              <a:off x="3728987" y="5548629"/>
              <a:ext cx="252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grpSp>
      <p:grpSp>
        <p:nvGrpSpPr>
          <p:cNvPr id="49" name="组合 48"/>
          <p:cNvGrpSpPr/>
          <p:nvPr/>
        </p:nvGrpSpPr>
        <p:grpSpPr>
          <a:xfrm>
            <a:off x="11271030" y="4162548"/>
            <a:ext cx="144000" cy="1742896"/>
            <a:chOff x="11271030" y="4003733"/>
            <a:chExt cx="144000" cy="1742896"/>
          </a:xfrm>
          <a:solidFill>
            <a:schemeClr val="accent1">
              <a:lumMod val="60000"/>
              <a:lumOff val="40000"/>
            </a:schemeClr>
          </a:solidFill>
        </p:grpSpPr>
        <p:sp>
          <p:nvSpPr>
            <p:cNvPr id="50" name="箭头: V 形 29"/>
            <p:cNvSpPr/>
            <p:nvPr/>
          </p:nvSpPr>
          <p:spPr>
            <a:xfrm rot="16200000" flipH="1" flipV="1">
              <a:off x="11217030" y="5548629"/>
              <a:ext cx="252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1" name="箭头: V 形 30"/>
            <p:cNvSpPr/>
            <p:nvPr/>
          </p:nvSpPr>
          <p:spPr>
            <a:xfrm rot="16200000" flipH="1" flipV="1">
              <a:off x="11217030" y="4803181"/>
              <a:ext cx="252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2" name="箭头: V 形 1119"/>
            <p:cNvSpPr/>
            <p:nvPr/>
          </p:nvSpPr>
          <p:spPr>
            <a:xfrm rot="16200000" flipH="1" flipV="1">
              <a:off x="11217030" y="4057733"/>
              <a:ext cx="252000" cy="144000"/>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grpSp>
      <p:sp>
        <p:nvSpPr>
          <p:cNvPr id="53" name="箭头: 燕尾形 1123"/>
          <p:cNvSpPr/>
          <p:nvPr/>
        </p:nvSpPr>
        <p:spPr>
          <a:xfrm>
            <a:off x="9636523" y="3158280"/>
            <a:ext cx="1800000" cy="484632"/>
          </a:xfrm>
          <a:prstGeom prst="notchedRightArrow">
            <a:avLst>
              <a:gd name="adj1" fmla="val 100000"/>
              <a:gd name="adj2" fmla="val 50000"/>
            </a:avLst>
          </a:prstGeom>
          <a:gradFill>
            <a:gsLst>
              <a:gs pos="0">
                <a:schemeClr val="accent1"/>
              </a:gs>
              <a:gs pos="100000">
                <a:schemeClr val="accent1">
                  <a:lumMod val="60000"/>
                  <a:lumOff val="40000"/>
                </a:schemeClr>
              </a:gs>
            </a:gsLst>
            <a:lin ang="2700000" scaled="0"/>
          </a:gradFill>
          <a:ln w="9525" cap="flat" cmpd="sng" algn="ctr">
            <a:noFill/>
            <a:prstDash val="solid"/>
            <a:miter lim="800000"/>
          </a:ln>
          <a:effectLst>
            <a:outerShdw blurRad="50800" dist="38100" dir="2700000" algn="tl" rotWithShape="0">
              <a:schemeClr val="accent1">
                <a:lumMod val="60000"/>
                <a:lumOff val="40000"/>
                <a:alpha val="40000"/>
              </a:schemeClr>
            </a:outerShdw>
          </a:effectLst>
        </p:spPr>
        <p:txBody>
          <a:bodyPr rtlCol="0" anchor="ctr">
            <a:noAutofit/>
          </a:bodyPr>
          <a:lstStyle/>
          <a:p>
            <a:pPr lvl="0" algn="ctr">
              <a:buClrTx/>
              <a:buSzTx/>
              <a:buFontTx/>
            </a:pP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rPr>
              <a:t>复盘及优化</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rPr>
              <a:t>Result</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54" name="箭头: 燕尾形 1124"/>
          <p:cNvSpPr/>
          <p:nvPr/>
        </p:nvSpPr>
        <p:spPr>
          <a:xfrm>
            <a:off x="8028988" y="3158280"/>
            <a:ext cx="1800000" cy="484632"/>
          </a:xfrm>
          <a:prstGeom prst="notchedRightArrow">
            <a:avLst>
              <a:gd name="adj1" fmla="val 100000"/>
              <a:gd name="adj2" fmla="val 50000"/>
            </a:avLst>
          </a:prstGeom>
          <a:gradFill>
            <a:gsLst>
              <a:gs pos="0">
                <a:schemeClr val="accent1"/>
              </a:gs>
              <a:gs pos="100000">
                <a:schemeClr val="accent1">
                  <a:lumMod val="60000"/>
                  <a:lumOff val="40000"/>
                </a:schemeClr>
              </a:gs>
            </a:gsLst>
            <a:lin ang="2700000" scaled="0"/>
          </a:gradFill>
          <a:ln w="9525" cap="flat" cmpd="sng" algn="ctr">
            <a:noFill/>
            <a:prstDash val="solid"/>
            <a:miter lim="800000"/>
          </a:ln>
          <a:effectLst>
            <a:outerShdw blurRad="50800" dist="38100" dir="2700000" algn="tl" rotWithShape="0">
              <a:schemeClr val="accent1">
                <a:lumMod val="60000"/>
                <a:lumOff val="40000"/>
                <a:alpha val="40000"/>
              </a:schemeClr>
            </a:outerShdw>
          </a:effectLst>
        </p:spPr>
        <p:txBody>
          <a:bodyPr rtlCol="0" anchor="ctr">
            <a:noAutofit/>
          </a:bodyPr>
          <a:lstStyle/>
          <a:p>
            <a:pPr lvl="0" algn="ctr">
              <a:buClrTx/>
              <a:buSzTx/>
              <a:buFontTx/>
            </a:pP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rPr>
              <a:t>营销执行</a:t>
            </a: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rPr>
              <a:t>Action</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55" name="箭头: 燕尾形 1125"/>
          <p:cNvSpPr/>
          <p:nvPr/>
        </p:nvSpPr>
        <p:spPr>
          <a:xfrm>
            <a:off x="6421453" y="3158280"/>
            <a:ext cx="1800000" cy="484632"/>
          </a:xfrm>
          <a:prstGeom prst="notchedRightArrow">
            <a:avLst>
              <a:gd name="adj1" fmla="val 100000"/>
              <a:gd name="adj2" fmla="val 50000"/>
            </a:avLst>
          </a:prstGeom>
          <a:gradFill>
            <a:gsLst>
              <a:gs pos="0">
                <a:schemeClr val="accent1"/>
              </a:gs>
              <a:gs pos="100000">
                <a:schemeClr val="accent1">
                  <a:lumMod val="60000"/>
                  <a:lumOff val="40000"/>
                </a:schemeClr>
              </a:gs>
            </a:gsLst>
            <a:lin ang="2700000" scaled="0"/>
          </a:gradFill>
          <a:ln w="9525" cap="flat" cmpd="sng" algn="ctr">
            <a:noFill/>
            <a:prstDash val="solid"/>
            <a:miter lim="800000"/>
          </a:ln>
          <a:effectLst>
            <a:outerShdw blurRad="50800" dist="38100" dir="2700000" algn="tl" rotWithShape="0">
              <a:schemeClr val="accent1">
                <a:lumMod val="60000"/>
                <a:lumOff val="40000"/>
                <a:alpha val="40000"/>
              </a:schemeClr>
            </a:outerShdw>
          </a:effectLst>
        </p:spPr>
        <p:txBody>
          <a:bodyPr rtlCol="0" anchor="ctr">
            <a:noAutofit/>
          </a:bodyPr>
          <a:lstStyle/>
          <a:p>
            <a:pPr lvl="0" algn="ctr">
              <a:buClrTx/>
              <a:buSzTx/>
              <a:buFontTx/>
            </a:pP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rPr>
              <a:t>营销策略</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rPr>
              <a:t>Tactics</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56" name="箭头: 燕尾形 1126"/>
          <p:cNvSpPr/>
          <p:nvPr/>
        </p:nvSpPr>
        <p:spPr>
          <a:xfrm>
            <a:off x="4813918" y="3158280"/>
            <a:ext cx="1800000" cy="484632"/>
          </a:xfrm>
          <a:prstGeom prst="notchedRightArrow">
            <a:avLst>
              <a:gd name="adj1" fmla="val 100000"/>
              <a:gd name="adj2" fmla="val 50000"/>
            </a:avLst>
          </a:prstGeom>
          <a:gradFill>
            <a:gsLst>
              <a:gs pos="0">
                <a:schemeClr val="accent1"/>
              </a:gs>
              <a:gs pos="100000">
                <a:schemeClr val="accent1">
                  <a:lumMod val="60000"/>
                  <a:lumOff val="40000"/>
                </a:schemeClr>
              </a:gs>
            </a:gsLst>
            <a:lin ang="2700000" scaled="0"/>
          </a:gradFill>
          <a:ln w="9525" cap="flat" cmpd="sng" algn="ctr">
            <a:noFill/>
            <a:prstDash val="solid"/>
            <a:miter lim="800000"/>
          </a:ln>
          <a:effectLst>
            <a:outerShdw blurRad="50800" dist="38100" dir="2700000" algn="tl" rotWithShape="0">
              <a:schemeClr val="accent1">
                <a:lumMod val="60000"/>
                <a:lumOff val="40000"/>
                <a:alpha val="40000"/>
              </a:schemeClr>
            </a:outerShdw>
          </a:effectLst>
        </p:spPr>
        <p:txBody>
          <a:bodyPr rtlCol="0" anchor="ctr">
            <a:noAutofit/>
          </a:bodyPr>
          <a:lstStyle/>
          <a:p>
            <a:pPr lvl="0" algn="ctr">
              <a:buClrTx/>
              <a:buSzTx/>
              <a:buFontTx/>
            </a:pP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rPr>
              <a:t>营销洞战略</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rPr>
              <a:t>Strategy</a:t>
            </a:r>
            <a:endParaRPr lang="zh-CN" altLang="en-US" sz="13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57" name="箭头: 燕尾形 1127"/>
          <p:cNvSpPr/>
          <p:nvPr/>
        </p:nvSpPr>
        <p:spPr>
          <a:xfrm>
            <a:off x="3206383" y="3158280"/>
            <a:ext cx="1800000" cy="484632"/>
          </a:xfrm>
          <a:prstGeom prst="notchedRightArrow">
            <a:avLst>
              <a:gd name="adj1" fmla="val 100000"/>
              <a:gd name="adj2" fmla="val 50000"/>
            </a:avLst>
          </a:prstGeom>
          <a:gradFill>
            <a:gsLst>
              <a:gs pos="0">
                <a:schemeClr val="accent1"/>
              </a:gs>
              <a:gs pos="100000">
                <a:schemeClr val="accent1">
                  <a:lumMod val="60000"/>
                  <a:lumOff val="40000"/>
                </a:schemeClr>
              </a:gs>
            </a:gsLst>
            <a:lin ang="2700000" scaled="0"/>
          </a:gradFill>
          <a:ln w="9525" cap="flat" cmpd="sng" algn="ctr">
            <a:noFill/>
            <a:prstDash val="solid"/>
            <a:miter lim="800000"/>
          </a:ln>
          <a:effectLst>
            <a:outerShdw blurRad="50800" dist="38100" dir="2700000" algn="tl" rotWithShape="0">
              <a:schemeClr val="accent1">
                <a:lumMod val="60000"/>
                <a:lumOff val="40000"/>
                <a:alpha val="40000"/>
              </a:schemeClr>
            </a:outerShdw>
          </a:effectLst>
        </p:spPr>
        <p:txBody>
          <a:bodyPr rtlCol="0" anchor="ctr"/>
          <a:lstStyle/>
          <a:p>
            <a:pPr algn="ctr"/>
            <a:r>
              <a:rPr lang="zh-CN" altLang="en-US" sz="1300" kern="0" dirty="0">
                <a:solidFill>
                  <a:prstClr val="white"/>
                </a:solidFill>
                <a:latin typeface="微软雅黑" panose="020B0503020204020204" charset="-122"/>
                <a:ea typeface="微软雅黑" panose="020B0503020204020204" charset="-122"/>
                <a:cs typeface="微软雅黑" panose="020B0503020204020204" charset="-122"/>
              </a:rPr>
              <a:t>营销洞察</a:t>
            </a:r>
            <a:endParaRPr lang="en-US" altLang="zh-CN" sz="1300" kern="0" dirty="0">
              <a:solidFill>
                <a:prstClr val="white"/>
              </a:solidFill>
              <a:latin typeface="微软雅黑" panose="020B0503020204020204" charset="-122"/>
              <a:ea typeface="微软雅黑" panose="020B0503020204020204" charset="-122"/>
              <a:cs typeface="微软雅黑" panose="020B0503020204020204" charset="-122"/>
            </a:endParaRPr>
          </a:p>
          <a:p>
            <a:pPr algn="ctr"/>
            <a:r>
              <a:rPr lang="en-US" altLang="zh-CN" sz="1300" kern="0" dirty="0">
                <a:solidFill>
                  <a:prstClr val="white"/>
                </a:solidFill>
                <a:latin typeface="微软雅黑" panose="020B0503020204020204" charset="-122"/>
                <a:ea typeface="微软雅黑" panose="020B0503020204020204" charset="-122"/>
                <a:cs typeface="微软雅黑" panose="020B0503020204020204" charset="-122"/>
              </a:rPr>
              <a:t>Insight</a:t>
            </a:r>
            <a:endParaRPr lang="en-US" altLang="zh-CN" sz="1300" kern="0" dirty="0">
              <a:solidFill>
                <a:prstClr val="white"/>
              </a:solidFill>
              <a:latin typeface="微软雅黑" panose="020B0503020204020204" charset="-122"/>
              <a:ea typeface="微软雅黑" panose="020B0503020204020204" charset="-122"/>
              <a:cs typeface="微软雅黑" panose="020B0503020204020204" charset="-122"/>
            </a:endParaRPr>
          </a:p>
        </p:txBody>
      </p:sp>
      <p:cxnSp>
        <p:nvCxnSpPr>
          <p:cNvPr id="58" name="直接连接符 6"/>
          <p:cNvCxnSpPr/>
          <p:nvPr/>
        </p:nvCxnSpPr>
        <p:spPr>
          <a:xfrm>
            <a:off x="6535849" y="1787738"/>
            <a:ext cx="0" cy="447472"/>
          </a:xfrm>
          <a:prstGeom prst="line">
            <a:avLst/>
          </a:prstGeom>
          <a:ln>
            <a:solidFill>
              <a:schemeClr val="bg1">
                <a:lumMod val="65000"/>
              </a:schemeClr>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59" name="直接连接符 23"/>
          <p:cNvCxnSpPr/>
          <p:nvPr/>
        </p:nvCxnSpPr>
        <p:spPr>
          <a:xfrm>
            <a:off x="8953922" y="1787738"/>
            <a:ext cx="0" cy="447472"/>
          </a:xfrm>
          <a:prstGeom prst="line">
            <a:avLst/>
          </a:prstGeom>
          <a:ln>
            <a:solidFill>
              <a:schemeClr val="bg1">
                <a:lumMod val="65000"/>
              </a:schemeClr>
            </a:solidFill>
            <a:prstDash val="lgDash"/>
            <a:tailEnd type="non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4039707" y="1752268"/>
            <a:ext cx="2574211" cy="518412"/>
          </a:xfrm>
          <a:prstGeom prst="rect">
            <a:avLst/>
          </a:prstGeom>
          <a:noFill/>
        </p:spPr>
        <p:txBody>
          <a:bodyPr wrap="square" rtlCol="0">
            <a:spAutoFit/>
          </a:bodyPr>
          <a:lstStyle/>
          <a:p>
            <a:pPr algn="ctr">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强化对战略与策略层面关注</a:t>
            </a:r>
            <a:endParaRPr lang="en-US" altLang="zh-CN" sz="105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更明确地引导前期洞察方向</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6457780" y="1862299"/>
            <a:ext cx="2574211" cy="298351"/>
          </a:xfrm>
          <a:prstGeom prst="rect">
            <a:avLst/>
          </a:prstGeom>
          <a:noFill/>
        </p:spPr>
        <p:txBody>
          <a:bodyPr wrap="square" rtlCol="0">
            <a:spAutoFit/>
          </a:bodyPr>
          <a:lstStyle/>
          <a:p>
            <a:pPr algn="ctr">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营销执行维持不变</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4" name="文本框 63"/>
          <p:cNvSpPr txBox="1"/>
          <p:nvPr/>
        </p:nvSpPr>
        <p:spPr>
          <a:xfrm>
            <a:off x="8875854" y="1752268"/>
            <a:ext cx="2574211" cy="518412"/>
          </a:xfrm>
          <a:prstGeom prst="rect">
            <a:avLst/>
          </a:prstGeom>
          <a:noFill/>
        </p:spPr>
        <p:txBody>
          <a:bodyPr wrap="square" rtlCol="0">
            <a:spAutoFit/>
          </a:bodyPr>
          <a:lstStyle/>
          <a:p>
            <a:pPr algn="ctr">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基于实操的紧密性将营销效果</a:t>
            </a:r>
            <a:endParaRPr lang="en-US" altLang="zh-CN" sz="105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与策略优化合并</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1119475" y="1417431"/>
            <a:ext cx="2525216" cy="1219886"/>
          </a:xfrm>
          <a:prstGeom prst="rect">
            <a:avLst/>
          </a:prstGeom>
          <a:noFill/>
        </p:spPr>
        <p:txBody>
          <a:bodyPr wrap="square" rtlCol="0">
            <a:spAutoFit/>
          </a:bodyPr>
          <a:lstStyle/>
          <a:p>
            <a:pPr>
              <a:spcAft>
                <a:spcPts val="600"/>
              </a:spcAft>
            </a:pPr>
            <a:r>
              <a:rPr lang="en-US" altLang="zh-CN" sz="2800" b="1" dirty="0">
                <a:solidFill>
                  <a:schemeClr val="accent5"/>
                </a:solidFill>
                <a:latin typeface="微软雅黑" panose="020B0503020204020204" charset="-122"/>
                <a:ea typeface="微软雅黑" panose="020B0503020204020204" charset="-122"/>
                <a:cs typeface="微软雅黑" panose="020B0503020204020204" charset="-122"/>
              </a:rPr>
              <a:t>iStar</a:t>
            </a:r>
            <a:endParaRPr lang="en-US" altLang="zh-CN" sz="2800" b="1" dirty="0">
              <a:solidFill>
                <a:schemeClr val="accent5"/>
              </a:solidFill>
              <a:latin typeface="微软雅黑" panose="020B0503020204020204" charset="-122"/>
              <a:ea typeface="微软雅黑" panose="020B0503020204020204" charset="-122"/>
              <a:cs typeface="微软雅黑" panose="020B0503020204020204" charset="-122"/>
            </a:endParaRPr>
          </a:p>
          <a:p>
            <a:pPr>
              <a:lnSpc>
                <a:spcPct val="130000"/>
              </a:lnSpc>
            </a:pP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从</a:t>
            </a:r>
            <a:r>
              <a:rPr lang="en-US" altLang="zh-CN" sz="1600" b="1" dirty="0">
                <a:solidFill>
                  <a:schemeClr val="tx2"/>
                </a:solidFill>
                <a:latin typeface="微软雅黑" panose="020B0503020204020204" charset="-122"/>
                <a:ea typeface="微软雅黑" panose="020B0503020204020204" charset="-122"/>
                <a:cs typeface="微软雅黑" panose="020B0503020204020204" charset="-122"/>
              </a:rPr>
              <a:t>4E</a:t>
            </a: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升级到强化洞察及战略开发的执行链路</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67" name="组合 66"/>
          <p:cNvGrpSpPr/>
          <p:nvPr/>
        </p:nvGrpSpPr>
        <p:grpSpPr>
          <a:xfrm>
            <a:off x="1509702" y="3909770"/>
            <a:ext cx="1279493" cy="654636"/>
            <a:chOff x="886190" y="3704639"/>
            <a:chExt cx="1279493" cy="654636"/>
          </a:xfrm>
        </p:grpSpPr>
        <p:sp>
          <p:nvSpPr>
            <p:cNvPr id="71" name="文本框 70"/>
            <p:cNvSpPr txBox="1"/>
            <p:nvPr/>
          </p:nvSpPr>
          <p:spPr>
            <a:xfrm>
              <a:off x="886190" y="3898900"/>
              <a:ext cx="1279493" cy="460375"/>
            </a:xfrm>
            <a:prstGeom prst="rect">
              <a:avLst/>
            </a:prstGeom>
            <a:noFill/>
          </p:spPr>
          <p:txBody>
            <a:bodyPr wrap="square">
              <a:spAutoFit/>
            </a:bodyPr>
            <a:lstStyle/>
            <a:p>
              <a:pPr>
                <a:spcAft>
                  <a:spcPts val="600"/>
                </a:spcAft>
              </a:pPr>
              <a:r>
                <a:rPr lang="en-US" altLang="zh-CN" sz="2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M</a:t>
              </a:r>
              <a:r>
                <a:rPr lang="en-US" altLang="zh-CN"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atch</a:t>
              </a:r>
              <a:endParaRPr lang="en-US" altLang="zh-CN" sz="2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72" name="文本框 71"/>
            <p:cNvSpPr txBox="1"/>
            <p:nvPr/>
          </p:nvSpPr>
          <p:spPr>
            <a:xfrm>
              <a:off x="1133066" y="3704639"/>
              <a:ext cx="842276" cy="300990"/>
            </a:xfrm>
            <a:prstGeom prst="rect">
              <a:avLst/>
            </a:prstGeom>
            <a:noFill/>
          </p:spPr>
          <p:txBody>
            <a:bodyPr wrap="square" rtlCol="0">
              <a:spAutoFit/>
            </a:bodyPr>
            <a:lstStyle/>
            <a:p>
              <a:pPr>
                <a:lnSpc>
                  <a:spcPct val="130000"/>
                </a:lnSpc>
              </a:pPr>
              <a:r>
                <a:rPr lang="zh-CN" altLang="en-US" sz="1050" b="1" dirty="0">
                  <a:solidFill>
                    <a:schemeClr val="tx2"/>
                  </a:solidFill>
                  <a:latin typeface="微软雅黑" panose="020B0503020204020204" charset="-122"/>
                  <a:ea typeface="微软雅黑" panose="020B0503020204020204" charset="-122"/>
                  <a:cs typeface="微软雅黑" panose="020B0503020204020204" charset="-122"/>
                </a:rPr>
                <a:t>成长定位</a:t>
              </a:r>
              <a:endParaRPr lang="zh-CN" altLang="en-US" sz="1050" b="1"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73" name="组合 72"/>
          <p:cNvGrpSpPr/>
          <p:nvPr/>
        </p:nvGrpSpPr>
        <p:grpSpPr>
          <a:xfrm>
            <a:off x="1509702" y="4776067"/>
            <a:ext cx="1279493" cy="609551"/>
            <a:chOff x="886190" y="3749724"/>
            <a:chExt cx="1279493" cy="609551"/>
          </a:xfrm>
        </p:grpSpPr>
        <p:sp>
          <p:nvSpPr>
            <p:cNvPr id="74" name="文本框 73"/>
            <p:cNvSpPr txBox="1"/>
            <p:nvPr/>
          </p:nvSpPr>
          <p:spPr>
            <a:xfrm>
              <a:off x="886190" y="3898900"/>
              <a:ext cx="1279493" cy="460375"/>
            </a:xfrm>
            <a:prstGeom prst="rect">
              <a:avLst/>
            </a:prstGeom>
            <a:noFill/>
          </p:spPr>
          <p:txBody>
            <a:bodyPr wrap="square">
              <a:spAutoFit/>
            </a:bodyPr>
            <a:lstStyle/>
            <a:p>
              <a:pPr>
                <a:spcAft>
                  <a:spcPts val="600"/>
                </a:spcAft>
              </a:pPr>
              <a:r>
                <a:rPr lang="en-US" altLang="zh-CN" sz="2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a:t>
              </a:r>
              <a:r>
                <a:rPr lang="en-US" altLang="zh-CN"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ssess</a:t>
              </a:r>
              <a:endParaRPr lang="en-US" altLang="zh-CN" sz="2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75" name="文本框 74"/>
            <p:cNvSpPr txBox="1"/>
            <p:nvPr/>
          </p:nvSpPr>
          <p:spPr>
            <a:xfrm>
              <a:off x="1190851" y="3749724"/>
              <a:ext cx="842276" cy="300990"/>
            </a:xfrm>
            <a:prstGeom prst="rect">
              <a:avLst/>
            </a:prstGeom>
            <a:noFill/>
          </p:spPr>
          <p:txBody>
            <a:bodyPr wrap="square" rtlCol="0">
              <a:spAutoFit/>
            </a:bodyPr>
            <a:lstStyle/>
            <a:p>
              <a:pPr>
                <a:lnSpc>
                  <a:spcPct val="130000"/>
                </a:lnSpc>
              </a:pPr>
              <a:r>
                <a:rPr lang="zh-CN" altLang="en-US" sz="1050" b="1" dirty="0">
                  <a:solidFill>
                    <a:schemeClr val="tx2"/>
                  </a:solidFill>
                  <a:latin typeface="微软雅黑" panose="020B0503020204020204" charset="-122"/>
                  <a:ea typeface="微软雅黑" panose="020B0503020204020204" charset="-122"/>
                  <a:cs typeface="微软雅黑" panose="020B0503020204020204" charset="-122"/>
                </a:rPr>
                <a:t>能力评估</a:t>
              </a:r>
              <a:endParaRPr lang="zh-CN" altLang="en-US" sz="1050" b="1"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76" name="组合 75"/>
          <p:cNvGrpSpPr/>
          <p:nvPr/>
        </p:nvGrpSpPr>
        <p:grpSpPr>
          <a:xfrm>
            <a:off x="1509702" y="5566799"/>
            <a:ext cx="1279493" cy="640031"/>
            <a:chOff x="886190" y="3719244"/>
            <a:chExt cx="1279493" cy="640031"/>
          </a:xfrm>
        </p:grpSpPr>
        <p:sp>
          <p:nvSpPr>
            <p:cNvPr id="77" name="文本框 76"/>
            <p:cNvSpPr txBox="1"/>
            <p:nvPr/>
          </p:nvSpPr>
          <p:spPr>
            <a:xfrm>
              <a:off x="886190" y="3898900"/>
              <a:ext cx="1279493" cy="460375"/>
            </a:xfrm>
            <a:prstGeom prst="rect">
              <a:avLst/>
            </a:prstGeom>
            <a:noFill/>
          </p:spPr>
          <p:txBody>
            <a:bodyPr wrap="square">
              <a:spAutoFit/>
            </a:bodyPr>
            <a:lstStyle/>
            <a:p>
              <a:pPr>
                <a:spcAft>
                  <a:spcPts val="600"/>
                </a:spcAft>
              </a:pPr>
              <a:r>
                <a:rPr lang="en-US" altLang="zh-CN" sz="2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P</a:t>
              </a:r>
              <a:r>
                <a:rPr lang="en-US" altLang="zh-CN"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ractice</a:t>
              </a:r>
              <a:endParaRPr lang="en-US" altLang="zh-CN" sz="2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1191486" y="3719244"/>
              <a:ext cx="842276" cy="300990"/>
            </a:xfrm>
            <a:prstGeom prst="rect">
              <a:avLst/>
            </a:prstGeom>
            <a:noFill/>
          </p:spPr>
          <p:txBody>
            <a:bodyPr wrap="square" rtlCol="0">
              <a:spAutoFit/>
            </a:bodyPr>
            <a:lstStyle/>
            <a:p>
              <a:pPr>
                <a:lnSpc>
                  <a:spcPct val="130000"/>
                </a:lnSpc>
              </a:pPr>
              <a:r>
                <a:rPr lang="zh-CN" altLang="en-US" sz="1050" b="1" dirty="0">
                  <a:solidFill>
                    <a:schemeClr val="tx2"/>
                  </a:solidFill>
                  <a:latin typeface="微软雅黑" panose="020B0503020204020204" charset="-122"/>
                  <a:ea typeface="微软雅黑" panose="020B0503020204020204" charset="-122"/>
                  <a:cs typeface="微软雅黑" panose="020B0503020204020204" charset="-122"/>
                </a:rPr>
                <a:t>策略匹配</a:t>
              </a:r>
              <a:endParaRPr lang="zh-CN" altLang="en-US" sz="1050" b="1"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79" name="矩形: 圆角 48"/>
          <p:cNvSpPr/>
          <p:nvPr/>
        </p:nvSpPr>
        <p:spPr>
          <a:xfrm>
            <a:off x="3354789" y="3814231"/>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京东平台上</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品牌成长定位</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0" name="矩形: 圆角 48"/>
          <p:cNvSpPr/>
          <p:nvPr/>
        </p:nvSpPr>
        <p:spPr>
          <a:xfrm>
            <a:off x="4892744" y="3814231"/>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结合定位的</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战略确认</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5" name="矩形: 圆角 48"/>
          <p:cNvSpPr/>
          <p:nvPr/>
        </p:nvSpPr>
        <p:spPr>
          <a:xfrm>
            <a:off x="3354789" y="4796522"/>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营销能力及具体</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指标表现诊断</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6" name="矩形: 圆角 48"/>
          <p:cNvSpPr/>
          <p:nvPr/>
        </p:nvSpPr>
        <p:spPr>
          <a:xfrm>
            <a:off x="6608807" y="4796522"/>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基于评估设定</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营销目标</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9" name="矩形: 圆角 48"/>
          <p:cNvSpPr/>
          <p:nvPr/>
        </p:nvSpPr>
        <p:spPr>
          <a:xfrm>
            <a:off x="8161163" y="4796522"/>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过程中进度</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表现监控</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0" name="矩形: 圆角 48"/>
          <p:cNvSpPr/>
          <p:nvPr/>
        </p:nvSpPr>
        <p:spPr>
          <a:xfrm>
            <a:off x="6616319" y="5617902"/>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匹配的营销</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策略与打法</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1" name="矩形: 圆角 48"/>
          <p:cNvSpPr/>
          <p:nvPr/>
        </p:nvSpPr>
        <p:spPr>
          <a:xfrm>
            <a:off x="8164919" y="5617902"/>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京东营销产品</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工具的应用</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2" name="矩形: 圆角 48"/>
          <p:cNvSpPr/>
          <p:nvPr/>
        </p:nvSpPr>
        <p:spPr>
          <a:xfrm>
            <a:off x="9713518" y="4796522"/>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差距要素的</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识别与提升</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3" name="矩形: 圆角 48"/>
          <p:cNvSpPr/>
          <p:nvPr/>
        </p:nvSpPr>
        <p:spPr>
          <a:xfrm>
            <a:off x="9713518" y="3995550"/>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品牌成长定位的</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保持与跃迁</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4" name="矩形: 圆角 48"/>
          <p:cNvSpPr/>
          <p:nvPr/>
        </p:nvSpPr>
        <p:spPr>
          <a:xfrm>
            <a:off x="9713518" y="5617902"/>
            <a:ext cx="1304937" cy="504000"/>
          </a:xfrm>
          <a:prstGeom prst="roundRect">
            <a:avLst>
              <a:gd name="adj" fmla="val 2567"/>
            </a:avLst>
          </a:prstGeom>
          <a:solidFill>
            <a:schemeClr val="accent1">
              <a:lumMod val="20000"/>
              <a:lumOff val="80000"/>
              <a:alpha val="50000"/>
            </a:schemeClr>
          </a:solidFill>
          <a:ln w="12700" cap="flat" cmpd="sng" algn="ctr">
            <a:solidFill>
              <a:schemeClr val="accent1">
                <a:lumMod val="60000"/>
                <a:lumOff val="40000"/>
                <a:alpha val="50000"/>
              </a:schemeClr>
            </a:solidFill>
            <a:prstDash val="dash"/>
            <a:miter lim="800000"/>
          </a:ln>
          <a:effectLst/>
        </p:spPr>
        <p:txBody>
          <a:bodyPr lIns="82296" tIns="41148" rIns="82296" bIns="41148" rtlCol="0" anchor="ctr">
            <a:noAutofit/>
          </a:bodyPr>
          <a:lstStyle/>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品牌重点关注项的</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lnSpc>
                <a:spcPct val="130000"/>
              </a:lnSpc>
              <a:spcBef>
                <a:spcPts val="0"/>
              </a:spcBef>
              <a:spcAft>
                <a:spcPts val="0"/>
              </a:spcAft>
              <a:buClrTx/>
              <a:buSzTx/>
              <a:buFontTx/>
              <a:defRPr/>
            </a:pPr>
            <a:r>
              <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策略与打击</a:t>
            </a:r>
            <a:endParaRPr lang="zh-CN" altLang="en-US" sz="1050" kern="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5" name="Rectangle: Top Corners Rounded 32"/>
          <p:cNvSpPr/>
          <p:nvPr/>
        </p:nvSpPr>
        <p:spPr>
          <a:xfrm>
            <a:off x="3535618" y="6002371"/>
            <a:ext cx="720000" cy="720000"/>
          </a:xfrm>
          <a:prstGeom prst="ellipse">
            <a:avLst/>
          </a:prstGeom>
          <a:gradFill>
            <a:gsLst>
              <a:gs pos="0">
                <a:schemeClr val="accent1"/>
              </a:gs>
              <a:gs pos="100000">
                <a:schemeClr val="accent1">
                  <a:lumMod val="60000"/>
                  <a:lumOff val="40000"/>
                </a:schemeClr>
              </a:gs>
            </a:gsLst>
            <a:lin ang="2700000" scaled="0"/>
          </a:gradFill>
          <a:ln w="9525" cap="flat" cmpd="sng" algn="ctr">
            <a:noFill/>
            <a:prstDash val="solid"/>
            <a:miter lim="800000"/>
          </a:ln>
          <a:effectLst>
            <a:outerShdw blurRad="50800" dist="38100" dir="2700000" algn="tl" rotWithShape="0">
              <a:schemeClr val="accent1">
                <a:lumMod val="60000"/>
                <a:lumOff val="40000"/>
                <a:alpha val="40000"/>
              </a:schemeClr>
            </a:outerShdw>
          </a:effectLst>
        </p:spPr>
        <p:txBody>
          <a:bodyPr rtlCol="0" anchor="ctr"/>
          <a:lstStyle/>
          <a:p>
            <a:pPr algn="ctr"/>
            <a:endParaRPr lang="en-US" sz="1050" b="1"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pic>
        <p:nvPicPr>
          <p:cNvPr id="96" name="图形 62" descr="32303236373537303b32303238313636373b4e345e8a4e2d5fc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24803" y="6191556"/>
            <a:ext cx="341630" cy="341630"/>
          </a:xfrm>
          <a:prstGeom prst="rect">
            <a:avLst/>
          </a:prstGeom>
        </p:spPr>
      </p:pic>
      <p:grpSp>
        <p:nvGrpSpPr>
          <p:cNvPr id="4" name="组合 3"/>
          <p:cNvGrpSpPr/>
          <p:nvPr/>
        </p:nvGrpSpPr>
        <p:grpSpPr>
          <a:xfrm>
            <a:off x="1456055" y="3310890"/>
            <a:ext cx="1104900" cy="502920"/>
            <a:chOff x="1986" y="4893"/>
            <a:chExt cx="1740" cy="792"/>
          </a:xfrm>
        </p:grpSpPr>
        <p:sp>
          <p:nvSpPr>
            <p:cNvPr id="66" name="文本框 65"/>
            <p:cNvSpPr txBox="1"/>
            <p:nvPr/>
          </p:nvSpPr>
          <p:spPr>
            <a:xfrm>
              <a:off x="2071" y="4927"/>
              <a:ext cx="1571" cy="725"/>
            </a:xfrm>
            <a:prstGeom prst="rect">
              <a:avLst/>
            </a:prstGeom>
            <a:noFill/>
          </p:spPr>
          <p:txBody>
            <a:bodyPr wrap="square">
              <a:spAutoFit/>
            </a:bodyPr>
            <a:lstStyle/>
            <a:p>
              <a:pPr algn="ctr">
                <a:spcAft>
                  <a:spcPts val="600"/>
                </a:spcAft>
              </a:pPr>
              <a:r>
                <a:rPr lang="en-US" altLang="zh-CN" sz="2400" b="1" dirty="0">
                  <a:solidFill>
                    <a:schemeClr val="accent1"/>
                  </a:solidFill>
                  <a:latin typeface="微软雅黑" panose="020B0503020204020204" charset="-122"/>
                  <a:ea typeface="微软雅黑" panose="020B0503020204020204" charset="-122"/>
                  <a:cs typeface="微软雅黑" panose="020B0503020204020204" charset="-122"/>
                </a:rPr>
                <a:t>iStar</a:t>
              </a:r>
              <a:endParaRPr lang="en-US" altLang="zh-CN" sz="2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 name="矩形 2"/>
            <p:cNvSpPr/>
            <p:nvPr/>
          </p:nvSpPr>
          <p:spPr>
            <a:xfrm>
              <a:off x="1986" y="4893"/>
              <a:ext cx="1740" cy="793"/>
            </a:xfrm>
            <a:prstGeom prst="rect">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cxnSp>
        <p:nvCxnSpPr>
          <p:cNvPr id="6"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5"/>
            <a:srcRect l="17002" t="-1765" r="56499" b="-1176"/>
            <a:stretch>
              <a:fillRect/>
            </a:stretch>
          </p:blipFill>
          <p:spPr>
            <a:xfrm>
              <a:off x="13761" y="549"/>
              <a:ext cx="1582" cy="525"/>
            </a:xfrm>
            <a:prstGeom prst="rect">
              <a:avLst/>
            </a:prstGeom>
          </p:spPr>
        </p:pic>
        <p:sp>
          <p:nvSpPr>
            <p:cNvPr id="23" name="文本框 22"/>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活动策划执行流程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12" name="矩形 111"/>
          <p:cNvSpPr/>
          <p:nvPr/>
        </p:nvSpPr>
        <p:spPr>
          <a:xfrm>
            <a:off x="3776431" y="3761318"/>
            <a:ext cx="2571188" cy="647700"/>
          </a:xfrm>
          <a:prstGeom prst="rect">
            <a:avLst/>
          </a:prstGeom>
          <a:solidFill>
            <a:schemeClr val="accent1">
              <a:lumMod val="60000"/>
              <a:lumOff val="40000"/>
            </a:schemeClr>
          </a:solidFill>
          <a:ln w="12700" cap="flat" cmpd="sng" algn="ctr">
            <a:no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3" name="矩形 112"/>
          <p:cNvSpPr/>
          <p:nvPr/>
        </p:nvSpPr>
        <p:spPr>
          <a:xfrm>
            <a:off x="1088649" y="3761318"/>
            <a:ext cx="2571188" cy="647700"/>
          </a:xfrm>
          <a:prstGeom prst="rect">
            <a:avLst/>
          </a:prstGeom>
          <a:solidFill>
            <a:schemeClr val="accent1"/>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14" name="矩形 113"/>
          <p:cNvSpPr/>
          <p:nvPr/>
        </p:nvSpPr>
        <p:spPr>
          <a:xfrm>
            <a:off x="1088390" y="1939290"/>
            <a:ext cx="10618470" cy="1671955"/>
          </a:xfrm>
          <a:prstGeom prst="rect">
            <a:avLst/>
          </a:prstGeom>
          <a:noFill/>
          <a:ln w="12700" cap="flat" cmpd="sng" algn="ctr">
            <a:solidFill>
              <a:schemeClr val="tx2">
                <a:alpha val="65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8" name="矩形: 圆角 489"/>
          <p:cNvSpPr/>
          <p:nvPr/>
        </p:nvSpPr>
        <p:spPr>
          <a:xfrm>
            <a:off x="492948" y="3761318"/>
            <a:ext cx="522287" cy="647700"/>
          </a:xfrm>
          <a:prstGeom prst="roundRect">
            <a:avLst>
              <a:gd name="adj" fmla="val 110"/>
            </a:avLst>
          </a:prstGeom>
          <a:noFill/>
          <a:ln w="12700" cap="flat" cmpd="sng" algn="ctr">
            <a:solidFill>
              <a:schemeClr val="accent6">
                <a:alpha val="65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0" name="矩形: 圆角 487"/>
          <p:cNvSpPr/>
          <p:nvPr/>
        </p:nvSpPr>
        <p:spPr>
          <a:xfrm>
            <a:off x="492948" y="1177966"/>
            <a:ext cx="522287" cy="647700"/>
          </a:xfrm>
          <a:prstGeom prst="roundRect">
            <a:avLst>
              <a:gd name="adj" fmla="val 110"/>
            </a:avLst>
          </a:prstGeom>
          <a:noFill/>
          <a:ln w="12700" cap="flat" cmpd="sng" algn="ctr">
            <a:solidFill>
              <a:schemeClr val="tx2">
                <a:alpha val="65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1" name="矩形: 圆角 488"/>
          <p:cNvSpPr/>
          <p:nvPr/>
        </p:nvSpPr>
        <p:spPr>
          <a:xfrm>
            <a:off x="492760" y="1936115"/>
            <a:ext cx="521970" cy="1675130"/>
          </a:xfrm>
          <a:prstGeom prst="roundRect">
            <a:avLst>
              <a:gd name="adj" fmla="val 110"/>
            </a:avLst>
          </a:prstGeom>
          <a:noFill/>
          <a:ln w="12700" cap="flat" cmpd="sng" algn="ctr">
            <a:solidFill>
              <a:schemeClr val="tx2">
                <a:alpha val="65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2" name="矩形 121"/>
          <p:cNvSpPr/>
          <p:nvPr/>
        </p:nvSpPr>
        <p:spPr>
          <a:xfrm>
            <a:off x="1088648" y="1183410"/>
            <a:ext cx="10618437" cy="647700"/>
          </a:xfrm>
          <a:prstGeom prst="rect">
            <a:avLst/>
          </a:prstGeom>
          <a:gradFill>
            <a:gsLst>
              <a:gs pos="100000">
                <a:schemeClr val="accent1">
                  <a:lumMod val="60000"/>
                  <a:lumOff val="40000"/>
                </a:schemeClr>
              </a:gs>
              <a:gs pos="0">
                <a:schemeClr val="accent1"/>
              </a:gs>
            </a:gsLst>
            <a:lin ang="2700000" scaled="0"/>
          </a:gradFill>
          <a:ln w="12700" cap="flat" cmpd="sng" algn="ctr">
            <a:no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3" name="椭圆 122"/>
          <p:cNvSpPr/>
          <p:nvPr/>
        </p:nvSpPr>
        <p:spPr>
          <a:xfrm>
            <a:off x="1717790" y="2155091"/>
            <a:ext cx="1312906" cy="1312906"/>
          </a:xfrm>
          <a:prstGeom prst="ellipse">
            <a:avLst/>
          </a:prstGeom>
          <a:solidFill>
            <a:schemeClr val="accent1"/>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24" name="文本框 123"/>
          <p:cNvSpPr txBox="1"/>
          <p:nvPr/>
        </p:nvSpPr>
        <p:spPr>
          <a:xfrm>
            <a:off x="1382473" y="3916019"/>
            <a:ext cx="1983540" cy="281103"/>
          </a:xfrm>
          <a:prstGeom prst="rect">
            <a:avLst/>
          </a:prstGeom>
          <a:noFill/>
        </p:spPr>
        <p:txBody>
          <a:bodyPr wrap="square" lIns="0" tIns="0" rIns="0" bIns="0"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策划部、设计部</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5" name="文本框 124"/>
          <p:cNvSpPr txBox="1"/>
          <p:nvPr/>
        </p:nvSpPr>
        <p:spPr>
          <a:xfrm>
            <a:off x="4391727" y="3916019"/>
            <a:ext cx="1340596" cy="281103"/>
          </a:xfrm>
          <a:prstGeom prst="rect">
            <a:avLst/>
          </a:prstGeom>
          <a:noFill/>
        </p:spPr>
        <p:txBody>
          <a:bodyPr wrap="square" lIns="0" tIns="0" rIns="0" bIns="0"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财务部</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6" name="文本框 125"/>
          <p:cNvSpPr txBox="1"/>
          <p:nvPr/>
        </p:nvSpPr>
        <p:spPr>
          <a:xfrm>
            <a:off x="7077087" y="3881827"/>
            <a:ext cx="1340596" cy="338298"/>
          </a:xfrm>
          <a:prstGeom prst="rect">
            <a:avLst/>
          </a:prstGeom>
          <a:noFill/>
        </p:spPr>
        <p:txBody>
          <a:bodyPr wrap="square"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嘉宾、主播</a:t>
            </a:r>
            <a:r>
              <a:rPr kumimoji="0"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A</a:t>
            </a:r>
            <a:endParaRPr kumimoji="0" lang="zh-CN"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7" name="文本框 126"/>
          <p:cNvSpPr txBox="1"/>
          <p:nvPr/>
        </p:nvSpPr>
        <p:spPr>
          <a:xfrm>
            <a:off x="9545122" y="3881827"/>
            <a:ext cx="1950192" cy="338298"/>
          </a:xfrm>
          <a:prstGeom prst="rect">
            <a:avLst/>
          </a:prstGeom>
          <a:noFill/>
        </p:spPr>
        <p:txBody>
          <a:bodyPr wrap="square"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主播</a:t>
            </a:r>
            <a:r>
              <a:rPr kumimoji="0"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B</a:t>
            </a:r>
            <a:r>
              <a:rPr kumimoji="0" lang="zh-CN"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、运营部</a:t>
            </a:r>
            <a:endParaRPr kumimoji="0" lang="zh-CN"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28" name="直接连接符 469"/>
          <p:cNvCxnSpPr/>
          <p:nvPr/>
        </p:nvCxnSpPr>
        <p:spPr>
          <a:xfrm>
            <a:off x="3743257" y="1392053"/>
            <a:ext cx="0" cy="232228"/>
          </a:xfrm>
          <a:prstGeom prst="line">
            <a:avLst/>
          </a:prstGeom>
          <a:noFill/>
          <a:ln w="6350" cap="flat" cmpd="sng" algn="ctr">
            <a:solidFill>
              <a:srgbClr val="FFFFFF">
                <a:lumMod val="85000"/>
              </a:srgbClr>
            </a:solidFill>
            <a:prstDash val="solid"/>
            <a:miter lim="800000"/>
          </a:ln>
          <a:effectLst/>
        </p:spPr>
      </p:cxnSp>
      <p:cxnSp>
        <p:nvCxnSpPr>
          <p:cNvPr id="129" name="直接连接符 470"/>
          <p:cNvCxnSpPr/>
          <p:nvPr/>
        </p:nvCxnSpPr>
        <p:spPr>
          <a:xfrm>
            <a:off x="6397866" y="1392053"/>
            <a:ext cx="0" cy="232228"/>
          </a:xfrm>
          <a:prstGeom prst="line">
            <a:avLst/>
          </a:prstGeom>
          <a:noFill/>
          <a:ln w="6350" cap="flat" cmpd="sng" algn="ctr">
            <a:solidFill>
              <a:srgbClr val="FFFFFF">
                <a:lumMod val="85000"/>
              </a:srgbClr>
            </a:solidFill>
            <a:prstDash val="solid"/>
            <a:miter lim="800000"/>
          </a:ln>
          <a:effectLst/>
        </p:spPr>
      </p:cxnSp>
      <p:cxnSp>
        <p:nvCxnSpPr>
          <p:cNvPr id="130" name="直接连接符 471"/>
          <p:cNvCxnSpPr/>
          <p:nvPr/>
        </p:nvCxnSpPr>
        <p:spPr>
          <a:xfrm>
            <a:off x="9052475" y="1392053"/>
            <a:ext cx="0" cy="232228"/>
          </a:xfrm>
          <a:prstGeom prst="line">
            <a:avLst/>
          </a:prstGeom>
          <a:noFill/>
          <a:ln w="6350" cap="flat" cmpd="sng" algn="ctr">
            <a:solidFill>
              <a:srgbClr val="FFFFFF">
                <a:lumMod val="85000"/>
              </a:srgbClr>
            </a:solidFill>
            <a:prstDash val="solid"/>
            <a:miter lim="800000"/>
          </a:ln>
          <a:effectLst/>
        </p:spPr>
      </p:cxnSp>
      <p:sp>
        <p:nvSpPr>
          <p:cNvPr id="131" name="文本框 130"/>
          <p:cNvSpPr txBox="1"/>
          <p:nvPr/>
        </p:nvSpPr>
        <p:spPr>
          <a:xfrm>
            <a:off x="518598" y="1273292"/>
            <a:ext cx="483209" cy="457048"/>
          </a:xfrm>
          <a:prstGeom prst="rect">
            <a:avLst/>
          </a:prstGeom>
          <a:noFill/>
          <a:effectLst/>
        </p:spPr>
        <p:txBody>
          <a:bodyPr wrap="none" lIns="86868" tIns="43434" rIns="86868" bIns="43434"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策略</a:t>
            </a:r>
            <a:endParaRPr lang="en-US" altLang="zh-CN" sz="1200" dirty="0">
              <a:solidFill>
                <a:schemeClr val="tx2"/>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步骤</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2" name="文本框 131"/>
          <p:cNvSpPr txBox="1"/>
          <p:nvPr/>
        </p:nvSpPr>
        <p:spPr>
          <a:xfrm>
            <a:off x="607646" y="2395251"/>
            <a:ext cx="286060" cy="826380"/>
          </a:xfrm>
          <a:prstGeom prst="rect">
            <a:avLst/>
          </a:prstGeom>
          <a:noFill/>
          <a:effectLst/>
        </p:spPr>
        <p:txBody>
          <a:bodyPr wrap="square" lIns="86868" tIns="43434" rIns="86868" bIns="43434"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核心事项</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3" name="文本框 132"/>
          <p:cNvSpPr txBox="1"/>
          <p:nvPr/>
        </p:nvSpPr>
        <p:spPr>
          <a:xfrm>
            <a:off x="511970" y="3858514"/>
            <a:ext cx="483209" cy="457048"/>
          </a:xfrm>
          <a:prstGeom prst="rect">
            <a:avLst/>
          </a:prstGeom>
          <a:noFill/>
          <a:ln>
            <a:noFill/>
          </a:ln>
          <a:effectLst/>
        </p:spPr>
        <p:txBody>
          <a:bodyPr wrap="none" lIns="86868" tIns="43434" rIns="86868" bIns="43434"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负责</a:t>
            </a:r>
            <a:endPar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部门</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flipH="1">
            <a:off x="1714116" y="1384715"/>
            <a:ext cx="13202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活动策划</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6" name="箭头: 下 14"/>
          <p:cNvSpPr/>
          <p:nvPr/>
        </p:nvSpPr>
        <p:spPr>
          <a:xfrm rot="16200000">
            <a:off x="3295334" y="2366998"/>
            <a:ext cx="576846" cy="889094"/>
          </a:xfrm>
          <a:prstGeom prst="downArrow">
            <a:avLst>
              <a:gd name="adj1" fmla="val 48920"/>
              <a:gd name="adj2" fmla="val 63858"/>
            </a:avLst>
          </a:prstGeom>
          <a:gradFill>
            <a:gsLst>
              <a:gs pos="100000">
                <a:schemeClr val="accent1">
                  <a:lumMod val="60000"/>
                  <a:lumOff val="40000"/>
                </a:schemeClr>
              </a:gs>
              <a:gs pos="23000">
                <a:schemeClr val="accent1">
                  <a:lumMod val="60000"/>
                  <a:lumOff val="40000"/>
                  <a:alpha val="0"/>
                </a:scheme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7" name="矩形 136"/>
          <p:cNvSpPr/>
          <p:nvPr/>
        </p:nvSpPr>
        <p:spPr>
          <a:xfrm>
            <a:off x="9110429" y="3761318"/>
            <a:ext cx="2596655" cy="647700"/>
          </a:xfrm>
          <a:prstGeom prst="rect">
            <a:avLst/>
          </a:prstGeom>
          <a:solidFill>
            <a:schemeClr val="accent5"/>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38" name="矩形 137"/>
          <p:cNvSpPr/>
          <p:nvPr/>
        </p:nvSpPr>
        <p:spPr>
          <a:xfrm>
            <a:off x="6464212" y="3761318"/>
            <a:ext cx="808176" cy="647700"/>
          </a:xfrm>
          <a:prstGeom prst="rect">
            <a:avLst/>
          </a:prstGeom>
          <a:solidFill>
            <a:schemeClr val="accent5">
              <a:lumMod val="60000"/>
              <a:lumOff val="40000"/>
            </a:schemeClr>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39" name="矩形 138"/>
          <p:cNvSpPr/>
          <p:nvPr/>
        </p:nvSpPr>
        <p:spPr>
          <a:xfrm>
            <a:off x="7341134" y="3761318"/>
            <a:ext cx="808176" cy="647700"/>
          </a:xfrm>
          <a:prstGeom prst="rect">
            <a:avLst/>
          </a:prstGeom>
          <a:solidFill>
            <a:schemeClr val="accent5">
              <a:lumMod val="60000"/>
              <a:lumOff val="40000"/>
            </a:schemeClr>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40" name="矩形 139"/>
          <p:cNvSpPr/>
          <p:nvPr/>
        </p:nvSpPr>
        <p:spPr>
          <a:xfrm>
            <a:off x="8218057" y="3761318"/>
            <a:ext cx="808176" cy="647700"/>
          </a:xfrm>
          <a:prstGeom prst="rect">
            <a:avLst/>
          </a:prstGeom>
          <a:solidFill>
            <a:schemeClr val="accent5">
              <a:lumMod val="60000"/>
              <a:lumOff val="40000"/>
            </a:schemeClr>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41" name="Object27"/>
          <p:cNvSpPr/>
          <p:nvPr/>
        </p:nvSpPr>
        <p:spPr>
          <a:xfrm>
            <a:off x="1779572" y="2599691"/>
            <a:ext cx="1189342" cy="294542"/>
          </a:xfrm>
          <a:prstGeom prst="rect">
            <a:avLst/>
          </a:prstGeom>
          <a:noFill/>
        </p:spPr>
        <p:txBody>
          <a:bodyPr wrap="square" lIns="0" tIns="0" rIns="0" bIns="0" rtlCol="0" anchor="ct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err="1">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方案制定</a:t>
            </a:r>
            <a:endParaRPr kumimoji="0" 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2" name="文本框 141"/>
          <p:cNvSpPr txBox="1"/>
          <p:nvPr/>
        </p:nvSpPr>
        <p:spPr>
          <a:xfrm>
            <a:off x="1873946" y="2850691"/>
            <a:ext cx="100059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Brand marketing</a:t>
            </a:r>
            <a:endPar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3" name="椭圆 142"/>
          <p:cNvSpPr/>
          <p:nvPr/>
        </p:nvSpPr>
        <p:spPr>
          <a:xfrm>
            <a:off x="4405572" y="2155091"/>
            <a:ext cx="1312906" cy="1312906"/>
          </a:xfrm>
          <a:prstGeom prst="ellipse">
            <a:avLst/>
          </a:prstGeom>
          <a:solidFill>
            <a:schemeClr val="accent1">
              <a:lumMod val="60000"/>
              <a:lumOff val="40000"/>
            </a:schemeClr>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44" name="Object27"/>
          <p:cNvSpPr/>
          <p:nvPr/>
        </p:nvSpPr>
        <p:spPr>
          <a:xfrm>
            <a:off x="4467354" y="2599691"/>
            <a:ext cx="1189342" cy="294542"/>
          </a:xfrm>
          <a:prstGeom prst="rect">
            <a:avLst/>
          </a:prstGeom>
          <a:noFill/>
        </p:spPr>
        <p:txBody>
          <a:bodyPr wrap="square" lIns="0" tIns="0" rIns="0" bIns="0" rtlCol="0" anchor="ct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err="1">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经费评估</a:t>
            </a:r>
            <a:endParaRPr kumimoji="0" 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5" name="文本框 144"/>
          <p:cNvSpPr txBox="1"/>
          <p:nvPr/>
        </p:nvSpPr>
        <p:spPr>
          <a:xfrm>
            <a:off x="4561728" y="2850691"/>
            <a:ext cx="100059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Brand marketing</a:t>
            </a:r>
            <a:endPar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6" name="椭圆 145"/>
          <p:cNvSpPr/>
          <p:nvPr/>
        </p:nvSpPr>
        <p:spPr>
          <a:xfrm>
            <a:off x="7364303" y="2165930"/>
            <a:ext cx="752672" cy="752672"/>
          </a:xfrm>
          <a:prstGeom prst="ellipse">
            <a:avLst/>
          </a:prstGeom>
          <a:solidFill>
            <a:schemeClr val="accent5">
              <a:lumMod val="60000"/>
              <a:lumOff val="40000"/>
              <a:alpha val="70000"/>
            </a:schemeClr>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47" name="椭圆 146"/>
          <p:cNvSpPr/>
          <p:nvPr/>
        </p:nvSpPr>
        <p:spPr>
          <a:xfrm>
            <a:off x="9739571" y="2155091"/>
            <a:ext cx="1312906" cy="1312906"/>
          </a:xfrm>
          <a:prstGeom prst="ellipse">
            <a:avLst/>
          </a:prstGeom>
          <a:solidFill>
            <a:schemeClr val="accent5"/>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48" name="Object27"/>
          <p:cNvSpPr/>
          <p:nvPr/>
        </p:nvSpPr>
        <p:spPr>
          <a:xfrm>
            <a:off x="9801353" y="2599691"/>
            <a:ext cx="1189342" cy="294542"/>
          </a:xfrm>
          <a:prstGeom prst="rect">
            <a:avLst/>
          </a:prstGeom>
          <a:noFill/>
        </p:spPr>
        <p:txBody>
          <a:bodyPr wrap="square" lIns="0" tIns="0" rIns="0" bIns="0" rtlCol="0" anchor="ct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err="1">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渠道投放</a:t>
            </a:r>
            <a:endParaRPr kumimoji="0" 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9" name="文本框 148"/>
          <p:cNvSpPr txBox="1"/>
          <p:nvPr/>
        </p:nvSpPr>
        <p:spPr>
          <a:xfrm>
            <a:off x="9895727" y="2850691"/>
            <a:ext cx="100059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Brand marketing</a:t>
            </a:r>
            <a:endPar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1" name="箭头: 下 14"/>
          <p:cNvSpPr/>
          <p:nvPr/>
        </p:nvSpPr>
        <p:spPr>
          <a:xfrm rot="16200000">
            <a:off x="6026119" y="2366998"/>
            <a:ext cx="576846" cy="889094"/>
          </a:xfrm>
          <a:prstGeom prst="downArrow">
            <a:avLst>
              <a:gd name="adj1" fmla="val 48920"/>
              <a:gd name="adj2" fmla="val 63858"/>
            </a:avLst>
          </a:prstGeom>
          <a:gradFill>
            <a:gsLst>
              <a:gs pos="100000">
                <a:schemeClr val="accent1">
                  <a:lumMod val="60000"/>
                  <a:lumOff val="40000"/>
                </a:schemeClr>
              </a:gs>
              <a:gs pos="23000">
                <a:schemeClr val="accent1">
                  <a:lumMod val="60000"/>
                  <a:lumOff val="40000"/>
                  <a:alpha val="0"/>
                </a:schemeClr>
              </a:gs>
            </a:gsLst>
            <a:lin ang="5400000" scaled="0"/>
          </a:gradFill>
          <a:ln w="12700" cap="flat" cmpd="sng" algn="ctr">
            <a:noFill/>
            <a:prstDash val="solid"/>
            <a:miter lim="800000"/>
          </a:ln>
          <a:effectLst/>
        </p:spPr>
        <p:txBody>
          <a:bodyPr rtlCol="0" anchor="ctr">
            <a:noAutofit/>
          </a:bodyPr>
          <a:lstStyle/>
          <a:p>
            <a:pPr lvl="0" algn="ctr">
              <a:spcBef>
                <a:spcPts val="0"/>
              </a:spcBef>
              <a:spcAft>
                <a:spcPts val="0"/>
              </a:spcAft>
              <a:buClrTx/>
              <a:buSzTx/>
              <a:buFontTx/>
              <a:defRPr/>
            </a:pPr>
            <a:endParaRPr kumimoji="1" lang="zh-CN" altLang="en-US" kern="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2" name="箭头: 下 14"/>
          <p:cNvSpPr/>
          <p:nvPr/>
        </p:nvSpPr>
        <p:spPr>
          <a:xfrm rot="16200000">
            <a:off x="8647590" y="2366998"/>
            <a:ext cx="576846" cy="889094"/>
          </a:xfrm>
          <a:prstGeom prst="downArrow">
            <a:avLst>
              <a:gd name="adj1" fmla="val 48920"/>
              <a:gd name="adj2" fmla="val 63858"/>
            </a:avLst>
          </a:prstGeom>
          <a:gradFill>
            <a:gsLst>
              <a:gs pos="100000">
                <a:schemeClr val="accent5">
                  <a:lumMod val="60000"/>
                  <a:lumOff val="40000"/>
                  <a:alpha val="100000"/>
                </a:schemeClr>
              </a:gs>
              <a:gs pos="23000">
                <a:schemeClr val="accent5">
                  <a:lumMod val="60000"/>
                  <a:lumOff val="40000"/>
                  <a:alpha val="0"/>
                </a:schemeClr>
              </a:gs>
            </a:gsLst>
            <a:lin ang="5400000" scaled="0"/>
          </a:gradFill>
          <a:ln w="12700" cap="flat" cmpd="sng" algn="ctr">
            <a:noFill/>
            <a:prstDash val="solid"/>
            <a:miter lim="800000"/>
          </a:ln>
          <a:effectLst/>
        </p:spPr>
        <p:txBody>
          <a:bodyPr rtlCol="0" anchor="ctr">
            <a:noAutofit/>
          </a:bodyPr>
          <a:lstStyle/>
          <a:p>
            <a:pPr lvl="0" algn="ctr">
              <a:spcBef>
                <a:spcPts val="0"/>
              </a:spcBef>
              <a:spcAft>
                <a:spcPts val="0"/>
              </a:spcAft>
              <a:buClrTx/>
              <a:buSzTx/>
              <a:buFontTx/>
              <a:defRPr/>
            </a:pPr>
            <a:endParaRPr kumimoji="1" lang="zh-CN" altLang="en-US" kern="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3" name="文本框 152"/>
          <p:cNvSpPr txBox="1"/>
          <p:nvPr/>
        </p:nvSpPr>
        <p:spPr>
          <a:xfrm flipH="1">
            <a:off x="4401898" y="1384715"/>
            <a:ext cx="13202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预算制定</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4" name="文本框 153"/>
          <p:cNvSpPr txBox="1"/>
          <p:nvPr/>
        </p:nvSpPr>
        <p:spPr>
          <a:xfrm flipH="1">
            <a:off x="7080512" y="1384715"/>
            <a:ext cx="13202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供应商协商</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5" name="文本框 154"/>
          <p:cNvSpPr txBox="1"/>
          <p:nvPr/>
        </p:nvSpPr>
        <p:spPr>
          <a:xfrm flipH="1">
            <a:off x="9761364" y="1384715"/>
            <a:ext cx="13202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宣传推广</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6" name="文本框 155"/>
          <p:cNvSpPr txBox="1"/>
          <p:nvPr/>
        </p:nvSpPr>
        <p:spPr>
          <a:xfrm>
            <a:off x="6546923" y="3916019"/>
            <a:ext cx="642754" cy="281103"/>
          </a:xfrm>
          <a:prstGeom prst="rect">
            <a:avLst/>
          </a:prstGeom>
          <a:noFill/>
        </p:spPr>
        <p:txBody>
          <a:bodyPr wrap="square" lIns="0" tIns="0" rIns="0" bIns="0"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行政</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7" name="文本框 156"/>
          <p:cNvSpPr txBox="1"/>
          <p:nvPr/>
        </p:nvSpPr>
        <p:spPr>
          <a:xfrm>
            <a:off x="7423845" y="3916019"/>
            <a:ext cx="642754" cy="281103"/>
          </a:xfrm>
          <a:prstGeom prst="rect">
            <a:avLst/>
          </a:prstGeom>
          <a:noFill/>
        </p:spPr>
        <p:txBody>
          <a:bodyPr wrap="square" lIns="0" tIns="0" rIns="0" bIns="0"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财务</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8" name="文本框 157"/>
          <p:cNvSpPr txBox="1"/>
          <p:nvPr/>
        </p:nvSpPr>
        <p:spPr>
          <a:xfrm>
            <a:off x="8300768" y="3916019"/>
            <a:ext cx="642754" cy="281103"/>
          </a:xfrm>
          <a:prstGeom prst="rect">
            <a:avLst/>
          </a:prstGeom>
          <a:noFill/>
        </p:spPr>
        <p:txBody>
          <a:bodyPr wrap="square" lIns="0" tIns="0" rIns="0" bIns="0"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法务</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9" name="椭圆 158"/>
          <p:cNvSpPr/>
          <p:nvPr/>
        </p:nvSpPr>
        <p:spPr>
          <a:xfrm>
            <a:off x="7044788" y="2701217"/>
            <a:ext cx="752672" cy="752672"/>
          </a:xfrm>
          <a:prstGeom prst="ellipse">
            <a:avLst/>
          </a:prstGeom>
          <a:solidFill>
            <a:schemeClr val="accent5">
              <a:lumMod val="60000"/>
              <a:lumOff val="40000"/>
              <a:alpha val="70000"/>
            </a:schemeClr>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60" name="椭圆 159"/>
          <p:cNvSpPr/>
          <p:nvPr/>
        </p:nvSpPr>
        <p:spPr>
          <a:xfrm>
            <a:off x="7669543" y="2701217"/>
            <a:ext cx="752672" cy="752672"/>
          </a:xfrm>
          <a:prstGeom prst="ellipse">
            <a:avLst/>
          </a:prstGeom>
          <a:solidFill>
            <a:schemeClr val="accent5">
              <a:lumMod val="60000"/>
              <a:lumOff val="40000"/>
              <a:alpha val="70000"/>
            </a:schemeClr>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61" name="Object27"/>
          <p:cNvSpPr/>
          <p:nvPr/>
        </p:nvSpPr>
        <p:spPr>
          <a:xfrm>
            <a:off x="7486768" y="2375850"/>
            <a:ext cx="512146" cy="294542"/>
          </a:xfrm>
          <a:prstGeom prst="rect">
            <a:avLst/>
          </a:prstGeom>
          <a:noFill/>
        </p:spPr>
        <p:txBody>
          <a:bodyPr wrap="square" lIns="0" tIns="0" rIns="0" bIns="0" rtlCol="0" anchor="ct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err="1">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场地</a:t>
            </a:r>
            <a:endParaRPr kumimoji="0" 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2" name="Object27"/>
          <p:cNvSpPr/>
          <p:nvPr/>
        </p:nvSpPr>
        <p:spPr>
          <a:xfrm>
            <a:off x="7160783" y="2940171"/>
            <a:ext cx="512146" cy="294542"/>
          </a:xfrm>
          <a:prstGeom prst="rect">
            <a:avLst/>
          </a:prstGeom>
          <a:noFill/>
        </p:spPr>
        <p:txBody>
          <a:bodyPr wrap="square" lIns="0" tIns="0" rIns="0" bIns="0" rtlCol="0" anchor="ct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err="1">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设备</a:t>
            </a:r>
            <a:endParaRPr kumimoji="0" 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3" name="Object27"/>
          <p:cNvSpPr/>
          <p:nvPr/>
        </p:nvSpPr>
        <p:spPr>
          <a:xfrm>
            <a:off x="7836498" y="2940171"/>
            <a:ext cx="512146" cy="294542"/>
          </a:xfrm>
          <a:prstGeom prst="rect">
            <a:avLst/>
          </a:prstGeom>
          <a:noFill/>
        </p:spPr>
        <p:txBody>
          <a:bodyPr wrap="square" lIns="0" tIns="0" rIns="0" bIns="0" rtlCol="0" anchor="ct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err="1">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嘉宾</a:t>
            </a:r>
            <a:endParaRPr kumimoji="0" 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4" name="文本框 163"/>
          <p:cNvSpPr txBox="1"/>
          <p:nvPr/>
        </p:nvSpPr>
        <p:spPr>
          <a:xfrm>
            <a:off x="9615284" y="3916019"/>
            <a:ext cx="1561480" cy="281103"/>
          </a:xfrm>
          <a:prstGeom prst="rect">
            <a:avLst/>
          </a:prstGeom>
          <a:noFill/>
        </p:spPr>
        <p:txBody>
          <a:bodyPr wrap="square" lIns="0" tIns="0" rIns="0" bIns="0"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品宣部、设计部</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0" name="矩形: 圆角 30"/>
          <p:cNvSpPr/>
          <p:nvPr/>
        </p:nvSpPr>
        <p:spPr>
          <a:xfrm>
            <a:off x="9135745" y="4518660"/>
            <a:ext cx="2571115" cy="1978660"/>
          </a:xfrm>
          <a:prstGeom prst="roundRect">
            <a:avLst>
              <a:gd name="adj" fmla="val 110"/>
            </a:avLst>
          </a:prstGeom>
          <a:solidFill>
            <a:schemeClr val="accent5">
              <a:lumMod val="20000"/>
              <a:lumOff val="80000"/>
              <a:alpha val="40000"/>
            </a:schemeClr>
          </a:solidFill>
          <a:ln w="12700" cap="flat" cmpd="sng" algn="ctr">
            <a:noFill/>
            <a:prstDash val="solid"/>
            <a:miter lim="800000"/>
          </a:ln>
          <a:effectLst/>
        </p:spPr>
        <p:txBody>
          <a:bodyPr rtlCol="0" anchor="ctr">
            <a:noAutofit/>
          </a:bodyPr>
          <a:lstStyle/>
          <a:p>
            <a:pPr lvl="0" algn="ctr" defTabSz="456565">
              <a:spcBef>
                <a:spcPts val="0"/>
              </a:spcBef>
              <a:spcAft>
                <a:spcPts val="0"/>
              </a:spcAft>
              <a:buClrTx/>
              <a:buSzTx/>
              <a:buFontTx/>
              <a:defRPr/>
            </a:pPr>
            <a:endParaRPr kumimoji="1" lang="zh-CN" altLang="en-US" sz="900" b="1" kern="0" noProof="0">
              <a:ln>
                <a:noFill/>
              </a:ln>
              <a:solidFill>
                <a:srgbClr val="11134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1" name="矩形 110"/>
          <p:cNvSpPr/>
          <p:nvPr/>
        </p:nvSpPr>
        <p:spPr>
          <a:xfrm>
            <a:off x="9396095" y="4748530"/>
            <a:ext cx="1067435" cy="295275"/>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5" name="矩形: 圆角 30"/>
          <p:cNvSpPr/>
          <p:nvPr/>
        </p:nvSpPr>
        <p:spPr>
          <a:xfrm>
            <a:off x="1093470" y="4518660"/>
            <a:ext cx="2571115" cy="1978660"/>
          </a:xfrm>
          <a:prstGeom prst="roundRect">
            <a:avLst>
              <a:gd name="adj" fmla="val 110"/>
            </a:avLst>
          </a:prstGeom>
          <a:solidFill>
            <a:schemeClr val="accent1">
              <a:lumMod val="20000"/>
              <a:lumOff val="80000"/>
              <a:alpha val="40000"/>
            </a:schemeClr>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1" lang="zh-CN" altLang="en-US" sz="900" b="1" i="0" u="none" strike="noStrike" kern="0" cap="none" spc="0" normalizeH="0" baseline="0" noProof="0">
              <a:ln>
                <a:noFill/>
              </a:ln>
              <a:solidFill>
                <a:srgbClr val="11134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6" name="矩形: 圆角 30"/>
          <p:cNvSpPr/>
          <p:nvPr/>
        </p:nvSpPr>
        <p:spPr>
          <a:xfrm>
            <a:off x="3774440" y="4518660"/>
            <a:ext cx="2571115" cy="1978660"/>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txBody>
          <a:bodyPr rtlCol="0" anchor="ctr">
            <a:noAutofit/>
          </a:bodyPr>
          <a:lstStyle/>
          <a:p>
            <a:pPr lvl="0" algn="ctr" defTabSz="456565">
              <a:spcBef>
                <a:spcPts val="0"/>
              </a:spcBef>
              <a:spcAft>
                <a:spcPts val="0"/>
              </a:spcAft>
              <a:buClrTx/>
              <a:buSzTx/>
              <a:buFontTx/>
              <a:defRPr/>
            </a:pPr>
            <a:endParaRPr kumimoji="1" lang="zh-CN" altLang="en-US" sz="900" b="1" kern="0" noProof="0">
              <a:ln>
                <a:noFill/>
              </a:ln>
              <a:solidFill>
                <a:srgbClr val="11134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7" name="矩形: 圆角 30"/>
          <p:cNvSpPr/>
          <p:nvPr/>
        </p:nvSpPr>
        <p:spPr>
          <a:xfrm>
            <a:off x="6454775" y="4518660"/>
            <a:ext cx="2571115" cy="1978660"/>
          </a:xfrm>
          <a:prstGeom prst="roundRect">
            <a:avLst>
              <a:gd name="adj" fmla="val 110"/>
            </a:avLst>
          </a:prstGeom>
          <a:solidFill>
            <a:schemeClr val="accent5">
              <a:lumMod val="20000"/>
              <a:lumOff val="80000"/>
              <a:alpha val="40000"/>
            </a:schemeClr>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1" lang="zh-CN" altLang="en-US" sz="900" b="1" i="0" u="none" strike="noStrike" kern="0" cap="none" spc="0" normalizeH="0" baseline="0" noProof="0">
              <a:ln>
                <a:noFill/>
              </a:ln>
              <a:solidFill>
                <a:srgbClr val="11134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9" name="矩形: 圆角 490"/>
          <p:cNvSpPr/>
          <p:nvPr/>
        </p:nvSpPr>
        <p:spPr>
          <a:xfrm>
            <a:off x="492760" y="4518660"/>
            <a:ext cx="521970" cy="1978660"/>
          </a:xfrm>
          <a:prstGeom prst="roundRect">
            <a:avLst>
              <a:gd name="adj" fmla="val 110"/>
            </a:avLst>
          </a:prstGeom>
          <a:noFill/>
          <a:ln w="12700" cap="flat" cmpd="sng" algn="ctr">
            <a:solidFill>
              <a:schemeClr val="tx2">
                <a:alpha val="65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0" name="文本框 149"/>
          <p:cNvSpPr txBox="1"/>
          <p:nvPr/>
        </p:nvSpPr>
        <p:spPr>
          <a:xfrm>
            <a:off x="607695" y="5064760"/>
            <a:ext cx="285750" cy="824865"/>
          </a:xfrm>
          <a:prstGeom prst="rect">
            <a:avLst/>
          </a:prstGeom>
          <a:noFill/>
          <a:effectLst/>
        </p:spPr>
        <p:txBody>
          <a:bodyPr wrap="square" lIns="86868" tIns="43434" rIns="86868" bIns="43434"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具体方案</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5" name="文本框 164"/>
          <p:cNvSpPr txBox="1"/>
          <p:nvPr/>
        </p:nvSpPr>
        <p:spPr>
          <a:xfrm flipH="1">
            <a:off x="9396095" y="5076190"/>
            <a:ext cx="2106295" cy="34988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rPr>
              <a:t>制定详细的宣传计划，明确使用的渠道和推广方式</a:t>
            </a:r>
            <a:endPar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6" name="文本框 165"/>
          <p:cNvSpPr txBox="1"/>
          <p:nvPr/>
        </p:nvSpPr>
        <p:spPr>
          <a:xfrm flipH="1">
            <a:off x="9440545" y="4788535"/>
            <a:ext cx="1015365" cy="2000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宣传计划制定</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7" name="矩形 166"/>
          <p:cNvSpPr/>
          <p:nvPr/>
        </p:nvSpPr>
        <p:spPr>
          <a:xfrm>
            <a:off x="9396095" y="5581015"/>
            <a:ext cx="1067435" cy="295275"/>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8" name="文本框 167"/>
          <p:cNvSpPr txBox="1"/>
          <p:nvPr/>
        </p:nvSpPr>
        <p:spPr>
          <a:xfrm flipH="1">
            <a:off x="9396095" y="5908675"/>
            <a:ext cx="2106295" cy="34988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rPr>
              <a:t>设计引人注目的宣传物料，包括海报、传单、社交媒体图像等</a:t>
            </a:r>
            <a:endPar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9" name="文本框 168"/>
          <p:cNvSpPr txBox="1"/>
          <p:nvPr/>
        </p:nvSpPr>
        <p:spPr>
          <a:xfrm flipH="1">
            <a:off x="9440545" y="5621655"/>
            <a:ext cx="1015365" cy="2000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宣传物料设计</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0" name="矩形 169"/>
          <p:cNvSpPr/>
          <p:nvPr/>
        </p:nvSpPr>
        <p:spPr>
          <a:xfrm>
            <a:off x="4046855" y="4748530"/>
            <a:ext cx="1067435" cy="295275"/>
          </a:xfrm>
          <a:prstGeom prst="rect">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1" name="文本框 170"/>
          <p:cNvSpPr txBox="1"/>
          <p:nvPr/>
        </p:nvSpPr>
        <p:spPr>
          <a:xfrm flipH="1">
            <a:off x="4046855" y="5076190"/>
            <a:ext cx="2106295" cy="34988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rPr>
              <a:t>仔细评估所有可能的费用，包括场地租赁、物料制作、嘉宾费用等</a:t>
            </a:r>
            <a:endPar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2" name="文本框 171"/>
          <p:cNvSpPr txBox="1"/>
          <p:nvPr/>
        </p:nvSpPr>
        <p:spPr>
          <a:xfrm flipH="1">
            <a:off x="4091305" y="4788535"/>
            <a:ext cx="1015365" cy="2000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详细经费估算</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3" name="矩形 172"/>
          <p:cNvSpPr/>
          <p:nvPr/>
        </p:nvSpPr>
        <p:spPr>
          <a:xfrm>
            <a:off x="4046855" y="5581015"/>
            <a:ext cx="1067435" cy="295275"/>
          </a:xfrm>
          <a:prstGeom prst="rect">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4" name="文本框 173"/>
          <p:cNvSpPr txBox="1"/>
          <p:nvPr/>
        </p:nvSpPr>
        <p:spPr>
          <a:xfrm flipH="1">
            <a:off x="4046855" y="5908675"/>
            <a:ext cx="2106295" cy="34988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rPr>
              <a:t>确定经费分配的优先级，重点考虑对活动成功至关重要的方面</a:t>
            </a:r>
            <a:endPar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5" name="文本框 174"/>
          <p:cNvSpPr txBox="1"/>
          <p:nvPr/>
        </p:nvSpPr>
        <p:spPr>
          <a:xfrm flipH="1">
            <a:off x="4091305" y="5621655"/>
            <a:ext cx="1015365" cy="2000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经费排优先级</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6" name="矩形 175"/>
          <p:cNvSpPr/>
          <p:nvPr/>
        </p:nvSpPr>
        <p:spPr>
          <a:xfrm>
            <a:off x="1364615" y="4748530"/>
            <a:ext cx="1067435" cy="295275"/>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7" name="文本框 176"/>
          <p:cNvSpPr txBox="1"/>
          <p:nvPr/>
        </p:nvSpPr>
        <p:spPr>
          <a:xfrm flipH="1">
            <a:off x="1364615" y="5076190"/>
            <a:ext cx="2106295" cy="17462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rPr>
              <a:t>确定明确想要达到的效果</a:t>
            </a:r>
            <a:endPar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8" name="文本框 177"/>
          <p:cNvSpPr txBox="1"/>
          <p:nvPr/>
        </p:nvSpPr>
        <p:spPr>
          <a:xfrm flipH="1">
            <a:off x="1409065" y="4788535"/>
            <a:ext cx="1015365" cy="2000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确定活动目标</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9" name="矩形 178"/>
          <p:cNvSpPr/>
          <p:nvPr/>
        </p:nvSpPr>
        <p:spPr>
          <a:xfrm>
            <a:off x="1364615" y="5400675"/>
            <a:ext cx="1067435" cy="295275"/>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0" name="文本框 179"/>
          <p:cNvSpPr txBox="1"/>
          <p:nvPr/>
        </p:nvSpPr>
        <p:spPr>
          <a:xfrm flipH="1">
            <a:off x="1364615" y="5728335"/>
            <a:ext cx="2106295" cy="52514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rPr>
              <a:t>制定详细的策划方案，包括主题、内容、执行步骤、时间表等，确保全体团队对活动有清晰的认知</a:t>
            </a:r>
            <a:endPar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1" name="文本框 180"/>
          <p:cNvSpPr txBox="1"/>
          <p:nvPr/>
        </p:nvSpPr>
        <p:spPr>
          <a:xfrm flipH="1">
            <a:off x="1409065" y="5440680"/>
            <a:ext cx="1015365" cy="2000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制定策划方案</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2" name="矩形 181"/>
          <p:cNvSpPr/>
          <p:nvPr/>
        </p:nvSpPr>
        <p:spPr>
          <a:xfrm>
            <a:off x="6720205" y="4748530"/>
            <a:ext cx="1067435" cy="295275"/>
          </a:xfrm>
          <a:prstGeom prst="rect">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3" name="文本框 182"/>
          <p:cNvSpPr txBox="1"/>
          <p:nvPr/>
        </p:nvSpPr>
        <p:spPr>
          <a:xfrm flipH="1">
            <a:off x="6720205" y="5076190"/>
            <a:ext cx="2106295" cy="17462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rPr>
              <a:t>选择满足活动规模和主题的场地</a:t>
            </a:r>
            <a:endPar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4" name="文本框 183"/>
          <p:cNvSpPr txBox="1"/>
          <p:nvPr/>
        </p:nvSpPr>
        <p:spPr>
          <a:xfrm flipH="1">
            <a:off x="6765290" y="4788535"/>
            <a:ext cx="1015365" cy="2000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场地选择规划</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5" name="矩形 184"/>
          <p:cNvSpPr/>
          <p:nvPr/>
        </p:nvSpPr>
        <p:spPr>
          <a:xfrm>
            <a:off x="6720205" y="5400675"/>
            <a:ext cx="1067435" cy="295275"/>
          </a:xfrm>
          <a:prstGeom prst="rect">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6" name="文本框 185"/>
          <p:cNvSpPr txBox="1"/>
          <p:nvPr/>
        </p:nvSpPr>
        <p:spPr>
          <a:xfrm flipH="1">
            <a:off x="6720205" y="5728335"/>
            <a:ext cx="2106295" cy="52514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rPr>
              <a:t>统筹协调所有所需设备，确保在活动中运作顺畅。同时，妥善安排嘉宾出席，并提前进行沟通</a:t>
            </a:r>
            <a:endParaRPr kumimoji="0" lang="zh-CN" altLang="en-US" sz="1000" b="0" i="0" u="none" strike="noStrike" kern="1200" cap="none" spc="0" normalizeH="0" baseline="0" noProof="0" dirty="0">
              <a:ln>
                <a:noFill/>
              </a:ln>
              <a:solidFill>
                <a:schemeClr val="tx1">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7" name="文本框 186"/>
          <p:cNvSpPr txBox="1"/>
          <p:nvPr/>
        </p:nvSpPr>
        <p:spPr>
          <a:xfrm flipH="1">
            <a:off x="6765290" y="5440680"/>
            <a:ext cx="1015365" cy="2000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设备嘉宾协调</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63"/>
          <p:cNvSpPr/>
          <p:nvPr/>
        </p:nvSpPr>
        <p:spPr>
          <a:xfrm>
            <a:off x="9834596" y="4264166"/>
            <a:ext cx="1914491" cy="1671545"/>
          </a:xfrm>
          <a:prstGeom prst="rect">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5" name="文本框 84"/>
          <p:cNvSpPr txBox="1"/>
          <p:nvPr/>
        </p:nvSpPr>
        <p:spPr>
          <a:xfrm>
            <a:off x="9898380" y="5384165"/>
            <a:ext cx="478155" cy="338455"/>
          </a:xfrm>
          <a:prstGeom prst="rect">
            <a:avLst/>
          </a:prstGeom>
          <a:noFill/>
        </p:spPr>
        <p:txBody>
          <a:bodyPr wrap="none">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活动节</a:t>
            </a:r>
            <a:endParaRPr lang="en-US" altLang="zh-CN" sz="8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前催付</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a:off x="10260330" y="5175250"/>
            <a:ext cx="380365" cy="215265"/>
          </a:xfrm>
          <a:prstGeom prst="rect">
            <a:avLst/>
          </a:prstGeom>
          <a:noFill/>
        </p:spPr>
        <p:txBody>
          <a:bodyPr wrap="none">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首单</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7" name="文本框 86"/>
          <p:cNvSpPr txBox="1"/>
          <p:nvPr/>
        </p:nvSpPr>
        <p:spPr>
          <a:xfrm>
            <a:off x="10828655" y="4997450"/>
            <a:ext cx="380365" cy="215265"/>
          </a:xfrm>
          <a:prstGeom prst="rect">
            <a:avLst/>
          </a:prstGeom>
          <a:noFill/>
        </p:spPr>
        <p:txBody>
          <a:bodyPr wrap="none">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复购</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8" name="文本框 87"/>
          <p:cNvSpPr txBox="1"/>
          <p:nvPr/>
        </p:nvSpPr>
        <p:spPr>
          <a:xfrm>
            <a:off x="11167745" y="4722495"/>
            <a:ext cx="575945" cy="215265"/>
          </a:xfrm>
          <a:prstGeom prst="rect">
            <a:avLst/>
          </a:prstGeom>
          <a:noFill/>
        </p:spPr>
        <p:txBody>
          <a:bodyPr wrap="none">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真爱会员</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722947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人群全路径运营模型分析</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2" name="直接箭头连接符 1"/>
          <p:cNvCxnSpPr/>
          <p:nvPr/>
        </p:nvCxnSpPr>
        <p:spPr>
          <a:xfrm>
            <a:off x="442914" y="1328949"/>
            <a:ext cx="11306174" cy="0"/>
          </a:xfrm>
          <a:prstGeom prst="straightConnector1">
            <a:avLst/>
          </a:prstGeom>
          <a:ln w="34925">
            <a:solidFill>
              <a:schemeClr val="tx2">
                <a:alpha val="7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1063812" y="1260881"/>
            <a:ext cx="136137" cy="136137"/>
          </a:xfrm>
          <a:prstGeom prst="ellipse">
            <a:avLst/>
          </a:prstGeom>
          <a:solidFill>
            <a:schemeClr val="bg1"/>
          </a:solidFill>
          <a:ln w="25400">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744595" y="950754"/>
            <a:ext cx="774571" cy="276999"/>
          </a:xfrm>
          <a:prstGeom prst="rect">
            <a:avLst/>
          </a:prstGeom>
          <a:noFill/>
        </p:spPr>
        <p:txBody>
          <a:bodyPr wrap="none">
            <a:spAutoFit/>
          </a:bodyPr>
          <a:lstStyle/>
          <a:p>
            <a:pPr algn="ctr"/>
            <a:r>
              <a:rPr lang="zh-SG" altLang="en-US" sz="1200" dirty="0">
                <a:solidFill>
                  <a:schemeClr val="tx2"/>
                </a:solidFill>
                <a:latin typeface="微软雅黑" panose="020B0503020204020204" charset="-122"/>
                <a:ea typeface="微软雅黑" panose="020B0503020204020204" charset="-122"/>
                <a:cs typeface="微软雅黑" panose="020B0503020204020204" charset="-122"/>
              </a:rPr>
              <a:t>渠道选择</a:t>
            </a:r>
            <a:endParaRPr lang="zh-SG"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 name="椭圆 12"/>
          <p:cNvSpPr/>
          <p:nvPr/>
        </p:nvSpPr>
        <p:spPr>
          <a:xfrm>
            <a:off x="1981458" y="1260881"/>
            <a:ext cx="136137" cy="136137"/>
          </a:xfrm>
          <a:prstGeom prst="ellipse">
            <a:avLst/>
          </a:prstGeom>
          <a:solidFill>
            <a:schemeClr val="bg1"/>
          </a:solidFill>
          <a:ln w="25400">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1809716" y="950754"/>
            <a:ext cx="479618" cy="276999"/>
          </a:xfrm>
          <a:prstGeom prst="rect">
            <a:avLst/>
          </a:prstGeom>
          <a:noFill/>
        </p:spPr>
        <p:txBody>
          <a:bodyPr wrap="none">
            <a:spAutoFit/>
          </a:bodyPr>
          <a:lstStyle/>
          <a:p>
            <a:pPr algn="ctr"/>
            <a:r>
              <a:rPr lang="zh-SG" altLang="en-US" sz="1200" dirty="0">
                <a:solidFill>
                  <a:schemeClr val="tx2"/>
                </a:solidFill>
                <a:latin typeface="微软雅黑" panose="020B0503020204020204" charset="-122"/>
                <a:ea typeface="微软雅黑" panose="020B0503020204020204" charset="-122"/>
                <a:cs typeface="微软雅黑" panose="020B0503020204020204" charset="-122"/>
              </a:rPr>
              <a:t>公域</a:t>
            </a:r>
            <a:endParaRPr lang="zh-SG"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 name="椭圆 14"/>
          <p:cNvSpPr/>
          <p:nvPr/>
        </p:nvSpPr>
        <p:spPr>
          <a:xfrm>
            <a:off x="3963063" y="1260881"/>
            <a:ext cx="136137" cy="136137"/>
          </a:xfrm>
          <a:prstGeom prst="ellipse">
            <a:avLst/>
          </a:prstGeom>
          <a:solidFill>
            <a:schemeClr val="bg1"/>
          </a:solidFill>
          <a:ln w="25400">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3791321" y="950754"/>
            <a:ext cx="479618" cy="276999"/>
          </a:xfrm>
          <a:prstGeom prst="rect">
            <a:avLst/>
          </a:prstGeom>
          <a:noFill/>
        </p:spPr>
        <p:txBody>
          <a:bodyPr wrap="none">
            <a:spAutoFit/>
          </a:bodyPr>
          <a:lstStyle/>
          <a:p>
            <a:pPr algn="ctr"/>
            <a:r>
              <a:rPr lang="zh-SG" altLang="en-US" sz="1200" dirty="0">
                <a:solidFill>
                  <a:schemeClr val="tx2"/>
                </a:solidFill>
                <a:latin typeface="微软雅黑" panose="020B0503020204020204" charset="-122"/>
                <a:ea typeface="微软雅黑" panose="020B0503020204020204" charset="-122"/>
                <a:cs typeface="微软雅黑" panose="020B0503020204020204" charset="-122"/>
              </a:rPr>
              <a:t>认知</a:t>
            </a:r>
            <a:endParaRPr lang="zh-SG"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 name="椭圆 16"/>
          <p:cNvSpPr/>
          <p:nvPr/>
        </p:nvSpPr>
        <p:spPr>
          <a:xfrm>
            <a:off x="7881418" y="1260881"/>
            <a:ext cx="136137" cy="136137"/>
          </a:xfrm>
          <a:prstGeom prst="ellipse">
            <a:avLst/>
          </a:prstGeom>
          <a:solidFill>
            <a:schemeClr val="bg1"/>
          </a:solidFill>
          <a:ln w="25400">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a:off x="7709676" y="950754"/>
            <a:ext cx="479618" cy="276999"/>
          </a:xfrm>
          <a:prstGeom prst="rect">
            <a:avLst/>
          </a:prstGeom>
          <a:noFill/>
        </p:spPr>
        <p:txBody>
          <a:bodyPr wrap="none">
            <a:spAutoFit/>
          </a:bodyPr>
          <a:lstStyle/>
          <a:p>
            <a:pPr algn="ctr"/>
            <a:r>
              <a:rPr lang="zh-SG" altLang="en-US" sz="1200" dirty="0">
                <a:solidFill>
                  <a:schemeClr val="tx2"/>
                </a:solidFill>
                <a:latin typeface="微软雅黑" panose="020B0503020204020204" charset="-122"/>
                <a:ea typeface="微软雅黑" panose="020B0503020204020204" charset="-122"/>
                <a:cs typeface="微软雅黑" panose="020B0503020204020204" charset="-122"/>
              </a:rPr>
              <a:t>兴趣</a:t>
            </a:r>
            <a:endParaRPr lang="zh-SG"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 name="椭圆 18"/>
          <p:cNvSpPr/>
          <p:nvPr/>
        </p:nvSpPr>
        <p:spPr>
          <a:xfrm>
            <a:off x="9766529" y="1260881"/>
            <a:ext cx="136137" cy="136137"/>
          </a:xfrm>
          <a:prstGeom prst="ellipse">
            <a:avLst/>
          </a:prstGeom>
          <a:solidFill>
            <a:schemeClr val="bg1"/>
          </a:solidFill>
          <a:ln w="25400">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9594787" y="950754"/>
            <a:ext cx="479618" cy="276999"/>
          </a:xfrm>
          <a:prstGeom prst="rect">
            <a:avLst/>
          </a:prstGeom>
          <a:noFill/>
        </p:spPr>
        <p:txBody>
          <a:bodyPr wrap="none">
            <a:spAutoFit/>
          </a:bodyPr>
          <a:lstStyle/>
          <a:p>
            <a:pPr algn="ctr"/>
            <a:r>
              <a:rPr lang="zh-SG" altLang="en-US" sz="1200" dirty="0">
                <a:solidFill>
                  <a:schemeClr val="tx2"/>
                </a:solidFill>
                <a:latin typeface="微软雅黑" panose="020B0503020204020204" charset="-122"/>
                <a:ea typeface="微软雅黑" panose="020B0503020204020204" charset="-122"/>
                <a:cs typeface="微软雅黑" panose="020B0503020204020204" charset="-122"/>
              </a:rPr>
              <a:t>首购</a:t>
            </a:r>
            <a:endParaRPr lang="zh-SG"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 name="椭圆 22"/>
          <p:cNvSpPr/>
          <p:nvPr/>
        </p:nvSpPr>
        <p:spPr>
          <a:xfrm>
            <a:off x="11208857" y="1260881"/>
            <a:ext cx="136137" cy="136137"/>
          </a:xfrm>
          <a:prstGeom prst="ellipse">
            <a:avLst/>
          </a:prstGeom>
          <a:solidFill>
            <a:schemeClr val="bg1"/>
          </a:solidFill>
          <a:ln w="25400">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10855976" y="950754"/>
            <a:ext cx="841898" cy="276999"/>
          </a:xfrm>
          <a:prstGeom prst="rect">
            <a:avLst/>
          </a:prstGeom>
          <a:noFill/>
        </p:spPr>
        <p:txBody>
          <a:bodyPr wrap="none">
            <a:spAutoFit/>
          </a:bodyPr>
          <a:lstStyle/>
          <a:p>
            <a:pPr algn="ctr"/>
            <a:r>
              <a:rPr lang="zh-SG" altLang="en-US" sz="1200" dirty="0">
                <a:solidFill>
                  <a:schemeClr val="tx2"/>
                </a:solidFill>
                <a:latin typeface="微软雅黑" panose="020B0503020204020204" charset="-122"/>
                <a:ea typeface="微软雅黑" panose="020B0503020204020204" charset="-122"/>
                <a:cs typeface="微软雅黑" panose="020B0503020204020204" charset="-122"/>
              </a:rPr>
              <a:t>复购</a:t>
            </a:r>
            <a:r>
              <a:rPr lang="en-US" altLang="zh-SG" sz="1200" dirty="0">
                <a:solidFill>
                  <a:schemeClr val="tx2"/>
                </a:solidFill>
                <a:latin typeface="微软雅黑" panose="020B0503020204020204" charset="-122"/>
                <a:ea typeface="微软雅黑" panose="020B0503020204020204" charset="-122"/>
                <a:cs typeface="微软雅黑" panose="020B0503020204020204" charset="-122"/>
              </a:rPr>
              <a:t>/</a:t>
            </a:r>
            <a:r>
              <a:rPr lang="zh-SG" altLang="en-US" sz="1200" dirty="0">
                <a:solidFill>
                  <a:schemeClr val="tx2"/>
                </a:solidFill>
                <a:latin typeface="微软雅黑" panose="020B0503020204020204" charset="-122"/>
                <a:ea typeface="微软雅黑" panose="020B0503020204020204" charset="-122"/>
                <a:cs typeface="微软雅黑" panose="020B0503020204020204" charset="-122"/>
              </a:rPr>
              <a:t>分享</a:t>
            </a:r>
            <a:endParaRPr lang="zh-SG"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 name="矩形 32"/>
          <p:cNvSpPr/>
          <p:nvPr/>
        </p:nvSpPr>
        <p:spPr>
          <a:xfrm>
            <a:off x="442914" y="6110287"/>
            <a:ext cx="11306174" cy="414338"/>
          </a:xfrm>
          <a:prstGeom prst="rect">
            <a:avLst/>
          </a:prstGeom>
          <a:solidFill>
            <a:schemeClr val="accent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spc="100" dirty="0">
                <a:latin typeface="微软雅黑" panose="020B0503020204020204" charset="-122"/>
                <a:ea typeface="微软雅黑" panose="020B0503020204020204" charset="-122"/>
                <a:cs typeface="微软雅黑" panose="020B0503020204020204" charset="-122"/>
              </a:rPr>
              <a:t>企业可以根据自身业务特点和用户特性，选择合适的人群差异化运营模型，实现更精准、更有效的用户运营</a:t>
            </a:r>
            <a:endParaRPr lang="zh-CN" altLang="en-US" sz="1400" spc="100" dirty="0">
              <a:latin typeface="微软雅黑" panose="020B0503020204020204" charset="-122"/>
              <a:ea typeface="微软雅黑" panose="020B0503020204020204" charset="-122"/>
              <a:cs typeface="微软雅黑" panose="020B0503020204020204" charset="-122"/>
            </a:endParaRPr>
          </a:p>
        </p:txBody>
      </p:sp>
      <p:sp>
        <p:nvSpPr>
          <p:cNvPr id="34" name="箭头: 五边形 23"/>
          <p:cNvSpPr/>
          <p:nvPr/>
        </p:nvSpPr>
        <p:spPr>
          <a:xfrm>
            <a:off x="442913" y="1520460"/>
            <a:ext cx="1538545" cy="2578711"/>
          </a:xfrm>
          <a:prstGeom prst="homePlate">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endParaRPr>
          </a:p>
        </p:txBody>
      </p:sp>
      <p:sp>
        <p:nvSpPr>
          <p:cNvPr id="35" name="箭头: 五边形 24"/>
          <p:cNvSpPr/>
          <p:nvPr/>
        </p:nvSpPr>
        <p:spPr>
          <a:xfrm>
            <a:off x="442913" y="4264166"/>
            <a:ext cx="1538545" cy="1671545"/>
          </a:xfrm>
          <a:prstGeom prst="homePlate">
            <a:avLst>
              <a:gd name="adj" fmla="val 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36" name="文本框 35"/>
          <p:cNvSpPr txBox="1"/>
          <p:nvPr/>
        </p:nvSpPr>
        <p:spPr>
          <a:xfrm>
            <a:off x="776810" y="5207518"/>
            <a:ext cx="870751" cy="307777"/>
          </a:xfrm>
          <a:prstGeom prst="rect">
            <a:avLst/>
          </a:prstGeom>
          <a:noFill/>
        </p:spPr>
        <p:txBody>
          <a:bodyPr wrap="none">
            <a:spAutoFit/>
          </a:bodyPr>
          <a:lstStyle/>
          <a:p>
            <a:pPr algn="ctr"/>
            <a:r>
              <a:rPr lang="zh-SG" altLang="en-US" sz="1400" dirty="0">
                <a:solidFill>
                  <a:schemeClr val="bg1"/>
                </a:solidFill>
                <a:latin typeface="微软雅黑" panose="020B0503020204020204" charset="-122"/>
                <a:ea typeface="微软雅黑" panose="020B0503020204020204" charset="-122"/>
                <a:cs typeface="微软雅黑" panose="020B0503020204020204" charset="-122"/>
              </a:rPr>
              <a:t>高端货品</a:t>
            </a:r>
            <a:endParaRPr lang="zh-SG"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866746" y="5438637"/>
            <a:ext cx="690880" cy="275590"/>
          </a:xfrm>
          <a:prstGeom prst="rect">
            <a:avLst/>
          </a:prstGeom>
          <a:noFill/>
        </p:spPr>
        <p:txBody>
          <a:bodyPr wrap="none">
            <a:spAutoFit/>
          </a:bodyPr>
          <a:lstStyle>
            <a:defPPr>
              <a:defRPr lang="zh-CN"/>
            </a:defPPr>
            <a:lvl1pPr algn="ctr">
              <a:lnSpc>
                <a:spcPct val="120000"/>
              </a:lnSpc>
              <a:defRPr sz="1200">
                <a:solidFill>
                  <a:schemeClr val="tx2"/>
                </a:solidFill>
              </a:defRPr>
            </a:lvl1pPr>
          </a:lstStyle>
          <a:p>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付费广告</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38" name="组合 37"/>
          <p:cNvGrpSpPr/>
          <p:nvPr/>
        </p:nvGrpSpPr>
        <p:grpSpPr>
          <a:xfrm>
            <a:off x="549246" y="2688354"/>
            <a:ext cx="1325880" cy="732027"/>
            <a:chOff x="468941" y="2347466"/>
            <a:chExt cx="1325880" cy="732027"/>
          </a:xfrm>
        </p:grpSpPr>
        <p:sp>
          <p:nvSpPr>
            <p:cNvPr id="39" name="文本框 38"/>
            <p:cNvSpPr txBox="1"/>
            <p:nvPr/>
          </p:nvSpPr>
          <p:spPr>
            <a:xfrm>
              <a:off x="696505" y="2347466"/>
              <a:ext cx="870751" cy="307777"/>
            </a:xfrm>
            <a:prstGeom prst="rect">
              <a:avLst/>
            </a:prstGeom>
            <a:noFill/>
          </p:spPr>
          <p:txBody>
            <a:bodyPr wrap="none">
              <a:spAutoFit/>
            </a:bodyPr>
            <a:lstStyle/>
            <a:p>
              <a:pPr algn="ctr"/>
              <a:r>
                <a:rPr lang="zh-SG" altLang="en-US" sz="1400" dirty="0">
                  <a:solidFill>
                    <a:schemeClr val="bg1"/>
                  </a:solidFill>
                  <a:latin typeface="微软雅黑" panose="020B0503020204020204" charset="-122"/>
                  <a:ea typeface="微软雅黑" panose="020B0503020204020204" charset="-122"/>
                  <a:cs typeface="微软雅黑" panose="020B0503020204020204" charset="-122"/>
                </a:rPr>
                <a:t>趋势货品</a:t>
              </a:r>
              <a:endParaRPr lang="zh-SG"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468941" y="2619118"/>
              <a:ext cx="1325880" cy="460375"/>
            </a:xfrm>
            <a:prstGeom prst="rect">
              <a:avLst/>
            </a:prstGeom>
            <a:noFill/>
          </p:spPr>
          <p:txBody>
            <a:bodyPr wrap="none">
              <a:spAutoFit/>
            </a:bodyPr>
            <a:lstStyle/>
            <a:p>
              <a:pPr algn="ctr">
                <a:lnSpc>
                  <a:spcPct val="120000"/>
                </a:lnSpc>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付费广告与内容种草</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双渠道驱动</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41" name="椭圆 40"/>
          <p:cNvSpPr/>
          <p:nvPr/>
        </p:nvSpPr>
        <p:spPr>
          <a:xfrm>
            <a:off x="938377" y="1920788"/>
            <a:ext cx="547616" cy="54761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endParaRPr>
          </a:p>
        </p:txBody>
      </p:sp>
      <p:sp>
        <p:nvSpPr>
          <p:cNvPr id="42" name="椭圆 41"/>
          <p:cNvSpPr/>
          <p:nvPr/>
        </p:nvSpPr>
        <p:spPr>
          <a:xfrm>
            <a:off x="926141" y="4479600"/>
            <a:ext cx="547616" cy="54761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endParaRPr>
          </a:p>
        </p:txBody>
      </p:sp>
      <p:sp>
        <p:nvSpPr>
          <p:cNvPr id="47" name="任意多边形: 形状 46"/>
          <p:cNvSpPr/>
          <p:nvPr/>
        </p:nvSpPr>
        <p:spPr>
          <a:xfrm rot="10800000">
            <a:off x="2124616" y="1520460"/>
            <a:ext cx="2276768" cy="1096034"/>
          </a:xfrm>
          <a:custGeom>
            <a:avLst/>
            <a:gdLst>
              <a:gd name="connsiteX0" fmla="*/ 2276768 w 2276768"/>
              <a:gd name="connsiteY0" fmla="*/ 1096034 h 1096034"/>
              <a:gd name="connsiteX1" fmla="*/ 0 w 2276768"/>
              <a:gd name="connsiteY1" fmla="*/ 1096034 h 1096034"/>
              <a:gd name="connsiteX2" fmla="*/ 0 w 2276768"/>
              <a:gd name="connsiteY2" fmla="*/ 147868 h 1096034"/>
              <a:gd name="connsiteX3" fmla="*/ 949805 w 2276768"/>
              <a:gd name="connsiteY3" fmla="*/ 147868 h 1096034"/>
              <a:gd name="connsiteX4" fmla="*/ 1138383 w 2276768"/>
              <a:gd name="connsiteY4" fmla="*/ 0 h 1096034"/>
              <a:gd name="connsiteX5" fmla="*/ 1326961 w 2276768"/>
              <a:gd name="connsiteY5" fmla="*/ 147868 h 1096034"/>
              <a:gd name="connsiteX6" fmla="*/ 2276768 w 2276768"/>
              <a:gd name="connsiteY6" fmla="*/ 147868 h 109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6768" h="1096034">
                <a:moveTo>
                  <a:pt x="2276768" y="1096034"/>
                </a:moveTo>
                <a:lnTo>
                  <a:pt x="0" y="1096034"/>
                </a:lnTo>
                <a:lnTo>
                  <a:pt x="0" y="147868"/>
                </a:lnTo>
                <a:lnTo>
                  <a:pt x="949805" y="147868"/>
                </a:lnTo>
                <a:lnTo>
                  <a:pt x="1138383" y="0"/>
                </a:lnTo>
                <a:lnTo>
                  <a:pt x="1326961" y="147868"/>
                </a:lnTo>
                <a:lnTo>
                  <a:pt x="2276768" y="14786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8" name="任意多边形: 形状 47"/>
          <p:cNvSpPr/>
          <p:nvPr/>
        </p:nvSpPr>
        <p:spPr>
          <a:xfrm rot="10800000">
            <a:off x="4573851" y="1520460"/>
            <a:ext cx="2276768" cy="1096034"/>
          </a:xfrm>
          <a:custGeom>
            <a:avLst/>
            <a:gdLst>
              <a:gd name="connsiteX0" fmla="*/ 2276768 w 2276768"/>
              <a:gd name="connsiteY0" fmla="*/ 1096034 h 1096034"/>
              <a:gd name="connsiteX1" fmla="*/ 0 w 2276768"/>
              <a:gd name="connsiteY1" fmla="*/ 1096034 h 1096034"/>
              <a:gd name="connsiteX2" fmla="*/ 0 w 2276768"/>
              <a:gd name="connsiteY2" fmla="*/ 147868 h 1096034"/>
              <a:gd name="connsiteX3" fmla="*/ 949805 w 2276768"/>
              <a:gd name="connsiteY3" fmla="*/ 147868 h 1096034"/>
              <a:gd name="connsiteX4" fmla="*/ 1138383 w 2276768"/>
              <a:gd name="connsiteY4" fmla="*/ 0 h 1096034"/>
              <a:gd name="connsiteX5" fmla="*/ 1326961 w 2276768"/>
              <a:gd name="connsiteY5" fmla="*/ 147868 h 1096034"/>
              <a:gd name="connsiteX6" fmla="*/ 2276768 w 2276768"/>
              <a:gd name="connsiteY6" fmla="*/ 147868 h 109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6768" h="1096034">
                <a:moveTo>
                  <a:pt x="2276768" y="1096034"/>
                </a:moveTo>
                <a:lnTo>
                  <a:pt x="0" y="1096034"/>
                </a:lnTo>
                <a:lnTo>
                  <a:pt x="0" y="147868"/>
                </a:lnTo>
                <a:lnTo>
                  <a:pt x="949805" y="147868"/>
                </a:lnTo>
                <a:lnTo>
                  <a:pt x="1138383" y="0"/>
                </a:lnTo>
                <a:lnTo>
                  <a:pt x="1326961" y="147868"/>
                </a:lnTo>
                <a:lnTo>
                  <a:pt x="2276768" y="14786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9" name="任意多边形: 形状 48"/>
          <p:cNvSpPr/>
          <p:nvPr/>
        </p:nvSpPr>
        <p:spPr>
          <a:xfrm rot="10800000">
            <a:off x="7023086" y="1520460"/>
            <a:ext cx="2276768" cy="1096034"/>
          </a:xfrm>
          <a:custGeom>
            <a:avLst/>
            <a:gdLst>
              <a:gd name="connsiteX0" fmla="*/ 2276768 w 2276768"/>
              <a:gd name="connsiteY0" fmla="*/ 1096034 h 1096034"/>
              <a:gd name="connsiteX1" fmla="*/ 0 w 2276768"/>
              <a:gd name="connsiteY1" fmla="*/ 1096034 h 1096034"/>
              <a:gd name="connsiteX2" fmla="*/ 0 w 2276768"/>
              <a:gd name="connsiteY2" fmla="*/ 147868 h 1096034"/>
              <a:gd name="connsiteX3" fmla="*/ 949805 w 2276768"/>
              <a:gd name="connsiteY3" fmla="*/ 147868 h 1096034"/>
              <a:gd name="connsiteX4" fmla="*/ 1138383 w 2276768"/>
              <a:gd name="connsiteY4" fmla="*/ 0 h 1096034"/>
              <a:gd name="connsiteX5" fmla="*/ 1326961 w 2276768"/>
              <a:gd name="connsiteY5" fmla="*/ 147868 h 1096034"/>
              <a:gd name="connsiteX6" fmla="*/ 2276768 w 2276768"/>
              <a:gd name="connsiteY6" fmla="*/ 147868 h 109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6768" h="1096034">
                <a:moveTo>
                  <a:pt x="2276768" y="1096034"/>
                </a:moveTo>
                <a:lnTo>
                  <a:pt x="0" y="1096034"/>
                </a:lnTo>
                <a:lnTo>
                  <a:pt x="0" y="147868"/>
                </a:lnTo>
                <a:lnTo>
                  <a:pt x="949805" y="147868"/>
                </a:lnTo>
                <a:lnTo>
                  <a:pt x="1138383" y="0"/>
                </a:lnTo>
                <a:lnTo>
                  <a:pt x="1326961" y="147868"/>
                </a:lnTo>
                <a:lnTo>
                  <a:pt x="2276768" y="147868"/>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0" name="任意多边形: 形状 49"/>
          <p:cNvSpPr/>
          <p:nvPr/>
        </p:nvSpPr>
        <p:spPr>
          <a:xfrm rot="10800000">
            <a:off x="9472320" y="1520460"/>
            <a:ext cx="2276768" cy="1096034"/>
          </a:xfrm>
          <a:custGeom>
            <a:avLst/>
            <a:gdLst>
              <a:gd name="connsiteX0" fmla="*/ 2276768 w 2276768"/>
              <a:gd name="connsiteY0" fmla="*/ 1096034 h 1096034"/>
              <a:gd name="connsiteX1" fmla="*/ 0 w 2276768"/>
              <a:gd name="connsiteY1" fmla="*/ 1096034 h 1096034"/>
              <a:gd name="connsiteX2" fmla="*/ 0 w 2276768"/>
              <a:gd name="connsiteY2" fmla="*/ 147868 h 1096034"/>
              <a:gd name="connsiteX3" fmla="*/ 949805 w 2276768"/>
              <a:gd name="connsiteY3" fmla="*/ 147868 h 1096034"/>
              <a:gd name="connsiteX4" fmla="*/ 1138383 w 2276768"/>
              <a:gd name="connsiteY4" fmla="*/ 0 h 1096034"/>
              <a:gd name="connsiteX5" fmla="*/ 1326961 w 2276768"/>
              <a:gd name="connsiteY5" fmla="*/ 147868 h 1096034"/>
              <a:gd name="connsiteX6" fmla="*/ 2276768 w 2276768"/>
              <a:gd name="connsiteY6" fmla="*/ 147868 h 109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6768" h="1096034">
                <a:moveTo>
                  <a:pt x="2276768" y="1096034"/>
                </a:moveTo>
                <a:lnTo>
                  <a:pt x="0" y="1096034"/>
                </a:lnTo>
                <a:lnTo>
                  <a:pt x="0" y="147868"/>
                </a:lnTo>
                <a:lnTo>
                  <a:pt x="949805" y="147868"/>
                </a:lnTo>
                <a:lnTo>
                  <a:pt x="1138383" y="0"/>
                </a:lnTo>
                <a:lnTo>
                  <a:pt x="1326961" y="147868"/>
                </a:lnTo>
                <a:lnTo>
                  <a:pt x="2276768" y="14786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3" name="任意多边形: 形状 52"/>
          <p:cNvSpPr/>
          <p:nvPr/>
        </p:nvSpPr>
        <p:spPr>
          <a:xfrm>
            <a:off x="2117595" y="2514453"/>
            <a:ext cx="2283789" cy="1584718"/>
          </a:xfrm>
          <a:custGeom>
            <a:avLst/>
            <a:gdLst>
              <a:gd name="connsiteX0" fmla="*/ 0 w 2283789"/>
              <a:gd name="connsiteY0" fmla="*/ 0 h 1584718"/>
              <a:gd name="connsiteX1" fmla="*/ 914124 w 2283789"/>
              <a:gd name="connsiteY1" fmla="*/ 0 h 1584718"/>
              <a:gd name="connsiteX2" fmla="*/ 1141896 w 2283789"/>
              <a:gd name="connsiteY2" fmla="*/ 167469 h 1584718"/>
              <a:gd name="connsiteX3" fmla="*/ 1369667 w 2283789"/>
              <a:gd name="connsiteY3" fmla="*/ 0 h 1584718"/>
              <a:gd name="connsiteX4" fmla="*/ 2283789 w 2283789"/>
              <a:gd name="connsiteY4" fmla="*/ 0 h 1584718"/>
              <a:gd name="connsiteX5" fmla="*/ 2283789 w 2283789"/>
              <a:gd name="connsiteY5" fmla="*/ 1584718 h 1584718"/>
              <a:gd name="connsiteX6" fmla="*/ 0 w 2283789"/>
              <a:gd name="connsiteY6" fmla="*/ 1584718 h 1584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3789" h="1584718">
                <a:moveTo>
                  <a:pt x="0" y="0"/>
                </a:moveTo>
                <a:lnTo>
                  <a:pt x="914124" y="0"/>
                </a:lnTo>
                <a:lnTo>
                  <a:pt x="1141896" y="167469"/>
                </a:lnTo>
                <a:lnTo>
                  <a:pt x="1369667" y="0"/>
                </a:lnTo>
                <a:lnTo>
                  <a:pt x="2283789" y="0"/>
                </a:lnTo>
                <a:lnTo>
                  <a:pt x="2283789" y="1584718"/>
                </a:lnTo>
                <a:lnTo>
                  <a:pt x="0" y="1584718"/>
                </a:lnTo>
                <a:close/>
              </a:path>
            </a:pathLst>
          </a:cu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4" name="任意多边形: 形状 53"/>
          <p:cNvSpPr/>
          <p:nvPr/>
        </p:nvSpPr>
        <p:spPr>
          <a:xfrm>
            <a:off x="4570340" y="2514453"/>
            <a:ext cx="2283789" cy="1584718"/>
          </a:xfrm>
          <a:custGeom>
            <a:avLst/>
            <a:gdLst>
              <a:gd name="connsiteX0" fmla="*/ 0 w 2283789"/>
              <a:gd name="connsiteY0" fmla="*/ 0 h 1584718"/>
              <a:gd name="connsiteX1" fmla="*/ 914124 w 2283789"/>
              <a:gd name="connsiteY1" fmla="*/ 0 h 1584718"/>
              <a:gd name="connsiteX2" fmla="*/ 1141896 w 2283789"/>
              <a:gd name="connsiteY2" fmla="*/ 167469 h 1584718"/>
              <a:gd name="connsiteX3" fmla="*/ 1369667 w 2283789"/>
              <a:gd name="connsiteY3" fmla="*/ 0 h 1584718"/>
              <a:gd name="connsiteX4" fmla="*/ 2283789 w 2283789"/>
              <a:gd name="connsiteY4" fmla="*/ 0 h 1584718"/>
              <a:gd name="connsiteX5" fmla="*/ 2283789 w 2283789"/>
              <a:gd name="connsiteY5" fmla="*/ 1584718 h 1584718"/>
              <a:gd name="connsiteX6" fmla="*/ 0 w 2283789"/>
              <a:gd name="connsiteY6" fmla="*/ 1584718 h 1584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3789" h="1584718">
                <a:moveTo>
                  <a:pt x="0" y="0"/>
                </a:moveTo>
                <a:lnTo>
                  <a:pt x="914124" y="0"/>
                </a:lnTo>
                <a:lnTo>
                  <a:pt x="1141896" y="167469"/>
                </a:lnTo>
                <a:lnTo>
                  <a:pt x="1369667" y="0"/>
                </a:lnTo>
                <a:lnTo>
                  <a:pt x="2283789" y="0"/>
                </a:lnTo>
                <a:lnTo>
                  <a:pt x="2283789" y="1584718"/>
                </a:lnTo>
                <a:lnTo>
                  <a:pt x="0" y="1584718"/>
                </a:lnTo>
                <a:close/>
              </a:path>
            </a:pathLst>
          </a:cu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5" name="任意多边形: 形状 54"/>
          <p:cNvSpPr/>
          <p:nvPr/>
        </p:nvSpPr>
        <p:spPr>
          <a:xfrm>
            <a:off x="7026595" y="2514453"/>
            <a:ext cx="2283789" cy="1584718"/>
          </a:xfrm>
          <a:custGeom>
            <a:avLst/>
            <a:gdLst>
              <a:gd name="connsiteX0" fmla="*/ 0 w 2283789"/>
              <a:gd name="connsiteY0" fmla="*/ 0 h 1584718"/>
              <a:gd name="connsiteX1" fmla="*/ 914124 w 2283789"/>
              <a:gd name="connsiteY1" fmla="*/ 0 h 1584718"/>
              <a:gd name="connsiteX2" fmla="*/ 1141896 w 2283789"/>
              <a:gd name="connsiteY2" fmla="*/ 167469 h 1584718"/>
              <a:gd name="connsiteX3" fmla="*/ 1369667 w 2283789"/>
              <a:gd name="connsiteY3" fmla="*/ 0 h 1584718"/>
              <a:gd name="connsiteX4" fmla="*/ 2283789 w 2283789"/>
              <a:gd name="connsiteY4" fmla="*/ 0 h 1584718"/>
              <a:gd name="connsiteX5" fmla="*/ 2283789 w 2283789"/>
              <a:gd name="connsiteY5" fmla="*/ 1584718 h 1584718"/>
              <a:gd name="connsiteX6" fmla="*/ 0 w 2283789"/>
              <a:gd name="connsiteY6" fmla="*/ 1584718 h 1584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3789" h="1584718">
                <a:moveTo>
                  <a:pt x="0" y="0"/>
                </a:moveTo>
                <a:lnTo>
                  <a:pt x="914124" y="0"/>
                </a:lnTo>
                <a:lnTo>
                  <a:pt x="1141896" y="167469"/>
                </a:lnTo>
                <a:lnTo>
                  <a:pt x="1369667" y="0"/>
                </a:lnTo>
                <a:lnTo>
                  <a:pt x="2283789" y="0"/>
                </a:lnTo>
                <a:lnTo>
                  <a:pt x="2283789" y="1584718"/>
                </a:lnTo>
                <a:lnTo>
                  <a:pt x="0" y="1584718"/>
                </a:lnTo>
                <a:close/>
              </a:path>
            </a:pathLst>
          </a:custGeom>
          <a:solidFill>
            <a:schemeClr val="accent5">
              <a:lumMod val="20000"/>
              <a:lumOff val="80000"/>
              <a:alpha val="4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6" name="任意多边形: 形状 55"/>
          <p:cNvSpPr/>
          <p:nvPr/>
        </p:nvSpPr>
        <p:spPr>
          <a:xfrm>
            <a:off x="9482850" y="2514453"/>
            <a:ext cx="2283789" cy="1584718"/>
          </a:xfrm>
          <a:custGeom>
            <a:avLst/>
            <a:gdLst>
              <a:gd name="connsiteX0" fmla="*/ 0 w 2283789"/>
              <a:gd name="connsiteY0" fmla="*/ 0 h 1584718"/>
              <a:gd name="connsiteX1" fmla="*/ 914124 w 2283789"/>
              <a:gd name="connsiteY1" fmla="*/ 0 h 1584718"/>
              <a:gd name="connsiteX2" fmla="*/ 1141896 w 2283789"/>
              <a:gd name="connsiteY2" fmla="*/ 167469 h 1584718"/>
              <a:gd name="connsiteX3" fmla="*/ 1369667 w 2283789"/>
              <a:gd name="connsiteY3" fmla="*/ 0 h 1584718"/>
              <a:gd name="connsiteX4" fmla="*/ 2283789 w 2283789"/>
              <a:gd name="connsiteY4" fmla="*/ 0 h 1584718"/>
              <a:gd name="connsiteX5" fmla="*/ 2283789 w 2283789"/>
              <a:gd name="connsiteY5" fmla="*/ 1584718 h 1584718"/>
              <a:gd name="connsiteX6" fmla="*/ 0 w 2283789"/>
              <a:gd name="connsiteY6" fmla="*/ 1584718 h 1584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3789" h="1584718">
                <a:moveTo>
                  <a:pt x="0" y="0"/>
                </a:moveTo>
                <a:lnTo>
                  <a:pt x="914124" y="0"/>
                </a:lnTo>
                <a:lnTo>
                  <a:pt x="1141896" y="167469"/>
                </a:lnTo>
                <a:lnTo>
                  <a:pt x="1369667" y="0"/>
                </a:lnTo>
                <a:lnTo>
                  <a:pt x="2283789" y="0"/>
                </a:lnTo>
                <a:lnTo>
                  <a:pt x="2283789" y="1584718"/>
                </a:lnTo>
                <a:lnTo>
                  <a:pt x="0" y="1584718"/>
                </a:lnTo>
                <a:close/>
              </a:path>
            </a:pathLst>
          </a:cu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7" name="矩形 56"/>
          <p:cNvSpPr/>
          <p:nvPr/>
        </p:nvSpPr>
        <p:spPr>
          <a:xfrm>
            <a:off x="2124616" y="4264166"/>
            <a:ext cx="1914491" cy="1671545"/>
          </a:xfrm>
          <a:prstGeom prst="rect">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8" name="矩形 57"/>
          <p:cNvSpPr/>
          <p:nvPr/>
        </p:nvSpPr>
        <p:spPr>
          <a:xfrm>
            <a:off x="2124616" y="4264167"/>
            <a:ext cx="1914491" cy="381797"/>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开展矩阵</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9" name="矩形 58"/>
          <p:cNvSpPr/>
          <p:nvPr/>
        </p:nvSpPr>
        <p:spPr>
          <a:xfrm>
            <a:off x="4179962" y="4264166"/>
            <a:ext cx="1914491" cy="1671545"/>
          </a:xfrm>
          <a:prstGeom prst="rect">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3" name="矩形 42"/>
          <p:cNvSpPr/>
          <p:nvPr/>
        </p:nvSpPr>
        <p:spPr>
          <a:xfrm>
            <a:off x="4179962" y="4264167"/>
            <a:ext cx="1914491" cy="381797"/>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mn-ea"/>
              </a:rPr>
              <a:t>品牌特秀</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62" name="矩形 61"/>
          <p:cNvSpPr/>
          <p:nvPr/>
        </p:nvSpPr>
        <p:spPr>
          <a:xfrm>
            <a:off x="6235308" y="4264166"/>
            <a:ext cx="3458434" cy="1671545"/>
          </a:xfrm>
          <a:prstGeom prst="rect">
            <a:avLst/>
          </a:prstGeom>
          <a:solidFill>
            <a:schemeClr val="accent5">
              <a:lumMod val="20000"/>
              <a:lumOff val="80000"/>
              <a:alpha val="4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4" name="矩形 43"/>
          <p:cNvSpPr/>
          <p:nvPr/>
        </p:nvSpPr>
        <p:spPr>
          <a:xfrm>
            <a:off x="6235308" y="4264167"/>
            <a:ext cx="3458434" cy="381797"/>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商业广告</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5" name="矩形 64"/>
          <p:cNvSpPr/>
          <p:nvPr/>
        </p:nvSpPr>
        <p:spPr>
          <a:xfrm>
            <a:off x="9834596" y="4264167"/>
            <a:ext cx="1914491" cy="381797"/>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私域沟通</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73" name="组合 72"/>
          <p:cNvGrpSpPr/>
          <p:nvPr/>
        </p:nvGrpSpPr>
        <p:grpSpPr>
          <a:xfrm>
            <a:off x="8335625" y="4772012"/>
            <a:ext cx="1040951" cy="1051824"/>
            <a:chOff x="8335625" y="4765425"/>
            <a:chExt cx="1040951" cy="1242728"/>
          </a:xfrm>
        </p:grpSpPr>
        <p:sp>
          <p:nvSpPr>
            <p:cNvPr id="66" name="矩形 65"/>
            <p:cNvSpPr/>
            <p:nvPr/>
          </p:nvSpPr>
          <p:spPr>
            <a:xfrm>
              <a:off x="8335625" y="4765425"/>
              <a:ext cx="1040951" cy="5638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直播间专属</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限时权益</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7" name="矩形 66"/>
            <p:cNvSpPr/>
            <p:nvPr/>
          </p:nvSpPr>
          <p:spPr>
            <a:xfrm>
              <a:off x="8335625" y="5415542"/>
              <a:ext cx="1040951" cy="5926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搜索场域</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做站内承接</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45" name="Arrow"/>
          <p:cNvSpPr/>
          <p:nvPr/>
        </p:nvSpPr>
        <p:spPr>
          <a:xfrm>
            <a:off x="7786154" y="5257777"/>
            <a:ext cx="513156" cy="153015"/>
          </a:xfrm>
          <a:prstGeom prst="rightArrow">
            <a:avLst>
              <a:gd name="adj1" fmla="val 47695"/>
              <a:gd name="adj2" fmla="val 118485"/>
            </a:avLst>
          </a:prstGeom>
          <a:gradFill>
            <a:gsLst>
              <a:gs pos="0">
                <a:schemeClr val="accent5">
                  <a:lumMod val="60000"/>
                  <a:lumOff val="40000"/>
                  <a:alpha val="0"/>
                </a:schemeClr>
              </a:gs>
              <a:gs pos="100000">
                <a:schemeClr val="accent5">
                  <a:lumMod val="60000"/>
                  <a:lumOff val="40000"/>
                </a:schemeClr>
              </a:gs>
            </a:gsLst>
          </a:gra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6" name="椭圆 45"/>
          <p:cNvSpPr/>
          <p:nvPr/>
        </p:nvSpPr>
        <p:spPr>
          <a:xfrm>
            <a:off x="6543272" y="5178567"/>
            <a:ext cx="626550" cy="626552"/>
          </a:xfrm>
          <a:prstGeom prst="ellipse">
            <a:avLst/>
          </a:prstGeom>
          <a:solidFill>
            <a:schemeClr val="accent5">
              <a:lumMod val="60000"/>
              <a:lumOff val="40000"/>
              <a:alpha val="36000"/>
            </a:schemeClr>
          </a:solidFill>
          <a:ln w="63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rPr>
              <a:t>先锋</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rPr>
              <a:t>者</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1" name="椭圆 70"/>
          <p:cNvSpPr/>
          <p:nvPr/>
        </p:nvSpPr>
        <p:spPr>
          <a:xfrm>
            <a:off x="6808849" y="4731883"/>
            <a:ext cx="626550" cy="626552"/>
          </a:xfrm>
          <a:prstGeom prst="ellipse">
            <a:avLst/>
          </a:prstGeom>
          <a:solidFill>
            <a:schemeClr val="accent5">
              <a:lumMod val="60000"/>
              <a:lumOff val="40000"/>
              <a:alpha val="36000"/>
            </a:schemeClr>
          </a:solidFill>
          <a:ln w="63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高端</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悦享者</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2" name="椭圆 71"/>
          <p:cNvSpPr/>
          <p:nvPr/>
        </p:nvSpPr>
        <p:spPr>
          <a:xfrm>
            <a:off x="7056855" y="5178586"/>
            <a:ext cx="626550" cy="626552"/>
          </a:xfrm>
          <a:prstGeom prst="ellipse">
            <a:avLst/>
          </a:prstGeom>
          <a:solidFill>
            <a:schemeClr val="accent5">
              <a:lumMod val="60000"/>
              <a:lumOff val="40000"/>
              <a:alpha val="36000"/>
            </a:schemeClr>
          </a:solidFill>
          <a:ln w="63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rPr>
              <a:t>资深</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rPr>
              <a:t>用户</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80" name="组合 79"/>
          <p:cNvGrpSpPr/>
          <p:nvPr/>
        </p:nvGrpSpPr>
        <p:grpSpPr>
          <a:xfrm>
            <a:off x="10127559" y="4947491"/>
            <a:ext cx="1330856" cy="857627"/>
            <a:chOff x="10129837" y="4720596"/>
            <a:chExt cx="1088230" cy="1084894"/>
          </a:xfrm>
        </p:grpSpPr>
        <p:grpSp>
          <p:nvGrpSpPr>
            <p:cNvPr id="89" name="组合 88"/>
            <p:cNvGrpSpPr/>
            <p:nvPr/>
          </p:nvGrpSpPr>
          <p:grpSpPr>
            <a:xfrm>
              <a:off x="10129837" y="5438777"/>
              <a:ext cx="366713" cy="366713"/>
              <a:chOff x="10129837" y="5438777"/>
              <a:chExt cx="366713" cy="366713"/>
            </a:xfrm>
          </p:grpSpPr>
          <p:cxnSp>
            <p:nvCxnSpPr>
              <p:cNvPr id="96" name="直接连接符 95"/>
              <p:cNvCxnSpPr/>
              <p:nvPr/>
            </p:nvCxnSpPr>
            <p:spPr>
              <a:xfrm>
                <a:off x="10129837" y="5800725"/>
                <a:ext cx="366713"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97" name="直接连接符 96"/>
              <p:cNvCxnSpPr/>
              <p:nvPr/>
            </p:nvCxnSpPr>
            <p:spPr>
              <a:xfrm rot="5400000">
                <a:off x="10313193" y="5622134"/>
                <a:ext cx="366713"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grpSp>
        <p:grpSp>
          <p:nvGrpSpPr>
            <p:cNvPr id="90" name="组合 89"/>
            <p:cNvGrpSpPr/>
            <p:nvPr/>
          </p:nvGrpSpPr>
          <p:grpSpPr>
            <a:xfrm>
              <a:off x="10489263" y="5077781"/>
              <a:ext cx="366713" cy="366713"/>
              <a:chOff x="10129837" y="5434015"/>
              <a:chExt cx="366713" cy="366713"/>
            </a:xfrm>
          </p:grpSpPr>
          <p:cxnSp>
            <p:nvCxnSpPr>
              <p:cNvPr id="94" name="直接连接符 93"/>
              <p:cNvCxnSpPr/>
              <p:nvPr/>
            </p:nvCxnSpPr>
            <p:spPr>
              <a:xfrm>
                <a:off x="10129837" y="5795963"/>
                <a:ext cx="366713"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95" name="直接连接符 94"/>
              <p:cNvCxnSpPr/>
              <p:nvPr/>
            </p:nvCxnSpPr>
            <p:spPr>
              <a:xfrm rot="5400000">
                <a:off x="10313193" y="5617372"/>
                <a:ext cx="366713"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grpSp>
        <p:grpSp>
          <p:nvGrpSpPr>
            <p:cNvPr id="91" name="组合 90"/>
            <p:cNvGrpSpPr/>
            <p:nvPr/>
          </p:nvGrpSpPr>
          <p:grpSpPr>
            <a:xfrm>
              <a:off x="10851354" y="4720596"/>
              <a:ext cx="366713" cy="366713"/>
              <a:chOff x="10132218" y="5424491"/>
              <a:chExt cx="366713" cy="366713"/>
            </a:xfrm>
          </p:grpSpPr>
          <p:cxnSp>
            <p:nvCxnSpPr>
              <p:cNvPr id="92" name="直接连接符 91"/>
              <p:cNvCxnSpPr/>
              <p:nvPr/>
            </p:nvCxnSpPr>
            <p:spPr>
              <a:xfrm>
                <a:off x="10132218" y="5786439"/>
                <a:ext cx="366713"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93" name="直接连接符 92"/>
              <p:cNvCxnSpPr/>
              <p:nvPr/>
            </p:nvCxnSpPr>
            <p:spPr>
              <a:xfrm rot="5400000">
                <a:off x="10313193" y="5607848"/>
                <a:ext cx="366713" cy="0"/>
              </a:xfrm>
              <a:prstGeom prst="line">
                <a:avLst/>
              </a:prstGeom>
              <a:ln w="127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grpSp>
      </p:grpSp>
      <p:cxnSp>
        <p:nvCxnSpPr>
          <p:cNvPr id="77" name="直接箭头连接符 76"/>
          <p:cNvCxnSpPr/>
          <p:nvPr/>
        </p:nvCxnSpPr>
        <p:spPr>
          <a:xfrm flipV="1">
            <a:off x="10342411" y="5165598"/>
            <a:ext cx="452691" cy="442325"/>
          </a:xfrm>
          <a:prstGeom prst="straightConnector1">
            <a:avLst/>
          </a:prstGeom>
          <a:ln w="9525">
            <a:solidFill>
              <a:schemeClr val="accent1">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8" name="矩形 97"/>
          <p:cNvSpPr/>
          <p:nvPr/>
        </p:nvSpPr>
        <p:spPr>
          <a:xfrm>
            <a:off x="2238845" y="4757839"/>
            <a:ext cx="802990" cy="506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站外</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持续曝光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1" name="矩形 100"/>
          <p:cNvSpPr/>
          <p:nvPr/>
        </p:nvSpPr>
        <p:spPr>
          <a:xfrm>
            <a:off x="3121888" y="4757839"/>
            <a:ext cx="802990" cy="506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品牌</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认知强化</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4" name="矩形 103"/>
          <p:cNvSpPr/>
          <p:nvPr/>
        </p:nvSpPr>
        <p:spPr>
          <a:xfrm>
            <a:off x="2238845" y="5317508"/>
            <a:ext cx="802990" cy="506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活动</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玩法透出</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5" name="矩形 104"/>
          <p:cNvSpPr/>
          <p:nvPr/>
        </p:nvSpPr>
        <p:spPr>
          <a:xfrm>
            <a:off x="3121888" y="5317508"/>
            <a:ext cx="802990" cy="506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产品</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强化创新</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111" name="图形 110"/>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83288" y="4894359"/>
            <a:ext cx="388841" cy="388840"/>
          </a:xfrm>
          <a:prstGeom prst="rect">
            <a:avLst/>
          </a:prstGeom>
        </p:spPr>
      </p:pic>
      <p:pic>
        <p:nvPicPr>
          <p:cNvPr id="112" name="图形 111"/>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81621" y="4934026"/>
            <a:ext cx="309505" cy="309504"/>
          </a:xfrm>
          <a:prstGeom prst="rect">
            <a:avLst/>
          </a:prstGeom>
        </p:spPr>
      </p:pic>
      <p:grpSp>
        <p:nvGrpSpPr>
          <p:cNvPr id="113" name="组合 112"/>
          <p:cNvGrpSpPr/>
          <p:nvPr/>
        </p:nvGrpSpPr>
        <p:grpSpPr>
          <a:xfrm>
            <a:off x="5105397" y="5017302"/>
            <a:ext cx="142956" cy="142954"/>
            <a:chOff x="5841999" y="2646554"/>
            <a:chExt cx="198000" cy="198000"/>
          </a:xfrm>
          <a:solidFill>
            <a:schemeClr val="accent1">
              <a:lumMod val="60000"/>
              <a:lumOff val="40000"/>
            </a:schemeClr>
          </a:solidFill>
        </p:grpSpPr>
        <p:sp>
          <p:nvSpPr>
            <p:cNvPr id="114" name="矩形 113"/>
            <p:cNvSpPr/>
            <p:nvPr/>
          </p:nvSpPr>
          <p:spPr>
            <a:xfrm>
              <a:off x="5841999" y="2722694"/>
              <a:ext cx="198000" cy="4571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5" name="矩形 114"/>
            <p:cNvSpPr/>
            <p:nvPr/>
          </p:nvSpPr>
          <p:spPr>
            <a:xfrm rot="16200000">
              <a:off x="5841999" y="2722694"/>
              <a:ext cx="198000" cy="4571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16" name="文本框 115"/>
          <p:cNvSpPr txBox="1"/>
          <p:nvPr/>
        </p:nvSpPr>
        <p:spPr>
          <a:xfrm>
            <a:off x="4749922" y="5386760"/>
            <a:ext cx="795020" cy="27559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正装买赠</a:t>
            </a:r>
            <a:endParaRPr kumimoji="0" lang="zh-CN" altLang="en-US" sz="1200" b="1"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8" name="文本框 117"/>
          <p:cNvSpPr txBox="1"/>
          <p:nvPr/>
        </p:nvSpPr>
        <p:spPr>
          <a:xfrm>
            <a:off x="4293035" y="5614867"/>
            <a:ext cx="1721782"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品种心智种草与货品推荐</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a:off x="2333621" y="1821943"/>
            <a:ext cx="1846341" cy="461665"/>
          </a:xfrm>
          <a:prstGeom prst="rect">
            <a:avLst/>
          </a:prstGeom>
          <a:noFill/>
        </p:spPr>
        <p:txBody>
          <a:bodyPr wrap="square">
            <a:spAutoFit/>
          </a:bodyPr>
          <a:lstStyle/>
          <a:p>
            <a:pPr algn="ct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发送者在编码信息时可能未能准确表达其意图</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2" name="文本框 121"/>
          <p:cNvSpPr txBox="1"/>
          <p:nvPr/>
        </p:nvSpPr>
        <p:spPr>
          <a:xfrm>
            <a:off x="4749800" y="1821815"/>
            <a:ext cx="1907540" cy="460375"/>
          </a:xfrm>
          <a:prstGeom prst="rect">
            <a:avLst/>
          </a:prstGeom>
          <a:noFill/>
        </p:spPr>
        <p:txBody>
          <a:bodyPr wrap="square">
            <a:spAutoFit/>
          </a:bodyPr>
          <a:lstStyle/>
          <a:p>
            <a:pPr algn="ct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步骤繁多，导致效率低下</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甚至可能影响工作质量</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3" name="文本框 122"/>
          <p:cNvSpPr txBox="1"/>
          <p:nvPr/>
        </p:nvSpPr>
        <p:spPr>
          <a:xfrm>
            <a:off x="7202289" y="1821943"/>
            <a:ext cx="1846341" cy="461665"/>
          </a:xfrm>
          <a:prstGeom prst="rect">
            <a:avLst/>
          </a:prstGeom>
          <a:noFill/>
        </p:spPr>
        <p:txBody>
          <a:bodyPr wrap="square">
            <a:spAutoFit/>
          </a:bodyPr>
          <a:lstStyle/>
          <a:p>
            <a:pPr algn="ct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项目进度管控确保项目按时完成的关键环节</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4" name="文本框 123"/>
          <p:cNvSpPr txBox="1"/>
          <p:nvPr/>
        </p:nvSpPr>
        <p:spPr>
          <a:xfrm>
            <a:off x="9636760" y="1821815"/>
            <a:ext cx="1923415" cy="460375"/>
          </a:xfrm>
          <a:prstGeom prst="rect">
            <a:avLst/>
          </a:prstGeom>
          <a:noFill/>
        </p:spPr>
        <p:txBody>
          <a:bodyPr wrap="square">
            <a:spAutoFit/>
          </a:bodyPr>
          <a:lstStyle/>
          <a:p>
            <a:pPr algn="ct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会影响企业的运营效率和团队的整体表现</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8" name="文本框 127"/>
          <p:cNvSpPr txBox="1"/>
          <p:nvPr/>
        </p:nvSpPr>
        <p:spPr>
          <a:xfrm>
            <a:off x="2199005" y="3270885"/>
            <a:ext cx="2094230" cy="64516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沟通渠道的选择不当或信号不好</a:t>
            </a:r>
            <a:endPar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可能导致信息丢失或延迟，技术故障不兼容可能导致信息无法传输</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9" name="文本框 128"/>
          <p:cNvSpPr txBox="1"/>
          <p:nvPr/>
        </p:nvSpPr>
        <p:spPr>
          <a:xfrm>
            <a:off x="2333621" y="1622177"/>
            <a:ext cx="1846341" cy="245110"/>
          </a:xfrm>
          <a:prstGeom prst="rect">
            <a:avLst/>
          </a:prstGeom>
          <a:noFill/>
        </p:spPr>
        <p:txBody>
          <a:bodyPr wrap="square">
            <a:spAutoFit/>
          </a:bodyPr>
          <a:lstStyle/>
          <a:p>
            <a:pPr algn="ct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rPr>
              <a:t>PART 01</a:t>
            </a:r>
            <a:endParaRPr lang="en-US" altLang="zh-CN" sz="1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0" name="文本框 129"/>
          <p:cNvSpPr txBox="1"/>
          <p:nvPr/>
        </p:nvSpPr>
        <p:spPr>
          <a:xfrm>
            <a:off x="4789064" y="1622177"/>
            <a:ext cx="1846341" cy="245110"/>
          </a:xfrm>
          <a:prstGeom prst="rect">
            <a:avLst/>
          </a:prstGeom>
          <a:noFill/>
        </p:spPr>
        <p:txBody>
          <a:bodyPr wrap="square">
            <a:spAutoFit/>
          </a:bodyPr>
          <a:lstStyle/>
          <a:p>
            <a:pPr lvl="0" algn="ctr">
              <a:buClrTx/>
              <a:buSzTx/>
              <a:buFontTx/>
            </a:pP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mn-ea"/>
              </a:rPr>
              <a:t>PART 02</a:t>
            </a:r>
            <a:endPar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31" name="文本框 130"/>
          <p:cNvSpPr txBox="1"/>
          <p:nvPr/>
        </p:nvSpPr>
        <p:spPr>
          <a:xfrm>
            <a:off x="7238300" y="1622177"/>
            <a:ext cx="1846341" cy="245110"/>
          </a:xfrm>
          <a:prstGeom prst="rect">
            <a:avLst/>
          </a:prstGeom>
          <a:noFill/>
        </p:spPr>
        <p:txBody>
          <a:bodyPr wrap="square">
            <a:spAutoFit/>
          </a:bodyPr>
          <a:lstStyle/>
          <a:p>
            <a:pPr lvl="0" algn="ctr">
              <a:buClrTx/>
              <a:buSzTx/>
              <a:buFontTx/>
            </a:pP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mn-ea"/>
              </a:rPr>
              <a:t>PART 03</a:t>
            </a:r>
            <a:endPar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32" name="文本框 131"/>
          <p:cNvSpPr txBox="1"/>
          <p:nvPr/>
        </p:nvSpPr>
        <p:spPr>
          <a:xfrm>
            <a:off x="9687534" y="1622177"/>
            <a:ext cx="1846341" cy="245110"/>
          </a:xfrm>
          <a:prstGeom prst="rect">
            <a:avLst/>
          </a:prstGeom>
          <a:noFill/>
        </p:spPr>
        <p:txBody>
          <a:bodyPr wrap="square">
            <a:spAutoFit/>
          </a:bodyPr>
          <a:lstStyle/>
          <a:p>
            <a:pPr lvl="0" algn="ctr">
              <a:buClrTx/>
              <a:buSzTx/>
              <a:buFontTx/>
            </a:pP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mn-ea"/>
              </a:rPr>
              <a:t>PART 04</a:t>
            </a:r>
            <a:endPar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33" name="文本框 132"/>
          <p:cNvSpPr txBox="1"/>
          <p:nvPr/>
        </p:nvSpPr>
        <p:spPr>
          <a:xfrm>
            <a:off x="2233476" y="2765236"/>
            <a:ext cx="2052027" cy="461665"/>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技术问题</a:t>
            </a:r>
            <a:endParaRPr kumimoji="0" lang="en-US" altLang="zh-CN"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信息过载沟通渠道不畅</a:t>
            </a:r>
            <a:endPar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a:off x="4686221" y="3271131"/>
            <a:ext cx="2052027" cy="63049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使用软件自动化繁琐的重复性</a:t>
            </a:r>
            <a:endPar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任务</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减少不必要的文档工作，采用电子化管理</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5" name="文本框 134"/>
          <p:cNvSpPr txBox="1"/>
          <p:nvPr/>
        </p:nvSpPr>
        <p:spPr>
          <a:xfrm>
            <a:off x="4686221" y="2765236"/>
            <a:ext cx="2052027" cy="461665"/>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过多的审批环节</a:t>
            </a:r>
            <a:endParaRPr kumimoji="0" lang="en-US" altLang="zh-CN"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缺乏明确的指导</a:t>
            </a:r>
            <a:endPar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6" name="文本框 135"/>
          <p:cNvSpPr txBox="1"/>
          <p:nvPr/>
        </p:nvSpPr>
        <p:spPr>
          <a:xfrm>
            <a:off x="7097395" y="3270885"/>
            <a:ext cx="2131060" cy="64516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使用甘特图、任务看板等工具监</a:t>
            </a:r>
            <a:endPar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控项目进展，及时调整工作计划及时评估其对项目进度的潜在影响</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7" name="文本框 136"/>
          <p:cNvSpPr txBox="1"/>
          <p:nvPr/>
        </p:nvSpPr>
        <p:spPr>
          <a:xfrm>
            <a:off x="7142476" y="2765236"/>
            <a:ext cx="2052027" cy="461665"/>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制定详细的项目计划</a:t>
            </a:r>
            <a:endParaRPr kumimoji="0" lang="en-US" altLang="zh-CN"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确定关键路径和关键活动</a:t>
            </a:r>
            <a:endPar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nvSpPr>
        <p:spPr>
          <a:xfrm>
            <a:off x="9530080" y="3270885"/>
            <a:ext cx="2121535" cy="64516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确保所有部门都朝着组织的整体</a:t>
            </a:r>
            <a:endPar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目标努力，设定明确的项目目标和阶段性里程碑来保持团队一致性</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9" name="文本框 138"/>
          <p:cNvSpPr txBox="1"/>
          <p:nvPr/>
        </p:nvSpPr>
        <p:spPr>
          <a:xfrm>
            <a:off x="9598731" y="2765236"/>
            <a:ext cx="2052027" cy="461665"/>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明确共同目标</a:t>
            </a:r>
            <a:endParaRPr kumimoji="0" lang="en-US" altLang="zh-CN"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建立清晰的沟通渠道</a:t>
            </a:r>
            <a:endPar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51" name="组合 50"/>
          <p:cNvGrpSpPr/>
          <p:nvPr/>
        </p:nvGrpSpPr>
        <p:grpSpPr>
          <a:xfrm>
            <a:off x="1080067" y="4626400"/>
            <a:ext cx="239764" cy="254016"/>
            <a:chOff x="1048202" y="4467000"/>
            <a:chExt cx="239764" cy="254016"/>
          </a:xfrm>
          <a:solidFill>
            <a:schemeClr val="accent1">
              <a:lumMod val="60000"/>
              <a:lumOff val="40000"/>
            </a:schemeClr>
          </a:solidFill>
        </p:grpSpPr>
        <p:sp>
          <p:nvSpPr>
            <p:cNvPr id="52" name="任意多边形: 形状 38"/>
            <p:cNvSpPr/>
            <p:nvPr/>
          </p:nvSpPr>
          <p:spPr>
            <a:xfrm>
              <a:off x="1048202" y="4467000"/>
              <a:ext cx="239764" cy="254016"/>
            </a:xfrm>
            <a:custGeom>
              <a:avLst/>
              <a:gdLst>
                <a:gd name="connsiteX0" fmla="*/ 239705 w 239764"/>
                <a:gd name="connsiteY0" fmla="*/ 104630 h 254016"/>
                <a:gd name="connsiteX1" fmla="*/ 238366 w 239764"/>
                <a:gd name="connsiteY1" fmla="*/ 97547 h 254016"/>
                <a:gd name="connsiteX2" fmla="*/ 231402 w 239764"/>
                <a:gd name="connsiteY2" fmla="*/ 93530 h 254016"/>
                <a:gd name="connsiteX3" fmla="*/ 231134 w 239764"/>
                <a:gd name="connsiteY3" fmla="*/ 93530 h 254016"/>
                <a:gd name="connsiteX4" fmla="*/ 225272 w 239764"/>
                <a:gd name="connsiteY4" fmla="*/ 95702 h 254016"/>
                <a:gd name="connsiteX5" fmla="*/ 222683 w 239764"/>
                <a:gd name="connsiteY5" fmla="*/ 104779 h 254016"/>
                <a:gd name="connsiteX6" fmla="*/ 222713 w 239764"/>
                <a:gd name="connsiteY6" fmla="*/ 132722 h 254016"/>
                <a:gd name="connsiteX7" fmla="*/ 222802 w 239764"/>
                <a:gd name="connsiteY7" fmla="*/ 171854 h 254016"/>
                <a:gd name="connsiteX8" fmla="*/ 219558 w 239764"/>
                <a:gd name="connsiteY8" fmla="*/ 177865 h 254016"/>
                <a:gd name="connsiteX9" fmla="*/ 155519 w 239764"/>
                <a:gd name="connsiteY9" fmla="*/ 213842 h 254016"/>
                <a:gd name="connsiteX10" fmla="*/ 126266 w 239764"/>
                <a:gd name="connsiteY10" fmla="*/ 230329 h 254016"/>
                <a:gd name="connsiteX11" fmla="*/ 125225 w 239764"/>
                <a:gd name="connsiteY11" fmla="*/ 230983 h 254016"/>
                <a:gd name="connsiteX12" fmla="*/ 124749 w 239764"/>
                <a:gd name="connsiteY12" fmla="*/ 231281 h 254016"/>
                <a:gd name="connsiteX13" fmla="*/ 124749 w 239764"/>
                <a:gd name="connsiteY13" fmla="*/ 206105 h 254016"/>
                <a:gd name="connsiteX14" fmla="*/ 124600 w 239764"/>
                <a:gd name="connsiteY14" fmla="*/ 132097 h 254016"/>
                <a:gd name="connsiteX15" fmla="*/ 128439 w 239764"/>
                <a:gd name="connsiteY15" fmla="*/ 125788 h 254016"/>
                <a:gd name="connsiteX16" fmla="*/ 223278 w 239764"/>
                <a:gd name="connsiteY16" fmla="*/ 72134 h 254016"/>
                <a:gd name="connsiteX17" fmla="*/ 225183 w 239764"/>
                <a:gd name="connsiteY17" fmla="*/ 71182 h 254016"/>
                <a:gd name="connsiteX18" fmla="*/ 232235 w 239764"/>
                <a:gd name="connsiteY18" fmla="*/ 61867 h 254016"/>
                <a:gd name="connsiteX19" fmla="*/ 224558 w 239764"/>
                <a:gd name="connsiteY19" fmla="*/ 53267 h 254016"/>
                <a:gd name="connsiteX20" fmla="*/ 222504 w 239764"/>
                <a:gd name="connsiteY20" fmla="*/ 52345 h 254016"/>
                <a:gd name="connsiteX21" fmla="*/ 202299 w 239764"/>
                <a:gd name="connsiteY21" fmla="*/ 42167 h 254016"/>
                <a:gd name="connsiteX22" fmla="*/ 182123 w 239764"/>
                <a:gd name="connsiteY22" fmla="*/ 32020 h 254016"/>
                <a:gd name="connsiteX23" fmla="*/ 136831 w 239764"/>
                <a:gd name="connsiteY23" fmla="*/ 8898 h 254016"/>
                <a:gd name="connsiteX24" fmla="*/ 119868 w 239764"/>
                <a:gd name="connsiteY24" fmla="*/ 238 h 254016"/>
                <a:gd name="connsiteX25" fmla="*/ 119392 w 239764"/>
                <a:gd name="connsiteY25" fmla="*/ 0 h 254016"/>
                <a:gd name="connsiteX26" fmla="*/ 112518 w 239764"/>
                <a:gd name="connsiteY26" fmla="*/ 0 h 254016"/>
                <a:gd name="connsiteX27" fmla="*/ 111834 w 239764"/>
                <a:gd name="connsiteY27" fmla="*/ 1012 h 254016"/>
                <a:gd name="connsiteX28" fmla="*/ 109483 w 239764"/>
                <a:gd name="connsiteY28" fmla="*/ 2440 h 254016"/>
                <a:gd name="connsiteX29" fmla="*/ 107935 w 239764"/>
                <a:gd name="connsiteY29" fmla="*/ 3095 h 254016"/>
                <a:gd name="connsiteX30" fmla="*/ 91717 w 239764"/>
                <a:gd name="connsiteY30" fmla="*/ 11278 h 254016"/>
                <a:gd name="connsiteX31" fmla="*/ 9346 w 239764"/>
                <a:gd name="connsiteY31" fmla="*/ 52464 h 254016"/>
                <a:gd name="connsiteX32" fmla="*/ 2 w 239764"/>
                <a:gd name="connsiteY32" fmla="*/ 67789 h 254016"/>
                <a:gd name="connsiteX33" fmla="*/ 2 w 239764"/>
                <a:gd name="connsiteY33" fmla="*/ 175722 h 254016"/>
                <a:gd name="connsiteX34" fmla="*/ 8632 w 239764"/>
                <a:gd name="connsiteY34" fmla="*/ 190899 h 254016"/>
                <a:gd name="connsiteX35" fmla="*/ 110703 w 239764"/>
                <a:gd name="connsiteY35" fmla="*/ 252379 h 254016"/>
                <a:gd name="connsiteX36" fmla="*/ 116059 w 239764"/>
                <a:gd name="connsiteY36" fmla="*/ 254016 h 254016"/>
                <a:gd name="connsiteX37" fmla="*/ 121862 w 239764"/>
                <a:gd name="connsiteY37" fmla="*/ 252290 h 254016"/>
                <a:gd name="connsiteX38" fmla="*/ 232801 w 239764"/>
                <a:gd name="connsiteY38" fmla="*/ 189679 h 254016"/>
                <a:gd name="connsiteX39" fmla="*/ 239764 w 239764"/>
                <a:gd name="connsiteY39" fmla="*/ 178162 h 254016"/>
                <a:gd name="connsiteX40" fmla="*/ 239705 w 239764"/>
                <a:gd name="connsiteY40" fmla="*/ 104630 h 254016"/>
                <a:gd name="connsiteX41" fmla="*/ 107757 w 239764"/>
                <a:gd name="connsiteY41" fmla="*/ 201642 h 254016"/>
                <a:gd name="connsiteX42" fmla="*/ 107757 w 239764"/>
                <a:gd name="connsiteY42" fmla="*/ 230745 h 254016"/>
                <a:gd name="connsiteX43" fmla="*/ 87581 w 239764"/>
                <a:gd name="connsiteY43" fmla="*/ 218395 h 254016"/>
                <a:gd name="connsiteX44" fmla="*/ 31338 w 239764"/>
                <a:gd name="connsiteY44" fmla="*/ 185185 h 254016"/>
                <a:gd name="connsiteX45" fmla="*/ 16548 w 239764"/>
                <a:gd name="connsiteY45" fmla="*/ 158611 h 254016"/>
                <a:gd name="connsiteX46" fmla="*/ 17113 w 239764"/>
                <a:gd name="connsiteY46" fmla="*/ 104035 h 254016"/>
                <a:gd name="connsiteX47" fmla="*/ 16964 w 239764"/>
                <a:gd name="connsiteY47" fmla="*/ 80020 h 254016"/>
                <a:gd name="connsiteX48" fmla="*/ 16875 w 239764"/>
                <a:gd name="connsiteY48" fmla="*/ 78264 h 254016"/>
                <a:gd name="connsiteX49" fmla="*/ 16816 w 239764"/>
                <a:gd name="connsiteY49" fmla="*/ 76389 h 254016"/>
                <a:gd name="connsiteX50" fmla="*/ 17589 w 239764"/>
                <a:gd name="connsiteY50" fmla="*/ 76925 h 254016"/>
                <a:gd name="connsiteX51" fmla="*/ 18750 w 239764"/>
                <a:gd name="connsiteY51" fmla="*/ 77699 h 254016"/>
                <a:gd name="connsiteX52" fmla="*/ 57525 w 239764"/>
                <a:gd name="connsiteY52" fmla="*/ 99630 h 254016"/>
                <a:gd name="connsiteX53" fmla="*/ 104602 w 239764"/>
                <a:gd name="connsiteY53" fmla="*/ 126234 h 254016"/>
                <a:gd name="connsiteX54" fmla="*/ 107876 w 239764"/>
                <a:gd name="connsiteY54" fmla="*/ 130906 h 254016"/>
                <a:gd name="connsiteX55" fmla="*/ 107757 w 239764"/>
                <a:gd name="connsiteY55" fmla="*/ 201642 h 254016"/>
                <a:gd name="connsiteX56" fmla="*/ 117636 w 239764"/>
                <a:gd name="connsiteY56" fmla="*/ 113022 h 254016"/>
                <a:gd name="connsiteX57" fmla="*/ 116357 w 239764"/>
                <a:gd name="connsiteY57" fmla="*/ 113438 h 254016"/>
                <a:gd name="connsiteX58" fmla="*/ 114095 w 239764"/>
                <a:gd name="connsiteY58" fmla="*/ 112516 h 254016"/>
                <a:gd name="connsiteX59" fmla="*/ 26338 w 239764"/>
                <a:gd name="connsiteY59" fmla="*/ 62760 h 254016"/>
                <a:gd name="connsiteX60" fmla="*/ 27439 w 239764"/>
                <a:gd name="connsiteY60" fmla="*/ 62314 h 254016"/>
                <a:gd name="connsiteX61" fmla="*/ 73386 w 239764"/>
                <a:gd name="connsiteY61" fmla="*/ 39281 h 254016"/>
                <a:gd name="connsiteX62" fmla="*/ 112786 w 239764"/>
                <a:gd name="connsiteY62" fmla="*/ 19521 h 254016"/>
                <a:gd name="connsiteX63" fmla="*/ 116446 w 239764"/>
                <a:gd name="connsiteY63" fmla="*/ 18331 h 254016"/>
                <a:gd name="connsiteX64" fmla="*/ 118916 w 239764"/>
                <a:gd name="connsiteY64" fmla="*/ 19015 h 254016"/>
                <a:gd name="connsiteX65" fmla="*/ 186556 w 239764"/>
                <a:gd name="connsiteY65" fmla="*/ 53089 h 254016"/>
                <a:gd name="connsiteX66" fmla="*/ 205870 w 239764"/>
                <a:gd name="connsiteY66" fmla="*/ 62760 h 254016"/>
                <a:gd name="connsiteX67" fmla="*/ 206048 w 239764"/>
                <a:gd name="connsiteY67" fmla="*/ 62849 h 254016"/>
                <a:gd name="connsiteX68" fmla="*/ 187122 w 239764"/>
                <a:gd name="connsiteY68" fmla="*/ 73562 h 254016"/>
                <a:gd name="connsiteX69" fmla="*/ 117636 w 239764"/>
                <a:gd name="connsiteY69" fmla="*/ 113022 h 254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39764" h="254016">
                  <a:moveTo>
                    <a:pt x="239705" y="104630"/>
                  </a:moveTo>
                  <a:cubicBezTo>
                    <a:pt x="239705" y="101475"/>
                    <a:pt x="239288" y="99303"/>
                    <a:pt x="238366" y="97547"/>
                  </a:cubicBezTo>
                  <a:cubicBezTo>
                    <a:pt x="237443" y="95762"/>
                    <a:pt x="235479" y="93619"/>
                    <a:pt x="231402" y="93530"/>
                  </a:cubicBezTo>
                  <a:lnTo>
                    <a:pt x="231134" y="93530"/>
                  </a:lnTo>
                  <a:cubicBezTo>
                    <a:pt x="228664" y="93530"/>
                    <a:pt x="226700" y="94244"/>
                    <a:pt x="225272" y="95702"/>
                  </a:cubicBezTo>
                  <a:cubicBezTo>
                    <a:pt x="222951" y="98024"/>
                    <a:pt x="222653" y="101595"/>
                    <a:pt x="222683" y="104779"/>
                  </a:cubicBezTo>
                  <a:cubicBezTo>
                    <a:pt x="222713" y="114093"/>
                    <a:pt x="222713" y="123556"/>
                    <a:pt x="222713" y="132722"/>
                  </a:cubicBezTo>
                  <a:cubicBezTo>
                    <a:pt x="222713" y="145547"/>
                    <a:pt x="222713" y="158820"/>
                    <a:pt x="222802" y="171854"/>
                  </a:cubicBezTo>
                  <a:cubicBezTo>
                    <a:pt x="222832" y="175157"/>
                    <a:pt x="222118" y="176436"/>
                    <a:pt x="219558" y="177865"/>
                  </a:cubicBezTo>
                  <a:cubicBezTo>
                    <a:pt x="198162" y="189798"/>
                    <a:pt x="176498" y="202028"/>
                    <a:pt x="155519" y="213842"/>
                  </a:cubicBezTo>
                  <a:cubicBezTo>
                    <a:pt x="145937" y="219258"/>
                    <a:pt x="136027" y="224853"/>
                    <a:pt x="126266" y="230329"/>
                  </a:cubicBezTo>
                  <a:cubicBezTo>
                    <a:pt x="125880" y="230537"/>
                    <a:pt x="125552" y="230775"/>
                    <a:pt x="125225" y="230983"/>
                  </a:cubicBezTo>
                  <a:cubicBezTo>
                    <a:pt x="125046" y="231102"/>
                    <a:pt x="124897" y="231191"/>
                    <a:pt x="124749" y="231281"/>
                  </a:cubicBezTo>
                  <a:lnTo>
                    <a:pt x="124749" y="206105"/>
                  </a:lnTo>
                  <a:cubicBezTo>
                    <a:pt x="124778" y="181852"/>
                    <a:pt x="124778" y="156766"/>
                    <a:pt x="124600" y="132097"/>
                  </a:cubicBezTo>
                  <a:cubicBezTo>
                    <a:pt x="124570" y="128823"/>
                    <a:pt x="125403" y="127484"/>
                    <a:pt x="128439" y="125788"/>
                  </a:cubicBezTo>
                  <a:cubicBezTo>
                    <a:pt x="161202" y="107397"/>
                    <a:pt x="193401" y="89126"/>
                    <a:pt x="223278" y="72134"/>
                  </a:cubicBezTo>
                  <a:cubicBezTo>
                    <a:pt x="223844" y="71807"/>
                    <a:pt x="224498" y="71509"/>
                    <a:pt x="225183" y="71182"/>
                  </a:cubicBezTo>
                  <a:cubicBezTo>
                    <a:pt x="228307" y="69694"/>
                    <a:pt x="232563" y="67640"/>
                    <a:pt x="232235" y="61867"/>
                  </a:cubicBezTo>
                  <a:cubicBezTo>
                    <a:pt x="231908" y="56392"/>
                    <a:pt x="227653" y="54577"/>
                    <a:pt x="224558" y="53267"/>
                  </a:cubicBezTo>
                  <a:cubicBezTo>
                    <a:pt x="223814" y="52970"/>
                    <a:pt x="223129" y="52672"/>
                    <a:pt x="222504" y="52345"/>
                  </a:cubicBezTo>
                  <a:cubicBezTo>
                    <a:pt x="215779" y="48922"/>
                    <a:pt x="208935" y="45500"/>
                    <a:pt x="202299" y="42167"/>
                  </a:cubicBezTo>
                  <a:cubicBezTo>
                    <a:pt x="195662" y="38864"/>
                    <a:pt x="188818" y="35442"/>
                    <a:pt x="182123" y="32020"/>
                  </a:cubicBezTo>
                  <a:cubicBezTo>
                    <a:pt x="167005" y="24342"/>
                    <a:pt x="151680" y="16486"/>
                    <a:pt x="136831" y="8898"/>
                  </a:cubicBezTo>
                  <a:lnTo>
                    <a:pt x="119868" y="238"/>
                  </a:lnTo>
                  <a:lnTo>
                    <a:pt x="119392" y="0"/>
                  </a:lnTo>
                  <a:lnTo>
                    <a:pt x="112518" y="0"/>
                  </a:lnTo>
                  <a:lnTo>
                    <a:pt x="111834" y="1012"/>
                  </a:lnTo>
                  <a:cubicBezTo>
                    <a:pt x="111417" y="1637"/>
                    <a:pt x="110673" y="1964"/>
                    <a:pt x="109483" y="2440"/>
                  </a:cubicBezTo>
                  <a:cubicBezTo>
                    <a:pt x="108977" y="2648"/>
                    <a:pt x="108471" y="2857"/>
                    <a:pt x="107935" y="3095"/>
                  </a:cubicBezTo>
                  <a:cubicBezTo>
                    <a:pt x="102519" y="5833"/>
                    <a:pt x="97133" y="8541"/>
                    <a:pt x="91717" y="11278"/>
                  </a:cubicBezTo>
                  <a:cubicBezTo>
                    <a:pt x="64756" y="24878"/>
                    <a:pt x="36902" y="38953"/>
                    <a:pt x="9346" y="52464"/>
                  </a:cubicBezTo>
                  <a:cubicBezTo>
                    <a:pt x="2562" y="55767"/>
                    <a:pt x="-57" y="60082"/>
                    <a:pt x="2" y="67789"/>
                  </a:cubicBezTo>
                  <a:cubicBezTo>
                    <a:pt x="330" y="103588"/>
                    <a:pt x="330" y="139923"/>
                    <a:pt x="2" y="175722"/>
                  </a:cubicBezTo>
                  <a:cubicBezTo>
                    <a:pt x="-87" y="182805"/>
                    <a:pt x="2413" y="187179"/>
                    <a:pt x="8632" y="190899"/>
                  </a:cubicBezTo>
                  <a:cubicBezTo>
                    <a:pt x="43747" y="211819"/>
                    <a:pt x="78326" y="232739"/>
                    <a:pt x="110703" y="252379"/>
                  </a:cubicBezTo>
                  <a:cubicBezTo>
                    <a:pt x="112518" y="253480"/>
                    <a:pt x="114274" y="254016"/>
                    <a:pt x="116059" y="254016"/>
                  </a:cubicBezTo>
                  <a:cubicBezTo>
                    <a:pt x="117875" y="254016"/>
                    <a:pt x="119720" y="253451"/>
                    <a:pt x="121862" y="252290"/>
                  </a:cubicBezTo>
                  <a:cubicBezTo>
                    <a:pt x="152156" y="235120"/>
                    <a:pt x="192151" y="212474"/>
                    <a:pt x="232801" y="189679"/>
                  </a:cubicBezTo>
                  <a:cubicBezTo>
                    <a:pt x="237741" y="186911"/>
                    <a:pt x="239794" y="183459"/>
                    <a:pt x="239764" y="178162"/>
                  </a:cubicBezTo>
                  <a:cubicBezTo>
                    <a:pt x="239615" y="153612"/>
                    <a:pt x="239675" y="128704"/>
                    <a:pt x="239705" y="104630"/>
                  </a:cubicBezTo>
                  <a:close/>
                  <a:moveTo>
                    <a:pt x="107757" y="201642"/>
                  </a:moveTo>
                  <a:lnTo>
                    <a:pt x="107757" y="230745"/>
                  </a:lnTo>
                  <a:cubicBezTo>
                    <a:pt x="100942" y="226609"/>
                    <a:pt x="94157" y="222443"/>
                    <a:pt x="87581" y="218395"/>
                  </a:cubicBezTo>
                  <a:cubicBezTo>
                    <a:pt x="68446" y="206641"/>
                    <a:pt x="50353" y="195541"/>
                    <a:pt x="31338" y="185185"/>
                  </a:cubicBezTo>
                  <a:cubicBezTo>
                    <a:pt x="19732" y="178877"/>
                    <a:pt x="15863" y="171913"/>
                    <a:pt x="16548" y="158611"/>
                  </a:cubicBezTo>
                  <a:cubicBezTo>
                    <a:pt x="17470" y="140429"/>
                    <a:pt x="17292" y="121949"/>
                    <a:pt x="17113" y="104035"/>
                  </a:cubicBezTo>
                  <a:cubicBezTo>
                    <a:pt x="17024" y="96149"/>
                    <a:pt x="16935" y="88025"/>
                    <a:pt x="16964" y="80020"/>
                  </a:cubicBezTo>
                  <a:cubicBezTo>
                    <a:pt x="16964" y="79425"/>
                    <a:pt x="16905" y="78829"/>
                    <a:pt x="16875" y="78264"/>
                  </a:cubicBezTo>
                  <a:cubicBezTo>
                    <a:pt x="16816" y="77520"/>
                    <a:pt x="16786" y="76895"/>
                    <a:pt x="16816" y="76389"/>
                  </a:cubicBezTo>
                  <a:cubicBezTo>
                    <a:pt x="17054" y="76538"/>
                    <a:pt x="17292" y="76717"/>
                    <a:pt x="17589" y="76925"/>
                  </a:cubicBezTo>
                  <a:cubicBezTo>
                    <a:pt x="17947" y="77163"/>
                    <a:pt x="18333" y="77431"/>
                    <a:pt x="18750" y="77699"/>
                  </a:cubicBezTo>
                  <a:cubicBezTo>
                    <a:pt x="31695" y="84989"/>
                    <a:pt x="44818" y="92429"/>
                    <a:pt x="57525" y="99630"/>
                  </a:cubicBezTo>
                  <a:cubicBezTo>
                    <a:pt x="72940" y="108350"/>
                    <a:pt x="88890" y="117396"/>
                    <a:pt x="104602" y="126234"/>
                  </a:cubicBezTo>
                  <a:cubicBezTo>
                    <a:pt x="107162" y="127663"/>
                    <a:pt x="107906" y="128466"/>
                    <a:pt x="107876" y="130906"/>
                  </a:cubicBezTo>
                  <a:cubicBezTo>
                    <a:pt x="107757" y="154475"/>
                    <a:pt x="107757" y="178460"/>
                    <a:pt x="107757" y="201642"/>
                  </a:cubicBezTo>
                  <a:close/>
                  <a:moveTo>
                    <a:pt x="117636" y="113022"/>
                  </a:moveTo>
                  <a:cubicBezTo>
                    <a:pt x="117131" y="113289"/>
                    <a:pt x="116714" y="113438"/>
                    <a:pt x="116357" y="113438"/>
                  </a:cubicBezTo>
                  <a:cubicBezTo>
                    <a:pt x="115762" y="113438"/>
                    <a:pt x="115048" y="113051"/>
                    <a:pt x="114095" y="112516"/>
                  </a:cubicBezTo>
                  <a:cubicBezTo>
                    <a:pt x="84635" y="95821"/>
                    <a:pt x="55025" y="79038"/>
                    <a:pt x="26338" y="62760"/>
                  </a:cubicBezTo>
                  <a:cubicBezTo>
                    <a:pt x="26666" y="62641"/>
                    <a:pt x="27053" y="62492"/>
                    <a:pt x="27439" y="62314"/>
                  </a:cubicBezTo>
                  <a:cubicBezTo>
                    <a:pt x="42735" y="54606"/>
                    <a:pt x="58328" y="46810"/>
                    <a:pt x="73386" y="39281"/>
                  </a:cubicBezTo>
                  <a:cubicBezTo>
                    <a:pt x="86301" y="32823"/>
                    <a:pt x="99663" y="26128"/>
                    <a:pt x="112786" y="19521"/>
                  </a:cubicBezTo>
                  <a:cubicBezTo>
                    <a:pt x="114244" y="18777"/>
                    <a:pt x="115375" y="18331"/>
                    <a:pt x="116446" y="18331"/>
                  </a:cubicBezTo>
                  <a:cubicBezTo>
                    <a:pt x="117220" y="18331"/>
                    <a:pt x="117994" y="18539"/>
                    <a:pt x="118916" y="19015"/>
                  </a:cubicBezTo>
                  <a:cubicBezTo>
                    <a:pt x="141413" y="30472"/>
                    <a:pt x="164357" y="41989"/>
                    <a:pt x="186556" y="53089"/>
                  </a:cubicBezTo>
                  <a:cubicBezTo>
                    <a:pt x="192984" y="56303"/>
                    <a:pt x="199442" y="59546"/>
                    <a:pt x="205870" y="62760"/>
                  </a:cubicBezTo>
                  <a:lnTo>
                    <a:pt x="206048" y="62849"/>
                  </a:lnTo>
                  <a:lnTo>
                    <a:pt x="187122" y="73562"/>
                  </a:lnTo>
                  <a:cubicBezTo>
                    <a:pt x="164357" y="86448"/>
                    <a:pt x="140788" y="99809"/>
                    <a:pt x="117636" y="11302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微软雅黑" panose="020B0503020204020204" charset="-122"/>
                <a:ea typeface="微软雅黑" panose="020B0503020204020204" charset="-122"/>
                <a:cs typeface="微软雅黑" panose="020B0503020204020204" charset="-122"/>
              </a:endParaRPr>
            </a:p>
          </p:txBody>
        </p:sp>
        <p:sp>
          <p:nvSpPr>
            <p:cNvPr id="61" name="任意多边形: 形状 39"/>
            <p:cNvSpPr/>
            <p:nvPr/>
          </p:nvSpPr>
          <p:spPr>
            <a:xfrm>
              <a:off x="1077242" y="4567761"/>
              <a:ext cx="52503" cy="38179"/>
            </a:xfrm>
            <a:custGeom>
              <a:avLst/>
              <a:gdLst>
                <a:gd name="connsiteX0" fmla="*/ 44585 w 52503"/>
                <a:gd name="connsiteY0" fmla="*/ 38180 h 38179"/>
                <a:gd name="connsiteX1" fmla="*/ 37651 w 52503"/>
                <a:gd name="connsiteY1" fmla="*/ 35680 h 38179"/>
                <a:gd name="connsiteX2" fmla="*/ 20004 w 52503"/>
                <a:gd name="connsiteY2" fmla="*/ 25086 h 38179"/>
                <a:gd name="connsiteX3" fmla="*/ 4947 w 52503"/>
                <a:gd name="connsiteY3" fmla="*/ 16040 h 38179"/>
                <a:gd name="connsiteX4" fmla="*/ 334 w 52503"/>
                <a:gd name="connsiteY4" fmla="*/ 6100 h 38179"/>
                <a:gd name="connsiteX5" fmla="*/ 8369 w 52503"/>
                <a:gd name="connsiteY5" fmla="*/ 30 h 38179"/>
                <a:gd name="connsiteX6" fmla="*/ 8964 w 52503"/>
                <a:gd name="connsiteY6" fmla="*/ 0 h 38179"/>
                <a:gd name="connsiteX7" fmla="*/ 14053 w 52503"/>
                <a:gd name="connsiteY7" fmla="*/ 1964 h 38179"/>
                <a:gd name="connsiteX8" fmla="*/ 14529 w 52503"/>
                <a:gd name="connsiteY8" fmla="*/ 2262 h 38179"/>
                <a:gd name="connsiteX9" fmla="*/ 46102 w 52503"/>
                <a:gd name="connsiteY9" fmla="*/ 21218 h 38179"/>
                <a:gd name="connsiteX10" fmla="*/ 51429 w 52503"/>
                <a:gd name="connsiteY10" fmla="*/ 25771 h 38179"/>
                <a:gd name="connsiteX11" fmla="*/ 51132 w 52503"/>
                <a:gd name="connsiteY11" fmla="*/ 33924 h 38179"/>
                <a:gd name="connsiteX12" fmla="*/ 44585 w 52503"/>
                <a:gd name="connsiteY12" fmla="*/ 38180 h 38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503" h="38179">
                  <a:moveTo>
                    <a:pt x="44585" y="38180"/>
                  </a:moveTo>
                  <a:cubicBezTo>
                    <a:pt x="42115" y="38180"/>
                    <a:pt x="39704" y="36930"/>
                    <a:pt x="37651" y="35680"/>
                  </a:cubicBezTo>
                  <a:cubicBezTo>
                    <a:pt x="31789" y="32139"/>
                    <a:pt x="25807" y="28538"/>
                    <a:pt x="20004" y="25086"/>
                  </a:cubicBezTo>
                  <a:cubicBezTo>
                    <a:pt x="15065" y="22140"/>
                    <a:pt x="9946" y="19075"/>
                    <a:pt x="4947" y="16040"/>
                  </a:cubicBezTo>
                  <a:cubicBezTo>
                    <a:pt x="-231" y="12945"/>
                    <a:pt x="-439" y="8927"/>
                    <a:pt x="334" y="6100"/>
                  </a:cubicBezTo>
                  <a:cubicBezTo>
                    <a:pt x="1019" y="3452"/>
                    <a:pt x="2983" y="268"/>
                    <a:pt x="8369" y="30"/>
                  </a:cubicBezTo>
                  <a:cubicBezTo>
                    <a:pt x="8577" y="0"/>
                    <a:pt x="8786" y="0"/>
                    <a:pt x="8964" y="0"/>
                  </a:cubicBezTo>
                  <a:cubicBezTo>
                    <a:pt x="10869" y="0"/>
                    <a:pt x="12565" y="1042"/>
                    <a:pt x="14053" y="1964"/>
                  </a:cubicBezTo>
                  <a:cubicBezTo>
                    <a:pt x="14202" y="2053"/>
                    <a:pt x="14350" y="2143"/>
                    <a:pt x="14529" y="2262"/>
                  </a:cubicBezTo>
                  <a:cubicBezTo>
                    <a:pt x="25123" y="8630"/>
                    <a:pt x="35806" y="15028"/>
                    <a:pt x="46102" y="21218"/>
                  </a:cubicBezTo>
                  <a:cubicBezTo>
                    <a:pt x="48007" y="22378"/>
                    <a:pt x="50150" y="23777"/>
                    <a:pt x="51429" y="25771"/>
                  </a:cubicBezTo>
                  <a:cubicBezTo>
                    <a:pt x="52500" y="27467"/>
                    <a:pt x="53304" y="30234"/>
                    <a:pt x="51132" y="33924"/>
                  </a:cubicBezTo>
                  <a:cubicBezTo>
                    <a:pt x="49495" y="36751"/>
                    <a:pt x="47293" y="38180"/>
                    <a:pt x="44585" y="3818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微软雅黑" panose="020B0503020204020204" charset="-122"/>
                <a:ea typeface="微软雅黑" panose="020B0503020204020204" charset="-122"/>
                <a:cs typeface="微软雅黑" panose="020B0503020204020204" charset="-122"/>
              </a:endParaRPr>
            </a:p>
          </p:txBody>
        </p:sp>
      </p:grpSp>
      <p:grpSp>
        <p:nvGrpSpPr>
          <p:cNvPr id="74" name="组合 73"/>
          <p:cNvGrpSpPr/>
          <p:nvPr/>
        </p:nvGrpSpPr>
        <p:grpSpPr>
          <a:xfrm>
            <a:off x="1104540" y="2093817"/>
            <a:ext cx="215292" cy="201560"/>
            <a:chOff x="-753007" y="7477236"/>
            <a:chExt cx="1729940" cy="1619621"/>
          </a:xfrm>
          <a:solidFill>
            <a:schemeClr val="accent1"/>
          </a:solidFill>
        </p:grpSpPr>
        <p:sp>
          <p:nvSpPr>
            <p:cNvPr id="75" name="任意多边形: 形状 42"/>
            <p:cNvSpPr/>
            <p:nvPr/>
          </p:nvSpPr>
          <p:spPr>
            <a:xfrm>
              <a:off x="-753007" y="7477236"/>
              <a:ext cx="1729940" cy="468064"/>
            </a:xfrm>
            <a:custGeom>
              <a:avLst/>
              <a:gdLst>
                <a:gd name="connsiteX0" fmla="*/ 1696455 w 1729940"/>
                <a:gd name="connsiteY0" fmla="*/ 468064 h 468064"/>
                <a:gd name="connsiteX1" fmla="*/ 33486 w 1729940"/>
                <a:gd name="connsiteY1" fmla="*/ 468064 h 468064"/>
                <a:gd name="connsiteX2" fmla="*/ 0 w 1729940"/>
                <a:gd name="connsiteY2" fmla="*/ 434578 h 468064"/>
                <a:gd name="connsiteX3" fmla="*/ 0 w 1729940"/>
                <a:gd name="connsiteY3" fmla="*/ 33486 h 468064"/>
                <a:gd name="connsiteX4" fmla="*/ 33486 w 1729940"/>
                <a:gd name="connsiteY4" fmla="*/ 0 h 468064"/>
                <a:gd name="connsiteX5" fmla="*/ 1696455 w 1729940"/>
                <a:gd name="connsiteY5" fmla="*/ 0 h 468064"/>
                <a:gd name="connsiteX6" fmla="*/ 1729941 w 1729940"/>
                <a:gd name="connsiteY6" fmla="*/ 33486 h 468064"/>
                <a:gd name="connsiteX7" fmla="*/ 1729941 w 1729940"/>
                <a:gd name="connsiteY7" fmla="*/ 434578 h 468064"/>
                <a:gd name="connsiteX8" fmla="*/ 1696455 w 1729940"/>
                <a:gd name="connsiteY8" fmla="*/ 468064 h 468064"/>
                <a:gd name="connsiteX9" fmla="*/ 66973 w 1729940"/>
                <a:gd name="connsiteY9" fmla="*/ 401092 h 468064"/>
                <a:gd name="connsiteX10" fmla="*/ 1662968 w 1729940"/>
                <a:gd name="connsiteY10" fmla="*/ 401092 h 468064"/>
                <a:gd name="connsiteX11" fmla="*/ 1662968 w 1729940"/>
                <a:gd name="connsiteY11" fmla="*/ 66973 h 468064"/>
                <a:gd name="connsiteX12" fmla="*/ 66973 w 1729940"/>
                <a:gd name="connsiteY12" fmla="*/ 66973 h 468064"/>
                <a:gd name="connsiteX13" fmla="*/ 66973 w 1729940"/>
                <a:gd name="connsiteY13" fmla="*/ 401092 h 468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9940" h="468064">
                  <a:moveTo>
                    <a:pt x="1696455" y="468064"/>
                  </a:moveTo>
                  <a:lnTo>
                    <a:pt x="33486" y="468064"/>
                  </a:lnTo>
                  <a:cubicBezTo>
                    <a:pt x="15069" y="468064"/>
                    <a:pt x="0" y="452996"/>
                    <a:pt x="0" y="434578"/>
                  </a:cubicBezTo>
                  <a:lnTo>
                    <a:pt x="0" y="33486"/>
                  </a:lnTo>
                  <a:cubicBezTo>
                    <a:pt x="0" y="15069"/>
                    <a:pt x="15069" y="0"/>
                    <a:pt x="33486" y="0"/>
                  </a:cubicBezTo>
                  <a:lnTo>
                    <a:pt x="1696455" y="0"/>
                  </a:lnTo>
                  <a:cubicBezTo>
                    <a:pt x="1714872" y="0"/>
                    <a:pt x="1729941" y="15069"/>
                    <a:pt x="1729941" y="33486"/>
                  </a:cubicBezTo>
                  <a:lnTo>
                    <a:pt x="1729941" y="434578"/>
                  </a:lnTo>
                  <a:cubicBezTo>
                    <a:pt x="1729941" y="452996"/>
                    <a:pt x="1715058" y="468064"/>
                    <a:pt x="1696455" y="468064"/>
                  </a:cubicBezTo>
                  <a:close/>
                  <a:moveTo>
                    <a:pt x="66973" y="401092"/>
                  </a:moveTo>
                  <a:lnTo>
                    <a:pt x="1662968" y="401092"/>
                  </a:lnTo>
                  <a:lnTo>
                    <a:pt x="1662968" y="66973"/>
                  </a:lnTo>
                  <a:lnTo>
                    <a:pt x="66973" y="66973"/>
                  </a:lnTo>
                  <a:lnTo>
                    <a:pt x="66973" y="401092"/>
                  </a:lnTo>
                  <a:close/>
                </a:path>
              </a:pathLst>
            </a:custGeom>
            <a:grp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微软雅黑" panose="020B0503020204020204" charset="-122"/>
                <a:ea typeface="微软雅黑" panose="020B0503020204020204" charset="-122"/>
                <a:cs typeface="微软雅黑" panose="020B0503020204020204" charset="-122"/>
              </a:endParaRPr>
            </a:p>
          </p:txBody>
        </p:sp>
        <p:sp>
          <p:nvSpPr>
            <p:cNvPr id="76" name="任意多边形: 形状 43"/>
            <p:cNvSpPr/>
            <p:nvPr/>
          </p:nvSpPr>
          <p:spPr>
            <a:xfrm>
              <a:off x="-679337" y="7896745"/>
              <a:ext cx="1586507" cy="1200112"/>
            </a:xfrm>
            <a:custGeom>
              <a:avLst/>
              <a:gdLst>
                <a:gd name="connsiteX0" fmla="*/ 1553022 w 1586507"/>
                <a:gd name="connsiteY0" fmla="*/ 1200113 h 1200112"/>
                <a:gd name="connsiteX1" fmla="*/ 33486 w 1586507"/>
                <a:gd name="connsiteY1" fmla="*/ 1200113 h 1200112"/>
                <a:gd name="connsiteX2" fmla="*/ 0 w 1586507"/>
                <a:gd name="connsiteY2" fmla="*/ 1166627 h 1200112"/>
                <a:gd name="connsiteX3" fmla="*/ 0 w 1586507"/>
                <a:gd name="connsiteY3" fmla="*/ 33486 h 1200112"/>
                <a:gd name="connsiteX4" fmla="*/ 33486 w 1586507"/>
                <a:gd name="connsiteY4" fmla="*/ 0 h 1200112"/>
                <a:gd name="connsiteX5" fmla="*/ 66973 w 1586507"/>
                <a:gd name="connsiteY5" fmla="*/ 33486 h 1200112"/>
                <a:gd name="connsiteX6" fmla="*/ 66973 w 1586507"/>
                <a:gd name="connsiteY6" fmla="*/ 1133140 h 1200112"/>
                <a:gd name="connsiteX7" fmla="*/ 1519535 w 1586507"/>
                <a:gd name="connsiteY7" fmla="*/ 1133140 h 1200112"/>
                <a:gd name="connsiteX8" fmla="*/ 1519535 w 1586507"/>
                <a:gd name="connsiteY8" fmla="*/ 51346 h 1200112"/>
                <a:gd name="connsiteX9" fmla="*/ 1553022 w 1586507"/>
                <a:gd name="connsiteY9" fmla="*/ 17859 h 1200112"/>
                <a:gd name="connsiteX10" fmla="*/ 1586508 w 1586507"/>
                <a:gd name="connsiteY10" fmla="*/ 51346 h 1200112"/>
                <a:gd name="connsiteX11" fmla="*/ 1586508 w 1586507"/>
                <a:gd name="connsiteY11" fmla="*/ 1166627 h 1200112"/>
                <a:gd name="connsiteX12" fmla="*/ 1553022 w 1586507"/>
                <a:gd name="connsiteY12" fmla="*/ 1200113 h 120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6507" h="1200112">
                  <a:moveTo>
                    <a:pt x="1553022" y="1200113"/>
                  </a:moveTo>
                  <a:lnTo>
                    <a:pt x="33486" y="1200113"/>
                  </a:lnTo>
                  <a:cubicBezTo>
                    <a:pt x="15069" y="1200113"/>
                    <a:pt x="0" y="1185044"/>
                    <a:pt x="0" y="1166627"/>
                  </a:cubicBezTo>
                  <a:lnTo>
                    <a:pt x="0" y="33486"/>
                  </a:lnTo>
                  <a:cubicBezTo>
                    <a:pt x="0" y="15069"/>
                    <a:pt x="15069" y="0"/>
                    <a:pt x="33486" y="0"/>
                  </a:cubicBezTo>
                  <a:cubicBezTo>
                    <a:pt x="51904" y="0"/>
                    <a:pt x="66973" y="15069"/>
                    <a:pt x="66973" y="33486"/>
                  </a:cubicBezTo>
                  <a:lnTo>
                    <a:pt x="66973" y="1133140"/>
                  </a:lnTo>
                  <a:lnTo>
                    <a:pt x="1519535" y="1133140"/>
                  </a:lnTo>
                  <a:lnTo>
                    <a:pt x="1519535" y="51346"/>
                  </a:lnTo>
                  <a:cubicBezTo>
                    <a:pt x="1519535" y="32928"/>
                    <a:pt x="1534604" y="17859"/>
                    <a:pt x="1553022" y="17859"/>
                  </a:cubicBezTo>
                  <a:cubicBezTo>
                    <a:pt x="1571439" y="17859"/>
                    <a:pt x="1586508" y="32928"/>
                    <a:pt x="1586508" y="51346"/>
                  </a:cubicBezTo>
                  <a:lnTo>
                    <a:pt x="1586508" y="1166627"/>
                  </a:lnTo>
                  <a:cubicBezTo>
                    <a:pt x="1586508" y="1185230"/>
                    <a:pt x="1571439" y="1200113"/>
                    <a:pt x="1553022" y="1200113"/>
                  </a:cubicBezTo>
                  <a:close/>
                </a:path>
              </a:pathLst>
            </a:custGeom>
            <a:grp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微软雅黑" panose="020B0503020204020204" charset="-122"/>
                <a:ea typeface="微软雅黑" panose="020B0503020204020204" charset="-122"/>
                <a:cs typeface="微软雅黑" panose="020B0503020204020204" charset="-122"/>
              </a:endParaRPr>
            </a:p>
          </p:txBody>
        </p:sp>
        <p:sp>
          <p:nvSpPr>
            <p:cNvPr id="78" name="任意多边形: 形状 44"/>
            <p:cNvSpPr/>
            <p:nvPr/>
          </p:nvSpPr>
          <p:spPr>
            <a:xfrm>
              <a:off x="-282152" y="8138963"/>
              <a:ext cx="783022" cy="274959"/>
            </a:xfrm>
            <a:custGeom>
              <a:avLst/>
              <a:gdLst>
                <a:gd name="connsiteX0" fmla="*/ 749536 w 783022"/>
                <a:gd name="connsiteY0" fmla="*/ 274960 h 274959"/>
                <a:gd name="connsiteX1" fmla="*/ 33486 w 783022"/>
                <a:gd name="connsiteY1" fmla="*/ 274960 h 274959"/>
                <a:gd name="connsiteX2" fmla="*/ 0 w 783022"/>
                <a:gd name="connsiteY2" fmla="*/ 241474 h 274959"/>
                <a:gd name="connsiteX3" fmla="*/ 0 w 783022"/>
                <a:gd name="connsiteY3" fmla="*/ 33486 h 274959"/>
                <a:gd name="connsiteX4" fmla="*/ 33486 w 783022"/>
                <a:gd name="connsiteY4" fmla="*/ 0 h 274959"/>
                <a:gd name="connsiteX5" fmla="*/ 749536 w 783022"/>
                <a:gd name="connsiteY5" fmla="*/ 0 h 274959"/>
                <a:gd name="connsiteX6" fmla="*/ 783022 w 783022"/>
                <a:gd name="connsiteY6" fmla="*/ 33486 h 274959"/>
                <a:gd name="connsiteX7" fmla="*/ 783022 w 783022"/>
                <a:gd name="connsiteY7" fmla="*/ 241474 h 274959"/>
                <a:gd name="connsiteX8" fmla="*/ 749536 w 783022"/>
                <a:gd name="connsiteY8" fmla="*/ 274960 h 274959"/>
                <a:gd name="connsiteX9" fmla="*/ 66973 w 783022"/>
                <a:gd name="connsiteY9" fmla="*/ 207987 h 274959"/>
                <a:gd name="connsiteX10" fmla="*/ 716049 w 783022"/>
                <a:gd name="connsiteY10" fmla="*/ 207987 h 274959"/>
                <a:gd name="connsiteX11" fmla="*/ 716049 w 783022"/>
                <a:gd name="connsiteY11" fmla="*/ 66973 h 274959"/>
                <a:gd name="connsiteX12" fmla="*/ 66973 w 783022"/>
                <a:gd name="connsiteY12" fmla="*/ 66973 h 274959"/>
                <a:gd name="connsiteX13" fmla="*/ 66973 w 783022"/>
                <a:gd name="connsiteY13" fmla="*/ 207987 h 27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022" h="274959">
                  <a:moveTo>
                    <a:pt x="749536" y="274960"/>
                  </a:moveTo>
                  <a:lnTo>
                    <a:pt x="33486" y="274960"/>
                  </a:lnTo>
                  <a:cubicBezTo>
                    <a:pt x="15069" y="274960"/>
                    <a:pt x="0" y="259891"/>
                    <a:pt x="0" y="241474"/>
                  </a:cubicBezTo>
                  <a:lnTo>
                    <a:pt x="0" y="33486"/>
                  </a:lnTo>
                  <a:cubicBezTo>
                    <a:pt x="0" y="15069"/>
                    <a:pt x="15069" y="0"/>
                    <a:pt x="33486" y="0"/>
                  </a:cubicBezTo>
                  <a:lnTo>
                    <a:pt x="749536" y="0"/>
                  </a:lnTo>
                  <a:cubicBezTo>
                    <a:pt x="767953" y="0"/>
                    <a:pt x="783022" y="15069"/>
                    <a:pt x="783022" y="33486"/>
                  </a:cubicBezTo>
                  <a:lnTo>
                    <a:pt x="783022" y="241474"/>
                  </a:lnTo>
                  <a:cubicBezTo>
                    <a:pt x="783022" y="260077"/>
                    <a:pt x="768139" y="274960"/>
                    <a:pt x="749536" y="274960"/>
                  </a:cubicBezTo>
                  <a:close/>
                  <a:moveTo>
                    <a:pt x="66973" y="207987"/>
                  </a:moveTo>
                  <a:lnTo>
                    <a:pt x="716049" y="207987"/>
                  </a:lnTo>
                  <a:lnTo>
                    <a:pt x="716049" y="66973"/>
                  </a:lnTo>
                  <a:lnTo>
                    <a:pt x="66973" y="66973"/>
                  </a:lnTo>
                  <a:lnTo>
                    <a:pt x="66973" y="207987"/>
                  </a:lnTo>
                  <a:close/>
                </a:path>
              </a:pathLst>
            </a:custGeom>
            <a:grp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微软雅黑" panose="020B0503020204020204" charset="-122"/>
                <a:ea typeface="微软雅黑" panose="020B0503020204020204" charset="-122"/>
                <a:cs typeface="微软雅黑" panose="020B0503020204020204" charset="-122"/>
              </a:endParaRPr>
            </a:p>
          </p:txBody>
        </p:sp>
      </p:grpSp>
      <p:sp>
        <p:nvSpPr>
          <p:cNvPr id="6" name="椭圆 5"/>
          <p:cNvSpPr/>
          <p:nvPr/>
        </p:nvSpPr>
        <p:spPr>
          <a:xfrm>
            <a:off x="10121857" y="5747205"/>
            <a:ext cx="70957" cy="70955"/>
          </a:xfrm>
          <a:prstGeom prst="ellipse">
            <a:avLst/>
          </a:prstGeom>
          <a:solidFill>
            <a:schemeClr val="bg1"/>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9" name="椭圆 8"/>
          <p:cNvSpPr/>
          <p:nvPr/>
        </p:nvSpPr>
        <p:spPr>
          <a:xfrm>
            <a:off x="10537342" y="5482624"/>
            <a:ext cx="70957" cy="70955"/>
          </a:xfrm>
          <a:prstGeom prst="ellipse">
            <a:avLst/>
          </a:prstGeom>
          <a:solidFill>
            <a:schemeClr val="bg1"/>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1" name="椭圆 10"/>
          <p:cNvSpPr/>
          <p:nvPr/>
        </p:nvSpPr>
        <p:spPr>
          <a:xfrm>
            <a:off x="10983193" y="5203890"/>
            <a:ext cx="70957" cy="70955"/>
          </a:xfrm>
          <a:prstGeom prst="ellipse">
            <a:avLst/>
          </a:prstGeom>
          <a:solidFill>
            <a:schemeClr val="bg1"/>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2" name="椭圆 11"/>
          <p:cNvSpPr/>
          <p:nvPr/>
        </p:nvSpPr>
        <p:spPr>
          <a:xfrm>
            <a:off x="11421505" y="4924171"/>
            <a:ext cx="70957" cy="70955"/>
          </a:xfrm>
          <a:prstGeom prst="ellipse">
            <a:avLst/>
          </a:prstGeom>
          <a:solidFill>
            <a:schemeClr val="bg1"/>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a:solidFill>
                <a:schemeClr val="accent2"/>
              </a:solidFill>
              <a:latin typeface="微软雅黑" panose="020B0503020204020204" charset="-122"/>
              <a:ea typeface="微软雅黑" panose="020B0503020204020204" charset="-122"/>
              <a:cs typeface="微软雅黑" panose="020B0503020204020204" charset="-122"/>
            </a:endParaRPr>
          </a:p>
        </p:txBody>
      </p: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20" name="图片 19"/>
            <p:cNvPicPr>
              <a:picLocks noChangeAspect="1"/>
            </p:cNvPicPr>
            <p:nvPr userDrawn="1"/>
          </p:nvPicPr>
          <p:blipFill>
            <a:blip r:embed="rId6"/>
            <a:srcRect l="17002" t="-1765" r="56499" b="-1176"/>
            <a:stretch>
              <a:fillRect/>
            </a:stretch>
          </p:blipFill>
          <p:spPr>
            <a:xfrm>
              <a:off x="13761" y="549"/>
              <a:ext cx="1582" cy="525"/>
            </a:xfrm>
            <a:prstGeom prst="rect">
              <a:avLst/>
            </a:prstGeom>
          </p:spPr>
        </p:pic>
        <p:sp>
          <p:nvSpPr>
            <p:cNvPr id="21" name="文本框 2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85775" y="1229995"/>
            <a:ext cx="11165205" cy="5148580"/>
          </a:xfrm>
          <a:prstGeom prst="rect">
            <a:avLst/>
          </a:prstGeom>
          <a:solidFill>
            <a:schemeClr val="bg2">
              <a:alpha val="11000"/>
            </a:schemeClr>
          </a:solidFill>
          <a:ln w="12700" cap="flat">
            <a:solidFill>
              <a:schemeClr val="accent1">
                <a:alpha val="40000"/>
              </a:scheme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系统数据架构流转图</a:t>
            </a:r>
            <a:endParaRPr lang="en-US" altLang="zh-CN"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矩形 2"/>
          <p:cNvSpPr/>
          <p:nvPr/>
        </p:nvSpPr>
        <p:spPr>
          <a:xfrm>
            <a:off x="3755390" y="2172335"/>
            <a:ext cx="3382645" cy="2665730"/>
          </a:xfrm>
          <a:prstGeom prst="rect">
            <a:avLst/>
          </a:prstGeom>
          <a:solidFill>
            <a:schemeClr val="accent5">
              <a:lumMod val="20000"/>
              <a:lumOff val="80000"/>
              <a:alpha val="30000"/>
            </a:schemeClr>
          </a:solidFill>
          <a:ln w="6350" cap="flat">
            <a:solidFill>
              <a:schemeClr val="accent5">
                <a:lumMod val="60000"/>
                <a:lumOff val="40000"/>
              </a:schemeClr>
            </a:solidFill>
            <a:prstDash val="lg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hangingPunct="0"/>
            <a:endParaRPr 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矩形 3"/>
          <p:cNvSpPr/>
          <p:nvPr/>
        </p:nvSpPr>
        <p:spPr>
          <a:xfrm>
            <a:off x="678815" y="2172335"/>
            <a:ext cx="2463165" cy="2665730"/>
          </a:xfrm>
          <a:prstGeom prst="rect">
            <a:avLst/>
          </a:prstGeom>
          <a:solidFill>
            <a:schemeClr val="accent1">
              <a:lumMod val="20000"/>
              <a:lumOff val="80000"/>
              <a:alpha val="30000"/>
            </a:schemeClr>
          </a:solidFill>
          <a:ln w="6350" cap="flat">
            <a:solidFill>
              <a:schemeClr val="accent1">
                <a:lumMod val="60000"/>
                <a:lumOff val="40000"/>
              </a:schemeClr>
            </a:solidFill>
            <a:prstDash val="lg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hangingPunct="0"/>
            <a:endParaRPr 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1" name="矩形 80"/>
          <p:cNvSpPr/>
          <p:nvPr/>
        </p:nvSpPr>
        <p:spPr>
          <a:xfrm>
            <a:off x="7647305" y="2172335"/>
            <a:ext cx="3860165" cy="2665730"/>
          </a:xfrm>
          <a:prstGeom prst="rect">
            <a:avLst/>
          </a:prstGeom>
          <a:solidFill>
            <a:schemeClr val="accent1">
              <a:lumMod val="20000"/>
              <a:lumOff val="80000"/>
              <a:alpha val="30000"/>
            </a:schemeClr>
          </a:solidFill>
          <a:ln w="6350" cap="flat">
            <a:solidFill>
              <a:schemeClr val="accent1">
                <a:lumMod val="60000"/>
                <a:lumOff val="40000"/>
              </a:schemeClr>
            </a:solidFill>
            <a:prstDash val="lg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ctr" anchorCtr="0" forceAA="0" compatLnSpc="1">
            <a:noAutofit/>
          </a:bodyPr>
          <a:lstStyle/>
          <a:p>
            <a:pPr lvl="0" algn="ctr" hangingPunct="0">
              <a:buClrTx/>
              <a:buSzTx/>
              <a:buFontTx/>
            </a:pPr>
            <a:endParaRPr 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矩形 7"/>
          <p:cNvSpPr/>
          <p:nvPr/>
        </p:nvSpPr>
        <p:spPr>
          <a:xfrm>
            <a:off x="485140" y="1229995"/>
            <a:ext cx="11165840" cy="748030"/>
          </a:xfrm>
          <a:prstGeom prst="rect">
            <a:avLst/>
          </a:prstGeom>
          <a:solidFill>
            <a:schemeClr val="accent1"/>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文本框 5"/>
          <p:cNvSpPr txBox="1"/>
          <p:nvPr/>
        </p:nvSpPr>
        <p:spPr>
          <a:xfrm>
            <a:off x="1456690" y="1471295"/>
            <a:ext cx="9224645" cy="245745"/>
          </a:xfrm>
          <a:prstGeom prst="rect">
            <a:avLst/>
          </a:prstGeom>
        </p:spPr>
        <p:txBody>
          <a:bodyPr vert="horz" wrap="square" lIns="0" tIns="0" rIns="0" bIns="0" rtlCol="0" anchor="t" anchorCtr="0">
            <a:spAutoFit/>
          </a:bodyPr>
          <a:lstStyle>
            <a:defPPr>
              <a:defRPr lang="zh-CN"/>
            </a:defPPr>
            <a:lvl1pPr marR="0" lvl="0" indent="0" fontAlgn="auto">
              <a:lnSpc>
                <a:spcPct val="100000"/>
              </a:lnSpc>
              <a:spcBef>
                <a:spcPct val="0"/>
              </a:spcBef>
              <a:spcAft>
                <a:spcPts val="0"/>
              </a:spcAft>
              <a:buClrTx/>
              <a:buSzTx/>
              <a:buFontTx/>
              <a:buNone/>
              <a:defRPr kumimoji="0" sz="1600" b="0" i="0" u="none" strike="noStrike" cap="none" spc="0" normalizeH="0" baseline="0">
                <a:ln>
                  <a:noFill/>
                </a:ln>
                <a:solidFill>
                  <a:schemeClr val="bg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b="1" dirty="0">
                <a:latin typeface="微软雅黑" panose="020B0503020204020204" charset="-122"/>
                <a:ea typeface="微软雅黑" panose="020B0503020204020204" charset="-122"/>
                <a:cs typeface="微软雅黑" panose="020B0503020204020204" charset="-122"/>
              </a:rPr>
              <a:t>数据采集挖掘架构图</a:t>
            </a:r>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11" name="矩形 10"/>
          <p:cNvSpPr/>
          <p:nvPr/>
        </p:nvSpPr>
        <p:spPr>
          <a:xfrm>
            <a:off x="485140" y="5330825"/>
            <a:ext cx="11165840" cy="1047750"/>
          </a:xfrm>
          <a:prstGeom prst="rect">
            <a:avLst/>
          </a:prstGeom>
          <a:solidFill>
            <a:schemeClr val="accent1"/>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文本框 11"/>
          <p:cNvSpPr txBox="1"/>
          <p:nvPr/>
        </p:nvSpPr>
        <p:spPr>
          <a:xfrm>
            <a:off x="1181100" y="5928995"/>
            <a:ext cx="983615" cy="184150"/>
          </a:xfrm>
          <a:prstGeom prst="rect">
            <a:avLst/>
          </a:prstGeom>
        </p:spPr>
        <p:txBody>
          <a:bodyPr vert="horz" wrap="square" lIns="0" tIns="0" rIns="0" bIns="0" rtlCol="0" anchor="t" anchorCtr="0">
            <a:spAutoFit/>
          </a:bodyPr>
          <a:lstStyle>
            <a:defPPr>
              <a:defRPr lang="zh-CN"/>
            </a:defPPr>
            <a:lvl1pPr marR="0" lvl="0" indent="0" fontAlgn="auto">
              <a:lnSpc>
                <a:spcPct val="100000"/>
              </a:lnSpc>
              <a:spcBef>
                <a:spcPct val="0"/>
              </a:spcBef>
              <a:spcAft>
                <a:spcPts val="0"/>
              </a:spcAft>
              <a:buClrTx/>
              <a:buSzTx/>
              <a:buFontTx/>
              <a:buNone/>
              <a:defRPr kumimoji="0" sz="1600" b="0" i="0" u="none" strike="noStrike" cap="none" spc="0" normalizeH="0" baseline="0">
                <a:ln>
                  <a:noFill/>
                </a:ln>
                <a:solidFill>
                  <a:schemeClr val="bg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sz="1200" dirty="0">
                <a:latin typeface="微软雅黑" panose="020B0503020204020204" charset="-122"/>
                <a:ea typeface="微软雅黑" panose="020B0503020204020204" charset="-122"/>
                <a:cs typeface="微软雅黑" panose="020B0503020204020204" charset="-122"/>
              </a:rPr>
              <a:t>数据统计</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3" name="矩形 12"/>
          <p:cNvSpPr/>
          <p:nvPr/>
        </p:nvSpPr>
        <p:spPr>
          <a:xfrm>
            <a:off x="5030470" y="5330825"/>
            <a:ext cx="2076450" cy="1047750"/>
          </a:xfrm>
          <a:prstGeom prst="rect">
            <a:avLst/>
          </a:prstGeom>
          <a:solidFill>
            <a:schemeClr val="accent5"/>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文本框 13"/>
          <p:cNvSpPr txBox="1"/>
          <p:nvPr/>
        </p:nvSpPr>
        <p:spPr>
          <a:xfrm>
            <a:off x="5389880" y="5955030"/>
            <a:ext cx="1355725" cy="245745"/>
          </a:xfrm>
          <a:prstGeom prst="rect">
            <a:avLst/>
          </a:prstGeom>
        </p:spPr>
        <p:txBody>
          <a:bodyPr vert="horz" wrap="square" lIns="0" tIns="0" rIns="0" bIns="0" rtlCol="0" anchor="t" anchorCtr="0">
            <a:spAutoFit/>
          </a:bodyPr>
          <a:lstStyle>
            <a:defPPr>
              <a:defRPr lang="zh-CN"/>
            </a:defPPr>
            <a:lvl1pPr marR="0" lvl="0" indent="0" fontAlgn="auto">
              <a:lnSpc>
                <a:spcPct val="100000"/>
              </a:lnSpc>
              <a:spcBef>
                <a:spcPct val="0"/>
              </a:spcBef>
              <a:spcAft>
                <a:spcPts val="0"/>
              </a:spcAft>
              <a:buClrTx/>
              <a:buSzTx/>
              <a:buFontTx/>
              <a:buNone/>
              <a:defRPr kumimoji="0" sz="1600" b="0" i="0" u="none" strike="noStrike" cap="none" spc="0" normalizeH="0" baseline="0">
                <a:ln>
                  <a:noFill/>
                </a:ln>
                <a:solidFill>
                  <a:schemeClr val="bg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dirty="0">
                <a:latin typeface="微软雅黑" panose="020B0503020204020204" charset="-122"/>
                <a:ea typeface="微软雅黑" panose="020B0503020204020204" charset="-122"/>
                <a:cs typeface="微软雅黑" panose="020B0503020204020204" charset="-122"/>
              </a:rPr>
              <a:t>数据应用</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2908935" y="5928995"/>
            <a:ext cx="983615" cy="184150"/>
          </a:xfrm>
          <a:prstGeom prst="rect">
            <a:avLst/>
          </a:prstGeom>
        </p:spPr>
        <p:txBody>
          <a:bodyPr vert="horz" wrap="square" lIns="0" tIns="0" rIns="0" bIns="0" rtlCol="0" anchor="t" anchorCtr="0">
            <a:spAutoFit/>
          </a:bodyPr>
          <a:lstStyle>
            <a:defPPr>
              <a:defRPr lang="zh-CN"/>
            </a:defPPr>
            <a:lvl1pPr marR="0" lvl="0" indent="0" fontAlgn="auto">
              <a:lnSpc>
                <a:spcPct val="100000"/>
              </a:lnSpc>
              <a:spcBef>
                <a:spcPct val="0"/>
              </a:spcBef>
              <a:spcAft>
                <a:spcPts val="0"/>
              </a:spcAft>
              <a:buClrTx/>
              <a:buSzTx/>
              <a:buFontTx/>
              <a:buNone/>
              <a:defRPr kumimoji="0" sz="1600" b="0" i="0" u="none" strike="noStrike" cap="none" spc="0" normalizeH="0" baseline="0">
                <a:ln>
                  <a:noFill/>
                </a:ln>
                <a:solidFill>
                  <a:schemeClr val="bg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sz="1200" dirty="0">
                <a:latin typeface="微软雅黑" panose="020B0503020204020204" charset="-122"/>
                <a:ea typeface="微软雅黑" panose="020B0503020204020204" charset="-122"/>
                <a:cs typeface="微软雅黑" panose="020B0503020204020204" charset="-122"/>
              </a:rPr>
              <a:t>内容推荐</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8001000" y="5928995"/>
            <a:ext cx="983615" cy="184150"/>
          </a:xfrm>
          <a:prstGeom prst="rect">
            <a:avLst/>
          </a:prstGeom>
        </p:spPr>
        <p:txBody>
          <a:bodyPr vert="horz" wrap="square" lIns="0" tIns="0" rIns="0" bIns="0" rtlCol="0" anchor="t" anchorCtr="0">
            <a:spAutoFit/>
          </a:bodyPr>
          <a:lstStyle>
            <a:defPPr>
              <a:defRPr lang="zh-CN"/>
            </a:defPPr>
            <a:lvl1pPr marR="0" lvl="0" indent="0" fontAlgn="auto">
              <a:lnSpc>
                <a:spcPct val="100000"/>
              </a:lnSpc>
              <a:spcBef>
                <a:spcPct val="0"/>
              </a:spcBef>
              <a:spcAft>
                <a:spcPts val="0"/>
              </a:spcAft>
              <a:buClrTx/>
              <a:buSzTx/>
              <a:buFontTx/>
              <a:buNone/>
              <a:defRPr kumimoji="0" sz="1600" b="0" i="0" u="none" strike="noStrike" cap="none" spc="0" normalizeH="0" baseline="0">
                <a:ln>
                  <a:noFill/>
                </a:ln>
                <a:solidFill>
                  <a:schemeClr val="bg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sz="1200" dirty="0">
                <a:latin typeface="微软雅黑" panose="020B0503020204020204" charset="-122"/>
                <a:ea typeface="微软雅黑" panose="020B0503020204020204" charset="-122"/>
                <a:cs typeface="微软雅黑" panose="020B0503020204020204" charset="-122"/>
              </a:rPr>
              <a:t>精准投放</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9728200" y="5928995"/>
            <a:ext cx="983615" cy="184150"/>
          </a:xfrm>
          <a:prstGeom prst="rect">
            <a:avLst/>
          </a:prstGeom>
        </p:spPr>
        <p:txBody>
          <a:bodyPr vert="horz" wrap="square" lIns="0" tIns="0" rIns="0" bIns="0" rtlCol="0" anchor="t" anchorCtr="0">
            <a:spAutoFit/>
          </a:bodyPr>
          <a:lstStyle>
            <a:defPPr>
              <a:defRPr lang="zh-CN"/>
            </a:defPPr>
            <a:lvl1pPr marR="0" lvl="0" indent="0" fontAlgn="auto">
              <a:lnSpc>
                <a:spcPct val="100000"/>
              </a:lnSpc>
              <a:spcBef>
                <a:spcPct val="0"/>
              </a:spcBef>
              <a:spcAft>
                <a:spcPts val="0"/>
              </a:spcAft>
              <a:buClrTx/>
              <a:buSzTx/>
              <a:buFontTx/>
              <a:buNone/>
              <a:defRPr kumimoji="0" sz="1600" b="0" i="0" u="none" strike="noStrike" cap="none" spc="0" normalizeH="0" baseline="0">
                <a:ln>
                  <a:noFill/>
                </a:ln>
                <a:solidFill>
                  <a:schemeClr val="bg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sz="1200" dirty="0">
                <a:latin typeface="微软雅黑" panose="020B0503020204020204" charset="-122"/>
                <a:ea typeface="微软雅黑" panose="020B0503020204020204" charset="-122"/>
                <a:cs typeface="微软雅黑" panose="020B0503020204020204" charset="-122"/>
              </a:rPr>
              <a:t>用户画像</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32" name="矩形 31"/>
          <p:cNvSpPr/>
          <p:nvPr/>
        </p:nvSpPr>
        <p:spPr>
          <a:xfrm>
            <a:off x="776605" y="2315845"/>
            <a:ext cx="2261870" cy="51498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9" name="矩形 58"/>
          <p:cNvSpPr/>
          <p:nvPr/>
        </p:nvSpPr>
        <p:spPr>
          <a:xfrm>
            <a:off x="776605" y="2936875"/>
            <a:ext cx="2261870" cy="51498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 name="矩形 59"/>
          <p:cNvSpPr/>
          <p:nvPr/>
        </p:nvSpPr>
        <p:spPr>
          <a:xfrm>
            <a:off x="776605" y="3558540"/>
            <a:ext cx="2261870" cy="51498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1" name="矩形 60"/>
          <p:cNvSpPr/>
          <p:nvPr/>
        </p:nvSpPr>
        <p:spPr>
          <a:xfrm>
            <a:off x="776605" y="4179570"/>
            <a:ext cx="2261870" cy="51498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62" name="组合 61"/>
          <p:cNvGrpSpPr/>
          <p:nvPr/>
        </p:nvGrpSpPr>
        <p:grpSpPr>
          <a:xfrm rot="0">
            <a:off x="4568825" y="2315845"/>
            <a:ext cx="2261870" cy="2378710"/>
            <a:chOff x="3994373" y="2457633"/>
            <a:chExt cx="1837653" cy="1205805"/>
          </a:xfrm>
        </p:grpSpPr>
        <p:sp>
          <p:nvSpPr>
            <p:cNvPr id="63" name="矩形 62"/>
            <p:cNvSpPr/>
            <p:nvPr/>
          </p:nvSpPr>
          <p:spPr>
            <a:xfrm>
              <a:off x="3994373" y="2457633"/>
              <a:ext cx="1837653" cy="477560"/>
            </a:xfrm>
            <a:prstGeom prst="rect">
              <a:avLst/>
            </a:prstGeom>
            <a:solidFill>
              <a:schemeClr val="accent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4" name="矩形 63"/>
            <p:cNvSpPr/>
            <p:nvPr/>
          </p:nvSpPr>
          <p:spPr>
            <a:xfrm>
              <a:off x="3994373" y="3185878"/>
              <a:ext cx="1837653" cy="477560"/>
            </a:xfrm>
            <a:prstGeom prst="rect">
              <a:avLst/>
            </a:prstGeom>
            <a:solidFill>
              <a:schemeClr val="accent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65" name="矩形 64"/>
          <p:cNvSpPr/>
          <p:nvPr/>
        </p:nvSpPr>
        <p:spPr>
          <a:xfrm>
            <a:off x="7384415" y="2315845"/>
            <a:ext cx="509270" cy="2378710"/>
          </a:xfrm>
          <a:prstGeom prst="rect">
            <a:avLst/>
          </a:prstGeom>
          <a:solidFill>
            <a:schemeClr val="bg1"/>
          </a:solidFill>
          <a:ln w="6350" cap="flat">
            <a:solidFill>
              <a:schemeClr val="accent1">
                <a:lumMod val="60000"/>
                <a:lumOff val="40000"/>
              </a:scheme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ctr" anchorCtr="0" forceAA="0" compatLnSpc="1">
            <a:noAutofit/>
          </a:bodyPr>
          <a:lstStyle/>
          <a:p>
            <a:pPr lvl="0" algn="ctr" hangingPunct="0">
              <a:buClrTx/>
              <a:buSzTx/>
              <a:buFontTx/>
            </a:pPr>
            <a:endParaRPr 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6" name="矩形 65"/>
          <p:cNvSpPr/>
          <p:nvPr/>
        </p:nvSpPr>
        <p:spPr>
          <a:xfrm>
            <a:off x="8446770" y="2315845"/>
            <a:ext cx="2261870" cy="51498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7" name="矩形 66"/>
          <p:cNvSpPr/>
          <p:nvPr/>
        </p:nvSpPr>
        <p:spPr>
          <a:xfrm>
            <a:off x="8446770" y="2936875"/>
            <a:ext cx="2261870" cy="51498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9" name="矩形 68"/>
          <p:cNvSpPr/>
          <p:nvPr/>
        </p:nvSpPr>
        <p:spPr>
          <a:xfrm>
            <a:off x="8446770" y="3558540"/>
            <a:ext cx="2261870" cy="51498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0" name="矩形 69"/>
          <p:cNvSpPr/>
          <p:nvPr/>
        </p:nvSpPr>
        <p:spPr>
          <a:xfrm>
            <a:off x="8446770" y="4179570"/>
            <a:ext cx="2261870" cy="51498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1" name="矩形 70"/>
          <p:cNvSpPr/>
          <p:nvPr/>
        </p:nvSpPr>
        <p:spPr>
          <a:xfrm>
            <a:off x="10850880" y="2315845"/>
            <a:ext cx="509270" cy="113601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2" name="矩形 71"/>
          <p:cNvSpPr/>
          <p:nvPr/>
        </p:nvSpPr>
        <p:spPr>
          <a:xfrm>
            <a:off x="10850880" y="3554095"/>
            <a:ext cx="509270" cy="1136015"/>
          </a:xfrm>
          <a:prstGeom prst="rect">
            <a:avLst/>
          </a:prstGeom>
          <a:solidFill>
            <a:schemeClr val="accent1">
              <a:lumMod val="60000"/>
              <a:lumOff val="40000"/>
            </a:schemeClr>
          </a:solidFill>
          <a:ln w="63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0" name="Title 2"/>
          <p:cNvSpPr txBox="1"/>
          <p:nvPr/>
        </p:nvSpPr>
        <p:spPr>
          <a:xfrm>
            <a:off x="1726565" y="2473960"/>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algn="l"/>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浏览数据</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1" name="椭圆 100"/>
          <p:cNvSpPr/>
          <p:nvPr/>
        </p:nvSpPr>
        <p:spPr>
          <a:xfrm>
            <a:off x="1337945" y="2406650"/>
            <a:ext cx="317500" cy="333375"/>
          </a:xfrm>
          <a:prstGeom prst="ellipse">
            <a:avLst/>
          </a:prstGeom>
          <a:solidFill>
            <a:schemeClr val="bg1"/>
          </a:solidFill>
          <a:ln w="31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2" name="Title 2"/>
          <p:cNvSpPr txBox="1"/>
          <p:nvPr/>
        </p:nvSpPr>
        <p:spPr>
          <a:xfrm>
            <a:off x="1726565" y="3096895"/>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algn="l"/>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点击数据</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3" name="椭圆 102"/>
          <p:cNvSpPr/>
          <p:nvPr/>
        </p:nvSpPr>
        <p:spPr>
          <a:xfrm>
            <a:off x="1337945" y="3029585"/>
            <a:ext cx="317500" cy="333375"/>
          </a:xfrm>
          <a:prstGeom prst="ellipse">
            <a:avLst/>
          </a:prstGeom>
          <a:solidFill>
            <a:schemeClr val="bg1"/>
          </a:solidFill>
          <a:ln w="31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4" name="Title 2"/>
          <p:cNvSpPr txBox="1"/>
          <p:nvPr/>
        </p:nvSpPr>
        <p:spPr>
          <a:xfrm>
            <a:off x="1726565" y="3730625"/>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algn="l"/>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视频数据</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5" name="椭圆 104"/>
          <p:cNvSpPr/>
          <p:nvPr/>
        </p:nvSpPr>
        <p:spPr>
          <a:xfrm>
            <a:off x="1337945" y="3663315"/>
            <a:ext cx="317500" cy="333375"/>
          </a:xfrm>
          <a:prstGeom prst="ellipse">
            <a:avLst/>
          </a:prstGeom>
          <a:solidFill>
            <a:schemeClr val="bg1"/>
          </a:solidFill>
          <a:ln w="31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6" name="Title 2"/>
          <p:cNvSpPr txBox="1"/>
          <p:nvPr/>
        </p:nvSpPr>
        <p:spPr>
          <a:xfrm>
            <a:off x="1726565" y="4337685"/>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algn="l"/>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APP</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数据</a:t>
            </a:r>
            <a:endParaRPr 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7" name="椭圆 106"/>
          <p:cNvSpPr/>
          <p:nvPr/>
        </p:nvSpPr>
        <p:spPr>
          <a:xfrm>
            <a:off x="1337945" y="4270375"/>
            <a:ext cx="317500" cy="333375"/>
          </a:xfrm>
          <a:prstGeom prst="ellipse">
            <a:avLst/>
          </a:prstGeom>
          <a:solidFill>
            <a:schemeClr val="bg1"/>
          </a:solidFill>
          <a:ln w="31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8" name="Title 2"/>
          <p:cNvSpPr txBox="1"/>
          <p:nvPr/>
        </p:nvSpPr>
        <p:spPr>
          <a:xfrm>
            <a:off x="7579360" y="3040380"/>
            <a:ext cx="119380" cy="861695"/>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lvl="0" algn="ctr"/>
            <a:r>
              <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数据处理</a:t>
            </a:r>
            <a:endPar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3" name="Title 2"/>
          <p:cNvSpPr txBox="1"/>
          <p:nvPr/>
        </p:nvSpPr>
        <p:spPr>
          <a:xfrm>
            <a:off x="9372600" y="2473960"/>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algn="l"/>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配置系统</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4" name="椭圆 113"/>
          <p:cNvSpPr/>
          <p:nvPr/>
        </p:nvSpPr>
        <p:spPr>
          <a:xfrm>
            <a:off x="8984615" y="2406650"/>
            <a:ext cx="317500" cy="333375"/>
          </a:xfrm>
          <a:prstGeom prst="ellipse">
            <a:avLst/>
          </a:prstGeom>
          <a:solidFill>
            <a:schemeClr val="bg2"/>
          </a:solidFill>
          <a:ln w="3175" cap="flat">
            <a:solidFill>
              <a:schemeClr val="tx1">
                <a:alpha val="50000"/>
              </a:scheme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5" name="Title 2"/>
          <p:cNvSpPr txBox="1"/>
          <p:nvPr/>
        </p:nvSpPr>
        <p:spPr>
          <a:xfrm>
            <a:off x="9372600" y="3096895"/>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algn="l"/>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离线计算</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0" name="椭圆 119"/>
          <p:cNvSpPr/>
          <p:nvPr/>
        </p:nvSpPr>
        <p:spPr>
          <a:xfrm>
            <a:off x="8984615" y="3029585"/>
            <a:ext cx="317500" cy="333375"/>
          </a:xfrm>
          <a:prstGeom prst="ellipse">
            <a:avLst/>
          </a:prstGeom>
          <a:solidFill>
            <a:schemeClr val="bg2"/>
          </a:solidFill>
          <a:ln w="3175" cap="flat">
            <a:solidFill>
              <a:schemeClr val="tx1">
                <a:alpha val="50000"/>
              </a:scheme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1" name="Title 2"/>
          <p:cNvSpPr txBox="1"/>
          <p:nvPr/>
        </p:nvSpPr>
        <p:spPr>
          <a:xfrm>
            <a:off x="9372600" y="3730625"/>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algn="l"/>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爬虫系统</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2" name="椭圆 121"/>
          <p:cNvSpPr/>
          <p:nvPr/>
        </p:nvSpPr>
        <p:spPr>
          <a:xfrm>
            <a:off x="8984615" y="3663315"/>
            <a:ext cx="317500" cy="333375"/>
          </a:xfrm>
          <a:prstGeom prst="ellipse">
            <a:avLst/>
          </a:prstGeom>
          <a:solidFill>
            <a:schemeClr val="bg2"/>
          </a:solidFill>
          <a:ln w="3175" cap="flat">
            <a:solidFill>
              <a:schemeClr val="tx1">
                <a:alpha val="50000"/>
              </a:scheme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3" name="Title 2"/>
          <p:cNvSpPr txBox="1"/>
          <p:nvPr/>
        </p:nvSpPr>
        <p:spPr>
          <a:xfrm>
            <a:off x="9372600" y="4337685"/>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algn="l"/>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机器学习</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4" name="椭圆 123"/>
          <p:cNvSpPr/>
          <p:nvPr/>
        </p:nvSpPr>
        <p:spPr>
          <a:xfrm>
            <a:off x="8984615" y="4270375"/>
            <a:ext cx="317500" cy="333375"/>
          </a:xfrm>
          <a:prstGeom prst="ellipse">
            <a:avLst/>
          </a:prstGeom>
          <a:solidFill>
            <a:schemeClr val="bg2"/>
          </a:solidFill>
          <a:ln w="3175" cap="flat">
            <a:solidFill>
              <a:schemeClr val="tx1">
                <a:alpha val="50000"/>
              </a:scheme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9" name="Title 2"/>
          <p:cNvSpPr txBox="1"/>
          <p:nvPr/>
        </p:nvSpPr>
        <p:spPr>
          <a:xfrm>
            <a:off x="11016615" y="2498090"/>
            <a:ext cx="184150" cy="770890"/>
          </a:xfrm>
          <a:prstGeom prst="rect">
            <a:avLst/>
          </a:prstGeom>
        </p:spPr>
        <p:txBody>
          <a:bodyPr vert="eaVert"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HADOOP</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0" name="Title 2"/>
          <p:cNvSpPr txBox="1"/>
          <p:nvPr/>
        </p:nvSpPr>
        <p:spPr>
          <a:xfrm>
            <a:off x="11016615" y="3736975"/>
            <a:ext cx="184150" cy="770890"/>
          </a:xfrm>
          <a:prstGeom prst="rect">
            <a:avLst/>
          </a:prstGeom>
        </p:spPr>
        <p:txBody>
          <a:bodyPr vert="eaVert"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API</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1" name="Title 2"/>
          <p:cNvSpPr txBox="1"/>
          <p:nvPr/>
        </p:nvSpPr>
        <p:spPr>
          <a:xfrm>
            <a:off x="4958715" y="2913380"/>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r>
              <a:rPr lang="en-US" sz="1200" dirty="0">
                <a:solidFill>
                  <a:schemeClr val="bg1"/>
                </a:solidFill>
                <a:latin typeface="微软雅黑" panose="020B0503020204020204" charset="-122"/>
                <a:ea typeface="微软雅黑" panose="020B0503020204020204" charset="-122"/>
                <a:cs typeface="微软雅黑" panose="020B0503020204020204" charset="-122"/>
              </a:rPr>
              <a:t>AGENT</a:t>
            </a:r>
            <a:endParaRPr 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2" name="Title 2"/>
          <p:cNvSpPr txBox="1"/>
          <p:nvPr/>
        </p:nvSpPr>
        <p:spPr>
          <a:xfrm>
            <a:off x="5786120" y="2913380"/>
            <a:ext cx="680720"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r>
              <a:rPr lang="en-US" sz="1200" dirty="0">
                <a:solidFill>
                  <a:schemeClr val="bg1"/>
                </a:solidFill>
                <a:latin typeface="微软雅黑" panose="020B0503020204020204" charset="-122"/>
                <a:ea typeface="微软雅黑" panose="020B0503020204020204" charset="-122"/>
                <a:cs typeface="微软雅黑" panose="020B0503020204020204" charset="-122"/>
              </a:rPr>
              <a:t>AGENT</a:t>
            </a:r>
            <a:endParaRPr 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3" name="Title 2"/>
          <p:cNvSpPr txBox="1"/>
          <p:nvPr/>
        </p:nvSpPr>
        <p:spPr>
          <a:xfrm>
            <a:off x="5067300" y="4337685"/>
            <a:ext cx="1264285" cy="18415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r>
              <a:rPr lang="en-US" sz="1200" dirty="0">
                <a:solidFill>
                  <a:schemeClr val="bg1"/>
                </a:solidFill>
                <a:latin typeface="微软雅黑" panose="020B0503020204020204" charset="-122"/>
                <a:ea typeface="微软雅黑" panose="020B0503020204020204" charset="-122"/>
                <a:cs typeface="微软雅黑" panose="020B0503020204020204" charset="-122"/>
              </a:rPr>
              <a:t>COLLECTOR</a:t>
            </a:r>
            <a:endParaRPr 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142" name="连接符: 肘形 60"/>
          <p:cNvCxnSpPr>
            <a:stCxn id="32" idx="3"/>
            <a:endCxn id="61" idx="3"/>
          </p:cNvCxnSpPr>
          <p:nvPr/>
        </p:nvCxnSpPr>
        <p:spPr>
          <a:xfrm>
            <a:off x="3038475" y="2573020"/>
            <a:ext cx="13335" cy="1863725"/>
          </a:xfrm>
          <a:prstGeom prst="bentConnector3">
            <a:avLst>
              <a:gd name="adj1" fmla="val 1800000"/>
            </a:avLst>
          </a:prstGeom>
          <a:noFill/>
          <a:ln w="6350" cap="flat">
            <a:solidFill>
              <a:schemeClr val="accent1">
                <a:lumMod val="60000"/>
                <a:lumOff val="40000"/>
              </a:schemeClr>
            </a:solidFill>
            <a:prstDash val="solid"/>
            <a:miter lim="800000"/>
          </a:ln>
          <a:effectLst/>
          <a:sp3d/>
        </p:spPr>
        <p:style>
          <a:lnRef idx="0">
            <a:scrgbClr r="0" g="0" b="0"/>
          </a:lnRef>
          <a:fillRef idx="0">
            <a:scrgbClr r="0" g="0" b="0"/>
          </a:fillRef>
          <a:effectRef idx="0">
            <a:scrgbClr r="0" g="0" b="0"/>
          </a:effectRef>
          <a:fontRef idx="none"/>
        </p:style>
      </p:cxnSp>
      <p:cxnSp>
        <p:nvCxnSpPr>
          <p:cNvPr id="143" name="直接连接符 142"/>
          <p:cNvCxnSpPr>
            <a:stCxn id="59" idx="3"/>
          </p:cNvCxnSpPr>
          <p:nvPr/>
        </p:nvCxnSpPr>
        <p:spPr>
          <a:xfrm flipV="1">
            <a:off x="3038475" y="3194050"/>
            <a:ext cx="237490" cy="635"/>
          </a:xfrm>
          <a:prstGeom prst="line">
            <a:avLst/>
          </a:prstGeom>
          <a:noFill/>
          <a:ln w="6350" cap="flat">
            <a:solidFill>
              <a:schemeClr val="accent1">
                <a:lumMod val="60000"/>
                <a:lumOff val="40000"/>
              </a:schemeClr>
            </a:solidFill>
            <a:prstDash val="solid"/>
            <a:miter lim="800000"/>
          </a:ln>
          <a:effectLst/>
          <a:sp3d/>
        </p:spPr>
        <p:style>
          <a:lnRef idx="0">
            <a:scrgbClr r="0" g="0" b="0"/>
          </a:lnRef>
          <a:fillRef idx="0">
            <a:scrgbClr r="0" g="0" b="0"/>
          </a:fillRef>
          <a:effectRef idx="0">
            <a:scrgbClr r="0" g="0" b="0"/>
          </a:effectRef>
          <a:fontRef idx="none"/>
        </p:style>
      </p:cxnSp>
      <p:cxnSp>
        <p:nvCxnSpPr>
          <p:cNvPr id="144" name="直接连接符 143"/>
          <p:cNvCxnSpPr/>
          <p:nvPr/>
        </p:nvCxnSpPr>
        <p:spPr>
          <a:xfrm flipV="1">
            <a:off x="3038475" y="3815080"/>
            <a:ext cx="237490" cy="635"/>
          </a:xfrm>
          <a:prstGeom prst="line">
            <a:avLst/>
          </a:prstGeom>
          <a:noFill/>
          <a:ln w="6350" cap="flat">
            <a:solidFill>
              <a:schemeClr val="accent1">
                <a:lumMod val="60000"/>
                <a:lumOff val="40000"/>
              </a:schemeClr>
            </a:solidFill>
            <a:prstDash val="solid"/>
            <a:miter lim="800000"/>
          </a:ln>
          <a:effectLst/>
          <a:sp3d/>
        </p:spPr>
        <p:style>
          <a:lnRef idx="0">
            <a:scrgbClr r="0" g="0" b="0"/>
          </a:lnRef>
          <a:fillRef idx="0">
            <a:scrgbClr r="0" g="0" b="0"/>
          </a:fillRef>
          <a:effectRef idx="0">
            <a:scrgbClr r="0" g="0" b="0"/>
          </a:effectRef>
          <a:fontRef idx="none"/>
        </p:style>
      </p:cxnSp>
      <p:cxnSp>
        <p:nvCxnSpPr>
          <p:cNvPr id="145" name="直接连接符 144"/>
          <p:cNvCxnSpPr/>
          <p:nvPr/>
        </p:nvCxnSpPr>
        <p:spPr>
          <a:xfrm flipV="1">
            <a:off x="3268980" y="3504565"/>
            <a:ext cx="237490" cy="635"/>
          </a:xfrm>
          <a:prstGeom prst="line">
            <a:avLst/>
          </a:prstGeom>
          <a:noFill/>
          <a:ln w="6350" cap="flat">
            <a:solidFill>
              <a:schemeClr val="accent1">
                <a:lumMod val="60000"/>
                <a:lumOff val="40000"/>
              </a:schemeClr>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46" name="连接符: 肘形 72"/>
          <p:cNvCxnSpPr>
            <a:stCxn id="63" idx="1"/>
            <a:endCxn id="64" idx="1"/>
          </p:cNvCxnSpPr>
          <p:nvPr/>
        </p:nvCxnSpPr>
        <p:spPr>
          <a:xfrm rot="10800000" flipV="1">
            <a:off x="4568825" y="2787015"/>
            <a:ext cx="13335" cy="1436370"/>
          </a:xfrm>
          <a:prstGeom prst="bentConnector3">
            <a:avLst>
              <a:gd name="adj1" fmla="val 1800000"/>
            </a:avLst>
          </a:prstGeom>
          <a:noFill/>
          <a:ln w="6350" cap="flat">
            <a:solidFill>
              <a:schemeClr val="accent5"/>
            </a:solidFill>
            <a:prstDash val="solid"/>
            <a:miter lim="800000"/>
            <a:headEnd type="triangle"/>
            <a:tailEnd type="triangle"/>
          </a:ln>
          <a:effectLst/>
          <a:sp3d/>
        </p:spPr>
        <p:style>
          <a:lnRef idx="0">
            <a:scrgbClr r="0" g="0" b="0"/>
          </a:lnRef>
          <a:fillRef idx="0">
            <a:scrgbClr r="0" g="0" b="0"/>
          </a:fillRef>
          <a:effectRef idx="0">
            <a:scrgbClr r="0" g="0" b="0"/>
          </a:effectRef>
          <a:fontRef idx="none"/>
        </p:style>
      </p:cxnSp>
      <p:cxnSp>
        <p:nvCxnSpPr>
          <p:cNvPr id="147" name="直接连接符 146"/>
          <p:cNvCxnSpPr/>
          <p:nvPr/>
        </p:nvCxnSpPr>
        <p:spPr>
          <a:xfrm>
            <a:off x="4018280" y="3505200"/>
            <a:ext cx="328295" cy="0"/>
          </a:xfrm>
          <a:prstGeom prst="line">
            <a:avLst/>
          </a:prstGeom>
          <a:noFill/>
          <a:ln w="6350" cap="flat">
            <a:solidFill>
              <a:schemeClr val="accent5"/>
            </a:solidFill>
            <a:prstDash val="solid"/>
            <a:miter lim="800000"/>
            <a:tailEnd type="none"/>
          </a:ln>
          <a:effectLst/>
          <a:sp3d/>
        </p:spPr>
        <p:style>
          <a:lnRef idx="0">
            <a:scrgbClr r="0" g="0" b="0"/>
          </a:lnRef>
          <a:fillRef idx="0">
            <a:scrgbClr r="0" g="0" b="0"/>
          </a:fillRef>
          <a:effectRef idx="0">
            <a:scrgbClr r="0" g="0" b="0"/>
          </a:effectRef>
          <a:fontRef idx="none"/>
        </p:style>
      </p:cxnSp>
      <p:cxnSp>
        <p:nvCxnSpPr>
          <p:cNvPr id="148" name="直接连接符 147"/>
          <p:cNvCxnSpPr>
            <a:stCxn id="63" idx="2"/>
            <a:endCxn id="64" idx="0"/>
          </p:cNvCxnSpPr>
          <p:nvPr/>
        </p:nvCxnSpPr>
        <p:spPr>
          <a:xfrm>
            <a:off x="5699760" y="3257550"/>
            <a:ext cx="0" cy="494665"/>
          </a:xfrm>
          <a:prstGeom prst="line">
            <a:avLst/>
          </a:prstGeom>
          <a:noFill/>
          <a:ln w="6350" cap="flat">
            <a:solidFill>
              <a:schemeClr val="accent5"/>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49" name="Title 2"/>
          <p:cNvSpPr txBox="1"/>
          <p:nvPr/>
        </p:nvSpPr>
        <p:spPr>
          <a:xfrm>
            <a:off x="5788025" y="3430905"/>
            <a:ext cx="680720" cy="138430"/>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algn="l"/>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数据传输</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150" name="直接连接符 149"/>
          <p:cNvCxnSpPr/>
          <p:nvPr/>
        </p:nvCxnSpPr>
        <p:spPr>
          <a:xfrm>
            <a:off x="6348730" y="3505200"/>
            <a:ext cx="1014730" cy="0"/>
          </a:xfrm>
          <a:prstGeom prst="line">
            <a:avLst/>
          </a:prstGeom>
          <a:noFill/>
          <a:ln w="6350" cap="flat">
            <a:solidFill>
              <a:schemeClr val="accent5"/>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51" name="连接符: 肘形 86"/>
          <p:cNvCxnSpPr>
            <a:stCxn id="66" idx="1"/>
            <a:endCxn id="70" idx="1"/>
          </p:cNvCxnSpPr>
          <p:nvPr/>
        </p:nvCxnSpPr>
        <p:spPr>
          <a:xfrm rot="10800000" flipV="1">
            <a:off x="8446770" y="2573020"/>
            <a:ext cx="13335" cy="1863725"/>
          </a:xfrm>
          <a:prstGeom prst="bentConnector3">
            <a:avLst>
              <a:gd name="adj1" fmla="val 1800000"/>
            </a:avLst>
          </a:prstGeom>
          <a:noFill/>
          <a:ln w="6350" cap="flat">
            <a:solidFill>
              <a:schemeClr val="accent1">
                <a:lumMod val="60000"/>
                <a:lumOff val="40000"/>
              </a:schemeClr>
            </a:solidFill>
            <a:prstDash val="solid"/>
            <a:miter lim="800000"/>
            <a:headEnd type="triangle"/>
            <a:tailEnd type="triangle"/>
          </a:ln>
          <a:effectLst/>
          <a:sp3d/>
        </p:spPr>
        <p:style>
          <a:lnRef idx="0">
            <a:scrgbClr r="0" g="0" b="0"/>
          </a:lnRef>
          <a:fillRef idx="0">
            <a:scrgbClr r="0" g="0" b="0"/>
          </a:fillRef>
          <a:effectRef idx="0">
            <a:scrgbClr r="0" g="0" b="0"/>
          </a:effectRef>
          <a:fontRef idx="none"/>
        </p:style>
      </p:cxnSp>
      <p:cxnSp>
        <p:nvCxnSpPr>
          <p:cNvPr id="152" name="直接连接符 151"/>
          <p:cNvCxnSpPr/>
          <p:nvPr/>
        </p:nvCxnSpPr>
        <p:spPr>
          <a:xfrm>
            <a:off x="7901940" y="3505200"/>
            <a:ext cx="313055" cy="0"/>
          </a:xfrm>
          <a:prstGeom prst="line">
            <a:avLst/>
          </a:prstGeom>
          <a:noFill/>
          <a:ln w="6350" cap="flat">
            <a:solidFill>
              <a:schemeClr val="accent1">
                <a:lumMod val="60000"/>
                <a:lumOff val="40000"/>
              </a:schemeClr>
            </a:solidFill>
            <a:prstDash val="solid"/>
            <a:miter lim="800000"/>
            <a:tailEnd type="none"/>
          </a:ln>
          <a:effectLst/>
          <a:sp3d/>
        </p:spPr>
        <p:style>
          <a:lnRef idx="0">
            <a:scrgbClr r="0" g="0" b="0"/>
          </a:lnRef>
          <a:fillRef idx="0">
            <a:scrgbClr r="0" g="0" b="0"/>
          </a:fillRef>
          <a:effectRef idx="0">
            <a:scrgbClr r="0" g="0" b="0"/>
          </a:effectRef>
          <a:fontRef idx="none"/>
        </p:style>
      </p:cxnSp>
      <p:cxnSp>
        <p:nvCxnSpPr>
          <p:cNvPr id="153" name="直接连接符 152"/>
          <p:cNvCxnSpPr/>
          <p:nvPr/>
        </p:nvCxnSpPr>
        <p:spPr>
          <a:xfrm>
            <a:off x="8214995" y="3194685"/>
            <a:ext cx="232410" cy="0"/>
          </a:xfrm>
          <a:prstGeom prst="line">
            <a:avLst/>
          </a:prstGeom>
          <a:noFill/>
          <a:ln w="6350" cap="flat">
            <a:solidFill>
              <a:schemeClr val="accent1">
                <a:lumMod val="60000"/>
                <a:lumOff val="40000"/>
              </a:schemeClr>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54" name="直接连接符 153"/>
          <p:cNvCxnSpPr/>
          <p:nvPr/>
        </p:nvCxnSpPr>
        <p:spPr>
          <a:xfrm>
            <a:off x="8214995" y="3815715"/>
            <a:ext cx="232410" cy="0"/>
          </a:xfrm>
          <a:prstGeom prst="line">
            <a:avLst/>
          </a:prstGeom>
          <a:noFill/>
          <a:ln w="6350" cap="flat">
            <a:solidFill>
              <a:schemeClr val="accent1">
                <a:lumMod val="60000"/>
                <a:lumOff val="40000"/>
              </a:schemeClr>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55" name="连接符: 肘形 97"/>
          <p:cNvCxnSpPr>
            <a:stCxn id="4" idx="2"/>
            <a:endCxn id="81" idx="2"/>
          </p:cNvCxnSpPr>
          <p:nvPr/>
        </p:nvCxnSpPr>
        <p:spPr>
          <a:xfrm rot="16200000" flipH="1">
            <a:off x="5743575" y="1004570"/>
            <a:ext cx="13970" cy="7666355"/>
          </a:xfrm>
          <a:prstGeom prst="bentConnector3">
            <a:avLst>
              <a:gd name="adj1" fmla="val 1800000"/>
            </a:avLst>
          </a:prstGeom>
          <a:noFill/>
          <a:ln w="635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156" name="直接连接符 155"/>
          <p:cNvCxnSpPr>
            <a:stCxn id="13" idx="0"/>
          </p:cNvCxnSpPr>
          <p:nvPr/>
        </p:nvCxnSpPr>
        <p:spPr>
          <a:xfrm flipV="1">
            <a:off x="6068695" y="4831080"/>
            <a:ext cx="0" cy="499745"/>
          </a:xfrm>
          <a:prstGeom prst="line">
            <a:avLst/>
          </a:prstGeom>
          <a:noFill/>
          <a:ln w="6350" cap="flat">
            <a:solidFill>
              <a:schemeClr val="accent5"/>
            </a:solidFill>
            <a:prstDash val="solid"/>
            <a:miter lim="800000"/>
            <a:headEnd type="triangle"/>
            <a:tailEnd type="none"/>
          </a:ln>
          <a:effectLst/>
          <a:sp3d/>
        </p:spPr>
        <p:style>
          <a:lnRef idx="0">
            <a:scrgbClr r="0" g="0" b="0"/>
          </a:lnRef>
          <a:fillRef idx="0">
            <a:scrgbClr r="0" g="0" b="0"/>
          </a:fillRef>
          <a:effectRef idx="0">
            <a:scrgbClr r="0" g="0" b="0"/>
          </a:effectRef>
          <a:fontRef idx="none"/>
        </p:style>
      </p:cxnSp>
      <p:pic>
        <p:nvPicPr>
          <p:cNvPr id="157" name="图形 10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14145" y="2486660"/>
            <a:ext cx="165100" cy="173355"/>
          </a:xfrm>
          <a:prstGeom prst="rect">
            <a:avLst/>
          </a:prstGeom>
        </p:spPr>
      </p:pic>
      <p:pic>
        <p:nvPicPr>
          <p:cNvPr id="158" name="图形 10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14145" y="3109595"/>
            <a:ext cx="165100" cy="173355"/>
          </a:xfrm>
          <a:prstGeom prst="rect">
            <a:avLst/>
          </a:prstGeom>
        </p:spPr>
      </p:pic>
      <p:pic>
        <p:nvPicPr>
          <p:cNvPr id="159" name="图形 10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14145" y="3743325"/>
            <a:ext cx="165100" cy="173355"/>
          </a:xfrm>
          <a:prstGeom prst="rect">
            <a:avLst/>
          </a:prstGeom>
        </p:spPr>
      </p:pic>
      <p:pic>
        <p:nvPicPr>
          <p:cNvPr id="160" name="图形 108"/>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14145" y="4350385"/>
            <a:ext cx="165100" cy="173355"/>
          </a:xfrm>
          <a:prstGeom prst="rect">
            <a:avLst/>
          </a:prstGeom>
        </p:spPr>
      </p:pic>
      <p:pic>
        <p:nvPicPr>
          <p:cNvPr id="161" name="图形 110"/>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41130" y="2465705"/>
            <a:ext cx="204470" cy="214630"/>
          </a:xfrm>
          <a:prstGeom prst="rect">
            <a:avLst/>
          </a:prstGeom>
        </p:spPr>
      </p:pic>
      <p:pic>
        <p:nvPicPr>
          <p:cNvPr id="162" name="图形 112"/>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059545" y="4348480"/>
            <a:ext cx="168275" cy="176530"/>
          </a:xfrm>
          <a:prstGeom prst="rect">
            <a:avLst/>
          </a:prstGeom>
        </p:spPr>
      </p:pic>
      <p:pic>
        <p:nvPicPr>
          <p:cNvPr id="163" name="图形 114"/>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020175" y="3700780"/>
            <a:ext cx="246380" cy="258445"/>
          </a:xfrm>
          <a:prstGeom prst="rect">
            <a:avLst/>
          </a:prstGeom>
        </p:spPr>
      </p:pic>
      <p:pic>
        <p:nvPicPr>
          <p:cNvPr id="164" name="图形 116"/>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020175" y="3067050"/>
            <a:ext cx="246380" cy="258445"/>
          </a:xfrm>
          <a:prstGeom prst="rect">
            <a:avLst/>
          </a:prstGeom>
        </p:spPr>
      </p:pic>
      <p:sp>
        <p:nvSpPr>
          <p:cNvPr id="165" name="椭圆 164"/>
          <p:cNvSpPr/>
          <p:nvPr/>
        </p:nvSpPr>
        <p:spPr>
          <a:xfrm>
            <a:off x="5850890" y="5461635"/>
            <a:ext cx="434340" cy="455930"/>
          </a:xfrm>
          <a:prstGeom prst="ellipse">
            <a:avLst/>
          </a:prstGeom>
          <a:solidFill>
            <a:schemeClr val="bg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66" name="图形 118"/>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958205" y="5574030"/>
            <a:ext cx="219710" cy="230505"/>
          </a:xfrm>
          <a:prstGeom prst="rect">
            <a:avLst/>
          </a:prstGeom>
        </p:spPr>
      </p:pic>
      <p:pic>
        <p:nvPicPr>
          <p:cNvPr id="167" name="图形 120"/>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175250" y="2580640"/>
            <a:ext cx="247650" cy="259715"/>
          </a:xfrm>
          <a:prstGeom prst="rect">
            <a:avLst/>
          </a:prstGeom>
        </p:spPr>
      </p:pic>
      <p:pic>
        <p:nvPicPr>
          <p:cNvPr id="168" name="图形 122"/>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546725" y="3917950"/>
            <a:ext cx="306070" cy="321310"/>
          </a:xfrm>
          <a:prstGeom prst="rect">
            <a:avLst/>
          </a:prstGeom>
        </p:spPr>
      </p:pic>
      <p:pic>
        <p:nvPicPr>
          <p:cNvPr id="169" name="图形 124"/>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003290" y="2580640"/>
            <a:ext cx="247650" cy="259715"/>
          </a:xfrm>
          <a:prstGeom prst="rect">
            <a:avLst/>
          </a:prstGeom>
        </p:spPr>
      </p:pic>
      <p:pic>
        <p:nvPicPr>
          <p:cNvPr id="170" name="图形 126"/>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053955" y="5506085"/>
            <a:ext cx="333375" cy="349250"/>
          </a:xfrm>
          <a:prstGeom prst="rect">
            <a:avLst/>
          </a:prstGeom>
        </p:spPr>
      </p:pic>
      <p:pic>
        <p:nvPicPr>
          <p:cNvPr id="171" name="图形 128"/>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8369300" y="5561965"/>
            <a:ext cx="247650" cy="259715"/>
          </a:xfrm>
          <a:prstGeom prst="rect">
            <a:avLst/>
          </a:prstGeom>
        </p:spPr>
      </p:pic>
      <p:pic>
        <p:nvPicPr>
          <p:cNvPr id="172" name="图形 130"/>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3277235" y="5561965"/>
            <a:ext cx="247650" cy="259715"/>
          </a:xfrm>
          <a:prstGeom prst="rect">
            <a:avLst/>
          </a:prstGeom>
        </p:spPr>
      </p:pic>
      <p:pic>
        <p:nvPicPr>
          <p:cNvPr id="173" name="图形 132"/>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14475" y="5516245"/>
            <a:ext cx="317500" cy="333375"/>
          </a:xfrm>
          <a:prstGeom prst="rect">
            <a:avLst/>
          </a:prstGeom>
        </p:spPr>
      </p:pic>
      <p:sp>
        <p:nvSpPr>
          <p:cNvPr id="174" name="矩形 173"/>
          <p:cNvSpPr/>
          <p:nvPr/>
        </p:nvSpPr>
        <p:spPr>
          <a:xfrm>
            <a:off x="3514725" y="2311400"/>
            <a:ext cx="509270" cy="2378710"/>
          </a:xfrm>
          <a:prstGeom prst="rect">
            <a:avLst/>
          </a:prstGeom>
          <a:solidFill>
            <a:schemeClr val="bg1"/>
          </a:solidFill>
          <a:ln w="6350" cap="flat">
            <a:solidFill>
              <a:schemeClr val="accent5"/>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hangingPunct="0"/>
            <a:endParaRPr lang="en-US"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5" name="Title 2"/>
          <p:cNvSpPr txBox="1"/>
          <p:nvPr/>
        </p:nvSpPr>
        <p:spPr>
          <a:xfrm>
            <a:off x="3705860" y="2981960"/>
            <a:ext cx="119380" cy="861695"/>
          </a:xfrm>
          <a:prstGeom prst="rect">
            <a:avLst/>
          </a:prstGeom>
        </p:spPr>
        <p:txBody>
          <a:bodyPr vert="horz" wrap="square" lIns="0" tIns="0" rIns="0" bIns="0" rtlCol="0" anchor="t" anchorCtr="0">
            <a:spAutoFit/>
          </a:bodyPr>
          <a:lstStyle>
            <a:defPPr>
              <a:defRPr lang="zh-CN"/>
            </a:defPPr>
            <a:lvl1pPr marR="0" lvl="0" indent="0" algn="ctr" fontAlgn="auto">
              <a:lnSpc>
                <a:spcPct val="100000"/>
              </a:lnSpc>
              <a:spcBef>
                <a:spcPct val="0"/>
              </a:spcBef>
              <a:spcAft>
                <a:spcPts val="0"/>
              </a:spcAft>
              <a:buClrTx/>
              <a:buSzTx/>
              <a:buFontTx/>
              <a:buNone/>
              <a:defRPr kumimoji="0" sz="1400" b="0" i="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r>
              <a:rPr lang="zh-CN" altLang="en-US" b="1" dirty="0">
                <a:solidFill>
                  <a:schemeClr val="accent5"/>
                </a:solidFill>
                <a:latin typeface="微软雅黑" panose="020B0503020204020204" charset="-122"/>
                <a:ea typeface="微软雅黑" panose="020B0503020204020204" charset="-122"/>
                <a:cs typeface="微软雅黑" panose="020B0503020204020204" charset="-122"/>
              </a:rPr>
              <a:t>数据收集</a:t>
            </a:r>
            <a:endParaRPr lang="zh-CN" altLang="en-US" b="1"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3"/>
          <p:cNvSpPr/>
          <p:nvPr/>
        </p:nvSpPr>
        <p:spPr>
          <a:xfrm>
            <a:off x="796925" y="1220843"/>
            <a:ext cx="10598150" cy="3811532"/>
          </a:xfrm>
          <a:prstGeom prst="roundRect">
            <a:avLst>
              <a:gd name="adj" fmla="val 4401"/>
            </a:avLst>
          </a:prstGeom>
          <a:solidFill>
            <a:schemeClr val="accent1">
              <a:lumMod val="20000"/>
              <a:lumOff val="80000"/>
              <a:alpha val="30000"/>
            </a:schemeClr>
          </a:solidFill>
          <a:ln w="6350" cap="flat">
            <a:solidFill>
              <a:schemeClr val="accent1">
                <a:lumMod val="60000"/>
                <a:lumOff val="40000"/>
              </a:schemeClr>
            </a:solidFill>
            <a:custDash>
              <a:ds d="300000" sp="300000"/>
            </a:custDash>
            <a:miter/>
          </a:ln>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客户触达与转化路径图</a:t>
            </a:r>
            <a:endParaRPr lang="en-US" altLang="zh-CN"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10" name="熊大的PPT宝库1"/>
          <p:cNvSpPr/>
          <p:nvPr/>
        </p:nvSpPr>
        <p:spPr>
          <a:xfrm>
            <a:off x="9484993" y="5187950"/>
            <a:ext cx="1923687" cy="1035050"/>
          </a:xfrm>
          <a:prstGeom prst="roundRect">
            <a:avLst>
              <a:gd name="adj" fmla="val 4401"/>
            </a:avLst>
          </a:prstGeom>
          <a:solidFill>
            <a:schemeClr val="accent5">
              <a:lumMod val="20000"/>
              <a:lumOff val="80000"/>
              <a:alpha val="50000"/>
            </a:schemeClr>
          </a:solidFill>
          <a:ln w="6350" cap="flat">
            <a:solidFill>
              <a:schemeClr val="accent5">
                <a:lumMod val="60000"/>
                <a:lumOff val="40000"/>
                <a:alpha val="50000"/>
              </a:schemeClr>
            </a:solidFill>
            <a:custDash>
              <a:ds d="300000" sp="300000"/>
            </a:custDash>
            <a:miter/>
          </a:ln>
        </p:spPr>
        <p:txBody>
          <a:bodyPr rtlCol="0" anchor="ctr">
            <a:noAutofit/>
          </a:bodyPr>
          <a:lstStyle/>
          <a:p>
            <a:pPr lvl="0" algn="l" defTabSz="457200">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09" name="熊大的PPT宝库2"/>
          <p:cNvSpPr/>
          <p:nvPr/>
        </p:nvSpPr>
        <p:spPr>
          <a:xfrm>
            <a:off x="796925" y="5187950"/>
            <a:ext cx="1923687" cy="1035050"/>
          </a:xfrm>
          <a:prstGeom prst="roundRect">
            <a:avLst>
              <a:gd name="adj" fmla="val 4401"/>
            </a:avLst>
          </a:prstGeom>
          <a:solidFill>
            <a:schemeClr val="accent5">
              <a:lumMod val="20000"/>
              <a:lumOff val="80000"/>
              <a:alpha val="50000"/>
            </a:schemeClr>
          </a:solidFill>
          <a:ln w="6350" cap="flat">
            <a:solidFill>
              <a:schemeClr val="accent5">
                <a:lumMod val="60000"/>
                <a:lumOff val="40000"/>
                <a:alpha val="50000"/>
              </a:schemeClr>
            </a:solidFill>
            <a:custDash>
              <a:ds d="300000" sp="300000"/>
            </a:custDash>
            <a:miter/>
          </a:ln>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88" name="熊大的PPT宝库4"/>
          <p:cNvSpPr/>
          <p:nvPr/>
        </p:nvSpPr>
        <p:spPr>
          <a:xfrm>
            <a:off x="9177684" y="2220654"/>
            <a:ext cx="1934816" cy="2423618"/>
          </a:xfrm>
          <a:prstGeom prst="roundRect">
            <a:avLst>
              <a:gd name="adj" fmla="val 5104"/>
            </a:avLst>
          </a:prstGeom>
          <a:solidFill>
            <a:srgbClr val="FFFFFF"/>
          </a:solidFill>
          <a:ln w="6350" cap="flat">
            <a:solidFill>
              <a:schemeClr val="accent1">
                <a:lumMod val="60000"/>
                <a:lumOff val="40000"/>
              </a:schemeClr>
            </a:solidFill>
            <a:prstDash val="solid"/>
            <a:miter/>
          </a:ln>
          <a:effectLst>
            <a:outerShdw blurRad="609600" sx="102000" sy="102000" algn="ctr" rotWithShape="0">
              <a:schemeClr val="accent1">
                <a:lumMod val="60000"/>
                <a:lumOff val="40000"/>
                <a:alpha val="5000"/>
              </a:schemeClr>
            </a:outerShdw>
          </a:effectLst>
        </p:spPr>
        <p:txBody>
          <a:bodyPr rtlCol="0" anchor="ctr">
            <a:noAutofit/>
          </a:bodyPr>
          <a:lstStyle/>
          <a:p>
            <a:pPr lvl="0" algn="l" defTabSz="457200">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87" name="熊大的PPT宝库5"/>
          <p:cNvSpPr/>
          <p:nvPr/>
        </p:nvSpPr>
        <p:spPr>
          <a:xfrm>
            <a:off x="1080834" y="2220654"/>
            <a:ext cx="1934816" cy="2423618"/>
          </a:xfrm>
          <a:prstGeom prst="roundRect">
            <a:avLst>
              <a:gd name="adj" fmla="val 5104"/>
            </a:avLst>
          </a:prstGeom>
          <a:solidFill>
            <a:srgbClr val="FFFFFF"/>
          </a:solidFill>
          <a:ln w="6350" cap="flat">
            <a:solidFill>
              <a:schemeClr val="accent1">
                <a:lumMod val="60000"/>
                <a:lumOff val="40000"/>
              </a:schemeClr>
            </a:solidFill>
            <a:prstDash val="solid"/>
            <a:miter/>
          </a:ln>
          <a:effectLst>
            <a:outerShdw blurRad="609600" sx="102000" sy="102000" algn="ctr" rotWithShape="0">
              <a:schemeClr val="accent1">
                <a:lumMod val="60000"/>
                <a:lumOff val="40000"/>
                <a:alpha val="5000"/>
              </a:schemeClr>
            </a:outerShdw>
          </a:effectLst>
        </p:spPr>
        <p:txBody>
          <a:bodyPr rtlCol="0" anchor="ctr"/>
          <a:lstStyle/>
          <a:p>
            <a:pPr defTabSz="457200"/>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92" name="熊大的PPT宝库6"/>
          <p:cNvSpPr/>
          <p:nvPr/>
        </p:nvSpPr>
        <p:spPr>
          <a:xfrm>
            <a:off x="9464898" y="2605957"/>
            <a:ext cx="1440000" cy="338553"/>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lvl="0" algn="just" defTabSz="731520">
              <a:lnSpc>
                <a:spcPct val="130000"/>
              </a:lnSpc>
              <a:buClrTx/>
              <a:buSzTx/>
              <a:buFontTx/>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3" name="熊大的PPT宝库7"/>
          <p:cNvSpPr/>
          <p:nvPr/>
        </p:nvSpPr>
        <p:spPr>
          <a:xfrm>
            <a:off x="9464898" y="2993606"/>
            <a:ext cx="1440000" cy="338553"/>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lvl="0" algn="just" defTabSz="731520">
              <a:lnSpc>
                <a:spcPct val="130000"/>
              </a:lnSpc>
              <a:buClrTx/>
              <a:buSzTx/>
              <a:buFontTx/>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4" name="熊大的PPT宝库8"/>
          <p:cNvSpPr/>
          <p:nvPr/>
        </p:nvSpPr>
        <p:spPr>
          <a:xfrm>
            <a:off x="9464898" y="3381255"/>
            <a:ext cx="1440000" cy="338553"/>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lvl="0" algn="just" defTabSz="731520">
              <a:lnSpc>
                <a:spcPct val="130000"/>
              </a:lnSpc>
              <a:buClrTx/>
              <a:buSzTx/>
              <a:buFontTx/>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5" name="熊大的PPT宝库9"/>
          <p:cNvSpPr/>
          <p:nvPr/>
        </p:nvSpPr>
        <p:spPr>
          <a:xfrm>
            <a:off x="9464898" y="3768904"/>
            <a:ext cx="1440000" cy="338553"/>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lvl="0" algn="just" defTabSz="731520">
              <a:lnSpc>
                <a:spcPct val="130000"/>
              </a:lnSpc>
              <a:buClrTx/>
              <a:buSzTx/>
              <a:buFontTx/>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6" name="熊大的PPT宝库10"/>
          <p:cNvSpPr/>
          <p:nvPr/>
        </p:nvSpPr>
        <p:spPr>
          <a:xfrm>
            <a:off x="9464898" y="4156553"/>
            <a:ext cx="1440000" cy="338553"/>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lvl="0" algn="just" defTabSz="731520">
              <a:lnSpc>
                <a:spcPct val="130000"/>
              </a:lnSpc>
              <a:buClrTx/>
              <a:buSzTx/>
              <a:buFontTx/>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 name="熊大的PPT宝库12"/>
          <p:cNvSpPr/>
          <p:nvPr/>
        </p:nvSpPr>
        <p:spPr>
          <a:xfrm>
            <a:off x="4081386" y="2544762"/>
            <a:ext cx="485933" cy="280988"/>
          </a:xfrm>
          <a:custGeom>
            <a:avLst/>
            <a:gdLst>
              <a:gd name="connsiteX0" fmla="*/ 242964 w 485933"/>
              <a:gd name="connsiteY0" fmla="*/ 128588 h 128587"/>
              <a:gd name="connsiteX1" fmla="*/ 485934 w 485933"/>
              <a:gd name="connsiteY1" fmla="*/ 0 h 128587"/>
              <a:gd name="connsiteX2" fmla="*/ 0 w 485933"/>
              <a:gd name="connsiteY2" fmla="*/ 0 h 128587"/>
              <a:gd name="connsiteX3" fmla="*/ 242964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64" y="128588"/>
                </a:moveTo>
                <a:lnTo>
                  <a:pt x="485934" y="0"/>
                </a:lnTo>
                <a:lnTo>
                  <a:pt x="0" y="0"/>
                </a:lnTo>
                <a:lnTo>
                  <a:pt x="242964" y="128588"/>
                </a:lnTo>
                <a:close/>
              </a:path>
            </a:pathLst>
          </a:custGeom>
          <a:gradFill>
            <a:gsLst>
              <a:gs pos="0">
                <a:schemeClr val="accent1">
                  <a:lumMod val="75000"/>
                </a:schemeClr>
              </a:gs>
              <a:gs pos="74055">
                <a:schemeClr val="accent1">
                  <a:alpha val="0"/>
                </a:schemeClr>
              </a:gs>
            </a:gsLst>
            <a:lin ang="16200000" scaled="1"/>
          </a:gradFill>
          <a:ln w="6350" cap="flat">
            <a:noFill/>
            <a:prstDash val="solid"/>
            <a:miter/>
          </a:ln>
        </p:spPr>
        <p:txBody>
          <a:bodyPr rtlCol="0" anchor="ctr">
            <a:noAutofit/>
          </a:bodyPr>
          <a:lstStyle/>
          <a:p>
            <a:pPr lvl="0" algn="l" defTabSz="457200">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6" name="熊大的PPT宝库13"/>
          <p:cNvSpPr/>
          <p:nvPr/>
        </p:nvSpPr>
        <p:spPr>
          <a:xfrm>
            <a:off x="5847835" y="2544762"/>
            <a:ext cx="485933" cy="280988"/>
          </a:xfrm>
          <a:custGeom>
            <a:avLst/>
            <a:gdLst>
              <a:gd name="connsiteX0" fmla="*/ 242970 w 485933"/>
              <a:gd name="connsiteY0" fmla="*/ 128588 h 128587"/>
              <a:gd name="connsiteX1" fmla="*/ 485934 w 485933"/>
              <a:gd name="connsiteY1" fmla="*/ 0 h 128587"/>
              <a:gd name="connsiteX2" fmla="*/ 0 w 485933"/>
              <a:gd name="connsiteY2" fmla="*/ 0 h 128587"/>
              <a:gd name="connsiteX3" fmla="*/ 242970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70" y="128588"/>
                </a:moveTo>
                <a:lnTo>
                  <a:pt x="485934" y="0"/>
                </a:lnTo>
                <a:lnTo>
                  <a:pt x="0" y="0"/>
                </a:lnTo>
                <a:lnTo>
                  <a:pt x="242970" y="128588"/>
                </a:lnTo>
                <a:close/>
              </a:path>
            </a:pathLst>
          </a:custGeom>
          <a:gradFill>
            <a:gsLst>
              <a:gs pos="0">
                <a:schemeClr val="accent1">
                  <a:lumMod val="75000"/>
                </a:schemeClr>
              </a:gs>
              <a:gs pos="74055">
                <a:schemeClr val="accent1">
                  <a:alpha val="0"/>
                </a:schemeClr>
              </a:gs>
            </a:gsLst>
            <a:lin ang="16200000" scaled="1"/>
          </a:gradFill>
          <a:ln w="6350" cap="flat">
            <a:noFill/>
            <a:prstDash val="solid"/>
            <a:miter/>
          </a:ln>
        </p:spPr>
        <p:txBody>
          <a:bodyPr rtlCol="0" anchor="ctr">
            <a:noAutofit/>
          </a:bodyPr>
          <a:lstStyle/>
          <a:p>
            <a:pPr lvl="0" algn="l" defTabSz="457200">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7" name="熊大的PPT宝库14"/>
          <p:cNvSpPr/>
          <p:nvPr/>
        </p:nvSpPr>
        <p:spPr>
          <a:xfrm>
            <a:off x="7613142" y="2544762"/>
            <a:ext cx="485901" cy="280988"/>
          </a:xfrm>
          <a:custGeom>
            <a:avLst/>
            <a:gdLst>
              <a:gd name="connsiteX0" fmla="*/ 242951 w 485901"/>
              <a:gd name="connsiteY0" fmla="*/ 128588 h 128587"/>
              <a:gd name="connsiteX1" fmla="*/ 485901 w 485901"/>
              <a:gd name="connsiteY1" fmla="*/ 0 h 128587"/>
              <a:gd name="connsiteX2" fmla="*/ 0 w 485901"/>
              <a:gd name="connsiteY2" fmla="*/ 0 h 128587"/>
              <a:gd name="connsiteX3" fmla="*/ 242951 w 485901"/>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01" h="128587">
                <a:moveTo>
                  <a:pt x="242951" y="128588"/>
                </a:moveTo>
                <a:lnTo>
                  <a:pt x="485901" y="0"/>
                </a:lnTo>
                <a:lnTo>
                  <a:pt x="0" y="0"/>
                </a:lnTo>
                <a:lnTo>
                  <a:pt x="242951" y="128588"/>
                </a:lnTo>
                <a:close/>
              </a:path>
            </a:pathLst>
          </a:custGeom>
          <a:gradFill>
            <a:gsLst>
              <a:gs pos="0">
                <a:schemeClr val="accent1">
                  <a:lumMod val="75000"/>
                </a:schemeClr>
              </a:gs>
              <a:gs pos="74055">
                <a:schemeClr val="accent1">
                  <a:alpha val="0"/>
                </a:schemeClr>
              </a:gs>
            </a:gsLst>
            <a:lin ang="16200000" scaled="1"/>
          </a:gradFill>
          <a:ln w="6350" cap="flat">
            <a:noFill/>
            <a:prstDash val="solid"/>
            <a:miter/>
          </a:ln>
        </p:spPr>
        <p:txBody>
          <a:bodyPr rtlCol="0" anchor="ctr">
            <a:noAutofit/>
          </a:bodyPr>
          <a:lstStyle/>
          <a:p>
            <a:pPr lvl="0" algn="l" defTabSz="457200">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82" name="熊大的PPT宝库15"/>
          <p:cNvSpPr/>
          <p:nvPr/>
        </p:nvSpPr>
        <p:spPr>
          <a:xfrm>
            <a:off x="1386493" y="2593257"/>
            <a:ext cx="1296000" cy="316029"/>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algn="just" defTabSz="731520">
              <a:lnSpc>
                <a:spcPct val="130000"/>
              </a:lnSpc>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 name="熊大的PPT宝库16"/>
          <p:cNvSpPr/>
          <p:nvPr/>
        </p:nvSpPr>
        <p:spPr>
          <a:xfrm>
            <a:off x="1079500" y="1936750"/>
            <a:ext cx="1943100" cy="488950"/>
          </a:xfrm>
          <a:custGeom>
            <a:avLst/>
            <a:gdLst>
              <a:gd name="connsiteX0" fmla="*/ 0 w 1943100"/>
              <a:gd name="connsiteY0" fmla="*/ 146050 h 488950"/>
              <a:gd name="connsiteX1" fmla="*/ 146050 w 1943100"/>
              <a:gd name="connsiteY1" fmla="*/ 0 h 488950"/>
              <a:gd name="connsiteX2" fmla="*/ 1797050 w 1943100"/>
              <a:gd name="connsiteY2" fmla="*/ 0 h 488950"/>
              <a:gd name="connsiteX3" fmla="*/ 1943100 w 1943100"/>
              <a:gd name="connsiteY3" fmla="*/ 146050 h 488950"/>
              <a:gd name="connsiteX4" fmla="*/ 1943100 w 1943100"/>
              <a:gd name="connsiteY4" fmla="*/ 438150 h 488950"/>
              <a:gd name="connsiteX5" fmla="*/ 1892300 w 1943100"/>
              <a:gd name="connsiteY5" fmla="*/ 488950 h 488950"/>
              <a:gd name="connsiteX6" fmla="*/ 50800 w 1943100"/>
              <a:gd name="connsiteY6" fmla="*/ 488950 h 488950"/>
              <a:gd name="connsiteX7" fmla="*/ 0 w 1943100"/>
              <a:gd name="connsiteY7" fmla="*/ 438150 h 488950"/>
              <a:gd name="connsiteX8" fmla="*/ 0 w 1943100"/>
              <a:gd name="connsiteY8" fmla="*/ 146050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3100" h="488950">
                <a:moveTo>
                  <a:pt x="0" y="146050"/>
                </a:moveTo>
                <a:cubicBezTo>
                  <a:pt x="0" y="65386"/>
                  <a:pt x="65386" y="0"/>
                  <a:pt x="146050" y="0"/>
                </a:cubicBezTo>
                <a:lnTo>
                  <a:pt x="1797050" y="0"/>
                </a:lnTo>
                <a:cubicBezTo>
                  <a:pt x="1877714" y="0"/>
                  <a:pt x="1943100" y="65386"/>
                  <a:pt x="1943100" y="146050"/>
                </a:cubicBezTo>
                <a:lnTo>
                  <a:pt x="1943100" y="438150"/>
                </a:lnTo>
                <a:cubicBezTo>
                  <a:pt x="1943100" y="466204"/>
                  <a:pt x="1920354" y="488950"/>
                  <a:pt x="1892300" y="488950"/>
                </a:cubicBezTo>
                <a:lnTo>
                  <a:pt x="50800" y="488950"/>
                </a:lnTo>
                <a:cubicBezTo>
                  <a:pt x="22746" y="488950"/>
                  <a:pt x="0" y="466204"/>
                  <a:pt x="0" y="438150"/>
                </a:cubicBezTo>
                <a:lnTo>
                  <a:pt x="0" y="146050"/>
                </a:lnTo>
                <a:close/>
              </a:path>
            </a:pathLst>
          </a:custGeom>
          <a:solidFill>
            <a:schemeClr val="accent1">
              <a:lumMod val="60000"/>
              <a:lumOff val="40000"/>
            </a:schemeClr>
          </a:solidFill>
          <a:ln w="6350" cap="flat">
            <a:noFill/>
            <a:prstDash val="solid"/>
            <a:miter/>
          </a:ln>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21" name="熊大的PPT宝库17"/>
          <p:cNvSpPr/>
          <p:nvPr/>
        </p:nvSpPr>
        <p:spPr>
          <a:xfrm>
            <a:off x="9169400" y="1936750"/>
            <a:ext cx="1943100" cy="488950"/>
          </a:xfrm>
          <a:custGeom>
            <a:avLst/>
            <a:gdLst>
              <a:gd name="connsiteX0" fmla="*/ 0 w 1943100"/>
              <a:gd name="connsiteY0" fmla="*/ 133350 h 488950"/>
              <a:gd name="connsiteX1" fmla="*/ 133350 w 1943100"/>
              <a:gd name="connsiteY1" fmla="*/ 0 h 488950"/>
              <a:gd name="connsiteX2" fmla="*/ 1809750 w 1943100"/>
              <a:gd name="connsiteY2" fmla="*/ 0 h 488950"/>
              <a:gd name="connsiteX3" fmla="*/ 1943100 w 1943100"/>
              <a:gd name="connsiteY3" fmla="*/ 133350 h 488950"/>
              <a:gd name="connsiteX4" fmla="*/ 1943100 w 1943100"/>
              <a:gd name="connsiteY4" fmla="*/ 438150 h 488950"/>
              <a:gd name="connsiteX5" fmla="*/ 1892300 w 1943100"/>
              <a:gd name="connsiteY5" fmla="*/ 488950 h 488950"/>
              <a:gd name="connsiteX6" fmla="*/ 50800 w 1943100"/>
              <a:gd name="connsiteY6" fmla="*/ 488950 h 488950"/>
              <a:gd name="connsiteX7" fmla="*/ 0 w 1943100"/>
              <a:gd name="connsiteY7" fmla="*/ 438150 h 488950"/>
              <a:gd name="connsiteX8" fmla="*/ 0 w 1943100"/>
              <a:gd name="connsiteY8" fmla="*/ 133350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3100" h="488950">
                <a:moveTo>
                  <a:pt x="0" y="133350"/>
                </a:moveTo>
                <a:cubicBezTo>
                  <a:pt x="0" y="59703"/>
                  <a:pt x="59690" y="0"/>
                  <a:pt x="133350" y="0"/>
                </a:cubicBezTo>
                <a:lnTo>
                  <a:pt x="1809750" y="0"/>
                </a:lnTo>
                <a:cubicBezTo>
                  <a:pt x="1883410" y="0"/>
                  <a:pt x="1943100" y="59703"/>
                  <a:pt x="1943100" y="133350"/>
                </a:cubicBezTo>
                <a:lnTo>
                  <a:pt x="1943100" y="438150"/>
                </a:lnTo>
                <a:cubicBezTo>
                  <a:pt x="1943100" y="466204"/>
                  <a:pt x="1920367" y="488950"/>
                  <a:pt x="1892300" y="488950"/>
                </a:cubicBezTo>
                <a:lnTo>
                  <a:pt x="50800" y="488950"/>
                </a:lnTo>
                <a:cubicBezTo>
                  <a:pt x="22733" y="488950"/>
                  <a:pt x="0" y="466204"/>
                  <a:pt x="0" y="438150"/>
                </a:cubicBezTo>
                <a:lnTo>
                  <a:pt x="0" y="133350"/>
                </a:lnTo>
                <a:close/>
              </a:path>
            </a:pathLst>
          </a:custGeom>
          <a:solidFill>
            <a:schemeClr val="accent1">
              <a:lumMod val="60000"/>
              <a:lumOff val="40000"/>
            </a:schemeClr>
          </a:solidFill>
          <a:ln w="6350" cap="flat">
            <a:noFill/>
            <a:prstDash val="solid"/>
            <a:miter/>
          </a:ln>
        </p:spPr>
        <p:txBody>
          <a:bodyPr rtlCol="0" anchor="ctr">
            <a:noAutofit/>
          </a:bodyPr>
          <a:lstStyle/>
          <a:p>
            <a:pPr lvl="0" algn="l" defTabSz="457200">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22" name="熊大的PPT宝库18"/>
          <p:cNvSpPr/>
          <p:nvPr/>
        </p:nvSpPr>
        <p:spPr>
          <a:xfrm>
            <a:off x="3505200" y="1447800"/>
            <a:ext cx="5175250" cy="908050"/>
          </a:xfrm>
          <a:prstGeom prst="roundRect">
            <a:avLst>
              <a:gd name="adj" fmla="val 13559"/>
            </a:avLst>
          </a:prstGeom>
          <a:solidFill>
            <a:schemeClr val="accent1"/>
          </a:solidFill>
          <a:ln w="6350" cap="flat">
            <a:noFill/>
            <a:prstDash val="solid"/>
            <a:miter/>
          </a:ln>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23" name="熊大的PPT宝库19"/>
          <p:cNvSpPr/>
          <p:nvPr/>
        </p:nvSpPr>
        <p:spPr>
          <a:xfrm>
            <a:off x="3511550" y="3054350"/>
            <a:ext cx="1631950" cy="1708150"/>
          </a:xfrm>
          <a:prstGeom prst="roundRect">
            <a:avLst>
              <a:gd name="adj" fmla="val 9058"/>
            </a:avLst>
          </a:prstGeom>
          <a:solidFill>
            <a:srgbClr val="FFFFFF"/>
          </a:solidFill>
          <a:ln w="6350" cap="flat">
            <a:noFill/>
            <a:prstDash val="solid"/>
            <a:miter/>
          </a:ln>
          <a:effectLst>
            <a:outerShdw blurRad="342900" sx="102000" sy="102000" algn="ctr" rotWithShape="0">
              <a:schemeClr val="accent1">
                <a:lumMod val="60000"/>
                <a:lumOff val="40000"/>
                <a:alpha val="17000"/>
              </a:schemeClr>
            </a:outerShdw>
          </a:effectLst>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24" name="熊大的PPT宝库20"/>
          <p:cNvSpPr/>
          <p:nvPr/>
        </p:nvSpPr>
        <p:spPr>
          <a:xfrm>
            <a:off x="5276850" y="3054350"/>
            <a:ext cx="1631950" cy="1708150"/>
          </a:xfrm>
          <a:prstGeom prst="roundRect">
            <a:avLst>
              <a:gd name="adj" fmla="val 8366"/>
            </a:avLst>
          </a:prstGeom>
          <a:solidFill>
            <a:srgbClr val="FFFFFF"/>
          </a:solidFill>
          <a:ln w="6350" cap="flat">
            <a:noFill/>
            <a:prstDash val="solid"/>
            <a:miter/>
          </a:ln>
          <a:effectLst>
            <a:outerShdw blurRad="342900" sx="102000" sy="102000" algn="ctr" rotWithShape="0">
              <a:schemeClr val="accent1">
                <a:lumMod val="60000"/>
                <a:lumOff val="40000"/>
                <a:alpha val="17000"/>
              </a:schemeClr>
            </a:outerShdw>
          </a:effectLst>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25" name="熊大的PPT宝库21"/>
          <p:cNvSpPr/>
          <p:nvPr/>
        </p:nvSpPr>
        <p:spPr>
          <a:xfrm>
            <a:off x="7048500" y="3054350"/>
            <a:ext cx="1631950" cy="1708150"/>
          </a:xfrm>
          <a:prstGeom prst="roundRect">
            <a:avLst>
              <a:gd name="adj" fmla="val 6291"/>
            </a:avLst>
          </a:prstGeom>
          <a:solidFill>
            <a:srgbClr val="FFFFFF"/>
          </a:solidFill>
          <a:ln w="6350" cap="flat">
            <a:noFill/>
            <a:prstDash val="solid"/>
            <a:miter/>
          </a:ln>
          <a:effectLst>
            <a:outerShdw blurRad="342900" sx="102000" sy="102000" algn="ctr" rotWithShape="0">
              <a:schemeClr val="accent1">
                <a:lumMod val="60000"/>
                <a:lumOff val="40000"/>
                <a:alpha val="17000"/>
              </a:schemeClr>
            </a:outerShdw>
          </a:effectLst>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26" name="熊大的PPT宝库22"/>
          <p:cNvSpPr/>
          <p:nvPr/>
        </p:nvSpPr>
        <p:spPr>
          <a:xfrm>
            <a:off x="3263900" y="5181600"/>
            <a:ext cx="5657850" cy="1041400"/>
          </a:xfrm>
          <a:prstGeom prst="roundRect">
            <a:avLst>
              <a:gd name="adj" fmla="val 11789"/>
            </a:avLst>
          </a:prstGeom>
          <a:solidFill>
            <a:schemeClr val="accent5"/>
          </a:solidFill>
          <a:ln w="6350" cap="flat">
            <a:noFill/>
            <a:prstDash val="solid"/>
            <a:miter/>
          </a:ln>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27" name="熊大的PPT宝库23"/>
          <p:cNvSpPr/>
          <p:nvPr/>
        </p:nvSpPr>
        <p:spPr>
          <a:xfrm>
            <a:off x="51482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defTabSz="457200"/>
            <a:endParaRPr 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8" name="熊大的PPT宝库24"/>
          <p:cNvSpPr/>
          <p:nvPr/>
        </p:nvSpPr>
        <p:spPr>
          <a:xfrm>
            <a:off x="50593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defTabSz="457200"/>
            <a:endParaRPr 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9" name="熊大的PPT宝库25"/>
          <p:cNvSpPr/>
          <p:nvPr/>
        </p:nvSpPr>
        <p:spPr>
          <a:xfrm>
            <a:off x="70405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defTabSz="457200"/>
            <a:endParaRPr 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0" name="熊大的PPT宝库26"/>
          <p:cNvSpPr/>
          <p:nvPr/>
        </p:nvSpPr>
        <p:spPr>
          <a:xfrm>
            <a:off x="69516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defTabSz="457200"/>
            <a:endParaRPr 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1" name="熊大的PPT宝库27"/>
          <p:cNvSpPr/>
          <p:nvPr/>
        </p:nvSpPr>
        <p:spPr>
          <a:xfrm>
            <a:off x="1497933" y="4953635"/>
            <a:ext cx="483933" cy="295275"/>
          </a:xfrm>
          <a:custGeom>
            <a:avLst/>
            <a:gdLst>
              <a:gd name="connsiteX0" fmla="*/ 241967 w 483933"/>
              <a:gd name="connsiteY0" fmla="*/ 295275 h 295275"/>
              <a:gd name="connsiteX1" fmla="*/ 483934 w 483933"/>
              <a:gd name="connsiteY1" fmla="*/ 0 h 295275"/>
              <a:gd name="connsiteX2" fmla="*/ 0 w 483933"/>
              <a:gd name="connsiteY2" fmla="*/ 0 h 295275"/>
              <a:gd name="connsiteX3" fmla="*/ 241967 w 483933"/>
              <a:gd name="connsiteY3" fmla="*/ 295275 h 295275"/>
            </a:gdLst>
            <a:ahLst/>
            <a:cxnLst>
              <a:cxn ang="0">
                <a:pos x="connsiteX0" y="connsiteY0"/>
              </a:cxn>
              <a:cxn ang="0">
                <a:pos x="connsiteX1" y="connsiteY1"/>
              </a:cxn>
              <a:cxn ang="0">
                <a:pos x="connsiteX2" y="connsiteY2"/>
              </a:cxn>
              <a:cxn ang="0">
                <a:pos x="connsiteX3" y="connsiteY3"/>
              </a:cxn>
            </a:cxnLst>
            <a:rect l="l" t="t" r="r" b="b"/>
            <a:pathLst>
              <a:path w="483933" h="295275">
                <a:moveTo>
                  <a:pt x="241967" y="295275"/>
                </a:moveTo>
                <a:lnTo>
                  <a:pt x="483934" y="0"/>
                </a:lnTo>
                <a:lnTo>
                  <a:pt x="0" y="0"/>
                </a:lnTo>
                <a:lnTo>
                  <a:pt x="241967" y="295275"/>
                </a:lnTo>
                <a:close/>
              </a:path>
            </a:pathLst>
          </a:custGeom>
          <a:gradFill>
            <a:gsLst>
              <a:gs pos="0">
                <a:schemeClr val="accent5"/>
              </a:gs>
              <a:gs pos="62000">
                <a:schemeClr val="accent5">
                  <a:lumMod val="60000"/>
                  <a:lumOff val="40000"/>
                  <a:alpha val="0"/>
                </a:schemeClr>
              </a:gs>
            </a:gsLst>
            <a:lin ang="16200000" scaled="1"/>
          </a:gradFill>
          <a:ln w="6350" cap="flat">
            <a:noFill/>
            <a:prstDash val="solid"/>
            <a:miter/>
          </a:ln>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33" name="熊大的PPT宝库29"/>
          <p:cNvSpPr txBox="1"/>
          <p:nvPr/>
        </p:nvSpPr>
        <p:spPr>
          <a:xfrm>
            <a:off x="1497051" y="1996559"/>
            <a:ext cx="1107996" cy="369332"/>
          </a:xfrm>
          <a:prstGeom prst="rect">
            <a:avLst/>
          </a:prstGeom>
          <a:noFill/>
        </p:spPr>
        <p:txBody>
          <a:bodyPr wrap="none" rtlCol="0">
            <a:spAutoFit/>
          </a:bodyPr>
          <a:lstStyle/>
          <a:p>
            <a:pPr algn="ctr" defTabSz="457200"/>
            <a:r>
              <a:rPr lang="zh-CN" altLang="en-US" dirty="0">
                <a:solidFill>
                  <a:schemeClr val="bg1"/>
                </a:solidFill>
                <a:latin typeface="微软雅黑" panose="020B0503020204020204" charset="-122"/>
                <a:ea typeface="微软雅黑" panose="020B0503020204020204" charset="-122"/>
                <a:cs typeface="微软雅黑" panose="020B0503020204020204" charset="-122"/>
              </a:rPr>
              <a:t>潜在客户</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4" name="熊大的PPT宝库30"/>
          <p:cNvSpPr txBox="1"/>
          <p:nvPr/>
        </p:nvSpPr>
        <p:spPr>
          <a:xfrm>
            <a:off x="9579028" y="1996559"/>
            <a:ext cx="1107996" cy="369332"/>
          </a:xfrm>
          <a:prstGeom prst="rect">
            <a:avLst/>
          </a:prstGeom>
          <a:noFill/>
        </p:spPr>
        <p:txBody>
          <a:bodyPr wrap="none" rtlCol="0">
            <a:spAutoFit/>
          </a:bodyPr>
          <a:lstStyle/>
          <a:p>
            <a:pPr algn="ctr" defTabSz="457200"/>
            <a:r>
              <a:rPr lang="zh-CN" altLang="en-US" dirty="0">
                <a:solidFill>
                  <a:schemeClr val="bg1"/>
                </a:solidFill>
                <a:latin typeface="微软雅黑" panose="020B0503020204020204" charset="-122"/>
                <a:ea typeface="微软雅黑" panose="020B0503020204020204" charset="-122"/>
                <a:cs typeface="微软雅黑" panose="020B0503020204020204" charset="-122"/>
              </a:rPr>
              <a:t>平台内容</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5" name="熊大的PPT宝库31"/>
          <p:cNvSpPr txBox="1"/>
          <p:nvPr/>
        </p:nvSpPr>
        <p:spPr>
          <a:xfrm>
            <a:off x="4384671" y="1584249"/>
            <a:ext cx="3416320" cy="369332"/>
          </a:xfrm>
          <a:prstGeom prst="rect">
            <a:avLst/>
          </a:prstGeom>
          <a:noFill/>
        </p:spPr>
        <p:txBody>
          <a:bodyPr wrap="none" rtlCol="0">
            <a:spAutoFit/>
          </a:bodyPr>
          <a:lstStyle/>
          <a:p>
            <a:pPr algn="ctr" defTabSz="457200"/>
            <a:r>
              <a:rPr lang="zh-CN" altLang="en-US" dirty="0">
                <a:solidFill>
                  <a:schemeClr val="bg1"/>
                </a:solidFill>
                <a:latin typeface="微软雅黑" panose="020B0503020204020204" charset="-122"/>
                <a:ea typeface="微软雅黑" panose="020B0503020204020204" charset="-122"/>
                <a:cs typeface="微软雅黑" panose="020B0503020204020204" charset="-122"/>
              </a:rPr>
              <a:t>公司与员工客户产生触达的手段</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6" name="熊大的PPT宝库32"/>
          <p:cNvSpPr txBox="1"/>
          <p:nvPr/>
        </p:nvSpPr>
        <p:spPr>
          <a:xfrm>
            <a:off x="3780526" y="1974590"/>
            <a:ext cx="800219" cy="276999"/>
          </a:xfrm>
          <a:prstGeom prst="rect">
            <a:avLst/>
          </a:prstGeom>
          <a:noFill/>
        </p:spPr>
        <p:txBody>
          <a:bodyPr wrap="none" rtlCol="0">
            <a:spAutoFit/>
          </a:bodyPr>
          <a:lstStyle/>
          <a:p>
            <a:pPr algn="ctr" defTabSz="457200"/>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内容宣发</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7" name="熊大的PPT宝库33"/>
          <p:cNvSpPr txBox="1"/>
          <p:nvPr/>
        </p:nvSpPr>
        <p:spPr>
          <a:xfrm>
            <a:off x="4545405" y="1974590"/>
            <a:ext cx="800219" cy="276999"/>
          </a:xfrm>
          <a:prstGeom prst="rect">
            <a:avLst/>
          </a:prstGeom>
          <a:noFill/>
        </p:spPr>
        <p:txBody>
          <a:bodyPr wrap="none" rtlCol="0">
            <a:spAutoFit/>
          </a:bodyPr>
          <a:lstStyle/>
          <a:p>
            <a:pPr algn="ctr" defTabSz="457200"/>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活动营销</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8" name="熊大的PPT宝库34"/>
          <p:cNvSpPr txBox="1"/>
          <p:nvPr/>
        </p:nvSpPr>
        <p:spPr>
          <a:xfrm>
            <a:off x="5310282" y="1974590"/>
            <a:ext cx="800219" cy="276999"/>
          </a:xfrm>
          <a:prstGeom prst="rect">
            <a:avLst/>
          </a:prstGeom>
          <a:noFill/>
        </p:spPr>
        <p:txBody>
          <a:bodyPr wrap="none" rtlCol="0">
            <a:spAutoFit/>
          </a:bodyPr>
          <a:lstStyle/>
          <a:p>
            <a:pPr algn="ctr" defTabSz="457200"/>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游戏玩法</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9" name="熊大的PPT宝库35"/>
          <p:cNvSpPr txBox="1"/>
          <p:nvPr/>
        </p:nvSpPr>
        <p:spPr>
          <a:xfrm>
            <a:off x="6075159" y="1974590"/>
            <a:ext cx="800219" cy="276999"/>
          </a:xfrm>
          <a:prstGeom prst="rect">
            <a:avLst/>
          </a:prstGeom>
          <a:noFill/>
        </p:spPr>
        <p:txBody>
          <a:bodyPr wrap="none" rtlCol="0">
            <a:spAutoFit/>
          </a:bodyPr>
          <a:lstStyle/>
          <a:p>
            <a:pPr algn="ctr" defTabSz="457200"/>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权益引导</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0" name="熊大的PPT宝库36"/>
          <p:cNvSpPr txBox="1"/>
          <p:nvPr/>
        </p:nvSpPr>
        <p:spPr>
          <a:xfrm>
            <a:off x="6840033" y="1974590"/>
            <a:ext cx="800219" cy="276999"/>
          </a:xfrm>
          <a:prstGeom prst="rect">
            <a:avLst/>
          </a:prstGeom>
          <a:noFill/>
        </p:spPr>
        <p:txBody>
          <a:bodyPr wrap="none" rtlCol="0">
            <a:spAutoFit/>
          </a:bodyPr>
          <a:lstStyle/>
          <a:p>
            <a:pPr algn="ctr" defTabSz="457200"/>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广告投放</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1" name="熊大的PPT宝库37"/>
          <p:cNvSpPr txBox="1"/>
          <p:nvPr/>
        </p:nvSpPr>
        <p:spPr>
          <a:xfrm>
            <a:off x="7604909" y="1974590"/>
            <a:ext cx="800219" cy="276999"/>
          </a:xfrm>
          <a:prstGeom prst="rect">
            <a:avLst/>
          </a:prstGeom>
          <a:noFill/>
        </p:spPr>
        <p:txBody>
          <a:bodyPr wrap="none" rtlCol="0">
            <a:spAutoFit/>
          </a:bodyPr>
          <a:lstStyle/>
          <a:p>
            <a:pPr algn="ctr" defTabSz="457200"/>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渠道合作</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2" name="熊大的PPT宝库38"/>
          <p:cNvSpPr txBox="1"/>
          <p:nvPr/>
        </p:nvSpPr>
        <p:spPr>
          <a:xfrm>
            <a:off x="3880486" y="3111794"/>
            <a:ext cx="894080" cy="306705"/>
          </a:xfrm>
          <a:prstGeom prst="rect">
            <a:avLst/>
          </a:prstGeom>
          <a:noFill/>
        </p:spPr>
        <p:txBody>
          <a:bodyPr wrap="none" rtlCol="0">
            <a:spAutoFit/>
          </a:bodyPr>
          <a:lstStyle/>
          <a:p>
            <a:pPr algn="ctr" defTabSz="457200"/>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私人场景</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3" name="熊大的PPT宝库39"/>
          <p:cNvSpPr txBox="1"/>
          <p:nvPr/>
        </p:nvSpPr>
        <p:spPr>
          <a:xfrm>
            <a:off x="5645786" y="3111794"/>
            <a:ext cx="894080" cy="306705"/>
          </a:xfrm>
          <a:prstGeom prst="rect">
            <a:avLst/>
          </a:prstGeom>
          <a:noFill/>
        </p:spPr>
        <p:txBody>
          <a:bodyPr wrap="none" rtlCol="0">
            <a:spAutoFit/>
          </a:bodyPr>
          <a:lstStyle/>
          <a:p>
            <a:pPr algn="ctr" defTabSz="457200"/>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公共场景</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4" name="熊大的PPT宝库40"/>
          <p:cNvSpPr txBox="1"/>
          <p:nvPr/>
        </p:nvSpPr>
        <p:spPr>
          <a:xfrm>
            <a:off x="7417436" y="3111794"/>
            <a:ext cx="894080" cy="306705"/>
          </a:xfrm>
          <a:prstGeom prst="rect">
            <a:avLst/>
          </a:prstGeom>
          <a:noFill/>
        </p:spPr>
        <p:txBody>
          <a:bodyPr wrap="none" rtlCol="0">
            <a:spAutoFit/>
          </a:bodyPr>
          <a:lstStyle/>
          <a:p>
            <a:pPr algn="ctr" defTabSz="457200"/>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商业场景</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5" name="熊大的PPT宝库41"/>
          <p:cNvSpPr txBox="1"/>
          <p:nvPr/>
        </p:nvSpPr>
        <p:spPr>
          <a:xfrm>
            <a:off x="979591" y="5409471"/>
            <a:ext cx="1569660" cy="646331"/>
          </a:xfrm>
          <a:prstGeom prst="rect">
            <a:avLst/>
          </a:prstGeom>
          <a:noFill/>
        </p:spPr>
        <p:txBody>
          <a:bodyPr wrap="none" rtlCol="0">
            <a:spAutoFit/>
          </a:bodyPr>
          <a:lstStyle/>
          <a:p>
            <a:pPr algn="ctr" defTabSz="457200"/>
            <a:r>
              <a:rPr lang="zh-CN" altLang="en-US" dirty="0">
                <a:solidFill>
                  <a:schemeClr val="tx2"/>
                </a:solidFill>
                <a:latin typeface="微软雅黑" panose="020B0503020204020204" charset="-122"/>
                <a:ea typeface="微软雅黑" panose="020B0503020204020204" charset="-122"/>
                <a:cs typeface="微软雅黑" panose="020B0503020204020204" charset="-122"/>
              </a:rPr>
              <a:t>激发客户</a:t>
            </a:r>
            <a:endParaRPr lang="en-US" altLang="zh-CN" dirty="0">
              <a:solidFill>
                <a:schemeClr val="tx2"/>
              </a:solidFill>
              <a:latin typeface="微软雅黑" panose="020B0503020204020204" charset="-122"/>
              <a:ea typeface="微软雅黑" panose="020B0503020204020204" charset="-122"/>
              <a:cs typeface="微软雅黑" panose="020B0503020204020204" charset="-122"/>
            </a:endParaRPr>
          </a:p>
          <a:p>
            <a:pPr algn="ctr" defTabSz="457200"/>
            <a:r>
              <a:rPr lang="zh-CN" altLang="en-US" dirty="0">
                <a:solidFill>
                  <a:schemeClr val="tx2"/>
                </a:solidFill>
                <a:latin typeface="微软雅黑" panose="020B0503020204020204" charset="-122"/>
                <a:ea typeface="微软雅黑" panose="020B0503020204020204" charset="-122"/>
                <a:cs typeface="微软雅黑" panose="020B0503020204020204" charset="-122"/>
              </a:rPr>
              <a:t>产生购买行为</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6" name="熊大的PPT宝库42"/>
          <p:cNvSpPr txBox="1"/>
          <p:nvPr/>
        </p:nvSpPr>
        <p:spPr>
          <a:xfrm>
            <a:off x="9706609" y="5409471"/>
            <a:ext cx="1554480" cy="645160"/>
          </a:xfrm>
          <a:prstGeom prst="rect">
            <a:avLst/>
          </a:prstGeom>
          <a:noFill/>
        </p:spPr>
        <p:txBody>
          <a:bodyPr wrap="none" rtlCol="0">
            <a:spAutoFit/>
          </a:bodyPr>
          <a:lstStyle/>
          <a:p>
            <a:pPr lvl="0" algn="ctr" defTabSz="457200">
              <a:buClrTx/>
              <a:buSzTx/>
              <a:buFontTx/>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提炼曝光</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defTabSz="457200">
              <a:buClrTx/>
              <a:buSzTx/>
              <a:buFontTx/>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内容价值优势</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7" name="熊大的PPT宝库43"/>
          <p:cNvSpPr txBox="1"/>
          <p:nvPr/>
        </p:nvSpPr>
        <p:spPr>
          <a:xfrm>
            <a:off x="3928801" y="5359702"/>
            <a:ext cx="589280" cy="337185"/>
          </a:xfrm>
          <a:prstGeom prst="rect">
            <a:avLst/>
          </a:prstGeom>
          <a:noFill/>
        </p:spPr>
        <p:txBody>
          <a:bodyPr wrap="none" rtlCol="0">
            <a:spAutoFit/>
          </a:bodyPr>
          <a:lstStyle/>
          <a:p>
            <a:pPr algn="ctr" defTabSz="457200"/>
            <a:r>
              <a:rPr lang="zh-CN" altLang="en-US" sz="1600" b="1" dirty="0">
                <a:solidFill>
                  <a:schemeClr val="bg1"/>
                </a:solidFill>
                <a:effectLst/>
                <a:latin typeface="微软雅黑" panose="020B0503020204020204" charset="-122"/>
                <a:ea typeface="微软雅黑" panose="020B0503020204020204" charset="-122"/>
                <a:cs typeface="微软雅黑" panose="020B0503020204020204" charset="-122"/>
              </a:rPr>
              <a:t>触达</a:t>
            </a:r>
            <a:endParaRPr lang="zh-CN" altLang="en-US" sz="1600" b="1" dirty="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48" name="熊大的PPT宝库44"/>
          <p:cNvSpPr txBox="1"/>
          <p:nvPr/>
        </p:nvSpPr>
        <p:spPr>
          <a:xfrm>
            <a:off x="5787457" y="5359702"/>
            <a:ext cx="589280" cy="337185"/>
          </a:xfrm>
          <a:prstGeom prst="rect">
            <a:avLst/>
          </a:prstGeom>
          <a:noFill/>
        </p:spPr>
        <p:txBody>
          <a:bodyPr wrap="none" rtlCol="0">
            <a:spAutoFit/>
          </a:bodyPr>
          <a:lstStyle/>
          <a:p>
            <a:pPr algn="ctr" defTabSz="457200"/>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吸引</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9" name="熊大的PPT宝库45"/>
          <p:cNvSpPr txBox="1"/>
          <p:nvPr/>
        </p:nvSpPr>
        <p:spPr>
          <a:xfrm>
            <a:off x="7616020" y="5359702"/>
            <a:ext cx="589280" cy="337185"/>
          </a:xfrm>
          <a:prstGeom prst="rect">
            <a:avLst/>
          </a:prstGeom>
          <a:noFill/>
        </p:spPr>
        <p:txBody>
          <a:bodyPr wrap="none" rtlCol="0">
            <a:spAutoFit/>
          </a:bodyPr>
          <a:lstStyle/>
          <a:p>
            <a:pPr algn="ctr" defTabSz="457200"/>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转化</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0" name="熊大的PPT宝库46"/>
          <p:cNvSpPr txBox="1"/>
          <p:nvPr/>
        </p:nvSpPr>
        <p:spPr>
          <a:xfrm>
            <a:off x="1743276" y="2591761"/>
            <a:ext cx="615553"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既往客户</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4" name="熊大的PPT宝库47"/>
          <p:cNvSpPr txBox="1"/>
          <p:nvPr/>
        </p:nvSpPr>
        <p:spPr>
          <a:xfrm>
            <a:off x="9646289" y="2593159"/>
            <a:ext cx="1077218"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小型产品说明会</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熊大的PPT宝库48"/>
          <p:cNvSpPr txBox="1"/>
          <p:nvPr/>
        </p:nvSpPr>
        <p:spPr>
          <a:xfrm>
            <a:off x="9954066" y="2980808"/>
            <a:ext cx="461665"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品酒会</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6" name="熊大的PPT宝库49"/>
          <p:cNvSpPr txBox="1"/>
          <p:nvPr/>
        </p:nvSpPr>
        <p:spPr>
          <a:xfrm>
            <a:off x="9646289" y="3368457"/>
            <a:ext cx="1077218"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客户权益介绍会</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 name="熊大的PPT宝库50"/>
          <p:cNvSpPr txBox="1"/>
          <p:nvPr/>
        </p:nvSpPr>
        <p:spPr>
          <a:xfrm>
            <a:off x="9646289" y="3756106"/>
            <a:ext cx="1077218"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客户服务宣导会</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4" name="熊大的PPT宝库63"/>
          <p:cNvSpPr txBox="1"/>
          <p:nvPr/>
        </p:nvSpPr>
        <p:spPr>
          <a:xfrm>
            <a:off x="5678144" y="5756996"/>
            <a:ext cx="807913" cy="323165"/>
          </a:xfrm>
          <a:prstGeom prst="rect">
            <a:avLst/>
          </a:prstGeom>
          <a:noFill/>
        </p:spPr>
        <p:txBody>
          <a:bodyPr wrap="none" lIns="0" tIns="0" rIns="0" bIns="0" rtlCol="0">
            <a:spAutoFit/>
          </a:bodyPr>
          <a:lstStyle/>
          <a:p>
            <a:pPr algn="ctr" defTabSz="457200"/>
            <a:r>
              <a:rPr lang="zh-CN" altLang="en-US" sz="1050" dirty="0">
                <a:solidFill>
                  <a:schemeClr val="bg1"/>
                </a:solidFill>
                <a:latin typeface="微软雅黑" panose="020B0503020204020204" charset="-122"/>
                <a:ea typeface="微软雅黑" panose="020B0503020204020204" charset="-122"/>
                <a:cs typeface="微软雅黑" panose="020B0503020204020204" charset="-122"/>
              </a:rPr>
              <a:t>价值刺激</a:t>
            </a:r>
            <a:endParaRPr lang="en-US" altLang="zh-CN" sz="1050" dirty="0">
              <a:solidFill>
                <a:schemeClr val="bg1"/>
              </a:solidFill>
              <a:latin typeface="微软雅黑" panose="020B0503020204020204" charset="-122"/>
              <a:ea typeface="微软雅黑" panose="020B0503020204020204" charset="-122"/>
              <a:cs typeface="微软雅黑" panose="020B0503020204020204" charset="-122"/>
            </a:endParaRPr>
          </a:p>
          <a:p>
            <a:pPr algn="ctr" defTabSz="457200"/>
            <a:r>
              <a:rPr lang="zh-CN" altLang="en-US" sz="1050" dirty="0">
                <a:solidFill>
                  <a:schemeClr val="bg1"/>
                </a:solidFill>
                <a:latin typeface="微软雅黑" panose="020B0503020204020204" charset="-122"/>
                <a:ea typeface="微软雅黑" panose="020B0503020204020204" charset="-122"/>
                <a:cs typeface="微软雅黑" panose="020B0503020204020204" charset="-122"/>
              </a:rPr>
              <a:t>促进行动意愿</a:t>
            </a:r>
            <a:endParaRPr lang="zh-CN" altLang="en-US" sz="105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6" name="熊大的PPT宝库64"/>
          <p:cNvSpPr txBox="1"/>
          <p:nvPr/>
        </p:nvSpPr>
        <p:spPr>
          <a:xfrm>
            <a:off x="3819488" y="5756996"/>
            <a:ext cx="807913" cy="323165"/>
          </a:xfrm>
          <a:prstGeom prst="rect">
            <a:avLst/>
          </a:prstGeom>
          <a:noFill/>
        </p:spPr>
        <p:txBody>
          <a:bodyPr wrap="none" lIns="0" tIns="0" rIns="0" bIns="0" rtlCol="0">
            <a:spAutoFit/>
          </a:bodyPr>
          <a:lstStyle/>
          <a:p>
            <a:pPr algn="ctr" defTabSz="457200"/>
            <a:r>
              <a:rPr lang="zh-CN" altLang="en-US" sz="1050" dirty="0">
                <a:solidFill>
                  <a:schemeClr val="bg1"/>
                </a:solidFill>
                <a:latin typeface="微软雅黑" panose="020B0503020204020204" charset="-122"/>
                <a:ea typeface="微软雅黑" panose="020B0503020204020204" charset="-122"/>
                <a:cs typeface="微软雅黑" panose="020B0503020204020204" charset="-122"/>
              </a:rPr>
              <a:t>利用内容</a:t>
            </a:r>
            <a:endParaRPr lang="en-US" altLang="zh-CN" sz="1050" dirty="0">
              <a:solidFill>
                <a:schemeClr val="bg1"/>
              </a:solidFill>
              <a:latin typeface="微软雅黑" panose="020B0503020204020204" charset="-122"/>
              <a:ea typeface="微软雅黑" panose="020B0503020204020204" charset="-122"/>
              <a:cs typeface="微软雅黑" panose="020B0503020204020204" charset="-122"/>
            </a:endParaRPr>
          </a:p>
          <a:p>
            <a:pPr algn="ctr" defTabSz="457200"/>
            <a:r>
              <a:rPr lang="zh-CN" altLang="en-US" sz="1050" dirty="0">
                <a:solidFill>
                  <a:schemeClr val="bg1"/>
                </a:solidFill>
                <a:latin typeface="微软雅黑" panose="020B0503020204020204" charset="-122"/>
                <a:ea typeface="微软雅黑" panose="020B0503020204020204" charset="-122"/>
                <a:cs typeface="微软雅黑" panose="020B0503020204020204" charset="-122"/>
              </a:rPr>
              <a:t>产生购买关系</a:t>
            </a:r>
            <a:endParaRPr lang="zh-CN" altLang="en-US" sz="105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8" name="熊大的PPT宝库65"/>
          <p:cNvSpPr txBox="1"/>
          <p:nvPr/>
        </p:nvSpPr>
        <p:spPr>
          <a:xfrm>
            <a:off x="7506706" y="5756996"/>
            <a:ext cx="807913" cy="323165"/>
          </a:xfrm>
          <a:prstGeom prst="rect">
            <a:avLst/>
          </a:prstGeom>
          <a:noFill/>
        </p:spPr>
        <p:txBody>
          <a:bodyPr wrap="none" lIns="0" tIns="0" rIns="0" bIns="0" rtlCol="0">
            <a:spAutoFit/>
          </a:bodyPr>
          <a:lstStyle/>
          <a:p>
            <a:pPr algn="ctr" defTabSz="457200"/>
            <a:r>
              <a:rPr lang="zh-CN" altLang="en-US" sz="1050" dirty="0">
                <a:solidFill>
                  <a:schemeClr val="bg1"/>
                </a:solidFill>
                <a:latin typeface="微软雅黑" panose="020B0503020204020204" charset="-122"/>
                <a:ea typeface="微软雅黑" panose="020B0503020204020204" charset="-122"/>
                <a:cs typeface="微软雅黑" panose="020B0503020204020204" charset="-122"/>
              </a:rPr>
              <a:t>产生内容</a:t>
            </a:r>
            <a:endParaRPr lang="en-US" altLang="zh-CN" sz="1050" dirty="0">
              <a:solidFill>
                <a:schemeClr val="bg1"/>
              </a:solidFill>
              <a:latin typeface="微软雅黑" panose="020B0503020204020204" charset="-122"/>
              <a:ea typeface="微软雅黑" panose="020B0503020204020204" charset="-122"/>
              <a:cs typeface="微软雅黑" panose="020B0503020204020204" charset="-122"/>
            </a:endParaRPr>
          </a:p>
          <a:p>
            <a:pPr algn="ctr" defTabSz="457200"/>
            <a:r>
              <a:rPr lang="zh-CN" altLang="en-US" sz="1050" dirty="0">
                <a:solidFill>
                  <a:schemeClr val="bg1"/>
                </a:solidFill>
                <a:latin typeface="微软雅黑" panose="020B0503020204020204" charset="-122"/>
                <a:ea typeface="微软雅黑" panose="020B0503020204020204" charset="-122"/>
                <a:cs typeface="微软雅黑" panose="020B0503020204020204" charset="-122"/>
              </a:rPr>
              <a:t>提升消费转化</a:t>
            </a:r>
            <a:endParaRPr lang="zh-CN" altLang="en-US" sz="105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3" name="熊大的PPT宝库66"/>
          <p:cNvSpPr/>
          <p:nvPr/>
        </p:nvSpPr>
        <p:spPr>
          <a:xfrm>
            <a:off x="1386493" y="2980906"/>
            <a:ext cx="1296000" cy="316029"/>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algn="just" defTabSz="731520">
              <a:lnSpc>
                <a:spcPct val="130000"/>
              </a:lnSpc>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4" name="熊大的PPT宝库67"/>
          <p:cNvSpPr/>
          <p:nvPr/>
        </p:nvSpPr>
        <p:spPr>
          <a:xfrm>
            <a:off x="1386493" y="3368555"/>
            <a:ext cx="1296000" cy="316029"/>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algn="just" defTabSz="731520">
              <a:lnSpc>
                <a:spcPct val="130000"/>
              </a:lnSpc>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5" name="熊大的PPT宝库68"/>
          <p:cNvSpPr/>
          <p:nvPr/>
        </p:nvSpPr>
        <p:spPr>
          <a:xfrm>
            <a:off x="1386493" y="3756204"/>
            <a:ext cx="1296000" cy="316029"/>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algn="just" defTabSz="731520">
              <a:lnSpc>
                <a:spcPct val="130000"/>
              </a:lnSpc>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6" name="熊大的PPT宝库69"/>
          <p:cNvSpPr/>
          <p:nvPr/>
        </p:nvSpPr>
        <p:spPr>
          <a:xfrm>
            <a:off x="1386493" y="4143853"/>
            <a:ext cx="1296000" cy="316029"/>
          </a:xfrm>
          <a:prstGeom prst="roundRect">
            <a:avLst>
              <a:gd name="adj" fmla="val 50000"/>
            </a:avLst>
          </a:prstGeom>
          <a:solidFill>
            <a:schemeClr val="accent1">
              <a:lumMod val="20000"/>
              <a:lumOff val="80000"/>
              <a:alpha val="70000"/>
            </a:schemeClr>
          </a:solidFill>
        </p:spPr>
        <p:txBody>
          <a:bodyPr wrap="square" lIns="0" tIns="0" rIns="0" bIns="0" rtlCol="0" anchor="t">
            <a:spAutoFit/>
          </a:bodyPr>
          <a:lstStyle/>
          <a:p>
            <a:pPr algn="just" defTabSz="731520">
              <a:lnSpc>
                <a:spcPct val="130000"/>
              </a:lnSpc>
            </a:pP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 name="熊大的PPT宝库70"/>
          <p:cNvSpPr txBox="1"/>
          <p:nvPr/>
        </p:nvSpPr>
        <p:spPr>
          <a:xfrm>
            <a:off x="1743276" y="3007020"/>
            <a:ext cx="615553"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沉睡客户</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 name="熊大的PPT宝库71"/>
          <p:cNvSpPr txBox="1"/>
          <p:nvPr/>
        </p:nvSpPr>
        <p:spPr>
          <a:xfrm>
            <a:off x="1743276" y="3394669"/>
            <a:ext cx="615553"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渠道客户</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 name="熊大的PPT宝库72"/>
          <p:cNvSpPr txBox="1"/>
          <p:nvPr/>
        </p:nvSpPr>
        <p:spPr>
          <a:xfrm>
            <a:off x="1666332" y="3782318"/>
            <a:ext cx="769441"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转介绍客户</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8" name="熊大的PPT宝库73"/>
          <p:cNvSpPr txBox="1"/>
          <p:nvPr/>
        </p:nvSpPr>
        <p:spPr>
          <a:xfrm>
            <a:off x="1666334" y="4169967"/>
            <a:ext cx="769442"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新开发客户</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9" name="熊大的PPT宝库74"/>
          <p:cNvSpPr/>
          <p:nvPr/>
        </p:nvSpPr>
        <p:spPr>
          <a:xfrm rot="16200000">
            <a:off x="3015052" y="3405812"/>
            <a:ext cx="485933" cy="128587"/>
          </a:xfrm>
          <a:custGeom>
            <a:avLst/>
            <a:gdLst>
              <a:gd name="connsiteX0" fmla="*/ 242964 w 485933"/>
              <a:gd name="connsiteY0" fmla="*/ 128588 h 128587"/>
              <a:gd name="connsiteX1" fmla="*/ 485934 w 485933"/>
              <a:gd name="connsiteY1" fmla="*/ 0 h 128587"/>
              <a:gd name="connsiteX2" fmla="*/ 0 w 485933"/>
              <a:gd name="connsiteY2" fmla="*/ 0 h 128587"/>
              <a:gd name="connsiteX3" fmla="*/ 242964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64" y="128588"/>
                </a:moveTo>
                <a:lnTo>
                  <a:pt x="485934" y="0"/>
                </a:lnTo>
                <a:lnTo>
                  <a:pt x="0" y="0"/>
                </a:lnTo>
                <a:lnTo>
                  <a:pt x="242964" y="128588"/>
                </a:lnTo>
                <a:close/>
              </a:path>
            </a:pathLst>
          </a:custGeom>
          <a:gradFill>
            <a:gsLst>
              <a:gs pos="0">
                <a:schemeClr val="accent1">
                  <a:lumMod val="60000"/>
                  <a:lumOff val="40000"/>
                </a:schemeClr>
              </a:gs>
              <a:gs pos="74055">
                <a:schemeClr val="accent1">
                  <a:lumMod val="60000"/>
                  <a:lumOff val="40000"/>
                  <a:alpha val="0"/>
                </a:schemeClr>
              </a:gs>
            </a:gsLst>
            <a:lin ang="16200000" scaled="1"/>
          </a:gradFill>
          <a:ln w="6350" cap="flat">
            <a:noFill/>
            <a:prstDash val="solid"/>
            <a:miter/>
          </a:ln>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90" name="熊大的PPT宝库75"/>
          <p:cNvSpPr/>
          <p:nvPr/>
        </p:nvSpPr>
        <p:spPr>
          <a:xfrm rot="5400000">
            <a:off x="8727013" y="3405795"/>
            <a:ext cx="485901" cy="128587"/>
          </a:xfrm>
          <a:custGeom>
            <a:avLst/>
            <a:gdLst>
              <a:gd name="connsiteX0" fmla="*/ 242951 w 485901"/>
              <a:gd name="connsiteY0" fmla="*/ 128588 h 128587"/>
              <a:gd name="connsiteX1" fmla="*/ 485901 w 485901"/>
              <a:gd name="connsiteY1" fmla="*/ 0 h 128587"/>
              <a:gd name="connsiteX2" fmla="*/ 0 w 485901"/>
              <a:gd name="connsiteY2" fmla="*/ 0 h 128587"/>
              <a:gd name="connsiteX3" fmla="*/ 242951 w 485901"/>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01" h="128587">
                <a:moveTo>
                  <a:pt x="242951" y="128588"/>
                </a:moveTo>
                <a:lnTo>
                  <a:pt x="485901" y="0"/>
                </a:lnTo>
                <a:lnTo>
                  <a:pt x="0" y="0"/>
                </a:lnTo>
                <a:lnTo>
                  <a:pt x="242951" y="128588"/>
                </a:lnTo>
                <a:close/>
              </a:path>
            </a:pathLst>
          </a:custGeom>
          <a:gradFill>
            <a:gsLst>
              <a:gs pos="0">
                <a:schemeClr val="accent1">
                  <a:lumMod val="60000"/>
                  <a:lumOff val="40000"/>
                </a:schemeClr>
              </a:gs>
              <a:gs pos="74055">
                <a:schemeClr val="accent1">
                  <a:lumMod val="60000"/>
                  <a:lumOff val="40000"/>
                  <a:alpha val="0"/>
                </a:schemeClr>
              </a:gs>
            </a:gsLst>
            <a:lin ang="16200000" scaled="1"/>
          </a:gradFill>
          <a:ln w="6350" cap="flat">
            <a:noFill/>
            <a:prstDash val="solid"/>
            <a:miter/>
          </a:ln>
        </p:spPr>
        <p:txBody>
          <a:bodyPr rtlCol="0" anchor="ctr">
            <a:noAutofit/>
          </a:bodyPr>
          <a:lstStyle/>
          <a:p>
            <a:pPr lvl="0" algn="l" defTabSz="457200">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91" name="熊大的PPT宝库76"/>
          <p:cNvSpPr txBox="1"/>
          <p:nvPr/>
        </p:nvSpPr>
        <p:spPr>
          <a:xfrm>
            <a:off x="9800178" y="4144544"/>
            <a:ext cx="769441" cy="252441"/>
          </a:xfrm>
          <a:prstGeom prst="rect">
            <a:avLst/>
          </a:prstGeom>
          <a:noFill/>
        </p:spPr>
        <p:txBody>
          <a:bodyPr wrap="none" lIns="0" tIns="0" rIns="0" bIns="0" rtlCol="0" anchor="ctr" anchorCtr="0">
            <a:spAutoFit/>
          </a:bodyPr>
          <a:lstStyle/>
          <a:p>
            <a:pPr algn="ctr" defTabSz="457200">
              <a:lnSpc>
                <a:spcPct val="15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高端权益会</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7" name="熊大的PPT宝库77"/>
          <p:cNvSpPr/>
          <p:nvPr/>
        </p:nvSpPr>
        <p:spPr>
          <a:xfrm>
            <a:off x="3780155" y="3506470"/>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8" name="熊大的PPT宝库78"/>
          <p:cNvSpPr/>
          <p:nvPr/>
        </p:nvSpPr>
        <p:spPr>
          <a:xfrm>
            <a:off x="3780155" y="3791585"/>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9" name="熊大的PPT宝库79"/>
          <p:cNvSpPr/>
          <p:nvPr/>
        </p:nvSpPr>
        <p:spPr>
          <a:xfrm>
            <a:off x="3780155" y="4077335"/>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0" name="熊大的PPT宝库80"/>
          <p:cNvSpPr/>
          <p:nvPr/>
        </p:nvSpPr>
        <p:spPr>
          <a:xfrm>
            <a:off x="3780155" y="4362450"/>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1" name="熊大的PPT宝库89"/>
          <p:cNvSpPr/>
          <p:nvPr/>
        </p:nvSpPr>
        <p:spPr>
          <a:xfrm rot="16200000">
            <a:off x="2748352" y="5627734"/>
            <a:ext cx="485933" cy="128587"/>
          </a:xfrm>
          <a:custGeom>
            <a:avLst/>
            <a:gdLst>
              <a:gd name="connsiteX0" fmla="*/ 242964 w 485933"/>
              <a:gd name="connsiteY0" fmla="*/ 128588 h 128587"/>
              <a:gd name="connsiteX1" fmla="*/ 485934 w 485933"/>
              <a:gd name="connsiteY1" fmla="*/ 0 h 128587"/>
              <a:gd name="connsiteX2" fmla="*/ 0 w 485933"/>
              <a:gd name="connsiteY2" fmla="*/ 0 h 128587"/>
              <a:gd name="connsiteX3" fmla="*/ 242964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64" y="128588"/>
                </a:moveTo>
                <a:lnTo>
                  <a:pt x="485934" y="0"/>
                </a:lnTo>
                <a:lnTo>
                  <a:pt x="0" y="0"/>
                </a:lnTo>
                <a:lnTo>
                  <a:pt x="242964" y="128588"/>
                </a:lnTo>
                <a:close/>
              </a:path>
            </a:pathLst>
          </a:custGeom>
          <a:gradFill>
            <a:gsLst>
              <a:gs pos="0">
                <a:schemeClr val="accent5"/>
              </a:gs>
              <a:gs pos="74055">
                <a:schemeClr val="accent5">
                  <a:alpha val="0"/>
                </a:schemeClr>
              </a:gs>
            </a:gsLst>
            <a:lin ang="16200000" scaled="1"/>
          </a:gradFill>
          <a:ln w="6350" cap="flat">
            <a:noFill/>
            <a:prstDash val="solid"/>
            <a:miter/>
          </a:ln>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112" name="熊大的PPT宝库90"/>
          <p:cNvSpPr/>
          <p:nvPr/>
        </p:nvSpPr>
        <p:spPr>
          <a:xfrm rot="5400000">
            <a:off x="8981013" y="5627717"/>
            <a:ext cx="485901" cy="128587"/>
          </a:xfrm>
          <a:custGeom>
            <a:avLst/>
            <a:gdLst>
              <a:gd name="connsiteX0" fmla="*/ 242951 w 485901"/>
              <a:gd name="connsiteY0" fmla="*/ 128588 h 128587"/>
              <a:gd name="connsiteX1" fmla="*/ 485901 w 485901"/>
              <a:gd name="connsiteY1" fmla="*/ 0 h 128587"/>
              <a:gd name="connsiteX2" fmla="*/ 0 w 485901"/>
              <a:gd name="connsiteY2" fmla="*/ 0 h 128587"/>
              <a:gd name="connsiteX3" fmla="*/ 242951 w 485901"/>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01" h="128587">
                <a:moveTo>
                  <a:pt x="242951" y="128588"/>
                </a:moveTo>
                <a:lnTo>
                  <a:pt x="485901" y="0"/>
                </a:lnTo>
                <a:lnTo>
                  <a:pt x="0" y="0"/>
                </a:lnTo>
                <a:lnTo>
                  <a:pt x="242951" y="128588"/>
                </a:lnTo>
                <a:close/>
              </a:path>
            </a:pathLst>
          </a:custGeom>
          <a:gradFill>
            <a:gsLst>
              <a:gs pos="0">
                <a:schemeClr val="accent5"/>
              </a:gs>
              <a:gs pos="74055">
                <a:schemeClr val="accent5">
                  <a:alpha val="0"/>
                </a:schemeClr>
              </a:gs>
            </a:gsLst>
            <a:lin ang="16200000" scaled="1"/>
          </a:gradFill>
          <a:ln w="6350" cap="flat">
            <a:noFill/>
            <a:prstDash val="solid"/>
            <a:miter/>
          </a:ln>
        </p:spPr>
        <p:txBody>
          <a:bodyPr rtlCol="0" anchor="ctr">
            <a:noAutofit/>
          </a:bodyPr>
          <a:lstStyle/>
          <a:p>
            <a:pPr lvl="0" algn="l" defTabSz="457200">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68" name="熊大的PPT宝库27"/>
          <p:cNvSpPr/>
          <p:nvPr/>
        </p:nvSpPr>
        <p:spPr>
          <a:xfrm>
            <a:off x="10239343" y="4995545"/>
            <a:ext cx="483933" cy="295275"/>
          </a:xfrm>
          <a:custGeom>
            <a:avLst/>
            <a:gdLst>
              <a:gd name="connsiteX0" fmla="*/ 241967 w 483933"/>
              <a:gd name="connsiteY0" fmla="*/ 295275 h 295275"/>
              <a:gd name="connsiteX1" fmla="*/ 483934 w 483933"/>
              <a:gd name="connsiteY1" fmla="*/ 0 h 295275"/>
              <a:gd name="connsiteX2" fmla="*/ 0 w 483933"/>
              <a:gd name="connsiteY2" fmla="*/ 0 h 295275"/>
              <a:gd name="connsiteX3" fmla="*/ 241967 w 483933"/>
              <a:gd name="connsiteY3" fmla="*/ 295275 h 295275"/>
            </a:gdLst>
            <a:ahLst/>
            <a:cxnLst>
              <a:cxn ang="0">
                <a:pos x="connsiteX0" y="connsiteY0"/>
              </a:cxn>
              <a:cxn ang="0">
                <a:pos x="connsiteX1" y="connsiteY1"/>
              </a:cxn>
              <a:cxn ang="0">
                <a:pos x="connsiteX2" y="connsiteY2"/>
              </a:cxn>
              <a:cxn ang="0">
                <a:pos x="connsiteX3" y="connsiteY3"/>
              </a:cxn>
            </a:cxnLst>
            <a:rect l="l" t="t" r="r" b="b"/>
            <a:pathLst>
              <a:path w="483933" h="295275">
                <a:moveTo>
                  <a:pt x="241967" y="295275"/>
                </a:moveTo>
                <a:lnTo>
                  <a:pt x="483934" y="0"/>
                </a:lnTo>
                <a:lnTo>
                  <a:pt x="0" y="0"/>
                </a:lnTo>
                <a:lnTo>
                  <a:pt x="241967" y="295275"/>
                </a:lnTo>
                <a:close/>
              </a:path>
            </a:pathLst>
          </a:custGeom>
          <a:gradFill>
            <a:gsLst>
              <a:gs pos="0">
                <a:schemeClr val="accent5"/>
              </a:gs>
              <a:gs pos="62000">
                <a:schemeClr val="accent5">
                  <a:lumMod val="60000"/>
                  <a:lumOff val="40000"/>
                  <a:alpha val="0"/>
                </a:schemeClr>
              </a:gs>
            </a:gsLst>
            <a:lin ang="16200000" scaled="1"/>
          </a:gradFill>
          <a:ln w="6350" cap="flat">
            <a:noFill/>
            <a:prstDash val="solid"/>
            <a:miter/>
          </a:ln>
        </p:spPr>
        <p:txBody>
          <a:bodyPr rtlCol="0" anchor="ctr"/>
          <a:lstStyle/>
          <a:p>
            <a:pPr defTabSz="457200"/>
            <a:endParaRPr lang="en-US">
              <a:latin typeface="微软雅黑" panose="020B0503020204020204" charset="-122"/>
              <a:ea typeface="微软雅黑" panose="020B0503020204020204" charset="-122"/>
              <a:cs typeface="微软雅黑" panose="020B0503020204020204" charset="-122"/>
            </a:endParaRPr>
          </a:p>
        </p:txBody>
      </p:sp>
      <p:sp>
        <p:nvSpPr>
          <p:cNvPr id="73" name="熊大的PPT宝库51"/>
          <p:cNvSpPr txBox="1"/>
          <p:nvPr/>
        </p:nvSpPr>
        <p:spPr>
          <a:xfrm>
            <a:off x="4039801" y="3494284"/>
            <a:ext cx="538609" cy="196657"/>
          </a:xfrm>
          <a:prstGeom prst="rect">
            <a:avLst/>
          </a:prstGeom>
          <a:noFill/>
        </p:spPr>
        <p:txBody>
          <a:bodyPr wrap="none" lIns="0" tIns="0" rIns="0" bIns="0" rtlCol="0">
            <a:spAutoFit/>
          </a:bodyPr>
          <a:lstStyle/>
          <a:p>
            <a:pPr algn="ctr" defTabSz="457200">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家庭私宴</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5" name="熊大的PPT宝库52"/>
          <p:cNvSpPr txBox="1"/>
          <p:nvPr/>
        </p:nvSpPr>
        <p:spPr>
          <a:xfrm>
            <a:off x="4039800" y="3783274"/>
            <a:ext cx="538609" cy="196657"/>
          </a:xfrm>
          <a:prstGeom prst="rect">
            <a:avLst/>
          </a:prstGeom>
          <a:noFill/>
        </p:spPr>
        <p:txBody>
          <a:bodyPr wrap="none" lIns="0" tIns="0" rIns="0" bIns="0" rtlCol="0">
            <a:spAutoFit/>
          </a:bodyPr>
          <a:lstStyle/>
          <a:p>
            <a:pPr algn="ctr" defTabSz="457200">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朋友聚餐</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7" name="熊大的PPT宝库53"/>
          <p:cNvSpPr txBox="1"/>
          <p:nvPr/>
        </p:nvSpPr>
        <p:spPr>
          <a:xfrm>
            <a:off x="4039801" y="4072264"/>
            <a:ext cx="538609" cy="196657"/>
          </a:xfrm>
          <a:prstGeom prst="rect">
            <a:avLst/>
          </a:prstGeom>
          <a:noFill/>
        </p:spPr>
        <p:txBody>
          <a:bodyPr wrap="none" lIns="0" tIns="0" rIns="0" bIns="0" rtlCol="0">
            <a:spAutoFit/>
          </a:bodyPr>
          <a:lstStyle/>
          <a:p>
            <a:pPr algn="ctr" defTabSz="457200">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个人交际</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9" name="熊大的PPT宝库54"/>
          <p:cNvSpPr txBox="1"/>
          <p:nvPr/>
        </p:nvSpPr>
        <p:spPr>
          <a:xfrm>
            <a:off x="4039801" y="4361254"/>
            <a:ext cx="538609" cy="196657"/>
          </a:xfrm>
          <a:prstGeom prst="rect">
            <a:avLst/>
          </a:prstGeom>
          <a:noFill/>
        </p:spPr>
        <p:txBody>
          <a:bodyPr wrap="none" lIns="0" tIns="0" rIns="0" bIns="0" rtlCol="0">
            <a:spAutoFit/>
          </a:bodyPr>
          <a:lstStyle/>
          <a:p>
            <a:pPr algn="ctr" defTabSz="457200">
              <a:lnSpc>
                <a:spcPct val="130000"/>
              </a:lnSpc>
            </a:pPr>
            <a:r>
              <a:rPr lang="zh-CN" altLang="en-US" sz="1050">
                <a:solidFill>
                  <a:schemeClr val="tx2"/>
                </a:solidFill>
                <a:latin typeface="微软雅黑" panose="020B0503020204020204" charset="-122"/>
                <a:ea typeface="微软雅黑" panose="020B0503020204020204" charset="-122"/>
                <a:cs typeface="微软雅黑" panose="020B0503020204020204" charset="-122"/>
              </a:rPr>
              <a:t>社交平台</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6" name="熊大的PPT宝库77"/>
          <p:cNvSpPr/>
          <p:nvPr/>
        </p:nvSpPr>
        <p:spPr>
          <a:xfrm>
            <a:off x="5598795" y="3506470"/>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7" name="熊大的PPT宝库78"/>
          <p:cNvSpPr/>
          <p:nvPr/>
        </p:nvSpPr>
        <p:spPr>
          <a:xfrm>
            <a:off x="5598795" y="3791585"/>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8" name="熊大的PPT宝库79"/>
          <p:cNvSpPr/>
          <p:nvPr/>
        </p:nvSpPr>
        <p:spPr>
          <a:xfrm>
            <a:off x="5598795" y="4077335"/>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9" name="熊大的PPT宝库80"/>
          <p:cNvSpPr/>
          <p:nvPr/>
        </p:nvSpPr>
        <p:spPr>
          <a:xfrm>
            <a:off x="5598795" y="4362450"/>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5" name="熊大的PPT宝库55"/>
          <p:cNvSpPr txBox="1"/>
          <p:nvPr/>
        </p:nvSpPr>
        <p:spPr>
          <a:xfrm>
            <a:off x="5872480" y="3502660"/>
            <a:ext cx="538480" cy="196850"/>
          </a:xfrm>
          <a:prstGeom prst="rect">
            <a:avLst/>
          </a:prstGeom>
          <a:noFill/>
        </p:spPr>
        <p:txBody>
          <a:bodyPr wrap="none" lIns="0" tIns="0" rIns="0" bIns="0" rtlCol="0">
            <a:spAutoFit/>
          </a:bodyPr>
          <a:lstStyle/>
          <a:p>
            <a:pPr algn="ctr" defTabSz="457200">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公司平台</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6" name="熊大的PPT宝库56"/>
          <p:cNvSpPr txBox="1"/>
          <p:nvPr/>
        </p:nvSpPr>
        <p:spPr>
          <a:xfrm>
            <a:off x="5872480" y="3791585"/>
            <a:ext cx="538480" cy="196850"/>
          </a:xfrm>
          <a:prstGeom prst="rect">
            <a:avLst/>
          </a:prstGeom>
          <a:noFill/>
        </p:spPr>
        <p:txBody>
          <a:bodyPr wrap="none" lIns="0" tIns="0" rIns="0" bIns="0" rtlCol="0">
            <a:spAutoFit/>
          </a:bodyPr>
          <a:lstStyle/>
          <a:p>
            <a:pPr algn="ctr" defTabSz="457200">
              <a:lnSpc>
                <a:spcPct val="130000"/>
              </a:lnSpc>
            </a:pPr>
            <a:r>
              <a:rPr lang="zh-CN" altLang="en-US" sz="1050">
                <a:solidFill>
                  <a:schemeClr val="tx2"/>
                </a:solidFill>
                <a:latin typeface="微软雅黑" panose="020B0503020204020204" charset="-122"/>
                <a:ea typeface="微软雅黑" panose="020B0503020204020204" charset="-122"/>
                <a:cs typeface="微软雅黑" panose="020B0503020204020204" charset="-122"/>
              </a:rPr>
              <a:t>社群营销</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7" name="熊大的PPT宝库57"/>
          <p:cNvSpPr txBox="1"/>
          <p:nvPr/>
        </p:nvSpPr>
        <p:spPr>
          <a:xfrm>
            <a:off x="5872480" y="4080510"/>
            <a:ext cx="538480" cy="196850"/>
          </a:xfrm>
          <a:prstGeom prst="rect">
            <a:avLst/>
          </a:prstGeom>
          <a:noFill/>
        </p:spPr>
        <p:txBody>
          <a:bodyPr wrap="none" lIns="0" tIns="0" rIns="0" bIns="0" rtlCol="0">
            <a:spAutoFit/>
          </a:bodyPr>
          <a:lstStyle/>
          <a:p>
            <a:pPr algn="ctr" defTabSz="457200">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好友介绍</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8" name="熊大的PPT宝库58"/>
          <p:cNvSpPr txBox="1"/>
          <p:nvPr/>
        </p:nvSpPr>
        <p:spPr>
          <a:xfrm>
            <a:off x="5949950" y="4354195"/>
            <a:ext cx="382905" cy="196850"/>
          </a:xfrm>
          <a:prstGeom prst="rect">
            <a:avLst/>
          </a:prstGeom>
          <a:noFill/>
        </p:spPr>
        <p:txBody>
          <a:bodyPr wrap="none" lIns="0" tIns="0" rIns="0" bIns="0" rtlCol="0">
            <a:spAutoFit/>
          </a:bodyPr>
          <a:lstStyle/>
          <a:p>
            <a:pPr algn="ctr" defTabSz="457200">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个人</a:t>
            </a:r>
            <a:r>
              <a:rPr lang="en-US" altLang="zh-CN" sz="1050" dirty="0">
                <a:solidFill>
                  <a:schemeClr val="tx2"/>
                </a:solidFill>
                <a:latin typeface="微软雅黑" panose="020B0503020204020204" charset="-122"/>
                <a:ea typeface="微软雅黑" panose="020B0503020204020204" charset="-122"/>
                <a:cs typeface="微软雅黑" panose="020B0503020204020204" charset="-122"/>
              </a:rPr>
              <a:t>IP</a:t>
            </a:r>
            <a:endParaRPr lang="en-US" altLang="zh-CN"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4" name="熊大的PPT宝库77"/>
          <p:cNvSpPr/>
          <p:nvPr/>
        </p:nvSpPr>
        <p:spPr>
          <a:xfrm>
            <a:off x="7370445" y="3527425"/>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5" name="熊大的PPT宝库78"/>
          <p:cNvSpPr/>
          <p:nvPr/>
        </p:nvSpPr>
        <p:spPr>
          <a:xfrm>
            <a:off x="7370445" y="3812540"/>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6" name="熊大的PPT宝库79"/>
          <p:cNvSpPr/>
          <p:nvPr/>
        </p:nvSpPr>
        <p:spPr>
          <a:xfrm>
            <a:off x="7370445" y="4098290"/>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7" name="熊大的PPT宝库80"/>
          <p:cNvSpPr/>
          <p:nvPr/>
        </p:nvSpPr>
        <p:spPr>
          <a:xfrm>
            <a:off x="7370445" y="4383405"/>
            <a:ext cx="1080135" cy="241300"/>
          </a:xfrm>
          <a:prstGeom prst="roundRect">
            <a:avLst>
              <a:gd name="adj" fmla="val 50000"/>
            </a:avLst>
          </a:prstGeom>
          <a:noFill/>
          <a:ln>
            <a:solidFill>
              <a:schemeClr val="accent1">
                <a:lumMod val="40000"/>
                <a:lumOff val="60000"/>
              </a:schemeClr>
            </a:solidFill>
          </a:ln>
        </p:spPr>
        <p:txBody>
          <a:bodyPr wrap="square" lIns="0" tIns="0" rIns="0" bIns="0" rtlCol="0" anchor="t">
            <a:noAutofit/>
          </a:bodyPr>
          <a:lstStyle/>
          <a:p>
            <a:pPr algn="just" defTabSz="731520">
              <a:lnSpc>
                <a:spcPct val="130000"/>
              </a:lnSpc>
            </a:pP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8" name="熊大的PPT宝库55"/>
          <p:cNvSpPr txBox="1"/>
          <p:nvPr/>
        </p:nvSpPr>
        <p:spPr>
          <a:xfrm>
            <a:off x="7579995" y="3523615"/>
            <a:ext cx="666750" cy="209550"/>
          </a:xfrm>
          <a:prstGeom prst="rect">
            <a:avLst/>
          </a:prstGeom>
          <a:noFill/>
        </p:spPr>
        <p:txBody>
          <a:bodyPr wrap="none" lIns="0" tIns="0" rIns="0" bIns="0" rtlCol="0">
            <a:spAutoFit/>
          </a:bodyPr>
          <a:lstStyle/>
          <a:p>
            <a:pPr algn="ctr" defTabSz="457200">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信息流广告</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9" name="熊大的PPT宝库56"/>
          <p:cNvSpPr txBox="1"/>
          <p:nvPr/>
        </p:nvSpPr>
        <p:spPr>
          <a:xfrm>
            <a:off x="7649210" y="3812540"/>
            <a:ext cx="528320" cy="209550"/>
          </a:xfrm>
          <a:prstGeom prst="rect">
            <a:avLst/>
          </a:prstGeom>
          <a:noFill/>
        </p:spPr>
        <p:txBody>
          <a:bodyPr wrap="none" lIns="0" tIns="0" rIns="0" bIns="0" rtlCol="0">
            <a:spAutoFit/>
          </a:bodyPr>
          <a:lstStyle/>
          <a:p>
            <a:pPr algn="ctr" defTabSz="457200">
              <a:lnSpc>
                <a:spcPct val="130000"/>
              </a:lnSpc>
            </a:pPr>
            <a:r>
              <a:rPr lang="en-US" altLang="zh-CN" sz="1050">
                <a:solidFill>
                  <a:schemeClr val="tx2"/>
                </a:solidFill>
                <a:latin typeface="微软雅黑" panose="020B0503020204020204" charset="-122"/>
                <a:ea typeface="微软雅黑" panose="020B0503020204020204" charset="-122"/>
                <a:cs typeface="微软雅黑" panose="020B0503020204020204" charset="-122"/>
              </a:rPr>
              <a:t>KOL</a:t>
            </a:r>
            <a:r>
              <a:rPr lang="zh-CN" altLang="en-US" sz="1050">
                <a:solidFill>
                  <a:schemeClr val="tx2"/>
                </a:solidFill>
                <a:latin typeface="微软雅黑" panose="020B0503020204020204" charset="-122"/>
                <a:ea typeface="微软雅黑" panose="020B0503020204020204" charset="-122"/>
                <a:cs typeface="微软雅黑" panose="020B0503020204020204" charset="-122"/>
              </a:rPr>
              <a:t>投放</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0" name="熊大的PPT宝库57"/>
          <p:cNvSpPr txBox="1"/>
          <p:nvPr/>
        </p:nvSpPr>
        <p:spPr>
          <a:xfrm>
            <a:off x="7646670" y="4101465"/>
            <a:ext cx="533400" cy="209550"/>
          </a:xfrm>
          <a:prstGeom prst="rect">
            <a:avLst/>
          </a:prstGeom>
          <a:noFill/>
        </p:spPr>
        <p:txBody>
          <a:bodyPr wrap="none" lIns="0" tIns="0" rIns="0" bIns="0" rtlCol="0">
            <a:spAutoFit/>
          </a:bodyPr>
          <a:lstStyle/>
          <a:p>
            <a:pPr algn="ctr" defTabSz="457200">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搜索广告</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1" name="熊大的PPT宝库58"/>
          <p:cNvSpPr txBox="1"/>
          <p:nvPr/>
        </p:nvSpPr>
        <p:spPr>
          <a:xfrm>
            <a:off x="7646353" y="4375150"/>
            <a:ext cx="533400" cy="209550"/>
          </a:xfrm>
          <a:prstGeom prst="rect">
            <a:avLst/>
          </a:prstGeom>
          <a:noFill/>
        </p:spPr>
        <p:txBody>
          <a:bodyPr wrap="none" lIns="0" tIns="0" rIns="0" bIns="0" rtlCol="0">
            <a:spAutoFit/>
          </a:bodyPr>
          <a:lstStyle/>
          <a:p>
            <a:pPr algn="ctr" defTabSz="457200">
              <a:lnSpc>
                <a:spcPct val="130000"/>
              </a:lnSpc>
            </a:pP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异业合作</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7" name="文本框 6"/>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活动策划执行流程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8" name="Rounded Rectangle"/>
          <p:cNvSpPr/>
          <p:nvPr/>
        </p:nvSpPr>
        <p:spPr>
          <a:xfrm>
            <a:off x="1099751" y="3951821"/>
            <a:ext cx="10739012" cy="1224000"/>
          </a:xfrm>
          <a:prstGeom prst="roundRect">
            <a:avLst>
              <a:gd name="adj" fmla="val 0"/>
            </a:avLst>
          </a:prstGeom>
          <a:solidFill>
            <a:schemeClr val="accent5">
              <a:lumMod val="20000"/>
              <a:lumOff val="80000"/>
              <a:alpha val="40000"/>
            </a:schemeClr>
          </a:solidFill>
          <a:ln w="12700">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sz="1500" b="0" i="0" u="none" strike="noStrike" kern="0" cap="none" spc="0" normalizeH="0" baseline="0" noProof="0">
              <a:ln>
                <a:noFill/>
              </a:ln>
              <a:solidFill>
                <a:srgbClr val="65656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Rounded Rectangle"/>
          <p:cNvSpPr/>
          <p:nvPr/>
        </p:nvSpPr>
        <p:spPr>
          <a:xfrm>
            <a:off x="1099748" y="5308550"/>
            <a:ext cx="10739011" cy="1224000"/>
          </a:xfrm>
          <a:prstGeom prst="roundRect">
            <a:avLst>
              <a:gd name="adj" fmla="val 0"/>
            </a:avLst>
          </a:prstGeom>
          <a:solidFill>
            <a:schemeClr val="accent5">
              <a:lumMod val="20000"/>
              <a:lumOff val="80000"/>
              <a:alpha val="40000"/>
            </a:schemeClr>
          </a:solidFill>
          <a:ln w="12700">
            <a:miter lim="400000"/>
          </a:ln>
        </p:spPr>
        <p:txBody>
          <a:bodyPr lIns="0" tIns="0" rIns="0" bIns="0" anchor="ctr">
            <a:noAutofit/>
          </a:bodyPr>
          <a:lstStyle/>
          <a:p>
            <a:pPr lvl="0" algn="ctr" defTabSz="412750" hangingPunct="0">
              <a:spcBef>
                <a:spcPts val="0"/>
              </a:spcBef>
              <a:spcAft>
                <a:spcPts val="0"/>
              </a:spcAft>
              <a:buClrTx/>
              <a:buSzTx/>
              <a:buFontTx/>
              <a:defRPr/>
            </a:pPr>
            <a:endParaRPr sz="1500" kern="0" noProof="0">
              <a:ln>
                <a:noFill/>
              </a:ln>
              <a:solidFill>
                <a:srgbClr val="65656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4" name="Rounded Rectangle"/>
          <p:cNvSpPr/>
          <p:nvPr/>
        </p:nvSpPr>
        <p:spPr>
          <a:xfrm>
            <a:off x="1099751" y="1238363"/>
            <a:ext cx="10739012" cy="1224000"/>
          </a:xfrm>
          <a:prstGeom prst="roundRect">
            <a:avLst>
              <a:gd name="adj" fmla="val 0"/>
            </a:avLst>
          </a:prstGeom>
          <a:solidFill>
            <a:schemeClr val="accent1">
              <a:lumMod val="20000"/>
              <a:lumOff val="80000"/>
              <a:alpha val="40000"/>
            </a:schemeClr>
          </a:solidFill>
          <a:ln w="12700">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sz="1500" b="0" i="0" u="none" strike="noStrike" kern="0" cap="none" spc="0" normalizeH="0" baseline="0" noProof="0">
              <a:ln>
                <a:noFill/>
              </a:ln>
              <a:solidFill>
                <a:srgbClr val="65656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5" name="Rounded Rectangle"/>
          <p:cNvSpPr/>
          <p:nvPr/>
        </p:nvSpPr>
        <p:spPr>
          <a:xfrm>
            <a:off x="1099748" y="2595092"/>
            <a:ext cx="10739011" cy="1224000"/>
          </a:xfrm>
          <a:prstGeom prst="roundRect">
            <a:avLst>
              <a:gd name="adj" fmla="val 0"/>
            </a:avLst>
          </a:prstGeom>
          <a:solidFill>
            <a:schemeClr val="accent1">
              <a:lumMod val="20000"/>
              <a:lumOff val="80000"/>
              <a:alpha val="40000"/>
            </a:schemeClr>
          </a:solidFill>
          <a:ln w="12700">
            <a:miter lim="400000"/>
          </a:ln>
        </p:spPr>
        <p:txBody>
          <a:bodyPr lIns="0" tIns="0" rIns="0" bIns="0" anchor="ctr">
            <a:noAutofit/>
          </a:bodyPr>
          <a:lstStyle/>
          <a:p>
            <a:pPr lvl="0" algn="ctr" defTabSz="412750" hangingPunct="0">
              <a:spcBef>
                <a:spcPts val="0"/>
              </a:spcBef>
              <a:spcAft>
                <a:spcPts val="0"/>
              </a:spcAft>
              <a:buClrTx/>
              <a:buSzTx/>
              <a:buFontTx/>
              <a:defRPr/>
            </a:pPr>
            <a:endParaRPr sz="1500" kern="0" noProof="0">
              <a:ln>
                <a:noFill/>
              </a:ln>
              <a:solidFill>
                <a:srgbClr val="65656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9" name="圆角矩形 68"/>
          <p:cNvSpPr/>
          <p:nvPr/>
        </p:nvSpPr>
        <p:spPr>
          <a:xfrm>
            <a:off x="1890360" y="1598364"/>
            <a:ext cx="1959533" cy="503999"/>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0" name="文本框 69"/>
          <p:cNvSpPr txBox="1"/>
          <p:nvPr/>
        </p:nvSpPr>
        <p:spPr>
          <a:xfrm>
            <a:off x="2251503" y="1696475"/>
            <a:ext cx="123724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平台获客</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 name="菱形 1"/>
          <p:cNvSpPr/>
          <p:nvPr/>
        </p:nvSpPr>
        <p:spPr>
          <a:xfrm>
            <a:off x="4223394" y="1378728"/>
            <a:ext cx="885235" cy="943271"/>
          </a:xfrm>
          <a:prstGeom prst="diamon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4297762" y="1696475"/>
            <a:ext cx="73649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导入</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73" name="直线箭头连接符 72"/>
          <p:cNvCxnSpPr>
            <a:stCxn id="69" idx="3"/>
            <a:endCxn id="2" idx="1"/>
          </p:cNvCxnSpPr>
          <p:nvPr/>
        </p:nvCxnSpPr>
        <p:spPr>
          <a:xfrm>
            <a:off x="3849893" y="1850364"/>
            <a:ext cx="373501" cy="0"/>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5505305" y="1511809"/>
            <a:ext cx="1941032" cy="67710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5" name="文本框 74"/>
          <p:cNvSpPr txBox="1"/>
          <p:nvPr/>
        </p:nvSpPr>
        <p:spPr>
          <a:xfrm>
            <a:off x="5857197" y="1696475"/>
            <a:ext cx="123724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培育线索池</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76" name="直线箭头连接符 75"/>
          <p:cNvCxnSpPr>
            <a:stCxn id="74" idx="3"/>
          </p:cNvCxnSpPr>
          <p:nvPr/>
        </p:nvCxnSpPr>
        <p:spPr>
          <a:xfrm>
            <a:off x="7446337" y="1850363"/>
            <a:ext cx="2200910" cy="0"/>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5133650" y="1650906"/>
            <a:ext cx="287742" cy="157864"/>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是</a:t>
            </a:r>
            <a:endPar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0" name="文本框 79"/>
          <p:cNvSpPr txBox="1"/>
          <p:nvPr/>
        </p:nvSpPr>
        <p:spPr>
          <a:xfrm>
            <a:off x="4683173" y="2265571"/>
            <a:ext cx="287742" cy="151901"/>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否</a:t>
            </a:r>
            <a:endPar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6" name="菱形 85"/>
          <p:cNvSpPr/>
          <p:nvPr/>
        </p:nvSpPr>
        <p:spPr>
          <a:xfrm>
            <a:off x="4970914" y="2735457"/>
            <a:ext cx="885235" cy="943271"/>
          </a:xfrm>
          <a:prstGeom prst="diamon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7" name="文本框 86"/>
          <p:cNvSpPr txBox="1"/>
          <p:nvPr/>
        </p:nvSpPr>
        <p:spPr>
          <a:xfrm>
            <a:off x="5045283" y="3053204"/>
            <a:ext cx="73649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领取</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9" name="矩形 88"/>
          <p:cNvSpPr/>
          <p:nvPr/>
        </p:nvSpPr>
        <p:spPr>
          <a:xfrm>
            <a:off x="6240216" y="2868538"/>
            <a:ext cx="1941032" cy="67710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0" name="文本框 89"/>
          <p:cNvSpPr txBox="1"/>
          <p:nvPr/>
        </p:nvSpPr>
        <p:spPr>
          <a:xfrm>
            <a:off x="6592109" y="3053204"/>
            <a:ext cx="123724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有效线索</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2" name="圆角矩形 91"/>
          <p:cNvSpPr/>
          <p:nvPr/>
        </p:nvSpPr>
        <p:spPr>
          <a:xfrm>
            <a:off x="9715635" y="1598364"/>
            <a:ext cx="1959533" cy="503999"/>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3" name="文本框 92"/>
          <p:cNvSpPr txBox="1"/>
          <p:nvPr/>
        </p:nvSpPr>
        <p:spPr>
          <a:xfrm>
            <a:off x="10076778" y="1696475"/>
            <a:ext cx="123724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客户跟进</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4" name="圆角矩形 93"/>
          <p:cNvSpPr/>
          <p:nvPr/>
        </p:nvSpPr>
        <p:spPr>
          <a:xfrm>
            <a:off x="9715635" y="2955092"/>
            <a:ext cx="1959533" cy="503999"/>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5" name="文本框 94"/>
          <p:cNvSpPr txBox="1"/>
          <p:nvPr/>
        </p:nvSpPr>
        <p:spPr>
          <a:xfrm>
            <a:off x="10076778" y="3053203"/>
            <a:ext cx="123724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公海池</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6" name="圆角矩形 95"/>
          <p:cNvSpPr/>
          <p:nvPr/>
        </p:nvSpPr>
        <p:spPr>
          <a:xfrm>
            <a:off x="9715635" y="4311822"/>
            <a:ext cx="1959533" cy="503999"/>
          </a:xfrm>
          <a:prstGeom prst="roundRect">
            <a:avLst>
              <a:gd name="adj" fmla="val 50000"/>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10076778" y="4409933"/>
            <a:ext cx="123724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签约合同</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8" name="圆角矩形 97"/>
          <p:cNvSpPr/>
          <p:nvPr/>
        </p:nvSpPr>
        <p:spPr>
          <a:xfrm>
            <a:off x="9715635" y="5668551"/>
            <a:ext cx="1959533" cy="503999"/>
          </a:xfrm>
          <a:prstGeom prst="roundRect">
            <a:avLst>
              <a:gd name="adj" fmla="val 50000"/>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9" name="文本框 98"/>
          <p:cNvSpPr txBox="1"/>
          <p:nvPr/>
        </p:nvSpPr>
        <p:spPr>
          <a:xfrm>
            <a:off x="10076778" y="5766662"/>
            <a:ext cx="123724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售后管理</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0" name="椭圆 99"/>
          <p:cNvSpPr/>
          <p:nvPr/>
        </p:nvSpPr>
        <p:spPr>
          <a:xfrm>
            <a:off x="8289756" y="5488550"/>
            <a:ext cx="864000" cy="864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8360036" y="5766662"/>
            <a:ext cx="73649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售后</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2" name="页外连接符 101"/>
          <p:cNvSpPr/>
          <p:nvPr/>
        </p:nvSpPr>
        <p:spPr>
          <a:xfrm>
            <a:off x="8034231" y="4167821"/>
            <a:ext cx="1388108" cy="792000"/>
          </a:xfrm>
          <a:prstGeom prst="flowChartOffpageConnector">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3" name="菱形 102"/>
          <p:cNvSpPr/>
          <p:nvPr/>
        </p:nvSpPr>
        <p:spPr>
          <a:xfrm>
            <a:off x="6768115" y="4092186"/>
            <a:ext cx="885235" cy="943271"/>
          </a:xfrm>
          <a:prstGeom prst="diamond">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4" name="文本框 103"/>
          <p:cNvSpPr txBox="1"/>
          <p:nvPr/>
        </p:nvSpPr>
        <p:spPr>
          <a:xfrm>
            <a:off x="6842483" y="4409933"/>
            <a:ext cx="73649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转化</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3" name="肘形连接符 2"/>
          <p:cNvCxnSpPr>
            <a:stCxn id="2" idx="2"/>
            <a:endCxn id="86" idx="1"/>
          </p:cNvCxnSpPr>
          <p:nvPr/>
        </p:nvCxnSpPr>
        <p:spPr>
          <a:xfrm rot="16200000" flipH="1">
            <a:off x="4375916" y="2612095"/>
            <a:ext cx="885094" cy="304902"/>
          </a:xfrm>
          <a:prstGeom prst="bentConnector2">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 name="直线箭头连接符 113"/>
          <p:cNvCxnSpPr>
            <a:stCxn id="86" idx="3"/>
            <a:endCxn id="89" idx="1"/>
          </p:cNvCxnSpPr>
          <p:nvPr/>
        </p:nvCxnSpPr>
        <p:spPr>
          <a:xfrm flipV="1">
            <a:off x="5856149" y="3207092"/>
            <a:ext cx="384067" cy="1"/>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 name="肘形连接符 5"/>
          <p:cNvCxnSpPr>
            <a:stCxn id="86" idx="2"/>
            <a:endCxn id="100" idx="2"/>
          </p:cNvCxnSpPr>
          <p:nvPr/>
        </p:nvCxnSpPr>
        <p:spPr>
          <a:xfrm rot="16200000" flipH="1">
            <a:off x="5730733" y="3361527"/>
            <a:ext cx="2241822" cy="2876224"/>
          </a:xfrm>
          <a:prstGeom prst="bentConnector2">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 name="直线箭头连接符 121"/>
          <p:cNvCxnSpPr>
            <a:stCxn id="89" idx="3"/>
          </p:cNvCxnSpPr>
          <p:nvPr/>
        </p:nvCxnSpPr>
        <p:spPr>
          <a:xfrm>
            <a:off x="8181248" y="3206457"/>
            <a:ext cx="1458595" cy="635"/>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8107006" y="4409933"/>
            <a:ext cx="1237247"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签单过程</a:t>
            </a:r>
            <a:endParaRPr kumimoji="0" lang="en-US"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2" name="直线箭头连接符 125"/>
          <p:cNvCxnSpPr>
            <a:stCxn id="2" idx="3"/>
            <a:endCxn id="74" idx="1"/>
          </p:cNvCxnSpPr>
          <p:nvPr/>
        </p:nvCxnSpPr>
        <p:spPr>
          <a:xfrm flipV="1">
            <a:off x="5108629" y="1850363"/>
            <a:ext cx="396676" cy="1"/>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862992" y="3001708"/>
            <a:ext cx="287742" cy="157864"/>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是</a:t>
            </a:r>
            <a:endPar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5412515" y="3641102"/>
            <a:ext cx="287742" cy="151901"/>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否</a:t>
            </a:r>
            <a:endPar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5" name="直线箭头连接符 130"/>
          <p:cNvCxnSpPr>
            <a:stCxn id="89" idx="2"/>
            <a:endCxn id="103" idx="0"/>
          </p:cNvCxnSpPr>
          <p:nvPr/>
        </p:nvCxnSpPr>
        <p:spPr>
          <a:xfrm>
            <a:off x="7210732" y="3545646"/>
            <a:ext cx="1" cy="546540"/>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33"/>
          <p:cNvCxnSpPr>
            <a:stCxn id="102" idx="3"/>
            <a:endCxn id="96" idx="1"/>
          </p:cNvCxnSpPr>
          <p:nvPr/>
        </p:nvCxnSpPr>
        <p:spPr>
          <a:xfrm>
            <a:off x="9422339" y="4563821"/>
            <a:ext cx="293296" cy="1"/>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37"/>
          <p:cNvCxnSpPr>
            <a:stCxn id="103" idx="3"/>
            <a:endCxn id="102" idx="1"/>
          </p:cNvCxnSpPr>
          <p:nvPr/>
        </p:nvCxnSpPr>
        <p:spPr>
          <a:xfrm flipV="1">
            <a:off x="7653350" y="4563821"/>
            <a:ext cx="380881" cy="1"/>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8" name="肘形连接符 17"/>
          <p:cNvCxnSpPr>
            <a:stCxn id="103" idx="2"/>
            <a:endCxn id="100" idx="2"/>
          </p:cNvCxnSpPr>
          <p:nvPr/>
        </p:nvCxnSpPr>
        <p:spPr>
          <a:xfrm rot="16200000" flipH="1">
            <a:off x="7307698" y="4938491"/>
            <a:ext cx="885093" cy="1079023"/>
          </a:xfrm>
          <a:prstGeom prst="bentConnector2">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7673198" y="4361149"/>
            <a:ext cx="287742" cy="157864"/>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是</a:t>
            </a:r>
            <a:endPar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7222722" y="5000543"/>
            <a:ext cx="287742" cy="151901"/>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否</a:t>
            </a:r>
            <a:endParaRPr kumimoji="0" lang="en-US"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1" name="直线箭头连接符 145"/>
          <p:cNvCxnSpPr>
            <a:stCxn id="100" idx="6"/>
            <a:endCxn id="98" idx="1"/>
          </p:cNvCxnSpPr>
          <p:nvPr/>
        </p:nvCxnSpPr>
        <p:spPr>
          <a:xfrm>
            <a:off x="9153756" y="5920550"/>
            <a:ext cx="561879" cy="1"/>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flipH="1">
            <a:off x="1947979" y="5591479"/>
            <a:ext cx="1741933" cy="23852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55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快速提升阶段</a:t>
            </a:r>
            <a:endParaRPr kumimoji="0" lang="zh-CN" altLang="en-US" sz="155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1856600" y="5867127"/>
            <a:ext cx="2692934" cy="443198"/>
          </a:xfrm>
          <a:prstGeom prst="rect">
            <a:avLst/>
          </a:prstGeom>
          <a:noFill/>
        </p:spPr>
        <p:txBody>
          <a:bodyPr wrap="square"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项目、事业或企业进入高速增长和扩张的阶段，同时注意控制风险、为成熟稳定做准备。</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flipH="1">
            <a:off x="1947979" y="4167265"/>
            <a:ext cx="1741933" cy="23852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55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稳步发展阶段</a:t>
            </a:r>
            <a:endParaRPr kumimoji="0" lang="zh-CN" altLang="en-US" sz="155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1856600" y="4442913"/>
            <a:ext cx="2692934" cy="443198"/>
          </a:xfrm>
          <a:prstGeom prst="rect">
            <a:avLst/>
          </a:prstGeom>
          <a:noFill/>
        </p:spPr>
        <p:txBody>
          <a:bodyPr wrap="square"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市场份额增加、运营效率提高、利润增长，需要加强管理、拓展市场、提高质量。</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flipH="1">
            <a:off x="1947979" y="2861754"/>
            <a:ext cx="1741933" cy="23852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55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基础奠定阶段</a:t>
            </a:r>
            <a:endParaRPr kumimoji="0" lang="zh-CN" altLang="en-US" sz="155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1856600" y="3137402"/>
            <a:ext cx="2692934" cy="443198"/>
          </a:xfrm>
          <a:prstGeom prst="rect">
            <a:avLst/>
          </a:prstGeom>
          <a:noFill/>
        </p:spPr>
        <p:txBody>
          <a:bodyPr wrap="square"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基础奠定阶段是为新计划、项目或事业做准备和基础工作的阶段</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28" name="组合 27"/>
          <p:cNvGrpSpPr/>
          <p:nvPr/>
        </p:nvGrpSpPr>
        <p:grpSpPr>
          <a:xfrm rot="5400000">
            <a:off x="-1551702" y="3185786"/>
            <a:ext cx="5294185" cy="1399344"/>
            <a:chOff x="3025772" y="-1549631"/>
            <a:chExt cx="9633327" cy="1399344"/>
          </a:xfrm>
        </p:grpSpPr>
        <p:sp>
          <p:nvSpPr>
            <p:cNvPr id="72" name="任意形状 71"/>
            <p:cNvSpPr/>
            <p:nvPr/>
          </p:nvSpPr>
          <p:spPr>
            <a:xfrm>
              <a:off x="6840493" y="-1081293"/>
              <a:ext cx="1805503" cy="462666"/>
            </a:xfrm>
            <a:custGeom>
              <a:avLst/>
              <a:gdLst>
                <a:gd name="connsiteX0" fmla="*/ 0 w 648402"/>
                <a:gd name="connsiteY0" fmla="*/ 0 h 166155"/>
                <a:gd name="connsiteX1" fmla="*/ 0 w 648402"/>
                <a:gd name="connsiteY1" fmla="*/ 166156 h 166155"/>
                <a:gd name="connsiteX2" fmla="*/ 648402 w 648402"/>
                <a:gd name="connsiteY2" fmla="*/ 83078 h 166155"/>
              </a:gdLst>
              <a:ahLst/>
              <a:cxnLst>
                <a:cxn ang="0">
                  <a:pos x="connsiteX0" y="connsiteY0"/>
                </a:cxn>
                <a:cxn ang="0">
                  <a:pos x="connsiteX1" y="connsiteY1"/>
                </a:cxn>
                <a:cxn ang="0">
                  <a:pos x="connsiteX2" y="connsiteY2"/>
                </a:cxn>
              </a:cxnLst>
              <a:rect l="l" t="t" r="r" b="b"/>
              <a:pathLst>
                <a:path w="648402" h="166155">
                  <a:moveTo>
                    <a:pt x="0" y="0"/>
                  </a:moveTo>
                  <a:lnTo>
                    <a:pt x="0" y="166156"/>
                  </a:lnTo>
                  <a:lnTo>
                    <a:pt x="648402" y="83078"/>
                  </a:lnTo>
                  <a:close/>
                </a:path>
              </a:pathLst>
            </a:custGeom>
            <a:solidFill>
              <a:schemeClr val="accent1">
                <a:lumMod val="60000"/>
                <a:lumOff val="40000"/>
              </a:schemeClr>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7" name="任意形状 76"/>
            <p:cNvSpPr/>
            <p:nvPr/>
          </p:nvSpPr>
          <p:spPr>
            <a:xfrm>
              <a:off x="6785821" y="-1081293"/>
              <a:ext cx="109341" cy="462666"/>
            </a:xfrm>
            <a:custGeom>
              <a:avLst/>
              <a:gdLst>
                <a:gd name="connsiteX0" fmla="*/ 39267 w 39267"/>
                <a:gd name="connsiteY0" fmla="*/ 83078 h 166155"/>
                <a:gd name="connsiteX1" fmla="*/ 19634 w 39267"/>
                <a:gd name="connsiteY1" fmla="*/ 166156 h 166155"/>
                <a:gd name="connsiteX2" fmla="*/ 0 w 39267"/>
                <a:gd name="connsiteY2" fmla="*/ 83078 h 166155"/>
                <a:gd name="connsiteX3" fmla="*/ 19634 w 39267"/>
                <a:gd name="connsiteY3" fmla="*/ 0 h 166155"/>
                <a:gd name="connsiteX4" fmla="*/ 39267 w 39267"/>
                <a:gd name="connsiteY4" fmla="*/ 83078 h 166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7" h="166155">
                  <a:moveTo>
                    <a:pt x="39267" y="83078"/>
                  </a:moveTo>
                  <a:cubicBezTo>
                    <a:pt x="39267" y="128960"/>
                    <a:pt x="30477" y="166156"/>
                    <a:pt x="19634" y="166156"/>
                  </a:cubicBezTo>
                  <a:cubicBezTo>
                    <a:pt x="8790" y="166156"/>
                    <a:pt x="0" y="128961"/>
                    <a:pt x="0" y="83078"/>
                  </a:cubicBezTo>
                  <a:cubicBezTo>
                    <a:pt x="0" y="37195"/>
                    <a:pt x="8790" y="0"/>
                    <a:pt x="19634" y="0"/>
                  </a:cubicBezTo>
                  <a:cubicBezTo>
                    <a:pt x="30477" y="0"/>
                    <a:pt x="39267" y="37195"/>
                    <a:pt x="39267" y="83078"/>
                  </a:cubicBezTo>
                  <a:close/>
                </a:path>
              </a:pathLst>
            </a:custGeom>
            <a:solidFill>
              <a:schemeClr val="accent1"/>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8" name="任意形状 77"/>
            <p:cNvSpPr/>
            <p:nvPr/>
          </p:nvSpPr>
          <p:spPr>
            <a:xfrm>
              <a:off x="5131173" y="-1300835"/>
              <a:ext cx="1660546" cy="901975"/>
            </a:xfrm>
            <a:custGeom>
              <a:avLst/>
              <a:gdLst>
                <a:gd name="connsiteX0" fmla="*/ 575896 w 596344"/>
                <a:gd name="connsiteY0" fmla="*/ 74933 h 323922"/>
                <a:gd name="connsiteX1" fmla="*/ 0 w 596344"/>
                <a:gd name="connsiteY1" fmla="*/ 0 h 323922"/>
                <a:gd name="connsiteX2" fmla="*/ 0 w 596344"/>
                <a:gd name="connsiteY2" fmla="*/ 323923 h 323922"/>
                <a:gd name="connsiteX3" fmla="*/ 575896 w 596344"/>
                <a:gd name="connsiteY3" fmla="*/ 248989 h 323922"/>
                <a:gd name="connsiteX4" fmla="*/ 596344 w 596344"/>
                <a:gd name="connsiteY4" fmla="*/ 162002 h 323922"/>
                <a:gd name="connsiteX5" fmla="*/ 575896 w 596344"/>
                <a:gd name="connsiteY5" fmla="*/ 74933 h 32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6344" h="323922">
                  <a:moveTo>
                    <a:pt x="575896" y="74933"/>
                  </a:moveTo>
                  <a:lnTo>
                    <a:pt x="0" y="0"/>
                  </a:lnTo>
                  <a:lnTo>
                    <a:pt x="0" y="323923"/>
                  </a:lnTo>
                  <a:lnTo>
                    <a:pt x="575896" y="248989"/>
                  </a:lnTo>
                  <a:cubicBezTo>
                    <a:pt x="587220" y="248989"/>
                    <a:pt x="596344" y="210057"/>
                    <a:pt x="596344" y="162002"/>
                  </a:cubicBezTo>
                  <a:cubicBezTo>
                    <a:pt x="596344" y="113947"/>
                    <a:pt x="587220" y="74933"/>
                    <a:pt x="575896" y="74933"/>
                  </a:cubicBezTo>
                  <a:close/>
                </a:path>
              </a:pathLst>
            </a:custGeom>
            <a:solidFill>
              <a:schemeClr val="accent1">
                <a:lumMod val="60000"/>
                <a:lumOff val="40000"/>
              </a:schemeClr>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1" name="任意形状 80"/>
            <p:cNvSpPr/>
            <p:nvPr/>
          </p:nvSpPr>
          <p:spPr>
            <a:xfrm>
              <a:off x="5018881" y="-1300835"/>
              <a:ext cx="224582" cy="901746"/>
            </a:xfrm>
            <a:custGeom>
              <a:avLst/>
              <a:gdLst>
                <a:gd name="connsiteX0" fmla="*/ 80653 w 80653"/>
                <a:gd name="connsiteY0" fmla="*/ 161920 h 323840"/>
                <a:gd name="connsiteX1" fmla="*/ 40326 w 80653"/>
                <a:gd name="connsiteY1" fmla="*/ 323841 h 323840"/>
                <a:gd name="connsiteX2" fmla="*/ 0 w 80653"/>
                <a:gd name="connsiteY2" fmla="*/ 161920 h 323840"/>
                <a:gd name="connsiteX3" fmla="*/ 40326 w 80653"/>
                <a:gd name="connsiteY3" fmla="*/ 0 h 323840"/>
                <a:gd name="connsiteX4" fmla="*/ 80653 w 80653"/>
                <a:gd name="connsiteY4" fmla="*/ 161920 h 323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53" h="323840">
                  <a:moveTo>
                    <a:pt x="80653" y="161920"/>
                  </a:moveTo>
                  <a:cubicBezTo>
                    <a:pt x="80653" y="251347"/>
                    <a:pt x="62598" y="323841"/>
                    <a:pt x="40326" y="323841"/>
                  </a:cubicBezTo>
                  <a:cubicBezTo>
                    <a:pt x="18055" y="323841"/>
                    <a:pt x="0" y="251347"/>
                    <a:pt x="0" y="161920"/>
                  </a:cubicBezTo>
                  <a:cubicBezTo>
                    <a:pt x="0" y="72494"/>
                    <a:pt x="18054" y="0"/>
                    <a:pt x="40326" y="0"/>
                  </a:cubicBezTo>
                  <a:cubicBezTo>
                    <a:pt x="62598" y="0"/>
                    <a:pt x="80653" y="72494"/>
                    <a:pt x="80653" y="161920"/>
                  </a:cubicBezTo>
                  <a:close/>
                </a:path>
              </a:pathLst>
            </a:custGeom>
            <a:solidFill>
              <a:schemeClr val="accent1"/>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2" name="任意形状 81"/>
            <p:cNvSpPr/>
            <p:nvPr/>
          </p:nvSpPr>
          <p:spPr>
            <a:xfrm>
              <a:off x="3195231" y="-1549631"/>
              <a:ext cx="1882404" cy="1399344"/>
            </a:xfrm>
            <a:custGeom>
              <a:avLst/>
              <a:gdLst>
                <a:gd name="connsiteX0" fmla="*/ 633982 w 676019"/>
                <a:gd name="connsiteY0" fmla="*/ 81449 h 502540"/>
                <a:gd name="connsiteX1" fmla="*/ 0 w 676019"/>
                <a:gd name="connsiteY1" fmla="*/ 0 h 502540"/>
                <a:gd name="connsiteX2" fmla="*/ 0 w 676019"/>
                <a:gd name="connsiteY2" fmla="*/ 502540 h 502540"/>
                <a:gd name="connsiteX3" fmla="*/ 633982 w 676019"/>
                <a:gd name="connsiteY3" fmla="*/ 421091 h 502540"/>
                <a:gd name="connsiteX4" fmla="*/ 676020 w 676019"/>
                <a:gd name="connsiteY4" fmla="*/ 251270 h 502540"/>
                <a:gd name="connsiteX5" fmla="*/ 633982 w 676019"/>
                <a:gd name="connsiteY5" fmla="*/ 81449 h 502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019" h="502540">
                  <a:moveTo>
                    <a:pt x="633982" y="81449"/>
                  </a:moveTo>
                  <a:lnTo>
                    <a:pt x="0" y="0"/>
                  </a:lnTo>
                  <a:lnTo>
                    <a:pt x="0" y="502540"/>
                  </a:lnTo>
                  <a:lnTo>
                    <a:pt x="633982" y="421091"/>
                  </a:lnTo>
                  <a:cubicBezTo>
                    <a:pt x="657201" y="421091"/>
                    <a:pt x="676020" y="345099"/>
                    <a:pt x="676020" y="251270"/>
                  </a:cubicBezTo>
                  <a:cubicBezTo>
                    <a:pt x="676020" y="157441"/>
                    <a:pt x="657282" y="81449"/>
                    <a:pt x="633982" y="81449"/>
                  </a:cubicBezTo>
                  <a:close/>
                </a:path>
              </a:pathLst>
            </a:custGeom>
            <a:solidFill>
              <a:schemeClr val="accent1">
                <a:lumMod val="60000"/>
                <a:lumOff val="40000"/>
              </a:schemeClr>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3" name="任意形状 82"/>
            <p:cNvSpPr/>
            <p:nvPr/>
          </p:nvSpPr>
          <p:spPr>
            <a:xfrm>
              <a:off x="3025772" y="-1549631"/>
              <a:ext cx="339366" cy="1399342"/>
            </a:xfrm>
            <a:custGeom>
              <a:avLst/>
              <a:gdLst>
                <a:gd name="connsiteX0" fmla="*/ 121876 w 121875"/>
                <a:gd name="connsiteY0" fmla="*/ 251270 h 502539"/>
                <a:gd name="connsiteX1" fmla="*/ 60938 w 121875"/>
                <a:gd name="connsiteY1" fmla="*/ 502540 h 502539"/>
                <a:gd name="connsiteX2" fmla="*/ 0 w 121875"/>
                <a:gd name="connsiteY2" fmla="*/ 251270 h 502539"/>
                <a:gd name="connsiteX3" fmla="*/ 60938 w 121875"/>
                <a:gd name="connsiteY3" fmla="*/ 0 h 502539"/>
                <a:gd name="connsiteX4" fmla="*/ 121876 w 121875"/>
                <a:gd name="connsiteY4" fmla="*/ 251270 h 502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75" h="502539">
                  <a:moveTo>
                    <a:pt x="121876" y="251270"/>
                  </a:moveTo>
                  <a:cubicBezTo>
                    <a:pt x="121876" y="390043"/>
                    <a:pt x="94593" y="502540"/>
                    <a:pt x="60938" y="502540"/>
                  </a:cubicBezTo>
                  <a:cubicBezTo>
                    <a:pt x="27283" y="502540"/>
                    <a:pt x="0" y="390043"/>
                    <a:pt x="0" y="251270"/>
                  </a:cubicBezTo>
                  <a:cubicBezTo>
                    <a:pt x="0" y="112497"/>
                    <a:pt x="27283" y="0"/>
                    <a:pt x="60938" y="0"/>
                  </a:cubicBezTo>
                  <a:cubicBezTo>
                    <a:pt x="94593" y="0"/>
                    <a:pt x="121876" y="112497"/>
                    <a:pt x="121876" y="251270"/>
                  </a:cubicBezTo>
                  <a:close/>
                </a:path>
              </a:pathLst>
            </a:custGeom>
            <a:solidFill>
              <a:schemeClr val="accent1"/>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07" name="组合 106"/>
            <p:cNvGrpSpPr/>
            <p:nvPr/>
          </p:nvGrpSpPr>
          <p:grpSpPr>
            <a:xfrm flipH="1">
              <a:off x="9033901" y="-1081293"/>
              <a:ext cx="1860175" cy="462666"/>
              <a:chOff x="9778698" y="2497994"/>
              <a:chExt cx="1860175" cy="462666"/>
            </a:xfrm>
          </p:grpSpPr>
          <p:sp>
            <p:nvSpPr>
              <p:cNvPr id="108" name="任意形状 107"/>
              <p:cNvSpPr/>
              <p:nvPr/>
            </p:nvSpPr>
            <p:spPr>
              <a:xfrm>
                <a:off x="9833370" y="2497994"/>
                <a:ext cx="1805503" cy="462666"/>
              </a:xfrm>
              <a:custGeom>
                <a:avLst/>
                <a:gdLst>
                  <a:gd name="connsiteX0" fmla="*/ 0 w 648402"/>
                  <a:gd name="connsiteY0" fmla="*/ 0 h 166155"/>
                  <a:gd name="connsiteX1" fmla="*/ 0 w 648402"/>
                  <a:gd name="connsiteY1" fmla="*/ 166156 h 166155"/>
                  <a:gd name="connsiteX2" fmla="*/ 648402 w 648402"/>
                  <a:gd name="connsiteY2" fmla="*/ 83078 h 166155"/>
                </a:gdLst>
                <a:ahLst/>
                <a:cxnLst>
                  <a:cxn ang="0">
                    <a:pos x="connsiteX0" y="connsiteY0"/>
                  </a:cxn>
                  <a:cxn ang="0">
                    <a:pos x="connsiteX1" y="connsiteY1"/>
                  </a:cxn>
                  <a:cxn ang="0">
                    <a:pos x="connsiteX2" y="connsiteY2"/>
                  </a:cxn>
                </a:cxnLst>
                <a:rect l="l" t="t" r="r" b="b"/>
                <a:pathLst>
                  <a:path w="648402" h="166155">
                    <a:moveTo>
                      <a:pt x="0" y="0"/>
                    </a:moveTo>
                    <a:lnTo>
                      <a:pt x="0" y="166156"/>
                    </a:lnTo>
                    <a:lnTo>
                      <a:pt x="648402" y="83078"/>
                    </a:lnTo>
                    <a:close/>
                  </a:path>
                </a:pathLst>
              </a:custGeom>
              <a:solidFill>
                <a:schemeClr val="accent5">
                  <a:lumMod val="60000"/>
                  <a:lumOff val="40000"/>
                </a:schemeClr>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9" name="任意形状 108"/>
              <p:cNvSpPr/>
              <p:nvPr/>
            </p:nvSpPr>
            <p:spPr>
              <a:xfrm>
                <a:off x="9778698" y="2497994"/>
                <a:ext cx="109341" cy="462666"/>
              </a:xfrm>
              <a:custGeom>
                <a:avLst/>
                <a:gdLst>
                  <a:gd name="connsiteX0" fmla="*/ 39267 w 39267"/>
                  <a:gd name="connsiteY0" fmla="*/ 83078 h 166155"/>
                  <a:gd name="connsiteX1" fmla="*/ 19634 w 39267"/>
                  <a:gd name="connsiteY1" fmla="*/ 166156 h 166155"/>
                  <a:gd name="connsiteX2" fmla="*/ 0 w 39267"/>
                  <a:gd name="connsiteY2" fmla="*/ 83078 h 166155"/>
                  <a:gd name="connsiteX3" fmla="*/ 19634 w 39267"/>
                  <a:gd name="connsiteY3" fmla="*/ 0 h 166155"/>
                  <a:gd name="connsiteX4" fmla="*/ 39267 w 39267"/>
                  <a:gd name="connsiteY4" fmla="*/ 83078 h 166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7" h="166155">
                    <a:moveTo>
                      <a:pt x="39267" y="83078"/>
                    </a:moveTo>
                    <a:cubicBezTo>
                      <a:pt x="39267" y="128960"/>
                      <a:pt x="30477" y="166156"/>
                      <a:pt x="19634" y="166156"/>
                    </a:cubicBezTo>
                    <a:cubicBezTo>
                      <a:pt x="8790" y="166156"/>
                      <a:pt x="0" y="128961"/>
                      <a:pt x="0" y="83078"/>
                    </a:cubicBezTo>
                    <a:cubicBezTo>
                      <a:pt x="0" y="37195"/>
                      <a:pt x="8790" y="0"/>
                      <a:pt x="19634" y="0"/>
                    </a:cubicBezTo>
                    <a:cubicBezTo>
                      <a:pt x="30477" y="0"/>
                      <a:pt x="39267" y="37195"/>
                      <a:pt x="39267" y="83078"/>
                    </a:cubicBezTo>
                    <a:close/>
                  </a:path>
                </a:pathLst>
              </a:custGeom>
              <a:solidFill>
                <a:schemeClr val="accent5"/>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29" name="组合 28"/>
            <p:cNvGrpSpPr/>
            <p:nvPr/>
          </p:nvGrpSpPr>
          <p:grpSpPr>
            <a:xfrm flipH="1">
              <a:off x="10886261" y="-1300835"/>
              <a:ext cx="1772838" cy="901975"/>
              <a:chOff x="10727702" y="-1300835"/>
              <a:chExt cx="1772838" cy="901975"/>
            </a:xfrm>
          </p:grpSpPr>
          <p:sp>
            <p:nvSpPr>
              <p:cNvPr id="30" name="任意形状 114"/>
              <p:cNvSpPr/>
              <p:nvPr/>
            </p:nvSpPr>
            <p:spPr>
              <a:xfrm>
                <a:off x="10839994" y="-1300835"/>
                <a:ext cx="1660546" cy="901975"/>
              </a:xfrm>
              <a:custGeom>
                <a:avLst/>
                <a:gdLst>
                  <a:gd name="connsiteX0" fmla="*/ 575896 w 596344"/>
                  <a:gd name="connsiteY0" fmla="*/ 74933 h 323922"/>
                  <a:gd name="connsiteX1" fmla="*/ 0 w 596344"/>
                  <a:gd name="connsiteY1" fmla="*/ 0 h 323922"/>
                  <a:gd name="connsiteX2" fmla="*/ 0 w 596344"/>
                  <a:gd name="connsiteY2" fmla="*/ 323923 h 323922"/>
                  <a:gd name="connsiteX3" fmla="*/ 575896 w 596344"/>
                  <a:gd name="connsiteY3" fmla="*/ 248989 h 323922"/>
                  <a:gd name="connsiteX4" fmla="*/ 596344 w 596344"/>
                  <a:gd name="connsiteY4" fmla="*/ 162002 h 323922"/>
                  <a:gd name="connsiteX5" fmla="*/ 575896 w 596344"/>
                  <a:gd name="connsiteY5" fmla="*/ 74933 h 32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6344" h="323922">
                    <a:moveTo>
                      <a:pt x="575896" y="74933"/>
                    </a:moveTo>
                    <a:lnTo>
                      <a:pt x="0" y="0"/>
                    </a:lnTo>
                    <a:lnTo>
                      <a:pt x="0" y="323923"/>
                    </a:lnTo>
                    <a:lnTo>
                      <a:pt x="575896" y="248989"/>
                    </a:lnTo>
                    <a:cubicBezTo>
                      <a:pt x="587220" y="248989"/>
                      <a:pt x="596344" y="210057"/>
                      <a:pt x="596344" y="162002"/>
                    </a:cubicBezTo>
                    <a:cubicBezTo>
                      <a:pt x="596344" y="113947"/>
                      <a:pt x="587220" y="74933"/>
                      <a:pt x="575896" y="74933"/>
                    </a:cubicBezTo>
                    <a:close/>
                  </a:path>
                </a:pathLst>
              </a:custGeom>
              <a:solidFill>
                <a:schemeClr val="accent5">
                  <a:lumMod val="60000"/>
                  <a:lumOff val="40000"/>
                </a:schemeClr>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1" name="任意形状 115"/>
              <p:cNvSpPr/>
              <p:nvPr/>
            </p:nvSpPr>
            <p:spPr>
              <a:xfrm>
                <a:off x="10727702" y="-1300835"/>
                <a:ext cx="224582" cy="901746"/>
              </a:xfrm>
              <a:custGeom>
                <a:avLst/>
                <a:gdLst>
                  <a:gd name="connsiteX0" fmla="*/ 80653 w 80653"/>
                  <a:gd name="connsiteY0" fmla="*/ 161920 h 323840"/>
                  <a:gd name="connsiteX1" fmla="*/ 40326 w 80653"/>
                  <a:gd name="connsiteY1" fmla="*/ 323841 h 323840"/>
                  <a:gd name="connsiteX2" fmla="*/ 0 w 80653"/>
                  <a:gd name="connsiteY2" fmla="*/ 161920 h 323840"/>
                  <a:gd name="connsiteX3" fmla="*/ 40326 w 80653"/>
                  <a:gd name="connsiteY3" fmla="*/ 0 h 323840"/>
                  <a:gd name="connsiteX4" fmla="*/ 80653 w 80653"/>
                  <a:gd name="connsiteY4" fmla="*/ 161920 h 323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53" h="323840">
                    <a:moveTo>
                      <a:pt x="80653" y="161920"/>
                    </a:moveTo>
                    <a:cubicBezTo>
                      <a:pt x="80653" y="251347"/>
                      <a:pt x="62598" y="323841"/>
                      <a:pt x="40326" y="323841"/>
                    </a:cubicBezTo>
                    <a:cubicBezTo>
                      <a:pt x="18055" y="323841"/>
                      <a:pt x="0" y="251347"/>
                      <a:pt x="0" y="161920"/>
                    </a:cubicBezTo>
                    <a:cubicBezTo>
                      <a:pt x="0" y="72494"/>
                      <a:pt x="18054" y="0"/>
                      <a:pt x="40326" y="0"/>
                    </a:cubicBezTo>
                    <a:cubicBezTo>
                      <a:pt x="62598" y="0"/>
                      <a:pt x="80653" y="72494"/>
                      <a:pt x="80653" y="161920"/>
                    </a:cubicBezTo>
                    <a:close/>
                  </a:path>
                </a:pathLst>
              </a:custGeom>
              <a:solidFill>
                <a:schemeClr val="accent5"/>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sp>
        <p:nvSpPr>
          <p:cNvPr id="32" name="椭圆 31"/>
          <p:cNvSpPr>
            <a:spLocks noChangeAspect="1"/>
          </p:cNvSpPr>
          <p:nvPr/>
        </p:nvSpPr>
        <p:spPr>
          <a:xfrm>
            <a:off x="771390" y="4150465"/>
            <a:ext cx="648000" cy="648000"/>
          </a:xfrm>
          <a:prstGeom prst="ellipse">
            <a:avLst/>
          </a:prstGeom>
          <a:gradFill>
            <a:gsLst>
              <a:gs pos="0">
                <a:schemeClr val="accent5">
                  <a:lumMod val="60000"/>
                  <a:lumOff val="40000"/>
                </a:schemeClr>
              </a:gs>
              <a:gs pos="82000">
                <a:schemeClr val="accent5"/>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3" name="flag-pole-with-black-flag_38306"/>
          <p:cNvSpPr>
            <a:spLocks noChangeAspect="1"/>
          </p:cNvSpPr>
          <p:nvPr/>
        </p:nvSpPr>
        <p:spPr>
          <a:xfrm>
            <a:off x="1003337" y="4361149"/>
            <a:ext cx="211694" cy="252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rgbClr val="FFFFFF"/>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981003" y="5739858"/>
            <a:ext cx="228774" cy="553720"/>
          </a:xfrm>
          <a:prstGeom prst="rect">
            <a:avLst/>
          </a:prstGeom>
          <a:noFill/>
          <a:effectLst/>
        </p:spPr>
        <p:txBody>
          <a:bodyPr wrap="square" lIns="0" tIns="0" rIns="0" bIns="0" rtlCol="0">
            <a:spAutoFit/>
          </a:bodyPr>
          <a:lstStyle>
            <a:defPPr>
              <a:defRPr lang="zh-CN"/>
            </a:defPPr>
            <a:lvl1pPr marR="0" lvl="0" indent="0" algn="ctr" fontAlgn="auto">
              <a:lnSpc>
                <a:spcPct val="100000"/>
              </a:lnSpc>
              <a:spcBef>
                <a:spcPts val="0"/>
              </a:spcBef>
              <a:spcAft>
                <a:spcPts val="0"/>
              </a:spcAft>
              <a:buClrTx/>
              <a:buSzTx/>
              <a:buFontTx/>
              <a:buNone/>
              <a:defRPr kumimoji="0" sz="120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实用性</a:t>
            </a:r>
            <a:endParaRPr kumimoji="0" lang="en-US" altLang="en-US"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981003" y="5012398"/>
            <a:ext cx="228774" cy="368935"/>
          </a:xfrm>
          <a:prstGeom prst="rect">
            <a:avLst/>
          </a:prstGeom>
          <a:noFill/>
          <a:effectLst/>
        </p:spPr>
        <p:txBody>
          <a:bodyPr wrap="square" lIns="0" tIns="0" rIns="0" bIns="0" rtlCol="0">
            <a:spAutoFit/>
          </a:bodyPr>
          <a:lstStyle>
            <a:defPPr>
              <a:defRPr lang="zh-CN"/>
            </a:defPPr>
            <a:lvl1pPr marR="0" lvl="0" indent="0" algn="ctr" fontAlgn="auto">
              <a:lnSpc>
                <a:spcPct val="100000"/>
              </a:lnSpc>
              <a:spcBef>
                <a:spcPts val="0"/>
              </a:spcBef>
              <a:spcAft>
                <a:spcPts val="0"/>
              </a:spcAft>
              <a:buClrTx/>
              <a:buSzTx/>
              <a:buFontTx/>
              <a:buNone/>
              <a:defRPr kumimoji="0" sz="120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市场</a:t>
            </a:r>
            <a:endParaRPr kumimoji="0" lang="zh-CN" altLang="en-US"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981003" y="2631544"/>
            <a:ext cx="228774" cy="461645"/>
          </a:xfrm>
          <a:prstGeom prst="rect">
            <a:avLst/>
          </a:prstGeom>
          <a:noFill/>
          <a:effectLst/>
        </p:spPr>
        <p:txBody>
          <a:bodyPr wrap="square" lIns="0" tIns="0" rIns="0" bIns="0" rtlCol="0">
            <a:spAutoFit/>
          </a:bodyPr>
          <a:lstStyle>
            <a:defPPr>
              <a:defRPr lang="zh-CN"/>
            </a:defPPr>
            <a:lvl1pPr marR="0" lvl="0" indent="0" algn="ctr" fontAlgn="auto">
              <a:lnSpc>
                <a:spcPct val="100000"/>
              </a:lnSpc>
              <a:spcBef>
                <a:spcPts val="0"/>
              </a:spcBef>
              <a:spcAft>
                <a:spcPts val="0"/>
              </a:spcAft>
              <a:buClrTx/>
              <a:buSzTx/>
              <a:buFontTx/>
              <a:buNone/>
              <a:defRPr kumimoji="0" sz="120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10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可能性</a:t>
            </a:r>
            <a:endParaRPr kumimoji="0" lang="en-US" altLang="en-US" sz="10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981003" y="1626854"/>
            <a:ext cx="228774" cy="553720"/>
          </a:xfrm>
          <a:prstGeom prst="rect">
            <a:avLst/>
          </a:prstGeom>
          <a:noFill/>
          <a:effectLst/>
        </p:spPr>
        <p:txBody>
          <a:bodyPr wrap="square" lIns="0" tIns="0" rIns="0" bIns="0" rtlCol="0">
            <a:spAutoFit/>
          </a:bodyPr>
          <a:lstStyle>
            <a:defPPr>
              <a:defRPr lang="zh-CN"/>
            </a:defPPr>
            <a:lvl1pPr marR="0" lvl="0" indent="0" algn="ctr" fontAlgn="auto">
              <a:lnSpc>
                <a:spcPct val="100000"/>
              </a:lnSpc>
              <a:spcBef>
                <a:spcPts val="0"/>
              </a:spcBef>
              <a:spcAft>
                <a:spcPts val="0"/>
              </a:spcAft>
              <a:buClrTx/>
              <a:buSzTx/>
              <a:buFontTx/>
              <a:buNone/>
              <a:defRPr kumimoji="0" sz="120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广泛性</a:t>
            </a:r>
            <a:endParaRPr kumimoji="0" lang="en-US" altLang="en-US"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nvSpPr>
        <p:spPr>
          <a:xfrm>
            <a:off x="981003" y="3517859"/>
            <a:ext cx="228774" cy="368935"/>
          </a:xfrm>
          <a:prstGeom prst="rect">
            <a:avLst/>
          </a:prstGeom>
          <a:noFill/>
          <a:effectLst/>
        </p:spPr>
        <p:txBody>
          <a:bodyPr wrap="square" lIns="0" tIns="0" rIns="0" bIns="0" rtlCol="0">
            <a:spAutoFit/>
          </a:bodyPr>
          <a:lstStyle>
            <a:defPPr>
              <a:defRPr lang="zh-CN"/>
            </a:defPPr>
            <a:lvl1pPr marR="0" lvl="0" indent="0" algn="ctr" fontAlgn="auto">
              <a:lnSpc>
                <a:spcPct val="100000"/>
              </a:lnSpc>
              <a:spcBef>
                <a:spcPts val="0"/>
              </a:spcBef>
              <a:spcAft>
                <a:spcPts val="0"/>
              </a:spcAft>
              <a:buClrTx/>
              <a:buSzTx/>
              <a:buFontTx/>
              <a:buNone/>
              <a:defRPr kumimoji="0" sz="1200" u="none" strike="noStrike" cap="none" spc="0" normalizeH="0" baseline="0">
                <a:ln>
                  <a:noFill/>
                </a:ln>
                <a:effectLst/>
                <a:uLnTx/>
                <a:uFillTx/>
                <a:latin typeface="OPPOSans M" panose="00020600040101010101" pitchFamily="18" charset="-122"/>
                <a:ea typeface="OPPOSans M" panose="00020600040101010101" pitchFamily="18" charset="-122"/>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用户</a:t>
            </a:r>
            <a:endParaRPr kumimoji="0" lang="en-US" altLang="en-US"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39" name="图片 38"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10"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p:nvGrpSpPr>
        <p:grpSpPr>
          <a:xfrm>
            <a:off x="8738235" y="348615"/>
            <a:ext cx="3219450" cy="332740"/>
            <a:chOff x="13761" y="549"/>
            <a:chExt cx="5070" cy="524"/>
          </a:xfrm>
        </p:grpSpPr>
        <p:pic>
          <p:nvPicPr>
            <p:cNvPr id="41" name="图片 40"/>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2" name="文本框 4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latin typeface="微软雅黑" panose="020B0503020204020204" charset="-122"/>
                <a:ea typeface="微软雅黑" panose="020B0503020204020204" charset="-122"/>
                <a:cs typeface="微软雅黑" panose="020B0503020204020204" charset="-122"/>
              </a:rPr>
              <a:t>-</a:t>
            </a:r>
            <a:r>
              <a:rPr sz="2500">
                <a:solidFill>
                  <a:schemeClr val="accent1"/>
                </a:solidFill>
                <a:latin typeface="微软雅黑" panose="020B0503020204020204" charset="-122"/>
                <a:ea typeface="微软雅黑" panose="020B0503020204020204" charset="-122"/>
                <a:cs typeface="微软雅黑" panose="020B0503020204020204" charset="-122"/>
              </a:rPr>
              <a:t>时间流程架构 | </a:t>
            </a:r>
            <a:r>
              <a:rPr lang="zh-CN" altLang="en-US" sz="2500">
                <a:solidFill>
                  <a:srgbClr val="252C38"/>
                </a:solidFill>
                <a:latin typeface="微软雅黑" panose="020B0503020204020204" charset="-122"/>
                <a:ea typeface="微软雅黑" panose="020B0503020204020204" charset="-122"/>
                <a:cs typeface="微软雅黑" panose="020B0503020204020204" charset="-122"/>
              </a:rPr>
              <a:t>刻意练习学习法流程</a:t>
            </a:r>
            <a:endParaRPr lang="zh-CN" altLang="en-US" sz="2500">
              <a:solidFill>
                <a:srgbClr val="252C38"/>
              </a:solidFill>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736" name="圆角矩形 735"/>
          <p:cNvSpPr/>
          <p:nvPr/>
        </p:nvSpPr>
        <p:spPr bwMode="auto">
          <a:xfrm>
            <a:off x="311785" y="1046480"/>
            <a:ext cx="1784985" cy="662940"/>
          </a:xfrm>
          <a:prstGeom prst="roundRect">
            <a:avLst/>
          </a:prstGeom>
          <a:solidFill>
            <a:schemeClr val="accent1"/>
          </a:solidFill>
          <a:ln w="19050"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wrap="none" lIns="0" tIns="0" rIns="0" bIns="0" rtlCol="0" anchor="ctr">
            <a:noAutofit/>
          </a:bodyPr>
          <a:lstStyle/>
          <a:p>
            <a:pPr lvl="0" algn="ctr" eaLnBrk="0" hangingPunct="0">
              <a:buClrTx/>
              <a:buSzTx/>
              <a:buFontTx/>
              <a:defRPr/>
            </a:pPr>
            <a:r>
              <a:rPr lang="zh-CN" altLang="en-US" sz="1500" dirty="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第四维</a:t>
            </a:r>
            <a:r>
              <a:rPr lang="en-US" altLang="zh-CN" sz="1500" dirty="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500" dirty="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行动思维</a:t>
            </a:r>
            <a:endParaRPr lang="zh-CN" altLang="en-US" sz="1500" dirty="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lvl="0" algn="ctr" eaLnBrk="0" hangingPunct="0">
              <a:buClrTx/>
              <a:buSzTx/>
              <a:buFontTx/>
              <a:defRPr/>
            </a:pPr>
            <a:r>
              <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刻意练习</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89" name="椭圆 488"/>
          <p:cNvSpPr/>
          <p:nvPr/>
        </p:nvSpPr>
        <p:spPr>
          <a:xfrm>
            <a:off x="9624060" y="2341880"/>
            <a:ext cx="1478915" cy="1479550"/>
          </a:xfrm>
          <a:prstGeom prst="ellipse">
            <a:avLst/>
          </a:prstGeom>
          <a:solidFill>
            <a:schemeClr val="accent5">
              <a:lumMod val="20000"/>
              <a:lumOff val="80000"/>
              <a:alpha val="16000"/>
            </a:schemeClr>
          </a:solidFill>
          <a:ln w="6350" cap="flat">
            <a:solidFill>
              <a:schemeClr val="accent5"/>
            </a:solidFill>
            <a:prstDash val="solid"/>
            <a:miter/>
          </a:ln>
        </p:spPr>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SMART</a:t>
            </a:r>
            <a:endParaRPr kumimoji="0" lang="en-US" sz="16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73152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目标法</a:t>
            </a:r>
            <a:endParaRPr kumimoji="0" lang="zh-CN" altLang="en-US" sz="16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90" name="椭圆 489"/>
          <p:cNvSpPr/>
          <p:nvPr/>
        </p:nvSpPr>
        <p:spPr>
          <a:xfrm>
            <a:off x="10124440" y="2068195"/>
            <a:ext cx="492760" cy="492760"/>
          </a:xfrm>
          <a:prstGeom prst="ellipse">
            <a:avLst/>
          </a:prstGeom>
          <a:solidFill>
            <a:schemeClr val="accent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S</a:t>
            </a:r>
            <a:endPar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92" name="椭圆 491"/>
          <p:cNvSpPr/>
          <p:nvPr/>
        </p:nvSpPr>
        <p:spPr>
          <a:xfrm>
            <a:off x="10803890" y="2618740"/>
            <a:ext cx="492760" cy="492760"/>
          </a:xfrm>
          <a:prstGeom prst="ellipse">
            <a:avLst/>
          </a:prstGeom>
          <a:solidFill>
            <a:schemeClr val="accent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M</a:t>
            </a:r>
            <a:endPar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94" name="椭圆 493"/>
          <p:cNvSpPr/>
          <p:nvPr/>
        </p:nvSpPr>
        <p:spPr>
          <a:xfrm>
            <a:off x="10622280" y="3361690"/>
            <a:ext cx="492760" cy="492760"/>
          </a:xfrm>
          <a:prstGeom prst="ellipse">
            <a:avLst/>
          </a:prstGeom>
          <a:solidFill>
            <a:schemeClr val="accent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A</a:t>
            </a:r>
            <a:endPar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95" name="椭圆 494"/>
          <p:cNvSpPr/>
          <p:nvPr/>
        </p:nvSpPr>
        <p:spPr>
          <a:xfrm>
            <a:off x="9698355" y="3401695"/>
            <a:ext cx="492760" cy="492760"/>
          </a:xfrm>
          <a:prstGeom prst="ellipse">
            <a:avLst/>
          </a:prstGeom>
          <a:solidFill>
            <a:schemeClr val="accent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R</a:t>
            </a:r>
            <a:endPar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96" name="椭圆 495"/>
          <p:cNvSpPr/>
          <p:nvPr/>
        </p:nvSpPr>
        <p:spPr>
          <a:xfrm>
            <a:off x="9410065" y="2619375"/>
            <a:ext cx="492760" cy="492760"/>
          </a:xfrm>
          <a:prstGeom prst="ellipse">
            <a:avLst/>
          </a:prstGeom>
          <a:solidFill>
            <a:schemeClr val="accent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T</a:t>
            </a:r>
            <a:endParaRPr kumimoji="0" lang="en-US" altLang="zh-CN" sz="24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1" name="矩形 120"/>
          <p:cNvSpPr/>
          <p:nvPr/>
        </p:nvSpPr>
        <p:spPr>
          <a:xfrm>
            <a:off x="923925" y="1927860"/>
            <a:ext cx="1447800" cy="404495"/>
          </a:xfrm>
          <a:prstGeom prst="rect">
            <a:avLst/>
          </a:prstGeom>
          <a:noFill/>
          <a:ln w="12700" cap="flat" cmpd="sng" algn="ctr">
            <a:solidFill>
              <a:schemeClr val="accent1"/>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lstStyle/>
          <a:p>
            <a:pPr algn="ctr"/>
            <a:r>
              <a:rPr lang="zh-CN" altLang="en-US" sz="1400">
                <a:solidFill>
                  <a:schemeClr val="accent1"/>
                </a:solidFill>
                <a:latin typeface="微软雅黑" panose="020B0503020204020204" charset="-122"/>
                <a:ea typeface="微软雅黑" panose="020B0503020204020204" charset="-122"/>
                <a:cs typeface="微软雅黑" panose="020B0503020204020204" charset="-122"/>
              </a:rPr>
              <a:t>专注于做一件事</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8" name="矩形 127"/>
          <p:cNvSpPr/>
          <p:nvPr/>
        </p:nvSpPr>
        <p:spPr>
          <a:xfrm>
            <a:off x="923925" y="2453005"/>
            <a:ext cx="1447800" cy="404495"/>
          </a:xfrm>
          <a:prstGeom prst="rect">
            <a:avLst/>
          </a:prstGeom>
          <a:noFill/>
          <a:ln w="12700" cap="flat" cmpd="sng" algn="ctr">
            <a:solidFill>
              <a:schemeClr val="accent1"/>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lstStyle/>
          <a:p>
            <a:pPr algn="ctr"/>
            <a:r>
              <a:rPr lang="zh-CN" altLang="en-US" sz="1400">
                <a:solidFill>
                  <a:schemeClr val="accent1"/>
                </a:solidFill>
                <a:latin typeface="微软雅黑" panose="020B0503020204020204" charset="-122"/>
                <a:ea typeface="微软雅黑" panose="020B0503020204020204" charset="-122"/>
                <a:cs typeface="微软雅黑" panose="020B0503020204020204" charset="-122"/>
              </a:rPr>
              <a:t>安静的学习环境</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9" name="矩形 128"/>
          <p:cNvSpPr/>
          <p:nvPr/>
        </p:nvSpPr>
        <p:spPr>
          <a:xfrm>
            <a:off x="923925" y="2978150"/>
            <a:ext cx="1447800" cy="404495"/>
          </a:xfrm>
          <a:prstGeom prst="rect">
            <a:avLst/>
          </a:prstGeom>
          <a:noFill/>
          <a:ln w="12700" cap="flat" cmpd="sng" algn="ctr">
            <a:solidFill>
              <a:schemeClr val="accent1"/>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lstStyle/>
          <a:p>
            <a:pPr algn="ctr"/>
            <a:r>
              <a:rPr lang="zh-CN" altLang="en-US" sz="1400">
                <a:solidFill>
                  <a:schemeClr val="accent1"/>
                </a:solidFill>
                <a:latin typeface="微软雅黑" panose="020B0503020204020204" charset="-122"/>
                <a:ea typeface="微软雅黑" panose="020B0503020204020204" charset="-122"/>
                <a:cs typeface="微软雅黑" panose="020B0503020204020204" charset="-122"/>
              </a:rPr>
              <a:t>时间管理工具</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30" name="矩形 129"/>
          <p:cNvSpPr/>
          <p:nvPr/>
        </p:nvSpPr>
        <p:spPr>
          <a:xfrm>
            <a:off x="923925" y="3503295"/>
            <a:ext cx="1447800" cy="404495"/>
          </a:xfrm>
          <a:prstGeom prst="rect">
            <a:avLst/>
          </a:prstGeom>
          <a:noFill/>
          <a:ln w="12700" cap="flat" cmpd="sng" algn="ctr">
            <a:solidFill>
              <a:schemeClr val="accent1"/>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lstStyle/>
          <a:p>
            <a:pPr algn="ctr"/>
            <a:r>
              <a:rPr lang="zh-CN" altLang="en-US" sz="1400">
                <a:solidFill>
                  <a:schemeClr val="accent1"/>
                </a:solidFill>
                <a:latin typeface="微软雅黑" panose="020B0503020204020204" charset="-122"/>
                <a:ea typeface="微软雅黑" panose="020B0503020204020204" charset="-122"/>
                <a:cs typeface="微软雅黑" panose="020B0503020204020204" charset="-122"/>
              </a:rPr>
              <a:t>良好饮食和睡眠</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140" name="连接符: 曲线 96"/>
          <p:cNvCxnSpPr>
            <a:endCxn id="121" idx="3"/>
          </p:cNvCxnSpPr>
          <p:nvPr/>
        </p:nvCxnSpPr>
        <p:spPr>
          <a:xfrm rot="16200000" flipV="1">
            <a:off x="2285365" y="2216785"/>
            <a:ext cx="660400" cy="487680"/>
          </a:xfrm>
          <a:prstGeom prst="curvedConnector2">
            <a:avLst/>
          </a:prstGeom>
          <a:noFill/>
          <a:ln w="19050" cap="flat">
            <a:solidFill>
              <a:schemeClr val="accent1"/>
            </a:solidFill>
            <a:prstDash val="solid"/>
            <a:miter lim="800000"/>
            <a:tailEnd type="triangle"/>
          </a:ln>
          <a:effectLst/>
          <a:sp3d/>
        </p:spPr>
      </p:cxnSp>
      <p:cxnSp>
        <p:nvCxnSpPr>
          <p:cNvPr id="3" name="连接符: 曲线 96"/>
          <p:cNvCxnSpPr>
            <a:endCxn id="130" idx="3"/>
          </p:cNvCxnSpPr>
          <p:nvPr/>
        </p:nvCxnSpPr>
        <p:spPr>
          <a:xfrm rot="5400000">
            <a:off x="2247900" y="3094355"/>
            <a:ext cx="735330" cy="487680"/>
          </a:xfrm>
          <a:prstGeom prst="curvedConnector2">
            <a:avLst/>
          </a:prstGeom>
          <a:noFill/>
          <a:ln w="19050" cap="flat">
            <a:solidFill>
              <a:schemeClr val="accent1"/>
            </a:solidFill>
            <a:prstDash val="solid"/>
            <a:miter lim="800000"/>
            <a:tailEnd type="triangle"/>
          </a:ln>
          <a:effectLst/>
          <a:sp3d/>
        </p:spPr>
      </p:cxnSp>
      <p:cxnSp>
        <p:nvCxnSpPr>
          <p:cNvPr id="134" name="连接符: 曲线 96"/>
          <p:cNvCxnSpPr>
            <a:endCxn id="129" idx="3"/>
          </p:cNvCxnSpPr>
          <p:nvPr/>
        </p:nvCxnSpPr>
        <p:spPr>
          <a:xfrm rot="10800000" flipV="1">
            <a:off x="2371090" y="2700655"/>
            <a:ext cx="757555" cy="480060"/>
          </a:xfrm>
          <a:prstGeom prst="curvedConnector3">
            <a:avLst>
              <a:gd name="adj1" fmla="val 41911"/>
            </a:avLst>
          </a:prstGeom>
          <a:noFill/>
          <a:ln w="19050" cap="flat">
            <a:solidFill>
              <a:schemeClr val="accent1"/>
            </a:solidFill>
            <a:prstDash val="solid"/>
            <a:miter lim="800000"/>
            <a:tailEnd type="triangle"/>
          </a:ln>
          <a:effectLst/>
          <a:sp3d/>
        </p:spPr>
      </p:cxnSp>
      <p:cxnSp>
        <p:nvCxnSpPr>
          <p:cNvPr id="136" name="连接符: 曲线 96"/>
          <p:cNvCxnSpPr>
            <a:endCxn id="128" idx="3"/>
          </p:cNvCxnSpPr>
          <p:nvPr/>
        </p:nvCxnSpPr>
        <p:spPr>
          <a:xfrm rot="10800000">
            <a:off x="2371090" y="2655570"/>
            <a:ext cx="667385" cy="314960"/>
          </a:xfrm>
          <a:prstGeom prst="curvedConnector3">
            <a:avLst>
              <a:gd name="adj1" fmla="val 34538"/>
            </a:avLst>
          </a:prstGeom>
          <a:noFill/>
          <a:ln w="19050" cap="flat">
            <a:solidFill>
              <a:schemeClr val="accent1"/>
            </a:solidFill>
            <a:prstDash val="solid"/>
            <a:miter lim="800000"/>
            <a:tailEnd type="triangle"/>
          </a:ln>
          <a:effectLst/>
          <a:sp3d/>
        </p:spPr>
      </p:cxnSp>
      <p:grpSp>
        <p:nvGrpSpPr>
          <p:cNvPr id="161" name="组合 160"/>
          <p:cNvGrpSpPr/>
          <p:nvPr/>
        </p:nvGrpSpPr>
        <p:grpSpPr>
          <a:xfrm rot="0">
            <a:off x="1059180" y="4606290"/>
            <a:ext cx="2091055" cy="2102485"/>
            <a:chOff x="10553" y="17340"/>
            <a:chExt cx="6884" cy="6922"/>
          </a:xfrm>
        </p:grpSpPr>
        <p:sp>
          <p:nvSpPr>
            <p:cNvPr id="137" name="任意多边形: 形状 57"/>
            <p:cNvSpPr>
              <a:spLocks noChangeAspect="1"/>
            </p:cNvSpPr>
            <p:nvPr/>
          </p:nvSpPr>
          <p:spPr>
            <a:xfrm>
              <a:off x="10553" y="17340"/>
              <a:ext cx="6884" cy="6922"/>
            </a:xfrm>
            <a:custGeom>
              <a:avLst/>
              <a:gdLst>
                <a:gd name="connsiteX0" fmla="*/ 0 w 1492405"/>
                <a:gd name="connsiteY0" fmla="*/ 746203 h 1492405"/>
                <a:gd name="connsiteX1" fmla="*/ 746203 w 1492405"/>
                <a:gd name="connsiteY1" fmla="*/ 0 h 1492405"/>
                <a:gd name="connsiteX2" fmla="*/ 1492406 w 1492405"/>
                <a:gd name="connsiteY2" fmla="*/ 746203 h 1492405"/>
                <a:gd name="connsiteX3" fmla="*/ 746203 w 1492405"/>
                <a:gd name="connsiteY3" fmla="*/ 1492406 h 1492405"/>
                <a:gd name="connsiteX4" fmla="*/ 0 w 1492405"/>
                <a:gd name="connsiteY4" fmla="*/ 746203 h 1492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2405" h="1492405">
                  <a:moveTo>
                    <a:pt x="0" y="746203"/>
                  </a:moveTo>
                  <a:cubicBezTo>
                    <a:pt x="0" y="334086"/>
                    <a:pt x="334086" y="0"/>
                    <a:pt x="746203" y="0"/>
                  </a:cubicBezTo>
                  <a:cubicBezTo>
                    <a:pt x="1158320" y="0"/>
                    <a:pt x="1492406" y="334086"/>
                    <a:pt x="1492406" y="746203"/>
                  </a:cubicBezTo>
                  <a:cubicBezTo>
                    <a:pt x="1492406" y="1158320"/>
                    <a:pt x="1158320" y="1492406"/>
                    <a:pt x="746203" y="1492406"/>
                  </a:cubicBezTo>
                  <a:cubicBezTo>
                    <a:pt x="334086" y="1492406"/>
                    <a:pt x="0" y="1158320"/>
                    <a:pt x="0" y="746203"/>
                  </a:cubicBezTo>
                  <a:close/>
                </a:path>
              </a:pathLst>
            </a:custGeom>
            <a:solidFill>
              <a:schemeClr val="accent1"/>
            </a:solidFill>
            <a:ln w="12700" cap="flat" cmpd="sng" algn="ctr">
              <a:solidFill>
                <a:srgbClr val="FFFFFF"/>
              </a:solidFill>
              <a:prstDash val="solid"/>
              <a:miter lim="800000"/>
            </a:ln>
            <a:effectLst>
              <a:outerShdw blurRad="292100" dist="38100" dir="5400000" algn="t" rotWithShape="0">
                <a:prstClr val="black">
                  <a:alpha val="19000"/>
                </a:prstClr>
              </a:outerShdw>
            </a:effectLst>
          </p:spPr>
          <p:txBody>
            <a:bodyPr rtlCol="0" anchor="ctr"/>
            <a:lstStyle/>
            <a:p>
              <a:pPr algn="ctr"/>
              <a:endParaRPr lang="en-US" altLang="zh-CN" sz="1400" b="1" i="1" dirty="0">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rgbClr val="FFFFFF"/>
                  </a:solidFill>
                  <a:latin typeface="微软雅黑" panose="020B0503020204020204" charset="-122"/>
                  <a:ea typeface="微软雅黑" panose="020B0503020204020204" charset="-122"/>
                  <a:cs typeface="微软雅黑" panose="020B0503020204020204" charset="-122"/>
                </a:rPr>
                <a:t>力</a:t>
              </a:r>
              <a:endParaRPr lang="zh-CN" altLang="en-US" sz="14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8" name="任意多边形: 形状 56"/>
            <p:cNvSpPr>
              <a:spLocks noChangeAspect="1"/>
            </p:cNvSpPr>
            <p:nvPr/>
          </p:nvSpPr>
          <p:spPr>
            <a:xfrm>
              <a:off x="11514" y="18305"/>
              <a:ext cx="4963" cy="4992"/>
            </a:xfrm>
            <a:custGeom>
              <a:avLst/>
              <a:gdLst>
                <a:gd name="connsiteX0" fmla="*/ 0 w 1492405"/>
                <a:gd name="connsiteY0" fmla="*/ 746203 h 1492405"/>
                <a:gd name="connsiteX1" fmla="*/ 746203 w 1492405"/>
                <a:gd name="connsiteY1" fmla="*/ 0 h 1492405"/>
                <a:gd name="connsiteX2" fmla="*/ 1492406 w 1492405"/>
                <a:gd name="connsiteY2" fmla="*/ 746203 h 1492405"/>
                <a:gd name="connsiteX3" fmla="*/ 746203 w 1492405"/>
                <a:gd name="connsiteY3" fmla="*/ 1492406 h 1492405"/>
                <a:gd name="connsiteX4" fmla="*/ 0 w 1492405"/>
                <a:gd name="connsiteY4" fmla="*/ 746203 h 1492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2405" h="1492405">
                  <a:moveTo>
                    <a:pt x="0" y="746203"/>
                  </a:moveTo>
                  <a:cubicBezTo>
                    <a:pt x="0" y="334086"/>
                    <a:pt x="334086" y="0"/>
                    <a:pt x="746203" y="0"/>
                  </a:cubicBezTo>
                  <a:cubicBezTo>
                    <a:pt x="1158320" y="0"/>
                    <a:pt x="1492406" y="334086"/>
                    <a:pt x="1492406" y="746203"/>
                  </a:cubicBezTo>
                  <a:cubicBezTo>
                    <a:pt x="1492406" y="1158320"/>
                    <a:pt x="1158320" y="1492406"/>
                    <a:pt x="746203" y="1492406"/>
                  </a:cubicBezTo>
                  <a:cubicBezTo>
                    <a:pt x="334086" y="1492406"/>
                    <a:pt x="0" y="1158320"/>
                    <a:pt x="0" y="746203"/>
                  </a:cubicBezTo>
                  <a:close/>
                </a:path>
              </a:pathLst>
            </a:custGeom>
            <a:solidFill>
              <a:schemeClr val="accent1">
                <a:lumMod val="60000"/>
                <a:lumOff val="40000"/>
              </a:schemeClr>
            </a:solidFill>
            <a:ln w="12700" cap="flat" cmpd="sng" algn="ctr">
              <a:solidFill>
                <a:srgbClr val="FFFFFF"/>
              </a:solidFill>
              <a:prstDash val="solid"/>
              <a:miter lim="800000"/>
            </a:ln>
            <a:effectLst>
              <a:outerShdw blurRad="292100" dist="38100" dir="5400000" algn="t" rotWithShape="0">
                <a:prstClr val="black">
                  <a:alpha val="19000"/>
                </a:prstClr>
              </a:outerShdw>
            </a:effectLst>
          </p:spPr>
          <p:txBody>
            <a:bodyPr rtlCol="0" anchor="ctr"/>
            <a:lstStyle/>
            <a:p>
              <a:pPr algn="ctr"/>
              <a:endParaRPr lang="en-US" altLang="zh-CN" sz="1400" b="1" i="1" dirty="0">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rgbClr val="FFFFFF"/>
                  </a:solidFill>
                  <a:latin typeface="微软雅黑" panose="020B0503020204020204" charset="-122"/>
                  <a:ea typeface="微软雅黑" panose="020B0503020204020204" charset="-122"/>
                  <a:cs typeface="微软雅黑" panose="020B0503020204020204" charset="-122"/>
                </a:rPr>
                <a:t>力</a:t>
              </a:r>
              <a:endParaRPr lang="zh-CN" altLang="en-US" sz="14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 name="任意多边形: 形状 40"/>
            <p:cNvSpPr>
              <a:spLocks noChangeAspect="1"/>
            </p:cNvSpPr>
            <p:nvPr/>
          </p:nvSpPr>
          <p:spPr>
            <a:xfrm>
              <a:off x="12645" y="19401"/>
              <a:ext cx="2661" cy="2760"/>
            </a:xfrm>
            <a:custGeom>
              <a:avLst/>
              <a:gdLst>
                <a:gd name="connsiteX0" fmla="*/ 0 w 1492405"/>
                <a:gd name="connsiteY0" fmla="*/ 746203 h 1492405"/>
                <a:gd name="connsiteX1" fmla="*/ 746203 w 1492405"/>
                <a:gd name="connsiteY1" fmla="*/ 0 h 1492405"/>
                <a:gd name="connsiteX2" fmla="*/ 1492406 w 1492405"/>
                <a:gd name="connsiteY2" fmla="*/ 746203 h 1492405"/>
                <a:gd name="connsiteX3" fmla="*/ 746203 w 1492405"/>
                <a:gd name="connsiteY3" fmla="*/ 1492406 h 1492405"/>
                <a:gd name="connsiteX4" fmla="*/ 0 w 1492405"/>
                <a:gd name="connsiteY4" fmla="*/ 746203 h 1492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2405" h="1492405">
                  <a:moveTo>
                    <a:pt x="0" y="746203"/>
                  </a:moveTo>
                  <a:cubicBezTo>
                    <a:pt x="0" y="334086"/>
                    <a:pt x="334086" y="0"/>
                    <a:pt x="746203" y="0"/>
                  </a:cubicBezTo>
                  <a:cubicBezTo>
                    <a:pt x="1158320" y="0"/>
                    <a:pt x="1492406" y="334086"/>
                    <a:pt x="1492406" y="746203"/>
                  </a:cubicBezTo>
                  <a:cubicBezTo>
                    <a:pt x="1492406" y="1158320"/>
                    <a:pt x="1158320" y="1492406"/>
                    <a:pt x="746203" y="1492406"/>
                  </a:cubicBezTo>
                  <a:cubicBezTo>
                    <a:pt x="334086" y="1492406"/>
                    <a:pt x="0" y="1158320"/>
                    <a:pt x="0" y="746203"/>
                  </a:cubicBezTo>
                  <a:close/>
                </a:path>
              </a:pathLst>
            </a:custGeom>
            <a:solidFill>
              <a:schemeClr val="bg2"/>
            </a:solidFill>
            <a:ln w="12700" cap="flat" cmpd="sng" algn="ctr">
              <a:solidFill>
                <a:srgbClr val="FFFFFF"/>
              </a:solidFill>
              <a:prstDash val="solid"/>
              <a:miter lim="800000"/>
            </a:ln>
            <a:effectLst>
              <a:outerShdw blurRad="292100" dist="38100" dir="5400000" algn="t" rotWithShape="0">
                <a:prstClr val="black">
                  <a:alpha val="19000"/>
                </a:prstClr>
              </a:outerShdw>
            </a:effectLst>
          </p:spPr>
          <p:txBody>
            <a:bodyPr rtlCol="0" anchor="ctr"/>
            <a:lstStyle/>
            <a:p>
              <a:pPr algn="ct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舒适区</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cxnSp>
        <p:nvCxnSpPr>
          <p:cNvPr id="163" name="连接符: 曲线 96"/>
          <p:cNvCxnSpPr/>
          <p:nvPr/>
        </p:nvCxnSpPr>
        <p:spPr>
          <a:xfrm rot="16200000" flipV="1">
            <a:off x="923925" y="4364355"/>
            <a:ext cx="1169035" cy="1080135"/>
          </a:xfrm>
          <a:prstGeom prst="curvedConnector3">
            <a:avLst>
              <a:gd name="adj1" fmla="val 49973"/>
            </a:avLst>
          </a:prstGeom>
          <a:noFill/>
          <a:ln w="19050" cap="flat">
            <a:solidFill>
              <a:schemeClr val="accent5"/>
            </a:solidFill>
            <a:prstDash val="solid"/>
            <a:miter lim="800000"/>
            <a:tailEnd type="triangle"/>
          </a:ln>
          <a:effectLst/>
          <a:sp3d/>
        </p:spPr>
      </p:cxnSp>
      <p:sp>
        <p:nvSpPr>
          <p:cNvPr id="164" name="文本框 163"/>
          <p:cNvSpPr txBox="1"/>
          <p:nvPr/>
        </p:nvSpPr>
        <p:spPr>
          <a:xfrm>
            <a:off x="1149350" y="4410075"/>
            <a:ext cx="584835" cy="245745"/>
          </a:xfrm>
          <a:prstGeom prst="rect">
            <a:avLst/>
          </a:prstGeom>
          <a:noFill/>
        </p:spPr>
        <p:txBody>
          <a:bodyPr wrap="square" lIns="0" tIns="0" rIns="0" bIns="0" rtlCol="0">
            <a:spAutoFit/>
          </a:bodyPr>
          <a:lstStyle/>
          <a:p>
            <a:pPr algn="ctr"/>
            <a:r>
              <a:rPr lang="zh-CN" altLang="en-US" sz="1600" dirty="0">
                <a:solidFill>
                  <a:schemeClr val="accent5"/>
                </a:solidFill>
                <a:latin typeface="微软雅黑" panose="020B0503020204020204" charset="-122"/>
                <a:ea typeface="微软雅黑" panose="020B0503020204020204" charset="-122"/>
                <a:cs typeface="微软雅黑" panose="020B0503020204020204" charset="-122"/>
              </a:rPr>
              <a:t>突破</a:t>
            </a:r>
            <a:endParaRPr lang="zh-CN" altLang="en-US" sz="160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65" name="文本框 164"/>
          <p:cNvSpPr txBox="1"/>
          <p:nvPr/>
        </p:nvSpPr>
        <p:spPr>
          <a:xfrm>
            <a:off x="1623695" y="6083300"/>
            <a:ext cx="920750" cy="215265"/>
          </a:xfrm>
          <a:prstGeom prst="rect">
            <a:avLst/>
          </a:prstGeom>
          <a:noFill/>
        </p:spPr>
        <p:txBody>
          <a:bodyPr wrap="square" lIns="0" tIns="0" rIns="0" bIns="0" rtlCol="0">
            <a:spAutoFit/>
          </a:bodyPr>
          <a:lstStyle/>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学习区</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6" name="文本框 165"/>
          <p:cNvSpPr txBox="1"/>
          <p:nvPr/>
        </p:nvSpPr>
        <p:spPr>
          <a:xfrm>
            <a:off x="1623695" y="6440805"/>
            <a:ext cx="920750" cy="200660"/>
          </a:xfrm>
          <a:prstGeom prst="rect">
            <a:avLst/>
          </a:prstGeom>
          <a:noFill/>
        </p:spPr>
        <p:txBody>
          <a:bodyPr wrap="square" lIns="0" tIns="0" rIns="0" bIns="0" rtlCol="0">
            <a:noAutofit/>
          </a:bodyPr>
          <a:lstStyle/>
          <a:p>
            <a:pPr algn="ctr"/>
            <a:r>
              <a:rPr lang="zh-CN" altLang="en-US" sz="1400" b="1" dirty="0">
                <a:solidFill>
                  <a:sysClr val="window" lastClr="FFFFFF"/>
                </a:solidFill>
                <a:latin typeface="微软雅黑" panose="020B0503020204020204" charset="-122"/>
                <a:ea typeface="微软雅黑" panose="020B0503020204020204" charset="-122"/>
                <a:cs typeface="微软雅黑" panose="020B0503020204020204" charset="-122"/>
              </a:rPr>
              <a:t>困难区</a:t>
            </a:r>
            <a:endParaRPr lang="zh-CN" altLang="en-US" sz="1400" b="1" dirty="0">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67" name="矩形 166"/>
          <p:cNvSpPr/>
          <p:nvPr/>
        </p:nvSpPr>
        <p:spPr>
          <a:xfrm>
            <a:off x="9459595" y="4961255"/>
            <a:ext cx="1597025" cy="486410"/>
          </a:xfrm>
          <a:prstGeom prst="rect">
            <a:avLst/>
          </a:prstGeom>
          <a:solidFill>
            <a:schemeClr val="accent1">
              <a:lumMod val="60000"/>
              <a:lumOff val="40000"/>
            </a:schemeClr>
          </a:solidFill>
          <a:ln w="12700" cap="flat" cmpd="sng" algn="ctr">
            <a:solidFill>
              <a:schemeClr val="bg1"/>
            </a:solidFill>
            <a:prstDash val="solid"/>
            <a:miter lim="800000"/>
          </a:ln>
          <a:effectLst/>
        </p:spPr>
        <p:txBody>
          <a:bodyPr rtlCol="0" anchor="ctr"/>
          <a:lstStyle/>
          <a:p>
            <a:pPr algn="ctr"/>
            <a:r>
              <a:rPr lang="en-US" altLang="zh-CN" sz="1500">
                <a:solidFill>
                  <a:sysClr val="window" lastClr="FFFFFF"/>
                </a:solidFill>
                <a:latin typeface="微软雅黑" panose="020B0503020204020204" charset="-122"/>
                <a:ea typeface="微软雅黑" panose="020B0503020204020204" charset="-122"/>
                <a:cs typeface="微软雅黑" panose="020B0503020204020204" charset="-122"/>
              </a:rPr>
              <a:t>KISS</a:t>
            </a:r>
            <a:r>
              <a:rPr lang="zh-CN" altLang="en-US" sz="1500">
                <a:solidFill>
                  <a:sysClr val="window" lastClr="FFFFFF"/>
                </a:solidFill>
                <a:latin typeface="微软雅黑" panose="020B0503020204020204" charset="-122"/>
                <a:ea typeface="微软雅黑" panose="020B0503020204020204" charset="-122"/>
                <a:cs typeface="微软雅黑" panose="020B0503020204020204" charset="-122"/>
              </a:rPr>
              <a:t>复盘法</a:t>
            </a:r>
            <a:endParaRPr lang="zh-CN" altLang="en-US" sz="1500">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512" name="矩形: 圆角 4"/>
          <p:cNvSpPr/>
          <p:nvPr/>
        </p:nvSpPr>
        <p:spPr>
          <a:xfrm>
            <a:off x="9134475" y="4421505"/>
            <a:ext cx="1065530" cy="593090"/>
          </a:xfrm>
          <a:prstGeom prst="roundRect">
            <a:avLst/>
          </a:prstGeom>
          <a:solidFill>
            <a:sysClr val="window" lastClr="FFFFFF"/>
          </a:solidFill>
          <a:ln w="12700" cap="flat" cmpd="sng" algn="ctr">
            <a:solidFill>
              <a:schemeClr val="accent1">
                <a:lumMod val="60000"/>
                <a:lumOff val="40000"/>
              </a:schemeClr>
            </a:solidFill>
            <a:prstDash val="solid"/>
            <a:miter lim="800000"/>
          </a:ln>
          <a:effectLst>
            <a:outerShdw blurRad="50800" dist="38100" dir="2700000" algn="tl" rotWithShape="0">
              <a:schemeClr val="accent1">
                <a:lumMod val="60000"/>
                <a:lumOff val="40000"/>
                <a:alpha val="4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8" name="矩形: 圆角 4"/>
          <p:cNvSpPr/>
          <p:nvPr/>
        </p:nvSpPr>
        <p:spPr>
          <a:xfrm>
            <a:off x="10454005" y="4421505"/>
            <a:ext cx="1065530" cy="593090"/>
          </a:xfrm>
          <a:prstGeom prst="roundRect">
            <a:avLst/>
          </a:prstGeom>
          <a:solidFill>
            <a:sysClr val="window" lastClr="FFFFFF"/>
          </a:solidFill>
          <a:ln w="12700" cap="flat" cmpd="sng" algn="ctr">
            <a:solidFill>
              <a:schemeClr val="accent1">
                <a:lumMod val="60000"/>
                <a:lumOff val="40000"/>
              </a:schemeClr>
            </a:solidFill>
            <a:prstDash val="solid"/>
            <a:miter lim="800000"/>
          </a:ln>
          <a:effectLst>
            <a:outerShdw blurRad="50800" dist="38100" dir="2700000" algn="tl" rotWithShape="0">
              <a:schemeClr val="accent1">
                <a:lumMod val="60000"/>
                <a:lumOff val="40000"/>
                <a:alpha val="40000"/>
              </a:schemeClr>
            </a:outerShdw>
          </a:effectLst>
        </p:spPr>
        <p:txBody>
          <a:bodyPr rtlCol="0" anchor="ctr">
            <a:noAutofit/>
          </a:bodyPr>
          <a:lstStyle/>
          <a:p>
            <a:pPr lvl="0" algn="ctr">
              <a:spcBef>
                <a:spcPts val="0"/>
              </a:spcBef>
              <a:spcAft>
                <a:spcPts val="0"/>
              </a:spcAft>
              <a:buClrTx/>
              <a:buSzTx/>
              <a:buFontTx/>
              <a:defRPr/>
            </a:pPr>
            <a:endParaRPr lang="zh-CN" altLang="en-US" sz="1200" kern="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0" name="矩形: 圆角 4"/>
          <p:cNvSpPr/>
          <p:nvPr/>
        </p:nvSpPr>
        <p:spPr>
          <a:xfrm>
            <a:off x="9134475" y="5366385"/>
            <a:ext cx="1065530" cy="593090"/>
          </a:xfrm>
          <a:prstGeom prst="roundRect">
            <a:avLst/>
          </a:prstGeom>
          <a:solidFill>
            <a:sysClr val="window" lastClr="FFFFFF"/>
          </a:solidFill>
          <a:ln w="12700" cap="flat" cmpd="sng" algn="ctr">
            <a:solidFill>
              <a:schemeClr val="accent1">
                <a:lumMod val="60000"/>
                <a:lumOff val="40000"/>
              </a:schemeClr>
            </a:solidFill>
            <a:prstDash val="solid"/>
            <a:miter lim="800000"/>
          </a:ln>
          <a:effectLst>
            <a:outerShdw blurRad="50800" dist="38100" dir="2700000" algn="tl" rotWithShape="0">
              <a:schemeClr val="accent1">
                <a:lumMod val="60000"/>
                <a:lumOff val="40000"/>
                <a:alpha val="40000"/>
              </a:schemeClr>
            </a:outerShdw>
          </a:effectLst>
        </p:spPr>
        <p:txBody>
          <a:bodyPr rtlCol="0" anchor="ctr">
            <a:noAutofit/>
          </a:bodyPr>
          <a:lstStyle/>
          <a:p>
            <a:pPr lvl="0" algn="ctr">
              <a:spcBef>
                <a:spcPts val="0"/>
              </a:spcBef>
              <a:spcAft>
                <a:spcPts val="0"/>
              </a:spcAft>
              <a:buClrTx/>
              <a:buSzTx/>
              <a:buFontTx/>
              <a:defRPr/>
            </a:pPr>
            <a:endParaRPr lang="zh-CN" altLang="en-US" sz="1200" kern="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2" name="矩形: 圆角 4"/>
          <p:cNvSpPr/>
          <p:nvPr/>
        </p:nvSpPr>
        <p:spPr>
          <a:xfrm>
            <a:off x="10499090" y="5366385"/>
            <a:ext cx="1065530" cy="593090"/>
          </a:xfrm>
          <a:prstGeom prst="roundRect">
            <a:avLst/>
          </a:prstGeom>
          <a:solidFill>
            <a:sysClr val="window" lastClr="FFFFFF"/>
          </a:solidFill>
          <a:ln w="12700" cap="flat" cmpd="sng" algn="ctr">
            <a:solidFill>
              <a:schemeClr val="accent1">
                <a:lumMod val="60000"/>
                <a:lumOff val="40000"/>
              </a:schemeClr>
            </a:solidFill>
            <a:prstDash val="solid"/>
            <a:miter lim="800000"/>
          </a:ln>
          <a:effectLst>
            <a:outerShdw blurRad="50800" dist="38100" dir="2700000" algn="tl" rotWithShape="0">
              <a:schemeClr val="accent1">
                <a:lumMod val="60000"/>
                <a:lumOff val="40000"/>
                <a:alpha val="40000"/>
              </a:schemeClr>
            </a:outerShdw>
          </a:effectLst>
        </p:spPr>
        <p:txBody>
          <a:bodyPr rtlCol="0" anchor="ctr">
            <a:noAutofit/>
          </a:bodyPr>
          <a:lstStyle/>
          <a:p>
            <a:pPr lvl="0" algn="ctr">
              <a:spcBef>
                <a:spcPts val="0"/>
              </a:spcBef>
              <a:spcAft>
                <a:spcPts val="0"/>
              </a:spcAft>
              <a:buClrTx/>
              <a:buSzTx/>
              <a:buFontTx/>
              <a:defRPr/>
            </a:pPr>
            <a:endParaRPr lang="zh-CN" altLang="en-US" sz="1200" kern="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8" name="椭圆 17"/>
          <p:cNvSpPr>
            <a:spLocks noChangeAspect="1"/>
          </p:cNvSpPr>
          <p:nvPr/>
        </p:nvSpPr>
        <p:spPr>
          <a:xfrm>
            <a:off x="4464685" y="2609850"/>
            <a:ext cx="3088005" cy="3088005"/>
          </a:xfrm>
          <a:prstGeom prst="ellipse">
            <a:avLst/>
          </a:prstGeom>
          <a:solidFill>
            <a:schemeClr val="accent1">
              <a:lumMod val="20000"/>
              <a:lumOff val="80000"/>
              <a:alpha val="50000"/>
            </a:schemeClr>
          </a:solidFill>
          <a:ln w="6350" cap="flat" cmpd="sng" algn="ctr">
            <a:solidFill>
              <a:schemeClr val="accent1">
                <a:lumMod val="60000"/>
                <a:lumOff val="40000"/>
              </a:schemeClr>
            </a:solidFill>
            <a:prstDash val="dash"/>
            <a:miter lim="800000"/>
          </a:ln>
          <a:effectLst/>
        </p:spPr>
        <p:txBody>
          <a:bodyPr rtlCol="0" anchor="ctr"/>
          <a:lstStyle/>
          <a:p>
            <a:pPr algn="ctr"/>
            <a:endParaRPr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7" name="椭圆 176"/>
          <p:cNvSpPr/>
          <p:nvPr/>
        </p:nvSpPr>
        <p:spPr>
          <a:xfrm>
            <a:off x="4341495" y="2487295"/>
            <a:ext cx="3333750" cy="3334385"/>
          </a:xfrm>
          <a:prstGeom prst="ellipse">
            <a:avLst/>
          </a:prstGeom>
          <a:noFill/>
          <a:ln w="9525" cap="flat" cmpd="sng" algn="ctr">
            <a:solidFill>
              <a:schemeClr val="accent1"/>
            </a:solidFill>
            <a:prstDash val="solid"/>
            <a:miter lim="800000"/>
          </a:ln>
          <a:effectLst/>
        </p:spPr>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0" name="椭圆 179"/>
          <p:cNvSpPr>
            <a:spLocks noChangeAspect="1"/>
          </p:cNvSpPr>
          <p:nvPr/>
        </p:nvSpPr>
        <p:spPr>
          <a:xfrm>
            <a:off x="5469255" y="5138420"/>
            <a:ext cx="1154430" cy="1155065"/>
          </a:xfrm>
          <a:prstGeom prst="ellipse">
            <a:avLst/>
          </a:prstGeom>
          <a:solidFill>
            <a:schemeClr val="accent5"/>
          </a:solidFill>
          <a:ln w="15875" cap="flat" cmpd="sng" algn="ctr">
            <a:solidFill>
              <a:schemeClr val="accent5"/>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a:solidFill>
                  <a:srgbClr val="FFFFFF"/>
                </a:solidFill>
                <a:latin typeface="微软雅黑" panose="020B0503020204020204" charset="-122"/>
                <a:ea typeface="微软雅黑" panose="020B0503020204020204" charset="-122"/>
                <a:cs typeface="微软雅黑" panose="020B0503020204020204" charset="-122"/>
              </a:rPr>
              <a:t>技能水平</a:t>
            </a: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9" name="文本框 198"/>
          <p:cNvSpPr txBox="1"/>
          <p:nvPr/>
        </p:nvSpPr>
        <p:spPr>
          <a:xfrm>
            <a:off x="4921885" y="3921760"/>
            <a:ext cx="2279650" cy="339725"/>
          </a:xfrm>
          <a:prstGeom prst="rect">
            <a:avLst/>
          </a:prstGeom>
          <a:noFill/>
        </p:spPr>
        <p:txBody>
          <a:bodyPr wrap="square" rtlCol="0">
            <a:spAutoFit/>
          </a:bodyPr>
          <a:lstStyle/>
          <a:p>
            <a:pPr algn="ctr" fontAlgn="auto">
              <a:lnSpc>
                <a:spcPct val="90000"/>
              </a:lnSpc>
              <a:spcBef>
                <a:spcPts val="0"/>
              </a:spcBef>
              <a:spcAft>
                <a:spcPts val="0"/>
              </a:spcAft>
              <a:defRPr/>
            </a:pPr>
            <a:r>
              <a:rPr lang="zh-CN" altLang="en-US" b="1" dirty="0">
                <a:solidFill>
                  <a:schemeClr val="accent5"/>
                </a:solidFill>
                <a:latin typeface="微软雅黑" panose="020B0503020204020204" charset="-122"/>
                <a:ea typeface="微软雅黑" panose="020B0503020204020204" charset="-122"/>
                <a:cs typeface="微软雅黑" panose="020B0503020204020204" charset="-122"/>
              </a:rPr>
              <a:t>调节回路</a:t>
            </a:r>
            <a:r>
              <a:rPr lang="en-US" altLang="zh-CN" b="1" dirty="0">
                <a:solidFill>
                  <a:schemeClr val="accent5"/>
                </a:solidFill>
                <a:latin typeface="微软雅黑" panose="020B0503020204020204" charset="-122"/>
                <a:ea typeface="微软雅黑" panose="020B0503020204020204" charset="-122"/>
                <a:cs typeface="微软雅黑" panose="020B0503020204020204" charset="-122"/>
              </a:rPr>
              <a:t>=</a:t>
            </a:r>
            <a:r>
              <a:rPr lang="zh-CN" altLang="en-US" b="1" dirty="0">
                <a:solidFill>
                  <a:schemeClr val="accent5"/>
                </a:solidFill>
                <a:latin typeface="微软雅黑" panose="020B0503020204020204" charset="-122"/>
                <a:ea typeface="微软雅黑" panose="020B0503020204020204" charset="-122"/>
                <a:cs typeface="微软雅黑" panose="020B0503020204020204" charset="-122"/>
              </a:rPr>
              <a:t>刻意练习</a:t>
            </a:r>
            <a:endParaRPr lang="zh-CN" altLang="en-US"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11" name="文本框 210"/>
          <p:cNvSpPr txBox="1"/>
          <p:nvPr/>
        </p:nvSpPr>
        <p:spPr>
          <a:xfrm>
            <a:off x="4920615" y="4220210"/>
            <a:ext cx="2708275" cy="337185"/>
          </a:xfrm>
          <a:prstGeom prst="rect">
            <a:avLst/>
          </a:prstGeom>
          <a:noFill/>
        </p:spPr>
        <p:txBody>
          <a:bodyPr wrap="square" rtlCol="0">
            <a:spAutoFit/>
          </a:bodyPr>
          <a:lstStyle/>
          <a:p>
            <a:r>
              <a:rPr lang="zh-CN" altLang="en-US" sz="1600" dirty="0">
                <a:solidFill>
                  <a:schemeClr val="accent1"/>
                </a:solidFill>
                <a:latin typeface="微软雅黑" panose="020B0503020204020204" charset="-122"/>
                <a:ea typeface="微软雅黑" panose="020B0503020204020204" charset="-122"/>
                <a:cs typeface="微软雅黑" panose="020B0503020204020204" charset="-122"/>
              </a:rPr>
              <a:t>不断修正自我以达成目标</a:t>
            </a:r>
            <a:endParaRPr lang="zh-CN" altLang="en-US" sz="16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13" name="文本框 212"/>
          <p:cNvSpPr txBox="1"/>
          <p:nvPr/>
        </p:nvSpPr>
        <p:spPr>
          <a:xfrm>
            <a:off x="7366635" y="3921760"/>
            <a:ext cx="892810" cy="398780"/>
          </a:xfrm>
          <a:prstGeom prst="rect">
            <a:avLst/>
          </a:prstGeom>
          <a:solidFill>
            <a:schemeClr val="bg1"/>
          </a:solidFill>
        </p:spPr>
        <p:txBody>
          <a:bodyPr wrap="square" rtlCol="0">
            <a:spAutoFit/>
          </a:bodyPr>
          <a:lstStyle/>
          <a:p>
            <a:r>
              <a:rPr lang="zh-CN" altLang="en-US" sz="2000" b="1" dirty="0">
                <a:solidFill>
                  <a:schemeClr val="tx2"/>
                </a:solidFill>
                <a:latin typeface="微软雅黑" panose="020B0503020204020204" charset="-122"/>
                <a:ea typeface="微软雅黑" panose="020B0503020204020204" charset="-122"/>
                <a:cs typeface="微软雅黑" panose="020B0503020204020204" charset="-122"/>
              </a:rPr>
              <a:t>差距</a:t>
            </a: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7" name="弧形 31"/>
          <p:cNvSpPr/>
          <p:nvPr/>
        </p:nvSpPr>
        <p:spPr>
          <a:xfrm rot="14460000">
            <a:off x="7449185" y="2263775"/>
            <a:ext cx="3352800" cy="2764155"/>
          </a:xfrm>
          <a:prstGeom prst="arc">
            <a:avLst>
              <a:gd name="adj1" fmla="val 17669362"/>
              <a:gd name="adj2" fmla="val 1291717"/>
            </a:avLst>
          </a:prstGeom>
          <a:noFill/>
          <a:ln w="19050" cap="flat">
            <a:solidFill>
              <a:schemeClr val="accent5"/>
            </a:solidFill>
            <a:prstDash val="solid"/>
            <a:miter lim="800000"/>
            <a:headEnd type="triangle" w="med" len="med"/>
          </a:ln>
          <a:effectLst/>
          <a:sp3d/>
        </p:spPr>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800" b="1" u="none" strike="noStrike" cap="none" spc="0" normalizeH="0" baseline="0">
              <a:ln>
                <a:noFill/>
              </a:ln>
              <a:solidFill>
                <a:srgbClr val="000000"/>
              </a:solidFill>
              <a:effectLst/>
              <a:uFillTx/>
              <a:latin typeface="微软雅黑" panose="020B0503020204020204" charset="-122"/>
              <a:ea typeface="微软雅黑" panose="020B0503020204020204" charset="-122"/>
              <a:cs typeface="+mn-ea"/>
              <a:sym typeface="微软雅黑" panose="020B0503020204020204" charset="-122"/>
            </a:endParaRPr>
          </a:p>
        </p:txBody>
      </p:sp>
      <p:sp>
        <p:nvSpPr>
          <p:cNvPr id="228" name="文本框 227"/>
          <p:cNvSpPr txBox="1"/>
          <p:nvPr/>
        </p:nvSpPr>
        <p:spPr>
          <a:xfrm>
            <a:off x="8338820" y="1621790"/>
            <a:ext cx="1071245" cy="276860"/>
          </a:xfrm>
          <a:prstGeom prst="rect">
            <a:avLst/>
          </a:prstGeom>
          <a:noFill/>
        </p:spPr>
        <p:txBody>
          <a:bodyPr wrap="square" lIns="0" tIns="0" rIns="0" bIns="0" rtlCol="0">
            <a:spAutoFit/>
          </a:bodyPr>
          <a:lstStyle/>
          <a:p>
            <a:pPr algn="ctr"/>
            <a:r>
              <a:rPr lang="zh-CN" altLang="en-US" b="1" dirty="0">
                <a:solidFill>
                  <a:schemeClr val="accent5"/>
                </a:solidFill>
                <a:latin typeface="微软雅黑" panose="020B0503020204020204" charset="-122"/>
                <a:ea typeface="微软雅黑" panose="020B0503020204020204" charset="-122"/>
                <a:cs typeface="微软雅黑" panose="020B0503020204020204" charset="-122"/>
              </a:rPr>
              <a:t>目标</a:t>
            </a:r>
            <a:endParaRPr lang="zh-CN" altLang="en-US"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35" name="矩形 234"/>
          <p:cNvSpPr/>
          <p:nvPr/>
        </p:nvSpPr>
        <p:spPr>
          <a:xfrm>
            <a:off x="4065905" y="2291715"/>
            <a:ext cx="1407160" cy="960755"/>
          </a:xfrm>
          <a:prstGeom prst="rect">
            <a:avLst/>
          </a:prstGeom>
          <a:solidFill>
            <a:sysClr val="window" lastClr="FFFFFF"/>
          </a:solidFill>
          <a:ln w="12700" cap="flat" cmpd="sng" algn="ctr">
            <a:solidFill>
              <a:schemeClr val="accent1"/>
            </a:solidFill>
            <a:prstDash val="solid"/>
            <a:miter lim="800000"/>
          </a:ln>
          <a:effectLst/>
        </p:spPr>
        <p:txBody>
          <a:bodyPr rtlCol="0" anchor="ctr"/>
          <a:lstStyle/>
          <a:p>
            <a:pPr algn="ct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cxnSp>
        <p:nvCxnSpPr>
          <p:cNvPr id="19" name="直接连接符 18"/>
          <p:cNvCxnSpPr/>
          <p:nvPr/>
        </p:nvCxnSpPr>
        <p:spPr>
          <a:xfrm>
            <a:off x="4058285" y="2644140"/>
            <a:ext cx="1414145" cy="0"/>
          </a:xfrm>
          <a:prstGeom prst="line">
            <a:avLst/>
          </a:prstGeom>
          <a:noFill/>
          <a:ln w="12700" cap="flat" cmpd="sng" algn="ctr">
            <a:solidFill>
              <a:schemeClr val="accent1"/>
            </a:solidFill>
            <a:prstDash val="solid"/>
            <a:miter lim="800000"/>
          </a:ln>
          <a:effectLst/>
        </p:spPr>
      </p:cxnSp>
      <p:sp>
        <p:nvSpPr>
          <p:cNvPr id="27" name="矩形 26"/>
          <p:cNvSpPr/>
          <p:nvPr/>
        </p:nvSpPr>
        <p:spPr>
          <a:xfrm>
            <a:off x="4065905" y="3021965"/>
            <a:ext cx="1407160" cy="230505"/>
          </a:xfrm>
          <a:prstGeom prst="rect">
            <a:avLst/>
          </a:prstGeom>
          <a:solidFill>
            <a:schemeClr val="accent1"/>
          </a:solidFill>
          <a:ln w="12700" cap="flat" cmpd="sng" algn="ctr">
            <a:solidFill>
              <a:srgbClr val="224F86"/>
            </a:solidFill>
            <a:prstDash val="solid"/>
            <a:miter lim="800000"/>
          </a:ln>
          <a:effectLst/>
        </p:spPr>
        <p:txBody>
          <a:bodyPr rtlCol="0" anchor="ctr"/>
          <a:lstStyle/>
          <a:p>
            <a:pPr algn="ctr"/>
            <a:r>
              <a:rPr lang="zh-CN" altLang="en-US" sz="1500">
                <a:solidFill>
                  <a:sysClr val="window" lastClr="FFFFFF"/>
                </a:solidFill>
                <a:latin typeface="微软雅黑" panose="020B0503020204020204" charset="-122"/>
                <a:ea typeface="微软雅黑" panose="020B0503020204020204" charset="-122"/>
                <a:cs typeface="微软雅黑" panose="020B0503020204020204" charset="-122"/>
              </a:rPr>
              <a:t>有效训练量</a:t>
            </a:r>
            <a:endParaRPr lang="zh-CN" altLang="en-US" sz="1500">
              <a:solidFill>
                <a:sysClr val="window" lastClr="FFFFFF"/>
              </a:solidFill>
              <a:latin typeface="微软雅黑" panose="020B0503020204020204" charset="-122"/>
              <a:ea typeface="微软雅黑" panose="020B0503020204020204" charset="-122"/>
              <a:cs typeface="微软雅黑" panose="020B0503020204020204" charset="-122"/>
            </a:endParaRPr>
          </a:p>
        </p:txBody>
      </p:sp>
      <p:cxnSp>
        <p:nvCxnSpPr>
          <p:cNvPr id="43" name="直接连接符 42"/>
          <p:cNvCxnSpPr>
            <a:stCxn id="235" idx="0"/>
          </p:cNvCxnSpPr>
          <p:nvPr/>
        </p:nvCxnSpPr>
        <p:spPr>
          <a:xfrm>
            <a:off x="4769485" y="2291715"/>
            <a:ext cx="0" cy="356235"/>
          </a:xfrm>
          <a:prstGeom prst="line">
            <a:avLst/>
          </a:prstGeom>
          <a:noFill/>
          <a:ln w="12700" cap="flat" cmpd="sng" algn="ctr">
            <a:solidFill>
              <a:schemeClr val="accent1"/>
            </a:solidFill>
            <a:prstDash val="solid"/>
            <a:miter lim="800000"/>
          </a:ln>
          <a:effectLst/>
        </p:spPr>
      </p:cxnSp>
      <p:sp>
        <p:nvSpPr>
          <p:cNvPr id="44" name="文本框 43"/>
          <p:cNvSpPr txBox="1"/>
          <p:nvPr/>
        </p:nvSpPr>
        <p:spPr>
          <a:xfrm>
            <a:off x="4151630" y="2291715"/>
            <a:ext cx="589280" cy="337185"/>
          </a:xfrm>
          <a:prstGeom prst="rect">
            <a:avLst/>
          </a:prstGeom>
          <a:noFill/>
        </p:spPr>
        <p:txBody>
          <a:bodyPr wrap="square" rtlCol="0">
            <a:spAutoFit/>
          </a:bodyPr>
          <a:lstStyle/>
          <a:p>
            <a:r>
              <a:rPr lang="zh-CN" altLang="en-US" sz="1600" dirty="0">
                <a:solidFill>
                  <a:schemeClr val="accent1"/>
                </a:solidFill>
                <a:latin typeface="微软雅黑" panose="020B0503020204020204" charset="-122"/>
                <a:ea typeface="微软雅黑" panose="020B0503020204020204" charset="-122"/>
                <a:cs typeface="微软雅黑" panose="020B0503020204020204" charset="-122"/>
              </a:rPr>
              <a:t>专注</a:t>
            </a:r>
            <a:endParaRPr lang="zh-CN" altLang="en-US" sz="16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4831080" y="2291715"/>
            <a:ext cx="589280" cy="337185"/>
          </a:xfrm>
          <a:prstGeom prst="rect">
            <a:avLst/>
          </a:prstGeom>
          <a:noFill/>
        </p:spPr>
        <p:txBody>
          <a:bodyPr wrap="square" rtlCol="0">
            <a:spAutoFit/>
          </a:bodyPr>
          <a:lstStyle/>
          <a:p>
            <a:r>
              <a:rPr lang="zh-CN" altLang="en-US" sz="1600" dirty="0">
                <a:solidFill>
                  <a:schemeClr val="accent1"/>
                </a:solidFill>
                <a:latin typeface="微软雅黑" panose="020B0503020204020204" charset="-122"/>
                <a:ea typeface="微软雅黑" panose="020B0503020204020204" charset="-122"/>
                <a:cs typeface="微软雅黑" panose="020B0503020204020204" charset="-122"/>
              </a:rPr>
              <a:t>方法</a:t>
            </a:r>
            <a:endParaRPr lang="zh-CN" altLang="en-US" sz="16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244" name="组合 243"/>
          <p:cNvGrpSpPr/>
          <p:nvPr/>
        </p:nvGrpSpPr>
        <p:grpSpPr>
          <a:xfrm rot="0">
            <a:off x="2767330" y="2610485"/>
            <a:ext cx="1092200" cy="461645"/>
            <a:chOff x="5534227" y="1692995"/>
            <a:chExt cx="1008735" cy="315637"/>
          </a:xfrm>
          <a:solidFill>
            <a:schemeClr val="accent1"/>
          </a:solidFill>
        </p:grpSpPr>
        <p:sp>
          <p:nvSpPr>
            <p:cNvPr id="245" name="矩形: 圆角 213"/>
            <p:cNvSpPr/>
            <p:nvPr/>
          </p:nvSpPr>
          <p:spPr>
            <a:xfrm flipH="1">
              <a:off x="5534227" y="1692995"/>
              <a:ext cx="947155" cy="315637"/>
            </a:xfrm>
            <a:prstGeom prst="roundRect">
              <a:avLst>
                <a:gd name="adj" fmla="val 50000"/>
              </a:avLst>
            </a:prstGeom>
            <a:grpFill/>
            <a:ln w="9525" cap="flat" cmpd="sng" algn="ctr">
              <a:noFill/>
              <a:prstDash val="solid"/>
              <a:miter lim="800000"/>
            </a:ln>
            <a:effectLst/>
          </p:spPr>
          <p:txBody>
            <a:bodyPr lIns="130236" tIns="65118" rIns="130236" bIns="65118"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BrownStd Light" panose="00010400010101010101" charset="0"/>
                  <a:ea typeface="HONOR Sans CN Medium" panose="06000200000000000000" charset="-122"/>
                  <a:cs typeface="+mn-ea"/>
                </a:defRPr>
              </a:lvl1pPr>
              <a:lvl2pPr marL="457200" algn="l" defTabSz="914400" rtl="0" eaLnBrk="1" latinLnBrk="0" hangingPunct="1">
                <a:defRPr sz="1800" kern="1200">
                  <a:solidFill>
                    <a:sysClr val="window" lastClr="FFFFFF"/>
                  </a:solidFill>
                  <a:latin typeface="BrownStd Light" panose="00010400010101010101" charset="0"/>
                  <a:ea typeface="HONOR Sans CN Medium" panose="06000200000000000000" charset="-122"/>
                  <a:cs typeface="+mn-ea"/>
                </a:defRPr>
              </a:lvl2pPr>
              <a:lvl3pPr marL="914400" algn="l" defTabSz="914400" rtl="0" eaLnBrk="1" latinLnBrk="0" hangingPunct="1">
                <a:defRPr sz="1800" kern="1200">
                  <a:solidFill>
                    <a:sysClr val="window" lastClr="FFFFFF"/>
                  </a:solidFill>
                  <a:latin typeface="BrownStd Light" panose="00010400010101010101" charset="0"/>
                  <a:ea typeface="HONOR Sans CN Medium" panose="06000200000000000000" charset="-122"/>
                  <a:cs typeface="+mn-ea"/>
                </a:defRPr>
              </a:lvl3pPr>
              <a:lvl4pPr marL="1371600" algn="l" defTabSz="914400" rtl="0" eaLnBrk="1" latinLnBrk="0" hangingPunct="1">
                <a:defRPr sz="1800" kern="1200">
                  <a:solidFill>
                    <a:sysClr val="window" lastClr="FFFFFF"/>
                  </a:solidFill>
                  <a:latin typeface="BrownStd Light" panose="00010400010101010101" charset="0"/>
                  <a:ea typeface="HONOR Sans CN Medium" panose="06000200000000000000" charset="-122"/>
                  <a:cs typeface="+mn-ea"/>
                </a:defRPr>
              </a:lvl4pPr>
              <a:lvl5pPr marL="1828800" algn="l" defTabSz="914400" rtl="0" eaLnBrk="1" latinLnBrk="0" hangingPunct="1">
                <a:defRPr sz="1800" kern="1200">
                  <a:solidFill>
                    <a:sysClr val="window" lastClr="FFFFFF"/>
                  </a:solidFill>
                  <a:latin typeface="BrownStd Light" panose="00010400010101010101" charset="0"/>
                  <a:ea typeface="HONOR Sans CN Medium" panose="06000200000000000000" charset="-122"/>
                  <a:cs typeface="+mn-ea"/>
                </a:defRPr>
              </a:lvl5pPr>
              <a:lvl6pPr marL="2286000" algn="l" defTabSz="914400" rtl="0" eaLnBrk="1" latinLnBrk="0" hangingPunct="1">
                <a:defRPr sz="1800" kern="1200">
                  <a:solidFill>
                    <a:sysClr val="window" lastClr="FFFFFF"/>
                  </a:solidFill>
                  <a:latin typeface="BrownStd Light" panose="00010400010101010101" charset="0"/>
                  <a:ea typeface="HONOR Sans CN Medium" panose="06000200000000000000" charset="-122"/>
                  <a:cs typeface="+mn-ea"/>
                </a:defRPr>
              </a:lvl6pPr>
              <a:lvl7pPr marL="2743200" algn="l" defTabSz="914400" rtl="0" eaLnBrk="1" latinLnBrk="0" hangingPunct="1">
                <a:defRPr sz="1800" kern="1200">
                  <a:solidFill>
                    <a:sysClr val="window" lastClr="FFFFFF"/>
                  </a:solidFill>
                  <a:latin typeface="BrownStd Light" panose="00010400010101010101" charset="0"/>
                  <a:ea typeface="HONOR Sans CN Medium" panose="06000200000000000000" charset="-122"/>
                  <a:cs typeface="+mn-ea"/>
                </a:defRPr>
              </a:lvl7pPr>
              <a:lvl8pPr marL="3200400" algn="l" defTabSz="914400" rtl="0" eaLnBrk="1" latinLnBrk="0" hangingPunct="1">
                <a:defRPr sz="1800" kern="1200">
                  <a:solidFill>
                    <a:sysClr val="window" lastClr="FFFFFF"/>
                  </a:solidFill>
                  <a:latin typeface="BrownStd Light" panose="00010400010101010101" charset="0"/>
                  <a:ea typeface="HONOR Sans CN Medium" panose="06000200000000000000" charset="-122"/>
                  <a:cs typeface="+mn-ea"/>
                </a:defRPr>
              </a:lvl8pPr>
              <a:lvl9pPr marL="3657600" algn="l" defTabSz="914400" rtl="0" eaLnBrk="1" latinLnBrk="0" hangingPunct="1">
                <a:defRPr sz="1800" kern="1200">
                  <a:solidFill>
                    <a:sysClr val="window" lastClr="FFFFFF"/>
                  </a:solidFill>
                  <a:latin typeface="BrownStd Light" panose="00010400010101010101" charset="0"/>
                  <a:ea typeface="HONOR Sans CN Medium" panose="06000200000000000000" charset="-122"/>
                  <a:cs typeface="+mn-ea"/>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65"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mn-ea"/>
              </a:endParaRPr>
            </a:p>
          </p:txBody>
        </p:sp>
        <p:sp>
          <p:nvSpPr>
            <p:cNvPr id="246" name="文本框 251"/>
            <p:cNvSpPr txBox="1"/>
            <p:nvPr/>
          </p:nvSpPr>
          <p:spPr>
            <a:xfrm flipH="1">
              <a:off x="5534227" y="1718611"/>
              <a:ext cx="1008735" cy="263104"/>
            </a:xfrm>
            <a:prstGeom prst="rect">
              <a:avLst/>
            </a:prstGeom>
            <a:noFill/>
            <a:effectLst/>
            <a:extLst>
              <a:ext uri="{909E8E84-426E-40DD-AFC4-6F175D3DCCD1}">
                <a14:hiddenFill xmlns:a14="http://schemas.microsoft.com/office/drawing/2010/main">
                  <a:grpFill/>
                </a14:hiddenFill>
              </a:ext>
            </a:extLst>
          </p:spPr>
          <p:txBody>
            <a:bodyPr wrap="square" lIns="85954" tIns="42977" rIns="85954" bIns="42977" rtlCol="0">
              <a:noAutofit/>
            </a:bodyPr>
            <a:lstStyle>
              <a:defPPr>
                <a:defRPr lang="zh-CN"/>
              </a:defPPr>
              <a:lvl1pPr marL="0" algn="l" defTabSz="914400" rtl="0" eaLnBrk="1" latinLnBrk="0" hangingPunct="1">
                <a:defRPr sz="1800" kern="1200">
                  <a:solidFill>
                    <a:sysClr val="windowText" lastClr="000000"/>
                  </a:solidFill>
                  <a:latin typeface="BrownStd Light" panose="00010400010101010101" charset="0"/>
                  <a:ea typeface="HONOR Sans CN Medium" panose="06000200000000000000" charset="-122"/>
                  <a:cs typeface="+mn-ea"/>
                </a:defRPr>
              </a:lvl1pPr>
              <a:lvl2pPr marL="457200" algn="l" defTabSz="914400" rtl="0" eaLnBrk="1" latinLnBrk="0" hangingPunct="1">
                <a:defRPr sz="1800" kern="1200">
                  <a:solidFill>
                    <a:sysClr val="windowText" lastClr="000000"/>
                  </a:solidFill>
                  <a:latin typeface="BrownStd Light" panose="00010400010101010101" charset="0"/>
                  <a:ea typeface="HONOR Sans CN Medium" panose="06000200000000000000" charset="-122"/>
                  <a:cs typeface="+mn-ea"/>
                </a:defRPr>
              </a:lvl2pPr>
              <a:lvl3pPr marL="914400" algn="l" defTabSz="914400" rtl="0" eaLnBrk="1" latinLnBrk="0" hangingPunct="1">
                <a:defRPr sz="1800" kern="1200">
                  <a:solidFill>
                    <a:sysClr val="windowText" lastClr="000000"/>
                  </a:solidFill>
                  <a:latin typeface="BrownStd Light" panose="00010400010101010101" charset="0"/>
                  <a:ea typeface="HONOR Sans CN Medium" panose="06000200000000000000" charset="-122"/>
                  <a:cs typeface="+mn-ea"/>
                </a:defRPr>
              </a:lvl3pPr>
              <a:lvl4pPr marL="1371600" algn="l" defTabSz="914400" rtl="0" eaLnBrk="1" latinLnBrk="0" hangingPunct="1">
                <a:defRPr sz="1800" kern="1200">
                  <a:solidFill>
                    <a:sysClr val="windowText" lastClr="000000"/>
                  </a:solidFill>
                  <a:latin typeface="BrownStd Light" panose="00010400010101010101" charset="0"/>
                  <a:ea typeface="HONOR Sans CN Medium" panose="06000200000000000000" charset="-122"/>
                  <a:cs typeface="+mn-ea"/>
                </a:defRPr>
              </a:lvl4pPr>
              <a:lvl5pPr marL="1828800" algn="l" defTabSz="914400" rtl="0" eaLnBrk="1" latinLnBrk="0" hangingPunct="1">
                <a:defRPr sz="1800" kern="1200">
                  <a:solidFill>
                    <a:sysClr val="windowText" lastClr="000000"/>
                  </a:solidFill>
                  <a:latin typeface="BrownStd Light" panose="00010400010101010101" charset="0"/>
                  <a:ea typeface="HONOR Sans CN Medium" panose="06000200000000000000" charset="-122"/>
                  <a:cs typeface="+mn-ea"/>
                </a:defRPr>
              </a:lvl5pPr>
              <a:lvl6pPr marL="2286000" algn="l" defTabSz="914400" rtl="0" eaLnBrk="1" latinLnBrk="0" hangingPunct="1">
                <a:defRPr sz="1800" kern="1200">
                  <a:solidFill>
                    <a:sysClr val="windowText" lastClr="000000"/>
                  </a:solidFill>
                  <a:latin typeface="BrownStd Light" panose="00010400010101010101" charset="0"/>
                  <a:ea typeface="HONOR Sans CN Medium" panose="06000200000000000000" charset="-122"/>
                  <a:cs typeface="+mn-ea"/>
                </a:defRPr>
              </a:lvl6pPr>
              <a:lvl7pPr marL="2743200" algn="l" defTabSz="914400" rtl="0" eaLnBrk="1" latinLnBrk="0" hangingPunct="1">
                <a:defRPr sz="1800" kern="1200">
                  <a:solidFill>
                    <a:sysClr val="windowText" lastClr="000000"/>
                  </a:solidFill>
                  <a:latin typeface="BrownStd Light" panose="00010400010101010101" charset="0"/>
                  <a:ea typeface="HONOR Sans CN Medium" panose="06000200000000000000" charset="-122"/>
                  <a:cs typeface="+mn-ea"/>
                </a:defRPr>
              </a:lvl7pPr>
              <a:lvl8pPr marL="3200400" algn="l" defTabSz="914400" rtl="0" eaLnBrk="1" latinLnBrk="0" hangingPunct="1">
                <a:defRPr sz="1800" kern="1200">
                  <a:solidFill>
                    <a:sysClr val="windowText" lastClr="000000"/>
                  </a:solidFill>
                  <a:latin typeface="BrownStd Light" panose="00010400010101010101" charset="0"/>
                  <a:ea typeface="HONOR Sans CN Medium" panose="06000200000000000000" charset="-122"/>
                  <a:cs typeface="+mn-ea"/>
                </a:defRPr>
              </a:lvl8pPr>
              <a:lvl9pPr marL="3657600" algn="l" defTabSz="914400" rtl="0" eaLnBrk="1" latinLnBrk="0" hangingPunct="1">
                <a:defRPr sz="1800" kern="1200">
                  <a:solidFill>
                    <a:sysClr val="windowText" lastClr="000000"/>
                  </a:solidFill>
                  <a:latin typeface="BrownStd Light" panose="00010400010101010101" charset="0"/>
                  <a:ea typeface="HONOR Sans CN Medium" panose="06000200000000000000" charset="-122"/>
                  <a:cs typeface="+mn-ea"/>
                </a:defRPr>
              </a:lvl9pPr>
            </a:lstStyle>
            <a:p>
              <a:pPr marL="0" marR="0" lvl="0" indent="0" algn="l" defTabSz="914400" rtl="0" eaLnBrk="1" fontAlgn="auto" latinLnBrk="0" hangingPunct="1">
                <a:lnSpc>
                  <a:spcPct val="110000"/>
                </a:lnSpc>
                <a:spcBef>
                  <a:spcPts val="0"/>
                </a:spcBef>
                <a:spcAft>
                  <a:spcPts val="0"/>
                </a:spcAft>
                <a:buClrTx/>
                <a:buSzTx/>
                <a:buFontTx/>
                <a:buNone/>
                <a:defRPr/>
              </a:pPr>
              <a:r>
                <a:rPr lang="zh-CN" sz="1400" b="1" dirty="0">
                  <a:solidFill>
                    <a:sysClr val="window" lastClr="FFFFFF"/>
                  </a:solidFill>
                  <a:latin typeface="微软雅黑" panose="020B0503020204020204" charset="-122"/>
                  <a:ea typeface="微软雅黑" panose="020B0503020204020204" charset="-122"/>
                  <a:cs typeface="微软雅黑" panose="020B0503020204020204" charset="-122"/>
                </a:rPr>
                <a:t>②持续专注</a:t>
              </a:r>
              <a:endParaRPr lang="zh-CN" sz="1400" b="1" dirty="0">
                <a:solidFill>
                  <a:sysClr val="window" lastClr="FFFFFF"/>
                </a:solidFill>
                <a:latin typeface="微软雅黑" panose="020B0503020204020204" charset="-122"/>
                <a:ea typeface="微软雅黑" panose="020B0503020204020204" charset="-122"/>
                <a:cs typeface="微软雅黑" panose="020B0503020204020204" charset="-122"/>
              </a:endParaRPr>
            </a:p>
          </p:txBody>
        </p:sp>
      </p:grpSp>
      <p:cxnSp>
        <p:nvCxnSpPr>
          <p:cNvPr id="247" name="直线连接符 158"/>
          <p:cNvCxnSpPr>
            <a:endCxn id="241" idx="1"/>
          </p:cNvCxnSpPr>
          <p:nvPr/>
        </p:nvCxnSpPr>
        <p:spPr>
          <a:xfrm flipV="1">
            <a:off x="3801110" y="2825750"/>
            <a:ext cx="265430" cy="5715"/>
          </a:xfrm>
          <a:prstGeom prst="line">
            <a:avLst/>
          </a:prstGeom>
          <a:noFill/>
          <a:ln w="12700" cap="flat" cmpd="sng" algn="ctr">
            <a:solidFill>
              <a:schemeClr val="accent1"/>
            </a:solidFill>
            <a:prstDash val="sysDash"/>
            <a:miter lim="800000"/>
            <a:headEnd type="triangle"/>
          </a:ln>
          <a:effectLst/>
        </p:spPr>
      </p:cxnSp>
      <p:cxnSp>
        <p:nvCxnSpPr>
          <p:cNvPr id="252" name="直线连接符 158"/>
          <p:cNvCxnSpPr>
            <a:endCxn id="253" idx="1"/>
          </p:cNvCxnSpPr>
          <p:nvPr/>
        </p:nvCxnSpPr>
        <p:spPr>
          <a:xfrm flipV="1">
            <a:off x="3129280" y="4727575"/>
            <a:ext cx="899795" cy="537210"/>
          </a:xfrm>
          <a:prstGeom prst="line">
            <a:avLst/>
          </a:prstGeom>
          <a:noFill/>
          <a:ln w="12700" cap="flat" cmpd="sng" algn="ctr">
            <a:solidFill>
              <a:schemeClr val="accent1"/>
            </a:solidFill>
            <a:prstDash val="sysDash"/>
            <a:miter lim="800000"/>
            <a:headEnd type="triangle"/>
          </a:ln>
          <a:effectLst/>
        </p:spPr>
      </p:cxnSp>
      <p:sp>
        <p:nvSpPr>
          <p:cNvPr id="253" name="矩形 252"/>
          <p:cNvSpPr/>
          <p:nvPr/>
        </p:nvSpPr>
        <p:spPr>
          <a:xfrm>
            <a:off x="4029075" y="4410075"/>
            <a:ext cx="920115" cy="635000"/>
          </a:xfrm>
          <a:prstGeom prst="rect">
            <a:avLst/>
          </a:prstGeom>
          <a:solidFill>
            <a:sysClr val="window" lastClr="FFFFFF"/>
          </a:solidFill>
          <a:ln w="12700" cap="flat" cmpd="sng" algn="ctr">
            <a:solidFill>
              <a:schemeClr val="accent1"/>
            </a:solidFill>
            <a:prstDash val="sysDash"/>
            <a:miter lim="800000"/>
          </a:ln>
          <a:effectLst/>
        </p:spPr>
        <p:txBody>
          <a:bodyPr rtlCol="0" anchor="ctr"/>
          <a:lstStyle/>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③突破舒适区</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54" name="文本框 253"/>
          <p:cNvSpPr txBox="1"/>
          <p:nvPr/>
        </p:nvSpPr>
        <p:spPr>
          <a:xfrm>
            <a:off x="5480685" y="1984375"/>
            <a:ext cx="513715" cy="411480"/>
          </a:xfrm>
          <a:prstGeom prst="rect">
            <a:avLst/>
          </a:prstGeom>
          <a:noFill/>
        </p:spPr>
        <p:txBody>
          <a:bodyPr wrap="square" rtlCol="0">
            <a:noAutofit/>
          </a:bodyPr>
          <a:lstStyle/>
          <a:p>
            <a:r>
              <a:rPr lang="zh-CN" altLang="en-US" sz="3000">
                <a:solidFill>
                  <a:schemeClr val="accent1"/>
                </a:solidFill>
                <a:latin typeface="微软雅黑" panose="020B0503020204020204" charset="-122"/>
                <a:ea typeface="微软雅黑" panose="020B0503020204020204" charset="-122"/>
                <a:cs typeface="微软雅黑" panose="020B0503020204020204" charset="-122"/>
              </a:rPr>
              <a:t>＋</a:t>
            </a:r>
            <a:endParaRPr lang="zh-CN" altLang="en-US" sz="3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10" name="等腰三角形 237"/>
          <p:cNvSpPr/>
          <p:nvPr/>
        </p:nvSpPr>
        <p:spPr>
          <a:xfrm rot="15420000">
            <a:off x="5448935" y="2515235"/>
            <a:ext cx="135255" cy="98425"/>
          </a:xfrm>
          <a:prstGeom prst="triangle">
            <a:avLst/>
          </a:prstGeom>
          <a:solidFill>
            <a:schemeClr val="accent1"/>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5" name="文本框 254"/>
          <p:cNvSpPr txBox="1"/>
          <p:nvPr/>
        </p:nvSpPr>
        <p:spPr>
          <a:xfrm>
            <a:off x="7266305" y="2794635"/>
            <a:ext cx="513715" cy="411480"/>
          </a:xfrm>
          <a:prstGeom prst="rect">
            <a:avLst/>
          </a:prstGeom>
          <a:noFill/>
        </p:spPr>
        <p:txBody>
          <a:bodyPr wrap="square" rtlCol="0">
            <a:noAutofit/>
          </a:bodyPr>
          <a:lstStyle/>
          <a:p>
            <a:r>
              <a:rPr lang="zh-CN" altLang="en-US" sz="3000">
                <a:solidFill>
                  <a:schemeClr val="accent5"/>
                </a:solidFill>
                <a:latin typeface="微软雅黑" panose="020B0503020204020204" charset="-122"/>
                <a:ea typeface="微软雅黑" panose="020B0503020204020204" charset="-122"/>
                <a:cs typeface="微软雅黑" panose="020B0503020204020204" charset="-122"/>
              </a:rPr>
              <a:t>＋</a:t>
            </a:r>
            <a:endParaRPr lang="zh-CN" altLang="en-US" sz="30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56" name="文本框 255"/>
          <p:cNvSpPr txBox="1"/>
          <p:nvPr/>
        </p:nvSpPr>
        <p:spPr>
          <a:xfrm>
            <a:off x="7669530" y="4410075"/>
            <a:ext cx="513715" cy="411480"/>
          </a:xfrm>
          <a:prstGeom prst="rect">
            <a:avLst/>
          </a:prstGeom>
          <a:noFill/>
        </p:spPr>
        <p:txBody>
          <a:bodyPr wrap="square" rtlCol="0">
            <a:noAutofit/>
          </a:bodyPr>
          <a:lstStyle/>
          <a:p>
            <a:r>
              <a:rPr lang="zh-CN" altLang="en-US" sz="3000">
                <a:solidFill>
                  <a:schemeClr val="accent2"/>
                </a:solidFill>
                <a:latin typeface="微软雅黑" panose="020B0503020204020204" charset="-122"/>
                <a:ea typeface="微软雅黑" panose="020B0503020204020204" charset="-122"/>
                <a:cs typeface="微软雅黑" panose="020B0503020204020204" charset="-122"/>
              </a:rPr>
              <a:t>－</a:t>
            </a:r>
            <a:endParaRPr lang="zh-CN" altLang="en-US" sz="300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57" name="矩形 256"/>
          <p:cNvSpPr/>
          <p:nvPr/>
        </p:nvSpPr>
        <p:spPr>
          <a:xfrm>
            <a:off x="6999605" y="4872990"/>
            <a:ext cx="920115" cy="635000"/>
          </a:xfrm>
          <a:prstGeom prst="rect">
            <a:avLst/>
          </a:prstGeom>
          <a:solidFill>
            <a:sysClr val="window" lastClr="FFFFFF"/>
          </a:solidFill>
          <a:ln w="12700" cap="flat" cmpd="sng" algn="ctr">
            <a:solidFill>
              <a:schemeClr val="accent1">
                <a:lumMod val="60000"/>
                <a:lumOff val="40000"/>
              </a:schemeClr>
            </a:solidFill>
            <a:prstDash val="sysDash"/>
            <a:miter lim="800000"/>
          </a:ln>
          <a:effectLst/>
        </p:spPr>
        <p:txBody>
          <a:bodyPr rtlCol="0" anchor="ctr"/>
          <a:lstStyle/>
          <a:p>
            <a:pPr algn="ct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④复盘反馈</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58" name="等腰三角形 237"/>
          <p:cNvSpPr/>
          <p:nvPr/>
        </p:nvSpPr>
        <p:spPr>
          <a:xfrm rot="6660000">
            <a:off x="5381625" y="5678170"/>
            <a:ext cx="93980" cy="76200"/>
          </a:xfrm>
          <a:prstGeom prst="triangle">
            <a:avLst/>
          </a:prstGeom>
          <a:solidFill>
            <a:schemeClr val="accent1"/>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9" name="等腰三角形 237"/>
          <p:cNvSpPr/>
          <p:nvPr/>
        </p:nvSpPr>
        <p:spPr>
          <a:xfrm rot="180000">
            <a:off x="7573010" y="4286250"/>
            <a:ext cx="167005" cy="121285"/>
          </a:xfrm>
          <a:prstGeom prst="triangle">
            <a:avLst/>
          </a:prstGeom>
          <a:solidFill>
            <a:schemeClr val="accent1"/>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60" name="直线连接符 158"/>
          <p:cNvCxnSpPr>
            <a:stCxn id="167" idx="1"/>
            <a:endCxn id="257" idx="3"/>
          </p:cNvCxnSpPr>
          <p:nvPr/>
        </p:nvCxnSpPr>
        <p:spPr>
          <a:xfrm flipH="1" flipV="1">
            <a:off x="7919720" y="5190490"/>
            <a:ext cx="1539875" cy="13970"/>
          </a:xfrm>
          <a:prstGeom prst="line">
            <a:avLst/>
          </a:prstGeom>
          <a:noFill/>
          <a:ln w="12700" cap="flat" cmpd="sng" algn="ctr">
            <a:solidFill>
              <a:schemeClr val="accent2"/>
            </a:solidFill>
            <a:prstDash val="sysDash"/>
            <a:miter lim="800000"/>
            <a:headEnd type="triangle"/>
          </a:ln>
          <a:effectLst/>
        </p:spPr>
      </p:cxnSp>
      <p:sp>
        <p:nvSpPr>
          <p:cNvPr id="261" name="矩形 260"/>
          <p:cNvSpPr/>
          <p:nvPr/>
        </p:nvSpPr>
        <p:spPr>
          <a:xfrm>
            <a:off x="9785985" y="1535430"/>
            <a:ext cx="1087120" cy="448945"/>
          </a:xfrm>
          <a:prstGeom prst="rect">
            <a:avLst/>
          </a:prstGeom>
          <a:solidFill>
            <a:sysClr val="window" lastClr="FFFFFF"/>
          </a:solidFill>
          <a:ln w="12700" cap="flat" cmpd="sng" algn="ctr">
            <a:solidFill>
              <a:schemeClr val="accent5"/>
            </a:solidFill>
            <a:prstDash val="sysDash"/>
            <a:miter lim="800000"/>
          </a:ln>
          <a:effectLst/>
        </p:spPr>
        <p:txBody>
          <a:bodyPr rtlCol="0" anchor="ctr"/>
          <a:lstStyle/>
          <a:p>
            <a:pPr algn="ctr"/>
            <a:r>
              <a:rPr lang="zh-CN" altLang="en-US" sz="1400">
                <a:solidFill>
                  <a:schemeClr val="accent5"/>
                </a:solidFill>
                <a:latin typeface="微软雅黑" panose="020B0503020204020204" charset="-122"/>
                <a:ea typeface="微软雅黑" panose="020B0503020204020204" charset="-122"/>
                <a:cs typeface="微软雅黑" panose="020B0503020204020204" charset="-122"/>
              </a:rPr>
              <a:t>①确定目标</a:t>
            </a:r>
            <a:endParaRPr lang="zh-CN" altLang="en-US" sz="140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262" name="直线连接符 158"/>
          <p:cNvCxnSpPr>
            <a:stCxn id="261" idx="1"/>
          </p:cNvCxnSpPr>
          <p:nvPr/>
        </p:nvCxnSpPr>
        <p:spPr>
          <a:xfrm flipH="1" flipV="1">
            <a:off x="9156065" y="1758950"/>
            <a:ext cx="629920" cy="1270"/>
          </a:xfrm>
          <a:prstGeom prst="line">
            <a:avLst/>
          </a:prstGeom>
          <a:noFill/>
          <a:ln w="12700" cap="flat" cmpd="sng" algn="ctr">
            <a:solidFill>
              <a:schemeClr val="accent5"/>
            </a:solidFill>
            <a:prstDash val="sysDash"/>
            <a:miter lim="800000"/>
            <a:headEnd type="triangle"/>
          </a:ln>
          <a:effectLst/>
        </p:spPr>
      </p:cxnSp>
      <p:sp>
        <p:nvSpPr>
          <p:cNvPr id="4" name="文本框 3"/>
          <p:cNvSpPr txBox="1"/>
          <p:nvPr/>
        </p:nvSpPr>
        <p:spPr>
          <a:xfrm>
            <a:off x="4066540" y="2628900"/>
            <a:ext cx="1353820" cy="393065"/>
          </a:xfrm>
          <a:prstGeom prst="rect">
            <a:avLst/>
          </a:prstGeom>
          <a:noFill/>
        </p:spPr>
        <p:txBody>
          <a:bodyPr wrap="square" rtlCol="0">
            <a:noAutofit/>
          </a:bodyPr>
          <a:p>
            <a:pPr algn="ctr"/>
            <a:r>
              <a:rPr lang="zh-CN" altLang="en-US" dirty="0">
                <a:solidFill>
                  <a:schemeClr val="accent1"/>
                </a:solidFill>
                <a:latin typeface="微软雅黑" panose="020B0503020204020204" charset="-122"/>
                <a:ea typeface="微软雅黑" panose="020B0503020204020204" charset="-122"/>
                <a:cs typeface="微软雅黑" panose="020B0503020204020204" charset="-122"/>
              </a:rPr>
              <a:t>不断重复</a:t>
            </a:r>
            <a:endParaRPr lang="zh-CN" altLang="en-US"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9079230" y="4470400"/>
            <a:ext cx="1177925" cy="557530"/>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Keep</a:t>
            </a:r>
            <a:endParaRPr kumimoji="0" 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需要保持的</a:t>
            </a:r>
            <a:endPar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10454005" y="4470400"/>
            <a:ext cx="1065530" cy="4603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Improve</a:t>
            </a:r>
            <a:endParaRPr kumimoji="0" lang="en-US" altLang="zh-CN"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需要改进的</a:t>
            </a:r>
            <a:endPar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9140825" y="5423535"/>
            <a:ext cx="1019175" cy="4603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Stop</a:t>
            </a:r>
            <a:endParaRPr kumimoji="0" lang="en-US" altLang="zh-CN"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需要停止的</a:t>
            </a:r>
            <a:endPar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10550525" y="5423535"/>
            <a:ext cx="993140" cy="4603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Start</a:t>
            </a:r>
            <a:endParaRPr kumimoji="0" 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需要开始的</a:t>
            </a:r>
            <a:endPar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8738235" y="348615"/>
            <a:ext cx="3219450" cy="332740"/>
            <a:chOff x="13761" y="549"/>
            <a:chExt cx="5070" cy="524"/>
          </a:xfrm>
        </p:grpSpPr>
        <p:pic>
          <p:nvPicPr>
            <p:cNvPr id="11" name="图片 10"/>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2" name="文本框 1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5"/>
          <p:cNvSpPr/>
          <p:nvPr/>
        </p:nvSpPr>
        <p:spPr>
          <a:xfrm>
            <a:off x="4731335" y="2616433"/>
            <a:ext cx="3117478" cy="3117241"/>
          </a:xfrm>
          <a:prstGeom prst="ellipse">
            <a:avLst/>
          </a:prstGeom>
          <a:solidFill>
            <a:schemeClr val="accent1">
              <a:lumMod val="60000"/>
              <a:lumOff val="40000"/>
              <a:alpha val="1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cxnSp>
        <p:nvCxnSpPr>
          <p:cNvPr id="227" name="直接连接符 226"/>
          <p:cNvCxnSpPr>
            <a:stCxn id="186" idx="6"/>
          </p:cNvCxnSpPr>
          <p:nvPr/>
        </p:nvCxnSpPr>
        <p:spPr>
          <a:xfrm>
            <a:off x="4776470" y="4191000"/>
            <a:ext cx="3011805" cy="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业务流程架构 | </a:t>
            </a:r>
            <a:r>
              <a:rPr sz="250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产品经理需求设计思路</a:t>
            </a:r>
            <a:endParaRPr sz="250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Object 3"/>
          <p:cNvSpPr/>
          <p:nvPr/>
        </p:nvSpPr>
        <p:spPr>
          <a:xfrm>
            <a:off x="1612639" y="2616433"/>
            <a:ext cx="3117478" cy="3117241"/>
          </a:xfrm>
          <a:prstGeom prst="ellipse">
            <a:avLst/>
          </a:prstGeom>
          <a:solidFill>
            <a:schemeClr val="accent1">
              <a:alpha val="5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3" name="Object 6"/>
          <p:cNvSpPr/>
          <p:nvPr/>
        </p:nvSpPr>
        <p:spPr>
          <a:xfrm>
            <a:off x="7873365" y="4191000"/>
            <a:ext cx="3098800" cy="635"/>
          </a:xfrm>
          <a:prstGeom prst="line">
            <a:avLst/>
          </a:prstGeom>
          <a:solidFill>
            <a:srgbClr val="FFFFFF">
              <a:alpha val="0"/>
            </a:srgbClr>
          </a:solidFill>
          <a:ln w="12700">
            <a:solidFill>
              <a:schemeClr val="accent5"/>
            </a:solidFill>
            <a:prstDash val="solid"/>
            <a:tailEnd type="arrow" w="med" len="sm"/>
          </a:ln>
        </p:spPr>
        <p:txBody>
          <a:bodyPr wrap="none"/>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8" name="Object 10"/>
          <p:cNvSpPr/>
          <p:nvPr/>
        </p:nvSpPr>
        <p:spPr>
          <a:xfrm>
            <a:off x="717750" y="4076311"/>
            <a:ext cx="457197" cy="228342"/>
          </a:xfrm>
          <a:prstGeom prst="rect">
            <a:avLst/>
          </a:prstGeom>
          <a:noFill/>
        </p:spPr>
        <p:txBody>
          <a:bodyPr wrap="none" lIns="0" tIns="0" rIns="0" bIns="0" rtlCol="0" anchor="ctr"/>
          <a:lstStyle/>
          <a:p>
            <a:pPr algn="ctr"/>
            <a:r>
              <a:rPr lang="en-US" sz="2000" b="1" kern="0" dirty="0">
                <a:solidFill>
                  <a:schemeClr val="accent1"/>
                </a:solidFill>
                <a:latin typeface="微软雅黑" panose="020B0503020204020204" charset="-122"/>
                <a:ea typeface="微软雅黑" panose="020B0503020204020204" charset="-122"/>
                <a:cs typeface="微软雅黑" panose="020B0503020204020204" charset="-122"/>
              </a:rPr>
              <a:t>需求</a:t>
            </a:r>
            <a:endParaRPr lang="en-US" sz="2000" b="1" kern="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9" name="Object 11"/>
          <p:cNvSpPr/>
          <p:nvPr/>
        </p:nvSpPr>
        <p:spPr>
          <a:xfrm>
            <a:off x="11182089" y="4076311"/>
            <a:ext cx="457197" cy="228342"/>
          </a:xfrm>
          <a:prstGeom prst="rect">
            <a:avLst/>
          </a:prstGeom>
          <a:noFill/>
        </p:spPr>
        <p:txBody>
          <a:bodyPr wrap="none" lIns="0" tIns="0" rIns="0" bIns="0" rtlCol="0" anchor="ctr"/>
          <a:lstStyle/>
          <a:p>
            <a:pPr algn="ctr"/>
            <a:r>
              <a:rPr lang="en-US" sz="2000" b="1" kern="0" dirty="0">
                <a:solidFill>
                  <a:schemeClr val="accent5"/>
                </a:solidFill>
                <a:latin typeface="微软雅黑" panose="020B0503020204020204" charset="-122"/>
                <a:ea typeface="微软雅黑" panose="020B0503020204020204" charset="-122"/>
                <a:cs typeface="微软雅黑" panose="020B0503020204020204" charset="-122"/>
              </a:rPr>
              <a:t>方案</a:t>
            </a:r>
            <a:endParaRPr lang="en-US" sz="2000" b="1" kern="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0" name="Object 13"/>
          <p:cNvSpPr/>
          <p:nvPr/>
        </p:nvSpPr>
        <p:spPr>
          <a:xfrm>
            <a:off x="2564828" y="1562496"/>
            <a:ext cx="1263085" cy="362055"/>
          </a:xfrm>
          <a:prstGeom prst="roundRect">
            <a:avLst>
              <a:gd name="adj" fmla="val 13889"/>
            </a:avLst>
          </a:prstGeom>
          <a:solidFill>
            <a:schemeClr val="accent1"/>
          </a:solidFill>
          <a:ln w="12700">
            <a:noFill/>
            <a:prstDash val="solid"/>
          </a:ln>
          <a:effectLst>
            <a:outerShdw blurRad="444500" dist="127000" dir="5400000" algn="t" rotWithShape="0">
              <a:schemeClr val="bg2">
                <a:alpha val="10000"/>
              </a:schemeClr>
            </a:outerShdw>
          </a:effectLst>
        </p:spPr>
        <p:txBody>
          <a:bodyPr wrap="none">
            <a:noAutofit/>
          </a:bodyPr>
          <a:lstStyle/>
          <a:p>
            <a:pPr lvl="0" algn="ctr">
              <a:buClrTx/>
              <a:buSzTx/>
              <a:buFontTx/>
            </a:pP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21" name="Object 14"/>
          <p:cNvSpPr/>
          <p:nvPr/>
        </p:nvSpPr>
        <p:spPr>
          <a:xfrm>
            <a:off x="2840975" y="1625924"/>
            <a:ext cx="710790" cy="235199"/>
          </a:xfrm>
          <a:prstGeom prst="rect">
            <a:avLst/>
          </a:prstGeom>
          <a:noFill/>
        </p:spPr>
        <p:txBody>
          <a:bodyPr wrap="none" lIns="0" tIns="0" rIns="0" bIns="0" rtlCol="0" anchor="ctr"/>
          <a:lstStyle/>
          <a:p>
            <a:pPr algn="ctr">
              <a:lnSpc>
                <a:spcPts val="1850"/>
              </a:lnSpc>
            </a:pPr>
            <a:r>
              <a:rPr lang="en-US" sz="1400" b="1" dirty="0" err="1">
                <a:solidFill>
                  <a:schemeClr val="bg1"/>
                </a:solidFill>
                <a:latin typeface="微软雅黑" panose="020B0503020204020204" charset="-122"/>
                <a:ea typeface="微软雅黑" panose="020B0503020204020204" charset="-122"/>
                <a:cs typeface="微软雅黑" panose="020B0503020204020204" charset="-122"/>
              </a:rPr>
              <a:t>好的质量</a:t>
            </a:r>
            <a:endParaRPr lang="en-US" sz="1400" b="1" dirty="0" err="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7" name="Object 15"/>
          <p:cNvSpPr/>
          <p:nvPr/>
        </p:nvSpPr>
        <p:spPr>
          <a:xfrm>
            <a:off x="2203947" y="2051407"/>
            <a:ext cx="609597" cy="202971"/>
          </a:xfrm>
          <a:prstGeom prst="rect">
            <a:avLst/>
          </a:prstGeom>
          <a:noFill/>
        </p:spPr>
        <p:txBody>
          <a:bodyPr wrap="none" lIns="0" tIns="0" rIns="0" bIns="0" rtlCol="0" anchor="ctr">
            <a:noAutofit/>
          </a:bodyPr>
          <a:lstStyle/>
          <a:p>
            <a:pPr lvl="0" algn="ctr">
              <a:lnSpc>
                <a:spcPts val="1600"/>
              </a:lnSpc>
              <a:buClrTx/>
              <a:buSzTx/>
              <a:buFontTx/>
            </a:pPr>
            <a:r>
              <a:rPr lang="en-US" sz="1400" b="1" dirty="0" err="1">
                <a:solidFill>
                  <a:schemeClr val="accent1"/>
                </a:solidFill>
                <a:latin typeface="微软雅黑" panose="020B0503020204020204" charset="-122"/>
                <a:ea typeface="微软雅黑" panose="020B0503020204020204" charset="-122"/>
                <a:cs typeface="微软雅黑" panose="020B0503020204020204" charset="-122"/>
                <a:sym typeface="+mn-ea"/>
              </a:rPr>
              <a:t>发现问题</a:t>
            </a:r>
            <a:endParaRPr lang="en-US" sz="1400" b="1" dirty="0" err="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38" name="Object 16"/>
          <p:cNvSpPr/>
          <p:nvPr/>
        </p:nvSpPr>
        <p:spPr>
          <a:xfrm>
            <a:off x="2146645" y="5981601"/>
            <a:ext cx="730297" cy="202971"/>
          </a:xfrm>
          <a:prstGeom prst="rect">
            <a:avLst/>
          </a:prstGeom>
          <a:noFill/>
        </p:spPr>
        <p:txBody>
          <a:bodyPr wrap="none" lIns="0" tIns="0" rIns="0" bIns="0" rtlCol="0" anchor="ctr"/>
          <a:lstStyle/>
          <a:p>
            <a:pPr algn="ctr">
              <a:lnSpc>
                <a:spcPts val="1600"/>
              </a:lnSpc>
            </a:pPr>
            <a:r>
              <a:rPr lang="en-US" sz="1200" b="1" dirty="0" err="1">
                <a:solidFill>
                  <a:schemeClr val="accent1"/>
                </a:solidFill>
                <a:latin typeface="微软雅黑" panose="020B0503020204020204" charset="-122"/>
                <a:ea typeface="微软雅黑" panose="020B0503020204020204" charset="-122"/>
                <a:cs typeface="微软雅黑" panose="020B0503020204020204" charset="-122"/>
              </a:rPr>
              <a:t>质疑&amp;调研</a:t>
            </a:r>
            <a:endParaRPr lang="en-US" sz="1200" b="1" dirty="0" err="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9" name="Object 17"/>
          <p:cNvSpPr/>
          <p:nvPr/>
        </p:nvSpPr>
        <p:spPr>
          <a:xfrm>
            <a:off x="1771134" y="2654147"/>
            <a:ext cx="253592" cy="171428"/>
          </a:xfrm>
          <a:prstGeom prst="rect">
            <a:avLst/>
          </a:prstGeom>
          <a:noFill/>
        </p:spPr>
        <p:txBody>
          <a:bodyPr wrap="none" lIns="0" tIns="0" rIns="0" bIns="0" rtlCol="0" anchor="ctr"/>
          <a:lstStyle/>
          <a:p>
            <a:pPr algn="ctr">
              <a:lnSpc>
                <a:spcPts val="1350"/>
              </a:lnSpc>
            </a:pPr>
            <a:r>
              <a:rPr lang="en-US" sz="1000" b="1" dirty="0" err="1">
                <a:solidFill>
                  <a:schemeClr val="tx2"/>
                </a:solidFill>
                <a:latin typeface="微软雅黑" panose="020B0503020204020204" charset="-122"/>
                <a:ea typeface="微软雅黑" panose="020B0503020204020204" charset="-122"/>
                <a:cs typeface="微软雅黑" panose="020B0503020204020204" charset="-122"/>
              </a:rPr>
              <a:t>发散</a:t>
            </a:r>
            <a:endParaRPr lang="en-US" sz="1000" b="1"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5" name="Object 18"/>
          <p:cNvSpPr/>
          <p:nvPr/>
        </p:nvSpPr>
        <p:spPr>
          <a:xfrm>
            <a:off x="1686560" y="4282440"/>
            <a:ext cx="338455" cy="171450"/>
          </a:xfrm>
          <a:prstGeom prst="rect">
            <a:avLst/>
          </a:prstGeom>
          <a:noFill/>
        </p:spPr>
        <p:txBody>
          <a:bodyPr wrap="none" lIns="0" tIns="0" rIns="0" bIns="0" rtlCol="0" anchor="ctr"/>
          <a:lstStyle/>
          <a:p>
            <a:pPr algn="ctr">
              <a:lnSpc>
                <a:spcPts val="1350"/>
              </a:lnSpc>
            </a:pPr>
            <a:r>
              <a:rPr lang="en-US" sz="1000" b="1" dirty="0" err="1">
                <a:solidFill>
                  <a:schemeClr val="accent1"/>
                </a:solidFill>
                <a:latin typeface="微软雅黑" panose="020B0503020204020204" charset="-122"/>
                <a:ea typeface="微软雅黑" panose="020B0503020204020204" charset="-122"/>
                <a:cs typeface="微软雅黑" panose="020B0503020204020204" charset="-122"/>
              </a:rPr>
              <a:t>战略</a:t>
            </a:r>
            <a:endParaRPr lang="en-US" sz="1000" b="1" dirty="0" err="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7" name="Object 19"/>
          <p:cNvSpPr/>
          <p:nvPr/>
        </p:nvSpPr>
        <p:spPr>
          <a:xfrm>
            <a:off x="4329430" y="4282440"/>
            <a:ext cx="400685" cy="171450"/>
          </a:xfrm>
          <a:prstGeom prst="rect">
            <a:avLst/>
          </a:prstGeom>
          <a:noFill/>
        </p:spPr>
        <p:txBody>
          <a:bodyPr wrap="none" lIns="0" tIns="0" rIns="0" bIns="0" rtlCol="0" anchor="ctr">
            <a:noAutofit/>
          </a:bodyPr>
          <a:lstStyle/>
          <a:p>
            <a:pPr lvl="0" algn="ctr">
              <a:lnSpc>
                <a:spcPts val="1350"/>
              </a:lnSpc>
              <a:buClrTx/>
              <a:buSzTx/>
              <a:buFontTx/>
            </a:pPr>
            <a:r>
              <a:rPr lang="en-US" sz="1000" b="1" dirty="0" err="1">
                <a:solidFill>
                  <a:schemeClr val="accent1"/>
                </a:solidFill>
                <a:latin typeface="微软雅黑" panose="020B0503020204020204" charset="-122"/>
                <a:ea typeface="微软雅黑" panose="020B0503020204020204" charset="-122"/>
                <a:cs typeface="微软雅黑" panose="020B0503020204020204" charset="-122"/>
                <a:sym typeface="+mn-ea"/>
              </a:rPr>
              <a:t>范围</a:t>
            </a:r>
            <a:endParaRPr lang="en-US" sz="1000" b="1" dirty="0" err="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08" name="Object 20"/>
          <p:cNvSpPr/>
          <p:nvPr/>
        </p:nvSpPr>
        <p:spPr>
          <a:xfrm>
            <a:off x="5645731" y="4282440"/>
            <a:ext cx="253592" cy="171428"/>
          </a:xfrm>
          <a:prstGeom prst="rect">
            <a:avLst/>
          </a:prstGeom>
          <a:noFill/>
        </p:spPr>
        <p:txBody>
          <a:bodyPr wrap="none" lIns="0" tIns="0" rIns="0" bIns="0" rtlCol="0" anchor="ctr"/>
          <a:lstStyle/>
          <a:p>
            <a:pPr algn="ctr">
              <a:lnSpc>
                <a:spcPts val="1350"/>
              </a:lnSpc>
            </a:pPr>
            <a:r>
              <a:rPr lang="en-US" sz="10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结构</a:t>
            </a:r>
            <a:endParaRPr lang="en-US" sz="10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1" name="Object 21"/>
          <p:cNvSpPr/>
          <p:nvPr/>
        </p:nvSpPr>
        <p:spPr>
          <a:xfrm>
            <a:off x="6686923" y="4282440"/>
            <a:ext cx="253592" cy="171428"/>
          </a:xfrm>
          <a:prstGeom prst="rect">
            <a:avLst/>
          </a:prstGeom>
          <a:noFill/>
        </p:spPr>
        <p:txBody>
          <a:bodyPr wrap="none" lIns="0" tIns="0" rIns="0" bIns="0" rtlCol="0" anchor="ctr"/>
          <a:lstStyle/>
          <a:p>
            <a:pPr algn="ctr">
              <a:lnSpc>
                <a:spcPts val="1350"/>
              </a:lnSpc>
            </a:pPr>
            <a:r>
              <a:rPr lang="en-US" sz="10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框架</a:t>
            </a:r>
            <a:endParaRPr lang="en-US" sz="10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2" name="Object 22"/>
          <p:cNvSpPr/>
          <p:nvPr/>
        </p:nvSpPr>
        <p:spPr>
          <a:xfrm>
            <a:off x="7893773" y="4305131"/>
            <a:ext cx="253592" cy="171428"/>
          </a:xfrm>
          <a:prstGeom prst="rect">
            <a:avLst/>
          </a:prstGeom>
          <a:noFill/>
        </p:spPr>
        <p:txBody>
          <a:bodyPr wrap="none" lIns="0" tIns="0" rIns="0" bIns="0" rtlCol="0" anchor="ctr"/>
          <a:lstStyle/>
          <a:p>
            <a:pPr algn="ctr">
              <a:lnSpc>
                <a:spcPts val="1350"/>
              </a:lnSpc>
            </a:pPr>
            <a:r>
              <a:rPr lang="en-US" sz="1200" b="1" dirty="0" err="1">
                <a:solidFill>
                  <a:schemeClr val="accent5"/>
                </a:solidFill>
                <a:latin typeface="微软雅黑" panose="020B0503020204020204" charset="-122"/>
                <a:ea typeface="微软雅黑" panose="020B0503020204020204" charset="-122"/>
                <a:cs typeface="微软雅黑" panose="020B0503020204020204" charset="-122"/>
              </a:rPr>
              <a:t>表现</a:t>
            </a:r>
            <a:endParaRPr lang="en-US" sz="1200" b="1" dirty="0" err="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13" name="Object 23"/>
          <p:cNvSpPr/>
          <p:nvPr/>
        </p:nvSpPr>
        <p:spPr>
          <a:xfrm>
            <a:off x="9200900" y="4305131"/>
            <a:ext cx="253592" cy="171428"/>
          </a:xfrm>
          <a:prstGeom prst="rect">
            <a:avLst/>
          </a:prstGeom>
          <a:noFill/>
        </p:spPr>
        <p:txBody>
          <a:bodyPr wrap="none" lIns="0" tIns="0" rIns="0" bIns="0" rtlCol="0" anchor="ctr"/>
          <a:lstStyle/>
          <a:p>
            <a:pPr algn="ctr">
              <a:lnSpc>
                <a:spcPts val="1350"/>
              </a:lnSpc>
            </a:pPr>
            <a:r>
              <a:rPr lang="en-US" sz="1200" b="1" dirty="0" err="1">
                <a:solidFill>
                  <a:schemeClr val="accent5"/>
                </a:solidFill>
                <a:latin typeface="微软雅黑" panose="020B0503020204020204" charset="-122"/>
                <a:ea typeface="微软雅黑" panose="020B0503020204020204" charset="-122"/>
                <a:cs typeface="微软雅黑" panose="020B0503020204020204" charset="-122"/>
              </a:rPr>
              <a:t>研发</a:t>
            </a:r>
            <a:endParaRPr lang="en-US" sz="1200" b="1" dirty="0" err="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14" name="Object 24"/>
          <p:cNvSpPr/>
          <p:nvPr/>
        </p:nvSpPr>
        <p:spPr>
          <a:xfrm>
            <a:off x="10344504" y="4305131"/>
            <a:ext cx="253592" cy="171428"/>
          </a:xfrm>
          <a:prstGeom prst="rect">
            <a:avLst/>
          </a:prstGeom>
          <a:noFill/>
        </p:spPr>
        <p:txBody>
          <a:bodyPr wrap="none" lIns="0" tIns="0" rIns="0" bIns="0" rtlCol="0" anchor="ctr"/>
          <a:lstStyle/>
          <a:p>
            <a:pPr algn="ctr">
              <a:lnSpc>
                <a:spcPts val="1350"/>
              </a:lnSpc>
            </a:pPr>
            <a:r>
              <a:rPr lang="en-US" sz="1200" b="1" dirty="0" err="1">
                <a:solidFill>
                  <a:schemeClr val="accent5"/>
                </a:solidFill>
                <a:latin typeface="微软雅黑" panose="020B0503020204020204" charset="-122"/>
                <a:ea typeface="微软雅黑" panose="020B0503020204020204" charset="-122"/>
                <a:cs typeface="微软雅黑" panose="020B0503020204020204" charset="-122"/>
              </a:rPr>
              <a:t>测试</a:t>
            </a:r>
            <a:endParaRPr lang="en-US" sz="1200" b="1" dirty="0" err="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15" name="Object 25"/>
          <p:cNvSpPr/>
          <p:nvPr/>
        </p:nvSpPr>
        <p:spPr>
          <a:xfrm>
            <a:off x="4819118" y="2654147"/>
            <a:ext cx="253592" cy="171428"/>
          </a:xfrm>
          <a:prstGeom prst="rect">
            <a:avLst/>
          </a:prstGeom>
          <a:noFill/>
        </p:spPr>
        <p:txBody>
          <a:bodyPr wrap="none" lIns="0" tIns="0" rIns="0" bIns="0" rtlCol="0" anchor="ctr"/>
          <a:lstStyle/>
          <a:p>
            <a:pPr algn="ctr">
              <a:lnSpc>
                <a:spcPts val="1350"/>
              </a:lnSpc>
            </a:pPr>
            <a:r>
              <a:rPr lang="en-US" sz="1000" b="1" dirty="0" err="1">
                <a:solidFill>
                  <a:schemeClr val="tx2"/>
                </a:solidFill>
                <a:latin typeface="微软雅黑" panose="020B0503020204020204" charset="-122"/>
                <a:ea typeface="微软雅黑" panose="020B0503020204020204" charset="-122"/>
                <a:cs typeface="微软雅黑" panose="020B0503020204020204" charset="-122"/>
              </a:rPr>
              <a:t>发散</a:t>
            </a:r>
            <a:endParaRPr lang="en-US" sz="1000" b="1"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6" name="Object 26"/>
          <p:cNvSpPr/>
          <p:nvPr/>
        </p:nvSpPr>
        <p:spPr>
          <a:xfrm>
            <a:off x="4387524" y="2654147"/>
            <a:ext cx="253592" cy="171428"/>
          </a:xfrm>
          <a:prstGeom prst="rect">
            <a:avLst/>
          </a:prstGeom>
          <a:noFill/>
        </p:spPr>
        <p:txBody>
          <a:bodyPr wrap="none" lIns="0" tIns="0" rIns="0" bIns="0" rtlCol="0" anchor="ctr"/>
          <a:lstStyle/>
          <a:p>
            <a:pPr algn="ctr">
              <a:lnSpc>
                <a:spcPts val="1350"/>
              </a:lnSpc>
            </a:pPr>
            <a:r>
              <a:rPr lang="en-US" sz="1000" b="1" dirty="0" err="1">
                <a:solidFill>
                  <a:schemeClr val="tx2"/>
                </a:solidFill>
                <a:latin typeface="微软雅黑" panose="020B0503020204020204" charset="-122"/>
                <a:ea typeface="微软雅黑" panose="020B0503020204020204" charset="-122"/>
                <a:cs typeface="微软雅黑" panose="020B0503020204020204" charset="-122"/>
              </a:rPr>
              <a:t>收拢</a:t>
            </a:r>
            <a:endParaRPr lang="en-US" sz="1000" b="1"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7" name="Object 27"/>
          <p:cNvSpPr/>
          <p:nvPr/>
        </p:nvSpPr>
        <p:spPr>
          <a:xfrm>
            <a:off x="7524509" y="2654147"/>
            <a:ext cx="253592" cy="171428"/>
          </a:xfrm>
          <a:prstGeom prst="rect">
            <a:avLst/>
          </a:prstGeom>
          <a:noFill/>
        </p:spPr>
        <p:txBody>
          <a:bodyPr wrap="none" lIns="0" tIns="0" rIns="0" bIns="0" rtlCol="0" anchor="ctr"/>
          <a:lstStyle/>
          <a:p>
            <a:pPr algn="ctr">
              <a:lnSpc>
                <a:spcPts val="1350"/>
              </a:lnSpc>
            </a:pPr>
            <a:r>
              <a:rPr lang="en-US" sz="1000" b="1" dirty="0" err="1">
                <a:solidFill>
                  <a:schemeClr val="tx2"/>
                </a:solidFill>
                <a:latin typeface="微软雅黑" panose="020B0503020204020204" charset="-122"/>
                <a:ea typeface="微软雅黑" panose="020B0503020204020204" charset="-122"/>
                <a:cs typeface="微软雅黑" panose="020B0503020204020204" charset="-122"/>
              </a:rPr>
              <a:t>收拢</a:t>
            </a:r>
            <a:endParaRPr lang="en-US" sz="1000" b="1"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8" name="Object 28"/>
          <p:cNvSpPr/>
          <p:nvPr/>
        </p:nvSpPr>
        <p:spPr>
          <a:xfrm>
            <a:off x="5456515" y="2051407"/>
            <a:ext cx="609597" cy="202971"/>
          </a:xfrm>
          <a:prstGeom prst="rect">
            <a:avLst/>
          </a:prstGeom>
          <a:noFill/>
        </p:spPr>
        <p:txBody>
          <a:bodyPr wrap="none" lIns="0" tIns="0" rIns="0" bIns="0" rtlCol="0" anchor="ctr">
            <a:noAutofit/>
          </a:bodyPr>
          <a:lstStyle/>
          <a:p>
            <a:pPr lvl="0" algn="ctr">
              <a:lnSpc>
                <a:spcPts val="1600"/>
              </a:lnSpc>
              <a:buClrTx/>
              <a:buSzTx/>
              <a:buFontTx/>
            </a:pPr>
            <a:r>
              <a:rPr lang="en-US" sz="14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构思方案</a:t>
            </a:r>
            <a:endParaRPr lang="en-US" sz="14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9" name="Object 29"/>
          <p:cNvSpPr/>
          <p:nvPr/>
        </p:nvSpPr>
        <p:spPr>
          <a:xfrm>
            <a:off x="5393117" y="5981601"/>
            <a:ext cx="736393" cy="202971"/>
          </a:xfrm>
          <a:prstGeom prst="rect">
            <a:avLst/>
          </a:prstGeom>
          <a:noFill/>
        </p:spPr>
        <p:txBody>
          <a:bodyPr wrap="none" lIns="0" tIns="0" rIns="0" bIns="0" rtlCol="0" anchor="ctr">
            <a:noAutofit/>
          </a:bodyPr>
          <a:lstStyle/>
          <a:p>
            <a:pPr lvl="0" algn="ctr">
              <a:lnSpc>
                <a:spcPts val="1600"/>
              </a:lnSpc>
              <a:buClrTx/>
              <a:buSzTx/>
              <a:buFontTx/>
            </a:pPr>
            <a:r>
              <a:rPr lang="en-US" sz="14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发散&amp;构思</a:t>
            </a:r>
            <a:endParaRPr lang="en-US" sz="14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0" name="Object 30"/>
          <p:cNvSpPr/>
          <p:nvPr/>
        </p:nvSpPr>
        <p:spPr>
          <a:xfrm>
            <a:off x="3530430" y="2051407"/>
            <a:ext cx="609597" cy="202971"/>
          </a:xfrm>
          <a:prstGeom prst="rect">
            <a:avLst/>
          </a:prstGeom>
          <a:noFill/>
        </p:spPr>
        <p:txBody>
          <a:bodyPr wrap="none" lIns="0" tIns="0" rIns="0" bIns="0" rtlCol="0" anchor="ctr">
            <a:noAutofit/>
          </a:bodyPr>
          <a:lstStyle/>
          <a:p>
            <a:pPr lvl="0" algn="ctr">
              <a:lnSpc>
                <a:spcPts val="1600"/>
              </a:lnSpc>
              <a:buClrTx/>
              <a:buSzTx/>
              <a:buFontTx/>
            </a:pPr>
            <a:r>
              <a:rPr lang="en-US" sz="1400" b="1" dirty="0" err="1">
                <a:solidFill>
                  <a:schemeClr val="accent1"/>
                </a:solidFill>
                <a:latin typeface="微软雅黑" panose="020B0503020204020204" charset="-122"/>
                <a:ea typeface="微软雅黑" panose="020B0503020204020204" charset="-122"/>
                <a:cs typeface="微软雅黑" panose="020B0503020204020204" charset="-122"/>
                <a:sym typeface="+mn-ea"/>
              </a:rPr>
              <a:t>定义问题</a:t>
            </a:r>
            <a:endParaRPr lang="en-US" sz="1400" b="1" dirty="0" err="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21" name="Object 31"/>
          <p:cNvSpPr/>
          <p:nvPr/>
        </p:nvSpPr>
        <p:spPr>
          <a:xfrm>
            <a:off x="3467032" y="5981601"/>
            <a:ext cx="730297" cy="202971"/>
          </a:xfrm>
          <a:prstGeom prst="rect">
            <a:avLst/>
          </a:prstGeom>
          <a:noFill/>
        </p:spPr>
        <p:txBody>
          <a:bodyPr wrap="none" lIns="0" tIns="0" rIns="0" bIns="0" rtlCol="0" anchor="ctr"/>
          <a:lstStyle/>
          <a:p>
            <a:pPr algn="ctr">
              <a:lnSpc>
                <a:spcPts val="1600"/>
              </a:lnSpc>
            </a:pPr>
            <a:r>
              <a:rPr lang="en-US" sz="1200" b="1" dirty="0" err="1">
                <a:solidFill>
                  <a:schemeClr val="accent1"/>
                </a:solidFill>
                <a:latin typeface="微软雅黑" panose="020B0503020204020204" charset="-122"/>
                <a:ea typeface="微软雅黑" panose="020B0503020204020204" charset="-122"/>
                <a:cs typeface="微软雅黑" panose="020B0503020204020204" charset="-122"/>
              </a:rPr>
              <a:t>思考&amp;总结</a:t>
            </a:r>
            <a:endParaRPr lang="en-US" sz="1200" b="1" dirty="0" err="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2" name="Object 32"/>
          <p:cNvSpPr/>
          <p:nvPr/>
        </p:nvSpPr>
        <p:spPr>
          <a:xfrm>
            <a:off x="6522267" y="2051407"/>
            <a:ext cx="609597" cy="202971"/>
          </a:xfrm>
          <a:prstGeom prst="rect">
            <a:avLst/>
          </a:prstGeom>
          <a:noFill/>
        </p:spPr>
        <p:txBody>
          <a:bodyPr wrap="none" lIns="0" tIns="0" rIns="0" bIns="0" rtlCol="0" anchor="ctr">
            <a:noAutofit/>
          </a:bodyPr>
          <a:lstStyle/>
          <a:p>
            <a:pPr lvl="0" algn="ctr">
              <a:lnSpc>
                <a:spcPts val="1600"/>
              </a:lnSpc>
              <a:buClrTx/>
              <a:buSzTx/>
              <a:buFontTx/>
            </a:pPr>
            <a:r>
              <a:rPr lang="en-US" sz="14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交付方案</a:t>
            </a:r>
            <a:endParaRPr lang="en-US" sz="14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3" name="Object 33"/>
          <p:cNvSpPr/>
          <p:nvPr/>
        </p:nvSpPr>
        <p:spPr>
          <a:xfrm>
            <a:off x="6458869" y="5981601"/>
            <a:ext cx="736393" cy="202971"/>
          </a:xfrm>
          <a:prstGeom prst="rect">
            <a:avLst/>
          </a:prstGeom>
          <a:noFill/>
        </p:spPr>
        <p:txBody>
          <a:bodyPr wrap="none" lIns="0" tIns="0" rIns="0" bIns="0" rtlCol="0" anchor="ctr">
            <a:noAutofit/>
          </a:bodyPr>
          <a:lstStyle/>
          <a:p>
            <a:pPr lvl="0" algn="ctr">
              <a:lnSpc>
                <a:spcPts val="1600"/>
              </a:lnSpc>
              <a:buClrTx/>
              <a:buSzTx/>
              <a:buFontTx/>
            </a:pPr>
            <a:r>
              <a:rPr lang="en-US" sz="14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原型&amp;实现</a:t>
            </a:r>
            <a:endParaRPr lang="en-US" sz="14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4" name="Object 34"/>
          <p:cNvSpPr/>
          <p:nvPr/>
        </p:nvSpPr>
        <p:spPr>
          <a:xfrm>
            <a:off x="9254911" y="5981601"/>
            <a:ext cx="736393" cy="202971"/>
          </a:xfrm>
          <a:prstGeom prst="rect">
            <a:avLst/>
          </a:prstGeom>
          <a:noFill/>
        </p:spPr>
        <p:txBody>
          <a:bodyPr wrap="none" lIns="0" tIns="0" rIns="0" bIns="0" rtlCol="0" anchor="ctr"/>
          <a:lstStyle/>
          <a:p>
            <a:pPr algn="ctr">
              <a:lnSpc>
                <a:spcPts val="1600"/>
              </a:lnSpc>
            </a:pPr>
            <a:r>
              <a:rPr lang="en-US" sz="1600" b="1" dirty="0" err="1">
                <a:solidFill>
                  <a:schemeClr val="accent5"/>
                </a:solidFill>
                <a:latin typeface="微软雅黑" panose="020B0503020204020204" charset="-122"/>
                <a:ea typeface="微软雅黑" panose="020B0503020204020204" charset="-122"/>
                <a:cs typeface="微软雅黑" panose="020B0503020204020204" charset="-122"/>
              </a:rPr>
              <a:t>研发&amp;实现</a:t>
            </a:r>
            <a:endParaRPr lang="en-US" sz="1600" b="1" dirty="0" err="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25" name="Object 35"/>
          <p:cNvSpPr/>
          <p:nvPr/>
        </p:nvSpPr>
        <p:spPr>
          <a:xfrm>
            <a:off x="9318309" y="2051407"/>
            <a:ext cx="609597" cy="202971"/>
          </a:xfrm>
          <a:prstGeom prst="rect">
            <a:avLst/>
          </a:prstGeom>
          <a:noFill/>
        </p:spPr>
        <p:txBody>
          <a:bodyPr wrap="none" lIns="0" tIns="0" rIns="0" bIns="0" rtlCol="0" anchor="ctr"/>
          <a:lstStyle/>
          <a:p>
            <a:pPr algn="ctr">
              <a:lnSpc>
                <a:spcPts val="1600"/>
              </a:lnSpc>
            </a:pPr>
            <a:r>
              <a:rPr lang="en-US" sz="1400" b="1" dirty="0" err="1">
                <a:solidFill>
                  <a:schemeClr val="accent5"/>
                </a:solidFill>
                <a:latin typeface="微软雅黑" panose="020B0503020204020204" charset="-122"/>
                <a:ea typeface="微软雅黑" panose="020B0503020204020204" charset="-122"/>
                <a:cs typeface="微软雅黑" panose="020B0503020204020204" charset="-122"/>
              </a:rPr>
              <a:t>方案落地</a:t>
            </a:r>
            <a:endParaRPr lang="en-US" sz="1400" b="1" dirty="0" err="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26" name="Object 37"/>
          <p:cNvSpPr/>
          <p:nvPr/>
        </p:nvSpPr>
        <p:spPr>
          <a:xfrm>
            <a:off x="5677430" y="1562496"/>
            <a:ext cx="1270400" cy="362055"/>
          </a:xfrm>
          <a:prstGeom prst="roundRect">
            <a:avLst>
              <a:gd name="adj" fmla="val 13889"/>
            </a:avLst>
          </a:prstGeom>
          <a:solidFill>
            <a:schemeClr val="accent1">
              <a:lumMod val="60000"/>
              <a:lumOff val="40000"/>
            </a:schemeClr>
          </a:solidFill>
          <a:ln w="12700">
            <a:noFill/>
            <a:prstDash val="solid"/>
          </a:ln>
          <a:effectLst>
            <a:outerShdw blurRad="444500" dist="127000" dir="5400000" algn="t" rotWithShape="0">
              <a:schemeClr val="bg2">
                <a:alpha val="10000"/>
              </a:schemeClr>
            </a:outerShdw>
          </a:effectLst>
        </p:spPr>
        <p:txBody>
          <a:bodyPr wrap="none">
            <a:noAutofit/>
          </a:bodyPr>
          <a:lstStyle/>
          <a:p>
            <a:pPr lvl="0" algn="ctr">
              <a:buClrTx/>
              <a:buSzTx/>
              <a:buFontTx/>
            </a:pP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27" name="Object 38"/>
          <p:cNvSpPr/>
          <p:nvPr/>
        </p:nvSpPr>
        <p:spPr>
          <a:xfrm>
            <a:off x="5956626" y="1625581"/>
            <a:ext cx="710790" cy="235199"/>
          </a:xfrm>
          <a:prstGeom prst="rect">
            <a:avLst/>
          </a:prstGeom>
          <a:noFill/>
        </p:spPr>
        <p:txBody>
          <a:bodyPr wrap="none" lIns="0" tIns="0" rIns="0" bIns="0" rtlCol="0" anchor="ctr"/>
          <a:lstStyle/>
          <a:p>
            <a:pPr algn="ctr">
              <a:lnSpc>
                <a:spcPts val="1850"/>
              </a:lnSpc>
            </a:pPr>
            <a:r>
              <a:rPr lang="en-US" sz="1400" b="1" dirty="0" err="1">
                <a:solidFill>
                  <a:schemeClr val="bg1"/>
                </a:solidFill>
                <a:latin typeface="微软雅黑" panose="020B0503020204020204" charset="-122"/>
                <a:ea typeface="微软雅黑" panose="020B0503020204020204" charset="-122"/>
                <a:cs typeface="微软雅黑" panose="020B0503020204020204" charset="-122"/>
              </a:rPr>
              <a:t>对的方向</a:t>
            </a:r>
            <a:endParaRPr lang="en-US" sz="1400" b="1" dirty="0" err="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8" name="Object 40"/>
          <p:cNvSpPr/>
          <p:nvPr/>
        </p:nvSpPr>
        <p:spPr>
          <a:xfrm>
            <a:off x="8880475" y="1562496"/>
            <a:ext cx="1485265" cy="361950"/>
          </a:xfrm>
          <a:prstGeom prst="roundRect">
            <a:avLst>
              <a:gd name="adj" fmla="val 13889"/>
            </a:avLst>
          </a:prstGeom>
          <a:solidFill>
            <a:schemeClr val="accent5"/>
          </a:solidFill>
          <a:ln w="12700">
            <a:noFill/>
            <a:prstDash val="solid"/>
          </a:ln>
          <a:effectLst>
            <a:outerShdw blurRad="444500" dist="127000" dir="5400000" algn="t" rotWithShape="0">
              <a:schemeClr val="bg2">
                <a:alpha val="10000"/>
              </a:schemeClr>
            </a:outerShdw>
          </a:effectLst>
        </p:spPr>
        <p:txBody>
          <a:bodyPr wrap="none"/>
          <a:lstStyle/>
          <a:p>
            <a:pPr algn="ctr"/>
            <a:endParaRPr lang="zh-CN" altLang="en-US" sz="1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9" name="Object 41"/>
          <p:cNvSpPr/>
          <p:nvPr/>
        </p:nvSpPr>
        <p:spPr>
          <a:xfrm>
            <a:off x="9041448" y="1625600"/>
            <a:ext cx="1163320" cy="234950"/>
          </a:xfrm>
          <a:prstGeom prst="rect">
            <a:avLst/>
          </a:prstGeom>
          <a:noFill/>
        </p:spPr>
        <p:txBody>
          <a:bodyPr wrap="none" lIns="0" tIns="0" rIns="0" bIns="0" rtlCol="0" anchor="ctr"/>
          <a:lstStyle/>
          <a:p>
            <a:pPr algn="ctr">
              <a:lnSpc>
                <a:spcPts val="1850"/>
              </a:lnSpc>
            </a:pPr>
            <a:r>
              <a:rPr lang="en-US" sz="1400" b="1" dirty="0" err="1">
                <a:solidFill>
                  <a:schemeClr val="bg1"/>
                </a:solidFill>
                <a:latin typeface="微软雅黑" panose="020B0503020204020204" charset="-122"/>
                <a:ea typeface="微软雅黑" panose="020B0503020204020204" charset="-122"/>
                <a:cs typeface="微软雅黑" panose="020B0503020204020204" charset="-122"/>
              </a:rPr>
              <a:t>实现效果</a:t>
            </a:r>
            <a:endParaRPr lang="en-US" sz="1400" b="1" dirty="0" err="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1" name="Object 42"/>
          <p:cNvSpPr/>
          <p:nvPr/>
        </p:nvSpPr>
        <p:spPr>
          <a:xfrm>
            <a:off x="2692844" y="3492772"/>
            <a:ext cx="405992" cy="101485"/>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专家走</a:t>
            </a:r>
            <a:r>
              <a:rPr lang="en-US" sz="800" kern="0" dirty="0">
                <a:solidFill>
                  <a:schemeClr val="tx2">
                    <a:alpha val="100000"/>
                  </a:schemeClr>
                </a:solidFill>
                <a:latin typeface="微软雅黑" panose="020B0503020204020204" charset="-122"/>
                <a:ea typeface="微软雅黑" panose="020B0503020204020204" charset="-122"/>
                <a:cs typeface="微软雅黑" panose="020B0503020204020204" charset="-122"/>
              </a:rPr>
              <a:t>查</a:t>
            </a:r>
            <a:endParaRPr lang="en-US" sz="800" kern="0" dirty="0">
              <a:solidFill>
                <a:schemeClr val="tx2">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32" name="Object 43"/>
          <p:cNvSpPr/>
          <p:nvPr/>
        </p:nvSpPr>
        <p:spPr>
          <a:xfrm>
            <a:off x="5123916" y="3492772"/>
            <a:ext cx="405992" cy="101485"/>
          </a:xfrm>
          <a:prstGeom prst="rect">
            <a:avLst/>
          </a:prstGeom>
          <a:noFill/>
        </p:spPr>
        <p:txBody>
          <a:bodyPr wrap="none" lIns="0" tIns="0" rIns="0" bIns="0" rtlCol="0" anchor="ctr"/>
          <a:lstStyle/>
          <a:p>
            <a:pPr algn="ctr">
              <a:lnSpc>
                <a:spcPts val="800"/>
              </a:lnSpc>
            </a:pPr>
            <a:r>
              <a:rPr lang="en-US" sz="800" kern="0" dirty="0">
                <a:solidFill>
                  <a:schemeClr val="tx2">
                    <a:alpha val="100000"/>
                  </a:schemeClr>
                </a:solidFill>
                <a:latin typeface="微软雅黑" panose="020B0503020204020204" charset="-122"/>
                <a:ea typeface="微软雅黑" panose="020B0503020204020204" charset="-122"/>
                <a:cs typeface="微软雅黑" panose="020B0503020204020204" charset="-122"/>
              </a:rPr>
              <a:t>头脑风暴</a:t>
            </a:r>
            <a:endParaRPr lang="en-US" sz="800" kern="0" dirty="0">
              <a:solidFill>
                <a:schemeClr val="tx2">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33" name="Object 44"/>
          <p:cNvSpPr/>
          <p:nvPr/>
        </p:nvSpPr>
        <p:spPr>
          <a:xfrm>
            <a:off x="2692844" y="3740313"/>
            <a:ext cx="405992" cy="101485"/>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竞品分析</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4" name="Object 45"/>
          <p:cNvSpPr/>
          <p:nvPr/>
        </p:nvSpPr>
        <p:spPr>
          <a:xfrm>
            <a:off x="4870324" y="3740312"/>
            <a:ext cx="660803"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场景/用户分析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5" name="Object 46"/>
          <p:cNvSpPr/>
          <p:nvPr/>
        </p:nvSpPr>
        <p:spPr>
          <a:xfrm>
            <a:off x="7073407" y="3740312"/>
            <a:ext cx="304798"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流程图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6" name="Object 47"/>
          <p:cNvSpPr/>
          <p:nvPr/>
        </p:nvSpPr>
        <p:spPr>
          <a:xfrm>
            <a:off x="3326824" y="3740312"/>
            <a:ext cx="405992"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四象限法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7" name="Object 48"/>
          <p:cNvSpPr/>
          <p:nvPr/>
        </p:nvSpPr>
        <p:spPr>
          <a:xfrm>
            <a:off x="2692844" y="3987855"/>
            <a:ext cx="405992" cy="101485"/>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运营数据</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139" name="直线连接符 88"/>
          <p:cNvCxnSpPr/>
          <p:nvPr/>
        </p:nvCxnSpPr>
        <p:spPr>
          <a:xfrm>
            <a:off x="3213100" y="2004060"/>
            <a:ext cx="0" cy="4031615"/>
          </a:xfrm>
          <a:prstGeom prst="line">
            <a:avLst/>
          </a:prstGeom>
          <a:solidFill>
            <a:srgbClr val="F7F7F7">
              <a:alpha val="20000"/>
            </a:srgbClr>
          </a:solidFill>
          <a:ln w="12700">
            <a:gradFill>
              <a:gsLst>
                <a:gs pos="50000">
                  <a:schemeClr val="accent1"/>
                </a:gs>
                <a:gs pos="100000">
                  <a:schemeClr val="accent1">
                    <a:alpha val="0"/>
                  </a:schemeClr>
                </a:gs>
                <a:gs pos="0">
                  <a:schemeClr val="accent1">
                    <a:alpha val="0"/>
                  </a:schemeClr>
                </a:gs>
              </a:gsLst>
              <a:lin ang="5400000" scaled="1"/>
            </a:gradFill>
            <a:prstDash val="dash"/>
          </a:ln>
        </p:spPr>
      </p:cxnSp>
      <p:sp>
        <p:nvSpPr>
          <p:cNvPr id="143" name="Object 49"/>
          <p:cNvSpPr/>
          <p:nvPr/>
        </p:nvSpPr>
        <p:spPr>
          <a:xfrm>
            <a:off x="5123916" y="3987854"/>
            <a:ext cx="405992"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行业趋势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4" name="Object 50"/>
          <p:cNvSpPr/>
          <p:nvPr/>
        </p:nvSpPr>
        <p:spPr>
          <a:xfrm>
            <a:off x="7073407" y="3987855"/>
            <a:ext cx="405992" cy="101485"/>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信息设计</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6" name="Object 52"/>
          <p:cNvSpPr/>
          <p:nvPr/>
        </p:nvSpPr>
        <p:spPr>
          <a:xfrm>
            <a:off x="9756140" y="3935730"/>
            <a:ext cx="709930" cy="279400"/>
          </a:xfrm>
          <a:prstGeom prst="rect">
            <a:avLst/>
          </a:prstGeom>
          <a:noFill/>
        </p:spPr>
        <p:txBody>
          <a:bodyPr wrap="none" lIns="0" tIns="0" rIns="0" bIns="0" rtlCol="0" anchor="ctr"/>
          <a:lstStyle/>
          <a:p>
            <a:pPr algn="ctr">
              <a:lnSpc>
                <a:spcPts val="800"/>
              </a:lnSpc>
            </a:pPr>
            <a:r>
              <a:rPr lang="en-US" sz="1000" b="1" kern="0" dirty="0">
                <a:solidFill>
                  <a:schemeClr val="tx2"/>
                </a:solidFill>
                <a:latin typeface="微软雅黑" panose="020B0503020204020204" charset="-122"/>
                <a:ea typeface="微软雅黑" panose="020B0503020204020204" charset="-122"/>
                <a:cs typeface="微软雅黑" panose="020B0503020204020204" charset="-122"/>
              </a:rPr>
              <a:t>交互走查</a:t>
            </a:r>
            <a:endParaRPr lang="en-US" sz="10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7" name="Object 53"/>
          <p:cNvSpPr/>
          <p:nvPr/>
        </p:nvSpPr>
        <p:spPr>
          <a:xfrm>
            <a:off x="6000115" y="3935730"/>
            <a:ext cx="762635" cy="176530"/>
          </a:xfrm>
          <a:prstGeom prst="rect">
            <a:avLst/>
          </a:prstGeom>
          <a:noFill/>
        </p:spPr>
        <p:txBody>
          <a:bodyPr wrap="none" lIns="0" tIns="0" rIns="0" bIns="0" rtlCol="0" anchor="ctr" anchorCtr="0">
            <a:noAutofit/>
          </a:bodyPr>
          <a:lstStyle/>
          <a:p>
            <a:pPr lvl="0" algn="ctr">
              <a:lnSpc>
                <a:spcPts val="800"/>
              </a:lnSpc>
              <a:buClrTx/>
              <a:buSzTx/>
              <a:buFontTx/>
            </a:pPr>
            <a:r>
              <a:rPr lang="en-US" sz="1000" b="1" kern="0" dirty="0">
                <a:solidFill>
                  <a:schemeClr val="tx2"/>
                </a:solidFill>
                <a:latin typeface="微软雅黑" panose="020B0503020204020204" charset="-122"/>
                <a:ea typeface="微软雅黑" panose="020B0503020204020204" charset="-122"/>
                <a:cs typeface="微软雅黑" panose="020B0503020204020204" charset="-122"/>
                <a:sym typeface="+mn-ea"/>
              </a:rPr>
              <a:t>信息架构</a:t>
            </a:r>
            <a:endParaRPr lang="en-US" sz="1000" b="1" kern="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48" name="Object 54"/>
          <p:cNvSpPr/>
          <p:nvPr/>
        </p:nvSpPr>
        <p:spPr>
          <a:xfrm>
            <a:off x="3326825" y="3987854"/>
            <a:ext cx="534007"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KANO模型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9" name="Object 55"/>
          <p:cNvSpPr/>
          <p:nvPr/>
        </p:nvSpPr>
        <p:spPr>
          <a:xfrm>
            <a:off x="2692844" y="4305338"/>
            <a:ext cx="405992"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用户访谈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0" name="Object 56"/>
          <p:cNvSpPr/>
          <p:nvPr/>
        </p:nvSpPr>
        <p:spPr>
          <a:xfrm>
            <a:off x="4927626" y="4305338"/>
            <a:ext cx="603501"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HWM分析法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1" name="Object 57"/>
          <p:cNvSpPr/>
          <p:nvPr/>
        </p:nvSpPr>
        <p:spPr>
          <a:xfrm>
            <a:off x="7073406" y="4305338"/>
            <a:ext cx="508404"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可用性测试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3" name="Object 59"/>
          <p:cNvSpPr/>
          <p:nvPr/>
        </p:nvSpPr>
        <p:spPr>
          <a:xfrm>
            <a:off x="3326824" y="4305338"/>
            <a:ext cx="609597"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用户体验地图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4" name="Object 60"/>
          <p:cNvSpPr/>
          <p:nvPr/>
        </p:nvSpPr>
        <p:spPr>
          <a:xfrm>
            <a:off x="2692844" y="4552880"/>
            <a:ext cx="405992" cy="101485"/>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意见反馈</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5" name="Object 61"/>
          <p:cNvSpPr/>
          <p:nvPr/>
        </p:nvSpPr>
        <p:spPr>
          <a:xfrm>
            <a:off x="5123916" y="4552880"/>
            <a:ext cx="405992" cy="101485"/>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目标分析</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6" name="Object 62"/>
          <p:cNvSpPr/>
          <p:nvPr/>
        </p:nvSpPr>
        <p:spPr>
          <a:xfrm>
            <a:off x="7073407" y="4552879"/>
            <a:ext cx="405992" cy="202971"/>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A/B测试
</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7" name="Object 63"/>
          <p:cNvSpPr/>
          <p:nvPr/>
        </p:nvSpPr>
        <p:spPr>
          <a:xfrm>
            <a:off x="3326824" y="4552879"/>
            <a:ext cx="546199" cy="202971"/>
          </a:xfrm>
          <a:prstGeom prst="rect">
            <a:avLst/>
          </a:prstGeom>
          <a:noFill/>
        </p:spPr>
        <p:txBody>
          <a:bodyPr wrap="none" lIns="0" tIns="0" rIns="0" bIns="0" rtlCol="0" anchor="ctr"/>
          <a:lstStyle/>
          <a:p>
            <a:pPr algn="ctr">
              <a:lnSpc>
                <a:spcPts val="800"/>
              </a:lnSpc>
            </a:pPr>
            <a:r>
              <a:rPr lang="en-US" sz="800" kern="0" dirty="0">
                <a:solidFill>
                  <a:schemeClr val="tx2">
                    <a:alpha val="100000"/>
                  </a:schemeClr>
                </a:solidFill>
                <a:latin typeface="微软雅黑" panose="020B0503020204020204" charset="-122"/>
                <a:ea typeface="微软雅黑" panose="020B0503020204020204" charset="-122"/>
                <a:cs typeface="微软雅黑" panose="020B0503020204020204" charset="-122"/>
              </a:rPr>
              <a:t>SWOT分析
</a:t>
            </a:r>
            <a:endParaRPr lang="en-US" sz="800" kern="0" dirty="0">
              <a:solidFill>
                <a:schemeClr val="tx2">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58" name="Object 64"/>
          <p:cNvSpPr/>
          <p:nvPr/>
        </p:nvSpPr>
        <p:spPr>
          <a:xfrm>
            <a:off x="2692844" y="4800422"/>
            <a:ext cx="405992" cy="101485"/>
          </a:xfrm>
          <a:prstGeom prst="rect">
            <a:avLst/>
          </a:prstGeom>
          <a:noFill/>
        </p:spPr>
        <p:txBody>
          <a:bodyPr wrap="none" lIns="0" tIns="0" rIns="0" bIns="0" rtlCol="0" anchor="ctr"/>
          <a:lstStyle/>
          <a:p>
            <a:pPr algn="ctr">
              <a:lnSpc>
                <a:spcPts val="800"/>
              </a:lnSpc>
            </a:pPr>
            <a:r>
              <a:rPr lang="en-US" sz="800" kern="0" dirty="0">
                <a:solidFill>
                  <a:schemeClr val="tx2"/>
                </a:solidFill>
                <a:latin typeface="微软雅黑" panose="020B0503020204020204" charset="-122"/>
                <a:ea typeface="微软雅黑" panose="020B0503020204020204" charset="-122"/>
                <a:cs typeface="微软雅黑" panose="020B0503020204020204" charset="-122"/>
              </a:rPr>
              <a:t>目标导向</a:t>
            </a:r>
            <a:endParaRPr lang="en-US" sz="8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5" name="弧 103"/>
          <p:cNvSpPr/>
          <p:nvPr/>
        </p:nvSpPr>
        <p:spPr>
          <a:xfrm rot="20139274">
            <a:off x="1496205" y="2499880"/>
            <a:ext cx="3350346" cy="3350346"/>
          </a:xfrm>
          <a:prstGeom prst="arc">
            <a:avLst/>
          </a:prstGeom>
          <a:ln w="12700">
            <a:gradFill>
              <a:gsLst>
                <a:gs pos="14000">
                  <a:schemeClr val="accent1">
                    <a:alpha val="0"/>
                  </a:schemeClr>
                </a:gs>
                <a:gs pos="90000">
                  <a:schemeClr val="accent1"/>
                </a:gs>
              </a:gsLst>
              <a:lin ang="5400000" scaled="1"/>
            </a:gradFill>
            <a:tailEnd type="arrow" w="med" len="sm"/>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86" name="Object 68"/>
          <p:cNvSpPr/>
          <p:nvPr/>
        </p:nvSpPr>
        <p:spPr>
          <a:xfrm>
            <a:off x="4672814" y="4139396"/>
            <a:ext cx="103632" cy="102857"/>
          </a:xfrm>
          <a:prstGeom prst="ellipse">
            <a:avLst/>
          </a:prstGeom>
          <a:solidFill>
            <a:schemeClr val="bg1"/>
          </a:solidFill>
          <a:ln w="12700">
            <a:solidFill>
              <a:schemeClr val="accent1"/>
            </a:solidFill>
          </a:ln>
        </p:spPr>
        <p:txBody>
          <a:bodyPr wrap="none">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95" name="Object 74"/>
          <p:cNvSpPr/>
          <p:nvPr/>
        </p:nvSpPr>
        <p:spPr>
          <a:xfrm>
            <a:off x="7790292" y="4139396"/>
            <a:ext cx="103632" cy="102857"/>
          </a:xfrm>
          <a:prstGeom prst="ellipse">
            <a:avLst/>
          </a:prstGeom>
          <a:solidFill>
            <a:schemeClr val="bg1"/>
          </a:solidFill>
          <a:ln w="12700">
            <a:solidFill>
              <a:schemeClr val="accent1">
                <a:lumMod val="60000"/>
                <a:lumOff val="40000"/>
              </a:schemeClr>
            </a:solidFill>
          </a:ln>
        </p:spPr>
        <p:txBody>
          <a:bodyPr wrap="none">
            <a:noAutofit/>
          </a:bodyPr>
          <a:lstStyle/>
          <a:p>
            <a:pPr lvl="0" algn="ctr">
              <a:buClrTx/>
              <a:buSzTx/>
              <a:buFontTx/>
            </a:pP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6" name="Object 76"/>
          <p:cNvSpPr/>
          <p:nvPr/>
        </p:nvSpPr>
        <p:spPr>
          <a:xfrm>
            <a:off x="9276489" y="4139396"/>
            <a:ext cx="103632" cy="102857"/>
          </a:xfrm>
          <a:prstGeom prst="ellipse">
            <a:avLst/>
          </a:prstGeom>
          <a:solidFill>
            <a:schemeClr val="bg1"/>
          </a:solidFill>
          <a:ln w="12700">
            <a:solidFill>
              <a:schemeClr val="accent5"/>
            </a:solidFill>
          </a:ln>
        </p:spPr>
        <p:txBody>
          <a:bodyPr wrap="none"/>
          <a:lstStyle/>
          <a:p>
            <a:pPr algn="ctr"/>
            <a:endParaRPr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97" name="Object 78"/>
          <p:cNvSpPr/>
          <p:nvPr/>
        </p:nvSpPr>
        <p:spPr>
          <a:xfrm>
            <a:off x="10420093" y="4139396"/>
            <a:ext cx="103632" cy="102857"/>
          </a:xfrm>
          <a:prstGeom prst="ellipse">
            <a:avLst/>
          </a:prstGeom>
          <a:solidFill>
            <a:schemeClr val="bg1"/>
          </a:solidFill>
          <a:ln w="12700">
            <a:solidFill>
              <a:schemeClr val="accent5"/>
            </a:solidFill>
          </a:ln>
        </p:spPr>
        <p:txBody>
          <a:bodyPr wrap="none"/>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2" name="Object 79"/>
          <p:cNvSpPr/>
          <p:nvPr/>
        </p:nvSpPr>
        <p:spPr>
          <a:xfrm rot="5400000">
            <a:off x="3193933" y="3321344"/>
            <a:ext cx="6096" cy="1733477"/>
          </a:xfrm>
          <a:prstGeom prst="line">
            <a:avLst/>
          </a:prstGeom>
          <a:solidFill>
            <a:srgbClr val="FFFFFF">
              <a:alpha val="0"/>
            </a:srgbClr>
          </a:solidFill>
          <a:ln w="25400">
            <a:solidFill>
              <a:srgbClr val="055DF6">
                <a:alpha val="0"/>
              </a:srgbClr>
            </a:solidFill>
            <a:prstDash val="solid"/>
          </a:ln>
        </p:spPr>
        <p:txBody>
          <a:bodyPr wrap="none"/>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10" name="弧 111"/>
          <p:cNvSpPr/>
          <p:nvPr/>
        </p:nvSpPr>
        <p:spPr>
          <a:xfrm rot="15639274">
            <a:off x="1496205" y="2499880"/>
            <a:ext cx="3350346" cy="3350346"/>
          </a:xfrm>
          <a:prstGeom prst="arc">
            <a:avLst/>
          </a:prstGeom>
          <a:ln w="12700">
            <a:gradFill>
              <a:gsLst>
                <a:gs pos="14000">
                  <a:schemeClr val="accent1">
                    <a:alpha val="0"/>
                  </a:schemeClr>
                </a:gs>
                <a:gs pos="90000">
                  <a:schemeClr val="accent1"/>
                </a:gs>
              </a:gsLst>
              <a:lin ang="5400000" scaled="1"/>
            </a:gradFill>
            <a:tailEnd type="arrow" w="med" len="sm"/>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11" name="弧 113"/>
          <p:cNvSpPr/>
          <p:nvPr/>
        </p:nvSpPr>
        <p:spPr>
          <a:xfrm rot="20329102">
            <a:off x="4614902" y="2499881"/>
            <a:ext cx="3350346" cy="3350346"/>
          </a:xfrm>
          <a:prstGeom prst="arc">
            <a:avLst/>
          </a:prstGeom>
          <a:ln w="12700">
            <a:gradFill>
              <a:gsLst>
                <a:gs pos="14000">
                  <a:schemeClr val="accent1">
                    <a:lumMod val="60000"/>
                    <a:lumOff val="40000"/>
                    <a:alpha val="0"/>
                  </a:schemeClr>
                </a:gs>
                <a:gs pos="90000">
                  <a:schemeClr val="accent1">
                    <a:lumMod val="60000"/>
                    <a:lumOff val="40000"/>
                  </a:schemeClr>
                </a:gs>
              </a:gsLst>
              <a:lin ang="5400000" scaled="1"/>
            </a:gradFill>
            <a:tailEnd type="arrow" w="med" len="sm"/>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12" name="弧 114"/>
          <p:cNvSpPr/>
          <p:nvPr/>
        </p:nvSpPr>
        <p:spPr>
          <a:xfrm rot="15829102">
            <a:off x="4614902" y="2499881"/>
            <a:ext cx="3350346" cy="3350346"/>
          </a:xfrm>
          <a:prstGeom prst="arc">
            <a:avLst/>
          </a:prstGeom>
          <a:ln w="12700">
            <a:gradFill>
              <a:gsLst>
                <a:gs pos="14000">
                  <a:schemeClr val="accent1">
                    <a:lumMod val="60000"/>
                    <a:lumOff val="40000"/>
                    <a:alpha val="0"/>
                  </a:schemeClr>
                </a:gs>
                <a:gs pos="90000">
                  <a:schemeClr val="accent1">
                    <a:lumMod val="60000"/>
                    <a:lumOff val="40000"/>
                  </a:schemeClr>
                </a:gs>
              </a:gsLst>
              <a:lin ang="5400000" scaled="1"/>
            </a:gra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cxnSp>
        <p:nvCxnSpPr>
          <p:cNvPr id="269" name="直线连接符 93"/>
          <p:cNvCxnSpPr/>
          <p:nvPr/>
        </p:nvCxnSpPr>
        <p:spPr>
          <a:xfrm>
            <a:off x="6381750" y="2110740"/>
            <a:ext cx="0" cy="4281170"/>
          </a:xfrm>
          <a:prstGeom prst="line">
            <a:avLst/>
          </a:prstGeom>
          <a:solidFill>
            <a:srgbClr val="F7F7F7">
              <a:alpha val="20000"/>
            </a:srgbClr>
          </a:solidFill>
          <a:ln w="12700">
            <a:gradFill>
              <a:gsLst>
                <a:gs pos="50000">
                  <a:schemeClr val="accent1">
                    <a:lumMod val="60000"/>
                    <a:lumOff val="40000"/>
                  </a:schemeClr>
                </a:gs>
                <a:gs pos="100000">
                  <a:schemeClr val="accent1">
                    <a:lumMod val="60000"/>
                    <a:lumOff val="40000"/>
                    <a:alpha val="0"/>
                  </a:schemeClr>
                </a:gs>
                <a:gs pos="0">
                  <a:schemeClr val="accent1">
                    <a:lumMod val="60000"/>
                    <a:lumOff val="40000"/>
                    <a:alpha val="0"/>
                  </a:schemeClr>
                </a:gs>
              </a:gsLst>
              <a:lin ang="5400000" scaled="1"/>
            </a:gradFill>
            <a:prstDash val="dash"/>
          </a:ln>
        </p:spPr>
      </p:cxnSp>
      <p:sp>
        <p:nvSpPr>
          <p:cNvPr id="279" name="Object 72"/>
          <p:cNvSpPr/>
          <p:nvPr/>
        </p:nvSpPr>
        <p:spPr>
          <a:xfrm>
            <a:off x="5719842" y="4141301"/>
            <a:ext cx="103632" cy="102857"/>
          </a:xfrm>
          <a:prstGeom prst="ellipse">
            <a:avLst/>
          </a:prstGeom>
          <a:solidFill>
            <a:schemeClr val="bg1"/>
          </a:solidFill>
          <a:ln w="12700">
            <a:solidFill>
              <a:schemeClr val="accent1">
                <a:lumMod val="60000"/>
                <a:lumOff val="40000"/>
              </a:schemeClr>
            </a:solidFill>
          </a:ln>
        </p:spPr>
        <p:txBody>
          <a:bodyPr wrap="none"/>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1" name="Object 72"/>
          <p:cNvSpPr/>
          <p:nvPr/>
        </p:nvSpPr>
        <p:spPr>
          <a:xfrm>
            <a:off x="6762512" y="4139396"/>
            <a:ext cx="103632" cy="102857"/>
          </a:xfrm>
          <a:prstGeom prst="ellipse">
            <a:avLst/>
          </a:prstGeom>
          <a:solidFill>
            <a:schemeClr val="bg1"/>
          </a:solidFill>
          <a:ln w="12700">
            <a:solidFill>
              <a:schemeClr val="accent1">
                <a:lumMod val="60000"/>
                <a:lumOff val="40000"/>
              </a:schemeClr>
            </a:solidFill>
          </a:ln>
        </p:spPr>
        <p:txBody>
          <a:bodyPr wrap="none">
            <a:noAutofit/>
          </a:bodyPr>
          <a:lstStyle/>
          <a:p>
            <a:pPr lvl="0" algn="ctr">
              <a:buClrTx/>
              <a:buSzTx/>
              <a:buFontTx/>
            </a:pP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82" name="Object 53"/>
          <p:cNvSpPr/>
          <p:nvPr/>
        </p:nvSpPr>
        <p:spPr>
          <a:xfrm>
            <a:off x="8399145" y="3935730"/>
            <a:ext cx="762635" cy="176530"/>
          </a:xfrm>
          <a:prstGeom prst="rect">
            <a:avLst/>
          </a:prstGeom>
          <a:noFill/>
        </p:spPr>
        <p:txBody>
          <a:bodyPr wrap="none" lIns="0" tIns="0" rIns="0" bIns="0" rtlCol="0" anchor="ctr" anchorCtr="0">
            <a:noAutofit/>
          </a:bodyPr>
          <a:lstStyle/>
          <a:p>
            <a:pPr lvl="0" algn="ctr">
              <a:lnSpc>
                <a:spcPts val="800"/>
              </a:lnSpc>
              <a:buClrTx/>
              <a:buSzTx/>
              <a:buFontTx/>
            </a:pPr>
            <a:r>
              <a:rPr lang="en-US" sz="1000" b="1" kern="0" dirty="0">
                <a:solidFill>
                  <a:schemeClr val="tx2"/>
                </a:solidFill>
                <a:latin typeface="微软雅黑" panose="020B0503020204020204" charset="-122"/>
                <a:ea typeface="微软雅黑" panose="020B0503020204020204" charset="-122"/>
                <a:cs typeface="微软雅黑" panose="020B0503020204020204" charset="-122"/>
                <a:sym typeface="+mn-ea"/>
              </a:rPr>
              <a:t>沟通/走查</a:t>
            </a:r>
            <a:endParaRPr lang="en-US" sz="1000" b="1" kern="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85" name="Object 53"/>
          <p:cNvSpPr/>
          <p:nvPr/>
        </p:nvSpPr>
        <p:spPr>
          <a:xfrm>
            <a:off x="6000115" y="4310380"/>
            <a:ext cx="762635" cy="176530"/>
          </a:xfrm>
          <a:prstGeom prst="rect">
            <a:avLst/>
          </a:prstGeom>
          <a:noFill/>
        </p:spPr>
        <p:txBody>
          <a:bodyPr wrap="none" lIns="0" tIns="0" rIns="0" bIns="0" rtlCol="0" anchor="ctr" anchorCtr="0">
            <a:noAutofit/>
          </a:bodyPr>
          <a:lstStyle/>
          <a:p>
            <a:pPr lvl="0" algn="ctr">
              <a:lnSpc>
                <a:spcPts val="800"/>
              </a:lnSpc>
              <a:buClrTx/>
              <a:buSzTx/>
              <a:buFontTx/>
            </a:pPr>
            <a:r>
              <a:rPr lang="zh-CN" altLang="en-US" sz="1000" b="1" kern="0" dirty="0">
                <a:solidFill>
                  <a:schemeClr val="tx2"/>
                </a:solidFill>
                <a:latin typeface="微软雅黑" panose="020B0503020204020204" charset="-122"/>
                <a:ea typeface="微软雅黑" panose="020B0503020204020204" charset="-122"/>
                <a:cs typeface="微软雅黑" panose="020B0503020204020204" charset="-122"/>
                <a:sym typeface="+mn-ea"/>
              </a:rPr>
              <a:t>导航设计</a:t>
            </a:r>
            <a:endParaRPr lang="zh-CN" altLang="en-US" sz="1000" b="1" kern="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88" name="直接连接符 287"/>
          <p:cNvCxnSpPr>
            <a:stCxn id="18" idx="3"/>
          </p:cNvCxnSpPr>
          <p:nvPr/>
        </p:nvCxnSpPr>
        <p:spPr>
          <a:xfrm flipV="1">
            <a:off x="1174750" y="4185285"/>
            <a:ext cx="3498215" cy="5080"/>
          </a:xfrm>
          <a:prstGeom prst="line">
            <a:avLst/>
          </a:prstGeom>
          <a:ln>
            <a:solidFill>
              <a:srgbClr val="1D3557"/>
            </a:solidFill>
          </a:ln>
        </p:spPr>
        <p:style>
          <a:lnRef idx="2">
            <a:schemeClr val="accent1"/>
          </a:lnRef>
          <a:fillRef idx="0">
            <a:srgbClr val="FFFFFF"/>
          </a:fillRef>
          <a:effectRef idx="0">
            <a:srgbClr val="FFFFFF"/>
          </a:effectRef>
          <a:fontRef idx="minor">
            <a:schemeClr val="tx1"/>
          </a:fontRef>
        </p:style>
      </p:cxnSp>
      <p:sp>
        <p:nvSpPr>
          <p:cNvPr id="289" name="Object 66"/>
          <p:cNvSpPr/>
          <p:nvPr/>
        </p:nvSpPr>
        <p:spPr>
          <a:xfrm>
            <a:off x="1564198" y="4139396"/>
            <a:ext cx="103632" cy="102857"/>
          </a:xfrm>
          <a:prstGeom prst="ellipse">
            <a:avLst/>
          </a:prstGeom>
          <a:solidFill>
            <a:schemeClr val="bg1"/>
          </a:solidFill>
          <a:ln w="12700">
            <a:solidFill>
              <a:schemeClr val="accent1"/>
            </a:solidFill>
          </a:ln>
        </p:spPr>
        <p:txBody>
          <a:bodyPr wrap="none"/>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cxnSp>
        <p:nvCxnSpPr>
          <p:cNvPr id="4" name="直线连接符 93"/>
          <p:cNvCxnSpPr/>
          <p:nvPr/>
        </p:nvCxnSpPr>
        <p:spPr>
          <a:xfrm>
            <a:off x="9656445" y="1936115"/>
            <a:ext cx="0" cy="4281170"/>
          </a:xfrm>
          <a:prstGeom prst="line">
            <a:avLst/>
          </a:prstGeom>
          <a:solidFill>
            <a:srgbClr val="F7F7F7">
              <a:alpha val="20000"/>
            </a:srgbClr>
          </a:solidFill>
          <a:ln w="12700">
            <a:gradFill>
              <a:gsLst>
                <a:gs pos="50000">
                  <a:schemeClr val="accent5"/>
                </a:gs>
                <a:gs pos="100000">
                  <a:schemeClr val="accent5">
                    <a:alpha val="0"/>
                  </a:schemeClr>
                </a:gs>
                <a:gs pos="0">
                  <a:schemeClr val="accent5">
                    <a:alpha val="0"/>
                  </a:schemeClr>
                </a:gs>
              </a:gsLst>
              <a:lin ang="5400000" scaled="1"/>
            </a:gradFill>
            <a:prstDash val="dash"/>
          </a:ln>
        </p:spPr>
      </p:cxn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20534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用户全链路行为营销优化</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22" name="组合 21"/>
          <p:cNvGrpSpPr/>
          <p:nvPr/>
        </p:nvGrpSpPr>
        <p:grpSpPr>
          <a:xfrm>
            <a:off x="518160" y="963930"/>
            <a:ext cx="11353800" cy="815340"/>
            <a:chOff x="816" y="1518"/>
            <a:chExt cx="17880" cy="1284"/>
          </a:xfrm>
        </p:grpSpPr>
        <p:sp>
          <p:nvSpPr>
            <p:cNvPr id="2" name="矩形 1"/>
            <p:cNvSpPr/>
            <p:nvPr/>
          </p:nvSpPr>
          <p:spPr>
            <a:xfrm>
              <a:off x="816" y="1518"/>
              <a:ext cx="17880" cy="1284"/>
            </a:xfrm>
            <a:prstGeom prst="rect">
              <a:avLst/>
            </a:prstGeom>
            <a:solidFill>
              <a:schemeClr val="accent1">
                <a:lumMod val="20000"/>
                <a:lumOff val="80000"/>
                <a:alpha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6" name="文本框 45"/>
            <p:cNvSpPr txBox="1"/>
            <p:nvPr/>
          </p:nvSpPr>
          <p:spPr>
            <a:xfrm>
              <a:off x="953" y="1701"/>
              <a:ext cx="17607" cy="919"/>
            </a:xfrm>
            <a:prstGeom prst="rect">
              <a:avLst/>
            </a:prstGeom>
            <a:noFill/>
          </p:spPr>
          <p:txBody>
            <a:bodyPr wrap="square" rtlCol="0">
              <a:spAutoFit/>
            </a:bodyPr>
            <a:p>
              <a:r>
                <a:rPr lang="zh-CN" altLang="en-US" sz="1600">
                  <a:solidFill>
                    <a:schemeClr val="tx2"/>
                  </a:solidFill>
                  <a:latin typeface="微软雅黑" panose="020B0503020204020204" charset="-122"/>
                  <a:ea typeface="微软雅黑" panose="020B0503020204020204" charset="-122"/>
                  <a:cs typeface="微软雅黑" panose="020B0503020204020204" charset="-122"/>
                </a:rPr>
                <a:t>对比品牌</a:t>
              </a:r>
              <a:r>
                <a:rPr lang="en-US" altLang="zh-CN" sz="16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rPr>
                <a:t>车型连接用户关系分布于理想形状的差异，寻找用户结构优化发力点，针对同样品牌下的特定车型，在不同的触媒范围、产品生命周期的不同阶段，会有不同的推荐形状来帮助品牌定位营销症结，规划未来运营方向。</a:t>
              </a:r>
              <a:endParaRPr lang="zh-CN" altLang="en-US" sz="1600">
                <a:solidFill>
                  <a:schemeClr val="tx2"/>
                </a:solidFill>
                <a:latin typeface="微软雅黑" panose="020B0503020204020204" charset="-122"/>
                <a:ea typeface="微软雅黑" panose="020B0503020204020204" charset="-122"/>
                <a:cs typeface="微软雅黑" panose="020B0503020204020204" charset="-122"/>
              </a:endParaRPr>
            </a:p>
          </p:txBody>
        </p:sp>
      </p:grpSp>
      <p:cxnSp>
        <p:nvCxnSpPr>
          <p:cNvPr id="11" name="直接连接符 10"/>
          <p:cNvCxnSpPr/>
          <p:nvPr/>
        </p:nvCxnSpPr>
        <p:spPr>
          <a:xfrm>
            <a:off x="8100060" y="2748915"/>
            <a:ext cx="5715" cy="2847975"/>
          </a:xfrm>
          <a:prstGeom prst="line">
            <a:avLst/>
          </a:prstGeom>
          <a:ln w="38100">
            <a:solidFill>
              <a:schemeClr val="accent1">
                <a:lumMod val="60000"/>
                <a:lumOff val="40000"/>
                <a:alpha val="40000"/>
              </a:schemeClr>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a:off x="6073140" y="4969510"/>
            <a:ext cx="3954780" cy="1249045"/>
          </a:xfrm>
          <a:prstGeom prst="line">
            <a:avLst/>
          </a:prstGeom>
          <a:ln w="38100">
            <a:solidFill>
              <a:schemeClr val="accent1">
                <a:lumMod val="60000"/>
                <a:lumOff val="40000"/>
                <a:alpha val="40000"/>
              </a:schemeClr>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p:nvPr/>
        </p:nvCxnSpPr>
        <p:spPr>
          <a:xfrm>
            <a:off x="1395730" y="4265295"/>
            <a:ext cx="9521190" cy="635"/>
          </a:xfrm>
          <a:prstGeom prst="line">
            <a:avLst/>
          </a:prstGeom>
          <a:ln>
            <a:solidFill>
              <a:schemeClr val="accent5"/>
            </a:solidFill>
            <a:prstDash val="sysDash"/>
          </a:ln>
        </p:spPr>
        <p:style>
          <a:lnRef idx="2">
            <a:schemeClr val="accent1"/>
          </a:lnRef>
          <a:fillRef idx="0">
            <a:srgbClr val="FFFFFF"/>
          </a:fillRef>
          <a:effectRef idx="0">
            <a:srgbClr val="FFFFFF"/>
          </a:effectRef>
          <a:fontRef idx="minor">
            <a:schemeClr val="tx1"/>
          </a:fontRef>
        </p:style>
      </p:cxnSp>
      <p:sp>
        <p:nvSpPr>
          <p:cNvPr id="35" name="文本框 34"/>
          <p:cNvSpPr txBox="1"/>
          <p:nvPr/>
        </p:nvSpPr>
        <p:spPr>
          <a:xfrm>
            <a:off x="1691640" y="3315335"/>
            <a:ext cx="911225" cy="67564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广告曝光</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浏览内容</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观看视频</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1644650" y="4564380"/>
            <a:ext cx="1005205" cy="45974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观看直播</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车型卡片曝光</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5671185" y="3441065"/>
            <a:ext cx="911225" cy="67564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访问</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车型页</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访问</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车友圈</a:t>
            </a: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搜索车型</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5599430" y="4568190"/>
            <a:ext cx="1041400" cy="460375"/>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关注</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车型</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参数</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对比</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7581900" y="3427730"/>
            <a:ext cx="1041400" cy="52197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拨打</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400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电话</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线上</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留资</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7589520" y="4511040"/>
            <a:ext cx="1041400" cy="245110"/>
          </a:xfrm>
          <a:prstGeom prst="rect">
            <a:avLst/>
          </a:prstGeom>
          <a:noFill/>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联系</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sz="1000">
                <a:solidFill>
                  <a:schemeClr val="tx2"/>
                </a:solidFill>
                <a:latin typeface="微软雅黑" panose="020B0503020204020204" charset="-122"/>
                <a:ea typeface="微软雅黑" panose="020B0503020204020204" charset="-122"/>
                <a:cs typeface="微软雅黑" panose="020B0503020204020204" charset="-122"/>
              </a:rPr>
              <a:t>销售</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9347200" y="3531235"/>
            <a:ext cx="1303655" cy="460375"/>
          </a:xfrm>
          <a:prstGeom prst="rect">
            <a:avLst/>
          </a:prstGeom>
          <a:noFill/>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认证车主</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sz="1000">
                <a:solidFill>
                  <a:schemeClr val="tx2"/>
                </a:solidFill>
                <a:latin typeface="微软雅黑" panose="020B0503020204020204" charset="-122"/>
                <a:ea typeface="微软雅黑" panose="020B0503020204020204" charset="-122"/>
                <a:cs typeface="微软雅黑" panose="020B0503020204020204" charset="-122"/>
              </a:rPr>
              <a:t>非负评论</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发布</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口碑</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9357360" y="4511040"/>
            <a:ext cx="1303655" cy="460375"/>
          </a:xfrm>
          <a:prstGeom prst="rect">
            <a:avLst/>
          </a:prstGeom>
          <a:noFill/>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发布提</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sz="1000">
                <a:solidFill>
                  <a:schemeClr val="tx2"/>
                </a:solidFill>
                <a:latin typeface="微软雅黑" panose="020B0503020204020204" charset="-122"/>
                <a:ea typeface="微软雅黑" panose="020B0503020204020204" charset="-122"/>
                <a:cs typeface="微软雅黑" panose="020B0503020204020204" charset="-122"/>
              </a:rPr>
              <a:t>车作业</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发布</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用车</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137" name="曲线连接符 136"/>
          <p:cNvCxnSpPr/>
          <p:nvPr/>
        </p:nvCxnSpPr>
        <p:spPr>
          <a:xfrm rot="16200000" flipH="1">
            <a:off x="6125210" y="-1501140"/>
            <a:ext cx="81280" cy="10521315"/>
          </a:xfrm>
          <a:prstGeom prst="curvedConnector3">
            <a:avLst>
              <a:gd name="adj1" fmla="val -1312890"/>
            </a:avLst>
          </a:prstGeom>
          <a:ln>
            <a:solidFill>
              <a:schemeClr val="accent6"/>
            </a:solidFill>
            <a:prstDash val="sysDash"/>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4156075" y="2806065"/>
            <a:ext cx="6350" cy="2832735"/>
          </a:xfrm>
          <a:prstGeom prst="line">
            <a:avLst/>
          </a:prstGeom>
          <a:ln w="38100">
            <a:solidFill>
              <a:schemeClr val="accent1">
                <a:lumMod val="60000"/>
                <a:lumOff val="40000"/>
                <a:alpha val="40000"/>
              </a:schemeClr>
            </a:solidFill>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9996170" y="2091690"/>
            <a:ext cx="6350" cy="4168775"/>
          </a:xfrm>
          <a:prstGeom prst="line">
            <a:avLst/>
          </a:prstGeom>
          <a:ln w="38100">
            <a:solidFill>
              <a:schemeClr val="accent1">
                <a:lumMod val="60000"/>
                <a:lumOff val="40000"/>
                <a:alpha val="40000"/>
              </a:schemeClr>
            </a:solidFill>
          </a:ln>
        </p:spPr>
        <p:style>
          <a:lnRef idx="2">
            <a:schemeClr val="accent1"/>
          </a:lnRef>
          <a:fillRef idx="0">
            <a:srgbClr val="FFFFFF"/>
          </a:fillRef>
          <a:effectRef idx="0">
            <a:srgbClr val="FFFFFF"/>
          </a:effectRef>
          <a:fontRef idx="minor">
            <a:schemeClr val="tx1"/>
          </a:fontRef>
        </p:style>
      </p:cxnSp>
      <p:cxnSp>
        <p:nvCxnSpPr>
          <p:cNvPr id="14" name="直接连接符 13"/>
          <p:cNvCxnSpPr/>
          <p:nvPr/>
        </p:nvCxnSpPr>
        <p:spPr>
          <a:xfrm flipV="1">
            <a:off x="2164715" y="4966335"/>
            <a:ext cx="3938270" cy="1364615"/>
          </a:xfrm>
          <a:prstGeom prst="line">
            <a:avLst/>
          </a:prstGeom>
          <a:ln w="38100">
            <a:solidFill>
              <a:schemeClr val="accent1">
                <a:lumMod val="60000"/>
                <a:lumOff val="40000"/>
                <a:alpha val="40000"/>
              </a:schemeClr>
            </a:solidFill>
          </a:ln>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a:off x="2148205" y="2102485"/>
            <a:ext cx="3952240" cy="1363345"/>
          </a:xfrm>
          <a:prstGeom prst="line">
            <a:avLst/>
          </a:prstGeom>
          <a:ln w="38100">
            <a:solidFill>
              <a:schemeClr val="accent1">
                <a:lumMod val="60000"/>
                <a:lumOff val="40000"/>
                <a:alpha val="40000"/>
              </a:schemeClr>
            </a:solidFill>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V="1">
            <a:off x="6090920" y="2089150"/>
            <a:ext cx="3893820" cy="1368425"/>
          </a:xfrm>
          <a:prstGeom prst="line">
            <a:avLst/>
          </a:prstGeom>
          <a:ln w="38100">
            <a:solidFill>
              <a:schemeClr val="accent1">
                <a:lumMod val="60000"/>
                <a:lumOff val="40000"/>
                <a:alpha val="40000"/>
              </a:schemeClr>
            </a:solidFill>
          </a:ln>
        </p:spPr>
        <p:style>
          <a:lnRef idx="2">
            <a:schemeClr val="accent1"/>
          </a:lnRef>
          <a:fillRef idx="0">
            <a:srgbClr val="FFFFFF"/>
          </a:fillRef>
          <a:effectRef idx="0">
            <a:srgbClr val="FFFFFF"/>
          </a:effectRef>
          <a:fontRef idx="minor">
            <a:schemeClr val="tx1"/>
          </a:fontRef>
        </p:style>
      </p:cxnSp>
      <p:cxnSp>
        <p:nvCxnSpPr>
          <p:cNvPr id="142" name="曲线连接符 141"/>
          <p:cNvCxnSpPr>
            <a:stCxn id="134" idx="4"/>
          </p:cNvCxnSpPr>
          <p:nvPr/>
        </p:nvCxnSpPr>
        <p:spPr>
          <a:xfrm rot="5400000" flipH="1" flipV="1">
            <a:off x="6148070" y="-598170"/>
            <a:ext cx="35560" cy="10521315"/>
          </a:xfrm>
          <a:prstGeom prst="curvedConnector3">
            <a:avLst>
              <a:gd name="adj1" fmla="val -3934821"/>
            </a:avLst>
          </a:prstGeom>
          <a:ln>
            <a:solidFill>
              <a:schemeClr val="accent6"/>
            </a:solidFill>
            <a:prstDash val="sysDash"/>
          </a:ln>
        </p:spPr>
        <p:style>
          <a:lnRef idx="2">
            <a:schemeClr val="accent1"/>
          </a:lnRef>
          <a:fillRef idx="0">
            <a:srgbClr val="FFFFFF"/>
          </a:fillRef>
          <a:effectRef idx="0">
            <a:srgbClr val="FFFFFF"/>
          </a:effectRef>
          <a:fontRef idx="minor">
            <a:schemeClr val="tx1"/>
          </a:fontRef>
        </p:style>
      </p:cxnSp>
      <p:sp>
        <p:nvSpPr>
          <p:cNvPr id="144" name="等腰三角形 143"/>
          <p:cNvSpPr/>
          <p:nvPr/>
        </p:nvSpPr>
        <p:spPr>
          <a:xfrm rot="5400000">
            <a:off x="5947410" y="2586990"/>
            <a:ext cx="175895" cy="142875"/>
          </a:xfrm>
          <a:prstGeom prst="triangle">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5" name="等腰三角形 144"/>
          <p:cNvSpPr/>
          <p:nvPr/>
        </p:nvSpPr>
        <p:spPr>
          <a:xfrm rot="5400000">
            <a:off x="6045835" y="6016625"/>
            <a:ext cx="175895" cy="142875"/>
          </a:xfrm>
          <a:prstGeom prst="triangle">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6" name="等腰三角形 145"/>
          <p:cNvSpPr/>
          <p:nvPr/>
        </p:nvSpPr>
        <p:spPr>
          <a:xfrm rot="5400000">
            <a:off x="3052445" y="4194810"/>
            <a:ext cx="175895" cy="142875"/>
          </a:xfrm>
          <a:prstGeom prs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7" name="等腰三角形 146"/>
          <p:cNvSpPr/>
          <p:nvPr/>
        </p:nvSpPr>
        <p:spPr>
          <a:xfrm rot="5400000">
            <a:off x="5089525" y="4194810"/>
            <a:ext cx="175895" cy="142875"/>
          </a:xfrm>
          <a:prstGeom prs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8" name="等腰三角形 147"/>
          <p:cNvSpPr/>
          <p:nvPr/>
        </p:nvSpPr>
        <p:spPr>
          <a:xfrm rot="5400000">
            <a:off x="7100570" y="4194810"/>
            <a:ext cx="175895" cy="142875"/>
          </a:xfrm>
          <a:prstGeom prs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9" name="等腰三角形 148"/>
          <p:cNvSpPr/>
          <p:nvPr/>
        </p:nvSpPr>
        <p:spPr>
          <a:xfrm rot="5400000">
            <a:off x="8956040" y="4194810"/>
            <a:ext cx="175895" cy="142875"/>
          </a:xfrm>
          <a:prstGeom prs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55" name="文本框 154"/>
          <p:cNvSpPr txBox="1"/>
          <p:nvPr/>
        </p:nvSpPr>
        <p:spPr>
          <a:xfrm>
            <a:off x="3653790" y="4545330"/>
            <a:ext cx="1005205" cy="45974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转发内容</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正向评论</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6" name="文本框 155"/>
          <p:cNvSpPr txBox="1"/>
          <p:nvPr/>
        </p:nvSpPr>
        <p:spPr>
          <a:xfrm>
            <a:off x="3729355" y="3445510"/>
            <a:ext cx="911225" cy="67564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点击广告</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有效阅读</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endParaRPr lang="zh-CN" altLang="en-US" sz="4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点赞内容</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63" name="组合 162"/>
          <p:cNvGrpSpPr/>
          <p:nvPr/>
        </p:nvGrpSpPr>
        <p:grpSpPr>
          <a:xfrm>
            <a:off x="2146935" y="2087880"/>
            <a:ext cx="7862570" cy="4247515"/>
            <a:chOff x="3273" y="2953"/>
            <a:chExt cx="12382" cy="6689"/>
          </a:xfrm>
        </p:grpSpPr>
        <p:cxnSp>
          <p:nvCxnSpPr>
            <p:cNvPr id="3" name="直接连接符 2"/>
            <p:cNvCxnSpPr/>
            <p:nvPr/>
          </p:nvCxnSpPr>
          <p:spPr>
            <a:xfrm>
              <a:off x="3278" y="2953"/>
              <a:ext cx="3157" cy="2574"/>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flipV="1">
              <a:off x="6427" y="4507"/>
              <a:ext cx="3043" cy="1016"/>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p:nvPr/>
          </p:nvCxnSpPr>
          <p:spPr>
            <a:xfrm>
              <a:off x="9461" y="4505"/>
              <a:ext cx="3193" cy="1043"/>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flipV="1">
              <a:off x="12649" y="4953"/>
              <a:ext cx="2998" cy="601"/>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flipH="1">
              <a:off x="9457" y="4486"/>
              <a:ext cx="10" cy="3540"/>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a:off x="3273" y="2953"/>
              <a:ext cx="19" cy="6689"/>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flipV="1">
              <a:off x="3287" y="7243"/>
              <a:ext cx="3166" cy="2387"/>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17" name="直接连接符 16"/>
            <p:cNvCxnSpPr/>
            <p:nvPr/>
          </p:nvCxnSpPr>
          <p:spPr>
            <a:xfrm>
              <a:off x="6450" y="7227"/>
              <a:ext cx="2994" cy="768"/>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p:nvPr/>
          </p:nvCxnSpPr>
          <p:spPr>
            <a:xfrm flipV="1">
              <a:off x="9481" y="7121"/>
              <a:ext cx="3147" cy="864"/>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19" name="直接连接符 18"/>
            <p:cNvCxnSpPr/>
            <p:nvPr/>
          </p:nvCxnSpPr>
          <p:spPr>
            <a:xfrm>
              <a:off x="12628" y="7106"/>
              <a:ext cx="3013" cy="473"/>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157" name="直接连接符 156"/>
            <p:cNvCxnSpPr/>
            <p:nvPr/>
          </p:nvCxnSpPr>
          <p:spPr>
            <a:xfrm>
              <a:off x="6440" y="5548"/>
              <a:ext cx="3" cy="1685"/>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159" name="直接连接符 158"/>
            <p:cNvCxnSpPr/>
            <p:nvPr/>
          </p:nvCxnSpPr>
          <p:spPr>
            <a:xfrm>
              <a:off x="12657" y="5576"/>
              <a:ext cx="2" cy="1524"/>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cxnSp>
          <p:nvCxnSpPr>
            <p:cNvPr id="161" name="直接连接符 160"/>
            <p:cNvCxnSpPr/>
            <p:nvPr/>
          </p:nvCxnSpPr>
          <p:spPr>
            <a:xfrm>
              <a:off x="15629" y="4953"/>
              <a:ext cx="26" cy="2671"/>
            </a:xfrm>
            <a:prstGeom prst="line">
              <a:avLst/>
            </a:prstGeom>
            <a:ln w="38100">
              <a:solidFill>
                <a:schemeClr val="accent1">
                  <a:alpha val="80000"/>
                </a:schemeClr>
              </a:solidFill>
            </a:ln>
          </p:spPr>
          <p:style>
            <a:lnRef idx="2">
              <a:schemeClr val="accent1"/>
            </a:lnRef>
            <a:fillRef idx="0">
              <a:srgbClr val="FFFFFF"/>
            </a:fillRef>
            <a:effectRef idx="0">
              <a:srgbClr val="FFFFFF"/>
            </a:effectRef>
            <a:fontRef idx="minor">
              <a:schemeClr val="tx1"/>
            </a:fontRef>
          </p:style>
        </p:cxnSp>
      </p:grpSp>
      <p:sp>
        <p:nvSpPr>
          <p:cNvPr id="165" name="矩形 164"/>
          <p:cNvSpPr/>
          <p:nvPr/>
        </p:nvSpPr>
        <p:spPr>
          <a:xfrm>
            <a:off x="1798955" y="4081780"/>
            <a:ext cx="756920" cy="412115"/>
          </a:xfrm>
          <a:prstGeom prst="rect">
            <a:avLst/>
          </a:prstGeom>
          <a:gradFill>
            <a:gsLst>
              <a:gs pos="0">
                <a:schemeClr val="accent5">
                  <a:lumMod val="60000"/>
                  <a:lumOff val="40000"/>
                </a:schemeClr>
              </a:gs>
              <a:gs pos="70000">
                <a:schemeClr val="accent5"/>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cs typeface="微软雅黑" panose="020B0503020204020204" charset="-122"/>
              </a:rPr>
              <a:t>感知</a:t>
            </a:r>
            <a:endParaRPr lang="zh-CN" altLang="en-US" sz="1200" b="1">
              <a:cs typeface="微软雅黑" panose="020B0503020204020204" charset="-122"/>
            </a:endParaRPr>
          </a:p>
        </p:txBody>
      </p:sp>
      <p:sp>
        <p:nvSpPr>
          <p:cNvPr id="166" name="矩形 165"/>
          <p:cNvSpPr/>
          <p:nvPr/>
        </p:nvSpPr>
        <p:spPr>
          <a:xfrm>
            <a:off x="5711190" y="4108450"/>
            <a:ext cx="756920" cy="412115"/>
          </a:xfrm>
          <a:prstGeom prst="rect">
            <a:avLst/>
          </a:prstGeom>
          <a:gradFill>
            <a:gsLst>
              <a:gs pos="0">
                <a:schemeClr val="accent5">
                  <a:lumMod val="60000"/>
                  <a:lumOff val="40000"/>
                </a:schemeClr>
              </a:gs>
              <a:gs pos="70000">
                <a:schemeClr val="accent5"/>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cs typeface="微软雅黑" panose="020B0503020204020204" charset="-122"/>
                <a:sym typeface="+mn-ea"/>
              </a:rPr>
              <a:t>询问</a:t>
            </a:r>
            <a:endParaRPr lang="zh-CN" altLang="en-US" sz="1200" b="1">
              <a:cs typeface="微软雅黑" panose="020B0503020204020204" charset="-122"/>
              <a:sym typeface="+mn-ea"/>
            </a:endParaRPr>
          </a:p>
        </p:txBody>
      </p:sp>
      <p:sp>
        <p:nvSpPr>
          <p:cNvPr id="167" name="矩形 166"/>
          <p:cNvSpPr/>
          <p:nvPr/>
        </p:nvSpPr>
        <p:spPr>
          <a:xfrm>
            <a:off x="3827145" y="4102735"/>
            <a:ext cx="756920" cy="412115"/>
          </a:xfrm>
          <a:prstGeom prst="rect">
            <a:avLst/>
          </a:prstGeom>
          <a:gradFill>
            <a:gsLst>
              <a:gs pos="0">
                <a:schemeClr val="accent5">
                  <a:lumMod val="60000"/>
                  <a:lumOff val="40000"/>
                </a:schemeClr>
              </a:gs>
              <a:gs pos="70000">
                <a:schemeClr val="accent5"/>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cs typeface="微软雅黑" panose="020B0503020204020204" charset="-122"/>
                <a:sym typeface="+mn-ea"/>
              </a:rPr>
              <a:t>好奇</a:t>
            </a:r>
            <a:endParaRPr lang="zh-CN" altLang="en-US" sz="1200" b="1">
              <a:cs typeface="微软雅黑" panose="020B0503020204020204" charset="-122"/>
              <a:sym typeface="+mn-ea"/>
            </a:endParaRPr>
          </a:p>
        </p:txBody>
      </p:sp>
      <p:sp>
        <p:nvSpPr>
          <p:cNvPr id="168" name="矩形 167"/>
          <p:cNvSpPr/>
          <p:nvPr/>
        </p:nvSpPr>
        <p:spPr>
          <a:xfrm>
            <a:off x="7749540" y="4081780"/>
            <a:ext cx="756920" cy="412115"/>
          </a:xfrm>
          <a:prstGeom prst="rect">
            <a:avLst/>
          </a:prstGeom>
          <a:gradFill>
            <a:gsLst>
              <a:gs pos="0">
                <a:schemeClr val="accent5">
                  <a:lumMod val="60000"/>
                  <a:lumOff val="40000"/>
                </a:schemeClr>
              </a:gs>
              <a:gs pos="70000">
                <a:schemeClr val="accent5"/>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cs typeface="微软雅黑" panose="020B0503020204020204" charset="-122"/>
                <a:sym typeface="+mn-ea"/>
              </a:rPr>
              <a:t>行动</a:t>
            </a:r>
            <a:endParaRPr lang="zh-CN" altLang="en-US" sz="1200" b="1">
              <a:cs typeface="微软雅黑" panose="020B0503020204020204" charset="-122"/>
              <a:sym typeface="+mn-ea"/>
            </a:endParaRPr>
          </a:p>
        </p:txBody>
      </p:sp>
      <p:sp>
        <p:nvSpPr>
          <p:cNvPr id="169" name="矩形 168"/>
          <p:cNvSpPr/>
          <p:nvPr/>
        </p:nvSpPr>
        <p:spPr>
          <a:xfrm>
            <a:off x="9623425" y="4081780"/>
            <a:ext cx="756920" cy="412115"/>
          </a:xfrm>
          <a:prstGeom prst="rect">
            <a:avLst/>
          </a:prstGeom>
          <a:gradFill>
            <a:gsLst>
              <a:gs pos="0">
                <a:schemeClr val="accent5">
                  <a:lumMod val="60000"/>
                  <a:lumOff val="40000"/>
                </a:schemeClr>
              </a:gs>
              <a:gs pos="70000">
                <a:schemeClr val="accent5"/>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cs typeface="微软雅黑" panose="020B0503020204020204" charset="-122"/>
                <a:sym typeface="+mn-ea"/>
              </a:rPr>
              <a:t>用户</a:t>
            </a:r>
            <a:endParaRPr lang="zh-CN" altLang="en-US" sz="1200" b="1">
              <a:cs typeface="微软雅黑" panose="020B0503020204020204" charset="-122"/>
              <a:sym typeface="+mn-ea"/>
            </a:endParaRPr>
          </a:p>
        </p:txBody>
      </p:sp>
      <p:sp>
        <p:nvSpPr>
          <p:cNvPr id="23" name="椭圆 22"/>
          <p:cNvSpPr/>
          <p:nvPr/>
        </p:nvSpPr>
        <p:spPr>
          <a:xfrm>
            <a:off x="388620" y="3718560"/>
            <a:ext cx="962025" cy="96202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4" name="椭圆 23"/>
          <p:cNvSpPr/>
          <p:nvPr/>
        </p:nvSpPr>
        <p:spPr>
          <a:xfrm>
            <a:off x="388620" y="3718560"/>
            <a:ext cx="962025" cy="962025"/>
          </a:xfrm>
          <a:prstGeom prst="ellipse">
            <a:avLst/>
          </a:prstGeom>
          <a:solidFill>
            <a:schemeClr val="accent5">
              <a:lumMod val="20000"/>
              <a:lumOff val="80000"/>
              <a:alpha val="2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pic>
        <p:nvPicPr>
          <p:cNvPr id="25" name="图片 24" descr="客户群组"/>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1343" y="3911283"/>
            <a:ext cx="576580" cy="576580"/>
          </a:xfrm>
          <a:prstGeom prst="rect">
            <a:avLst/>
          </a:prstGeom>
        </p:spPr>
      </p:pic>
      <p:sp>
        <p:nvSpPr>
          <p:cNvPr id="28" name="等腰三角形 27"/>
          <p:cNvSpPr/>
          <p:nvPr/>
        </p:nvSpPr>
        <p:spPr>
          <a:xfrm rot="5400000">
            <a:off x="10644505" y="4194810"/>
            <a:ext cx="175895" cy="142875"/>
          </a:xfrm>
          <a:prstGeom prs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31" name="组合 30"/>
          <p:cNvGrpSpPr/>
          <p:nvPr/>
        </p:nvGrpSpPr>
        <p:grpSpPr>
          <a:xfrm>
            <a:off x="10916920" y="3800475"/>
            <a:ext cx="961390" cy="961390"/>
            <a:chOff x="17290" y="6653"/>
            <a:chExt cx="1514" cy="1514"/>
          </a:xfrm>
        </p:grpSpPr>
        <p:sp>
          <p:nvSpPr>
            <p:cNvPr id="26" name="椭圆 25"/>
            <p:cNvSpPr/>
            <p:nvPr/>
          </p:nvSpPr>
          <p:spPr>
            <a:xfrm>
              <a:off x="17290" y="6653"/>
              <a:ext cx="1515" cy="151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 name="椭圆 28"/>
            <p:cNvSpPr/>
            <p:nvPr/>
          </p:nvSpPr>
          <p:spPr>
            <a:xfrm>
              <a:off x="17290" y="6653"/>
              <a:ext cx="1515" cy="1515"/>
            </a:xfrm>
            <a:prstGeom prst="ellipse">
              <a:avLst/>
            </a:prstGeom>
            <a:solidFill>
              <a:schemeClr val="accent5">
                <a:lumMod val="20000"/>
                <a:lumOff val="80000"/>
                <a:alpha val="2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30" name="图片 29" descr="汽车"/>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464" y="6826"/>
              <a:ext cx="1168" cy="1168"/>
            </a:xfrm>
            <a:prstGeom prst="rect">
              <a:avLst/>
            </a:prstGeom>
          </p:spPr>
        </p:pic>
      </p:grpSp>
      <p:cxnSp>
        <p:nvCxnSpPr>
          <p:cNvPr id="3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8738235" y="348615"/>
            <a:ext cx="3219450" cy="332740"/>
            <a:chOff x="13761" y="549"/>
            <a:chExt cx="5070" cy="524"/>
          </a:xfrm>
        </p:grpSpPr>
        <p:pic>
          <p:nvPicPr>
            <p:cNvPr id="34" name="图片 33"/>
            <p:cNvPicPr>
              <a:picLocks noChangeAspect="1"/>
            </p:cNvPicPr>
            <p:nvPr userDrawn="1"/>
          </p:nvPicPr>
          <p:blipFill>
            <a:blip r:embed="rId7"/>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文本框 373"/>
          <p:cNvSpPr txBox="1"/>
          <p:nvPr/>
        </p:nvSpPr>
        <p:spPr>
          <a:xfrm>
            <a:off x="7350972" y="5901687"/>
            <a:ext cx="1391077" cy="523220"/>
          </a:xfrm>
          <a:prstGeom prst="rect">
            <a:avLst/>
          </a:prstGeom>
          <a:noFill/>
        </p:spPr>
        <p:txBody>
          <a:bodyPr wrap="square">
            <a:spAutoFit/>
          </a:bodyPr>
          <a:lstStyle/>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在投入生产之前，您是否看到了与更多供应商或合作伙伴接洽的机会？您是否有合适的团队和反馈回路来持续改进生产？</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1" name="文本框 300"/>
          <p:cNvSpPr txBox="1"/>
          <p:nvPr/>
        </p:nvSpPr>
        <p:spPr>
          <a:xfrm>
            <a:off x="1505976" y="4505549"/>
            <a:ext cx="886969" cy="307777"/>
          </a:xfrm>
          <a:prstGeom prst="rect">
            <a:avLst/>
          </a:prstGeom>
          <a:noFill/>
        </p:spPr>
        <p:txBody>
          <a:bodyPr wrap="square">
            <a:spAutoFit/>
          </a:bodyPr>
          <a:lstStyle>
            <a:defPPr>
              <a:defRPr lang="zh-CN"/>
            </a:defPPr>
            <a:lvl1pPr>
              <a:defRPr sz="700" b="1"/>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rPr>
              <a:t>构建devops环境和管道</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98" name="文本框 397"/>
          <p:cNvSpPr txBox="1"/>
          <p:nvPr/>
        </p:nvSpPr>
        <p:spPr>
          <a:xfrm>
            <a:off x="10134994" y="3642914"/>
            <a:ext cx="1391077" cy="415498"/>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获得批准</a:t>
            </a:r>
            <a:endParaRPr lang="en-US" altLang="zh-CN" sz="700" b="1"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来自支持功能</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（即风险、法律、安全）</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01" name="文本框 400"/>
          <p:cNvSpPr txBox="1"/>
          <p:nvPr/>
        </p:nvSpPr>
        <p:spPr>
          <a:xfrm>
            <a:off x="8184288" y="3157220"/>
            <a:ext cx="1348442" cy="276999"/>
          </a:xfrm>
          <a:prstGeom prst="rect">
            <a:avLst/>
          </a:prstGeom>
          <a:noFill/>
        </p:spPr>
        <p:txBody>
          <a:bodyPr wrap="square">
            <a:spAutoFit/>
          </a:bodyPr>
          <a:lstStyle/>
          <a:p>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检查点#</a:t>
            </a:r>
            <a:r>
              <a:rPr lang="en-US" altLang="zh-CN" sz="1200" b="1" dirty="0">
                <a:solidFill>
                  <a:schemeClr val="accent5"/>
                </a:solidFill>
                <a:latin typeface="微软雅黑" panose="020B0503020204020204" charset="-122"/>
                <a:ea typeface="微软雅黑" panose="020B0503020204020204" charset="-122"/>
                <a:cs typeface="微软雅黑" panose="020B0503020204020204" charset="-122"/>
              </a:rPr>
              <a:t>5</a:t>
            </a:r>
            <a:endParaRPr lang="en-US" altLang="zh-CN"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02" name="文本框 401"/>
          <p:cNvSpPr txBox="1"/>
          <p:nvPr/>
        </p:nvSpPr>
        <p:spPr>
          <a:xfrm>
            <a:off x="8184784" y="3381176"/>
            <a:ext cx="1391077" cy="415498"/>
          </a:xfrm>
          <a:prstGeom prst="rect">
            <a:avLst/>
          </a:prstGeom>
          <a:noFill/>
        </p:spPr>
        <p:txBody>
          <a:bodyPr wrap="square">
            <a:spAutoFit/>
          </a:bodyPr>
          <a:lstStyle/>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您是否更新了风险框架，以纳入针对错误结果的应急计划？谁对人工智能系统的决策负责？</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6" name="文本框 265"/>
          <p:cNvSpPr txBox="1"/>
          <p:nvPr/>
        </p:nvSpPr>
        <p:spPr>
          <a:xfrm>
            <a:off x="3895611" y="1241643"/>
            <a:ext cx="1246311" cy="738664"/>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制定数据战略</a:t>
            </a:r>
            <a:endParaRPr lang="en-US" altLang="zh-CN" sz="700" b="1"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整理正确的数据以实现您想要的结果。然后确定如何将这些数据整合在一起，为您的人工智能战略提供动力</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74" name="文本框 273"/>
          <p:cNvSpPr txBox="1"/>
          <p:nvPr/>
        </p:nvSpPr>
        <p:spPr>
          <a:xfrm>
            <a:off x="4667069" y="2064839"/>
            <a:ext cx="973559" cy="523220"/>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分析影响</a:t>
            </a:r>
            <a:endParaRPr lang="en-US" altLang="zh-CN" sz="700" b="1"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审查战略和用例，并提供范围和时间表</a:t>
            </a:r>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7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27" name="文本框 426"/>
          <p:cNvSpPr txBox="1"/>
          <p:nvPr/>
        </p:nvSpPr>
        <p:spPr>
          <a:xfrm>
            <a:off x="5705232" y="2390538"/>
            <a:ext cx="754711" cy="523220"/>
          </a:xfrm>
          <a:prstGeom prst="rect">
            <a:avLst/>
          </a:prstGeom>
          <a:noFill/>
        </p:spPr>
        <p:txBody>
          <a:bodyPr wrap="square">
            <a:spAutoFit/>
          </a:bodyPr>
          <a:lstStyle/>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用您的可重用特性支持额外的用例，从而使价值倍增</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3" name="文本框 432"/>
          <p:cNvSpPr txBox="1"/>
          <p:nvPr/>
        </p:nvSpPr>
        <p:spPr>
          <a:xfrm>
            <a:off x="6396468" y="1152210"/>
            <a:ext cx="1458429" cy="523220"/>
          </a:xfrm>
          <a:prstGeom prst="rect">
            <a:avLst/>
          </a:prstGeom>
          <a:noFill/>
        </p:spPr>
        <p:txBody>
          <a:bodyPr wrap="square">
            <a:spAutoFit/>
          </a:bodyPr>
          <a:lstStyle/>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您是否能够重用您刚刚创建的功能，以针对其他优先级用例提供价值？如果没有，您可以进行哪些调整来扩展该功能的使用？</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49" name="文本框 448"/>
          <p:cNvSpPr txBox="1"/>
          <p:nvPr/>
        </p:nvSpPr>
        <p:spPr>
          <a:xfrm>
            <a:off x="9489665" y="4555525"/>
            <a:ext cx="902112" cy="430887"/>
          </a:xfrm>
          <a:prstGeom prst="rect">
            <a:avLst/>
          </a:prstGeom>
          <a:noFill/>
        </p:spPr>
        <p:txBody>
          <a:bodyPr wrap="square">
            <a:spAutoFit/>
          </a:bodyPr>
          <a:lstStyle/>
          <a:p>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超出冲刺</a:t>
            </a:r>
            <a:endParaRPr lang="en-US" altLang="zh-CN" sz="1100"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活动</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AI</a:t>
            </a:r>
            <a:r>
              <a:rPr sz="2500">
                <a:solidFill>
                  <a:schemeClr val="tx2"/>
                </a:solidFill>
                <a:effectLst/>
                <a:latin typeface="微软雅黑" panose="020B0503020204020204" charset="-122"/>
                <a:ea typeface="微软雅黑" panose="020B0503020204020204" charset="-122"/>
                <a:cs typeface="微软雅黑" panose="020B0503020204020204" charset="-122"/>
              </a:rPr>
              <a:t>项目管理流程图</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428" name="直接连接符 427"/>
          <p:cNvCxnSpPr/>
          <p:nvPr/>
        </p:nvCxnSpPr>
        <p:spPr>
          <a:xfrm>
            <a:off x="6358569" y="956265"/>
            <a:ext cx="0" cy="136154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a:off x="3719552" y="3908196"/>
            <a:ext cx="395995" cy="0"/>
          </a:xfrm>
          <a:prstGeom prst="line">
            <a:avLst/>
          </a:prstGeom>
          <a:ln w="5397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V="1">
            <a:off x="2231498" y="1174672"/>
            <a:ext cx="0" cy="1146377"/>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2" name="直接连接符 271"/>
          <p:cNvCxnSpPr/>
          <p:nvPr/>
        </p:nvCxnSpPr>
        <p:spPr>
          <a:xfrm flipV="1">
            <a:off x="4719398" y="2081826"/>
            <a:ext cx="0" cy="588757"/>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4" name="弧形 433"/>
          <p:cNvSpPr/>
          <p:nvPr/>
        </p:nvSpPr>
        <p:spPr>
          <a:xfrm flipH="1">
            <a:off x="6455648" y="1754739"/>
            <a:ext cx="2188278" cy="2163502"/>
          </a:xfrm>
          <a:prstGeom prst="arc">
            <a:avLst>
              <a:gd name="adj1" fmla="val 16200000"/>
              <a:gd name="adj2" fmla="val 4799109"/>
            </a:avLst>
          </a:prstGeom>
          <a:ln w="2222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10" name="组合 409"/>
          <p:cNvGrpSpPr/>
          <p:nvPr/>
        </p:nvGrpSpPr>
        <p:grpSpPr>
          <a:xfrm>
            <a:off x="7786792" y="1419199"/>
            <a:ext cx="2934370" cy="1276354"/>
            <a:chOff x="7910584" y="1723964"/>
            <a:chExt cx="2828558" cy="1136623"/>
          </a:xfrm>
        </p:grpSpPr>
        <p:sp>
          <p:nvSpPr>
            <p:cNvPr id="411" name="泪滴形 410"/>
            <p:cNvSpPr/>
            <p:nvPr/>
          </p:nvSpPr>
          <p:spPr bwMode="gray">
            <a:xfrm rot="2854791">
              <a:off x="7910584" y="1723964"/>
              <a:ext cx="1133254" cy="1133254"/>
            </a:xfrm>
            <a:prstGeom prst="teardrop">
              <a:avLst>
                <a:gd name="adj" fmla="val 107560"/>
              </a:avLst>
            </a:prstGeom>
            <a:noFill/>
            <a:ln w="381000" algn="ctr">
              <a:solidFill>
                <a:schemeClr val="accent6">
                  <a:lumMod val="20000"/>
                  <a:lumOff val="80000"/>
                  <a:alpha val="50000"/>
                </a:schemeClr>
              </a:solidFill>
              <a:miter lim="800000"/>
            </a:ln>
          </p:spPr>
          <p:txBody>
            <a:bodyPr wrap="square" lIns="88900" tIns="88900" rIns="88900" bIns="88900" rtlCol="0" anchor="ctr"/>
            <a:lstStyle/>
            <a:p>
              <a:pPr algn="ctr">
                <a:lnSpc>
                  <a:spcPct val="106000"/>
                </a:lnSpc>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12" name="泪滴形 411"/>
            <p:cNvSpPr/>
            <p:nvPr/>
          </p:nvSpPr>
          <p:spPr bwMode="gray">
            <a:xfrm rot="18745209" flipH="1">
              <a:off x="9605888" y="1727333"/>
              <a:ext cx="1133254" cy="1133254"/>
            </a:xfrm>
            <a:prstGeom prst="teardrop">
              <a:avLst>
                <a:gd name="adj" fmla="val 104441"/>
              </a:avLst>
            </a:prstGeom>
            <a:noFill/>
            <a:ln w="381000" algn="ctr">
              <a:solidFill>
                <a:schemeClr val="accent6">
                  <a:lumMod val="20000"/>
                  <a:lumOff val="80000"/>
                  <a:alpha val="50000"/>
                </a:schemeClr>
              </a:solidFill>
              <a:miter lim="800000"/>
            </a:ln>
          </p:spPr>
          <p:txBody>
            <a:bodyPr wrap="square" lIns="88900" tIns="88900" rIns="88900" bIns="88900" rtlCol="0" anchor="ctr"/>
            <a:lstStyle/>
            <a:p>
              <a:pPr algn="ctr">
                <a:lnSpc>
                  <a:spcPct val="106000"/>
                </a:lnSpc>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217" name="椭圆 216"/>
          <p:cNvSpPr/>
          <p:nvPr/>
        </p:nvSpPr>
        <p:spPr bwMode="gray">
          <a:xfrm>
            <a:off x="1148527" y="1914384"/>
            <a:ext cx="916310" cy="916310"/>
          </a:xfrm>
          <a:prstGeom prst="ellipse">
            <a:avLst/>
          </a:prstGeom>
          <a:solidFill>
            <a:schemeClr val="bg1"/>
          </a:solidFill>
          <a:ln w="57150" algn="ctr">
            <a:solidFill>
              <a:schemeClr val="accent1"/>
            </a:solidFill>
            <a:miter lim="800000"/>
          </a:ln>
        </p:spPr>
        <p:txBody>
          <a:bodyPr wrap="square" lIns="88900" tIns="88900" rIns="88900" bIns="88900" rtlCol="0" anchor="ctr"/>
          <a:lstStyle/>
          <a:p>
            <a:pPr algn="ctr">
              <a:lnSpc>
                <a:spcPct val="106000"/>
              </a:lnSpc>
              <a:buFont typeface="微软雅黑" panose="020B0503020204020204" charset="-122"/>
              <a:buNone/>
            </a:pPr>
            <a:r>
              <a:rPr lang="zh-CN" altLang="en-US" b="1" dirty="0">
                <a:solidFill>
                  <a:schemeClr val="accent1"/>
                </a:solidFill>
                <a:latin typeface="微软雅黑" panose="020B0503020204020204" charset="-122"/>
                <a:ea typeface="微软雅黑" panose="020B0503020204020204" charset="-122"/>
                <a:cs typeface="微软雅黑" panose="020B0503020204020204" charset="-122"/>
              </a:rPr>
              <a:t>开始</a:t>
            </a:r>
            <a:endParaRPr lang="zh-CN" altLang="en-US"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18" name="椭圆 217"/>
          <p:cNvSpPr/>
          <p:nvPr/>
        </p:nvSpPr>
        <p:spPr bwMode="gray">
          <a:xfrm>
            <a:off x="1089632" y="1862261"/>
            <a:ext cx="1031828" cy="1031828"/>
          </a:xfrm>
          <a:prstGeom prst="ellipse">
            <a:avLst/>
          </a:prstGeom>
          <a:noFill/>
          <a:ln w="12700" algn="ctr">
            <a:solidFill>
              <a:schemeClr val="accent1"/>
            </a:solidFill>
            <a:prstDash val="dash"/>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220" name="直接连接符 219"/>
          <p:cNvCxnSpPr/>
          <p:nvPr/>
        </p:nvCxnSpPr>
        <p:spPr>
          <a:xfrm>
            <a:off x="2102515" y="2371567"/>
            <a:ext cx="1842556" cy="0"/>
          </a:xfrm>
          <a:prstGeom prst="line">
            <a:avLst/>
          </a:prstGeom>
          <a:ln w="5397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26" name="弧形 225"/>
          <p:cNvSpPr/>
          <p:nvPr/>
        </p:nvSpPr>
        <p:spPr>
          <a:xfrm flipH="1">
            <a:off x="2510578" y="3888941"/>
            <a:ext cx="1591228" cy="1524165"/>
          </a:xfrm>
          <a:prstGeom prst="arc">
            <a:avLst>
              <a:gd name="adj1" fmla="val 15342646"/>
              <a:gd name="adj2" fmla="val 4977688"/>
            </a:avLst>
          </a:prstGeom>
          <a:ln w="53975" cap="rnd">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1" name="弧形 220"/>
          <p:cNvSpPr/>
          <p:nvPr/>
        </p:nvSpPr>
        <p:spPr>
          <a:xfrm>
            <a:off x="3242661" y="2371567"/>
            <a:ext cx="1591228" cy="1541393"/>
          </a:xfrm>
          <a:prstGeom prst="arc">
            <a:avLst>
              <a:gd name="adj1" fmla="val 15865825"/>
              <a:gd name="adj2" fmla="val 4977688"/>
            </a:avLst>
          </a:prstGeom>
          <a:ln w="53975"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276" name="直接连接符 275"/>
          <p:cNvCxnSpPr/>
          <p:nvPr/>
        </p:nvCxnSpPr>
        <p:spPr>
          <a:xfrm flipV="1">
            <a:off x="4494349" y="2835074"/>
            <a:ext cx="838175" cy="2910"/>
          </a:xfrm>
          <a:prstGeom prst="line">
            <a:avLst/>
          </a:prstGeom>
          <a:ln w="53975" cap="sq">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p:nvPr/>
        </p:nvCxnSpPr>
        <p:spPr>
          <a:xfrm flipV="1">
            <a:off x="4496347" y="3066580"/>
            <a:ext cx="838175" cy="2910"/>
          </a:xfrm>
          <a:prstGeom prst="line">
            <a:avLst/>
          </a:prstGeom>
          <a:ln w="53975" cap="sq">
            <a:solidFill>
              <a:schemeClr val="accent1"/>
            </a:solidFill>
          </a:ln>
        </p:spPr>
        <p:style>
          <a:lnRef idx="1">
            <a:schemeClr val="accent1"/>
          </a:lnRef>
          <a:fillRef idx="0">
            <a:schemeClr val="accent1"/>
          </a:fillRef>
          <a:effectRef idx="0">
            <a:schemeClr val="accent1"/>
          </a:effectRef>
          <a:fontRef idx="minor">
            <a:schemeClr val="tx1"/>
          </a:fontRef>
        </p:style>
      </p:cxnSp>
      <p:sp>
        <p:nvSpPr>
          <p:cNvPr id="279" name="矩形 278"/>
          <p:cNvSpPr/>
          <p:nvPr/>
        </p:nvSpPr>
        <p:spPr bwMode="gray">
          <a:xfrm>
            <a:off x="4466822" y="2857069"/>
            <a:ext cx="891917" cy="190492"/>
          </a:xfrm>
          <a:prstGeom prst="rect">
            <a:avLst/>
          </a:prstGeom>
          <a:solidFill>
            <a:schemeClr val="bg1"/>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r>
              <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rPr>
              <a:t>价值</a:t>
            </a:r>
            <a:r>
              <a:rPr lang="en-US" altLang="zh-CN" sz="1000" b="1" dirty="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rPr>
              <a:t>战略</a:t>
            </a:r>
            <a:endPar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94" name="椭圆 293"/>
          <p:cNvSpPr/>
          <p:nvPr/>
        </p:nvSpPr>
        <p:spPr bwMode="gray">
          <a:xfrm>
            <a:off x="2575649" y="3944394"/>
            <a:ext cx="1402216" cy="1402216"/>
          </a:xfrm>
          <a:prstGeom prst="ellipse">
            <a:avLst/>
          </a:prstGeom>
          <a:solidFill>
            <a:schemeClr val="bg1"/>
          </a:solidFill>
          <a:ln w="76200" algn="ctr">
            <a:solidFill>
              <a:schemeClr val="accent6">
                <a:lumMod val="20000"/>
                <a:lumOff val="80000"/>
                <a:alpha val="50000"/>
              </a:schemeClr>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86" name="组合 285"/>
          <p:cNvGrpSpPr/>
          <p:nvPr/>
        </p:nvGrpSpPr>
        <p:grpSpPr>
          <a:xfrm>
            <a:off x="2532031" y="3894568"/>
            <a:ext cx="1532302" cy="1490371"/>
            <a:chOff x="2532031" y="4106703"/>
            <a:chExt cx="1532302" cy="1490371"/>
          </a:xfrm>
        </p:grpSpPr>
        <p:sp>
          <p:nvSpPr>
            <p:cNvPr id="256" name="弧形 255"/>
            <p:cNvSpPr/>
            <p:nvPr/>
          </p:nvSpPr>
          <p:spPr>
            <a:xfrm>
              <a:off x="2532031" y="4106703"/>
              <a:ext cx="1490371" cy="1490371"/>
            </a:xfrm>
            <a:prstGeom prst="arc">
              <a:avLst>
                <a:gd name="adj1" fmla="val 17506889"/>
                <a:gd name="adj2" fmla="val 4926171"/>
              </a:avLst>
            </a:prstGeom>
            <a:ln>
              <a:solidFill>
                <a:schemeClr val="accent6"/>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7" name="等腰三角形 256"/>
            <p:cNvSpPr/>
            <p:nvPr/>
          </p:nvSpPr>
          <p:spPr bwMode="gray">
            <a:xfrm rot="18986560">
              <a:off x="3763210" y="4297178"/>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8" name="等腰三角形 257"/>
            <p:cNvSpPr/>
            <p:nvPr/>
          </p:nvSpPr>
          <p:spPr bwMode="gray">
            <a:xfrm rot="20289502">
              <a:off x="3923060" y="4563431"/>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9" name="等腰三角形 258"/>
            <p:cNvSpPr/>
            <p:nvPr/>
          </p:nvSpPr>
          <p:spPr bwMode="gray">
            <a:xfrm rot="240098">
              <a:off x="3960379" y="4884327"/>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0" name="等腰三角形 259"/>
            <p:cNvSpPr/>
            <p:nvPr/>
          </p:nvSpPr>
          <p:spPr bwMode="gray">
            <a:xfrm rot="1731429">
              <a:off x="3877863" y="5182854"/>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1" name="等腰三角形 260"/>
            <p:cNvSpPr/>
            <p:nvPr/>
          </p:nvSpPr>
          <p:spPr bwMode="gray">
            <a:xfrm rot="3303579">
              <a:off x="3670082" y="5414488"/>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cxnSp>
        <p:nvCxnSpPr>
          <p:cNvPr id="242" name="直接连接符 241"/>
          <p:cNvCxnSpPr/>
          <p:nvPr/>
        </p:nvCxnSpPr>
        <p:spPr>
          <a:xfrm flipV="1">
            <a:off x="3242661" y="5400367"/>
            <a:ext cx="4007867" cy="7892"/>
          </a:xfrm>
          <a:prstGeom prst="line">
            <a:avLst/>
          </a:prstGeom>
          <a:ln w="53975" cap="rnd">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24" name="object 121"/>
          <p:cNvSpPr/>
          <p:nvPr/>
        </p:nvSpPr>
        <p:spPr>
          <a:xfrm>
            <a:off x="3415192" y="3666401"/>
            <a:ext cx="385473" cy="445309"/>
          </a:xfrm>
          <a:custGeom>
            <a:avLst/>
            <a:gdLst/>
            <a:ahLst/>
            <a:cxnLst/>
            <a:rect l="l" t="t" r="r" b="b"/>
            <a:pathLst>
              <a:path w="601345" h="694690">
                <a:moveTo>
                  <a:pt x="300659" y="0"/>
                </a:moveTo>
                <a:lnTo>
                  <a:pt x="0" y="173583"/>
                </a:lnTo>
                <a:lnTo>
                  <a:pt x="0" y="520750"/>
                </a:lnTo>
                <a:lnTo>
                  <a:pt x="300659" y="694347"/>
                </a:lnTo>
                <a:lnTo>
                  <a:pt x="601319" y="520750"/>
                </a:lnTo>
                <a:lnTo>
                  <a:pt x="601319" y="173583"/>
                </a:lnTo>
                <a:lnTo>
                  <a:pt x="300659" y="0"/>
                </a:lnTo>
                <a:close/>
              </a:path>
            </a:pathLst>
          </a:custGeom>
          <a:solidFill>
            <a:srgbClr val="FFFFFF"/>
          </a:solidFill>
          <a:ln>
            <a:solidFill>
              <a:schemeClr val="accent1"/>
            </a:solidFill>
          </a:ln>
        </p:spPr>
        <p:txBody>
          <a:bodyPr wrap="square" lIns="0" tIns="0" rIns="0" bIns="0" rtlCol="0"/>
          <a:lstStyle/>
          <a:p>
            <a:pPr defTabSz="586105"/>
            <a:endParaRPr sz="1155">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3" name="六边形 262"/>
          <p:cNvSpPr/>
          <p:nvPr/>
        </p:nvSpPr>
        <p:spPr bwMode="gray">
          <a:xfrm rot="5400000">
            <a:off x="3445864" y="3746793"/>
            <a:ext cx="324128" cy="284525"/>
          </a:xfrm>
          <a:prstGeom prst="hexagon">
            <a:avLst/>
          </a:prstGeom>
          <a:solidFill>
            <a:schemeClr val="accent1"/>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9" name="椭圆 228"/>
          <p:cNvSpPr/>
          <p:nvPr/>
        </p:nvSpPr>
        <p:spPr bwMode="gray">
          <a:xfrm>
            <a:off x="2173762" y="230968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236" name="直接连接符 235"/>
          <p:cNvCxnSpPr/>
          <p:nvPr/>
        </p:nvCxnSpPr>
        <p:spPr>
          <a:xfrm flipV="1">
            <a:off x="2700447" y="1670758"/>
            <a:ext cx="0" cy="64966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a:off x="2638363" y="1610232"/>
            <a:ext cx="1009197" cy="307777"/>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促使高级利益相关者</a:t>
            </a: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认同新的旅程</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7" name="文本框 226"/>
          <p:cNvSpPr txBox="1"/>
          <p:nvPr/>
        </p:nvSpPr>
        <p:spPr>
          <a:xfrm>
            <a:off x="2255068" y="1149990"/>
            <a:ext cx="1160124" cy="415498"/>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了解客户需求</a:t>
            </a:r>
            <a:endParaRPr lang="en-US" altLang="zh-CN" sz="700" b="1"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建立使用案例和业务效益</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265" name="直接连接符 264"/>
          <p:cNvCxnSpPr/>
          <p:nvPr/>
        </p:nvCxnSpPr>
        <p:spPr>
          <a:xfrm flipV="1">
            <a:off x="3881384" y="1277936"/>
            <a:ext cx="0" cy="10335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71" name="椭圆 270"/>
          <p:cNvSpPr/>
          <p:nvPr/>
        </p:nvSpPr>
        <p:spPr bwMode="gray">
          <a:xfrm>
            <a:off x="4661662" y="2664002"/>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0" name="文本框 299"/>
          <p:cNvSpPr txBox="1"/>
          <p:nvPr/>
        </p:nvSpPr>
        <p:spPr>
          <a:xfrm>
            <a:off x="3917550" y="3454312"/>
            <a:ext cx="744148" cy="200055"/>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创建数据基础</a:t>
            </a:r>
            <a:endParaRPr lang="zh-CN" altLang="en-US" sz="7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6" name="文本框 295"/>
          <p:cNvSpPr txBox="1"/>
          <p:nvPr/>
        </p:nvSpPr>
        <p:spPr>
          <a:xfrm>
            <a:off x="4954293" y="3183624"/>
            <a:ext cx="913641" cy="630942"/>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确保您的设计机构审查并批准</a:t>
            </a:r>
            <a:endParaRPr lang="en-US" altLang="zh-CN" sz="700" b="1"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使用案例和功能，以及敏捷开发</a:t>
            </a: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发布时间表</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67" name="组合 266"/>
          <p:cNvGrpSpPr/>
          <p:nvPr/>
        </p:nvGrpSpPr>
        <p:grpSpPr>
          <a:xfrm>
            <a:off x="4539723" y="3257591"/>
            <a:ext cx="422682" cy="494713"/>
            <a:chOff x="4539723" y="3469726"/>
            <a:chExt cx="422682" cy="494713"/>
          </a:xfrm>
        </p:grpSpPr>
        <p:cxnSp>
          <p:nvCxnSpPr>
            <p:cNvPr id="284" name="直接连接符 283"/>
            <p:cNvCxnSpPr/>
            <p:nvPr/>
          </p:nvCxnSpPr>
          <p:spPr>
            <a:xfrm flipH="1" flipV="1">
              <a:off x="4539723" y="3962175"/>
              <a:ext cx="422682" cy="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1" name="直接连接符 280"/>
            <p:cNvCxnSpPr/>
            <p:nvPr/>
          </p:nvCxnSpPr>
          <p:spPr>
            <a:xfrm flipV="1">
              <a:off x="4957469" y="3469726"/>
              <a:ext cx="0" cy="49471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245" name="椭圆 244"/>
          <p:cNvSpPr/>
          <p:nvPr/>
        </p:nvSpPr>
        <p:spPr bwMode="gray">
          <a:xfrm>
            <a:off x="8065500" y="3951384"/>
            <a:ext cx="1402216" cy="1402216"/>
          </a:xfrm>
          <a:prstGeom prst="ellipse">
            <a:avLst/>
          </a:prstGeom>
          <a:solidFill>
            <a:schemeClr val="bg1"/>
          </a:solidFill>
          <a:ln w="76200" algn="ctr">
            <a:solidFill>
              <a:schemeClr val="accent6">
                <a:lumMod val="20000"/>
                <a:lumOff val="80000"/>
                <a:alpha val="50000"/>
              </a:schemeClr>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9" name="弧形 248"/>
          <p:cNvSpPr/>
          <p:nvPr/>
        </p:nvSpPr>
        <p:spPr>
          <a:xfrm flipH="1">
            <a:off x="6907018" y="2650928"/>
            <a:ext cx="1252293" cy="1262032"/>
          </a:xfrm>
          <a:prstGeom prst="arc">
            <a:avLst>
              <a:gd name="adj1" fmla="val 15865825"/>
              <a:gd name="adj2" fmla="val 4489777"/>
            </a:avLst>
          </a:prstGeom>
          <a:ln w="41275" cap="rnd">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09" name="组合 408"/>
          <p:cNvGrpSpPr/>
          <p:nvPr/>
        </p:nvGrpSpPr>
        <p:grpSpPr>
          <a:xfrm>
            <a:off x="7800603" y="1495972"/>
            <a:ext cx="2828558" cy="1136623"/>
            <a:chOff x="7910584" y="1723964"/>
            <a:chExt cx="2828558" cy="1136623"/>
          </a:xfrm>
        </p:grpSpPr>
        <p:sp>
          <p:nvSpPr>
            <p:cNvPr id="254" name="泪滴形 253"/>
            <p:cNvSpPr/>
            <p:nvPr/>
          </p:nvSpPr>
          <p:spPr bwMode="gray">
            <a:xfrm rot="2854791">
              <a:off x="7910584" y="1723964"/>
              <a:ext cx="1133254" cy="1133254"/>
            </a:xfrm>
            <a:prstGeom prst="teardrop">
              <a:avLst>
                <a:gd name="adj" fmla="val 107560"/>
              </a:avLst>
            </a:prstGeom>
            <a:noFill/>
            <a:ln w="41275" algn="ctr">
              <a:solidFill>
                <a:schemeClr val="accent5">
                  <a:lumMod val="60000"/>
                  <a:lumOff val="40000"/>
                </a:schemeClr>
              </a:solidFill>
              <a:miter lim="800000"/>
            </a:ln>
          </p:spPr>
          <p:txBody>
            <a:bodyPr wrap="square" lIns="88900" tIns="88900" rIns="88900" bIns="88900" rtlCol="0" anchor="ctr"/>
            <a:lstStyle/>
            <a:p>
              <a:pPr algn="ctr">
                <a:lnSpc>
                  <a:spcPct val="106000"/>
                </a:lnSpc>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5" name="泪滴形 254"/>
            <p:cNvSpPr/>
            <p:nvPr/>
          </p:nvSpPr>
          <p:spPr bwMode="gray">
            <a:xfrm rot="18745209" flipH="1">
              <a:off x="9605888" y="1727333"/>
              <a:ext cx="1133254" cy="1133254"/>
            </a:xfrm>
            <a:prstGeom prst="teardrop">
              <a:avLst>
                <a:gd name="adj" fmla="val 104441"/>
              </a:avLst>
            </a:prstGeom>
            <a:noFill/>
            <a:ln w="41275" algn="ctr">
              <a:solidFill>
                <a:schemeClr val="accent5">
                  <a:lumMod val="60000"/>
                  <a:lumOff val="40000"/>
                </a:schemeClr>
              </a:solidFill>
              <a:miter lim="800000"/>
            </a:ln>
          </p:spPr>
          <p:txBody>
            <a:bodyPr wrap="square" lIns="88900" tIns="88900" rIns="88900" bIns="88900" rtlCol="0" anchor="ctr"/>
            <a:lstStyle/>
            <a:p>
              <a:pPr algn="ctr">
                <a:lnSpc>
                  <a:spcPct val="106000"/>
                </a:lnSpc>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cxnSp>
        <p:nvCxnSpPr>
          <p:cNvPr id="247" name="直接连接符 246"/>
          <p:cNvCxnSpPr/>
          <p:nvPr/>
        </p:nvCxnSpPr>
        <p:spPr>
          <a:xfrm>
            <a:off x="7270937" y="5395168"/>
            <a:ext cx="2348294" cy="0"/>
          </a:xfrm>
          <a:prstGeom prst="line">
            <a:avLst/>
          </a:prstGeom>
          <a:ln w="53975"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a:stCxn id="249" idx="2"/>
          </p:cNvCxnSpPr>
          <p:nvPr/>
        </p:nvCxnSpPr>
        <p:spPr>
          <a:xfrm flipV="1">
            <a:off x="7367600" y="3874025"/>
            <a:ext cx="2046605" cy="16510"/>
          </a:xfrm>
          <a:prstGeom prst="line">
            <a:avLst/>
          </a:prstGeom>
          <a:ln w="53975" cap="rnd">
            <a:solidFill>
              <a:schemeClr val="accent5"/>
            </a:solidFill>
          </a:ln>
        </p:spPr>
        <p:style>
          <a:lnRef idx="1">
            <a:schemeClr val="accent1"/>
          </a:lnRef>
          <a:fillRef idx="0">
            <a:schemeClr val="accent1"/>
          </a:fillRef>
          <a:effectRef idx="0">
            <a:schemeClr val="accent1"/>
          </a:effectRef>
          <a:fontRef idx="minor">
            <a:schemeClr val="tx1"/>
          </a:fontRef>
        </p:style>
      </p:cxnSp>
      <p:sp>
        <p:nvSpPr>
          <p:cNvPr id="250" name="弧形 249"/>
          <p:cNvSpPr/>
          <p:nvPr/>
        </p:nvSpPr>
        <p:spPr>
          <a:xfrm>
            <a:off x="8675955" y="3870111"/>
            <a:ext cx="1591228" cy="1541393"/>
          </a:xfrm>
          <a:prstGeom prst="arc">
            <a:avLst>
              <a:gd name="adj1" fmla="val 15865825"/>
              <a:gd name="adj2" fmla="val 4759480"/>
            </a:avLst>
          </a:prstGeom>
          <a:ln w="53975" cap="rnd">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68" name="组合 267"/>
          <p:cNvGrpSpPr/>
          <p:nvPr/>
        </p:nvGrpSpPr>
        <p:grpSpPr>
          <a:xfrm flipH="1">
            <a:off x="2543781" y="2989523"/>
            <a:ext cx="946810" cy="750853"/>
            <a:chOff x="4532945" y="3474490"/>
            <a:chExt cx="424193" cy="494713"/>
          </a:xfrm>
        </p:grpSpPr>
        <p:cxnSp>
          <p:nvCxnSpPr>
            <p:cNvPr id="269" name="直接连接符 268"/>
            <p:cNvCxnSpPr/>
            <p:nvPr/>
          </p:nvCxnSpPr>
          <p:spPr>
            <a:xfrm flipH="1" flipV="1">
              <a:off x="4532945" y="3963991"/>
              <a:ext cx="422682" cy="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0" name="直接连接符 269"/>
            <p:cNvCxnSpPr/>
            <p:nvPr/>
          </p:nvCxnSpPr>
          <p:spPr>
            <a:xfrm flipV="1">
              <a:off x="4957138" y="3474490"/>
              <a:ext cx="0" cy="49471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275" name="文本框 274"/>
          <p:cNvSpPr txBox="1"/>
          <p:nvPr/>
        </p:nvSpPr>
        <p:spPr>
          <a:xfrm>
            <a:off x="2510578" y="2894906"/>
            <a:ext cx="1348442" cy="276999"/>
          </a:xfrm>
          <a:prstGeom prst="rect">
            <a:avLst/>
          </a:prstGeom>
          <a:noFill/>
        </p:spPr>
        <p:txBody>
          <a:bodyPr wrap="square">
            <a:spAutoFit/>
          </a:bodyPr>
          <a:lstStyle/>
          <a:p>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rPr>
              <a:t>检查点#1</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82" name="文本框 281"/>
          <p:cNvSpPr txBox="1"/>
          <p:nvPr/>
        </p:nvSpPr>
        <p:spPr>
          <a:xfrm>
            <a:off x="2516018" y="3143189"/>
            <a:ext cx="1307630" cy="415498"/>
          </a:xfrm>
          <a:prstGeom prst="rect">
            <a:avLst/>
          </a:prstGeom>
          <a:noFill/>
        </p:spPr>
        <p:txBody>
          <a:bodyPr wrap="square">
            <a:spAutoFit/>
          </a:bodyPr>
          <a:lstStyle>
            <a:defPPr>
              <a:defRPr lang="zh-CN"/>
            </a:defPPr>
            <a:lvl1pPr>
              <a:defRPr sz="700" b="1"/>
            </a:lvl1pPr>
          </a:lstStyle>
          <a:p>
            <a:r>
              <a:rPr lang="zh-CN" altLang="en-US" b="0" dirty="0">
                <a:solidFill>
                  <a:schemeClr val="tx2"/>
                </a:solidFill>
                <a:latin typeface="微软雅黑" panose="020B0503020204020204" charset="-122"/>
                <a:ea typeface="微软雅黑" panose="020B0503020204020204" charset="-122"/>
                <a:cs typeface="微软雅黑" panose="020B0503020204020204" charset="-122"/>
              </a:rPr>
              <a:t>你已经定义了你的数据和人工智能策略吗？你知道你期望实现什么价值吗？</a:t>
            </a:r>
            <a:endParaRPr lang="zh-CN" altLang="en-US" b="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83" name="组合 282"/>
          <p:cNvGrpSpPr/>
          <p:nvPr/>
        </p:nvGrpSpPr>
        <p:grpSpPr>
          <a:xfrm flipH="1">
            <a:off x="1236568" y="3481304"/>
            <a:ext cx="1348443" cy="750853"/>
            <a:chOff x="4539723" y="3468118"/>
            <a:chExt cx="422682" cy="494713"/>
          </a:xfrm>
        </p:grpSpPr>
        <p:cxnSp>
          <p:nvCxnSpPr>
            <p:cNvPr id="285" name="直接连接符 284"/>
            <p:cNvCxnSpPr/>
            <p:nvPr/>
          </p:nvCxnSpPr>
          <p:spPr>
            <a:xfrm flipH="1" flipV="1">
              <a:off x="4539723" y="3962175"/>
              <a:ext cx="422682" cy="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7" name="直接连接符 286"/>
            <p:cNvCxnSpPr/>
            <p:nvPr/>
          </p:nvCxnSpPr>
          <p:spPr>
            <a:xfrm flipV="1">
              <a:off x="4962405" y="3468118"/>
              <a:ext cx="0" cy="49471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288" name="椭圆 287"/>
          <p:cNvSpPr/>
          <p:nvPr/>
        </p:nvSpPr>
        <p:spPr bwMode="gray">
          <a:xfrm>
            <a:off x="2553918" y="4180066"/>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0" name="文本框 289"/>
          <p:cNvSpPr txBox="1"/>
          <p:nvPr/>
        </p:nvSpPr>
        <p:spPr>
          <a:xfrm>
            <a:off x="1267418" y="3478128"/>
            <a:ext cx="1149294" cy="523220"/>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确定您的支持功能</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组织中谁需要参与（即风险、法律、受影响的系统）？</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92" name="组合 291"/>
          <p:cNvGrpSpPr/>
          <p:nvPr/>
        </p:nvGrpSpPr>
        <p:grpSpPr>
          <a:xfrm flipH="1" flipV="1">
            <a:off x="1463674" y="4469075"/>
            <a:ext cx="1029068" cy="308110"/>
            <a:chOff x="4539723" y="3474490"/>
            <a:chExt cx="422682" cy="494713"/>
          </a:xfrm>
        </p:grpSpPr>
        <p:cxnSp>
          <p:nvCxnSpPr>
            <p:cNvPr id="293" name="直接连接符 292"/>
            <p:cNvCxnSpPr/>
            <p:nvPr/>
          </p:nvCxnSpPr>
          <p:spPr>
            <a:xfrm flipH="1" flipV="1">
              <a:off x="4539723" y="3962175"/>
              <a:ext cx="422682" cy="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5" name="直接连接符 294"/>
            <p:cNvCxnSpPr/>
            <p:nvPr/>
          </p:nvCxnSpPr>
          <p:spPr>
            <a:xfrm flipV="1">
              <a:off x="4961702" y="3474490"/>
              <a:ext cx="0" cy="49471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291" name="椭圆 290"/>
          <p:cNvSpPr/>
          <p:nvPr/>
        </p:nvSpPr>
        <p:spPr bwMode="gray">
          <a:xfrm>
            <a:off x="2471038" y="442233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302" name="组合 301"/>
          <p:cNvGrpSpPr/>
          <p:nvPr/>
        </p:nvGrpSpPr>
        <p:grpSpPr>
          <a:xfrm flipH="1" flipV="1">
            <a:off x="1102169" y="4907249"/>
            <a:ext cx="1395333" cy="964798"/>
            <a:chOff x="4539723" y="3468792"/>
            <a:chExt cx="422682" cy="494713"/>
          </a:xfrm>
        </p:grpSpPr>
        <p:cxnSp>
          <p:nvCxnSpPr>
            <p:cNvPr id="303" name="直接连接符 302"/>
            <p:cNvCxnSpPr/>
            <p:nvPr/>
          </p:nvCxnSpPr>
          <p:spPr>
            <a:xfrm flipH="1" flipV="1">
              <a:off x="4539723" y="3962175"/>
              <a:ext cx="422682" cy="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04" name="直接连接符 303"/>
            <p:cNvCxnSpPr/>
            <p:nvPr/>
          </p:nvCxnSpPr>
          <p:spPr>
            <a:xfrm flipV="1">
              <a:off x="4961467" y="3468792"/>
              <a:ext cx="0" cy="49471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305" name="椭圆 304"/>
          <p:cNvSpPr/>
          <p:nvPr/>
        </p:nvSpPr>
        <p:spPr bwMode="gray">
          <a:xfrm>
            <a:off x="2498149" y="4851819"/>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6" name="文本框 305"/>
          <p:cNvSpPr txBox="1"/>
          <p:nvPr/>
        </p:nvSpPr>
        <p:spPr>
          <a:xfrm>
            <a:off x="1132180" y="5615664"/>
            <a:ext cx="1326156" cy="307777"/>
          </a:xfrm>
          <a:prstGeom prst="rect">
            <a:avLst/>
          </a:prstGeom>
          <a:noFill/>
        </p:spPr>
        <p:txBody>
          <a:bodyPr wrap="square">
            <a:spAutoFit/>
          </a:bodyPr>
          <a:lstStyle>
            <a:defPPr>
              <a:defRPr lang="zh-CN"/>
            </a:defPPr>
            <a:lvl1pPr>
              <a:defRPr sz="700" b="1"/>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rPr>
              <a:t>让高级解决方案架构师根据业务战略的签署来审查旅程</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1" name="文本框 310"/>
          <p:cNvSpPr txBox="1"/>
          <p:nvPr/>
        </p:nvSpPr>
        <p:spPr>
          <a:xfrm>
            <a:off x="4228281" y="4211411"/>
            <a:ext cx="913641" cy="307777"/>
          </a:xfrm>
          <a:prstGeom prst="rect">
            <a:avLst/>
          </a:prstGeom>
          <a:noFill/>
        </p:spPr>
        <p:txBody>
          <a:bodyPr wrap="square">
            <a:spAutoFit/>
          </a:bodyPr>
          <a:lstStyle/>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更新产品路线图</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以包括新功能</a:t>
            </a:r>
            <a:endParaRPr lang="zh-CN" altLang="en-US" sz="7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2" name="文本框 311"/>
          <p:cNvSpPr txBox="1"/>
          <p:nvPr/>
        </p:nvSpPr>
        <p:spPr>
          <a:xfrm>
            <a:off x="3551555" y="3781425"/>
            <a:ext cx="113030" cy="215265"/>
          </a:xfrm>
          <a:prstGeom prst="rect">
            <a:avLst/>
          </a:prstGeom>
          <a:noFill/>
        </p:spPr>
        <p:txBody>
          <a:bodyPr wrap="square" lIns="0" tIns="0" rIns="0" bIns="0" rtlCol="0">
            <a:spAutoFit/>
          </a:bodyPr>
          <a:lstStyle/>
          <a:p>
            <a:pPr>
              <a:spcBef>
                <a:spcPts val="600"/>
              </a:spcBef>
              <a:buSzPct val="100000"/>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1</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14" name="文本框 313"/>
          <p:cNvSpPr txBox="1"/>
          <p:nvPr/>
        </p:nvSpPr>
        <p:spPr>
          <a:xfrm>
            <a:off x="2772228" y="4200613"/>
            <a:ext cx="990960" cy="461665"/>
          </a:xfrm>
          <a:prstGeom prst="rect">
            <a:avLst/>
          </a:prstGeom>
          <a:noFill/>
        </p:spPr>
        <p:txBody>
          <a:bodyPr wrap="square">
            <a:spAutoFit/>
          </a:bodyPr>
          <a:lstStyle/>
          <a:p>
            <a:pPr algn="ct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冲刺0</a:t>
            </a:r>
            <a:endParaRPr lang="en-US" altLang="zh-CN" sz="1200" b="1"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2-3周</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6" name="文本框 315"/>
          <p:cNvSpPr txBox="1"/>
          <p:nvPr/>
        </p:nvSpPr>
        <p:spPr>
          <a:xfrm>
            <a:off x="2732738" y="4610507"/>
            <a:ext cx="1051838" cy="523220"/>
          </a:xfrm>
          <a:prstGeom prst="rect">
            <a:avLst/>
          </a:prstGeom>
          <a:noFill/>
        </p:spPr>
        <p:txBody>
          <a:bodyPr wrap="square">
            <a:spAutoFit/>
          </a:bodyPr>
          <a:lstStyle/>
          <a:p>
            <a:pPr algn="ctr"/>
            <a:r>
              <a:rPr lang="zh-CN" altLang="en-US" sz="800" b="1" dirty="0">
                <a:solidFill>
                  <a:schemeClr val="tx2"/>
                </a:solidFill>
                <a:latin typeface="微软雅黑" panose="020B0503020204020204" charset="-122"/>
                <a:ea typeface="微软雅黑" panose="020B0503020204020204" charset="-122"/>
                <a:cs typeface="微软雅黑" panose="020B0503020204020204" charset="-122"/>
              </a:rPr>
              <a:t>计划和创建</a:t>
            </a:r>
            <a:endParaRPr lang="en-US" altLang="zh-CN" sz="800" b="1"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800" b="1" dirty="0">
                <a:solidFill>
                  <a:schemeClr val="tx2"/>
                </a:solidFill>
                <a:latin typeface="微软雅黑" panose="020B0503020204020204" charset="-122"/>
                <a:ea typeface="微软雅黑" panose="020B0503020204020204" charset="-122"/>
                <a:cs typeface="微软雅黑" panose="020B0503020204020204" charset="-122"/>
              </a:rPr>
              <a:t>史诗和用户故事</a:t>
            </a:r>
            <a:endParaRPr lang="en-US" altLang="zh-CN" sz="800" b="1"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快速迭代版本、相关功能和史诗的高级设计</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0" name="object 121"/>
          <p:cNvSpPr/>
          <p:nvPr/>
        </p:nvSpPr>
        <p:spPr>
          <a:xfrm>
            <a:off x="3043560" y="5206901"/>
            <a:ext cx="385473" cy="445309"/>
          </a:xfrm>
          <a:custGeom>
            <a:avLst/>
            <a:gdLst/>
            <a:ahLst/>
            <a:cxnLst/>
            <a:rect l="l" t="t" r="r" b="b"/>
            <a:pathLst>
              <a:path w="601345" h="694690">
                <a:moveTo>
                  <a:pt x="300659" y="0"/>
                </a:moveTo>
                <a:lnTo>
                  <a:pt x="0" y="173583"/>
                </a:lnTo>
                <a:lnTo>
                  <a:pt x="0" y="520750"/>
                </a:lnTo>
                <a:lnTo>
                  <a:pt x="300659" y="694347"/>
                </a:lnTo>
                <a:lnTo>
                  <a:pt x="601319" y="520750"/>
                </a:lnTo>
                <a:lnTo>
                  <a:pt x="601319" y="173583"/>
                </a:lnTo>
                <a:lnTo>
                  <a:pt x="300659" y="0"/>
                </a:lnTo>
                <a:close/>
              </a:path>
            </a:pathLst>
          </a:custGeom>
          <a:solidFill>
            <a:srgbClr val="FFFFFF"/>
          </a:solidFill>
          <a:ln>
            <a:solidFill>
              <a:schemeClr val="accent1">
                <a:lumMod val="60000"/>
                <a:lumOff val="40000"/>
              </a:schemeClr>
            </a:solidFill>
          </a:ln>
        </p:spPr>
        <p:txBody>
          <a:bodyPr wrap="square" lIns="0" tIns="0" rIns="0" bIns="0" rtlCol="0"/>
          <a:lstStyle/>
          <a:p>
            <a:pPr defTabSz="586105"/>
            <a:endParaRPr sz="1155">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1" name="六边形 320"/>
          <p:cNvSpPr/>
          <p:nvPr/>
        </p:nvSpPr>
        <p:spPr bwMode="gray">
          <a:xfrm rot="5400000">
            <a:off x="3074232" y="5287293"/>
            <a:ext cx="324128" cy="284525"/>
          </a:xfrm>
          <a:prstGeom prst="hexagon">
            <a:avLst/>
          </a:prstGeom>
          <a:solidFill>
            <a:schemeClr val="accent1">
              <a:lumMod val="60000"/>
              <a:lumOff val="40000"/>
            </a:schemeClr>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2" name="文本框 321"/>
          <p:cNvSpPr txBox="1"/>
          <p:nvPr/>
        </p:nvSpPr>
        <p:spPr>
          <a:xfrm>
            <a:off x="3185000" y="5321833"/>
            <a:ext cx="102592" cy="215444"/>
          </a:xfrm>
          <a:prstGeom prst="rect">
            <a:avLst/>
          </a:prstGeom>
          <a:noFill/>
        </p:spPr>
        <p:txBody>
          <a:bodyPr wrap="none" lIns="0" tIns="0" rIns="0" bIns="0" rtlCol="0">
            <a:spAutoFit/>
          </a:bodyPr>
          <a:lstStyle/>
          <a:p>
            <a:pPr>
              <a:spcBef>
                <a:spcPts val="600"/>
              </a:spcBef>
              <a:buSzPct val="100000"/>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2</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323" name="直接连接符 322"/>
          <p:cNvCxnSpPr/>
          <p:nvPr/>
        </p:nvCxnSpPr>
        <p:spPr>
          <a:xfrm>
            <a:off x="3235258" y="5652210"/>
            <a:ext cx="0" cy="91110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5" name="文本框 324"/>
          <p:cNvSpPr txBox="1"/>
          <p:nvPr/>
        </p:nvSpPr>
        <p:spPr>
          <a:xfrm>
            <a:off x="3244220" y="5669480"/>
            <a:ext cx="1348442" cy="276999"/>
          </a:xfrm>
          <a:prstGeom prst="rect">
            <a:avLst/>
          </a:prstGeom>
          <a:noFill/>
        </p:spPr>
        <p:txBody>
          <a:bodyPr wrap="square">
            <a:spAutoFit/>
          </a:bodyPr>
          <a:lstStyle/>
          <a:p>
            <a:r>
              <a:rPr lang="zh-CN"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检查点#</a:t>
            </a:r>
            <a:r>
              <a:rPr lang="en-US" altLang="zh-CN"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a:t>
            </a:r>
            <a:endParaRPr lang="en-US" altLang="zh-CN"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26" name="文本框 325"/>
          <p:cNvSpPr txBox="1"/>
          <p:nvPr/>
        </p:nvSpPr>
        <p:spPr>
          <a:xfrm>
            <a:off x="3310756" y="5950354"/>
            <a:ext cx="1307630" cy="630942"/>
          </a:xfrm>
          <a:prstGeom prst="rect">
            <a:avLst/>
          </a:prstGeom>
          <a:noFill/>
        </p:spPr>
        <p:txBody>
          <a:bodyPr wrap="square">
            <a:spAutoFit/>
          </a:bodyPr>
          <a:lstStyle>
            <a:defPPr>
              <a:defRPr lang="zh-CN"/>
            </a:defPPr>
            <a:lvl1pPr>
              <a:defRPr sz="700" b="1"/>
            </a:lvl1pPr>
          </a:lstStyle>
          <a:p>
            <a:r>
              <a:rPr lang="zh-CN" altLang="en-US" b="0" dirty="0">
                <a:solidFill>
                  <a:schemeClr val="tx2"/>
                </a:solidFill>
                <a:latin typeface="微软雅黑" panose="020B0503020204020204" charset="-122"/>
                <a:ea typeface="微软雅黑" panose="020B0503020204020204" charset="-122"/>
                <a:cs typeface="微软雅黑" panose="020B0503020204020204" charset="-122"/>
              </a:rPr>
              <a:t>您当前使用的数据是否能够为您的用例提供预期结果？需要进行哪些调整？展望未来，您的功能是否可以扩展以支持其他用例？</a:t>
            </a:r>
            <a:endParaRPr lang="zh-CN" altLang="en-US" b="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29" name="直接连接符 328"/>
          <p:cNvCxnSpPr/>
          <p:nvPr/>
        </p:nvCxnSpPr>
        <p:spPr>
          <a:xfrm flipV="1">
            <a:off x="4876007" y="4697771"/>
            <a:ext cx="0" cy="64966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2" name="直接连接符 331"/>
          <p:cNvCxnSpPr/>
          <p:nvPr/>
        </p:nvCxnSpPr>
        <p:spPr>
          <a:xfrm>
            <a:off x="4730771" y="5453663"/>
            <a:ext cx="0" cy="81216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34" name="文本框 333"/>
          <p:cNvSpPr txBox="1"/>
          <p:nvPr/>
        </p:nvSpPr>
        <p:spPr>
          <a:xfrm>
            <a:off x="4900339" y="4686843"/>
            <a:ext cx="553900" cy="307777"/>
          </a:xfrm>
          <a:prstGeom prst="rect">
            <a:avLst/>
          </a:prstGeom>
          <a:noFill/>
        </p:spPr>
        <p:txBody>
          <a:bodyPr wrap="square">
            <a:spAutoFit/>
          </a:bodyPr>
          <a:lstStyle/>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建立产品故事</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5" name="文本框 334"/>
          <p:cNvSpPr txBox="1"/>
          <p:nvPr/>
        </p:nvSpPr>
        <p:spPr>
          <a:xfrm>
            <a:off x="4762109" y="5842888"/>
            <a:ext cx="1006979" cy="415498"/>
          </a:xfrm>
          <a:prstGeom prst="rect">
            <a:avLst/>
          </a:prstGeom>
          <a:noFill/>
        </p:spPr>
        <p:txBody>
          <a:bodyPr wrap="square">
            <a:spAutoFit/>
          </a:bodyPr>
          <a:lstStyle/>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包括设计和技术峰值。将您的资源集中在设计和实现新功能上。</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38" name="直接连接符 337"/>
          <p:cNvCxnSpPr/>
          <p:nvPr/>
        </p:nvCxnSpPr>
        <p:spPr>
          <a:xfrm flipV="1">
            <a:off x="5395861" y="4066590"/>
            <a:ext cx="0" cy="128701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2" name="object 121"/>
          <p:cNvSpPr/>
          <p:nvPr/>
        </p:nvSpPr>
        <p:spPr>
          <a:xfrm>
            <a:off x="5010388" y="5184832"/>
            <a:ext cx="385473" cy="445309"/>
          </a:xfrm>
          <a:custGeom>
            <a:avLst/>
            <a:gdLst/>
            <a:ahLst/>
            <a:cxnLst/>
            <a:rect l="l" t="t" r="r" b="b"/>
            <a:pathLst>
              <a:path w="601345" h="694690">
                <a:moveTo>
                  <a:pt x="300659" y="0"/>
                </a:moveTo>
                <a:lnTo>
                  <a:pt x="0" y="173583"/>
                </a:lnTo>
                <a:lnTo>
                  <a:pt x="0" y="520750"/>
                </a:lnTo>
                <a:lnTo>
                  <a:pt x="300659" y="694347"/>
                </a:lnTo>
                <a:lnTo>
                  <a:pt x="601319" y="520750"/>
                </a:lnTo>
                <a:lnTo>
                  <a:pt x="601319" y="173583"/>
                </a:lnTo>
                <a:lnTo>
                  <a:pt x="300659" y="0"/>
                </a:lnTo>
                <a:close/>
              </a:path>
            </a:pathLst>
          </a:custGeom>
          <a:solidFill>
            <a:srgbClr val="FFFFFF"/>
          </a:solidFill>
          <a:ln>
            <a:solidFill>
              <a:schemeClr val="accent1">
                <a:lumMod val="60000"/>
                <a:lumOff val="40000"/>
              </a:schemeClr>
            </a:solidFill>
          </a:ln>
        </p:spPr>
        <p:txBody>
          <a:bodyPr wrap="square" lIns="0" tIns="0" rIns="0" bIns="0" rtlCol="0"/>
          <a:lstStyle/>
          <a:p>
            <a:pPr defTabSz="586105"/>
            <a:endParaRPr sz="1155">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43" name="六边形 342"/>
          <p:cNvSpPr/>
          <p:nvPr/>
        </p:nvSpPr>
        <p:spPr bwMode="gray">
          <a:xfrm rot="5400000">
            <a:off x="5041060" y="5265224"/>
            <a:ext cx="324128" cy="284525"/>
          </a:xfrm>
          <a:prstGeom prst="hexagon">
            <a:avLst/>
          </a:prstGeom>
          <a:solidFill>
            <a:schemeClr val="accent1">
              <a:lumMod val="60000"/>
              <a:lumOff val="40000"/>
            </a:schemeClr>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44" name="文本框 343"/>
          <p:cNvSpPr txBox="1"/>
          <p:nvPr/>
        </p:nvSpPr>
        <p:spPr>
          <a:xfrm>
            <a:off x="5148622" y="5299764"/>
            <a:ext cx="109004" cy="215444"/>
          </a:xfrm>
          <a:prstGeom prst="rect">
            <a:avLst/>
          </a:prstGeom>
          <a:noFill/>
        </p:spPr>
        <p:txBody>
          <a:bodyPr wrap="none" lIns="0" tIns="0" rIns="0" bIns="0" rtlCol="0">
            <a:spAutoFit/>
          </a:bodyPr>
          <a:lstStyle/>
          <a:p>
            <a:pPr>
              <a:spcBef>
                <a:spcPts val="600"/>
              </a:spcBef>
              <a:buSzPct val="100000"/>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3</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45" name="文本框 344"/>
          <p:cNvSpPr txBox="1"/>
          <p:nvPr/>
        </p:nvSpPr>
        <p:spPr>
          <a:xfrm>
            <a:off x="5650888" y="4894220"/>
            <a:ext cx="553900" cy="307777"/>
          </a:xfrm>
          <a:prstGeom prst="rect">
            <a:avLst/>
          </a:prstGeom>
          <a:noFill/>
        </p:spPr>
        <p:txBody>
          <a:bodyPr wrap="square">
            <a:spAutoFit/>
          </a:bodyPr>
          <a:lstStyle/>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支持参与的功能</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46" name="文本框 345"/>
          <p:cNvSpPr txBox="1"/>
          <p:nvPr/>
        </p:nvSpPr>
        <p:spPr>
          <a:xfrm>
            <a:off x="5495764" y="3968880"/>
            <a:ext cx="1348442" cy="276999"/>
          </a:xfrm>
          <a:prstGeom prst="rect">
            <a:avLst/>
          </a:prstGeom>
          <a:noFill/>
        </p:spPr>
        <p:txBody>
          <a:bodyPr wrap="square">
            <a:spAutoFit/>
          </a:bodyPr>
          <a:lstStyle/>
          <a:p>
            <a:r>
              <a:rPr lang="zh-CN"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检查点#</a:t>
            </a:r>
            <a:r>
              <a:rPr lang="en-US" altLang="zh-CN"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3</a:t>
            </a:r>
            <a:endParaRPr lang="en-US" altLang="zh-CN"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47" name="文本框 346"/>
          <p:cNvSpPr txBox="1"/>
          <p:nvPr/>
        </p:nvSpPr>
        <p:spPr>
          <a:xfrm>
            <a:off x="5509730" y="4187143"/>
            <a:ext cx="1048553" cy="523220"/>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有什么调整吗</a:t>
            </a:r>
            <a:r>
              <a:rPr lang="en-US" altLang="zh-CN" sz="700" b="1"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700" b="1"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你需要对你的运营模式进行调整，以优化这些专家如何合作？</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48" name="文本框 347"/>
          <p:cNvSpPr txBox="1"/>
          <p:nvPr/>
        </p:nvSpPr>
        <p:spPr>
          <a:xfrm>
            <a:off x="6001284" y="5787025"/>
            <a:ext cx="1070069" cy="523220"/>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完善冲刺计划</a:t>
            </a:r>
            <a:endParaRPr lang="en-US" altLang="zh-CN" sz="700" b="1"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微调并完成用户故事、视觉设计和线框。组织</a:t>
            </a: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scrum</a:t>
            </a: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仪式</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49" name="文本框 348"/>
          <p:cNvSpPr txBox="1"/>
          <p:nvPr/>
        </p:nvSpPr>
        <p:spPr>
          <a:xfrm>
            <a:off x="6591158" y="4673439"/>
            <a:ext cx="1074380" cy="415498"/>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培训并支持业务和客户</a:t>
            </a:r>
            <a:endParaRPr lang="en-US" altLang="zh-CN" sz="700" b="1" dirty="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确保企业和客户准备好使用新功能。</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355" name="组合 354"/>
          <p:cNvGrpSpPr/>
          <p:nvPr/>
        </p:nvGrpSpPr>
        <p:grpSpPr>
          <a:xfrm>
            <a:off x="7777803" y="3681871"/>
            <a:ext cx="385473" cy="445309"/>
            <a:chOff x="7124982" y="5397739"/>
            <a:chExt cx="385473" cy="445309"/>
          </a:xfrm>
        </p:grpSpPr>
        <p:sp>
          <p:nvSpPr>
            <p:cNvPr id="356" name="object 121"/>
            <p:cNvSpPr/>
            <p:nvPr/>
          </p:nvSpPr>
          <p:spPr>
            <a:xfrm>
              <a:off x="7124982" y="5397739"/>
              <a:ext cx="385473" cy="445309"/>
            </a:xfrm>
            <a:custGeom>
              <a:avLst/>
              <a:gdLst/>
              <a:ahLst/>
              <a:cxnLst/>
              <a:rect l="l" t="t" r="r" b="b"/>
              <a:pathLst>
                <a:path w="601345" h="694690">
                  <a:moveTo>
                    <a:pt x="300659" y="0"/>
                  </a:moveTo>
                  <a:lnTo>
                    <a:pt x="0" y="173583"/>
                  </a:lnTo>
                  <a:lnTo>
                    <a:pt x="0" y="520750"/>
                  </a:lnTo>
                  <a:lnTo>
                    <a:pt x="300659" y="694347"/>
                  </a:lnTo>
                  <a:lnTo>
                    <a:pt x="601319" y="520750"/>
                  </a:lnTo>
                  <a:lnTo>
                    <a:pt x="601319" y="173583"/>
                  </a:lnTo>
                  <a:lnTo>
                    <a:pt x="300659" y="0"/>
                  </a:lnTo>
                  <a:close/>
                </a:path>
              </a:pathLst>
            </a:custGeom>
            <a:solidFill>
              <a:srgbClr val="FFFFFF"/>
            </a:solidFill>
            <a:ln>
              <a:solidFill>
                <a:schemeClr val="accent5"/>
              </a:solidFill>
            </a:ln>
          </p:spPr>
          <p:txBody>
            <a:bodyPr wrap="square" lIns="0" tIns="0" rIns="0" bIns="0" rtlCol="0"/>
            <a:lstStyle/>
            <a:p>
              <a:pPr defTabSz="586105"/>
              <a:endParaRPr sz="1155">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57" name="六边形 356"/>
            <p:cNvSpPr/>
            <p:nvPr/>
          </p:nvSpPr>
          <p:spPr bwMode="gray">
            <a:xfrm rot="5400000">
              <a:off x="7155654" y="5478131"/>
              <a:ext cx="324128" cy="284525"/>
            </a:xfrm>
            <a:prstGeom prst="hexagon">
              <a:avLst/>
            </a:prstGeom>
            <a:solidFill>
              <a:schemeClr val="accent5"/>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58" name="文本框 357"/>
            <p:cNvSpPr txBox="1"/>
            <p:nvPr/>
          </p:nvSpPr>
          <p:spPr>
            <a:xfrm>
              <a:off x="7256804" y="5512671"/>
              <a:ext cx="117020" cy="215444"/>
            </a:xfrm>
            <a:prstGeom prst="rect">
              <a:avLst/>
            </a:prstGeom>
            <a:noFill/>
          </p:spPr>
          <p:txBody>
            <a:bodyPr wrap="none" lIns="0" tIns="0" rIns="0" bIns="0" rtlCol="0">
              <a:spAutoFit/>
            </a:bodyPr>
            <a:lstStyle/>
            <a:p>
              <a:pPr>
                <a:spcBef>
                  <a:spcPts val="600"/>
                </a:spcBef>
                <a:buSzPct val="100000"/>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5</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360" name="object 121"/>
          <p:cNvSpPr/>
          <p:nvPr/>
        </p:nvSpPr>
        <p:spPr>
          <a:xfrm>
            <a:off x="6358637" y="2199195"/>
            <a:ext cx="385473" cy="445309"/>
          </a:xfrm>
          <a:custGeom>
            <a:avLst/>
            <a:gdLst/>
            <a:ahLst/>
            <a:cxnLst/>
            <a:rect l="l" t="t" r="r" b="b"/>
            <a:pathLst>
              <a:path w="601345" h="694690">
                <a:moveTo>
                  <a:pt x="300659" y="0"/>
                </a:moveTo>
                <a:lnTo>
                  <a:pt x="0" y="173583"/>
                </a:lnTo>
                <a:lnTo>
                  <a:pt x="0" y="520750"/>
                </a:lnTo>
                <a:lnTo>
                  <a:pt x="300659" y="694347"/>
                </a:lnTo>
                <a:lnTo>
                  <a:pt x="601319" y="520750"/>
                </a:lnTo>
                <a:lnTo>
                  <a:pt x="601319" y="173583"/>
                </a:lnTo>
                <a:lnTo>
                  <a:pt x="300659" y="0"/>
                </a:lnTo>
                <a:close/>
              </a:path>
            </a:pathLst>
          </a:custGeom>
          <a:solidFill>
            <a:srgbClr val="FFFFFF"/>
          </a:solidFill>
          <a:ln>
            <a:solidFill>
              <a:schemeClr val="accent6"/>
            </a:solidFill>
          </a:ln>
        </p:spPr>
        <p:txBody>
          <a:bodyPr wrap="square" lIns="0" tIns="0" rIns="0" bIns="0" rtlCol="0"/>
          <a:lstStyle/>
          <a:p>
            <a:pPr algn="ctr" defTabSz="586105"/>
            <a:endParaRPr sz="1155">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61" name="六边形 360"/>
          <p:cNvSpPr/>
          <p:nvPr/>
        </p:nvSpPr>
        <p:spPr bwMode="gray">
          <a:xfrm rot="5400000">
            <a:off x="6389309" y="2279587"/>
            <a:ext cx="324128" cy="284525"/>
          </a:xfrm>
          <a:prstGeom prst="hexagon">
            <a:avLst/>
          </a:prstGeom>
          <a:solidFill>
            <a:schemeClr val="accent6"/>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62" name="文本框 361"/>
          <p:cNvSpPr txBox="1"/>
          <p:nvPr/>
        </p:nvSpPr>
        <p:spPr>
          <a:xfrm>
            <a:off x="6427942" y="2314127"/>
            <a:ext cx="246862" cy="215444"/>
          </a:xfrm>
          <a:prstGeom prst="rect">
            <a:avLst/>
          </a:prstGeom>
          <a:noFill/>
        </p:spPr>
        <p:txBody>
          <a:bodyPr wrap="square" lIns="0" tIns="0" rIns="0" bIns="0" rtlCol="0">
            <a:spAutoFit/>
          </a:bodyPr>
          <a:lstStyle/>
          <a:p>
            <a:pPr algn="ctr">
              <a:spcBef>
                <a:spcPts val="600"/>
              </a:spcBef>
              <a:buSzPct val="100000"/>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6</a:t>
            </a:r>
            <a:r>
              <a:rPr lang="en-US" altLang="zh-CN" sz="1100" dirty="0">
                <a:solidFill>
                  <a:schemeClr val="bg1"/>
                </a:solidFill>
                <a:latin typeface="微软雅黑" panose="020B0503020204020204" charset="-122"/>
                <a:ea typeface="微软雅黑" panose="020B0503020204020204" charset="-122"/>
                <a:cs typeface="微软雅黑" panose="020B0503020204020204" charset="-122"/>
              </a:rPr>
              <a:t>B</a:t>
            </a:r>
            <a:endParaRPr lang="en-US" altLang="zh-CN" sz="11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372" name="直接连接符 371"/>
          <p:cNvCxnSpPr/>
          <p:nvPr/>
        </p:nvCxnSpPr>
        <p:spPr>
          <a:xfrm>
            <a:off x="7317718" y="5508850"/>
            <a:ext cx="0" cy="916057"/>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54" name="组合 353"/>
          <p:cNvGrpSpPr/>
          <p:nvPr/>
        </p:nvGrpSpPr>
        <p:grpSpPr>
          <a:xfrm>
            <a:off x="7124982" y="5185604"/>
            <a:ext cx="385473" cy="445309"/>
            <a:chOff x="7124982" y="5397739"/>
            <a:chExt cx="385473" cy="445309"/>
          </a:xfrm>
        </p:grpSpPr>
        <p:sp>
          <p:nvSpPr>
            <p:cNvPr id="351" name="object 121"/>
            <p:cNvSpPr/>
            <p:nvPr/>
          </p:nvSpPr>
          <p:spPr>
            <a:xfrm>
              <a:off x="7124982" y="5397739"/>
              <a:ext cx="385473" cy="445309"/>
            </a:xfrm>
            <a:custGeom>
              <a:avLst/>
              <a:gdLst/>
              <a:ahLst/>
              <a:cxnLst/>
              <a:rect l="l" t="t" r="r" b="b"/>
              <a:pathLst>
                <a:path w="601345" h="694690">
                  <a:moveTo>
                    <a:pt x="300659" y="0"/>
                  </a:moveTo>
                  <a:lnTo>
                    <a:pt x="0" y="173583"/>
                  </a:lnTo>
                  <a:lnTo>
                    <a:pt x="0" y="520750"/>
                  </a:lnTo>
                  <a:lnTo>
                    <a:pt x="300659" y="694347"/>
                  </a:lnTo>
                  <a:lnTo>
                    <a:pt x="601319" y="520750"/>
                  </a:lnTo>
                  <a:lnTo>
                    <a:pt x="601319" y="173583"/>
                  </a:lnTo>
                  <a:lnTo>
                    <a:pt x="300659" y="0"/>
                  </a:lnTo>
                  <a:close/>
                </a:path>
              </a:pathLst>
            </a:custGeom>
            <a:solidFill>
              <a:srgbClr val="FFFFFF"/>
            </a:solidFill>
            <a:ln>
              <a:solidFill>
                <a:schemeClr val="accent5"/>
              </a:solidFill>
            </a:ln>
          </p:spPr>
          <p:txBody>
            <a:bodyPr wrap="square" lIns="0" tIns="0" rIns="0" bIns="0" rtlCol="0"/>
            <a:lstStyle/>
            <a:p>
              <a:pPr defTabSz="586105"/>
              <a:endParaRPr sz="1155">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52" name="六边形 351"/>
            <p:cNvSpPr/>
            <p:nvPr/>
          </p:nvSpPr>
          <p:spPr bwMode="gray">
            <a:xfrm rot="5400000">
              <a:off x="7155654" y="5478131"/>
              <a:ext cx="324128" cy="284525"/>
            </a:xfrm>
            <a:prstGeom prst="hexagon">
              <a:avLst/>
            </a:prstGeom>
            <a:solidFill>
              <a:schemeClr val="accent5"/>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53" name="文本框 352"/>
            <p:cNvSpPr txBox="1"/>
            <p:nvPr/>
          </p:nvSpPr>
          <p:spPr>
            <a:xfrm>
              <a:off x="7256804" y="5512671"/>
              <a:ext cx="121828" cy="215444"/>
            </a:xfrm>
            <a:prstGeom prst="rect">
              <a:avLst/>
            </a:prstGeom>
            <a:noFill/>
          </p:spPr>
          <p:txBody>
            <a:bodyPr wrap="none" lIns="0" tIns="0" rIns="0" bIns="0" rtlCol="0">
              <a:spAutoFit/>
            </a:bodyPr>
            <a:lstStyle/>
            <a:p>
              <a:pPr>
                <a:spcBef>
                  <a:spcPts val="600"/>
                </a:spcBef>
                <a:buSzPct val="100000"/>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4</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373" name="文本框 372"/>
          <p:cNvSpPr txBox="1"/>
          <p:nvPr/>
        </p:nvSpPr>
        <p:spPr>
          <a:xfrm>
            <a:off x="7337006" y="5683424"/>
            <a:ext cx="1348442" cy="276999"/>
          </a:xfrm>
          <a:prstGeom prst="rect">
            <a:avLst/>
          </a:prstGeom>
          <a:noFill/>
        </p:spPr>
        <p:txBody>
          <a:bodyPr wrap="square">
            <a:spAutoFit/>
          </a:bodyPr>
          <a:lstStyle/>
          <a:p>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检查点#</a:t>
            </a:r>
            <a:r>
              <a:rPr lang="en-US" altLang="zh-CN" sz="1200" b="1" dirty="0">
                <a:solidFill>
                  <a:schemeClr val="accent5"/>
                </a:solidFill>
                <a:latin typeface="微软雅黑" panose="020B0503020204020204" charset="-122"/>
                <a:ea typeface="微软雅黑" panose="020B0503020204020204" charset="-122"/>
                <a:cs typeface="微软雅黑" panose="020B0503020204020204" charset="-122"/>
              </a:rPr>
              <a:t>4</a:t>
            </a:r>
            <a:endParaRPr lang="en-US" altLang="zh-CN"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377" name="直接连接符 376"/>
          <p:cNvCxnSpPr/>
          <p:nvPr/>
        </p:nvCxnSpPr>
        <p:spPr>
          <a:xfrm>
            <a:off x="9615662" y="5449955"/>
            <a:ext cx="0" cy="53585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9" name="文本框 378"/>
          <p:cNvSpPr txBox="1"/>
          <p:nvPr/>
        </p:nvSpPr>
        <p:spPr>
          <a:xfrm>
            <a:off x="9571644" y="5594447"/>
            <a:ext cx="1391077" cy="307777"/>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定义和分析非功能性需求（</a:t>
            </a:r>
            <a:r>
              <a:rPr lang="en-US" altLang="zh-CN" sz="700" b="1" dirty="0">
                <a:solidFill>
                  <a:schemeClr val="tx2"/>
                </a:solidFill>
                <a:latin typeface="微软雅黑" panose="020B0503020204020204" charset="-122"/>
                <a:ea typeface="微软雅黑" panose="020B0503020204020204" charset="-122"/>
                <a:cs typeface="微软雅黑" panose="020B0503020204020204" charset="-122"/>
              </a:rPr>
              <a:t>NFR</a:t>
            </a:r>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700" b="1"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82" name="直接连接符 381"/>
          <p:cNvCxnSpPr/>
          <p:nvPr/>
        </p:nvCxnSpPr>
        <p:spPr>
          <a:xfrm>
            <a:off x="10224739" y="4939683"/>
            <a:ext cx="0" cy="45548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4" name="文本框 383"/>
          <p:cNvSpPr txBox="1"/>
          <p:nvPr/>
        </p:nvSpPr>
        <p:spPr>
          <a:xfrm>
            <a:off x="10252342" y="5102950"/>
            <a:ext cx="1391077" cy="307777"/>
          </a:xfrm>
          <a:prstGeom prst="rect">
            <a:avLst/>
          </a:prstGeom>
          <a:noFill/>
        </p:spPr>
        <p:txBody>
          <a:bodyPr wrap="square">
            <a:spAutoFit/>
          </a:bodyPr>
          <a:lstStyle/>
          <a:p>
            <a:r>
              <a:rPr lang="zh-CN" altLang="en-US" sz="700" b="1" dirty="0">
                <a:solidFill>
                  <a:schemeClr val="tx2"/>
                </a:solidFill>
                <a:latin typeface="微软雅黑" panose="020B0503020204020204" charset="-122"/>
                <a:ea typeface="微软雅黑" panose="020B0503020204020204" charset="-122"/>
                <a:cs typeface="微软雅黑" panose="020B0503020204020204" charset="-122"/>
              </a:rPr>
              <a:t>从架构师、设计工作组等处获得解决方案设计批准</a:t>
            </a:r>
            <a:endParaRPr lang="zh-CN" altLang="en-US" sz="7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85" name="文本框 384"/>
          <p:cNvSpPr txBox="1"/>
          <p:nvPr/>
        </p:nvSpPr>
        <p:spPr>
          <a:xfrm>
            <a:off x="8223922" y="4212599"/>
            <a:ext cx="990960" cy="461665"/>
          </a:xfrm>
          <a:prstGeom prst="rect">
            <a:avLst/>
          </a:prstGeom>
          <a:noFill/>
        </p:spPr>
        <p:txBody>
          <a:bodyPr wrap="square">
            <a:spAutoFit/>
          </a:bodyPr>
          <a:lstStyle/>
          <a:p>
            <a:pPr algn="ct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交付</a:t>
            </a:r>
            <a:endParaRPr lang="en-US" altLang="zh-CN" sz="1200" b="1"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冲刺</a:t>
            </a:r>
            <a:r>
              <a:rPr lang="en-US" altLang="zh-CN" sz="1200" dirty="0">
                <a:solidFill>
                  <a:schemeClr val="tx2"/>
                </a:solidFill>
                <a:latin typeface="微软雅黑" panose="020B0503020204020204" charset="-122"/>
                <a:ea typeface="微软雅黑" panose="020B0503020204020204" charset="-122"/>
                <a:cs typeface="微软雅黑" panose="020B0503020204020204" charset="-122"/>
              </a:rPr>
              <a:t>1-N</a:t>
            </a:r>
            <a:endParaRPr lang="en-US" altLang="zh-CN"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86" name="文本框 385"/>
          <p:cNvSpPr txBox="1"/>
          <p:nvPr/>
        </p:nvSpPr>
        <p:spPr>
          <a:xfrm>
            <a:off x="8173688" y="4609720"/>
            <a:ext cx="1051838" cy="523220"/>
          </a:xfrm>
          <a:prstGeom prst="rect">
            <a:avLst/>
          </a:prstGeom>
          <a:noFill/>
        </p:spPr>
        <p:txBody>
          <a:bodyPr wrap="square">
            <a:spAutoFit/>
          </a:bodyPr>
          <a:lstStyle/>
          <a:p>
            <a:pPr algn="ctr"/>
            <a:r>
              <a:rPr lang="zh-CN" altLang="en-US" sz="800" b="1" dirty="0">
                <a:solidFill>
                  <a:schemeClr val="tx2"/>
                </a:solidFill>
                <a:latin typeface="微软雅黑" panose="020B0503020204020204" charset="-122"/>
                <a:ea typeface="微软雅黑" panose="020B0503020204020204" charset="-122"/>
                <a:cs typeface="微软雅黑" panose="020B0503020204020204" charset="-122"/>
              </a:rPr>
              <a:t>交付史诗和</a:t>
            </a:r>
            <a:endParaRPr lang="en-US" altLang="zh-CN" sz="800" b="1"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800" b="1" dirty="0">
                <a:solidFill>
                  <a:schemeClr val="tx2"/>
                </a:solidFill>
                <a:latin typeface="微软雅黑" panose="020B0503020204020204" charset="-122"/>
                <a:ea typeface="微软雅黑" panose="020B0503020204020204" charset="-122"/>
                <a:cs typeface="微软雅黑" panose="020B0503020204020204" charset="-122"/>
              </a:rPr>
              <a:t>用户故事</a:t>
            </a:r>
            <a:endParaRPr lang="en-US" altLang="zh-CN" sz="800" b="1"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详细迭代史诗和用户故事，并开始开发创建产品</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390" name="组合 389"/>
          <p:cNvGrpSpPr/>
          <p:nvPr/>
        </p:nvGrpSpPr>
        <p:grpSpPr>
          <a:xfrm>
            <a:off x="10004845" y="4295561"/>
            <a:ext cx="662253" cy="253668"/>
            <a:chOff x="1899863" y="5266644"/>
            <a:chExt cx="973874" cy="237914"/>
          </a:xfrm>
        </p:grpSpPr>
        <p:sp>
          <p:nvSpPr>
            <p:cNvPr id="393" name="矩形 392"/>
            <p:cNvSpPr/>
            <p:nvPr/>
          </p:nvSpPr>
          <p:spPr bwMode="gray">
            <a:xfrm>
              <a:off x="1899863" y="5288772"/>
              <a:ext cx="973865" cy="199800"/>
            </a:xfrm>
            <a:prstGeom prst="rect">
              <a:avLst/>
            </a:prstGeom>
            <a:solidFill>
              <a:schemeClr val="bg1"/>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r>
                <a:rPr lang="zh-CN" altLang="en-US" sz="1000" b="1" dirty="0">
                  <a:solidFill>
                    <a:schemeClr val="accent5"/>
                  </a:solidFill>
                  <a:latin typeface="微软雅黑" panose="020B0503020204020204" charset="-122"/>
                  <a:ea typeface="微软雅黑" panose="020B0503020204020204" charset="-122"/>
                  <a:cs typeface="微软雅黑" panose="020B0503020204020204" charset="-122"/>
                </a:rPr>
                <a:t>治理</a:t>
              </a:r>
              <a:endParaRPr lang="zh-CN" altLang="en-US" sz="1000" b="1"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392" name="直接连接符 391"/>
            <p:cNvCxnSpPr/>
            <p:nvPr/>
          </p:nvCxnSpPr>
          <p:spPr>
            <a:xfrm>
              <a:off x="1899872" y="5504558"/>
              <a:ext cx="973865" cy="0"/>
            </a:xfrm>
            <a:prstGeom prst="line">
              <a:avLst/>
            </a:prstGeom>
            <a:ln w="53975" cap="sq">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91" name="直接连接符 390"/>
            <p:cNvCxnSpPr/>
            <p:nvPr/>
          </p:nvCxnSpPr>
          <p:spPr>
            <a:xfrm>
              <a:off x="1899872" y="5266644"/>
              <a:ext cx="973865" cy="0"/>
            </a:xfrm>
            <a:prstGeom prst="line">
              <a:avLst/>
            </a:prstGeom>
            <a:ln w="53975" cap="sq">
              <a:solidFill>
                <a:schemeClr val="accent5"/>
              </a:solidFill>
            </a:ln>
          </p:spPr>
          <p:style>
            <a:lnRef idx="1">
              <a:schemeClr val="accent1"/>
            </a:lnRef>
            <a:fillRef idx="0">
              <a:schemeClr val="accent1"/>
            </a:fillRef>
            <a:effectRef idx="0">
              <a:schemeClr val="accent1"/>
            </a:effectRef>
            <a:fontRef idx="minor">
              <a:schemeClr val="tx1"/>
            </a:fontRef>
          </p:style>
        </p:cxnSp>
      </p:grpSp>
      <p:cxnSp>
        <p:nvCxnSpPr>
          <p:cNvPr id="396" name="直接连接符 395"/>
          <p:cNvCxnSpPr/>
          <p:nvPr/>
        </p:nvCxnSpPr>
        <p:spPr>
          <a:xfrm flipV="1">
            <a:off x="10098692" y="3666401"/>
            <a:ext cx="0" cy="44904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9" name="直接连接符 398"/>
          <p:cNvCxnSpPr/>
          <p:nvPr/>
        </p:nvCxnSpPr>
        <p:spPr>
          <a:xfrm>
            <a:off x="8161267" y="3221629"/>
            <a:ext cx="0" cy="56446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3" name="直接连接符 402"/>
          <p:cNvCxnSpPr/>
          <p:nvPr/>
        </p:nvCxnSpPr>
        <p:spPr>
          <a:xfrm flipH="1">
            <a:off x="7612439" y="2651599"/>
            <a:ext cx="699131" cy="0"/>
          </a:xfrm>
          <a:prstGeom prst="line">
            <a:avLst/>
          </a:prstGeom>
          <a:ln w="50800" cap="rnd">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64" name="object 121"/>
          <p:cNvSpPr/>
          <p:nvPr/>
        </p:nvSpPr>
        <p:spPr>
          <a:xfrm>
            <a:off x="8308929" y="2431558"/>
            <a:ext cx="385473" cy="445309"/>
          </a:xfrm>
          <a:custGeom>
            <a:avLst/>
            <a:gdLst/>
            <a:ahLst/>
            <a:cxnLst/>
            <a:rect l="l" t="t" r="r" b="b"/>
            <a:pathLst>
              <a:path w="601345" h="694690">
                <a:moveTo>
                  <a:pt x="300659" y="0"/>
                </a:moveTo>
                <a:lnTo>
                  <a:pt x="0" y="173583"/>
                </a:lnTo>
                <a:lnTo>
                  <a:pt x="0" y="520750"/>
                </a:lnTo>
                <a:lnTo>
                  <a:pt x="300659" y="694347"/>
                </a:lnTo>
                <a:lnTo>
                  <a:pt x="601319" y="520750"/>
                </a:lnTo>
                <a:lnTo>
                  <a:pt x="601319" y="173583"/>
                </a:lnTo>
                <a:lnTo>
                  <a:pt x="300659" y="0"/>
                </a:lnTo>
                <a:close/>
              </a:path>
            </a:pathLst>
          </a:custGeom>
          <a:solidFill>
            <a:srgbClr val="FFFFFF"/>
          </a:solidFill>
          <a:ln>
            <a:solidFill>
              <a:schemeClr val="accent5">
                <a:lumMod val="60000"/>
                <a:lumOff val="40000"/>
              </a:schemeClr>
            </a:solidFill>
          </a:ln>
        </p:spPr>
        <p:txBody>
          <a:bodyPr wrap="square" lIns="0" tIns="0" rIns="0" bIns="0" rtlCol="0"/>
          <a:lstStyle/>
          <a:p>
            <a:pPr algn="ctr" defTabSz="586105"/>
            <a:endParaRPr sz="1155">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65" name="六边形 364"/>
          <p:cNvSpPr/>
          <p:nvPr/>
        </p:nvSpPr>
        <p:spPr bwMode="gray">
          <a:xfrm rot="5400000">
            <a:off x="8339601" y="2511950"/>
            <a:ext cx="324128" cy="284525"/>
          </a:xfrm>
          <a:prstGeom prst="hexagon">
            <a:avLst/>
          </a:prstGeom>
          <a:solidFill>
            <a:schemeClr val="accent5">
              <a:lumMod val="60000"/>
              <a:lumOff val="40000"/>
            </a:schemeClr>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66" name="文本框 365"/>
          <p:cNvSpPr txBox="1"/>
          <p:nvPr/>
        </p:nvSpPr>
        <p:spPr>
          <a:xfrm>
            <a:off x="8378234" y="2546490"/>
            <a:ext cx="246862" cy="215444"/>
          </a:xfrm>
          <a:prstGeom prst="rect">
            <a:avLst/>
          </a:prstGeom>
          <a:noFill/>
        </p:spPr>
        <p:txBody>
          <a:bodyPr wrap="square" lIns="0" tIns="0" rIns="0" bIns="0" rtlCol="0">
            <a:spAutoFit/>
          </a:bodyPr>
          <a:lstStyle/>
          <a:p>
            <a:pPr algn="ctr">
              <a:spcBef>
                <a:spcPts val="600"/>
              </a:spcBef>
              <a:buSzPct val="100000"/>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rPr>
              <a:t>6</a:t>
            </a:r>
            <a:r>
              <a:rPr lang="en-US" altLang="zh-CN" sz="1100" dirty="0">
                <a:solidFill>
                  <a:schemeClr val="bg1"/>
                </a:solidFill>
                <a:latin typeface="微软雅黑" panose="020B0503020204020204" charset="-122"/>
                <a:ea typeface="微软雅黑" panose="020B0503020204020204" charset="-122"/>
                <a:cs typeface="微软雅黑" panose="020B0503020204020204" charset="-122"/>
              </a:rPr>
              <a:t>A</a:t>
            </a:r>
            <a:endParaRPr lang="en-US" altLang="zh-CN" sz="11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06" name="等腰三角形 405"/>
          <p:cNvSpPr/>
          <p:nvPr/>
        </p:nvSpPr>
        <p:spPr bwMode="gray">
          <a:xfrm rot="5400000">
            <a:off x="7535545" y="2584450"/>
            <a:ext cx="134620" cy="115570"/>
          </a:xfrm>
          <a:prstGeom prst="triangle">
            <a:avLst/>
          </a:prstGeom>
          <a:solidFill>
            <a:schemeClr val="accent5">
              <a:lumMod val="60000"/>
              <a:lumOff val="40000"/>
            </a:schemeClr>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13" name="组合 412"/>
          <p:cNvGrpSpPr/>
          <p:nvPr/>
        </p:nvGrpSpPr>
        <p:grpSpPr>
          <a:xfrm flipH="1">
            <a:off x="8485467" y="2880540"/>
            <a:ext cx="1243964" cy="161235"/>
            <a:chOff x="4539747" y="3474490"/>
            <a:chExt cx="419871" cy="494713"/>
          </a:xfrm>
        </p:grpSpPr>
        <p:cxnSp>
          <p:nvCxnSpPr>
            <p:cNvPr id="414" name="直接连接符 413"/>
            <p:cNvCxnSpPr/>
            <p:nvPr/>
          </p:nvCxnSpPr>
          <p:spPr>
            <a:xfrm flipH="1">
              <a:off x="4539747" y="3962176"/>
              <a:ext cx="419871"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15" name="直接连接符 414"/>
            <p:cNvCxnSpPr/>
            <p:nvPr/>
          </p:nvCxnSpPr>
          <p:spPr>
            <a:xfrm flipV="1">
              <a:off x="4957138" y="3474490"/>
              <a:ext cx="0" cy="49471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416" name="文本框 415"/>
          <p:cNvSpPr txBox="1"/>
          <p:nvPr/>
        </p:nvSpPr>
        <p:spPr>
          <a:xfrm>
            <a:off x="9750013" y="2858354"/>
            <a:ext cx="1348442" cy="276999"/>
          </a:xfrm>
          <a:prstGeom prst="rect">
            <a:avLst/>
          </a:prstGeom>
          <a:noFill/>
        </p:spPr>
        <p:txBody>
          <a:bodyPr wrap="square">
            <a:spAutoFit/>
          </a:bodyPr>
          <a:lstStyle/>
          <a:p>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检查点#</a:t>
            </a:r>
            <a:r>
              <a:rPr lang="en-US" altLang="zh-CN"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6A</a:t>
            </a:r>
            <a:endParaRPr lang="en-US" altLang="zh-CN"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17" name="文本框 416"/>
          <p:cNvSpPr txBox="1"/>
          <p:nvPr/>
        </p:nvSpPr>
        <p:spPr>
          <a:xfrm>
            <a:off x="9765114" y="3082310"/>
            <a:ext cx="1391077" cy="415498"/>
          </a:xfrm>
          <a:prstGeom prst="rect">
            <a:avLst/>
          </a:prstGeom>
          <a:noFill/>
        </p:spPr>
        <p:txBody>
          <a:bodyPr wrap="square">
            <a:spAutoFit/>
          </a:bodyPr>
          <a:lstStyle/>
          <a:p>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您是否实现了预期或预期的价值？你是怎么测量的？是否需要进行优化以实现最大化？</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23" name="组合 422"/>
          <p:cNvGrpSpPr/>
          <p:nvPr/>
        </p:nvGrpSpPr>
        <p:grpSpPr>
          <a:xfrm flipH="1">
            <a:off x="5657207" y="2455610"/>
            <a:ext cx="733109" cy="455866"/>
            <a:chOff x="4539723" y="3472767"/>
            <a:chExt cx="422682" cy="494713"/>
          </a:xfrm>
        </p:grpSpPr>
        <p:cxnSp>
          <p:nvCxnSpPr>
            <p:cNvPr id="424" name="直接连接符 423"/>
            <p:cNvCxnSpPr/>
            <p:nvPr/>
          </p:nvCxnSpPr>
          <p:spPr>
            <a:xfrm flipH="1" flipV="1">
              <a:off x="4539723" y="3962175"/>
              <a:ext cx="422682" cy="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4960800" y="3472767"/>
              <a:ext cx="0" cy="49471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432" name="文本框 431"/>
          <p:cNvSpPr txBox="1"/>
          <p:nvPr/>
        </p:nvSpPr>
        <p:spPr>
          <a:xfrm>
            <a:off x="6381367" y="928254"/>
            <a:ext cx="1348442" cy="276999"/>
          </a:xfrm>
          <a:prstGeom prst="rect">
            <a:avLst/>
          </a:prstGeom>
          <a:noFill/>
        </p:spPr>
        <p:txBody>
          <a:bodyPr wrap="square">
            <a:spAutoFit/>
          </a:bodyPr>
          <a:lstStyle/>
          <a:p>
            <a:r>
              <a:rPr lang="zh-CN" altLang="en-US" sz="1200" b="1" dirty="0">
                <a:solidFill>
                  <a:schemeClr val="accent6"/>
                </a:solidFill>
                <a:latin typeface="+mj-ea"/>
                <a:ea typeface="+mj-ea"/>
                <a:cs typeface="微软雅黑" panose="020B0503020204020204" charset="-122"/>
              </a:rPr>
              <a:t>检查点#</a:t>
            </a:r>
            <a:r>
              <a:rPr lang="en-US" altLang="zh-CN" sz="1200" b="1" dirty="0">
                <a:solidFill>
                  <a:schemeClr val="accent6"/>
                </a:solidFill>
                <a:latin typeface="+mj-ea"/>
                <a:ea typeface="+mj-ea"/>
                <a:cs typeface="微软雅黑" panose="020B0503020204020204" charset="-122"/>
              </a:rPr>
              <a:t>6B</a:t>
            </a:r>
            <a:endParaRPr lang="en-US" altLang="zh-CN" sz="1200" b="1" dirty="0">
              <a:solidFill>
                <a:schemeClr val="accent6"/>
              </a:solidFill>
              <a:latin typeface="+mj-ea"/>
              <a:ea typeface="+mj-ea"/>
              <a:cs typeface="微软雅黑" panose="020B0503020204020204" charset="-122"/>
            </a:endParaRPr>
          </a:p>
        </p:txBody>
      </p:sp>
      <p:sp>
        <p:nvSpPr>
          <p:cNvPr id="435" name="等腰三角形 434"/>
          <p:cNvSpPr/>
          <p:nvPr/>
        </p:nvSpPr>
        <p:spPr bwMode="gray">
          <a:xfrm rot="3536722">
            <a:off x="7015998" y="1834816"/>
            <a:ext cx="86195" cy="74306"/>
          </a:xfrm>
          <a:prstGeom prst="triangle">
            <a:avLst/>
          </a:prstGeom>
          <a:solidFill>
            <a:schemeClr val="accent6"/>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6" name="等腰三角形 435"/>
          <p:cNvSpPr/>
          <p:nvPr/>
        </p:nvSpPr>
        <p:spPr bwMode="gray">
          <a:xfrm rot="4993202">
            <a:off x="7291208" y="1744154"/>
            <a:ext cx="86195" cy="74306"/>
          </a:xfrm>
          <a:prstGeom prst="triangle">
            <a:avLst/>
          </a:prstGeom>
          <a:solidFill>
            <a:schemeClr val="accent6"/>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7" name="等腰三角形 436"/>
          <p:cNvSpPr/>
          <p:nvPr/>
        </p:nvSpPr>
        <p:spPr bwMode="gray">
          <a:xfrm rot="5611188">
            <a:off x="7538442" y="1728895"/>
            <a:ext cx="86195" cy="68219"/>
          </a:xfrm>
          <a:prstGeom prst="triangle">
            <a:avLst/>
          </a:prstGeom>
          <a:solidFill>
            <a:schemeClr val="accent6"/>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32" name="组合 231"/>
          <p:cNvGrpSpPr/>
          <p:nvPr/>
        </p:nvGrpSpPr>
        <p:grpSpPr>
          <a:xfrm flipH="1" flipV="1">
            <a:off x="7969296" y="3913212"/>
            <a:ext cx="1532302" cy="1490371"/>
            <a:chOff x="2532031" y="4106703"/>
            <a:chExt cx="1532302" cy="1490371"/>
          </a:xfrm>
        </p:grpSpPr>
        <p:sp>
          <p:nvSpPr>
            <p:cNvPr id="233" name="弧形 232"/>
            <p:cNvSpPr/>
            <p:nvPr/>
          </p:nvSpPr>
          <p:spPr>
            <a:xfrm>
              <a:off x="2532031" y="4106703"/>
              <a:ext cx="1490371" cy="1490371"/>
            </a:xfrm>
            <a:prstGeom prst="arc">
              <a:avLst>
                <a:gd name="adj1" fmla="val 17506889"/>
                <a:gd name="adj2" fmla="val 4926171"/>
              </a:avLst>
            </a:prstGeom>
            <a:ln>
              <a:solidFill>
                <a:schemeClr val="accent6"/>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4" name="等腰三角形 233"/>
            <p:cNvSpPr/>
            <p:nvPr/>
          </p:nvSpPr>
          <p:spPr bwMode="gray">
            <a:xfrm rot="18986560">
              <a:off x="3763210" y="4297178"/>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7" name="等腰三角形 236"/>
            <p:cNvSpPr/>
            <p:nvPr/>
          </p:nvSpPr>
          <p:spPr bwMode="gray">
            <a:xfrm rot="20289502">
              <a:off x="3923060" y="4563431"/>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0" name="等腰三角形 239"/>
            <p:cNvSpPr/>
            <p:nvPr/>
          </p:nvSpPr>
          <p:spPr bwMode="gray">
            <a:xfrm rot="240098">
              <a:off x="3960379" y="4884327"/>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3" name="等腰三角形 242"/>
            <p:cNvSpPr/>
            <p:nvPr/>
          </p:nvSpPr>
          <p:spPr bwMode="gray">
            <a:xfrm rot="1731429">
              <a:off x="3877863" y="5182854"/>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4" name="等腰三角形 243"/>
            <p:cNvSpPr/>
            <p:nvPr/>
          </p:nvSpPr>
          <p:spPr bwMode="gray">
            <a:xfrm rot="3303579">
              <a:off x="3670082" y="5414488"/>
              <a:ext cx="103954" cy="84274"/>
            </a:xfrm>
            <a:prstGeom prst="triangle">
              <a:avLst/>
            </a:prstGeom>
            <a:solidFill>
              <a:schemeClr val="bg1"/>
            </a:solidFill>
            <a:ln w="9525"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426" name="椭圆 425"/>
          <p:cNvSpPr/>
          <p:nvPr/>
        </p:nvSpPr>
        <p:spPr bwMode="gray">
          <a:xfrm>
            <a:off x="6390963" y="2854586"/>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46" name="组合 445"/>
          <p:cNvGrpSpPr/>
          <p:nvPr/>
        </p:nvGrpSpPr>
        <p:grpSpPr>
          <a:xfrm>
            <a:off x="4145424" y="3828831"/>
            <a:ext cx="116956" cy="760043"/>
            <a:chOff x="4145424" y="3828831"/>
            <a:chExt cx="116956" cy="760043"/>
          </a:xfrm>
        </p:grpSpPr>
        <p:cxnSp>
          <p:nvCxnSpPr>
            <p:cNvPr id="310" name="直接连接符 309"/>
            <p:cNvCxnSpPr/>
            <p:nvPr/>
          </p:nvCxnSpPr>
          <p:spPr>
            <a:xfrm>
              <a:off x="4203902" y="3939206"/>
              <a:ext cx="0" cy="64966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09" name="椭圆 308"/>
            <p:cNvSpPr/>
            <p:nvPr/>
          </p:nvSpPr>
          <p:spPr bwMode="gray">
            <a:xfrm flipV="1">
              <a:off x="4145424" y="382883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447" name="组合 446"/>
          <p:cNvGrpSpPr/>
          <p:nvPr/>
        </p:nvGrpSpPr>
        <p:grpSpPr>
          <a:xfrm>
            <a:off x="3934376" y="3473688"/>
            <a:ext cx="116956" cy="484048"/>
            <a:chOff x="3934376" y="3467336"/>
            <a:chExt cx="116956" cy="484048"/>
          </a:xfrm>
        </p:grpSpPr>
        <p:cxnSp>
          <p:nvCxnSpPr>
            <p:cNvPr id="298" name="直接连接符 297"/>
            <p:cNvCxnSpPr/>
            <p:nvPr/>
          </p:nvCxnSpPr>
          <p:spPr>
            <a:xfrm flipV="1">
              <a:off x="3992854" y="3467336"/>
              <a:ext cx="0" cy="37367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7" name="椭圆 296"/>
            <p:cNvSpPr/>
            <p:nvPr/>
          </p:nvSpPr>
          <p:spPr bwMode="gray">
            <a:xfrm>
              <a:off x="3934376" y="3834428"/>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331" name="椭圆 330"/>
          <p:cNvSpPr/>
          <p:nvPr/>
        </p:nvSpPr>
        <p:spPr bwMode="gray">
          <a:xfrm flipV="1">
            <a:off x="4673035" y="534637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8" name="椭圆 327"/>
          <p:cNvSpPr/>
          <p:nvPr/>
        </p:nvSpPr>
        <p:spPr bwMode="gray">
          <a:xfrm>
            <a:off x="4818271" y="534637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69" name="直接连接符 368"/>
          <p:cNvCxnSpPr/>
          <p:nvPr/>
        </p:nvCxnSpPr>
        <p:spPr>
          <a:xfrm>
            <a:off x="6001251" y="5462259"/>
            <a:ext cx="0" cy="81216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8" name="椭圆 367"/>
          <p:cNvSpPr/>
          <p:nvPr/>
        </p:nvSpPr>
        <p:spPr bwMode="gray">
          <a:xfrm flipV="1">
            <a:off x="5943515" y="534637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48" name="弧形 447"/>
          <p:cNvSpPr/>
          <p:nvPr/>
        </p:nvSpPr>
        <p:spPr>
          <a:xfrm>
            <a:off x="7941502" y="3878264"/>
            <a:ext cx="1591228" cy="1542326"/>
          </a:xfrm>
          <a:prstGeom prst="arc">
            <a:avLst>
              <a:gd name="adj1" fmla="val 16451546"/>
              <a:gd name="adj2" fmla="val 4529053"/>
            </a:avLst>
          </a:prstGeom>
          <a:ln w="53975" cap="rnd">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4" name="椭圆 263"/>
          <p:cNvSpPr/>
          <p:nvPr/>
        </p:nvSpPr>
        <p:spPr bwMode="gray">
          <a:xfrm>
            <a:off x="3823648" y="230968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5" name="椭圆 234"/>
          <p:cNvSpPr/>
          <p:nvPr/>
        </p:nvSpPr>
        <p:spPr bwMode="gray">
          <a:xfrm>
            <a:off x="2642711" y="230968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95" name="椭圆 394"/>
          <p:cNvSpPr/>
          <p:nvPr/>
        </p:nvSpPr>
        <p:spPr bwMode="gray">
          <a:xfrm>
            <a:off x="10040956" y="4108863"/>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81" name="椭圆 380"/>
          <p:cNvSpPr/>
          <p:nvPr/>
        </p:nvSpPr>
        <p:spPr bwMode="gray">
          <a:xfrm flipV="1">
            <a:off x="10167003" y="4829308"/>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76" name="椭圆 375"/>
          <p:cNvSpPr/>
          <p:nvPr/>
        </p:nvSpPr>
        <p:spPr bwMode="gray">
          <a:xfrm flipV="1">
            <a:off x="9557926" y="5339580"/>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0" name="椭圆 279"/>
          <p:cNvSpPr/>
          <p:nvPr/>
        </p:nvSpPr>
        <p:spPr bwMode="gray">
          <a:xfrm>
            <a:off x="4450449" y="3697610"/>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3" name="矩形 222"/>
          <p:cNvSpPr/>
          <p:nvPr/>
        </p:nvSpPr>
        <p:spPr bwMode="gray">
          <a:xfrm>
            <a:off x="1876305" y="5065293"/>
            <a:ext cx="1024437" cy="211143"/>
          </a:xfrm>
          <a:prstGeom prst="rect">
            <a:avLst/>
          </a:prstGeom>
          <a:solidFill>
            <a:schemeClr val="bg1"/>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r>
              <a:rPr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人员</a:t>
            </a:r>
            <a:r>
              <a:rPr lang="en-US" altLang="zh-CN"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能力</a:t>
            </a:r>
            <a:endParaRPr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cxnSp>
        <p:nvCxnSpPr>
          <p:cNvPr id="241" name="直接连接符 240"/>
          <p:cNvCxnSpPr/>
          <p:nvPr/>
        </p:nvCxnSpPr>
        <p:spPr>
          <a:xfrm>
            <a:off x="1899872" y="5292423"/>
            <a:ext cx="973865" cy="0"/>
          </a:xfrm>
          <a:prstGeom prst="line">
            <a:avLst/>
          </a:prstGeom>
          <a:ln w="53975" cap="sq">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1899872" y="5054509"/>
            <a:ext cx="973865" cy="0"/>
          </a:xfrm>
          <a:prstGeom prst="line">
            <a:avLst/>
          </a:prstGeom>
          <a:ln w="53975" cap="sq">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6231265" y="3104975"/>
            <a:ext cx="973874" cy="237914"/>
            <a:chOff x="6231265" y="3104975"/>
            <a:chExt cx="973874" cy="237914"/>
          </a:xfrm>
        </p:grpSpPr>
        <p:sp>
          <p:nvSpPr>
            <p:cNvPr id="422" name="矩形 421"/>
            <p:cNvSpPr/>
            <p:nvPr/>
          </p:nvSpPr>
          <p:spPr bwMode="gray">
            <a:xfrm>
              <a:off x="6231265" y="3120235"/>
              <a:ext cx="973865" cy="206667"/>
            </a:xfrm>
            <a:prstGeom prst="rect">
              <a:avLst/>
            </a:prstGeom>
            <a:solidFill>
              <a:schemeClr val="bg1"/>
            </a:solidFill>
            <a:ln w="19050" algn="ctr">
              <a:noFill/>
              <a:miter lim="800000"/>
            </a:ln>
          </p:spPr>
          <p:txBody>
            <a:bodyPr wrap="square" lIns="88900" tIns="88900" rIns="88900" bIns="88900" rtlCol="0" anchor="ctr"/>
            <a:lstStyle/>
            <a:p>
              <a:pPr algn="ctr">
                <a:lnSpc>
                  <a:spcPct val="106000"/>
                </a:lnSpc>
                <a:buFont typeface="微软雅黑" panose="020B0503020204020204" charset="-122"/>
                <a:buNone/>
              </a:pPr>
              <a:r>
                <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价值实现</a:t>
              </a:r>
              <a:endPar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cxnSp>
          <p:nvCxnSpPr>
            <p:cNvPr id="420" name="直接连接符 419"/>
            <p:cNvCxnSpPr/>
            <p:nvPr/>
          </p:nvCxnSpPr>
          <p:spPr>
            <a:xfrm>
              <a:off x="6231274" y="3104975"/>
              <a:ext cx="973865" cy="0"/>
            </a:xfrm>
            <a:prstGeom prst="line">
              <a:avLst/>
            </a:prstGeom>
            <a:ln w="53975" cap="sq">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21" name="直接连接符 420"/>
            <p:cNvCxnSpPr/>
            <p:nvPr/>
          </p:nvCxnSpPr>
          <p:spPr>
            <a:xfrm>
              <a:off x="6231274" y="3342889"/>
              <a:ext cx="973865" cy="0"/>
            </a:xfrm>
            <a:prstGeom prst="line">
              <a:avLst/>
            </a:prstGeom>
            <a:ln w="53975" cap="sq">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6519708" y="4712660"/>
            <a:ext cx="116956" cy="741057"/>
            <a:chOff x="5810165" y="4722270"/>
            <a:chExt cx="116956" cy="741057"/>
          </a:xfrm>
        </p:grpSpPr>
        <p:cxnSp>
          <p:nvCxnSpPr>
            <p:cNvPr id="11" name="直接连接符 10"/>
            <p:cNvCxnSpPr/>
            <p:nvPr/>
          </p:nvCxnSpPr>
          <p:spPr>
            <a:xfrm flipV="1">
              <a:off x="5868643" y="4722270"/>
              <a:ext cx="0" cy="64966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bwMode="gray">
            <a:xfrm flipV="1">
              <a:off x="5810165" y="534637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3" name="组合 12"/>
          <p:cNvGrpSpPr/>
          <p:nvPr/>
        </p:nvGrpSpPr>
        <p:grpSpPr>
          <a:xfrm>
            <a:off x="5568615" y="4851819"/>
            <a:ext cx="116956" cy="598444"/>
            <a:chOff x="5810165" y="4864883"/>
            <a:chExt cx="116956" cy="598444"/>
          </a:xfrm>
        </p:grpSpPr>
        <p:cxnSp>
          <p:nvCxnSpPr>
            <p:cNvPr id="14" name="直接连接符 13"/>
            <p:cNvCxnSpPr/>
            <p:nvPr/>
          </p:nvCxnSpPr>
          <p:spPr>
            <a:xfrm flipV="1">
              <a:off x="5868643" y="4864883"/>
              <a:ext cx="0" cy="50705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bwMode="gray">
            <a:xfrm flipV="1">
              <a:off x="5810165" y="5346371"/>
              <a:ext cx="116956" cy="116956"/>
            </a:xfrm>
            <a:prstGeom prst="ellipse">
              <a:avLst/>
            </a:prstGeom>
            <a:solidFill>
              <a:schemeClr val="bg1"/>
            </a:solidFill>
            <a:ln w="6350" algn="ctr">
              <a:solidFill>
                <a:schemeClr val="accent6"/>
              </a:solidFill>
              <a:miter lim="800000"/>
            </a:ln>
          </p:spPr>
          <p:txBody>
            <a:bodyPr wrap="square" lIns="88900" tIns="88900" rIns="88900" bIns="88900" rtlCol="0" anchor="ctr"/>
            <a:lstStyle/>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19" name="Freeform 8"/>
          <p:cNvSpPr>
            <a:spLocks noEditPoints="1"/>
          </p:cNvSpPr>
          <p:nvPr/>
        </p:nvSpPr>
        <p:spPr bwMode="auto">
          <a:xfrm>
            <a:off x="8152808" y="1815882"/>
            <a:ext cx="431197" cy="430740"/>
          </a:xfrm>
          <a:custGeom>
            <a:avLst/>
            <a:gdLst>
              <a:gd name="T0" fmla="*/ 453 w 495"/>
              <a:gd name="T1" fmla="*/ 192 h 495"/>
              <a:gd name="T2" fmla="*/ 449 w 495"/>
              <a:gd name="T3" fmla="*/ 167 h 495"/>
              <a:gd name="T4" fmla="*/ 445 w 495"/>
              <a:gd name="T5" fmla="*/ 103 h 495"/>
              <a:gd name="T6" fmla="*/ 398 w 495"/>
              <a:gd name="T7" fmla="*/ 96 h 495"/>
              <a:gd name="T8" fmla="*/ 392 w 495"/>
              <a:gd name="T9" fmla="*/ 49 h 495"/>
              <a:gd name="T10" fmla="*/ 328 w 495"/>
              <a:gd name="T11" fmla="*/ 46 h 495"/>
              <a:gd name="T12" fmla="*/ 302 w 495"/>
              <a:gd name="T13" fmla="*/ 41 h 495"/>
              <a:gd name="T14" fmla="*/ 269 w 495"/>
              <a:gd name="T15" fmla="*/ 0 h 495"/>
              <a:gd name="T16" fmla="*/ 211 w 495"/>
              <a:gd name="T17" fmla="*/ 37 h 495"/>
              <a:gd name="T18" fmla="*/ 173 w 495"/>
              <a:gd name="T19" fmla="*/ 47 h 495"/>
              <a:gd name="T20" fmla="*/ 105 w 495"/>
              <a:gd name="T21" fmla="*/ 44 h 495"/>
              <a:gd name="T22" fmla="*/ 96 w 495"/>
              <a:gd name="T23" fmla="*/ 97 h 495"/>
              <a:gd name="T24" fmla="*/ 77 w 495"/>
              <a:gd name="T25" fmla="*/ 113 h 495"/>
              <a:gd name="T26" fmla="*/ 23 w 495"/>
              <a:gd name="T27" fmla="*/ 148 h 495"/>
              <a:gd name="T28" fmla="*/ 41 w 495"/>
              <a:gd name="T29" fmla="*/ 193 h 495"/>
              <a:gd name="T30" fmla="*/ 3 w 495"/>
              <a:gd name="T31" fmla="*/ 221 h 495"/>
              <a:gd name="T32" fmla="*/ 32 w 495"/>
              <a:gd name="T33" fmla="*/ 279 h 495"/>
              <a:gd name="T34" fmla="*/ 41 w 495"/>
              <a:gd name="T35" fmla="*/ 303 h 495"/>
              <a:gd name="T36" fmla="*/ 22 w 495"/>
              <a:gd name="T37" fmla="*/ 352 h 495"/>
              <a:gd name="T38" fmla="*/ 83 w 495"/>
              <a:gd name="T39" fmla="*/ 384 h 495"/>
              <a:gd name="T40" fmla="*/ 111 w 495"/>
              <a:gd name="T41" fmla="*/ 411 h 495"/>
              <a:gd name="T42" fmla="*/ 142 w 495"/>
              <a:gd name="T43" fmla="*/ 473 h 495"/>
              <a:gd name="T44" fmla="*/ 192 w 495"/>
              <a:gd name="T45" fmla="*/ 453 h 495"/>
              <a:gd name="T46" fmla="*/ 216 w 495"/>
              <a:gd name="T47" fmla="*/ 462 h 495"/>
              <a:gd name="T48" fmla="*/ 274 w 495"/>
              <a:gd name="T49" fmla="*/ 491 h 495"/>
              <a:gd name="T50" fmla="*/ 303 w 495"/>
              <a:gd name="T51" fmla="*/ 453 h 495"/>
              <a:gd name="T52" fmla="*/ 346 w 495"/>
              <a:gd name="T53" fmla="*/ 472 h 495"/>
              <a:gd name="T54" fmla="*/ 382 w 495"/>
              <a:gd name="T55" fmla="*/ 418 h 495"/>
              <a:gd name="T56" fmla="*/ 399 w 495"/>
              <a:gd name="T57" fmla="*/ 398 h 495"/>
              <a:gd name="T58" fmla="*/ 451 w 495"/>
              <a:gd name="T59" fmla="*/ 390 h 495"/>
              <a:gd name="T60" fmla="*/ 447 w 495"/>
              <a:gd name="T61" fmla="*/ 321 h 495"/>
              <a:gd name="T62" fmla="*/ 458 w 495"/>
              <a:gd name="T63" fmla="*/ 283 h 495"/>
              <a:gd name="T64" fmla="*/ 495 w 495"/>
              <a:gd name="T65" fmla="*/ 226 h 495"/>
              <a:gd name="T66" fmla="*/ 387 w 495"/>
              <a:gd name="T67" fmla="*/ 285 h 495"/>
              <a:gd name="T68" fmla="*/ 352 w 495"/>
              <a:gd name="T69" fmla="*/ 347 h 495"/>
              <a:gd name="T70" fmla="*/ 320 w 495"/>
              <a:gd name="T71" fmla="*/ 373 h 495"/>
              <a:gd name="T72" fmla="*/ 285 w 495"/>
              <a:gd name="T73" fmla="*/ 387 h 495"/>
              <a:gd name="T74" fmla="*/ 213 w 495"/>
              <a:gd name="T75" fmla="*/ 388 h 495"/>
              <a:gd name="T76" fmla="*/ 206 w 495"/>
              <a:gd name="T77" fmla="*/ 386 h 495"/>
              <a:gd name="T78" fmla="*/ 148 w 495"/>
              <a:gd name="T79" fmla="*/ 352 h 495"/>
              <a:gd name="T80" fmla="*/ 109 w 495"/>
              <a:gd name="T81" fmla="*/ 288 h 495"/>
              <a:gd name="T82" fmla="*/ 107 w 495"/>
              <a:gd name="T83" fmla="*/ 281 h 495"/>
              <a:gd name="T84" fmla="*/ 107 w 495"/>
              <a:gd name="T85" fmla="*/ 214 h 495"/>
              <a:gd name="T86" fmla="*/ 109 w 495"/>
              <a:gd name="T87" fmla="*/ 206 h 495"/>
              <a:gd name="T88" fmla="*/ 148 w 495"/>
              <a:gd name="T89" fmla="*/ 142 h 495"/>
              <a:gd name="T90" fmla="*/ 206 w 495"/>
              <a:gd name="T91" fmla="*/ 109 h 495"/>
              <a:gd name="T92" fmla="*/ 213 w 495"/>
              <a:gd name="T93" fmla="*/ 107 h 495"/>
              <a:gd name="T94" fmla="*/ 285 w 495"/>
              <a:gd name="T95" fmla="*/ 108 h 495"/>
              <a:gd name="T96" fmla="*/ 347 w 495"/>
              <a:gd name="T97" fmla="*/ 143 h 495"/>
              <a:gd name="T98" fmla="*/ 373 w 495"/>
              <a:gd name="T99" fmla="*/ 175 h 495"/>
              <a:gd name="T100" fmla="*/ 387 w 495"/>
              <a:gd name="T101" fmla="*/ 210 h 495"/>
              <a:gd name="T102" fmla="*/ 388 w 495"/>
              <a:gd name="T103" fmla="*/ 281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5" h="495">
                <a:moveTo>
                  <a:pt x="491" y="221"/>
                </a:moveTo>
                <a:cubicBezTo>
                  <a:pt x="462" y="216"/>
                  <a:pt x="462" y="216"/>
                  <a:pt x="462" y="216"/>
                </a:cubicBezTo>
                <a:cubicBezTo>
                  <a:pt x="460" y="216"/>
                  <a:pt x="458" y="214"/>
                  <a:pt x="458" y="211"/>
                </a:cubicBezTo>
                <a:cubicBezTo>
                  <a:pt x="456" y="205"/>
                  <a:pt x="455" y="198"/>
                  <a:pt x="453" y="192"/>
                </a:cubicBezTo>
                <a:cubicBezTo>
                  <a:pt x="453" y="192"/>
                  <a:pt x="453" y="192"/>
                  <a:pt x="453" y="192"/>
                </a:cubicBezTo>
                <a:cubicBezTo>
                  <a:pt x="453" y="192"/>
                  <a:pt x="453" y="192"/>
                  <a:pt x="453" y="192"/>
                </a:cubicBezTo>
                <a:cubicBezTo>
                  <a:pt x="452" y="186"/>
                  <a:pt x="450" y="180"/>
                  <a:pt x="447" y="173"/>
                </a:cubicBezTo>
                <a:cubicBezTo>
                  <a:pt x="447" y="171"/>
                  <a:pt x="447" y="169"/>
                  <a:pt x="449" y="167"/>
                </a:cubicBezTo>
                <a:cubicBezTo>
                  <a:pt x="472" y="148"/>
                  <a:pt x="472" y="148"/>
                  <a:pt x="472" y="148"/>
                </a:cubicBezTo>
                <a:cubicBezTo>
                  <a:pt x="474" y="147"/>
                  <a:pt x="474" y="144"/>
                  <a:pt x="473" y="142"/>
                </a:cubicBezTo>
                <a:cubicBezTo>
                  <a:pt x="451" y="105"/>
                  <a:pt x="451" y="105"/>
                  <a:pt x="451" y="105"/>
                </a:cubicBezTo>
                <a:cubicBezTo>
                  <a:pt x="450" y="103"/>
                  <a:pt x="448" y="102"/>
                  <a:pt x="445" y="103"/>
                </a:cubicBezTo>
                <a:cubicBezTo>
                  <a:pt x="418" y="113"/>
                  <a:pt x="418" y="113"/>
                  <a:pt x="418" y="113"/>
                </a:cubicBezTo>
                <a:cubicBezTo>
                  <a:pt x="415" y="114"/>
                  <a:pt x="413" y="113"/>
                  <a:pt x="411" y="111"/>
                </a:cubicBezTo>
                <a:cubicBezTo>
                  <a:pt x="407" y="106"/>
                  <a:pt x="403" y="101"/>
                  <a:pt x="398" y="97"/>
                </a:cubicBezTo>
                <a:cubicBezTo>
                  <a:pt x="398" y="96"/>
                  <a:pt x="398" y="96"/>
                  <a:pt x="398" y="96"/>
                </a:cubicBezTo>
                <a:cubicBezTo>
                  <a:pt x="398" y="96"/>
                  <a:pt x="398" y="96"/>
                  <a:pt x="398" y="96"/>
                </a:cubicBezTo>
                <a:cubicBezTo>
                  <a:pt x="393" y="92"/>
                  <a:pt x="389" y="87"/>
                  <a:pt x="384" y="83"/>
                </a:cubicBezTo>
                <a:cubicBezTo>
                  <a:pt x="382" y="82"/>
                  <a:pt x="381" y="79"/>
                  <a:pt x="382" y="77"/>
                </a:cubicBezTo>
                <a:cubicBezTo>
                  <a:pt x="392" y="49"/>
                  <a:pt x="392" y="49"/>
                  <a:pt x="392" y="49"/>
                </a:cubicBezTo>
                <a:cubicBezTo>
                  <a:pt x="393" y="47"/>
                  <a:pt x="392" y="45"/>
                  <a:pt x="390" y="44"/>
                </a:cubicBezTo>
                <a:cubicBezTo>
                  <a:pt x="352" y="22"/>
                  <a:pt x="352" y="22"/>
                  <a:pt x="352" y="22"/>
                </a:cubicBezTo>
                <a:cubicBezTo>
                  <a:pt x="350" y="21"/>
                  <a:pt x="348" y="21"/>
                  <a:pt x="346" y="23"/>
                </a:cubicBezTo>
                <a:cubicBezTo>
                  <a:pt x="328" y="46"/>
                  <a:pt x="328" y="46"/>
                  <a:pt x="328" y="46"/>
                </a:cubicBezTo>
                <a:cubicBezTo>
                  <a:pt x="326" y="47"/>
                  <a:pt x="324" y="48"/>
                  <a:pt x="321" y="47"/>
                </a:cubicBezTo>
                <a:cubicBezTo>
                  <a:pt x="315" y="45"/>
                  <a:pt x="309" y="43"/>
                  <a:pt x="303" y="41"/>
                </a:cubicBezTo>
                <a:cubicBezTo>
                  <a:pt x="302" y="41"/>
                  <a:pt x="302" y="41"/>
                  <a:pt x="302" y="41"/>
                </a:cubicBezTo>
                <a:cubicBezTo>
                  <a:pt x="302" y="41"/>
                  <a:pt x="302" y="41"/>
                  <a:pt x="302" y="41"/>
                </a:cubicBezTo>
                <a:cubicBezTo>
                  <a:pt x="296" y="40"/>
                  <a:pt x="290" y="38"/>
                  <a:pt x="283" y="37"/>
                </a:cubicBezTo>
                <a:cubicBezTo>
                  <a:pt x="281" y="37"/>
                  <a:pt x="279" y="35"/>
                  <a:pt x="279" y="33"/>
                </a:cubicBezTo>
                <a:cubicBezTo>
                  <a:pt x="274" y="3"/>
                  <a:pt x="274" y="3"/>
                  <a:pt x="274" y="3"/>
                </a:cubicBezTo>
                <a:cubicBezTo>
                  <a:pt x="273" y="1"/>
                  <a:pt x="271" y="0"/>
                  <a:pt x="269" y="0"/>
                </a:cubicBezTo>
                <a:cubicBezTo>
                  <a:pt x="225" y="0"/>
                  <a:pt x="225" y="0"/>
                  <a:pt x="225" y="0"/>
                </a:cubicBezTo>
                <a:cubicBezTo>
                  <a:pt x="223" y="0"/>
                  <a:pt x="221" y="1"/>
                  <a:pt x="221" y="3"/>
                </a:cubicBezTo>
                <a:cubicBezTo>
                  <a:pt x="216" y="33"/>
                  <a:pt x="216" y="33"/>
                  <a:pt x="216" y="33"/>
                </a:cubicBezTo>
                <a:cubicBezTo>
                  <a:pt x="216" y="35"/>
                  <a:pt x="214" y="37"/>
                  <a:pt x="211" y="37"/>
                </a:cubicBezTo>
                <a:cubicBezTo>
                  <a:pt x="205" y="38"/>
                  <a:pt x="198" y="40"/>
                  <a:pt x="192" y="41"/>
                </a:cubicBezTo>
                <a:cubicBezTo>
                  <a:pt x="192" y="41"/>
                  <a:pt x="192" y="41"/>
                  <a:pt x="192" y="41"/>
                </a:cubicBezTo>
                <a:cubicBezTo>
                  <a:pt x="192" y="41"/>
                  <a:pt x="192" y="41"/>
                  <a:pt x="192" y="41"/>
                </a:cubicBezTo>
                <a:cubicBezTo>
                  <a:pt x="186" y="43"/>
                  <a:pt x="179" y="45"/>
                  <a:pt x="173" y="47"/>
                </a:cubicBezTo>
                <a:cubicBezTo>
                  <a:pt x="171" y="48"/>
                  <a:pt x="169" y="47"/>
                  <a:pt x="167" y="46"/>
                </a:cubicBezTo>
                <a:cubicBezTo>
                  <a:pt x="148" y="23"/>
                  <a:pt x="148" y="23"/>
                  <a:pt x="148" y="23"/>
                </a:cubicBezTo>
                <a:cubicBezTo>
                  <a:pt x="147" y="21"/>
                  <a:pt x="144" y="21"/>
                  <a:pt x="142" y="22"/>
                </a:cubicBezTo>
                <a:cubicBezTo>
                  <a:pt x="105" y="44"/>
                  <a:pt x="105" y="44"/>
                  <a:pt x="105" y="44"/>
                </a:cubicBezTo>
                <a:cubicBezTo>
                  <a:pt x="103" y="45"/>
                  <a:pt x="102" y="47"/>
                  <a:pt x="102" y="49"/>
                </a:cubicBezTo>
                <a:cubicBezTo>
                  <a:pt x="113" y="77"/>
                  <a:pt x="113" y="77"/>
                  <a:pt x="113" y="77"/>
                </a:cubicBezTo>
                <a:cubicBezTo>
                  <a:pt x="114" y="79"/>
                  <a:pt x="113" y="82"/>
                  <a:pt x="111" y="83"/>
                </a:cubicBezTo>
                <a:cubicBezTo>
                  <a:pt x="106" y="87"/>
                  <a:pt x="101" y="92"/>
                  <a:pt x="96" y="97"/>
                </a:cubicBezTo>
                <a:cubicBezTo>
                  <a:pt x="96" y="97"/>
                  <a:pt x="96" y="97"/>
                  <a:pt x="96" y="97"/>
                </a:cubicBezTo>
                <a:cubicBezTo>
                  <a:pt x="96" y="97"/>
                  <a:pt x="96" y="97"/>
                  <a:pt x="96" y="97"/>
                </a:cubicBezTo>
                <a:cubicBezTo>
                  <a:pt x="92" y="101"/>
                  <a:pt x="87" y="106"/>
                  <a:pt x="83" y="111"/>
                </a:cubicBezTo>
                <a:cubicBezTo>
                  <a:pt x="82" y="113"/>
                  <a:pt x="79" y="114"/>
                  <a:pt x="77" y="113"/>
                </a:cubicBezTo>
                <a:cubicBezTo>
                  <a:pt x="49" y="103"/>
                  <a:pt x="49" y="103"/>
                  <a:pt x="49" y="103"/>
                </a:cubicBezTo>
                <a:cubicBezTo>
                  <a:pt x="47" y="102"/>
                  <a:pt x="45" y="103"/>
                  <a:pt x="44" y="105"/>
                </a:cubicBezTo>
                <a:cubicBezTo>
                  <a:pt x="22" y="142"/>
                  <a:pt x="22" y="142"/>
                  <a:pt x="22" y="142"/>
                </a:cubicBezTo>
                <a:cubicBezTo>
                  <a:pt x="21" y="144"/>
                  <a:pt x="21" y="147"/>
                  <a:pt x="23" y="148"/>
                </a:cubicBezTo>
                <a:cubicBezTo>
                  <a:pt x="46" y="167"/>
                  <a:pt x="46" y="167"/>
                  <a:pt x="46" y="167"/>
                </a:cubicBezTo>
                <a:cubicBezTo>
                  <a:pt x="47" y="169"/>
                  <a:pt x="48" y="171"/>
                  <a:pt x="47" y="173"/>
                </a:cubicBezTo>
                <a:cubicBezTo>
                  <a:pt x="45" y="180"/>
                  <a:pt x="43" y="186"/>
                  <a:pt x="41" y="192"/>
                </a:cubicBezTo>
                <a:cubicBezTo>
                  <a:pt x="41" y="193"/>
                  <a:pt x="41" y="193"/>
                  <a:pt x="41" y="193"/>
                </a:cubicBezTo>
                <a:cubicBezTo>
                  <a:pt x="41" y="193"/>
                  <a:pt x="41" y="193"/>
                  <a:pt x="41" y="193"/>
                </a:cubicBezTo>
                <a:cubicBezTo>
                  <a:pt x="40" y="199"/>
                  <a:pt x="38" y="205"/>
                  <a:pt x="37" y="211"/>
                </a:cubicBezTo>
                <a:cubicBezTo>
                  <a:pt x="37" y="214"/>
                  <a:pt x="35" y="216"/>
                  <a:pt x="32" y="216"/>
                </a:cubicBezTo>
                <a:cubicBezTo>
                  <a:pt x="3" y="221"/>
                  <a:pt x="3" y="221"/>
                  <a:pt x="3" y="221"/>
                </a:cubicBezTo>
                <a:cubicBezTo>
                  <a:pt x="1" y="221"/>
                  <a:pt x="0" y="223"/>
                  <a:pt x="0" y="226"/>
                </a:cubicBezTo>
                <a:cubicBezTo>
                  <a:pt x="0" y="269"/>
                  <a:pt x="0" y="269"/>
                  <a:pt x="0" y="269"/>
                </a:cubicBezTo>
                <a:cubicBezTo>
                  <a:pt x="0" y="271"/>
                  <a:pt x="1" y="273"/>
                  <a:pt x="3" y="274"/>
                </a:cubicBezTo>
                <a:cubicBezTo>
                  <a:pt x="32" y="279"/>
                  <a:pt x="32" y="279"/>
                  <a:pt x="32" y="279"/>
                </a:cubicBezTo>
                <a:cubicBezTo>
                  <a:pt x="35" y="279"/>
                  <a:pt x="37" y="281"/>
                  <a:pt x="37" y="283"/>
                </a:cubicBezTo>
                <a:cubicBezTo>
                  <a:pt x="38" y="290"/>
                  <a:pt x="40" y="296"/>
                  <a:pt x="41" y="303"/>
                </a:cubicBezTo>
                <a:cubicBezTo>
                  <a:pt x="41" y="303"/>
                  <a:pt x="41" y="303"/>
                  <a:pt x="41" y="303"/>
                </a:cubicBezTo>
                <a:cubicBezTo>
                  <a:pt x="41" y="303"/>
                  <a:pt x="41" y="303"/>
                  <a:pt x="41" y="303"/>
                </a:cubicBezTo>
                <a:cubicBezTo>
                  <a:pt x="43" y="309"/>
                  <a:pt x="45" y="315"/>
                  <a:pt x="47" y="321"/>
                </a:cubicBezTo>
                <a:cubicBezTo>
                  <a:pt x="48" y="324"/>
                  <a:pt x="47" y="326"/>
                  <a:pt x="46" y="328"/>
                </a:cubicBezTo>
                <a:cubicBezTo>
                  <a:pt x="23" y="347"/>
                  <a:pt x="23" y="347"/>
                  <a:pt x="23" y="347"/>
                </a:cubicBezTo>
                <a:cubicBezTo>
                  <a:pt x="21" y="348"/>
                  <a:pt x="21" y="350"/>
                  <a:pt x="22" y="352"/>
                </a:cubicBezTo>
                <a:cubicBezTo>
                  <a:pt x="44" y="390"/>
                  <a:pt x="44" y="390"/>
                  <a:pt x="44" y="390"/>
                </a:cubicBezTo>
                <a:cubicBezTo>
                  <a:pt x="45" y="392"/>
                  <a:pt x="47" y="393"/>
                  <a:pt x="49" y="392"/>
                </a:cubicBezTo>
                <a:cubicBezTo>
                  <a:pt x="77" y="382"/>
                  <a:pt x="77" y="382"/>
                  <a:pt x="77" y="382"/>
                </a:cubicBezTo>
                <a:cubicBezTo>
                  <a:pt x="79" y="381"/>
                  <a:pt x="82" y="382"/>
                  <a:pt x="83" y="384"/>
                </a:cubicBezTo>
                <a:cubicBezTo>
                  <a:pt x="87" y="389"/>
                  <a:pt x="92" y="394"/>
                  <a:pt x="96" y="398"/>
                </a:cubicBezTo>
                <a:cubicBezTo>
                  <a:pt x="97" y="399"/>
                  <a:pt x="97" y="399"/>
                  <a:pt x="97" y="399"/>
                </a:cubicBezTo>
                <a:cubicBezTo>
                  <a:pt x="97" y="399"/>
                  <a:pt x="97" y="399"/>
                  <a:pt x="97" y="399"/>
                </a:cubicBezTo>
                <a:cubicBezTo>
                  <a:pt x="101" y="403"/>
                  <a:pt x="106" y="407"/>
                  <a:pt x="111" y="411"/>
                </a:cubicBezTo>
                <a:cubicBezTo>
                  <a:pt x="113" y="413"/>
                  <a:pt x="114" y="416"/>
                  <a:pt x="113" y="418"/>
                </a:cubicBezTo>
                <a:cubicBezTo>
                  <a:pt x="102" y="445"/>
                  <a:pt x="102" y="445"/>
                  <a:pt x="102" y="445"/>
                </a:cubicBezTo>
                <a:cubicBezTo>
                  <a:pt x="102" y="448"/>
                  <a:pt x="103" y="450"/>
                  <a:pt x="105" y="451"/>
                </a:cubicBezTo>
                <a:cubicBezTo>
                  <a:pt x="142" y="473"/>
                  <a:pt x="142" y="473"/>
                  <a:pt x="142" y="473"/>
                </a:cubicBezTo>
                <a:cubicBezTo>
                  <a:pt x="144" y="474"/>
                  <a:pt x="147" y="474"/>
                  <a:pt x="148" y="472"/>
                </a:cubicBezTo>
                <a:cubicBezTo>
                  <a:pt x="167" y="449"/>
                  <a:pt x="167" y="449"/>
                  <a:pt x="167" y="449"/>
                </a:cubicBezTo>
                <a:cubicBezTo>
                  <a:pt x="169" y="447"/>
                  <a:pt x="171" y="447"/>
                  <a:pt x="173" y="447"/>
                </a:cubicBezTo>
                <a:cubicBezTo>
                  <a:pt x="179" y="450"/>
                  <a:pt x="186" y="452"/>
                  <a:pt x="192" y="453"/>
                </a:cubicBezTo>
                <a:cubicBezTo>
                  <a:pt x="193" y="454"/>
                  <a:pt x="193" y="454"/>
                  <a:pt x="193" y="454"/>
                </a:cubicBezTo>
                <a:cubicBezTo>
                  <a:pt x="193" y="454"/>
                  <a:pt x="193" y="454"/>
                  <a:pt x="193" y="454"/>
                </a:cubicBezTo>
                <a:cubicBezTo>
                  <a:pt x="199" y="455"/>
                  <a:pt x="205" y="457"/>
                  <a:pt x="211" y="458"/>
                </a:cubicBezTo>
                <a:cubicBezTo>
                  <a:pt x="214" y="458"/>
                  <a:pt x="216" y="460"/>
                  <a:pt x="216" y="462"/>
                </a:cubicBezTo>
                <a:cubicBezTo>
                  <a:pt x="221" y="491"/>
                  <a:pt x="221" y="491"/>
                  <a:pt x="221" y="491"/>
                </a:cubicBezTo>
                <a:cubicBezTo>
                  <a:pt x="221" y="494"/>
                  <a:pt x="223" y="495"/>
                  <a:pt x="225" y="495"/>
                </a:cubicBezTo>
                <a:cubicBezTo>
                  <a:pt x="269" y="495"/>
                  <a:pt x="269" y="495"/>
                  <a:pt x="269" y="495"/>
                </a:cubicBezTo>
                <a:cubicBezTo>
                  <a:pt x="271" y="495"/>
                  <a:pt x="273" y="494"/>
                  <a:pt x="274" y="491"/>
                </a:cubicBezTo>
                <a:cubicBezTo>
                  <a:pt x="279" y="462"/>
                  <a:pt x="279" y="462"/>
                  <a:pt x="279" y="462"/>
                </a:cubicBezTo>
                <a:cubicBezTo>
                  <a:pt x="279" y="460"/>
                  <a:pt x="281" y="458"/>
                  <a:pt x="283" y="458"/>
                </a:cubicBezTo>
                <a:cubicBezTo>
                  <a:pt x="290" y="457"/>
                  <a:pt x="296" y="455"/>
                  <a:pt x="303" y="453"/>
                </a:cubicBezTo>
                <a:cubicBezTo>
                  <a:pt x="303" y="453"/>
                  <a:pt x="303" y="453"/>
                  <a:pt x="303" y="453"/>
                </a:cubicBezTo>
                <a:cubicBezTo>
                  <a:pt x="303" y="453"/>
                  <a:pt x="303" y="453"/>
                  <a:pt x="303" y="453"/>
                </a:cubicBezTo>
                <a:cubicBezTo>
                  <a:pt x="309" y="452"/>
                  <a:pt x="315" y="450"/>
                  <a:pt x="321" y="447"/>
                </a:cubicBezTo>
                <a:cubicBezTo>
                  <a:pt x="324" y="447"/>
                  <a:pt x="326" y="447"/>
                  <a:pt x="328" y="449"/>
                </a:cubicBezTo>
                <a:cubicBezTo>
                  <a:pt x="346" y="472"/>
                  <a:pt x="346" y="472"/>
                  <a:pt x="346" y="472"/>
                </a:cubicBezTo>
                <a:cubicBezTo>
                  <a:pt x="348" y="474"/>
                  <a:pt x="350" y="474"/>
                  <a:pt x="352" y="473"/>
                </a:cubicBezTo>
                <a:cubicBezTo>
                  <a:pt x="390" y="451"/>
                  <a:pt x="390" y="451"/>
                  <a:pt x="390" y="451"/>
                </a:cubicBezTo>
                <a:cubicBezTo>
                  <a:pt x="392" y="450"/>
                  <a:pt x="393" y="448"/>
                  <a:pt x="392" y="445"/>
                </a:cubicBezTo>
                <a:cubicBezTo>
                  <a:pt x="382" y="418"/>
                  <a:pt x="382" y="418"/>
                  <a:pt x="382" y="418"/>
                </a:cubicBezTo>
                <a:cubicBezTo>
                  <a:pt x="381" y="416"/>
                  <a:pt x="382" y="413"/>
                  <a:pt x="384" y="412"/>
                </a:cubicBezTo>
                <a:cubicBezTo>
                  <a:pt x="389" y="407"/>
                  <a:pt x="394" y="403"/>
                  <a:pt x="398" y="398"/>
                </a:cubicBezTo>
                <a:cubicBezTo>
                  <a:pt x="399" y="398"/>
                  <a:pt x="399" y="398"/>
                  <a:pt x="399" y="398"/>
                </a:cubicBezTo>
                <a:cubicBezTo>
                  <a:pt x="399" y="398"/>
                  <a:pt x="399" y="398"/>
                  <a:pt x="399" y="398"/>
                </a:cubicBezTo>
                <a:cubicBezTo>
                  <a:pt x="403" y="393"/>
                  <a:pt x="407" y="389"/>
                  <a:pt x="411" y="384"/>
                </a:cubicBezTo>
                <a:cubicBezTo>
                  <a:pt x="413" y="382"/>
                  <a:pt x="415" y="381"/>
                  <a:pt x="418" y="382"/>
                </a:cubicBezTo>
                <a:cubicBezTo>
                  <a:pt x="445" y="392"/>
                  <a:pt x="445" y="392"/>
                  <a:pt x="445" y="392"/>
                </a:cubicBezTo>
                <a:cubicBezTo>
                  <a:pt x="447" y="393"/>
                  <a:pt x="450" y="392"/>
                  <a:pt x="451" y="390"/>
                </a:cubicBezTo>
                <a:cubicBezTo>
                  <a:pt x="473" y="352"/>
                  <a:pt x="473" y="352"/>
                  <a:pt x="473" y="352"/>
                </a:cubicBezTo>
                <a:cubicBezTo>
                  <a:pt x="474" y="350"/>
                  <a:pt x="474" y="348"/>
                  <a:pt x="472" y="347"/>
                </a:cubicBezTo>
                <a:cubicBezTo>
                  <a:pt x="449" y="328"/>
                  <a:pt x="449" y="328"/>
                  <a:pt x="449" y="328"/>
                </a:cubicBezTo>
                <a:cubicBezTo>
                  <a:pt x="447" y="326"/>
                  <a:pt x="447" y="324"/>
                  <a:pt x="447" y="321"/>
                </a:cubicBezTo>
                <a:cubicBezTo>
                  <a:pt x="450" y="315"/>
                  <a:pt x="452" y="309"/>
                  <a:pt x="453" y="303"/>
                </a:cubicBezTo>
                <a:cubicBezTo>
                  <a:pt x="454" y="302"/>
                  <a:pt x="454" y="302"/>
                  <a:pt x="454" y="302"/>
                </a:cubicBezTo>
                <a:cubicBezTo>
                  <a:pt x="454" y="302"/>
                  <a:pt x="454" y="302"/>
                  <a:pt x="454" y="302"/>
                </a:cubicBezTo>
                <a:cubicBezTo>
                  <a:pt x="455" y="296"/>
                  <a:pt x="456" y="290"/>
                  <a:pt x="458" y="283"/>
                </a:cubicBezTo>
                <a:cubicBezTo>
                  <a:pt x="458" y="281"/>
                  <a:pt x="460" y="279"/>
                  <a:pt x="462" y="279"/>
                </a:cubicBezTo>
                <a:cubicBezTo>
                  <a:pt x="491" y="274"/>
                  <a:pt x="491" y="274"/>
                  <a:pt x="491" y="274"/>
                </a:cubicBezTo>
                <a:cubicBezTo>
                  <a:pt x="493" y="273"/>
                  <a:pt x="495" y="271"/>
                  <a:pt x="495" y="269"/>
                </a:cubicBezTo>
                <a:cubicBezTo>
                  <a:pt x="495" y="226"/>
                  <a:pt x="495" y="226"/>
                  <a:pt x="495" y="226"/>
                </a:cubicBezTo>
                <a:cubicBezTo>
                  <a:pt x="495" y="223"/>
                  <a:pt x="493" y="221"/>
                  <a:pt x="491" y="221"/>
                </a:cubicBezTo>
                <a:close/>
                <a:moveTo>
                  <a:pt x="388" y="281"/>
                </a:moveTo>
                <a:cubicBezTo>
                  <a:pt x="387" y="285"/>
                  <a:pt x="387" y="285"/>
                  <a:pt x="387" y="285"/>
                </a:cubicBezTo>
                <a:cubicBezTo>
                  <a:pt x="387" y="285"/>
                  <a:pt x="387" y="285"/>
                  <a:pt x="387" y="285"/>
                </a:cubicBezTo>
                <a:cubicBezTo>
                  <a:pt x="386" y="289"/>
                  <a:pt x="386" y="289"/>
                  <a:pt x="386" y="289"/>
                </a:cubicBezTo>
                <a:cubicBezTo>
                  <a:pt x="386" y="288"/>
                  <a:pt x="386" y="288"/>
                  <a:pt x="386" y="288"/>
                </a:cubicBezTo>
                <a:cubicBezTo>
                  <a:pt x="383" y="299"/>
                  <a:pt x="378" y="310"/>
                  <a:pt x="373" y="320"/>
                </a:cubicBezTo>
                <a:cubicBezTo>
                  <a:pt x="367" y="330"/>
                  <a:pt x="360" y="339"/>
                  <a:pt x="352" y="347"/>
                </a:cubicBezTo>
                <a:cubicBezTo>
                  <a:pt x="352" y="347"/>
                  <a:pt x="352" y="347"/>
                  <a:pt x="352" y="347"/>
                </a:cubicBezTo>
                <a:cubicBezTo>
                  <a:pt x="347" y="352"/>
                  <a:pt x="347" y="352"/>
                  <a:pt x="347" y="352"/>
                </a:cubicBezTo>
                <a:cubicBezTo>
                  <a:pt x="347" y="352"/>
                  <a:pt x="347" y="352"/>
                  <a:pt x="347" y="352"/>
                </a:cubicBezTo>
                <a:cubicBezTo>
                  <a:pt x="339" y="360"/>
                  <a:pt x="330" y="367"/>
                  <a:pt x="320" y="373"/>
                </a:cubicBezTo>
                <a:cubicBezTo>
                  <a:pt x="310" y="378"/>
                  <a:pt x="299" y="383"/>
                  <a:pt x="288" y="386"/>
                </a:cubicBezTo>
                <a:cubicBezTo>
                  <a:pt x="289" y="386"/>
                  <a:pt x="289" y="386"/>
                  <a:pt x="289" y="386"/>
                </a:cubicBezTo>
                <a:cubicBezTo>
                  <a:pt x="285" y="387"/>
                  <a:pt x="285" y="387"/>
                  <a:pt x="285" y="387"/>
                </a:cubicBezTo>
                <a:cubicBezTo>
                  <a:pt x="285" y="387"/>
                  <a:pt x="285" y="387"/>
                  <a:pt x="285" y="387"/>
                </a:cubicBezTo>
                <a:cubicBezTo>
                  <a:pt x="281" y="388"/>
                  <a:pt x="281" y="388"/>
                  <a:pt x="281" y="388"/>
                </a:cubicBezTo>
                <a:cubicBezTo>
                  <a:pt x="281" y="388"/>
                  <a:pt x="281" y="388"/>
                  <a:pt x="281" y="388"/>
                </a:cubicBezTo>
                <a:cubicBezTo>
                  <a:pt x="270" y="391"/>
                  <a:pt x="259" y="392"/>
                  <a:pt x="247" y="392"/>
                </a:cubicBezTo>
                <a:cubicBezTo>
                  <a:pt x="236" y="392"/>
                  <a:pt x="225" y="391"/>
                  <a:pt x="213" y="388"/>
                </a:cubicBezTo>
                <a:cubicBezTo>
                  <a:pt x="214" y="388"/>
                  <a:pt x="214" y="388"/>
                  <a:pt x="214" y="388"/>
                </a:cubicBezTo>
                <a:cubicBezTo>
                  <a:pt x="210" y="387"/>
                  <a:pt x="210" y="387"/>
                  <a:pt x="210" y="387"/>
                </a:cubicBezTo>
                <a:cubicBezTo>
                  <a:pt x="210" y="387"/>
                  <a:pt x="210" y="387"/>
                  <a:pt x="210" y="387"/>
                </a:cubicBezTo>
                <a:cubicBezTo>
                  <a:pt x="206" y="386"/>
                  <a:pt x="206" y="386"/>
                  <a:pt x="206" y="386"/>
                </a:cubicBezTo>
                <a:cubicBezTo>
                  <a:pt x="206" y="386"/>
                  <a:pt x="206" y="386"/>
                  <a:pt x="206" y="386"/>
                </a:cubicBezTo>
                <a:cubicBezTo>
                  <a:pt x="195" y="383"/>
                  <a:pt x="185" y="378"/>
                  <a:pt x="175" y="373"/>
                </a:cubicBezTo>
                <a:cubicBezTo>
                  <a:pt x="165" y="367"/>
                  <a:pt x="156" y="360"/>
                  <a:pt x="148" y="352"/>
                </a:cubicBezTo>
                <a:cubicBezTo>
                  <a:pt x="148" y="352"/>
                  <a:pt x="148" y="352"/>
                  <a:pt x="148" y="352"/>
                </a:cubicBezTo>
                <a:cubicBezTo>
                  <a:pt x="142" y="347"/>
                  <a:pt x="142" y="347"/>
                  <a:pt x="142" y="347"/>
                </a:cubicBezTo>
                <a:cubicBezTo>
                  <a:pt x="142" y="347"/>
                  <a:pt x="142" y="347"/>
                  <a:pt x="142" y="347"/>
                </a:cubicBezTo>
                <a:cubicBezTo>
                  <a:pt x="135" y="339"/>
                  <a:pt x="128" y="330"/>
                  <a:pt x="122" y="320"/>
                </a:cubicBezTo>
                <a:cubicBezTo>
                  <a:pt x="116" y="310"/>
                  <a:pt x="112" y="299"/>
                  <a:pt x="109" y="288"/>
                </a:cubicBezTo>
                <a:cubicBezTo>
                  <a:pt x="109" y="289"/>
                  <a:pt x="109" y="289"/>
                  <a:pt x="109" y="289"/>
                </a:cubicBezTo>
                <a:cubicBezTo>
                  <a:pt x="108" y="285"/>
                  <a:pt x="108" y="285"/>
                  <a:pt x="108" y="285"/>
                </a:cubicBezTo>
                <a:cubicBezTo>
                  <a:pt x="108" y="285"/>
                  <a:pt x="108" y="285"/>
                  <a:pt x="108" y="285"/>
                </a:cubicBezTo>
                <a:cubicBezTo>
                  <a:pt x="107" y="281"/>
                  <a:pt x="107" y="281"/>
                  <a:pt x="107" y="281"/>
                </a:cubicBezTo>
                <a:cubicBezTo>
                  <a:pt x="107" y="281"/>
                  <a:pt x="107" y="281"/>
                  <a:pt x="107" y="281"/>
                </a:cubicBezTo>
                <a:cubicBezTo>
                  <a:pt x="104" y="270"/>
                  <a:pt x="103" y="259"/>
                  <a:pt x="103" y="247"/>
                </a:cubicBezTo>
                <a:cubicBezTo>
                  <a:pt x="103" y="236"/>
                  <a:pt x="104" y="225"/>
                  <a:pt x="107" y="214"/>
                </a:cubicBezTo>
                <a:cubicBezTo>
                  <a:pt x="107" y="214"/>
                  <a:pt x="107" y="214"/>
                  <a:pt x="107" y="214"/>
                </a:cubicBezTo>
                <a:cubicBezTo>
                  <a:pt x="108" y="210"/>
                  <a:pt x="108" y="210"/>
                  <a:pt x="108" y="210"/>
                </a:cubicBezTo>
                <a:cubicBezTo>
                  <a:pt x="108" y="210"/>
                  <a:pt x="108" y="210"/>
                  <a:pt x="108" y="210"/>
                </a:cubicBezTo>
                <a:cubicBezTo>
                  <a:pt x="109" y="206"/>
                  <a:pt x="109" y="206"/>
                  <a:pt x="109" y="206"/>
                </a:cubicBezTo>
                <a:cubicBezTo>
                  <a:pt x="109" y="206"/>
                  <a:pt x="109" y="206"/>
                  <a:pt x="109" y="206"/>
                </a:cubicBezTo>
                <a:cubicBezTo>
                  <a:pt x="112" y="195"/>
                  <a:pt x="116" y="185"/>
                  <a:pt x="122" y="175"/>
                </a:cubicBezTo>
                <a:cubicBezTo>
                  <a:pt x="128" y="165"/>
                  <a:pt x="135" y="156"/>
                  <a:pt x="142" y="148"/>
                </a:cubicBezTo>
                <a:cubicBezTo>
                  <a:pt x="142" y="148"/>
                  <a:pt x="142" y="148"/>
                  <a:pt x="142" y="148"/>
                </a:cubicBezTo>
                <a:cubicBezTo>
                  <a:pt x="148" y="142"/>
                  <a:pt x="148" y="142"/>
                  <a:pt x="148" y="142"/>
                </a:cubicBezTo>
                <a:cubicBezTo>
                  <a:pt x="148" y="143"/>
                  <a:pt x="148" y="143"/>
                  <a:pt x="148" y="143"/>
                </a:cubicBezTo>
                <a:cubicBezTo>
                  <a:pt x="156" y="135"/>
                  <a:pt x="165" y="128"/>
                  <a:pt x="175" y="122"/>
                </a:cubicBezTo>
                <a:cubicBezTo>
                  <a:pt x="185" y="116"/>
                  <a:pt x="195" y="112"/>
                  <a:pt x="206" y="109"/>
                </a:cubicBezTo>
                <a:cubicBezTo>
                  <a:pt x="206" y="109"/>
                  <a:pt x="206" y="109"/>
                  <a:pt x="206" y="109"/>
                </a:cubicBezTo>
                <a:cubicBezTo>
                  <a:pt x="210" y="108"/>
                  <a:pt x="210" y="108"/>
                  <a:pt x="210" y="108"/>
                </a:cubicBezTo>
                <a:cubicBezTo>
                  <a:pt x="210" y="108"/>
                  <a:pt x="210" y="108"/>
                  <a:pt x="210" y="108"/>
                </a:cubicBezTo>
                <a:cubicBezTo>
                  <a:pt x="214" y="107"/>
                  <a:pt x="214" y="107"/>
                  <a:pt x="214" y="107"/>
                </a:cubicBezTo>
                <a:cubicBezTo>
                  <a:pt x="213" y="107"/>
                  <a:pt x="213" y="107"/>
                  <a:pt x="213" y="107"/>
                </a:cubicBezTo>
                <a:cubicBezTo>
                  <a:pt x="236" y="101"/>
                  <a:pt x="259" y="101"/>
                  <a:pt x="281" y="107"/>
                </a:cubicBezTo>
                <a:cubicBezTo>
                  <a:pt x="281" y="107"/>
                  <a:pt x="281" y="107"/>
                  <a:pt x="281" y="107"/>
                </a:cubicBezTo>
                <a:cubicBezTo>
                  <a:pt x="285" y="108"/>
                  <a:pt x="285" y="108"/>
                  <a:pt x="285" y="108"/>
                </a:cubicBezTo>
                <a:cubicBezTo>
                  <a:pt x="285" y="108"/>
                  <a:pt x="285" y="108"/>
                  <a:pt x="285" y="108"/>
                </a:cubicBezTo>
                <a:cubicBezTo>
                  <a:pt x="289" y="109"/>
                  <a:pt x="289" y="109"/>
                  <a:pt x="289" y="109"/>
                </a:cubicBezTo>
                <a:cubicBezTo>
                  <a:pt x="288" y="109"/>
                  <a:pt x="288" y="109"/>
                  <a:pt x="288" y="109"/>
                </a:cubicBezTo>
                <a:cubicBezTo>
                  <a:pt x="299" y="112"/>
                  <a:pt x="310" y="116"/>
                  <a:pt x="320" y="122"/>
                </a:cubicBezTo>
                <a:cubicBezTo>
                  <a:pt x="330" y="128"/>
                  <a:pt x="339" y="135"/>
                  <a:pt x="347" y="143"/>
                </a:cubicBezTo>
                <a:cubicBezTo>
                  <a:pt x="347" y="142"/>
                  <a:pt x="347" y="142"/>
                  <a:pt x="347" y="142"/>
                </a:cubicBezTo>
                <a:cubicBezTo>
                  <a:pt x="352" y="148"/>
                  <a:pt x="352" y="148"/>
                  <a:pt x="352" y="148"/>
                </a:cubicBezTo>
                <a:cubicBezTo>
                  <a:pt x="352" y="148"/>
                  <a:pt x="352" y="148"/>
                  <a:pt x="352" y="148"/>
                </a:cubicBezTo>
                <a:cubicBezTo>
                  <a:pt x="360" y="156"/>
                  <a:pt x="367" y="165"/>
                  <a:pt x="373" y="175"/>
                </a:cubicBezTo>
                <a:cubicBezTo>
                  <a:pt x="378" y="185"/>
                  <a:pt x="383" y="195"/>
                  <a:pt x="386" y="206"/>
                </a:cubicBezTo>
                <a:cubicBezTo>
                  <a:pt x="386" y="206"/>
                  <a:pt x="386" y="206"/>
                  <a:pt x="386" y="206"/>
                </a:cubicBezTo>
                <a:cubicBezTo>
                  <a:pt x="387" y="210"/>
                  <a:pt x="387" y="210"/>
                  <a:pt x="387" y="210"/>
                </a:cubicBezTo>
                <a:cubicBezTo>
                  <a:pt x="387" y="210"/>
                  <a:pt x="387" y="210"/>
                  <a:pt x="387" y="210"/>
                </a:cubicBezTo>
                <a:cubicBezTo>
                  <a:pt x="388" y="214"/>
                  <a:pt x="388" y="214"/>
                  <a:pt x="388" y="214"/>
                </a:cubicBezTo>
                <a:cubicBezTo>
                  <a:pt x="388" y="214"/>
                  <a:pt x="388" y="214"/>
                  <a:pt x="388" y="214"/>
                </a:cubicBezTo>
                <a:cubicBezTo>
                  <a:pt x="391" y="225"/>
                  <a:pt x="392" y="236"/>
                  <a:pt x="392" y="247"/>
                </a:cubicBezTo>
                <a:cubicBezTo>
                  <a:pt x="392" y="259"/>
                  <a:pt x="391" y="270"/>
                  <a:pt x="388" y="281"/>
                </a:cubicBezTo>
                <a:close/>
              </a:path>
            </a:pathLst>
          </a:custGeom>
          <a:solidFill>
            <a:schemeClr val="accent5">
              <a:lumMod val="60000"/>
              <a:lumOff val="40000"/>
            </a:schemeClr>
          </a:solidFill>
          <a:ln>
            <a:noFill/>
          </a:ln>
        </p:spPr>
        <p:txBody>
          <a:bodyPr vert="horz" wrap="square" lIns="121920" tIns="60960" rIns="121920" bIns="60960" numCol="1" anchor="t" anchorCtr="0" compatLnSpc="1"/>
          <a:lstStyle/>
          <a:p>
            <a:endParaRPr lang="en-US" sz="2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 name="Freeform 8"/>
          <p:cNvSpPr>
            <a:spLocks noEditPoints="1"/>
          </p:cNvSpPr>
          <p:nvPr/>
        </p:nvSpPr>
        <p:spPr bwMode="auto">
          <a:xfrm>
            <a:off x="9904771" y="1822402"/>
            <a:ext cx="431197" cy="430740"/>
          </a:xfrm>
          <a:custGeom>
            <a:avLst/>
            <a:gdLst>
              <a:gd name="T0" fmla="*/ 453 w 495"/>
              <a:gd name="T1" fmla="*/ 192 h 495"/>
              <a:gd name="T2" fmla="*/ 449 w 495"/>
              <a:gd name="T3" fmla="*/ 167 h 495"/>
              <a:gd name="T4" fmla="*/ 445 w 495"/>
              <a:gd name="T5" fmla="*/ 103 h 495"/>
              <a:gd name="T6" fmla="*/ 398 w 495"/>
              <a:gd name="T7" fmla="*/ 96 h 495"/>
              <a:gd name="T8" fmla="*/ 392 w 495"/>
              <a:gd name="T9" fmla="*/ 49 h 495"/>
              <a:gd name="T10" fmla="*/ 328 w 495"/>
              <a:gd name="T11" fmla="*/ 46 h 495"/>
              <a:gd name="T12" fmla="*/ 302 w 495"/>
              <a:gd name="T13" fmla="*/ 41 h 495"/>
              <a:gd name="T14" fmla="*/ 269 w 495"/>
              <a:gd name="T15" fmla="*/ 0 h 495"/>
              <a:gd name="T16" fmla="*/ 211 w 495"/>
              <a:gd name="T17" fmla="*/ 37 h 495"/>
              <a:gd name="T18" fmla="*/ 173 w 495"/>
              <a:gd name="T19" fmla="*/ 47 h 495"/>
              <a:gd name="T20" fmla="*/ 105 w 495"/>
              <a:gd name="T21" fmla="*/ 44 h 495"/>
              <a:gd name="T22" fmla="*/ 96 w 495"/>
              <a:gd name="T23" fmla="*/ 97 h 495"/>
              <a:gd name="T24" fmla="*/ 77 w 495"/>
              <a:gd name="T25" fmla="*/ 113 h 495"/>
              <a:gd name="T26" fmla="*/ 23 w 495"/>
              <a:gd name="T27" fmla="*/ 148 h 495"/>
              <a:gd name="T28" fmla="*/ 41 w 495"/>
              <a:gd name="T29" fmla="*/ 193 h 495"/>
              <a:gd name="T30" fmla="*/ 3 w 495"/>
              <a:gd name="T31" fmla="*/ 221 h 495"/>
              <a:gd name="T32" fmla="*/ 32 w 495"/>
              <a:gd name="T33" fmla="*/ 279 h 495"/>
              <a:gd name="T34" fmla="*/ 41 w 495"/>
              <a:gd name="T35" fmla="*/ 303 h 495"/>
              <a:gd name="T36" fmla="*/ 22 w 495"/>
              <a:gd name="T37" fmla="*/ 352 h 495"/>
              <a:gd name="T38" fmla="*/ 83 w 495"/>
              <a:gd name="T39" fmla="*/ 384 h 495"/>
              <a:gd name="T40" fmla="*/ 111 w 495"/>
              <a:gd name="T41" fmla="*/ 411 h 495"/>
              <a:gd name="T42" fmla="*/ 142 w 495"/>
              <a:gd name="T43" fmla="*/ 473 h 495"/>
              <a:gd name="T44" fmla="*/ 192 w 495"/>
              <a:gd name="T45" fmla="*/ 453 h 495"/>
              <a:gd name="T46" fmla="*/ 216 w 495"/>
              <a:gd name="T47" fmla="*/ 462 h 495"/>
              <a:gd name="T48" fmla="*/ 274 w 495"/>
              <a:gd name="T49" fmla="*/ 491 h 495"/>
              <a:gd name="T50" fmla="*/ 303 w 495"/>
              <a:gd name="T51" fmla="*/ 453 h 495"/>
              <a:gd name="T52" fmla="*/ 346 w 495"/>
              <a:gd name="T53" fmla="*/ 472 h 495"/>
              <a:gd name="T54" fmla="*/ 382 w 495"/>
              <a:gd name="T55" fmla="*/ 418 h 495"/>
              <a:gd name="T56" fmla="*/ 399 w 495"/>
              <a:gd name="T57" fmla="*/ 398 h 495"/>
              <a:gd name="T58" fmla="*/ 451 w 495"/>
              <a:gd name="T59" fmla="*/ 390 h 495"/>
              <a:gd name="T60" fmla="*/ 447 w 495"/>
              <a:gd name="T61" fmla="*/ 321 h 495"/>
              <a:gd name="T62" fmla="*/ 458 w 495"/>
              <a:gd name="T63" fmla="*/ 283 h 495"/>
              <a:gd name="T64" fmla="*/ 495 w 495"/>
              <a:gd name="T65" fmla="*/ 226 h 495"/>
              <a:gd name="T66" fmla="*/ 387 w 495"/>
              <a:gd name="T67" fmla="*/ 285 h 495"/>
              <a:gd name="T68" fmla="*/ 352 w 495"/>
              <a:gd name="T69" fmla="*/ 347 h 495"/>
              <a:gd name="T70" fmla="*/ 320 w 495"/>
              <a:gd name="T71" fmla="*/ 373 h 495"/>
              <a:gd name="T72" fmla="*/ 285 w 495"/>
              <a:gd name="T73" fmla="*/ 387 h 495"/>
              <a:gd name="T74" fmla="*/ 213 w 495"/>
              <a:gd name="T75" fmla="*/ 388 h 495"/>
              <a:gd name="T76" fmla="*/ 206 w 495"/>
              <a:gd name="T77" fmla="*/ 386 h 495"/>
              <a:gd name="T78" fmla="*/ 148 w 495"/>
              <a:gd name="T79" fmla="*/ 352 h 495"/>
              <a:gd name="T80" fmla="*/ 109 w 495"/>
              <a:gd name="T81" fmla="*/ 288 h 495"/>
              <a:gd name="T82" fmla="*/ 107 w 495"/>
              <a:gd name="T83" fmla="*/ 281 h 495"/>
              <a:gd name="T84" fmla="*/ 107 w 495"/>
              <a:gd name="T85" fmla="*/ 214 h 495"/>
              <a:gd name="T86" fmla="*/ 109 w 495"/>
              <a:gd name="T87" fmla="*/ 206 h 495"/>
              <a:gd name="T88" fmla="*/ 148 w 495"/>
              <a:gd name="T89" fmla="*/ 142 h 495"/>
              <a:gd name="T90" fmla="*/ 206 w 495"/>
              <a:gd name="T91" fmla="*/ 109 h 495"/>
              <a:gd name="T92" fmla="*/ 213 w 495"/>
              <a:gd name="T93" fmla="*/ 107 h 495"/>
              <a:gd name="T94" fmla="*/ 285 w 495"/>
              <a:gd name="T95" fmla="*/ 108 h 495"/>
              <a:gd name="T96" fmla="*/ 347 w 495"/>
              <a:gd name="T97" fmla="*/ 143 h 495"/>
              <a:gd name="T98" fmla="*/ 373 w 495"/>
              <a:gd name="T99" fmla="*/ 175 h 495"/>
              <a:gd name="T100" fmla="*/ 387 w 495"/>
              <a:gd name="T101" fmla="*/ 210 h 495"/>
              <a:gd name="T102" fmla="*/ 388 w 495"/>
              <a:gd name="T103" fmla="*/ 281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5" h="495">
                <a:moveTo>
                  <a:pt x="491" y="221"/>
                </a:moveTo>
                <a:cubicBezTo>
                  <a:pt x="462" y="216"/>
                  <a:pt x="462" y="216"/>
                  <a:pt x="462" y="216"/>
                </a:cubicBezTo>
                <a:cubicBezTo>
                  <a:pt x="460" y="216"/>
                  <a:pt x="458" y="214"/>
                  <a:pt x="458" y="211"/>
                </a:cubicBezTo>
                <a:cubicBezTo>
                  <a:pt x="456" y="205"/>
                  <a:pt x="455" y="198"/>
                  <a:pt x="453" y="192"/>
                </a:cubicBezTo>
                <a:cubicBezTo>
                  <a:pt x="453" y="192"/>
                  <a:pt x="453" y="192"/>
                  <a:pt x="453" y="192"/>
                </a:cubicBezTo>
                <a:cubicBezTo>
                  <a:pt x="453" y="192"/>
                  <a:pt x="453" y="192"/>
                  <a:pt x="453" y="192"/>
                </a:cubicBezTo>
                <a:cubicBezTo>
                  <a:pt x="452" y="186"/>
                  <a:pt x="450" y="180"/>
                  <a:pt x="447" y="173"/>
                </a:cubicBezTo>
                <a:cubicBezTo>
                  <a:pt x="447" y="171"/>
                  <a:pt x="447" y="169"/>
                  <a:pt x="449" y="167"/>
                </a:cubicBezTo>
                <a:cubicBezTo>
                  <a:pt x="472" y="148"/>
                  <a:pt x="472" y="148"/>
                  <a:pt x="472" y="148"/>
                </a:cubicBezTo>
                <a:cubicBezTo>
                  <a:pt x="474" y="147"/>
                  <a:pt x="474" y="144"/>
                  <a:pt x="473" y="142"/>
                </a:cubicBezTo>
                <a:cubicBezTo>
                  <a:pt x="451" y="105"/>
                  <a:pt x="451" y="105"/>
                  <a:pt x="451" y="105"/>
                </a:cubicBezTo>
                <a:cubicBezTo>
                  <a:pt x="450" y="103"/>
                  <a:pt x="448" y="102"/>
                  <a:pt x="445" y="103"/>
                </a:cubicBezTo>
                <a:cubicBezTo>
                  <a:pt x="418" y="113"/>
                  <a:pt x="418" y="113"/>
                  <a:pt x="418" y="113"/>
                </a:cubicBezTo>
                <a:cubicBezTo>
                  <a:pt x="415" y="114"/>
                  <a:pt x="413" y="113"/>
                  <a:pt x="411" y="111"/>
                </a:cubicBezTo>
                <a:cubicBezTo>
                  <a:pt x="407" y="106"/>
                  <a:pt x="403" y="101"/>
                  <a:pt x="398" y="97"/>
                </a:cubicBezTo>
                <a:cubicBezTo>
                  <a:pt x="398" y="96"/>
                  <a:pt x="398" y="96"/>
                  <a:pt x="398" y="96"/>
                </a:cubicBezTo>
                <a:cubicBezTo>
                  <a:pt x="398" y="96"/>
                  <a:pt x="398" y="96"/>
                  <a:pt x="398" y="96"/>
                </a:cubicBezTo>
                <a:cubicBezTo>
                  <a:pt x="393" y="92"/>
                  <a:pt x="389" y="87"/>
                  <a:pt x="384" y="83"/>
                </a:cubicBezTo>
                <a:cubicBezTo>
                  <a:pt x="382" y="82"/>
                  <a:pt x="381" y="79"/>
                  <a:pt x="382" y="77"/>
                </a:cubicBezTo>
                <a:cubicBezTo>
                  <a:pt x="392" y="49"/>
                  <a:pt x="392" y="49"/>
                  <a:pt x="392" y="49"/>
                </a:cubicBezTo>
                <a:cubicBezTo>
                  <a:pt x="393" y="47"/>
                  <a:pt x="392" y="45"/>
                  <a:pt x="390" y="44"/>
                </a:cubicBezTo>
                <a:cubicBezTo>
                  <a:pt x="352" y="22"/>
                  <a:pt x="352" y="22"/>
                  <a:pt x="352" y="22"/>
                </a:cubicBezTo>
                <a:cubicBezTo>
                  <a:pt x="350" y="21"/>
                  <a:pt x="348" y="21"/>
                  <a:pt x="346" y="23"/>
                </a:cubicBezTo>
                <a:cubicBezTo>
                  <a:pt x="328" y="46"/>
                  <a:pt x="328" y="46"/>
                  <a:pt x="328" y="46"/>
                </a:cubicBezTo>
                <a:cubicBezTo>
                  <a:pt x="326" y="47"/>
                  <a:pt x="324" y="48"/>
                  <a:pt x="321" y="47"/>
                </a:cubicBezTo>
                <a:cubicBezTo>
                  <a:pt x="315" y="45"/>
                  <a:pt x="309" y="43"/>
                  <a:pt x="303" y="41"/>
                </a:cubicBezTo>
                <a:cubicBezTo>
                  <a:pt x="302" y="41"/>
                  <a:pt x="302" y="41"/>
                  <a:pt x="302" y="41"/>
                </a:cubicBezTo>
                <a:cubicBezTo>
                  <a:pt x="302" y="41"/>
                  <a:pt x="302" y="41"/>
                  <a:pt x="302" y="41"/>
                </a:cubicBezTo>
                <a:cubicBezTo>
                  <a:pt x="296" y="40"/>
                  <a:pt x="290" y="38"/>
                  <a:pt x="283" y="37"/>
                </a:cubicBezTo>
                <a:cubicBezTo>
                  <a:pt x="281" y="37"/>
                  <a:pt x="279" y="35"/>
                  <a:pt x="279" y="33"/>
                </a:cubicBezTo>
                <a:cubicBezTo>
                  <a:pt x="274" y="3"/>
                  <a:pt x="274" y="3"/>
                  <a:pt x="274" y="3"/>
                </a:cubicBezTo>
                <a:cubicBezTo>
                  <a:pt x="273" y="1"/>
                  <a:pt x="271" y="0"/>
                  <a:pt x="269" y="0"/>
                </a:cubicBezTo>
                <a:cubicBezTo>
                  <a:pt x="225" y="0"/>
                  <a:pt x="225" y="0"/>
                  <a:pt x="225" y="0"/>
                </a:cubicBezTo>
                <a:cubicBezTo>
                  <a:pt x="223" y="0"/>
                  <a:pt x="221" y="1"/>
                  <a:pt x="221" y="3"/>
                </a:cubicBezTo>
                <a:cubicBezTo>
                  <a:pt x="216" y="33"/>
                  <a:pt x="216" y="33"/>
                  <a:pt x="216" y="33"/>
                </a:cubicBezTo>
                <a:cubicBezTo>
                  <a:pt x="216" y="35"/>
                  <a:pt x="214" y="37"/>
                  <a:pt x="211" y="37"/>
                </a:cubicBezTo>
                <a:cubicBezTo>
                  <a:pt x="205" y="38"/>
                  <a:pt x="198" y="40"/>
                  <a:pt x="192" y="41"/>
                </a:cubicBezTo>
                <a:cubicBezTo>
                  <a:pt x="192" y="41"/>
                  <a:pt x="192" y="41"/>
                  <a:pt x="192" y="41"/>
                </a:cubicBezTo>
                <a:cubicBezTo>
                  <a:pt x="192" y="41"/>
                  <a:pt x="192" y="41"/>
                  <a:pt x="192" y="41"/>
                </a:cubicBezTo>
                <a:cubicBezTo>
                  <a:pt x="186" y="43"/>
                  <a:pt x="179" y="45"/>
                  <a:pt x="173" y="47"/>
                </a:cubicBezTo>
                <a:cubicBezTo>
                  <a:pt x="171" y="48"/>
                  <a:pt x="169" y="47"/>
                  <a:pt x="167" y="46"/>
                </a:cubicBezTo>
                <a:cubicBezTo>
                  <a:pt x="148" y="23"/>
                  <a:pt x="148" y="23"/>
                  <a:pt x="148" y="23"/>
                </a:cubicBezTo>
                <a:cubicBezTo>
                  <a:pt x="147" y="21"/>
                  <a:pt x="144" y="21"/>
                  <a:pt x="142" y="22"/>
                </a:cubicBezTo>
                <a:cubicBezTo>
                  <a:pt x="105" y="44"/>
                  <a:pt x="105" y="44"/>
                  <a:pt x="105" y="44"/>
                </a:cubicBezTo>
                <a:cubicBezTo>
                  <a:pt x="103" y="45"/>
                  <a:pt x="102" y="47"/>
                  <a:pt x="102" y="49"/>
                </a:cubicBezTo>
                <a:cubicBezTo>
                  <a:pt x="113" y="77"/>
                  <a:pt x="113" y="77"/>
                  <a:pt x="113" y="77"/>
                </a:cubicBezTo>
                <a:cubicBezTo>
                  <a:pt x="114" y="79"/>
                  <a:pt x="113" y="82"/>
                  <a:pt x="111" y="83"/>
                </a:cubicBezTo>
                <a:cubicBezTo>
                  <a:pt x="106" y="87"/>
                  <a:pt x="101" y="92"/>
                  <a:pt x="96" y="97"/>
                </a:cubicBezTo>
                <a:cubicBezTo>
                  <a:pt x="96" y="97"/>
                  <a:pt x="96" y="97"/>
                  <a:pt x="96" y="97"/>
                </a:cubicBezTo>
                <a:cubicBezTo>
                  <a:pt x="96" y="97"/>
                  <a:pt x="96" y="97"/>
                  <a:pt x="96" y="97"/>
                </a:cubicBezTo>
                <a:cubicBezTo>
                  <a:pt x="92" y="101"/>
                  <a:pt x="87" y="106"/>
                  <a:pt x="83" y="111"/>
                </a:cubicBezTo>
                <a:cubicBezTo>
                  <a:pt x="82" y="113"/>
                  <a:pt x="79" y="114"/>
                  <a:pt x="77" y="113"/>
                </a:cubicBezTo>
                <a:cubicBezTo>
                  <a:pt x="49" y="103"/>
                  <a:pt x="49" y="103"/>
                  <a:pt x="49" y="103"/>
                </a:cubicBezTo>
                <a:cubicBezTo>
                  <a:pt x="47" y="102"/>
                  <a:pt x="45" y="103"/>
                  <a:pt x="44" y="105"/>
                </a:cubicBezTo>
                <a:cubicBezTo>
                  <a:pt x="22" y="142"/>
                  <a:pt x="22" y="142"/>
                  <a:pt x="22" y="142"/>
                </a:cubicBezTo>
                <a:cubicBezTo>
                  <a:pt x="21" y="144"/>
                  <a:pt x="21" y="147"/>
                  <a:pt x="23" y="148"/>
                </a:cubicBezTo>
                <a:cubicBezTo>
                  <a:pt x="46" y="167"/>
                  <a:pt x="46" y="167"/>
                  <a:pt x="46" y="167"/>
                </a:cubicBezTo>
                <a:cubicBezTo>
                  <a:pt x="47" y="169"/>
                  <a:pt x="48" y="171"/>
                  <a:pt x="47" y="173"/>
                </a:cubicBezTo>
                <a:cubicBezTo>
                  <a:pt x="45" y="180"/>
                  <a:pt x="43" y="186"/>
                  <a:pt x="41" y="192"/>
                </a:cubicBezTo>
                <a:cubicBezTo>
                  <a:pt x="41" y="193"/>
                  <a:pt x="41" y="193"/>
                  <a:pt x="41" y="193"/>
                </a:cubicBezTo>
                <a:cubicBezTo>
                  <a:pt x="41" y="193"/>
                  <a:pt x="41" y="193"/>
                  <a:pt x="41" y="193"/>
                </a:cubicBezTo>
                <a:cubicBezTo>
                  <a:pt x="40" y="199"/>
                  <a:pt x="38" y="205"/>
                  <a:pt x="37" y="211"/>
                </a:cubicBezTo>
                <a:cubicBezTo>
                  <a:pt x="37" y="214"/>
                  <a:pt x="35" y="216"/>
                  <a:pt x="32" y="216"/>
                </a:cubicBezTo>
                <a:cubicBezTo>
                  <a:pt x="3" y="221"/>
                  <a:pt x="3" y="221"/>
                  <a:pt x="3" y="221"/>
                </a:cubicBezTo>
                <a:cubicBezTo>
                  <a:pt x="1" y="221"/>
                  <a:pt x="0" y="223"/>
                  <a:pt x="0" y="226"/>
                </a:cubicBezTo>
                <a:cubicBezTo>
                  <a:pt x="0" y="269"/>
                  <a:pt x="0" y="269"/>
                  <a:pt x="0" y="269"/>
                </a:cubicBezTo>
                <a:cubicBezTo>
                  <a:pt x="0" y="271"/>
                  <a:pt x="1" y="273"/>
                  <a:pt x="3" y="274"/>
                </a:cubicBezTo>
                <a:cubicBezTo>
                  <a:pt x="32" y="279"/>
                  <a:pt x="32" y="279"/>
                  <a:pt x="32" y="279"/>
                </a:cubicBezTo>
                <a:cubicBezTo>
                  <a:pt x="35" y="279"/>
                  <a:pt x="37" y="281"/>
                  <a:pt x="37" y="283"/>
                </a:cubicBezTo>
                <a:cubicBezTo>
                  <a:pt x="38" y="290"/>
                  <a:pt x="40" y="296"/>
                  <a:pt x="41" y="303"/>
                </a:cubicBezTo>
                <a:cubicBezTo>
                  <a:pt x="41" y="303"/>
                  <a:pt x="41" y="303"/>
                  <a:pt x="41" y="303"/>
                </a:cubicBezTo>
                <a:cubicBezTo>
                  <a:pt x="41" y="303"/>
                  <a:pt x="41" y="303"/>
                  <a:pt x="41" y="303"/>
                </a:cubicBezTo>
                <a:cubicBezTo>
                  <a:pt x="43" y="309"/>
                  <a:pt x="45" y="315"/>
                  <a:pt x="47" y="321"/>
                </a:cubicBezTo>
                <a:cubicBezTo>
                  <a:pt x="48" y="324"/>
                  <a:pt x="47" y="326"/>
                  <a:pt x="46" y="328"/>
                </a:cubicBezTo>
                <a:cubicBezTo>
                  <a:pt x="23" y="347"/>
                  <a:pt x="23" y="347"/>
                  <a:pt x="23" y="347"/>
                </a:cubicBezTo>
                <a:cubicBezTo>
                  <a:pt x="21" y="348"/>
                  <a:pt x="21" y="350"/>
                  <a:pt x="22" y="352"/>
                </a:cubicBezTo>
                <a:cubicBezTo>
                  <a:pt x="44" y="390"/>
                  <a:pt x="44" y="390"/>
                  <a:pt x="44" y="390"/>
                </a:cubicBezTo>
                <a:cubicBezTo>
                  <a:pt x="45" y="392"/>
                  <a:pt x="47" y="393"/>
                  <a:pt x="49" y="392"/>
                </a:cubicBezTo>
                <a:cubicBezTo>
                  <a:pt x="77" y="382"/>
                  <a:pt x="77" y="382"/>
                  <a:pt x="77" y="382"/>
                </a:cubicBezTo>
                <a:cubicBezTo>
                  <a:pt x="79" y="381"/>
                  <a:pt x="82" y="382"/>
                  <a:pt x="83" y="384"/>
                </a:cubicBezTo>
                <a:cubicBezTo>
                  <a:pt x="87" y="389"/>
                  <a:pt x="92" y="394"/>
                  <a:pt x="96" y="398"/>
                </a:cubicBezTo>
                <a:cubicBezTo>
                  <a:pt x="97" y="399"/>
                  <a:pt x="97" y="399"/>
                  <a:pt x="97" y="399"/>
                </a:cubicBezTo>
                <a:cubicBezTo>
                  <a:pt x="97" y="399"/>
                  <a:pt x="97" y="399"/>
                  <a:pt x="97" y="399"/>
                </a:cubicBezTo>
                <a:cubicBezTo>
                  <a:pt x="101" y="403"/>
                  <a:pt x="106" y="407"/>
                  <a:pt x="111" y="411"/>
                </a:cubicBezTo>
                <a:cubicBezTo>
                  <a:pt x="113" y="413"/>
                  <a:pt x="114" y="416"/>
                  <a:pt x="113" y="418"/>
                </a:cubicBezTo>
                <a:cubicBezTo>
                  <a:pt x="102" y="445"/>
                  <a:pt x="102" y="445"/>
                  <a:pt x="102" y="445"/>
                </a:cubicBezTo>
                <a:cubicBezTo>
                  <a:pt x="102" y="448"/>
                  <a:pt x="103" y="450"/>
                  <a:pt x="105" y="451"/>
                </a:cubicBezTo>
                <a:cubicBezTo>
                  <a:pt x="142" y="473"/>
                  <a:pt x="142" y="473"/>
                  <a:pt x="142" y="473"/>
                </a:cubicBezTo>
                <a:cubicBezTo>
                  <a:pt x="144" y="474"/>
                  <a:pt x="147" y="474"/>
                  <a:pt x="148" y="472"/>
                </a:cubicBezTo>
                <a:cubicBezTo>
                  <a:pt x="167" y="449"/>
                  <a:pt x="167" y="449"/>
                  <a:pt x="167" y="449"/>
                </a:cubicBezTo>
                <a:cubicBezTo>
                  <a:pt x="169" y="447"/>
                  <a:pt x="171" y="447"/>
                  <a:pt x="173" y="447"/>
                </a:cubicBezTo>
                <a:cubicBezTo>
                  <a:pt x="179" y="450"/>
                  <a:pt x="186" y="452"/>
                  <a:pt x="192" y="453"/>
                </a:cubicBezTo>
                <a:cubicBezTo>
                  <a:pt x="193" y="454"/>
                  <a:pt x="193" y="454"/>
                  <a:pt x="193" y="454"/>
                </a:cubicBezTo>
                <a:cubicBezTo>
                  <a:pt x="193" y="454"/>
                  <a:pt x="193" y="454"/>
                  <a:pt x="193" y="454"/>
                </a:cubicBezTo>
                <a:cubicBezTo>
                  <a:pt x="199" y="455"/>
                  <a:pt x="205" y="457"/>
                  <a:pt x="211" y="458"/>
                </a:cubicBezTo>
                <a:cubicBezTo>
                  <a:pt x="214" y="458"/>
                  <a:pt x="216" y="460"/>
                  <a:pt x="216" y="462"/>
                </a:cubicBezTo>
                <a:cubicBezTo>
                  <a:pt x="221" y="491"/>
                  <a:pt x="221" y="491"/>
                  <a:pt x="221" y="491"/>
                </a:cubicBezTo>
                <a:cubicBezTo>
                  <a:pt x="221" y="494"/>
                  <a:pt x="223" y="495"/>
                  <a:pt x="225" y="495"/>
                </a:cubicBezTo>
                <a:cubicBezTo>
                  <a:pt x="269" y="495"/>
                  <a:pt x="269" y="495"/>
                  <a:pt x="269" y="495"/>
                </a:cubicBezTo>
                <a:cubicBezTo>
                  <a:pt x="271" y="495"/>
                  <a:pt x="273" y="494"/>
                  <a:pt x="274" y="491"/>
                </a:cubicBezTo>
                <a:cubicBezTo>
                  <a:pt x="279" y="462"/>
                  <a:pt x="279" y="462"/>
                  <a:pt x="279" y="462"/>
                </a:cubicBezTo>
                <a:cubicBezTo>
                  <a:pt x="279" y="460"/>
                  <a:pt x="281" y="458"/>
                  <a:pt x="283" y="458"/>
                </a:cubicBezTo>
                <a:cubicBezTo>
                  <a:pt x="290" y="457"/>
                  <a:pt x="296" y="455"/>
                  <a:pt x="303" y="453"/>
                </a:cubicBezTo>
                <a:cubicBezTo>
                  <a:pt x="303" y="453"/>
                  <a:pt x="303" y="453"/>
                  <a:pt x="303" y="453"/>
                </a:cubicBezTo>
                <a:cubicBezTo>
                  <a:pt x="303" y="453"/>
                  <a:pt x="303" y="453"/>
                  <a:pt x="303" y="453"/>
                </a:cubicBezTo>
                <a:cubicBezTo>
                  <a:pt x="309" y="452"/>
                  <a:pt x="315" y="450"/>
                  <a:pt x="321" y="447"/>
                </a:cubicBezTo>
                <a:cubicBezTo>
                  <a:pt x="324" y="447"/>
                  <a:pt x="326" y="447"/>
                  <a:pt x="328" y="449"/>
                </a:cubicBezTo>
                <a:cubicBezTo>
                  <a:pt x="346" y="472"/>
                  <a:pt x="346" y="472"/>
                  <a:pt x="346" y="472"/>
                </a:cubicBezTo>
                <a:cubicBezTo>
                  <a:pt x="348" y="474"/>
                  <a:pt x="350" y="474"/>
                  <a:pt x="352" y="473"/>
                </a:cubicBezTo>
                <a:cubicBezTo>
                  <a:pt x="390" y="451"/>
                  <a:pt x="390" y="451"/>
                  <a:pt x="390" y="451"/>
                </a:cubicBezTo>
                <a:cubicBezTo>
                  <a:pt x="392" y="450"/>
                  <a:pt x="393" y="448"/>
                  <a:pt x="392" y="445"/>
                </a:cubicBezTo>
                <a:cubicBezTo>
                  <a:pt x="382" y="418"/>
                  <a:pt x="382" y="418"/>
                  <a:pt x="382" y="418"/>
                </a:cubicBezTo>
                <a:cubicBezTo>
                  <a:pt x="381" y="416"/>
                  <a:pt x="382" y="413"/>
                  <a:pt x="384" y="412"/>
                </a:cubicBezTo>
                <a:cubicBezTo>
                  <a:pt x="389" y="407"/>
                  <a:pt x="394" y="403"/>
                  <a:pt x="398" y="398"/>
                </a:cubicBezTo>
                <a:cubicBezTo>
                  <a:pt x="399" y="398"/>
                  <a:pt x="399" y="398"/>
                  <a:pt x="399" y="398"/>
                </a:cubicBezTo>
                <a:cubicBezTo>
                  <a:pt x="399" y="398"/>
                  <a:pt x="399" y="398"/>
                  <a:pt x="399" y="398"/>
                </a:cubicBezTo>
                <a:cubicBezTo>
                  <a:pt x="403" y="393"/>
                  <a:pt x="407" y="389"/>
                  <a:pt x="411" y="384"/>
                </a:cubicBezTo>
                <a:cubicBezTo>
                  <a:pt x="413" y="382"/>
                  <a:pt x="415" y="381"/>
                  <a:pt x="418" y="382"/>
                </a:cubicBezTo>
                <a:cubicBezTo>
                  <a:pt x="445" y="392"/>
                  <a:pt x="445" y="392"/>
                  <a:pt x="445" y="392"/>
                </a:cubicBezTo>
                <a:cubicBezTo>
                  <a:pt x="447" y="393"/>
                  <a:pt x="450" y="392"/>
                  <a:pt x="451" y="390"/>
                </a:cubicBezTo>
                <a:cubicBezTo>
                  <a:pt x="473" y="352"/>
                  <a:pt x="473" y="352"/>
                  <a:pt x="473" y="352"/>
                </a:cubicBezTo>
                <a:cubicBezTo>
                  <a:pt x="474" y="350"/>
                  <a:pt x="474" y="348"/>
                  <a:pt x="472" y="347"/>
                </a:cubicBezTo>
                <a:cubicBezTo>
                  <a:pt x="449" y="328"/>
                  <a:pt x="449" y="328"/>
                  <a:pt x="449" y="328"/>
                </a:cubicBezTo>
                <a:cubicBezTo>
                  <a:pt x="447" y="326"/>
                  <a:pt x="447" y="324"/>
                  <a:pt x="447" y="321"/>
                </a:cubicBezTo>
                <a:cubicBezTo>
                  <a:pt x="450" y="315"/>
                  <a:pt x="452" y="309"/>
                  <a:pt x="453" y="303"/>
                </a:cubicBezTo>
                <a:cubicBezTo>
                  <a:pt x="454" y="302"/>
                  <a:pt x="454" y="302"/>
                  <a:pt x="454" y="302"/>
                </a:cubicBezTo>
                <a:cubicBezTo>
                  <a:pt x="454" y="302"/>
                  <a:pt x="454" y="302"/>
                  <a:pt x="454" y="302"/>
                </a:cubicBezTo>
                <a:cubicBezTo>
                  <a:pt x="455" y="296"/>
                  <a:pt x="456" y="290"/>
                  <a:pt x="458" y="283"/>
                </a:cubicBezTo>
                <a:cubicBezTo>
                  <a:pt x="458" y="281"/>
                  <a:pt x="460" y="279"/>
                  <a:pt x="462" y="279"/>
                </a:cubicBezTo>
                <a:cubicBezTo>
                  <a:pt x="491" y="274"/>
                  <a:pt x="491" y="274"/>
                  <a:pt x="491" y="274"/>
                </a:cubicBezTo>
                <a:cubicBezTo>
                  <a:pt x="493" y="273"/>
                  <a:pt x="495" y="271"/>
                  <a:pt x="495" y="269"/>
                </a:cubicBezTo>
                <a:cubicBezTo>
                  <a:pt x="495" y="226"/>
                  <a:pt x="495" y="226"/>
                  <a:pt x="495" y="226"/>
                </a:cubicBezTo>
                <a:cubicBezTo>
                  <a:pt x="495" y="223"/>
                  <a:pt x="493" y="221"/>
                  <a:pt x="491" y="221"/>
                </a:cubicBezTo>
                <a:close/>
                <a:moveTo>
                  <a:pt x="388" y="281"/>
                </a:moveTo>
                <a:cubicBezTo>
                  <a:pt x="387" y="285"/>
                  <a:pt x="387" y="285"/>
                  <a:pt x="387" y="285"/>
                </a:cubicBezTo>
                <a:cubicBezTo>
                  <a:pt x="387" y="285"/>
                  <a:pt x="387" y="285"/>
                  <a:pt x="387" y="285"/>
                </a:cubicBezTo>
                <a:cubicBezTo>
                  <a:pt x="386" y="289"/>
                  <a:pt x="386" y="289"/>
                  <a:pt x="386" y="289"/>
                </a:cubicBezTo>
                <a:cubicBezTo>
                  <a:pt x="386" y="288"/>
                  <a:pt x="386" y="288"/>
                  <a:pt x="386" y="288"/>
                </a:cubicBezTo>
                <a:cubicBezTo>
                  <a:pt x="383" y="299"/>
                  <a:pt x="378" y="310"/>
                  <a:pt x="373" y="320"/>
                </a:cubicBezTo>
                <a:cubicBezTo>
                  <a:pt x="367" y="330"/>
                  <a:pt x="360" y="339"/>
                  <a:pt x="352" y="347"/>
                </a:cubicBezTo>
                <a:cubicBezTo>
                  <a:pt x="352" y="347"/>
                  <a:pt x="352" y="347"/>
                  <a:pt x="352" y="347"/>
                </a:cubicBezTo>
                <a:cubicBezTo>
                  <a:pt x="347" y="352"/>
                  <a:pt x="347" y="352"/>
                  <a:pt x="347" y="352"/>
                </a:cubicBezTo>
                <a:cubicBezTo>
                  <a:pt x="347" y="352"/>
                  <a:pt x="347" y="352"/>
                  <a:pt x="347" y="352"/>
                </a:cubicBezTo>
                <a:cubicBezTo>
                  <a:pt x="339" y="360"/>
                  <a:pt x="330" y="367"/>
                  <a:pt x="320" y="373"/>
                </a:cubicBezTo>
                <a:cubicBezTo>
                  <a:pt x="310" y="378"/>
                  <a:pt x="299" y="383"/>
                  <a:pt x="288" y="386"/>
                </a:cubicBezTo>
                <a:cubicBezTo>
                  <a:pt x="289" y="386"/>
                  <a:pt x="289" y="386"/>
                  <a:pt x="289" y="386"/>
                </a:cubicBezTo>
                <a:cubicBezTo>
                  <a:pt x="285" y="387"/>
                  <a:pt x="285" y="387"/>
                  <a:pt x="285" y="387"/>
                </a:cubicBezTo>
                <a:cubicBezTo>
                  <a:pt x="285" y="387"/>
                  <a:pt x="285" y="387"/>
                  <a:pt x="285" y="387"/>
                </a:cubicBezTo>
                <a:cubicBezTo>
                  <a:pt x="281" y="388"/>
                  <a:pt x="281" y="388"/>
                  <a:pt x="281" y="388"/>
                </a:cubicBezTo>
                <a:cubicBezTo>
                  <a:pt x="281" y="388"/>
                  <a:pt x="281" y="388"/>
                  <a:pt x="281" y="388"/>
                </a:cubicBezTo>
                <a:cubicBezTo>
                  <a:pt x="270" y="391"/>
                  <a:pt x="259" y="392"/>
                  <a:pt x="247" y="392"/>
                </a:cubicBezTo>
                <a:cubicBezTo>
                  <a:pt x="236" y="392"/>
                  <a:pt x="225" y="391"/>
                  <a:pt x="213" y="388"/>
                </a:cubicBezTo>
                <a:cubicBezTo>
                  <a:pt x="214" y="388"/>
                  <a:pt x="214" y="388"/>
                  <a:pt x="214" y="388"/>
                </a:cubicBezTo>
                <a:cubicBezTo>
                  <a:pt x="210" y="387"/>
                  <a:pt x="210" y="387"/>
                  <a:pt x="210" y="387"/>
                </a:cubicBezTo>
                <a:cubicBezTo>
                  <a:pt x="210" y="387"/>
                  <a:pt x="210" y="387"/>
                  <a:pt x="210" y="387"/>
                </a:cubicBezTo>
                <a:cubicBezTo>
                  <a:pt x="206" y="386"/>
                  <a:pt x="206" y="386"/>
                  <a:pt x="206" y="386"/>
                </a:cubicBezTo>
                <a:cubicBezTo>
                  <a:pt x="206" y="386"/>
                  <a:pt x="206" y="386"/>
                  <a:pt x="206" y="386"/>
                </a:cubicBezTo>
                <a:cubicBezTo>
                  <a:pt x="195" y="383"/>
                  <a:pt x="185" y="378"/>
                  <a:pt x="175" y="373"/>
                </a:cubicBezTo>
                <a:cubicBezTo>
                  <a:pt x="165" y="367"/>
                  <a:pt x="156" y="360"/>
                  <a:pt x="148" y="352"/>
                </a:cubicBezTo>
                <a:cubicBezTo>
                  <a:pt x="148" y="352"/>
                  <a:pt x="148" y="352"/>
                  <a:pt x="148" y="352"/>
                </a:cubicBezTo>
                <a:cubicBezTo>
                  <a:pt x="142" y="347"/>
                  <a:pt x="142" y="347"/>
                  <a:pt x="142" y="347"/>
                </a:cubicBezTo>
                <a:cubicBezTo>
                  <a:pt x="142" y="347"/>
                  <a:pt x="142" y="347"/>
                  <a:pt x="142" y="347"/>
                </a:cubicBezTo>
                <a:cubicBezTo>
                  <a:pt x="135" y="339"/>
                  <a:pt x="128" y="330"/>
                  <a:pt x="122" y="320"/>
                </a:cubicBezTo>
                <a:cubicBezTo>
                  <a:pt x="116" y="310"/>
                  <a:pt x="112" y="299"/>
                  <a:pt x="109" y="288"/>
                </a:cubicBezTo>
                <a:cubicBezTo>
                  <a:pt x="109" y="289"/>
                  <a:pt x="109" y="289"/>
                  <a:pt x="109" y="289"/>
                </a:cubicBezTo>
                <a:cubicBezTo>
                  <a:pt x="108" y="285"/>
                  <a:pt x="108" y="285"/>
                  <a:pt x="108" y="285"/>
                </a:cubicBezTo>
                <a:cubicBezTo>
                  <a:pt x="108" y="285"/>
                  <a:pt x="108" y="285"/>
                  <a:pt x="108" y="285"/>
                </a:cubicBezTo>
                <a:cubicBezTo>
                  <a:pt x="107" y="281"/>
                  <a:pt x="107" y="281"/>
                  <a:pt x="107" y="281"/>
                </a:cubicBezTo>
                <a:cubicBezTo>
                  <a:pt x="107" y="281"/>
                  <a:pt x="107" y="281"/>
                  <a:pt x="107" y="281"/>
                </a:cubicBezTo>
                <a:cubicBezTo>
                  <a:pt x="104" y="270"/>
                  <a:pt x="103" y="259"/>
                  <a:pt x="103" y="247"/>
                </a:cubicBezTo>
                <a:cubicBezTo>
                  <a:pt x="103" y="236"/>
                  <a:pt x="104" y="225"/>
                  <a:pt x="107" y="214"/>
                </a:cubicBezTo>
                <a:cubicBezTo>
                  <a:pt x="107" y="214"/>
                  <a:pt x="107" y="214"/>
                  <a:pt x="107" y="214"/>
                </a:cubicBezTo>
                <a:cubicBezTo>
                  <a:pt x="108" y="210"/>
                  <a:pt x="108" y="210"/>
                  <a:pt x="108" y="210"/>
                </a:cubicBezTo>
                <a:cubicBezTo>
                  <a:pt x="108" y="210"/>
                  <a:pt x="108" y="210"/>
                  <a:pt x="108" y="210"/>
                </a:cubicBezTo>
                <a:cubicBezTo>
                  <a:pt x="109" y="206"/>
                  <a:pt x="109" y="206"/>
                  <a:pt x="109" y="206"/>
                </a:cubicBezTo>
                <a:cubicBezTo>
                  <a:pt x="109" y="206"/>
                  <a:pt x="109" y="206"/>
                  <a:pt x="109" y="206"/>
                </a:cubicBezTo>
                <a:cubicBezTo>
                  <a:pt x="112" y="195"/>
                  <a:pt x="116" y="185"/>
                  <a:pt x="122" y="175"/>
                </a:cubicBezTo>
                <a:cubicBezTo>
                  <a:pt x="128" y="165"/>
                  <a:pt x="135" y="156"/>
                  <a:pt x="142" y="148"/>
                </a:cubicBezTo>
                <a:cubicBezTo>
                  <a:pt x="142" y="148"/>
                  <a:pt x="142" y="148"/>
                  <a:pt x="142" y="148"/>
                </a:cubicBezTo>
                <a:cubicBezTo>
                  <a:pt x="148" y="142"/>
                  <a:pt x="148" y="142"/>
                  <a:pt x="148" y="142"/>
                </a:cubicBezTo>
                <a:cubicBezTo>
                  <a:pt x="148" y="143"/>
                  <a:pt x="148" y="143"/>
                  <a:pt x="148" y="143"/>
                </a:cubicBezTo>
                <a:cubicBezTo>
                  <a:pt x="156" y="135"/>
                  <a:pt x="165" y="128"/>
                  <a:pt x="175" y="122"/>
                </a:cubicBezTo>
                <a:cubicBezTo>
                  <a:pt x="185" y="116"/>
                  <a:pt x="195" y="112"/>
                  <a:pt x="206" y="109"/>
                </a:cubicBezTo>
                <a:cubicBezTo>
                  <a:pt x="206" y="109"/>
                  <a:pt x="206" y="109"/>
                  <a:pt x="206" y="109"/>
                </a:cubicBezTo>
                <a:cubicBezTo>
                  <a:pt x="210" y="108"/>
                  <a:pt x="210" y="108"/>
                  <a:pt x="210" y="108"/>
                </a:cubicBezTo>
                <a:cubicBezTo>
                  <a:pt x="210" y="108"/>
                  <a:pt x="210" y="108"/>
                  <a:pt x="210" y="108"/>
                </a:cubicBezTo>
                <a:cubicBezTo>
                  <a:pt x="214" y="107"/>
                  <a:pt x="214" y="107"/>
                  <a:pt x="214" y="107"/>
                </a:cubicBezTo>
                <a:cubicBezTo>
                  <a:pt x="213" y="107"/>
                  <a:pt x="213" y="107"/>
                  <a:pt x="213" y="107"/>
                </a:cubicBezTo>
                <a:cubicBezTo>
                  <a:pt x="236" y="101"/>
                  <a:pt x="259" y="101"/>
                  <a:pt x="281" y="107"/>
                </a:cubicBezTo>
                <a:cubicBezTo>
                  <a:pt x="281" y="107"/>
                  <a:pt x="281" y="107"/>
                  <a:pt x="281" y="107"/>
                </a:cubicBezTo>
                <a:cubicBezTo>
                  <a:pt x="285" y="108"/>
                  <a:pt x="285" y="108"/>
                  <a:pt x="285" y="108"/>
                </a:cubicBezTo>
                <a:cubicBezTo>
                  <a:pt x="285" y="108"/>
                  <a:pt x="285" y="108"/>
                  <a:pt x="285" y="108"/>
                </a:cubicBezTo>
                <a:cubicBezTo>
                  <a:pt x="289" y="109"/>
                  <a:pt x="289" y="109"/>
                  <a:pt x="289" y="109"/>
                </a:cubicBezTo>
                <a:cubicBezTo>
                  <a:pt x="288" y="109"/>
                  <a:pt x="288" y="109"/>
                  <a:pt x="288" y="109"/>
                </a:cubicBezTo>
                <a:cubicBezTo>
                  <a:pt x="299" y="112"/>
                  <a:pt x="310" y="116"/>
                  <a:pt x="320" y="122"/>
                </a:cubicBezTo>
                <a:cubicBezTo>
                  <a:pt x="330" y="128"/>
                  <a:pt x="339" y="135"/>
                  <a:pt x="347" y="143"/>
                </a:cubicBezTo>
                <a:cubicBezTo>
                  <a:pt x="347" y="142"/>
                  <a:pt x="347" y="142"/>
                  <a:pt x="347" y="142"/>
                </a:cubicBezTo>
                <a:cubicBezTo>
                  <a:pt x="352" y="148"/>
                  <a:pt x="352" y="148"/>
                  <a:pt x="352" y="148"/>
                </a:cubicBezTo>
                <a:cubicBezTo>
                  <a:pt x="352" y="148"/>
                  <a:pt x="352" y="148"/>
                  <a:pt x="352" y="148"/>
                </a:cubicBezTo>
                <a:cubicBezTo>
                  <a:pt x="360" y="156"/>
                  <a:pt x="367" y="165"/>
                  <a:pt x="373" y="175"/>
                </a:cubicBezTo>
                <a:cubicBezTo>
                  <a:pt x="378" y="185"/>
                  <a:pt x="383" y="195"/>
                  <a:pt x="386" y="206"/>
                </a:cubicBezTo>
                <a:cubicBezTo>
                  <a:pt x="386" y="206"/>
                  <a:pt x="386" y="206"/>
                  <a:pt x="386" y="206"/>
                </a:cubicBezTo>
                <a:cubicBezTo>
                  <a:pt x="387" y="210"/>
                  <a:pt x="387" y="210"/>
                  <a:pt x="387" y="210"/>
                </a:cubicBezTo>
                <a:cubicBezTo>
                  <a:pt x="387" y="210"/>
                  <a:pt x="387" y="210"/>
                  <a:pt x="387" y="210"/>
                </a:cubicBezTo>
                <a:cubicBezTo>
                  <a:pt x="388" y="214"/>
                  <a:pt x="388" y="214"/>
                  <a:pt x="388" y="214"/>
                </a:cubicBezTo>
                <a:cubicBezTo>
                  <a:pt x="388" y="214"/>
                  <a:pt x="388" y="214"/>
                  <a:pt x="388" y="214"/>
                </a:cubicBezTo>
                <a:cubicBezTo>
                  <a:pt x="391" y="225"/>
                  <a:pt x="392" y="236"/>
                  <a:pt x="392" y="247"/>
                </a:cubicBezTo>
                <a:cubicBezTo>
                  <a:pt x="392" y="259"/>
                  <a:pt x="391" y="270"/>
                  <a:pt x="388" y="281"/>
                </a:cubicBezTo>
                <a:close/>
              </a:path>
            </a:pathLst>
          </a:custGeom>
          <a:solidFill>
            <a:schemeClr val="accent5">
              <a:lumMod val="60000"/>
              <a:lumOff val="40000"/>
            </a:schemeClr>
          </a:solidFill>
          <a:ln>
            <a:noFill/>
          </a:ln>
        </p:spPr>
        <p:txBody>
          <a:bodyPr vert="horz" wrap="square" lIns="121920" tIns="60960" rIns="121920" bIns="60960" numCol="1" anchor="t" anchorCtr="0" compatLnSpc="1"/>
          <a:lstStyle/>
          <a:p>
            <a:endParaRPr lang="en-US" sz="2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 name="等腰三角形 5"/>
          <p:cNvSpPr/>
          <p:nvPr/>
        </p:nvSpPr>
        <p:spPr bwMode="gray">
          <a:xfrm rot="1800000">
            <a:off x="7339965" y="3813810"/>
            <a:ext cx="134620" cy="115570"/>
          </a:xfrm>
          <a:prstGeom prst="triangle">
            <a:avLst/>
          </a:prstGeom>
          <a:solidFill>
            <a:schemeClr val="accent5"/>
          </a:solidFill>
          <a:ln w="19050" algn="ctr">
            <a:noFill/>
            <a:miter lim="800000"/>
          </a:ln>
        </p:spPr>
        <p:txBody>
          <a:bodyPr wrap="square" lIns="88900" tIns="88900" rIns="88900" bIns="88900" rtlCol="0" anchor="ctr"/>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 name="等腰三角形 6"/>
          <p:cNvSpPr/>
          <p:nvPr/>
        </p:nvSpPr>
        <p:spPr bwMode="gray">
          <a:xfrm rot="5400000">
            <a:off x="7687945" y="2584450"/>
            <a:ext cx="134620" cy="115570"/>
          </a:xfrm>
          <a:prstGeom prst="triangle">
            <a:avLst/>
          </a:prstGeom>
          <a:solidFill>
            <a:schemeClr val="accent5">
              <a:lumMod val="60000"/>
              <a:lumOff val="40000"/>
            </a:schemeClr>
          </a:solidFill>
          <a:ln w="19050" algn="ctr">
            <a:noFill/>
            <a:miter lim="800000"/>
          </a:ln>
        </p:spPr>
        <p:txBody>
          <a:bodyPr wrap="square" lIns="88900" tIns="88900" rIns="88900" bIns="88900" rtlCol="0" anchor="ctr"/>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 name="等腰三角形 7"/>
          <p:cNvSpPr/>
          <p:nvPr/>
        </p:nvSpPr>
        <p:spPr bwMode="gray">
          <a:xfrm rot="5400000">
            <a:off x="7830820" y="2584450"/>
            <a:ext cx="134620" cy="115570"/>
          </a:xfrm>
          <a:prstGeom prst="triangle">
            <a:avLst/>
          </a:prstGeom>
          <a:solidFill>
            <a:schemeClr val="accent5">
              <a:lumMod val="60000"/>
              <a:lumOff val="40000"/>
            </a:schemeClr>
          </a:solidFill>
          <a:ln w="19050" algn="ctr">
            <a:noFill/>
            <a:miter lim="800000"/>
          </a:ln>
        </p:spPr>
        <p:txBody>
          <a:bodyPr wrap="square" lIns="88900" tIns="88900" rIns="88900" bIns="88900" rtlCol="0" anchor="ctr"/>
          <a:p>
            <a:pPr algn="ctr">
              <a:lnSpc>
                <a:spcPct val="106000"/>
              </a:lnSpc>
              <a:buFont typeface="微软雅黑" panose="020B0503020204020204" charset="-122"/>
              <a:buNone/>
            </a:pP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天蝎PPT1"/>
          <p:cNvPicPr>
            <a:picLocks noChangeAspect="1"/>
          </p:cNvPicPr>
          <p:nvPr/>
        </p:nvPicPr>
        <p:blipFill rotWithShape="1">
          <a:blip r:embed="rId1" cstate="email"/>
          <a:srcRect/>
          <a:stretch>
            <a:fillRect/>
          </a:stretch>
        </p:blipFill>
        <p:spPr>
          <a:xfrm flipH="1">
            <a:off x="4431665" y="1270"/>
            <a:ext cx="7755825" cy="6858000"/>
          </a:xfrm>
          <a:prstGeom prst="rect">
            <a:avLst/>
          </a:prstGeom>
        </p:spPr>
      </p:pic>
      <p:sp>
        <p:nvSpPr>
          <p:cNvPr id="36" name="矩形 35"/>
          <p:cNvSpPr/>
          <p:nvPr/>
        </p:nvSpPr>
        <p:spPr>
          <a:xfrm>
            <a:off x="0" y="1270"/>
            <a:ext cx="12268200" cy="6858000"/>
          </a:xfrm>
          <a:prstGeom prst="rect">
            <a:avLst/>
          </a:prstGeom>
          <a:gradFill>
            <a:gsLst>
              <a:gs pos="0">
                <a:srgbClr val="EDEEF2">
                  <a:lumMod val="0"/>
                  <a:lumOff val="100000"/>
                </a:srgbClr>
              </a:gs>
              <a:gs pos="100000">
                <a:srgbClr val="DBDBDD">
                  <a:alpha val="50000"/>
                </a:srgb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5598" name="Group"/>
          <p:cNvGrpSpPr/>
          <p:nvPr/>
        </p:nvGrpSpPr>
        <p:grpSpPr>
          <a:xfrm>
            <a:off x="1443368" y="1358900"/>
            <a:ext cx="9305264" cy="4305301"/>
            <a:chOff x="0" y="0"/>
            <a:chExt cx="18610527" cy="8610600"/>
          </a:xfrm>
          <a:solidFill>
            <a:schemeClr val="accent1"/>
          </a:solidFill>
        </p:grpSpPr>
        <p:sp>
          <p:nvSpPr>
            <p:cNvPr id="5596" name="Triangle"/>
            <p:cNvSpPr/>
            <p:nvPr/>
          </p:nvSpPr>
          <p:spPr>
            <a:xfrm rot="5400000">
              <a:off x="0" y="7340600"/>
              <a:ext cx="1270000" cy="12700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grp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597" name="Rounded Rectangle"/>
            <p:cNvSpPr/>
            <p:nvPr/>
          </p:nvSpPr>
          <p:spPr>
            <a:xfrm>
              <a:off x="0" y="0"/>
              <a:ext cx="18610528" cy="7924800"/>
            </a:xfrm>
            <a:prstGeom prst="roundRect">
              <a:avLst>
                <a:gd name="adj" fmla="val 2404"/>
              </a:avLst>
            </a:prstGeom>
            <a:grp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2" name="TextBox 1"/>
          <p:cNvSpPr txBox="1"/>
          <p:nvPr/>
        </p:nvSpPr>
        <p:spPr>
          <a:xfrm>
            <a:off x="1454150" y="2272665"/>
            <a:ext cx="9283700" cy="1576070"/>
          </a:xfrm>
          <a:prstGeom prst="rect">
            <a:avLst/>
          </a:prstGeom>
          <a:noFill/>
        </p:spPr>
        <p:txBody>
          <a:bodyPr wrap="square" anchor="ctr" anchorCtr="0">
            <a:noAutofit/>
          </a:bodyPr>
          <a:lstStyle/>
          <a:p>
            <a:pPr algn="ctr"/>
            <a:r>
              <a:rPr lang="id-ID" sz="8000" b="1" dirty="0">
                <a:solidFill>
                  <a:schemeClr val="bg1"/>
                </a:solidFill>
                <a:latin typeface="微软雅黑" panose="020B0503020204020204" charset="-122"/>
                <a:ea typeface="微软雅黑" panose="020B0503020204020204" charset="-122"/>
                <a:cs typeface="微软雅黑" panose="020B0503020204020204" charset="-122"/>
              </a:rPr>
              <a:t>THANK YOU</a:t>
            </a:r>
            <a:endParaRPr lang="id-ID" sz="8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TextBox 47"/>
          <p:cNvSpPr txBox="1"/>
          <p:nvPr/>
        </p:nvSpPr>
        <p:spPr>
          <a:xfrm>
            <a:off x="3982085" y="4293870"/>
            <a:ext cx="4970145" cy="337185"/>
          </a:xfrm>
          <a:prstGeom prst="rect">
            <a:avLst/>
          </a:prstGeom>
          <a:noFill/>
        </p:spPr>
        <p:txBody>
          <a:bodyPr wrap="square">
            <a:spAutoFit/>
          </a:bodyPr>
          <a:lstStyle/>
          <a:p>
            <a:pPr algn="ctr"/>
            <a:r>
              <a:rPr lang="id-ID" sz="1600" dirty="0" err="1">
                <a:solidFill>
                  <a:schemeClr val="bg1"/>
                </a:solidFill>
                <a:latin typeface="微软雅黑" panose="020B0503020204020204" charset="-122"/>
                <a:ea typeface="微软雅黑" panose="020B0503020204020204" charset="-122"/>
                <a:cs typeface="微软雅黑" panose="020B0503020204020204" charset="-122"/>
              </a:rPr>
              <a:t>汇报人</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：开悟思维    </a:t>
            </a:r>
            <a:r>
              <a:rPr lang="id-ID" sz="1600" dirty="0" err="1">
                <a:solidFill>
                  <a:schemeClr val="bg1"/>
                </a:solidFill>
                <a:latin typeface="微软雅黑" panose="020B0503020204020204" charset="-122"/>
                <a:ea typeface="微软雅黑" panose="020B0503020204020204" charset="-122"/>
                <a:cs typeface="微软雅黑" panose="020B0503020204020204" charset="-122"/>
              </a:rPr>
              <a:t>汇报时间</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月</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日</a:t>
            </a:r>
            <a:endParaRPr lang="en-ID" sz="1600"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DIAGRAM_VIRTUALLY_FRAME" val="{&quot;height&quot;:410,&quot;left&quot;:29.05,&quot;top&quot;:91.25,&quot;width&quot;:920.15}"/>
</p:tagLst>
</file>

<file path=ppt/tags/tag20.xml><?xml version="1.0" encoding="utf-8"?>
<p:tagLst xmlns:p="http://schemas.openxmlformats.org/presentationml/2006/main">
  <p:tag name="KSO_WM_DIAGRAM_VIRTUALLY_FRAME" val="{&quot;height&quot;:410,&quot;left&quot;:29.05,&quot;top&quot;:91.25,&quot;width&quot;:920.15}"/>
</p:tagLst>
</file>

<file path=ppt/tags/tag21.xml><?xml version="1.0" encoding="utf-8"?>
<p:tagLst xmlns:p="http://schemas.openxmlformats.org/presentationml/2006/main">
  <p:tag name="KSO_WM_DIAGRAM_VIRTUALLY_FRAME" val="{&quot;height&quot;:410,&quot;left&quot;:29.05,&quot;top&quot;:91.25,&quot;width&quot;:920.15}"/>
</p:tagLst>
</file>

<file path=ppt/tags/tag22.xml><?xml version="1.0" encoding="utf-8"?>
<p:tagLst xmlns:p="http://schemas.openxmlformats.org/presentationml/2006/main">
  <p:tag name="KSO_WM_DIAGRAM_VIRTUALLY_FRAME" val="{&quot;height&quot;:410,&quot;left&quot;:29.05,&quot;top&quot;:91.25,&quot;width&quot;:920.15}"/>
</p:tagLst>
</file>

<file path=ppt/tags/tag23.xml><?xml version="1.0" encoding="utf-8"?>
<p:tagLst xmlns:p="http://schemas.openxmlformats.org/presentationml/2006/main">
  <p:tag name="KSO_WM_DIAGRAM_VIRTUALLY_FRAME" val="{&quot;height&quot;:410,&quot;left&quot;:29.05,&quot;top&quot;:91.25,&quot;width&quot;:920.15}"/>
</p:tagLst>
</file>

<file path=ppt/tags/tag24.xml><?xml version="1.0" encoding="utf-8"?>
<p:tagLst xmlns:p="http://schemas.openxmlformats.org/presentationml/2006/main">
  <p:tag name="KSO_WM_DIAGRAM_VIRTUALLY_FRAME" val="{&quot;height&quot;:410,&quot;left&quot;:29.05,&quot;top&quot;:91.25,&quot;width&quot;:920.15}"/>
</p:tagLst>
</file>

<file path=ppt/tags/tag25.xml><?xml version="1.0" encoding="utf-8"?>
<p:tagLst xmlns:p="http://schemas.openxmlformats.org/presentationml/2006/main">
  <p:tag name="KSO_WM_DIAGRAM_VIRTUALLY_FRAME" val="{&quot;height&quot;:410,&quot;left&quot;:29.05,&quot;top&quot;:91.25,&quot;width&quot;:920.15}"/>
</p:tagLst>
</file>

<file path=ppt/tags/tag26.xml><?xml version="1.0" encoding="utf-8"?>
<p:tagLst xmlns:p="http://schemas.openxmlformats.org/presentationml/2006/main">
  <p:tag name="KSO_WM_DIAGRAM_VIRTUALLY_FRAME" val="{&quot;height&quot;:410,&quot;left&quot;:29.05,&quot;top&quot;:91.25,&quot;width&quot;:920.15}"/>
</p:tagLst>
</file>

<file path=ppt/tags/tag27.xml><?xml version="1.0" encoding="utf-8"?>
<p:tagLst xmlns:p="http://schemas.openxmlformats.org/presentationml/2006/main">
  <p:tag name="KSO_WM_DIAGRAM_VIRTUALLY_FRAME" val="{&quot;height&quot;:410,&quot;left&quot;:29.05,&quot;top&quot;:91.25,&quot;width&quot;:912.85}"/>
</p:tagLst>
</file>

<file path=ppt/tags/tag28.xml><?xml version="1.0" encoding="utf-8"?>
<p:tagLst xmlns:p="http://schemas.openxmlformats.org/presentationml/2006/main">
  <p:tag name="KSO_WM_DIAGRAM_VIRTUALLY_FRAME" val="{&quot;height&quot;:410,&quot;left&quot;:29.05,&quot;top&quot;:91.25,&quot;width&quot;:912.85}"/>
</p:tagLst>
</file>

<file path=ppt/tags/tag29.xml><?xml version="1.0" encoding="utf-8"?>
<p:tagLst xmlns:p="http://schemas.openxmlformats.org/presentationml/2006/main">
  <p:tag name="KSO_WM_DIAGRAM_VIRTUALLY_FRAME" val="{&quot;height&quot;:410,&quot;left&quot;:29.05,&quot;top&quot;:91.25,&quot;width&quot;:912.85}"/>
</p:tagLst>
</file>

<file path=ppt/tags/tag30.xml><?xml version="1.0" encoding="utf-8"?>
<p:tagLst xmlns:p="http://schemas.openxmlformats.org/presentationml/2006/main">
  <p:tag name="KSO_WM_DIAGRAM_VIRTUALLY_FRAME" val="{&quot;height&quot;:410,&quot;left&quot;:29.05,&quot;top&quot;:91.25,&quot;width&quot;:912.85}"/>
</p:tagLst>
</file>

<file path=ppt/tags/tag31.xml><?xml version="1.0" encoding="utf-8"?>
<p:tagLst xmlns:p="http://schemas.openxmlformats.org/presentationml/2006/main">
  <p:tag name="KSO_WM_DIAGRAM_VIRTUALLY_FRAME" val="{&quot;height&quot;:410,&quot;left&quot;:29.05,&quot;top&quot;:91.25,&quot;width&quot;:912.85}"/>
</p:tagLst>
</file>

<file path=ppt/tags/tag32.xml><?xml version="1.0" encoding="utf-8"?>
<p:tagLst xmlns:p="http://schemas.openxmlformats.org/presentationml/2006/main">
  <p:tag name="KSO_WM_DIAGRAM_VIRTUALLY_FRAME" val="{&quot;height&quot;:410,&quot;left&quot;:29.05,&quot;top&quot;:91.25,&quot;width&quot;:912.85}"/>
</p:tagLst>
</file>

<file path=ppt/tags/tag33.xml><?xml version="1.0" encoding="utf-8"?>
<p:tagLst xmlns:p="http://schemas.openxmlformats.org/presentationml/2006/main">
  <p:tag name="KSO_WM_DIAGRAM_VIRTUALLY_FRAME" val="{&quot;height&quot;:410,&quot;left&quot;:29.05,&quot;top&quot;:91.25,&quot;width&quot;:912.85}"/>
</p:tagLst>
</file>

<file path=ppt/tags/tag34.xml><?xml version="1.0" encoding="utf-8"?>
<p:tagLst xmlns:p="http://schemas.openxmlformats.org/presentationml/2006/main">
  <p:tag name="KSO_WM_DIAGRAM_VIRTUALLY_FRAME" val="{&quot;height&quot;:410,&quot;left&quot;:29.05,&quot;top&quot;:91.25,&quot;width&quot;:912.85}"/>
</p:tagLst>
</file>

<file path=ppt/tags/tag35.xml><?xml version="1.0" encoding="utf-8"?>
<p:tagLst xmlns:p="http://schemas.openxmlformats.org/presentationml/2006/main">
  <p:tag name="KSO_WM_DIAGRAM_VIRTUALLY_FRAME" val="{&quot;height&quot;:410,&quot;left&quot;:29.05,&quot;top&quot;:91.25,&quot;width&quot;:912.85}"/>
</p:tagLst>
</file>

<file path=ppt/tags/tag36.xml><?xml version="1.0" encoding="utf-8"?>
<p:tagLst xmlns:p="http://schemas.openxmlformats.org/presentationml/2006/main">
  <p:tag name="KSO_WM_DIAGRAM_VIRTUALLY_FRAME" val="{&quot;height&quot;:410,&quot;left&quot;:29.05,&quot;top&quot;:91.25,&quot;width&quot;:919.5}"/>
</p:tagLst>
</file>

<file path=ppt/tags/tag37.xml><?xml version="1.0" encoding="utf-8"?>
<p:tagLst xmlns:p="http://schemas.openxmlformats.org/presentationml/2006/main">
  <p:tag name="KSO_WM_DIAGRAM_VIRTUALLY_FRAME" val="{&quot;height&quot;:410,&quot;left&quot;:29.05,&quot;top&quot;:91.25,&quot;width&quot;:919.5}"/>
</p:tagLst>
</file>

<file path=ppt/tags/tag38.xml><?xml version="1.0" encoding="utf-8"?>
<p:tagLst xmlns:p="http://schemas.openxmlformats.org/presentationml/2006/main">
  <p:tag name="KSO_WM_DIAGRAM_VIRTUALLY_FRAME" val="{&quot;height&quot;:410,&quot;left&quot;:29.05,&quot;top&quot;:91.25,&quot;width&quot;:919.5}"/>
</p:tagLst>
</file>

<file path=ppt/tags/tag39.xml><?xml version="1.0" encoding="utf-8"?>
<p:tagLst xmlns:p="http://schemas.openxmlformats.org/presentationml/2006/main">
  <p:tag name="KSO_WM_DIAGRAM_VIRTUALLY_FRAME" val="{&quot;height&quot;:410,&quot;left&quot;:29.05,&quot;top&quot;:91.25,&quot;width&quot;:919.5}"/>
</p:tagLst>
</file>

<file path=ppt/tags/tag40.xml><?xml version="1.0" encoding="utf-8"?>
<p:tagLst xmlns:p="http://schemas.openxmlformats.org/presentationml/2006/main">
  <p:tag name="KSO_WM_DIAGRAM_VIRTUALLY_FRAME" val="{&quot;height&quot;:410,&quot;left&quot;:29.05,&quot;top&quot;:91.25,&quot;width&quot;:919.5}"/>
</p:tagLst>
</file>

<file path=ppt/tags/tag41.xml><?xml version="1.0" encoding="utf-8"?>
<p:tagLst xmlns:p="http://schemas.openxmlformats.org/presentationml/2006/main">
  <p:tag name="KSO_WM_DIAGRAM_VIRTUALLY_FRAME" val="{&quot;height&quot;:410,&quot;left&quot;:29.05,&quot;top&quot;:91.25,&quot;width&quot;:919.5}"/>
</p:tagLst>
</file>

<file path=ppt/tags/tag42.xml><?xml version="1.0" encoding="utf-8"?>
<p:tagLst xmlns:p="http://schemas.openxmlformats.org/presentationml/2006/main">
  <p:tag name="KSO_WM_DIAGRAM_VIRTUALLY_FRAME" val="{&quot;height&quot;:410,&quot;left&quot;:29.05,&quot;top&quot;:91.25,&quot;width&quot;:919.5}"/>
</p:tagLst>
</file>

<file path=ppt/tags/tag43.xml><?xml version="1.0" encoding="utf-8"?>
<p:tagLst xmlns:p="http://schemas.openxmlformats.org/presentationml/2006/main">
  <p:tag name="KSO_WM_DIAGRAM_VIRTUALLY_FRAME" val="{&quot;height&quot;:410,&quot;left&quot;:29.05,&quot;top&quot;:91.25,&quot;width&quot;:919.5}"/>
</p:tagLst>
</file>

<file path=ppt/tags/tag44.xml><?xml version="1.0" encoding="utf-8"?>
<p:tagLst xmlns:p="http://schemas.openxmlformats.org/presentationml/2006/main">
  <p:tag name="KSO_WM_DIAGRAM_VIRTUALLY_FRAME" val="{&quot;height&quot;:410,&quot;left&quot;:29.05,&quot;top&quot;:91.25,&quot;width&quot;:919.5}"/>
</p:tagLst>
</file>

<file path=ppt/tags/tag45.xml><?xml version="1.0" encoding="utf-8"?>
<p:tagLst xmlns:p="http://schemas.openxmlformats.org/presentationml/2006/main">
  <p:tag name="KSO_WM_DIAGRAM_VIRTUALLY_FRAME" val="{&quot;height&quot;:410,&quot;left&quot;:29.05,&quot;top&quot;:91.25,&quot;width&quot;:919.5}"/>
</p:tagLst>
</file>

<file path=ppt/tags/tag46.xml><?xml version="1.0" encoding="utf-8"?>
<p:tagLst xmlns:p="http://schemas.openxmlformats.org/presentationml/2006/main">
  <p:tag name="KSO_WM_DIAGRAM_VIRTUALLY_FRAME" val="{&quot;height&quot;:403.1,&quot;left&quot;:55.7,&quot;top&quot;:109.25,&quot;width&quot;:860.45}"/>
</p:tagLst>
</file>

<file path=ppt/tags/tag47.xml><?xml version="1.0" encoding="utf-8"?>
<p:tagLst xmlns:p="http://schemas.openxmlformats.org/presentationml/2006/main">
  <p:tag name="KSO_WM_DIAGRAM_VIRTUALLY_FRAME" val="{&quot;height&quot;:403.1,&quot;left&quot;:55.7,&quot;top&quot;:109.25,&quot;width&quot;:860.45}"/>
</p:tagLst>
</file>

<file path=ppt/tags/tag48.xml><?xml version="1.0" encoding="utf-8"?>
<p:tagLst xmlns:p="http://schemas.openxmlformats.org/presentationml/2006/main">
  <p:tag name="KSO_WM_DIAGRAM_VIRTUALLY_FRAME" val="{&quot;height&quot;:403.1,&quot;left&quot;:55.7,&quot;top&quot;:109.25,&quot;width&quot;:860.45}"/>
</p:tagLst>
</file>

<file path=ppt/tags/tag49.xml><?xml version="1.0" encoding="utf-8"?>
<p:tagLst xmlns:p="http://schemas.openxmlformats.org/presentationml/2006/main">
  <p:tag name="KSO_WM_DIAGRAM_VIRTUALLY_FRAME" val="{&quot;height&quot;:403.1,&quot;left&quot;:55.7,&quot;top&quot;:109.25,&quot;width&quot;:860.45}"/>
</p:tagLst>
</file>

<file path=ppt/tags/tag50.xml><?xml version="1.0" encoding="utf-8"?>
<p:tagLst xmlns:p="http://schemas.openxmlformats.org/presentationml/2006/main">
  <p:tag name="KSO_WM_DIAGRAM_VIRTUALLY_FRAME" val="{&quot;height&quot;:403.1,&quot;left&quot;:55.7,&quot;top&quot;:109.25,&quot;width&quot;:860.45}"/>
</p:tagLst>
</file>

<file path=ppt/tags/tag51.xml><?xml version="1.0" encoding="utf-8"?>
<p:tagLst xmlns:p="http://schemas.openxmlformats.org/presentationml/2006/main">
  <p:tag name="KSO_WM_DIAGRAM_VIRTUALLY_FRAME" val="{&quot;height&quot;:403.1,&quot;left&quot;:55.7,&quot;top&quot;:109.25,&quot;width&quot;:860.45}"/>
</p:tagLst>
</file>

<file path=ppt/tags/tag52.xml><?xml version="1.0" encoding="utf-8"?>
<p:tagLst xmlns:p="http://schemas.openxmlformats.org/presentationml/2006/main">
  <p:tag name="KSO_WM_DIAGRAM_VIRTUALLY_FRAME" val="{&quot;height&quot;:403.1,&quot;left&quot;:55.7,&quot;top&quot;:109.25,&quot;width&quot;:860.45}"/>
</p:tagLst>
</file>

<file path=ppt/tags/tag53.xml><?xml version="1.0" encoding="utf-8"?>
<p:tagLst xmlns:p="http://schemas.openxmlformats.org/presentationml/2006/main">
  <p:tag name="KSO_WM_DIAGRAM_VIRTUALLY_FRAME" val="{&quot;height&quot;:403.1,&quot;left&quot;:55.7,&quot;top&quot;:109.25,&quot;width&quot;:860.45}"/>
</p:tagLst>
</file>

<file path=ppt/tags/tag54.xml><?xml version="1.0" encoding="utf-8"?>
<p:tagLst xmlns:p="http://schemas.openxmlformats.org/presentationml/2006/main">
  <p:tag name="KSO_WM_DIAGRAM_VIRTUALLY_FRAME" val="{&quot;height&quot;:403.1,&quot;left&quot;:55.7,&quot;top&quot;:109.25,&quot;width&quot;:860.45}"/>
</p:tagLst>
</file>

<file path=ppt/tags/tag55.xml><?xml version="1.0" encoding="utf-8"?>
<p:tagLst xmlns:p="http://schemas.openxmlformats.org/presentationml/2006/main">
  <p:tag name="KSO_WM_DIAGRAM_VIRTUALLY_FRAME" val="{&quot;height&quot;:403.1,&quot;left&quot;:55.7,&quot;top&quot;:109.25,&quot;width&quot;:860.45}"/>
</p:tagLst>
</file>

<file path=ppt/tags/tag56.xml><?xml version="1.0" encoding="utf-8"?>
<p:tagLst xmlns:p="http://schemas.openxmlformats.org/presentationml/2006/main">
  <p:tag name="KSO_WM_DIAGRAM_VIRTUALLY_FRAME" val="{&quot;height&quot;:403.1,&quot;left&quot;:55.7,&quot;top&quot;:109.25,&quot;width&quot;:860.45}"/>
</p:tagLst>
</file>

<file path=ppt/tags/tag57.xml><?xml version="1.0" encoding="utf-8"?>
<p:tagLst xmlns:p="http://schemas.openxmlformats.org/presentationml/2006/main">
  <p:tag name="KSO_WM_DIAGRAM_VIRTUALLY_FRAME" val="{&quot;height&quot;:403.1,&quot;left&quot;:55.7,&quot;top&quot;:109.25,&quot;width&quot;:860.45}"/>
</p:tagLst>
</file>

<file path=ppt/tags/tag58.xml><?xml version="1.0" encoding="utf-8"?>
<p:tagLst xmlns:p="http://schemas.openxmlformats.org/presentationml/2006/main">
  <p:tag name="KSO_WM_DIAGRAM_VIRTUALLY_FRAME" val="{&quot;height&quot;:403.1,&quot;left&quot;:55.7,&quot;top&quot;:109.25,&quot;width&quot;:860.45}"/>
</p:tagLst>
</file>

<file path=ppt/tags/tag59.xml><?xml version="1.0" encoding="utf-8"?>
<p:tagLst xmlns:p="http://schemas.openxmlformats.org/presentationml/2006/main">
  <p:tag name="KSO_WM_DIAGRAM_VIRTUALLY_FRAME" val="{&quot;height&quot;:403.1,&quot;left&quot;:55.7,&quot;top&quot;:109.25,&quot;width&quot;:860.45}"/>
</p:tagLst>
</file>

<file path=ppt/tags/tag60.xml><?xml version="1.0" encoding="utf-8"?>
<p:tagLst xmlns:p="http://schemas.openxmlformats.org/presentationml/2006/main">
  <p:tag name="KSO_WM_DIAGRAM_VIRTUALLY_FRAME" val="{&quot;height&quot;:403.1,&quot;left&quot;:55.7,&quot;top&quot;:109.25,&quot;width&quot;:860.45}"/>
</p:tagLst>
</file>

<file path=ppt/tags/tag61.xml><?xml version="1.0" encoding="utf-8"?>
<p:tagLst xmlns:p="http://schemas.openxmlformats.org/presentationml/2006/main">
  <p:tag name="KSO_WM_DIAGRAM_VIRTUALLY_FRAME" val="{&quot;height&quot;:403.1,&quot;left&quot;:55.7,&quot;top&quot;:109.25,&quot;width&quot;:860.45}"/>
</p:tagLst>
</file>

<file path=ppt/tags/tag62.xml><?xml version="1.0" encoding="utf-8"?>
<p:tagLst xmlns:p="http://schemas.openxmlformats.org/presentationml/2006/main">
  <p:tag name="KSO_WM_DIAGRAM_VIRTUALLY_FRAME" val="{&quot;height&quot;:403.1,&quot;left&quot;:55.7,&quot;top&quot;:109.25,&quot;width&quot;:860.45}"/>
</p:tagLst>
</file>

<file path=ppt/tags/tag63.xml><?xml version="1.0" encoding="utf-8"?>
<p:tagLst xmlns:p="http://schemas.openxmlformats.org/presentationml/2006/main">
  <p:tag name="KSO_WM_DIAGRAM_VIRTUALLY_FRAME" val="{&quot;height&quot;:403.1,&quot;left&quot;:55.7,&quot;top&quot;:109.25,&quot;width&quot;:860.45}"/>
</p:tagLst>
</file>

<file path=ppt/tags/tag64.xml><?xml version="1.0" encoding="utf-8"?>
<p:tagLst xmlns:p="http://schemas.openxmlformats.org/presentationml/2006/main">
  <p:tag name="KSO_WM_DIAGRAM_VIRTUALLY_FRAME" val="{&quot;height&quot;:403.1,&quot;left&quot;:55.7,&quot;top&quot;:109.25,&quot;width&quot;:860.45}"/>
</p:tagLst>
</file>

<file path=ppt/tags/tag65.xml><?xml version="1.0" encoding="utf-8"?>
<p:tagLst xmlns:p="http://schemas.openxmlformats.org/presentationml/2006/main">
  <p:tag name="KSO_WM_DIAGRAM_VIRTUALLY_FRAME" val="{&quot;height&quot;:403.1,&quot;left&quot;:55.7,&quot;top&quot;:109.25,&quot;width&quot;:860.45}"/>
</p:tagLst>
</file>

<file path=ppt/tags/tag66.xml><?xml version="1.0" encoding="utf-8"?>
<p:tagLst xmlns:p="http://schemas.openxmlformats.org/presentationml/2006/main">
  <p:tag name="KSO_WM_DIAGRAM_VIRTUALLY_FRAME" val="{&quot;height&quot;:403.1,&quot;left&quot;:55.7,&quot;top&quot;:109.25,&quot;width&quot;:860.45}"/>
</p:tagLst>
</file>

<file path=ppt/tags/tag67.xml><?xml version="1.0" encoding="utf-8"?>
<p:tagLst xmlns:p="http://schemas.openxmlformats.org/presentationml/2006/main">
  <p:tag name="KSO_WM_DIAGRAM_VIRTUALLY_FRAME" val="{&quot;height&quot;:403.1,&quot;left&quot;:55.7,&quot;top&quot;:109.25,&quot;width&quot;:860.45}"/>
</p:tagLst>
</file>

<file path=ppt/tags/tag68.xml><?xml version="1.0" encoding="utf-8"?>
<p:tagLst xmlns:p="http://schemas.openxmlformats.org/presentationml/2006/main">
  <p:tag name="KSO_WM_DIAGRAM_VIRTUALLY_FRAME" val="{&quot;height&quot;:403.1,&quot;left&quot;:55.7,&quot;top&quot;:109.25,&quot;width&quot;:860.45}"/>
</p:tagLst>
</file>

<file path=ppt/tags/tag69.xml><?xml version="1.0" encoding="utf-8"?>
<p:tagLst xmlns:p="http://schemas.openxmlformats.org/presentationml/2006/main">
  <p:tag name="KSO_WM_DIAGRAM_VIRTUALLY_FRAME" val="{&quot;height&quot;:403.1,&quot;left&quot;:55.7,&quot;top&quot;:109.25,&quot;width&quot;:860.45}"/>
</p:tagLst>
</file>

<file path=ppt/tags/tag70.xml><?xml version="1.0" encoding="utf-8"?>
<p:tagLst xmlns:p="http://schemas.openxmlformats.org/presentationml/2006/main">
  <p:tag name="KSO_WM_DIAGRAM_VIRTUALLY_FRAME" val="{&quot;height&quot;:403.1,&quot;left&quot;:55.7,&quot;top&quot;:109.25,&quot;width&quot;:860.45}"/>
</p:tagLst>
</file>

<file path=ppt/tags/tag71.xml><?xml version="1.0" encoding="utf-8"?>
<p:tagLst xmlns:p="http://schemas.openxmlformats.org/presentationml/2006/main">
  <p:tag name="KSO_WM_DIAGRAM_VIRTUALLY_FRAME" val="{&quot;height&quot;:403.1,&quot;left&quot;:55.7,&quot;top&quot;:109.25,&quot;width&quot;:860.45}"/>
</p:tagLst>
</file>

<file path=ppt/tags/tag72.xml><?xml version="1.0" encoding="utf-8"?>
<p:tagLst xmlns:p="http://schemas.openxmlformats.org/presentationml/2006/main">
  <p:tag name="KSO_WM_DIAGRAM_VIRTUALLY_FRAME" val="{&quot;height&quot;:403.1,&quot;left&quot;:55.7,&quot;top&quot;:109.25,&quot;width&quot;:860.45}"/>
</p:tagLst>
</file>

<file path=ppt/tags/tag73.xml><?xml version="1.0" encoding="utf-8"?>
<p:tagLst xmlns:p="http://schemas.openxmlformats.org/presentationml/2006/main">
  <p:tag name="KSO_WM_DIAGRAM_VIRTUALLY_FRAME" val="{&quot;height&quot;:403.1,&quot;left&quot;:55.7,&quot;top&quot;:109.25,&quot;width&quot;:860.45}"/>
</p:tagLst>
</file>

<file path=ppt/tags/tag74.xml><?xml version="1.0" encoding="utf-8"?>
<p:tagLst xmlns:p="http://schemas.openxmlformats.org/presentationml/2006/main">
  <p:tag name="KSO_WM_DIAGRAM_VIRTUALLY_FRAME" val="{&quot;height&quot;:403.1,&quot;left&quot;:55.7,&quot;top&quot;:109.25,&quot;width&quot;:860.45}"/>
</p:tagLst>
</file>

<file path=ppt/tags/tag75.xml><?xml version="1.0" encoding="utf-8"?>
<p:tagLst xmlns:p="http://schemas.openxmlformats.org/presentationml/2006/main">
  <p:tag name="KSO_WM_DIAGRAM_VIRTUALLY_FRAME" val="{&quot;height&quot;:403.1,&quot;left&quot;:55.7,&quot;top&quot;:109.25,&quot;width&quot;:860.45}"/>
</p:tagLst>
</file>

<file path=ppt/tags/tag76.xml><?xml version="1.0" encoding="utf-8"?>
<p:tagLst xmlns:p="http://schemas.openxmlformats.org/presentationml/2006/main">
  <p:tag name="KSO_WM_DIAGRAM_VIRTUALLY_FRAME" val="{&quot;height&quot;:403.1,&quot;left&quot;:55.7,&quot;top&quot;:109.25,&quot;width&quot;:860.45}"/>
</p:tagLst>
</file>

<file path=ppt/tags/tag77.xml><?xml version="1.0" encoding="utf-8"?>
<p:tagLst xmlns:p="http://schemas.openxmlformats.org/presentationml/2006/main">
  <p:tag name="KSO_WM_DIAGRAM_VIRTUALLY_FRAME" val="{&quot;height&quot;:403.1,&quot;left&quot;:55.7,&quot;top&quot;:109.25,&quot;width&quot;:860.45}"/>
</p:tagLst>
</file>

<file path=ppt/tags/tag78.xml><?xml version="1.0" encoding="utf-8"?>
<p:tagLst xmlns:p="http://schemas.openxmlformats.org/presentationml/2006/main">
  <p:tag name="KSO_WM_DIAGRAM_VIRTUALLY_FRAME" val="{&quot;height&quot;:403.1,&quot;left&quot;:55.7,&quot;top&quot;:109.25,&quot;width&quot;:860.45}"/>
</p:tagLst>
</file>

<file path=ppt/tags/tag79.xml><?xml version="1.0" encoding="utf-8"?>
<p:tagLst xmlns:p="http://schemas.openxmlformats.org/presentationml/2006/main">
  <p:tag name="KSO_WM_DIAGRAM_VIRTUALLY_FRAME" val="{&quot;height&quot;:403.1,&quot;left&quot;:55.7,&quot;top&quot;:109.25,&quot;width&quot;:860.45}"/>
</p:tagLst>
</file>

<file path=ppt/tags/tag80.xml><?xml version="1.0" encoding="utf-8"?>
<p:tagLst xmlns:p="http://schemas.openxmlformats.org/presentationml/2006/main">
  <p:tag name="KSO_WM_DIAGRAM_VIRTUALLY_FRAME" val="{&quot;height&quot;:403.1,&quot;left&quot;:55.7,&quot;top&quot;:109.25,&quot;width&quot;:860.45}"/>
</p:tagLst>
</file>

<file path=ppt/tags/tag81.xml><?xml version="1.0" encoding="utf-8"?>
<p:tagLst xmlns:p="http://schemas.openxmlformats.org/presentationml/2006/main">
  <p:tag name="KSO_WM_DIAGRAM_VIRTUALLY_FRAME" val="{&quot;height&quot;:403.1,&quot;left&quot;:55.7,&quot;top&quot;:109.25,&quot;width&quot;:860.45}"/>
</p:tagLst>
</file>

<file path=ppt/tags/tag82.xml><?xml version="1.0" encoding="utf-8"?>
<p:tagLst xmlns:p="http://schemas.openxmlformats.org/presentationml/2006/main">
  <p:tag name="KSO_WM_DIAGRAM_VIRTUALLY_FRAME" val="{&quot;height&quot;:403.1,&quot;left&quot;:55.7,&quot;top&quot;:109.25,&quot;width&quot;:860.45}"/>
</p:tagLst>
</file>

<file path=ppt/tags/tag83.xml><?xml version="1.0" encoding="utf-8"?>
<p:tagLst xmlns:p="http://schemas.openxmlformats.org/presentationml/2006/main">
  <p:tag name="KSO_WM_DIAGRAM_VIRTUALLY_FRAME" val="{&quot;height&quot;:403.1,&quot;left&quot;:55.7,&quot;top&quot;:109.25,&quot;width&quot;:860.45}"/>
</p:tagLst>
</file>

<file path=ppt/tags/tag84.xml><?xml version="1.0" encoding="utf-8"?>
<p:tagLst xmlns:p="http://schemas.openxmlformats.org/presentationml/2006/main">
  <p:tag name="KSO_WM_DIAGRAM_VIRTUALLY_FRAME" val="{&quot;height&quot;:403.1,&quot;left&quot;:55.7,&quot;top&quot;:109.25,&quot;width&quot;:860.45}"/>
</p:tagLst>
</file>

<file path=ppt/tags/tag85.xml><?xml version="1.0" encoding="utf-8"?>
<p:tagLst xmlns:p="http://schemas.openxmlformats.org/presentationml/2006/main">
  <p:tag name="KSO_WM_DIAGRAM_VIRTUALLY_FRAME" val="{&quot;height&quot;:403.1,&quot;left&quot;:55.7,&quot;top&quot;:109.25,&quot;width&quot;:860.45}"/>
</p:tagLst>
</file>

<file path=ppt/tags/tag86.xml><?xml version="1.0" encoding="utf-8"?>
<p:tagLst xmlns:p="http://schemas.openxmlformats.org/presentationml/2006/main">
  <p:tag name="KSO_WM_DIAGRAM_VIRTUALLY_FRAME" val="{&quot;height&quot;:403.1,&quot;left&quot;:55.7,&quot;top&quot;:109.25,&quot;width&quot;:860.45}"/>
</p:tagLst>
</file>

<file path=ppt/tags/tag87.xml><?xml version="1.0" encoding="utf-8"?>
<p:tagLst xmlns:p="http://schemas.openxmlformats.org/presentationml/2006/main">
  <p:tag name="KSO_WM_DIAGRAM_VIRTUALLY_FRAME" val="{&quot;height&quot;:403.1,&quot;left&quot;:55.7,&quot;top&quot;:109.25,&quot;width&quot;:860.45}"/>
</p:tagLst>
</file>

<file path=ppt/tags/tag88.xml><?xml version="1.0" encoding="utf-8"?>
<p:tagLst xmlns:p="http://schemas.openxmlformats.org/presentationml/2006/main">
  <p:tag name="KSO_WM_DIAGRAM_VIRTUALLY_FRAME" val="{&quot;height&quot;:403.1,&quot;left&quot;:55.7,&quot;top&quot;:109.25,&quot;width&quot;:860.45}"/>
</p:tagLst>
</file>

<file path=ppt/tags/tag89.xml><?xml version="1.0" encoding="utf-8"?>
<p:tagLst xmlns:p="http://schemas.openxmlformats.org/presentationml/2006/main">
  <p:tag name="KSO_WM_DIAGRAM_VIRTUALLY_FRAME" val="{&quot;height&quot;:403.1,&quot;left&quot;:55.7,&quot;top&quot;:109.25,&quot;width&quot;:860.45}"/>
</p:tagLst>
</file>

<file path=ppt/tags/tag90.xml><?xml version="1.0" encoding="utf-8"?>
<p:tagLst xmlns:p="http://schemas.openxmlformats.org/presentationml/2006/main">
  <p:tag name="KSO_WM_DIAGRAM_VIRTUALLY_FRAME" val="{&quot;height&quot;:403.1,&quot;left&quot;:55.7,&quot;top&quot;:109.25,&quot;width&quot;:860.45}"/>
</p:tagLst>
</file>

<file path=ppt/tags/tag91.xml><?xml version="1.0" encoding="utf-8"?>
<p:tagLst xmlns:p="http://schemas.openxmlformats.org/presentationml/2006/main">
  <p:tag name="KSO_WM_DIAGRAM_VIRTUALLY_FRAME" val="{&quot;height&quot;:403.1,&quot;left&quot;:55.7,&quot;top&quot;:109.25,&quot;width&quot;:860.45}"/>
</p:tagLst>
</file>

<file path=ppt/tags/tag92.xml><?xml version="1.0" encoding="utf-8"?>
<p:tagLst xmlns:p="http://schemas.openxmlformats.org/presentationml/2006/main">
  <p:tag name="KSO_WM_DIAGRAM_VIRTUALLY_FRAME" val="{&quot;height&quot;:403.1,&quot;left&quot;:55.7,&quot;top&quot;:109.25,&quot;width&quot;:860.45}"/>
</p:tagLst>
</file>

<file path=ppt/tags/tag93.xml><?xml version="1.0" encoding="utf-8"?>
<p:tagLst xmlns:p="http://schemas.openxmlformats.org/presentationml/2006/main">
  <p:tag name="KSO_WM_DIAGRAM_VIRTUALLY_FRAME" val="{&quot;height&quot;:403.1,&quot;left&quot;:55.7,&quot;top&quot;:109.25,&quot;width&quot;:860.45}"/>
</p:tagLst>
</file>

<file path=ppt/tags/tag94.xml><?xml version="1.0" encoding="utf-8"?>
<p:tagLst xmlns:p="http://schemas.openxmlformats.org/presentationml/2006/main">
  <p:tag name="KSO_WM_DIAGRAM_VIRTUALLY_FRAME" val="{&quot;height&quot;:403.1,&quot;left&quot;:55.7,&quot;top&quot;:109.25,&quot;width&quot;:860.45}"/>
</p:tagLst>
</file>

<file path=ppt/tags/tag95.xml><?xml version="1.0" encoding="utf-8"?>
<p:tagLst xmlns:p="http://schemas.openxmlformats.org/presentationml/2006/main">
  <p:tag name="KSO_WM_DIAGRAM_VIRTUALLY_FRAME" val="{&quot;height&quot;:403.1,&quot;left&quot;:55.7,&quot;top&quot;:109.25,&quot;width&quot;:860.45}"/>
</p:tagLst>
</file>

<file path=ppt/tags/tag96.xml><?xml version="1.0" encoding="utf-8"?>
<p:tagLst xmlns:p="http://schemas.openxmlformats.org/presentationml/2006/main">
  <p:tag name="KSO_WM_DIAGRAM_VIRTUALLY_FRAME" val="{&quot;height&quot;:403.1,&quot;left&quot;:55.7,&quot;top&quot;:109.25,&quot;width&quot;:860.45}"/>
</p:tagLst>
</file>

<file path=ppt/tags/tag97.xml><?xml version="1.0" encoding="utf-8"?>
<p:tagLst xmlns:p="http://schemas.openxmlformats.org/presentationml/2006/main">
  <p:tag name="KSO_WM_DIAGRAM_VIRTUALLY_FRAME" val="{&quot;height&quot;:403.1,&quot;left&quot;:55.7,&quot;top&quot;:109.25,&quot;width&quot;:860.45}"/>
</p:tagLst>
</file>

<file path=ppt/tags/tag98.xml><?xml version="1.0" encoding="utf-8"?>
<p:tagLst xmlns:p="http://schemas.openxmlformats.org/presentationml/2006/main">
  <p:tag name="KSO_WM_DIAGRAM_VIRTUALLY_FRAME" val="{&quot;height&quot;:403.1,&quot;left&quot;:55.7,&quot;top&quot;:109.25,&quot;width&quot;:860.45}"/>
</p:tagLst>
</file>

<file path=ppt/tags/tag99.xml><?xml version="1.0" encoding="utf-8"?>
<p:tagLst xmlns:p="http://schemas.openxmlformats.org/presentationml/2006/main">
  <p:tag name="KSO_WM_DIAGRAM_VIRTUALLY_FRAME" val="{&quot;height&quot;:403.1,&quot;left&quot;:55.7,&quot;top&quot;:109.25,&quot;width&quot;:860.45}"/>
</p:tagLst>
</file>

<file path=ppt/tags/tag100.xml><?xml version="1.0" encoding="utf-8"?>
<p:tagLst xmlns:p="http://schemas.openxmlformats.org/presentationml/2006/main">
  <p:tag name="KSO_WM_DIAGRAM_VIRTUALLY_FRAME" val="{&quot;height&quot;:403.1,&quot;left&quot;:55.7,&quot;top&quot;:109.25,&quot;width&quot;:860.45}"/>
</p:tagLst>
</file>

<file path=ppt/tags/tag101.xml><?xml version="1.0" encoding="utf-8"?>
<p:tagLst xmlns:p="http://schemas.openxmlformats.org/presentationml/2006/main">
  <p:tag name="KSO_WM_DIAGRAM_VIRTUALLY_FRAME" val="{&quot;height&quot;:403.1,&quot;left&quot;:55.7,&quot;top&quot;:109.25,&quot;width&quot;:860.45}"/>
</p:tagLst>
</file>

<file path=ppt/tags/tag102.xml><?xml version="1.0" encoding="utf-8"?>
<p:tagLst xmlns:p="http://schemas.openxmlformats.org/presentationml/2006/main">
  <p:tag name="KSO_WM_DIAGRAM_VIRTUALLY_FRAME" val="{&quot;height&quot;:403.1,&quot;left&quot;:55.7,&quot;top&quot;:109.25,&quot;width&quot;:860.45}"/>
</p:tagLst>
</file>

<file path=ppt/tags/tag103.xml><?xml version="1.0" encoding="utf-8"?>
<p:tagLst xmlns:p="http://schemas.openxmlformats.org/presentationml/2006/main">
  <p:tag name="KSO_WM_DIAGRAM_VIRTUALLY_FRAME" val="{&quot;height&quot;:403.1,&quot;left&quot;:55.7,&quot;top&quot;:109.25,&quot;width&quot;:860.45}"/>
</p:tagLst>
</file>

<file path=ppt/tags/tag104.xml><?xml version="1.0" encoding="utf-8"?>
<p:tagLst xmlns:p="http://schemas.openxmlformats.org/presentationml/2006/main">
  <p:tag name="KSO_WM_DIAGRAM_VIRTUALLY_FRAME" val="{&quot;height&quot;:403.1,&quot;left&quot;:55.7,&quot;top&quot;:109.25,&quot;width&quot;:860.45}"/>
</p:tagLst>
</file>

<file path=ppt/tags/tag105.xml><?xml version="1.0" encoding="utf-8"?>
<p:tagLst xmlns:p="http://schemas.openxmlformats.org/presentationml/2006/main">
  <p:tag name="KSO_WM_DIAGRAM_VIRTUALLY_FRAME" val="{&quot;height&quot;:403.1,&quot;left&quot;:55.7,&quot;top&quot;:109.25,&quot;width&quot;:860.45}"/>
</p:tagLst>
</file>

<file path=ppt/tags/tag106.xml><?xml version="1.0" encoding="utf-8"?>
<p:tagLst xmlns:p="http://schemas.openxmlformats.org/presentationml/2006/main">
  <p:tag name="KSO_WM_DIAGRAM_VIRTUALLY_FRAME" val="{&quot;height&quot;:403.1,&quot;left&quot;:55.7,&quot;top&quot;:109.25,&quot;width&quot;:860.45}"/>
</p:tagLst>
</file>

<file path=ppt/tags/tag107.xml><?xml version="1.0" encoding="utf-8"?>
<p:tagLst xmlns:p="http://schemas.openxmlformats.org/presentationml/2006/main">
  <p:tag name="KSO_WM_DIAGRAM_VIRTUALLY_FRAME" val="{&quot;height&quot;:403.1,&quot;left&quot;:55.7,&quot;top&quot;:109.25,&quot;width&quot;:860.45}"/>
</p:tagLst>
</file>

<file path=ppt/tags/tag108.xml><?xml version="1.0" encoding="utf-8"?>
<p:tagLst xmlns:p="http://schemas.openxmlformats.org/presentationml/2006/main">
  <p:tag name="KSO_WM_DIAGRAM_VIRTUALLY_FRAME" val="{&quot;height&quot;:403.1,&quot;left&quot;:55.7,&quot;top&quot;:109.25,&quot;width&quot;:860.45}"/>
</p:tagLst>
</file>

<file path=ppt/tags/tag109.xml><?xml version="1.0" encoding="utf-8"?>
<p:tagLst xmlns:p="http://schemas.openxmlformats.org/presentationml/2006/main">
  <p:tag name="KSO_WM_DIAGRAM_VIRTUALLY_FRAME" val="{&quot;height&quot;:403.1,&quot;left&quot;:55.7,&quot;top&quot;:109.25,&quot;width&quot;:860.45}"/>
</p:tagLst>
</file>

<file path=ppt/tags/tag110.xml><?xml version="1.0" encoding="utf-8"?>
<p:tagLst xmlns:p="http://schemas.openxmlformats.org/presentationml/2006/main">
  <p:tag name="KSO_WM_DIAGRAM_VIRTUALLY_FRAME" val="{&quot;height&quot;:403.1,&quot;left&quot;:55.7,&quot;top&quot;:109.25,&quot;width&quot;:860.45}"/>
</p:tagLst>
</file>

<file path=ppt/tags/tag111.xml><?xml version="1.0" encoding="utf-8"?>
<p:tagLst xmlns:p="http://schemas.openxmlformats.org/presentationml/2006/main">
  <p:tag name="KSO_WM_DIAGRAM_VIRTUALLY_FRAME" val="{&quot;height&quot;:403.1,&quot;left&quot;:55.7,&quot;top&quot;:109.25,&quot;width&quot;:860.45}"/>
</p:tagLst>
</file>

<file path=ppt/tags/tag112.xml><?xml version="1.0" encoding="utf-8"?>
<p:tagLst xmlns:p="http://schemas.openxmlformats.org/presentationml/2006/main">
  <p:tag name="KSO_WM_DIAGRAM_VIRTUALLY_FRAME" val="{&quot;height&quot;:403.1,&quot;left&quot;:55.7,&quot;top&quot;:109.25,&quot;width&quot;:860.45}"/>
</p:tagLst>
</file>

<file path=ppt/tags/tag113.xml><?xml version="1.0" encoding="utf-8"?>
<p:tagLst xmlns:p="http://schemas.openxmlformats.org/presentationml/2006/main">
  <p:tag name="KSO_WM_DIAGRAM_VIRTUALLY_FRAME" val="{&quot;height&quot;:403.1,&quot;left&quot;:55.7,&quot;top&quot;:109.25,&quot;width&quot;:860.45}"/>
</p:tagLst>
</file>

<file path=ppt/tags/tag114.xml><?xml version="1.0" encoding="utf-8"?>
<p:tagLst xmlns:p="http://schemas.openxmlformats.org/presentationml/2006/main">
  <p:tag name="KSO_WM_DIAGRAM_VIRTUALLY_FRAME" val="{&quot;height&quot;:403.1,&quot;left&quot;:55.7,&quot;top&quot;:109.25,&quot;width&quot;:860.45}"/>
</p:tagLst>
</file>

<file path=ppt/tags/tag115.xml><?xml version="1.0" encoding="utf-8"?>
<p:tagLst xmlns:p="http://schemas.openxmlformats.org/presentationml/2006/main">
  <p:tag name="KSO_WM_DIAGRAM_VIRTUALLY_FRAME" val="{&quot;height&quot;:403.1,&quot;left&quot;:55.7,&quot;top&quot;:109.25,&quot;width&quot;:860.45}"/>
</p:tagLst>
</file>

<file path=ppt/tags/tag116.xml><?xml version="1.0" encoding="utf-8"?>
<p:tagLst xmlns:p="http://schemas.openxmlformats.org/presentationml/2006/main">
  <p:tag name="KSO_WM_DIAGRAM_VIRTUALLY_FRAME" val="{&quot;height&quot;:403.1,&quot;left&quot;:55.7,&quot;top&quot;:109.25,&quot;width&quot;:860.45}"/>
</p:tagLst>
</file>

<file path=ppt/tags/tag117.xml><?xml version="1.0" encoding="utf-8"?>
<p:tagLst xmlns:p="http://schemas.openxmlformats.org/presentationml/2006/main">
  <p:tag name="KSO_WM_DIAGRAM_VIRTUALLY_FRAME" val="{&quot;height&quot;:403.1,&quot;left&quot;:55.7,&quot;top&quot;:109.25,&quot;width&quot;:860.45}"/>
</p:tagLst>
</file>

<file path=ppt/tags/tag118.xml><?xml version="1.0" encoding="utf-8"?>
<p:tagLst xmlns:p="http://schemas.openxmlformats.org/presentationml/2006/main">
  <p:tag name="KSO_WM_DIAGRAM_VIRTUALLY_FRAME" val="{&quot;height&quot;:403.1,&quot;left&quot;:55.7,&quot;top&quot;:109.25,&quot;width&quot;:860.45}"/>
</p:tagLst>
</file>

<file path=ppt/tags/tag119.xml><?xml version="1.0" encoding="utf-8"?>
<p:tagLst xmlns:p="http://schemas.openxmlformats.org/presentationml/2006/main">
  <p:tag name="KSO_WM_DIAGRAM_VIRTUALLY_FRAME" val="{&quot;height&quot;:403.1,&quot;left&quot;:55.7,&quot;top&quot;:109.25,&quot;width&quot;:860.45}"/>
</p:tagLst>
</file>

<file path=ppt/tags/tag120.xml><?xml version="1.0" encoding="utf-8"?>
<p:tagLst xmlns:p="http://schemas.openxmlformats.org/presentationml/2006/main">
  <p:tag name="KSO_WM_DIAGRAM_VIRTUALLY_FRAME" val="{&quot;height&quot;:403.1,&quot;left&quot;:55.7,&quot;top&quot;:109.25,&quot;width&quot;:860.45}"/>
</p:tagLst>
</file>

<file path=ppt/tags/tag121.xml><?xml version="1.0" encoding="utf-8"?>
<p:tagLst xmlns:p="http://schemas.openxmlformats.org/presentationml/2006/main">
  <p:tag name="KSO_WM_DIAGRAM_VIRTUALLY_FRAME" val="{&quot;height&quot;:403.1,&quot;left&quot;:55.7,&quot;top&quot;:109.25,&quot;width&quot;:860.45}"/>
</p:tagLst>
</file>

<file path=ppt/tags/tag122.xml><?xml version="1.0" encoding="utf-8"?>
<p:tagLst xmlns:p="http://schemas.openxmlformats.org/presentationml/2006/main">
  <p:tag name="KSO_WM_DIAGRAM_VIRTUALLY_FRAME" val="{&quot;height&quot;:403.1,&quot;left&quot;:55.7,&quot;top&quot;:109.25,&quot;width&quot;:860.45}"/>
</p:tagLst>
</file>

<file path=ppt/tags/tag123.xml><?xml version="1.0" encoding="utf-8"?>
<p:tagLst xmlns:p="http://schemas.openxmlformats.org/presentationml/2006/main">
  <p:tag name="KSO_WM_DIAGRAM_VIRTUALLY_FRAME" val="{&quot;height&quot;:403.1,&quot;left&quot;:55.7,&quot;top&quot;:109.25,&quot;width&quot;:860.45}"/>
</p:tagLst>
</file>

<file path=ppt/tags/tag124.xml><?xml version="1.0" encoding="utf-8"?>
<p:tagLst xmlns:p="http://schemas.openxmlformats.org/presentationml/2006/main">
  <p:tag name="KSO_WM_DIAGRAM_VIRTUALLY_FRAME" val="{&quot;height&quot;:403.1,&quot;left&quot;:55.7,&quot;top&quot;:109.25,&quot;width&quot;:860.45}"/>
</p:tagLst>
</file>

<file path=ppt/tags/tag125.xml><?xml version="1.0" encoding="utf-8"?>
<p:tagLst xmlns:p="http://schemas.openxmlformats.org/presentationml/2006/main">
  <p:tag name="KSO_WM_DIAGRAM_VIRTUALLY_FRAME" val="{&quot;height&quot;:403.1,&quot;left&quot;:55.7,&quot;top&quot;:109.25,&quot;width&quot;:860.45}"/>
</p:tagLst>
</file>

<file path=ppt/tags/tag126.xml><?xml version="1.0" encoding="utf-8"?>
<p:tagLst xmlns:p="http://schemas.openxmlformats.org/presentationml/2006/main">
  <p:tag name="TEXTZ '" val="-2.147484E+09"/>
  <p:tag name="SHADOWSIZE" val="100"/>
  <p:tag name="KSO_WM_DIAGRAM_VIRTUALLY_FRAME" val="{&quot;height&quot;:403.1,&quot;left&quot;:55.7,&quot;top&quot;:109.25,&quot;width&quot;:860.45}"/>
</p:tagLst>
</file>

<file path=ppt/tags/tag127.xml><?xml version="1.0" encoding="utf-8"?>
<p:tagLst xmlns:p="http://schemas.openxmlformats.org/presentationml/2006/main">
  <p:tag name="KSO_WM_DIAGRAM_VIRTUALLY_FRAME" val="{&quot;height&quot;:403.1,&quot;left&quot;:55.7,&quot;top&quot;:109.25,&quot;width&quot;:860.45}"/>
</p:tagLst>
</file>

<file path=ppt/tags/tag128.xml><?xml version="1.0" encoding="utf-8"?>
<p:tagLst xmlns:p="http://schemas.openxmlformats.org/presentationml/2006/main">
  <p:tag name="KSO_WM_DIAGRAM_VIRTUALLY_FRAME" val="{&quot;height&quot;:403.1,&quot;left&quot;:55.7,&quot;top&quot;:109.25,&quot;width&quot;:860.45}"/>
</p:tagLst>
</file>

<file path=ppt/tags/tag129.xml><?xml version="1.0" encoding="utf-8"?>
<p:tagLst xmlns:p="http://schemas.openxmlformats.org/presentationml/2006/main">
  <p:tag name="KSO_WM_DIAGRAM_VIRTUALLY_FRAME" val="{&quot;height&quot;:403.1,&quot;left&quot;:55.7,&quot;top&quot;:109.25,&quot;width&quot;:860.45}"/>
</p:tagLst>
</file>

<file path=ppt/tags/tag130.xml><?xml version="1.0" encoding="utf-8"?>
<p:tagLst xmlns:p="http://schemas.openxmlformats.org/presentationml/2006/main">
  <p:tag name="KSO_WM_DIAGRAM_VIRTUALLY_FRAME" val="{&quot;height&quot;:403.1,&quot;left&quot;:55.7,&quot;top&quot;:109.25,&quot;width&quot;:860.45}"/>
</p:tagLst>
</file>

<file path=ppt/tags/tag131.xml><?xml version="1.0" encoding="utf-8"?>
<p:tagLst xmlns:p="http://schemas.openxmlformats.org/presentationml/2006/main">
  <p:tag name="KSO_WM_DIAGRAM_VIRTUALLY_FRAME" val="{&quot;height&quot;:403.1,&quot;left&quot;:55.7,&quot;top&quot;:109.25,&quot;width&quot;:860.45}"/>
</p:tagLst>
</file>

<file path=ppt/tags/tag132.xml><?xml version="1.0" encoding="utf-8"?>
<p:tagLst xmlns:p="http://schemas.openxmlformats.org/presentationml/2006/main">
  <p:tag name="KSO_WM_DIAGRAM_VIRTUALLY_FRAME" val="{&quot;height&quot;:403.1,&quot;left&quot;:55.7,&quot;top&quot;:109.25,&quot;width&quot;:860.45}"/>
</p:tagLst>
</file>

<file path=ppt/tags/tag133.xml><?xml version="1.0" encoding="utf-8"?>
<p:tagLst xmlns:p="http://schemas.openxmlformats.org/presentationml/2006/main">
  <p:tag name="KSO_WM_DIAGRAM_VIRTUALLY_FRAME" val="{&quot;height&quot;:336.9,&quot;left&quot;:59.1,&quot;top&quot;:200.4,&quot;width&quot;:851.65}"/>
</p:tagLst>
</file>

<file path=ppt/tags/tag134.xml><?xml version="1.0" encoding="utf-8"?>
<p:tagLst xmlns:p="http://schemas.openxmlformats.org/presentationml/2006/main">
  <p:tag name="KSO_WM_DIAGRAM_VIRTUALLY_FRAME" val="{&quot;height&quot;:403.1,&quot;left&quot;:55.7,&quot;top&quot;:109.25,&quot;width&quot;:860.45}"/>
</p:tagLst>
</file>

<file path=ppt/tags/tag135.xml><?xml version="1.0" encoding="utf-8"?>
<p:tagLst xmlns:p="http://schemas.openxmlformats.org/presentationml/2006/main">
  <p:tag name="KSO_WM_DIAGRAM_VIRTUALLY_FRAME" val="{&quot;height&quot;:403.1,&quot;left&quot;:55.7,&quot;top&quot;:109.25,&quot;width&quot;:860.45}"/>
</p:tagLst>
</file>

<file path=ppt/tags/tag136.xml><?xml version="1.0" encoding="utf-8"?>
<p:tagLst xmlns:p="http://schemas.openxmlformats.org/presentationml/2006/main">
  <p:tag name="KSO_WM_DIAGRAM_VIRTUALLY_FRAME" val="{&quot;height&quot;:403.1,&quot;left&quot;:55.7,&quot;top&quot;:109.25,&quot;width&quot;:860.45}"/>
</p:tagLst>
</file>

<file path=ppt/tags/tag137.xml><?xml version="1.0" encoding="utf-8"?>
<p:tagLst xmlns:p="http://schemas.openxmlformats.org/presentationml/2006/main">
  <p:tag name="KSO_WM_DIAGRAM_VIRTUALLY_FRAME" val="{&quot;height&quot;:403.1,&quot;left&quot;:55.7,&quot;top&quot;:109.25,&quot;width&quot;:860.45}"/>
</p:tagLst>
</file>

<file path=ppt/tags/tag138.xml><?xml version="1.0" encoding="utf-8"?>
<p:tagLst xmlns:p="http://schemas.openxmlformats.org/presentationml/2006/main">
  <p:tag name="KSO_WM_DIAGRAM_VIRTUALLY_FRAME" val="{&quot;height&quot;:403.1,&quot;left&quot;:55.7,&quot;top&quot;:109.25,&quot;width&quot;:860.45}"/>
</p:tagLst>
</file>

<file path=ppt/tags/tag139.xml><?xml version="1.0" encoding="utf-8"?>
<p:tagLst xmlns:p="http://schemas.openxmlformats.org/presentationml/2006/main">
  <p:tag name="KSO_WM_DIAGRAM_VIRTUALLY_FRAME" val="{&quot;height&quot;:403.1,&quot;left&quot;:55.7,&quot;top&quot;:109.25,&quot;width&quot;:860.45}"/>
</p:tagLst>
</file>

<file path=ppt/tags/tag140.xml><?xml version="1.0" encoding="utf-8"?>
<p:tagLst xmlns:p="http://schemas.openxmlformats.org/presentationml/2006/main">
  <p:tag name="KSO_WM_DIAGRAM_VIRTUALLY_FRAME" val="{&quot;height&quot;:403.1,&quot;left&quot;:55.7,&quot;top&quot;:109.25,&quot;width&quot;:860.45}"/>
</p:tagLst>
</file>

<file path=ppt/tags/tag141.xml><?xml version="1.0" encoding="utf-8"?>
<p:tagLst xmlns:p="http://schemas.openxmlformats.org/presentationml/2006/main">
  <p:tag name="KSO_WM_DIAGRAM_VIRTUALLY_FRAME" val="{&quot;height&quot;:403.1,&quot;left&quot;:55.7,&quot;top&quot;:109.25,&quot;width&quot;:860.45}"/>
</p:tagLst>
</file>

<file path=ppt/tags/tag14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143.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144.xml><?xml version="1.0" encoding="utf-8"?>
<p:tagLst xmlns:p="http://schemas.openxmlformats.org/presentationml/2006/main">
  <p:tag name="KSO_WM_DIAGRAM_VIRTUALLY_FRAME" val="{&quot;height&quot;:403.1,&quot;left&quot;:55.7,&quot;top&quot;:109.25,&quot;width&quot;:860.45}"/>
</p:tagLst>
</file>

<file path=ppt/tags/tag145.xml><?xml version="1.0" encoding="utf-8"?>
<p:tagLst xmlns:p="http://schemas.openxmlformats.org/presentationml/2006/main">
  <p:tag name="KSO_WM_DIAGRAM_VIRTUALLY_FRAME" val="{&quot;height&quot;:403.1,&quot;left&quot;:55.7,&quot;top&quot;:109.25,&quot;width&quot;:860.45}"/>
</p:tagLst>
</file>

<file path=ppt/tags/tag146.xml><?xml version="1.0" encoding="utf-8"?>
<p:tagLst xmlns:p="http://schemas.openxmlformats.org/presentationml/2006/main">
  <p:tag name="KSO_WM_DIAGRAM_VIRTUALLY_FRAME" val="{&quot;height&quot;:403.1,&quot;left&quot;:55.7,&quot;top&quot;:109.25,&quot;width&quot;:860.45}"/>
</p:tagLst>
</file>

<file path=ppt/tags/tag147.xml><?xml version="1.0" encoding="utf-8"?>
<p:tagLst xmlns:p="http://schemas.openxmlformats.org/presentationml/2006/main">
  <p:tag name="KSO_WM_DIAGRAM_VIRTUALLY_FRAME" val="{&quot;height&quot;:403.1,&quot;left&quot;:55.7,&quot;top&quot;:109.25,&quot;width&quot;:860.45}"/>
</p:tagLst>
</file>

<file path=ppt/tags/tag148.xml><?xml version="1.0" encoding="utf-8"?>
<p:tagLst xmlns:p="http://schemas.openxmlformats.org/presentationml/2006/main">
  <p:tag name="KSO_WM_DIAGRAM_VIRTUALLY_FRAME" val="{&quot;height&quot;:403.1,&quot;left&quot;:55.7,&quot;top&quot;:109.25,&quot;width&quot;:860.45}"/>
</p:tagLst>
</file>

<file path=ppt/tags/tag149.xml><?xml version="1.0" encoding="utf-8"?>
<p:tagLst xmlns:p="http://schemas.openxmlformats.org/presentationml/2006/main">
  <p:tag name="KSO_WM_DIAGRAM_VIRTUALLY_FRAME" val="{&quot;height&quot;:403.1,&quot;left&quot;:55.7,&quot;top&quot;:109.25,&quot;width&quot;:860.45}"/>
</p:tagLst>
</file>

<file path=ppt/tags/tag150.xml><?xml version="1.0" encoding="utf-8"?>
<p:tagLst xmlns:p="http://schemas.openxmlformats.org/presentationml/2006/main">
  <p:tag name="KSO_WM_DIAGRAM_VIRTUALLY_FRAME" val="{&quot;height&quot;:403.1,&quot;left&quot;:55.7,&quot;top&quot;:109.25,&quot;width&quot;:860.45}"/>
</p:tagLst>
</file>

<file path=ppt/tags/tag151.xml><?xml version="1.0" encoding="utf-8"?>
<p:tagLst xmlns:p="http://schemas.openxmlformats.org/presentationml/2006/main">
  <p:tag name="KSO_WM_DIAGRAM_VIRTUALLY_FRAME" val="{&quot;height&quot;:403.1,&quot;left&quot;:55.7,&quot;top&quot;:109.25,&quot;width&quot;:860.45}"/>
</p:tagLst>
</file>

<file path=ppt/tags/tag152.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53.xml><?xml version="1.0" encoding="utf-8"?>
<p:tagLst xmlns:p="http://schemas.openxmlformats.org/presentationml/2006/main">
  <p:tag name="KSO_WM_DIAGRAM_VIRTUALLY_FRAME" val="{&quot;height&quot;:403.1,&quot;left&quot;:55.7,&quot;top&quot;:109.25,&quot;width&quot;:860.45}"/>
</p:tagLst>
</file>

<file path=ppt/tags/tag154.xml><?xml version="1.0" encoding="utf-8"?>
<p:tagLst xmlns:p="http://schemas.openxmlformats.org/presentationml/2006/main">
  <p:tag name="KSO_WM_DIAGRAM_VIRTUALLY_FRAME" val="{&quot;height&quot;:403.1,&quot;left&quot;:55.7,&quot;top&quot;:109.25,&quot;width&quot;:860.45}"/>
</p:tagLst>
</file>

<file path=ppt/tags/tag155.xml><?xml version="1.0" encoding="utf-8"?>
<p:tagLst xmlns:p="http://schemas.openxmlformats.org/presentationml/2006/main">
  <p:tag name="KSO_WM_DIAGRAM_VIRTUALLY_FRAME" val="{&quot;height&quot;:403.1,&quot;left&quot;:55.7,&quot;top&quot;:109.25,&quot;width&quot;:860.45}"/>
</p:tagLst>
</file>

<file path=ppt/tags/tag156.xml><?xml version="1.0" encoding="utf-8"?>
<p:tagLst xmlns:p="http://schemas.openxmlformats.org/presentationml/2006/main">
  <p:tag name="KSO_WM_DIAGRAM_VIRTUALLY_FRAME" val="{&quot;height&quot;:403.1,&quot;left&quot;:55.7,&quot;top&quot;:109.25,&quot;width&quot;:860.45}"/>
</p:tagLst>
</file>

<file path=ppt/tags/tag157.xml><?xml version="1.0" encoding="utf-8"?>
<p:tagLst xmlns:p="http://schemas.openxmlformats.org/presentationml/2006/main">
  <p:tag name="KSO_WM_DIAGRAM_VIRTUALLY_FRAME" val="{&quot;height&quot;:403.1,&quot;left&quot;:55.7,&quot;top&quot;:109.25,&quot;width&quot;:860.45}"/>
</p:tagLst>
</file>

<file path=ppt/tags/tag158.xml><?xml version="1.0" encoding="utf-8"?>
<p:tagLst xmlns:p="http://schemas.openxmlformats.org/presentationml/2006/main">
  <p:tag name="KSO_WM_DIAGRAM_VIRTUALLY_FRAME" val="{&quot;height&quot;:403.1,&quot;left&quot;:55.7,&quot;top&quot;:109.25,&quot;width&quot;:860.45}"/>
</p:tagLst>
</file>

<file path=ppt/tags/tag159.xml><?xml version="1.0" encoding="utf-8"?>
<p:tagLst xmlns:p="http://schemas.openxmlformats.org/presentationml/2006/main">
  <p:tag name="KSO_WM_DIAGRAM_VIRTUALLY_FRAME" val="{&quot;height&quot;:403.1,&quot;left&quot;:55.7,&quot;top&quot;:109.25,&quot;width&quot;:860.45}"/>
</p:tagLst>
</file>

<file path=ppt/tags/tag160.xml><?xml version="1.0" encoding="utf-8"?>
<p:tagLst xmlns:p="http://schemas.openxmlformats.org/presentationml/2006/main">
  <p:tag name="KSO_WM_DIAGRAM_VIRTUALLY_FRAME" val="{&quot;height&quot;:403.1,&quot;left&quot;:55.7,&quot;top&quot;:109.25,&quot;width&quot;:860.45}"/>
</p:tagLst>
</file>

<file path=ppt/tags/tag161.xml><?xml version="1.0" encoding="utf-8"?>
<p:tagLst xmlns:p="http://schemas.openxmlformats.org/presentationml/2006/main">
  <p:tag name="KSO_WM_DIAGRAM_VIRTUALLY_FRAME" val="{&quot;height&quot;:403.1,&quot;left&quot;:55.7,&quot;top&quot;:109.25,&quot;width&quot;:860.45}"/>
</p:tagLst>
</file>

<file path=ppt/tags/tag162.xml><?xml version="1.0" encoding="utf-8"?>
<p:tagLst xmlns:p="http://schemas.openxmlformats.org/presentationml/2006/main">
  <p:tag name="KSO_WM_DIAGRAM_VIRTUALLY_FRAME" val="{&quot;height&quot;:403.1,&quot;left&quot;:55.7,&quot;top&quot;:109.25,&quot;width&quot;:860.45}"/>
</p:tagLst>
</file>

<file path=ppt/tags/tag163.xml><?xml version="1.0" encoding="utf-8"?>
<p:tagLst xmlns:p="http://schemas.openxmlformats.org/presentationml/2006/main">
  <p:tag name="KSO_WM_DIAGRAM_VIRTUALLY_FRAME" val="{&quot;height&quot;:403.1,&quot;left&quot;:55.7,&quot;top&quot;:109.25,&quot;width&quot;:860.45}"/>
</p:tagLst>
</file>

<file path=ppt/tags/tag164.xml><?xml version="1.0" encoding="utf-8"?>
<p:tagLst xmlns:p="http://schemas.openxmlformats.org/presentationml/2006/main">
  <p:tag name="KSO_WM_DIAGRAM_VIRTUALLY_FRAME" val="{&quot;height&quot;:403.1,&quot;left&quot;:55.7,&quot;top&quot;:109.25,&quot;width&quot;:860.45}"/>
</p:tagLst>
</file>

<file path=ppt/tags/tag165.xml><?xml version="1.0" encoding="utf-8"?>
<p:tagLst xmlns:p="http://schemas.openxmlformats.org/presentationml/2006/main">
  <p:tag name="KSO_WM_DIAGRAM_VIRTUALLY_FRAME" val="{&quot;height&quot;:403.1,&quot;left&quot;:55.7,&quot;top&quot;:109.25,&quot;width&quot;:860.45}"/>
</p:tagLst>
</file>

<file path=ppt/tags/tag166.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67.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68.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69.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70.xml><?xml version="1.0" encoding="utf-8"?>
<p:tagLst xmlns:p="http://schemas.openxmlformats.org/presentationml/2006/main">
  <p:tag name="KSO_WM_DIAGRAM_VIRTUALLY_FRAME" val="{&quot;height&quot;:403.1,&quot;left&quot;:55.7,&quot;top&quot;:109.25,&quot;width&quot;:860.45}"/>
</p:tagLst>
</file>

<file path=ppt/tags/tag171.xml><?xml version="1.0" encoding="utf-8"?>
<p:tagLst xmlns:p="http://schemas.openxmlformats.org/presentationml/2006/main">
  <p:tag name="KSO_WM_DIAGRAM_VIRTUALLY_FRAME" val="{&quot;height&quot;:403.1,&quot;left&quot;:55.7,&quot;top&quot;:109.25,&quot;width&quot;:860.45}"/>
</p:tagLst>
</file>

<file path=ppt/tags/tag172.xml><?xml version="1.0" encoding="utf-8"?>
<p:tagLst xmlns:p="http://schemas.openxmlformats.org/presentationml/2006/main">
  <p:tag name="KSO_WM_DIAGRAM_VIRTUALLY_FRAME" val="{&quot;height&quot;:403.1,&quot;left&quot;:55.7,&quot;top&quot;:109.25,&quot;width&quot;:860.45}"/>
</p:tagLst>
</file>

<file path=ppt/tags/tag173.xml><?xml version="1.0" encoding="utf-8"?>
<p:tagLst xmlns:p="http://schemas.openxmlformats.org/presentationml/2006/main">
  <p:tag name="KSO_WM_DIAGRAM_VIRTUALLY_FRAME" val="{&quot;height&quot;:403.1,&quot;left&quot;:55.7,&quot;top&quot;:109.25,&quot;width&quot;:860.45}"/>
</p:tagLst>
</file>

<file path=ppt/tags/tag174.xml><?xml version="1.0" encoding="utf-8"?>
<p:tagLst xmlns:p="http://schemas.openxmlformats.org/presentationml/2006/main">
  <p:tag name="KSO_WM_DIAGRAM_VIRTUALLY_FRAME" val="{&quot;height&quot;:403.1,&quot;left&quot;:55.7,&quot;top&quot;:109.25,&quot;width&quot;:860.45}"/>
</p:tagLst>
</file>

<file path=ppt/tags/tag175.xml><?xml version="1.0" encoding="utf-8"?>
<p:tagLst xmlns:p="http://schemas.openxmlformats.org/presentationml/2006/main">
  <p:tag name="KSO_WM_DIAGRAM_VIRTUALLY_FRAME" val="{&quot;height&quot;:403.1,&quot;left&quot;:55.7,&quot;top&quot;:109.25,&quot;width&quot;:860.45}"/>
</p:tagLst>
</file>

<file path=ppt/tags/tag176.xml><?xml version="1.0" encoding="utf-8"?>
<p:tagLst xmlns:p="http://schemas.openxmlformats.org/presentationml/2006/main">
  <p:tag name="KSO_WM_DIAGRAM_VIRTUALLY_FRAME" val="{&quot;height&quot;:403.1,&quot;left&quot;:55.7,&quot;top&quot;:109.25,&quot;width&quot;:860.45}"/>
</p:tagLst>
</file>

<file path=ppt/tags/tag177.xml><?xml version="1.0" encoding="utf-8"?>
<p:tagLst xmlns:p="http://schemas.openxmlformats.org/presentationml/2006/main">
  <p:tag name="KSO_WM_DIAGRAM_VIRTUALLY_FRAME" val="{&quot;height&quot;:403.1,&quot;left&quot;:55.7,&quot;top&quot;:109.25,&quot;width&quot;:860.45}"/>
</p:tagLst>
</file>

<file path=ppt/tags/tag178.xml><?xml version="1.0" encoding="utf-8"?>
<p:tagLst xmlns:p="http://schemas.openxmlformats.org/presentationml/2006/main">
  <p:tag name="KSO_WM_DIAGRAM_VIRTUALLY_FRAME" val="{&quot;height&quot;:403.1,&quot;left&quot;:55.7,&quot;top&quot;:109.25,&quot;width&quot;:860.45}"/>
</p:tagLst>
</file>

<file path=ppt/tags/tag179.xml><?xml version="1.0" encoding="utf-8"?>
<p:tagLst xmlns:p="http://schemas.openxmlformats.org/presentationml/2006/main">
  <p:tag name="KSO_WM_DIAGRAM_VIRTUALLY_FRAME" val="{&quot;height&quot;:403.1,&quot;left&quot;:55.7,&quot;top&quot;:109.25,&quot;width&quot;:860.45}"/>
</p:tagLst>
</file>

<file path=ppt/tags/tag180.xml><?xml version="1.0" encoding="utf-8"?>
<p:tagLst xmlns:p="http://schemas.openxmlformats.org/presentationml/2006/main">
  <p:tag name="KSO_WM_DIAGRAM_VIRTUALLY_FRAME" val="{&quot;height&quot;:403.1,&quot;left&quot;:55.7,&quot;top&quot;:109.25,&quot;width&quot;:860.45}"/>
</p:tagLst>
</file>

<file path=ppt/tags/tag181.xml><?xml version="1.0" encoding="utf-8"?>
<p:tagLst xmlns:p="http://schemas.openxmlformats.org/presentationml/2006/main">
  <p:tag name="KSO_WM_DIAGRAM_VIRTUALLY_FRAME" val="{&quot;height&quot;:403.1,&quot;left&quot;:55.7,&quot;top&quot;:109.25,&quot;width&quot;:860.45}"/>
</p:tagLst>
</file>

<file path=ppt/tags/tag182.xml><?xml version="1.0" encoding="utf-8"?>
<p:tagLst xmlns:p="http://schemas.openxmlformats.org/presentationml/2006/main">
  <p:tag name="KSO_WM_DIAGRAM_VIRTUALLY_FRAME" val="{&quot;height&quot;:403.1,&quot;left&quot;:55.7,&quot;top&quot;:109.25,&quot;width&quot;:860.45}"/>
</p:tagLst>
</file>

<file path=ppt/tags/tag183.xml><?xml version="1.0" encoding="utf-8"?>
<p:tagLst xmlns:p="http://schemas.openxmlformats.org/presentationml/2006/main">
  <p:tag name="KSO_WM_DIAGRAM_VIRTUALLY_FRAME" val="{&quot;height&quot;:403.1,&quot;left&quot;:55.7,&quot;top&quot;:109.25,&quot;width&quot;:860.45}"/>
</p:tagLst>
</file>

<file path=ppt/tags/tag184.xml><?xml version="1.0" encoding="utf-8"?>
<p:tagLst xmlns:p="http://schemas.openxmlformats.org/presentationml/2006/main">
  <p:tag name="KSO_WM_DIAGRAM_VIRTUALLY_FRAME" val="{&quot;height&quot;:403.1,&quot;left&quot;:55.7,&quot;top&quot;:109.25,&quot;width&quot;:860.45}"/>
</p:tagLst>
</file>

<file path=ppt/tags/tag185.xml><?xml version="1.0" encoding="utf-8"?>
<p:tagLst xmlns:p="http://schemas.openxmlformats.org/presentationml/2006/main">
  <p:tag name="KSO_WM_DIAGRAM_VIRTUALLY_FRAME" val="{&quot;height&quot;:403.1,&quot;left&quot;:55.7,&quot;top&quot;:109.25,&quot;width&quot;:860.45}"/>
</p:tagLst>
</file>

<file path=ppt/tags/tag186.xml><?xml version="1.0" encoding="utf-8"?>
<p:tagLst xmlns:p="http://schemas.openxmlformats.org/presentationml/2006/main">
  <p:tag name="KSO_WM_DIAGRAM_VIRTUALLY_FRAME" val="{&quot;height&quot;:403.1,&quot;left&quot;:55.7,&quot;top&quot;:109.25,&quot;width&quot;:860.45}"/>
</p:tagLst>
</file>

<file path=ppt/tags/tag187.xml><?xml version="1.0" encoding="utf-8"?>
<p:tagLst xmlns:p="http://schemas.openxmlformats.org/presentationml/2006/main">
  <p:tag name="KSO_WM_DIAGRAM_VIRTUALLY_FRAME" val="{&quot;height&quot;:403.1,&quot;left&quot;:55.7,&quot;top&quot;:109.25,&quot;width&quot;:860.45}"/>
</p:tagLst>
</file>

<file path=ppt/tags/tag188.xml><?xml version="1.0" encoding="utf-8"?>
<p:tagLst xmlns:p="http://schemas.openxmlformats.org/presentationml/2006/main">
  <p:tag name="KSO_WM_DIAGRAM_VIRTUALLY_FRAME" val="{&quot;height&quot;:403.1,&quot;left&quot;:55.7,&quot;top&quot;:109.25,&quot;width&quot;:860.45}"/>
</p:tagLst>
</file>

<file path=ppt/tags/tag189.xml><?xml version="1.0" encoding="utf-8"?>
<p:tagLst xmlns:p="http://schemas.openxmlformats.org/presentationml/2006/main">
  <p:tag name="KSO_WM_DIAGRAM_VIRTUALLY_FRAME" val="{&quot;height&quot;:403.1,&quot;left&quot;:55.7,&quot;top&quot;:109.25,&quot;width&quot;:860.45}"/>
</p:tagLst>
</file>

<file path=ppt/tags/tag190.xml><?xml version="1.0" encoding="utf-8"?>
<p:tagLst xmlns:p="http://schemas.openxmlformats.org/presentationml/2006/main">
  <p:tag name="KSO_WM_DIAGRAM_VIRTUALLY_FRAME" val="{&quot;height&quot;:403.1,&quot;left&quot;:55.7,&quot;top&quot;:109.25,&quot;width&quot;:860.45}"/>
</p:tagLst>
</file>

<file path=ppt/tags/tag191.xml><?xml version="1.0" encoding="utf-8"?>
<p:tagLst xmlns:p="http://schemas.openxmlformats.org/presentationml/2006/main">
  <p:tag name="KSO_WM_DIAGRAM_VIRTUALLY_FRAME" val="{&quot;height&quot;:403.1,&quot;left&quot;:55.7,&quot;top&quot;:109.25,&quot;width&quot;:860.45}"/>
</p:tagLst>
</file>

<file path=ppt/tags/tag192.xml><?xml version="1.0" encoding="utf-8"?>
<p:tagLst xmlns:p="http://schemas.openxmlformats.org/presentationml/2006/main">
  <p:tag name="KSO_WM_DIAGRAM_VIRTUALLY_FRAME" val="{&quot;height&quot;:403.1,&quot;left&quot;:55.7,&quot;top&quot;:109.25,&quot;width&quot;:860.45}"/>
</p:tagLst>
</file>

<file path=ppt/tags/tag193.xml><?xml version="1.0" encoding="utf-8"?>
<p:tagLst xmlns:p="http://schemas.openxmlformats.org/presentationml/2006/main">
  <p:tag name="KSO_WM_DIAGRAM_VIRTUALLY_FRAME" val="{&quot;height&quot;:403.1,&quot;left&quot;:55.7,&quot;top&quot;:109.25,&quot;width&quot;:860.45}"/>
</p:tagLst>
</file>

<file path=ppt/tags/tag194.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95.xml><?xml version="1.0" encoding="utf-8"?>
<p:tagLst xmlns:p="http://schemas.openxmlformats.org/presentationml/2006/main">
  <p:tag name="KSO_WM_DIAGRAM_VIRTUALLY_FRAME" val="{&quot;height&quot;:403.1,&quot;left&quot;:55.7,&quot;top&quot;:109.25,&quot;width&quot;:860.45}"/>
</p:tagLst>
</file>

<file path=ppt/tags/tag196.xml><?xml version="1.0" encoding="utf-8"?>
<p:tagLst xmlns:p="http://schemas.openxmlformats.org/presentationml/2006/main">
  <p:tag name="KSO_WM_DIAGRAM_VIRTUALLY_FRAME" val="{&quot;height&quot;:403.1,&quot;left&quot;:55.7,&quot;top&quot;:109.25,&quot;width&quot;:860.45}"/>
</p:tagLst>
</file>

<file path=ppt/tags/tag197.xml><?xml version="1.0" encoding="utf-8"?>
<p:tagLst xmlns:p="http://schemas.openxmlformats.org/presentationml/2006/main">
  <p:tag name="KSO_WM_DIAGRAM_VIRTUALLY_FRAME" val="{&quot;height&quot;:403.1,&quot;left&quot;:55.7,&quot;top&quot;:109.25,&quot;width&quot;:860.45}"/>
</p:tagLst>
</file>

<file path=ppt/tags/tag198.xml><?xml version="1.0" encoding="utf-8"?>
<p:tagLst xmlns:p="http://schemas.openxmlformats.org/presentationml/2006/main">
  <p:tag name="KSO_WM_DIAGRAM_VIRTUALLY_FRAME" val="{&quot;height&quot;:403.1,&quot;left&quot;:55.7,&quot;top&quot;:109.25,&quot;width&quot;:860.45}"/>
</p:tagLst>
</file>

<file path=ppt/tags/tag199.xml><?xml version="1.0" encoding="utf-8"?>
<p:tagLst xmlns:p="http://schemas.openxmlformats.org/presentationml/2006/main">
  <p:tag name="KSO_WM_DIAGRAM_VIRTUALLY_FRAME" val="{&quot;height&quot;:403.1,&quot;left&quot;:55.7,&quot;top&quot;:109.25,&quot;width&quot;:860.45}"/>
</p:tagLst>
</file>

<file path=ppt/tags/tag200.xml><?xml version="1.0" encoding="utf-8"?>
<p:tagLst xmlns:p="http://schemas.openxmlformats.org/presentationml/2006/main">
  <p:tag name="KSO_WM_DIAGRAM_VIRTUALLY_FRAME" val="{&quot;height&quot;:403.1,&quot;left&quot;:55.7,&quot;top&quot;:109.25,&quot;width&quot;:860.45}"/>
</p:tagLst>
</file>

<file path=ppt/tags/tag201.xml><?xml version="1.0" encoding="utf-8"?>
<p:tagLst xmlns:p="http://schemas.openxmlformats.org/presentationml/2006/main">
  <p:tag name="KSO_WM_DIAGRAM_VIRTUALLY_FRAME" val="{&quot;height&quot;:403.1,&quot;left&quot;:55.7,&quot;top&quot;:109.25,&quot;width&quot;:860.45}"/>
</p:tagLst>
</file>

<file path=ppt/tags/tag202.xml><?xml version="1.0" encoding="utf-8"?>
<p:tagLst xmlns:p="http://schemas.openxmlformats.org/presentationml/2006/main">
  <p:tag name="KSO_WM_DIAGRAM_VIRTUALLY_FRAME" val="{&quot;height&quot;:403.1,&quot;left&quot;:55.7,&quot;top&quot;:109.25,&quot;width&quot;:860.45}"/>
</p:tagLst>
</file>

<file path=ppt/tags/tag203.xml><?xml version="1.0" encoding="utf-8"?>
<p:tagLst xmlns:p="http://schemas.openxmlformats.org/presentationml/2006/main">
  <p:tag name="KSO_WM_DIAGRAM_VIRTUALLY_FRAME" val="{&quot;height&quot;:403.1,&quot;left&quot;:55.7,&quot;top&quot;:109.25,&quot;width&quot;:860.45}"/>
</p:tagLst>
</file>

<file path=ppt/tags/tag204.xml><?xml version="1.0" encoding="utf-8"?>
<p:tagLst xmlns:p="http://schemas.openxmlformats.org/presentationml/2006/main">
  <p:tag name="KSO_WM_DIAGRAM_VIRTUALLY_FRAME" val="{&quot;height&quot;:403.1,&quot;left&quot;:55.7,&quot;top&quot;:109.25,&quot;width&quot;:860.45}"/>
</p:tagLst>
</file>

<file path=ppt/tags/tag205.xml><?xml version="1.0" encoding="utf-8"?>
<p:tagLst xmlns:p="http://schemas.openxmlformats.org/presentationml/2006/main">
  <p:tag name="KSO_WM_DIAGRAM_VIRTUALLY_FRAME" val="{&quot;height&quot;:403.1,&quot;left&quot;:55.7,&quot;top&quot;:109.25,&quot;width&quot;:860.45}"/>
</p:tagLst>
</file>

<file path=ppt/tags/tag206.xml><?xml version="1.0" encoding="utf-8"?>
<p:tagLst xmlns:p="http://schemas.openxmlformats.org/presentationml/2006/main">
  <p:tag name="KSO_WM_DIAGRAM_VIRTUALLY_FRAME" val="{&quot;height&quot;:403.1,&quot;left&quot;:55.7,&quot;top&quot;:109.25,&quot;width&quot;:860.45}"/>
</p:tagLst>
</file>

<file path=ppt/tags/tag207.xml><?xml version="1.0" encoding="utf-8"?>
<p:tagLst xmlns:p="http://schemas.openxmlformats.org/presentationml/2006/main">
  <p:tag name="KSO_WM_DIAGRAM_VIRTUALLY_FRAME" val="{&quot;height&quot;:403.1,&quot;left&quot;:55.7,&quot;top&quot;:109.25,&quot;width&quot;:860.45}"/>
</p:tagLst>
</file>

<file path=ppt/tags/tag208.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209.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210.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211.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212.xml><?xml version="1.0" encoding="utf-8"?>
<p:tagLst xmlns:p="http://schemas.openxmlformats.org/presentationml/2006/main">
  <p:tag name="KSO_WM_DIAGRAM_VIRTUALLY_FRAME" val="{&quot;height&quot;:403.1,&quot;left&quot;:55.7,&quot;top&quot;:109.25,&quot;width&quot;:860.45}"/>
</p:tagLst>
</file>

<file path=ppt/tags/tag213.xml><?xml version="1.0" encoding="utf-8"?>
<p:tagLst xmlns:p="http://schemas.openxmlformats.org/presentationml/2006/main">
  <p:tag name="KSO_WM_DIAGRAM_VIRTUALLY_FRAME" val="{&quot;height&quot;:403.1,&quot;left&quot;:55.7,&quot;top&quot;:109.25,&quot;width&quot;:860.45}"/>
</p:tagLst>
</file>

<file path=ppt/tags/tag214.xml><?xml version="1.0" encoding="utf-8"?>
<p:tagLst xmlns:p="http://schemas.openxmlformats.org/presentationml/2006/main">
  <p:tag name="KSO_WM_DIAGRAM_VIRTUALLY_FRAME" val="{&quot;height&quot;:403.1,&quot;left&quot;:55.7,&quot;top&quot;:109.25,&quot;width&quot;:860.45}"/>
</p:tagLst>
</file>

<file path=ppt/tags/tag215.xml><?xml version="1.0" encoding="utf-8"?>
<p:tagLst xmlns:p="http://schemas.openxmlformats.org/presentationml/2006/main">
  <p:tag name="KSO_WM_DIAGRAM_VIRTUALLY_FRAME" val="{&quot;height&quot;:403.1,&quot;left&quot;:55.7,&quot;top&quot;:109.25,&quot;width&quot;:860.45}"/>
</p:tagLst>
</file>

<file path=ppt/tags/tag216.xml><?xml version="1.0" encoding="utf-8"?>
<p:tagLst xmlns:p="http://schemas.openxmlformats.org/presentationml/2006/main">
  <p:tag name="KSO_WM_DIAGRAM_VIRTUALLY_FRAME" val="{&quot;height&quot;:403.1,&quot;left&quot;:55.7,&quot;top&quot;:109.25,&quot;width&quot;:860.45}"/>
</p:tagLst>
</file>

<file path=ppt/tags/tag217.xml><?xml version="1.0" encoding="utf-8"?>
<p:tagLst xmlns:p="http://schemas.openxmlformats.org/presentationml/2006/main">
  <p:tag name="KSO_WM_DIAGRAM_VIRTUALLY_FRAME" val="{&quot;height&quot;:403.1,&quot;left&quot;:55.7,&quot;top&quot;:109.25,&quot;width&quot;:860.45}"/>
</p:tagLst>
</file>

<file path=ppt/tags/tag218.xml><?xml version="1.0" encoding="utf-8"?>
<p:tagLst xmlns:p="http://schemas.openxmlformats.org/presentationml/2006/main">
  <p:tag name="KSO_WM_DIAGRAM_VIRTUALLY_FRAME" val="{&quot;height&quot;:403.1,&quot;left&quot;:55.7,&quot;top&quot;:109.25,&quot;width&quot;:860.45}"/>
</p:tagLst>
</file>

<file path=ppt/tags/tag219.xml><?xml version="1.0" encoding="utf-8"?>
<p:tagLst xmlns:p="http://schemas.openxmlformats.org/presentationml/2006/main">
  <p:tag name="KSO_WM_DIAGRAM_VIRTUALLY_FRAME" val="{&quot;height&quot;:403.1,&quot;left&quot;:55.7,&quot;top&quot;:109.25,&quot;width&quot;:860.45}"/>
</p:tagLst>
</file>

<file path=ppt/tags/tag220.xml><?xml version="1.0" encoding="utf-8"?>
<p:tagLst xmlns:p="http://schemas.openxmlformats.org/presentationml/2006/main">
  <p:tag name="KSO_WM_DIAGRAM_VIRTUALLY_FRAME" val="{&quot;height&quot;:403.1,&quot;left&quot;:55.7,&quot;top&quot;:109.25,&quot;width&quot;:860.45}"/>
</p:tagLst>
</file>

<file path=ppt/tags/tag221.xml><?xml version="1.0" encoding="utf-8"?>
<p:tagLst xmlns:p="http://schemas.openxmlformats.org/presentationml/2006/main">
  <p:tag name="KSO_WM_DIAGRAM_VIRTUALLY_FRAME" val="{&quot;height&quot;:403.1,&quot;left&quot;:55.7,&quot;top&quot;:109.25,&quot;width&quot;:860.45}"/>
</p:tagLst>
</file>

<file path=ppt/tags/tag222.xml><?xml version="1.0" encoding="utf-8"?>
<p:tagLst xmlns:p="http://schemas.openxmlformats.org/presentationml/2006/main">
  <p:tag name="KSO_WM_DIAGRAM_VIRTUALLY_FRAME" val="{&quot;height&quot;:403.1,&quot;left&quot;:55.7,&quot;top&quot;:109.25,&quot;width&quot;:860.45}"/>
</p:tagLst>
</file>

<file path=ppt/tags/tag223.xml><?xml version="1.0" encoding="utf-8"?>
<p:tagLst xmlns:p="http://schemas.openxmlformats.org/presentationml/2006/main">
  <p:tag name="KSO_WM_DIAGRAM_VIRTUALLY_FRAME" val="{&quot;height&quot;:403.1,&quot;left&quot;:55.7,&quot;top&quot;:109.25,&quot;width&quot;:860.45}"/>
</p:tagLst>
</file>

<file path=ppt/tags/tag224.xml><?xml version="1.0" encoding="utf-8"?>
<p:tagLst xmlns:p="http://schemas.openxmlformats.org/presentationml/2006/main">
  <p:tag name="KSO_WM_DIAGRAM_VIRTUALLY_FRAME" val="{&quot;height&quot;:403.1,&quot;left&quot;:55.7,&quot;top&quot;:109.25,&quot;width&quot;:860.45}"/>
</p:tagLst>
</file>

<file path=ppt/tags/tag225.xml><?xml version="1.0" encoding="utf-8"?>
<p:tagLst xmlns:p="http://schemas.openxmlformats.org/presentationml/2006/main">
  <p:tag name="KSO_WM_DIAGRAM_VIRTUALLY_FRAME" val="{&quot;height&quot;:403.1,&quot;left&quot;:55.7,&quot;top&quot;:109.25,&quot;width&quot;:860.45}"/>
</p:tagLst>
</file>

<file path=ppt/tags/tag226.xml><?xml version="1.0" encoding="utf-8"?>
<p:tagLst xmlns:p="http://schemas.openxmlformats.org/presentationml/2006/main">
  <p:tag name="KSO_WM_DIAGRAM_VIRTUALLY_FRAME" val="{&quot;height&quot;:74.65,&quot;left&quot;:60.95,&quot;top&quot;:71.1,&quot;width&quot;:825.35}"/>
</p:tagLst>
</file>

<file path=ppt/tags/tag227.xml><?xml version="1.0" encoding="utf-8"?>
<p:tagLst xmlns:p="http://schemas.openxmlformats.org/presentationml/2006/main">
  <p:tag name="KSO_WM_DIAGRAM_VIRTUALLY_FRAME" val="{&quot;height&quot;:74.65,&quot;left&quot;:60.95,&quot;top&quot;:71.1,&quot;width&quot;:825.35}"/>
</p:tagLst>
</file>

<file path=ppt/tags/tag228.xml><?xml version="1.0" encoding="utf-8"?>
<p:tagLst xmlns:p="http://schemas.openxmlformats.org/presentationml/2006/main">
  <p:tag name="KSO_WM_DIAGRAM_VIRTUALLY_FRAME" val="{&quot;height&quot;:74.65,&quot;left&quot;:60.95,&quot;top&quot;:71.1,&quot;width&quot;:825.35}"/>
</p:tagLst>
</file>

<file path=ppt/tags/tag229.xml><?xml version="1.0" encoding="utf-8"?>
<p:tagLst xmlns:p="http://schemas.openxmlformats.org/presentationml/2006/main">
  <p:tag name="KSO_WM_DIAGRAM_VIRTUALLY_FRAME" val="{&quot;height&quot;:74.65,&quot;left&quot;:60.95,&quot;top&quot;:71.1,&quot;width&quot;:825.35}"/>
</p:tagLst>
</file>

<file path=ppt/tags/tag230.xml><?xml version="1.0" encoding="utf-8"?>
<p:tagLst xmlns:p="http://schemas.openxmlformats.org/presentationml/2006/main">
  <p:tag name="KSO_WM_DIAGRAM_VIRTUALLY_FRAME" val="{&quot;height&quot;:74.65,&quot;left&quot;:60.95,&quot;top&quot;:71.1,&quot;width&quot;:825.35}"/>
</p:tagLst>
</file>

<file path=ppt/tags/tag231.xml><?xml version="1.0" encoding="utf-8"?>
<p:tagLst xmlns:p="http://schemas.openxmlformats.org/presentationml/2006/main">
  <p:tag name="KSO_WM_DIAGRAM_VIRTUALLY_FRAME" val="{&quot;height&quot;:74.65,&quot;left&quot;:60.95,&quot;top&quot;:71.1,&quot;width&quot;:825.35}"/>
</p:tagLst>
</file>

<file path=ppt/tags/tag232.xml><?xml version="1.0" encoding="utf-8"?>
<p:tagLst xmlns:p="http://schemas.openxmlformats.org/presentationml/2006/main">
  <p:tag name="KSO_WM_DIAGRAM_VIRTUALLY_FRAME" val="{&quot;height&quot;:74.65,&quot;left&quot;:60.95,&quot;top&quot;:71.1,&quot;width&quot;:825.35}"/>
</p:tagLst>
</file>

<file path=ppt/tags/tag233.xml><?xml version="1.0" encoding="utf-8"?>
<p:tagLst xmlns:p="http://schemas.openxmlformats.org/presentationml/2006/main">
  <p:tag name="KSO_WM_DIAGRAM_VIRTUALLY_FRAME" val="{&quot;height&quot;:74.65,&quot;left&quot;:60.95,&quot;top&quot;:71.1,&quot;width&quot;:825.35}"/>
</p:tagLst>
</file>

<file path=ppt/tags/tag234.xml><?xml version="1.0" encoding="utf-8"?>
<p:tagLst xmlns:p="http://schemas.openxmlformats.org/presentationml/2006/main">
  <p:tag name="KSO_WM_DIAGRAM_VIRTUALLY_FRAME" val="{&quot;height&quot;:74.65,&quot;left&quot;:60.95,&quot;top&quot;:71.1,&quot;width&quot;:825.35}"/>
</p:tagLst>
</file>

<file path=ppt/tags/tag235.xml><?xml version="1.0" encoding="utf-8"?>
<p:tagLst xmlns:p="http://schemas.openxmlformats.org/presentationml/2006/main">
  <p:tag name="KSO_WM_DIAGRAM_VIRTUALLY_FRAME" val="{&quot;height&quot;:74.65,&quot;left&quot;:60.95,&quot;top&quot;:71.1,&quot;width&quot;:825.35}"/>
</p:tagLst>
</file>

<file path=ppt/tags/tag236.xml><?xml version="1.0" encoding="utf-8"?>
<p:tagLst xmlns:p="http://schemas.openxmlformats.org/presentationml/2006/main">
  <p:tag name="KSO_WM_DIAGRAM_VIRTUALLY_FRAME" val="{&quot;height&quot;:74.65,&quot;left&quot;:60.95,&quot;top&quot;:71.1,&quot;width&quot;:825.35}"/>
</p:tagLst>
</file>

<file path=ppt/tags/tag237.xml><?xml version="1.0" encoding="utf-8"?>
<p:tagLst xmlns:p="http://schemas.openxmlformats.org/presentationml/2006/main">
  <p:tag name="KSO_WM_DIAGRAM_VIRTUALLY_FRAME" val="{&quot;height&quot;:74.65,&quot;left&quot;:60.95,&quot;top&quot;:71.1,&quot;width&quot;:825.35}"/>
</p:tagLst>
</file>

<file path=ppt/tags/tag238.xml><?xml version="1.0" encoding="utf-8"?>
<p:tagLst xmlns:p="http://schemas.openxmlformats.org/presentationml/2006/main">
  <p:tag name="KSO_WM_DIAGRAM_VIRTUALLY_FRAME" val="{&quot;height&quot;:74.65,&quot;left&quot;:60.95,&quot;top&quot;:71.1,&quot;width&quot;:825.35}"/>
</p:tagLst>
</file>

<file path=ppt/tags/tag239.xml><?xml version="1.0" encoding="utf-8"?>
<p:tagLst xmlns:p="http://schemas.openxmlformats.org/presentationml/2006/main">
  <p:tag name="KSO_WM_DIAGRAM_VIRTUALLY_FRAME" val="{&quot;height&quot;:74.65,&quot;left&quot;:60.95,&quot;top&quot;:71.1,&quot;width&quot;:825.35}"/>
</p:tagLst>
</file>

<file path=ppt/tags/tag240.xml><?xml version="1.0" encoding="utf-8"?>
<p:tagLst xmlns:p="http://schemas.openxmlformats.org/presentationml/2006/main">
  <p:tag name="KSO_WM_DIAGRAM_VIRTUALLY_FRAME" val="{&quot;height&quot;:74.65,&quot;left&quot;:60.95,&quot;top&quot;:71.1,&quot;width&quot;:825.35}"/>
</p:tagLst>
</file>

<file path=ppt/tags/tag241.xml><?xml version="1.0" encoding="utf-8"?>
<p:tagLst xmlns:p="http://schemas.openxmlformats.org/presentationml/2006/main">
  <p:tag name="KSO_WM_DIAGRAM_VIRTUALLY_FRAME" val="{&quot;height&quot;:74.65,&quot;left&quot;:60.95,&quot;top&quot;:71.1,&quot;width&quot;:825.35}"/>
</p:tagLst>
</file>

<file path=ppt/tags/tag242.xml><?xml version="1.0" encoding="utf-8"?>
<p:tagLst xmlns:p="http://schemas.openxmlformats.org/presentationml/2006/main">
  <p:tag name="KSO_WM_DIAGRAM_VIRTUALLY_FRAME" val="{&quot;height&quot;:74.65,&quot;left&quot;:60.95,&quot;top&quot;:71.1,&quot;width&quot;:825.35}"/>
</p:tagLst>
</file>

<file path=ppt/tags/tag243.xml><?xml version="1.0" encoding="utf-8"?>
<p:tagLst xmlns:p="http://schemas.openxmlformats.org/presentationml/2006/main">
  <p:tag name="KSO_WM_DIAGRAM_VIRTUALLY_FRAME" val="{&quot;height&quot;:74.65,&quot;left&quot;:60.95,&quot;top&quot;:71.1,&quot;width&quot;:825.35}"/>
</p:tagLst>
</file>

<file path=ppt/tags/tag244.xml><?xml version="1.0" encoding="utf-8"?>
<p:tagLst xmlns:p="http://schemas.openxmlformats.org/presentationml/2006/main">
  <p:tag name="KSO_WM_DIAGRAM_VIRTUALLY_FRAME" val="{&quot;height&quot;:74.65,&quot;left&quot;:60.95,&quot;top&quot;:71.1,&quot;width&quot;:825.35}"/>
</p:tagLst>
</file>

<file path=ppt/tags/tag245.xml><?xml version="1.0" encoding="utf-8"?>
<p:tagLst xmlns:p="http://schemas.openxmlformats.org/presentationml/2006/main">
  <p:tag name="KSO_WM_DIAGRAM_VIRTUALLY_FRAME" val="{&quot;height&quot;:74.65,&quot;left&quot;:60.95,&quot;top&quot;:71.1,&quot;width&quot;:825.35}"/>
</p:tagLst>
</file>

<file path=ppt/tags/tag246.xml><?xml version="1.0" encoding="utf-8"?>
<p:tagLst xmlns:p="http://schemas.openxmlformats.org/presentationml/2006/main">
  <p:tag name="KSO_WM_DIAGRAM_VIRTUALLY_FRAME" val="{&quot;height&quot;:74.65,&quot;left&quot;:60.95,&quot;top&quot;:71.1,&quot;width&quot;:825.35}"/>
</p:tagLst>
</file>

<file path=ppt/tags/tag247.xml><?xml version="1.0" encoding="utf-8"?>
<p:tagLst xmlns:p="http://schemas.openxmlformats.org/presentationml/2006/main">
  <p:tag name="KSO_WM_DIAGRAM_VIRTUALLY_FRAME" val="{&quot;height&quot;:74.65,&quot;left&quot;:60.95,&quot;top&quot;:71.1,&quot;width&quot;:825.35}"/>
</p:tagLst>
</file>

<file path=ppt/tags/tag248.xml><?xml version="1.0" encoding="utf-8"?>
<p:tagLst xmlns:p="http://schemas.openxmlformats.org/presentationml/2006/main">
  <p:tag name="KSO_WM_DIAGRAM_VIRTUALLY_FRAME" val="{&quot;height&quot;:74.65,&quot;left&quot;:60.95,&quot;top&quot;:71.1,&quot;width&quot;:825.35}"/>
</p:tagLst>
</file>

<file path=ppt/tags/tag249.xml><?xml version="1.0" encoding="utf-8"?>
<p:tagLst xmlns:p="http://schemas.openxmlformats.org/presentationml/2006/main">
  <p:tag name="KSO_WM_DIAGRAM_VIRTUALLY_FRAME" val="{&quot;height&quot;:74.65,&quot;left&quot;:60.95,&quot;top&quot;:71.1,&quot;width&quot;:825.35}"/>
</p:tagLst>
</file>

<file path=ppt/tags/tag250.xml><?xml version="1.0" encoding="utf-8"?>
<p:tagLst xmlns:p="http://schemas.openxmlformats.org/presentationml/2006/main">
  <p:tag name="KSO_WM_DIAGRAM_VIRTUALLY_FRAME" val="{&quot;height&quot;:74.65,&quot;left&quot;:60.95,&quot;top&quot;:71.1,&quot;width&quot;:825.35}"/>
</p:tagLst>
</file>

<file path=ppt/tags/tag251.xml><?xml version="1.0" encoding="utf-8"?>
<p:tagLst xmlns:p="http://schemas.openxmlformats.org/presentationml/2006/main">
  <p:tag name="KSO_WM_DIAGRAM_VIRTUALLY_FRAME" val="{&quot;height&quot;:74.65,&quot;left&quot;:60.95,&quot;top&quot;:71.1,&quot;width&quot;:825.35}"/>
</p:tagLst>
</file>

<file path=ppt/tags/tag252.xml><?xml version="1.0" encoding="utf-8"?>
<p:tagLst xmlns:p="http://schemas.openxmlformats.org/presentationml/2006/main">
  <p:tag name="KSO_WM_DIAGRAM_VIRTUALLY_FRAME" val="{&quot;height&quot;:74.65,&quot;left&quot;:60.95,&quot;top&quot;:71.1,&quot;width&quot;:825.35}"/>
</p:tagLst>
</file>

<file path=ppt/tags/tag253.xml><?xml version="1.0" encoding="utf-8"?>
<p:tagLst xmlns:p="http://schemas.openxmlformats.org/presentationml/2006/main">
  <p:tag name="KSO_WM_DIAGRAM_VIRTUALLY_FRAME" val="{&quot;height&quot;:74.65,&quot;left&quot;:60.95,&quot;top&quot;:71.1,&quot;width&quot;:825.35}"/>
</p:tagLst>
</file>

<file path=ppt/tags/tag254.xml><?xml version="1.0" encoding="utf-8"?>
<p:tagLst xmlns:p="http://schemas.openxmlformats.org/presentationml/2006/main">
  <p:tag name="KSO_WM_DIAGRAM_VIRTUALLY_FRAME" val="{&quot;height&quot;:74.65,&quot;left&quot;:60.95,&quot;top&quot;:71.1,&quot;width&quot;:825.35}"/>
</p:tagLst>
</file>

<file path=ppt/tags/tag255.xml><?xml version="1.0" encoding="utf-8"?>
<p:tagLst xmlns:p="http://schemas.openxmlformats.org/presentationml/2006/main">
  <p:tag name="KSO_WM_DIAGRAM_VIRTUALLY_FRAME" val="{&quot;height&quot;:74.65,&quot;left&quot;:60.95,&quot;top&quot;:71.1,&quot;width&quot;:825.35}"/>
</p:tagLst>
</file>

<file path=ppt/tags/tag256.xml><?xml version="1.0" encoding="utf-8"?>
<p:tagLst xmlns:p="http://schemas.openxmlformats.org/presentationml/2006/main">
  <p:tag name="KSO_WM_DIAGRAM_VIRTUALLY_FRAME" val="{&quot;height&quot;:74.65,&quot;left&quot;:60.95,&quot;top&quot;:71.1,&quot;width&quot;:825.35}"/>
</p:tagLst>
</file>

<file path=ppt/tags/tag257.xml><?xml version="1.0" encoding="utf-8"?>
<p:tagLst xmlns:p="http://schemas.openxmlformats.org/presentationml/2006/main">
  <p:tag name="KSO_WM_DIAGRAM_VIRTUALLY_FRAME" val="{&quot;height&quot;:74.65,&quot;left&quot;:60.95,&quot;top&quot;:71.1,&quot;width&quot;:825.35}"/>
</p:tagLst>
</file>

<file path=ppt/tags/tag258.xml><?xml version="1.0" encoding="utf-8"?>
<p:tagLst xmlns:p="http://schemas.openxmlformats.org/presentationml/2006/main">
  <p:tag name="KSO_WM_DIAGRAM_VIRTUALLY_FRAME" val="{&quot;height&quot;:74.65,&quot;left&quot;:60.95,&quot;top&quot;:71.1,&quot;width&quot;:825.35}"/>
</p:tagLst>
</file>

<file path=ppt/tags/tag259.xml><?xml version="1.0" encoding="utf-8"?>
<p:tagLst xmlns:p="http://schemas.openxmlformats.org/presentationml/2006/main">
  <p:tag name="KSO_WM_DIAGRAM_VIRTUALLY_FRAME" val="{&quot;height&quot;:74.65,&quot;left&quot;:60.95,&quot;top&quot;:71.1,&quot;width&quot;:825.35}"/>
</p:tagLst>
</file>

<file path=ppt/tags/tag260.xml><?xml version="1.0" encoding="utf-8"?>
<p:tagLst xmlns:p="http://schemas.openxmlformats.org/presentationml/2006/main">
  <p:tag name="KSO_WM_DIAGRAM_VIRTUALLY_FRAME" val="{&quot;height&quot;:74.65,&quot;left&quot;:60.95,&quot;top&quot;:71.1,&quot;width&quot;:825.35}"/>
</p:tagLst>
</file>

<file path=ppt/tags/tag261.xml><?xml version="1.0" encoding="utf-8"?>
<p:tagLst xmlns:p="http://schemas.openxmlformats.org/presentationml/2006/main">
  <p:tag name="KSO_WM_DIAGRAM_VIRTUALLY_FRAME" val="{&quot;height&quot;:74.65,&quot;left&quot;:60.95,&quot;top&quot;:71.1,&quot;width&quot;:825.35}"/>
</p:tagLst>
</file>

<file path=ppt/tags/tag262.xml><?xml version="1.0" encoding="utf-8"?>
<p:tagLst xmlns:p="http://schemas.openxmlformats.org/presentationml/2006/main">
  <p:tag name="KSO_WM_DIAGRAM_VIRTUALLY_FRAME" val="{&quot;height&quot;:74.65,&quot;left&quot;:60.95,&quot;top&quot;:71.1,&quot;width&quot;:825.35}"/>
</p:tagLst>
</file>

<file path=ppt/tags/tag263.xml><?xml version="1.0" encoding="utf-8"?>
<p:tagLst xmlns:p="http://schemas.openxmlformats.org/presentationml/2006/main">
  <p:tag name="KSO_WM_DIAGRAM_VIRTUALLY_FRAME" val="{&quot;height&quot;:74.65,&quot;left&quot;:60.95,&quot;top&quot;:71.1,&quot;width&quot;:825.35}"/>
</p:tagLst>
</file>

<file path=ppt/tags/tag264.xml><?xml version="1.0" encoding="utf-8"?>
<p:tagLst xmlns:p="http://schemas.openxmlformats.org/presentationml/2006/main">
  <p:tag name="KSO_WM_DIAGRAM_VIRTUALLY_FRAME" val="{&quot;height&quot;:74.65,&quot;left&quot;:60.95,&quot;top&quot;:71.1,&quot;width&quot;:825.35}"/>
</p:tagLst>
</file>

<file path=ppt/tags/tag265.xml><?xml version="1.0" encoding="utf-8"?>
<p:tagLst xmlns:p="http://schemas.openxmlformats.org/presentationml/2006/main">
  <p:tag name="KSO_WM_DIAGRAM_VIRTUALLY_FRAME" val="{&quot;height&quot;:74.65,&quot;left&quot;:60.95,&quot;top&quot;:71.1,&quot;width&quot;:825.35}"/>
</p:tagLst>
</file>

<file path=ppt/tags/tag266.xml><?xml version="1.0" encoding="utf-8"?>
<p:tagLst xmlns:p="http://schemas.openxmlformats.org/presentationml/2006/main">
  <p:tag name="KSO_WM_DIAGRAM_VIRTUALLY_FRAME" val="{&quot;height&quot;:74.65,&quot;left&quot;:60.95,&quot;top&quot;:71.1,&quot;width&quot;:825.35}"/>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BAINBULLET" val="True"/>
  <p:tag name="BAINBULLETSACTIVATED" val="True"/>
  <p:tag name="BAINBULLETSLEVELSFINGERPRINT" val="-445028082"/>
</p:tagLst>
</file>

<file path=ppt/tags/tag270.xml><?xml version="1.0" encoding="utf-8"?>
<p:tagLst xmlns:p="http://schemas.openxmlformats.org/presentationml/2006/main">
  <p:tag name="BAINBULLET" val="True"/>
  <p:tag name="BAINBULLETSACTIVATED" val="True"/>
  <p:tag name="BAINBULLETSLEVELSFINGERPRINT" val="-445028082"/>
</p:tagLst>
</file>

<file path=ppt/tags/tag271.xml><?xml version="1.0" encoding="utf-8"?>
<p:tagLst xmlns:p="http://schemas.openxmlformats.org/presentationml/2006/main">
  <p:tag name="BAINBULLET" val="True"/>
  <p:tag name="BAINBULLETSACTIVATED" val="True"/>
  <p:tag name="BAINBULLETSLEVELSFINGERPRINT" val="-445028082"/>
</p:tagLst>
</file>

<file path=ppt/tags/tag272.xml><?xml version="1.0" encoding="utf-8"?>
<p:tagLst xmlns:p="http://schemas.openxmlformats.org/presentationml/2006/main">
  <p:tag name="BAINBULLET" val="True"/>
  <p:tag name="BAINBULLETSACTIVATED" val="True"/>
  <p:tag name="BAINBULLETSLEVELSFINGERPRINT" val="-445028082"/>
</p:tagLst>
</file>

<file path=ppt/tags/tag273.xml><?xml version="1.0" encoding="utf-8"?>
<p:tagLst xmlns:p="http://schemas.openxmlformats.org/presentationml/2006/main">
  <p:tag name="BAINBULLET" val="True"/>
  <p:tag name="BAINBULLETSACTIVATED" val="True"/>
  <p:tag name="BAINBULLETSLEVELSFINGERPRINT" val="-445028082"/>
</p:tagLst>
</file>

<file path=ppt/tags/tag274.xml><?xml version="1.0" encoding="utf-8"?>
<p:tagLst xmlns:p="http://schemas.openxmlformats.org/presentationml/2006/main">
  <p:tag name="BAINBULLET" val="True"/>
  <p:tag name="BAINBULLETSACTIVATED" val="True"/>
  <p:tag name="BAINBULLETSLEVELSFINGERPRINT" val="-445028082"/>
</p:tagLst>
</file>

<file path=ppt/tags/tag275.xml><?xml version="1.0" encoding="utf-8"?>
<p:tagLst xmlns:p="http://schemas.openxmlformats.org/presentationml/2006/main">
  <p:tag name="BAINBULLET" val="True"/>
  <p:tag name="BAINBULLETSACTIVATED" val="True"/>
  <p:tag name="BAINBULLETSLEVELSFINGERPRINT" val="-445028082"/>
</p:tagLst>
</file>

<file path=ppt/tags/tag276.xml><?xml version="1.0" encoding="utf-8"?>
<p:tagLst xmlns:p="http://schemas.openxmlformats.org/presentationml/2006/main">
  <p:tag name="BAINBULLET" val="True"/>
  <p:tag name="BAINBULLETSACTIVATED" val="True"/>
  <p:tag name="BAINBULLETSLEVELSFINGERPRINT" val="-445028082"/>
</p:tagLst>
</file>

<file path=ppt/tags/tag277.xml><?xml version="1.0" encoding="utf-8"?>
<p:tagLst xmlns:p="http://schemas.openxmlformats.org/presentationml/2006/main">
  <p:tag name="BAINBULLET" val="True"/>
  <p:tag name="BAINBULLETSACTIVATED" val="True"/>
  <p:tag name="BAINBULLETSLEVELSFINGERPRINT" val="-445028082"/>
</p:tagLst>
</file>

<file path=ppt/tags/tag278.xml><?xml version="1.0" encoding="utf-8"?>
<p:tagLst xmlns:p="http://schemas.openxmlformats.org/presentationml/2006/main">
  <p:tag name="BAINBULLET" val="True"/>
  <p:tag name="BAINBULLETSACTIVATED" val="True"/>
  <p:tag name="BAINBULLETSLEVELSFINGERPRINT" val="-445028082"/>
</p:tagLst>
</file>

<file path=ppt/tags/tag279.xml><?xml version="1.0" encoding="utf-8"?>
<p:tagLst xmlns:p="http://schemas.openxmlformats.org/presentationml/2006/main">
  <p:tag name="BAINBULLET" val="True"/>
  <p:tag name="BAINBULLETSACTIVATED" val="True"/>
  <p:tag name="BAINBULLETSLEVELSFINGERPRINT" val="-445028082"/>
</p:tagLst>
</file>

<file path=ppt/tags/tag280.xml><?xml version="1.0" encoding="utf-8"?>
<p:tagLst xmlns:p="http://schemas.openxmlformats.org/presentationml/2006/main">
  <p:tag name="BAINBULLET" val="True"/>
  <p:tag name="BAINBULLETSACTIVATED" val="True"/>
  <p:tag name="BAINBULLETSLEVELSFINGERPRINT" val="-445028082"/>
</p:tagLst>
</file>

<file path=ppt/tags/tag281.xml><?xml version="1.0" encoding="utf-8"?>
<p:tagLst xmlns:p="http://schemas.openxmlformats.org/presentationml/2006/main">
  <p:tag name="BAINBULLET" val="True"/>
  <p:tag name="BAINBULLETSACTIVATED" val="True"/>
  <p:tag name="BAINBULLETSLEVELSFINGERPRINT" val="-445028082"/>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SHADOWSIZE" val="108"/>
  <p:tag name="TEXTSHADOWSIZE" val="100"/>
</p:tagLst>
</file>

<file path=ppt/tags/tag284.xml><?xml version="1.0" encoding="utf-8"?>
<p:tagLst xmlns:p="http://schemas.openxmlformats.org/presentationml/2006/main">
  <p:tag name="SHADOWSIZE" val="108"/>
  <p:tag name="TEXTSHADOWSIZE" val="100"/>
</p:tagLst>
</file>

<file path=ppt/tags/tag285.xml><?xml version="1.0" encoding="utf-8"?>
<p:tagLst xmlns:p="http://schemas.openxmlformats.org/presentationml/2006/main">
  <p:tag name="SHADOWSIZE" val="108"/>
  <p:tag name="TEXTSHADOWSIZE" val="100"/>
</p:tagLst>
</file>

<file path=ppt/tags/tag286.xml><?xml version="1.0" encoding="utf-8"?>
<p:tagLst xmlns:p="http://schemas.openxmlformats.org/presentationml/2006/main">
  <p:tag name="SHADOWSIZE" val="108"/>
  <p:tag name="TEXTSHADOWSIZE" val="100"/>
</p:tagLst>
</file>

<file path=ppt/tags/tag287.xml><?xml version="1.0" encoding="utf-8"?>
<p:tagLst xmlns:p="http://schemas.openxmlformats.org/presentationml/2006/main">
  <p:tag name="ADJUSTMENTS" val="12.57142"/>
</p:tagLst>
</file>

<file path=ppt/tags/tag288.xml><?xml version="1.0" encoding="utf-8"?>
<p:tagLst xmlns:p="http://schemas.openxmlformats.org/presentationml/2006/main">
  <p:tag name="SHADOWSIZE" val="100"/>
</p:tagLst>
</file>

<file path=ppt/tags/tag289.xml><?xml version="1.0" encoding="utf-8"?>
<p:tagLst xmlns:p="http://schemas.openxmlformats.org/presentationml/2006/main">
  <p:tag name="ADJUSTMENTS" val="12.57142"/>
</p:tagLst>
</file>

<file path=ppt/tags/tag290.xml><?xml version="1.0" encoding="utf-8"?>
<p:tagLst xmlns:p="http://schemas.openxmlformats.org/presentationml/2006/main">
  <p:tag name="SHADOWSIZE" val="100"/>
</p:tagLst>
</file>

<file path=ppt/tags/tag291.xml><?xml version="1.0" encoding="utf-8"?>
<p:tagLst xmlns:p="http://schemas.openxmlformats.org/presentationml/2006/main">
  <p:tag name="ADJUSTMENTS" val="12.57142"/>
</p:tagLst>
</file>

<file path=ppt/tags/tag292.xml><?xml version="1.0" encoding="utf-8"?>
<p:tagLst xmlns:p="http://schemas.openxmlformats.org/presentationml/2006/main">
  <p:tag name="SHADOWSIZE" val="100"/>
</p:tagLst>
</file>

<file path=ppt/tags/tag293.xml><?xml version="1.0" encoding="utf-8"?>
<p:tagLst xmlns:p="http://schemas.openxmlformats.org/presentationml/2006/main">
  <p:tag name="ADJUSTMENTS" val="12.57142"/>
</p:tagLst>
</file>

<file path=ppt/tags/tag294.xml><?xml version="1.0" encoding="utf-8"?>
<p:tagLst xmlns:p="http://schemas.openxmlformats.org/presentationml/2006/main">
  <p:tag name="SHADOWSIZE" val="100"/>
</p:tagLst>
</file>

<file path=ppt/tags/tag295.xml><?xml version="1.0" encoding="utf-8"?>
<p:tagLst xmlns:p="http://schemas.openxmlformats.org/presentationml/2006/main">
  <p:tag name="ADJUSTMENTS" val="12.57142"/>
</p:tagLst>
</file>

<file path=ppt/tags/tag296.xml><?xml version="1.0" encoding="utf-8"?>
<p:tagLst xmlns:p="http://schemas.openxmlformats.org/presentationml/2006/main">
  <p:tag name="SHADOWSIZE" val="100"/>
</p:tagLst>
</file>

<file path=ppt/tags/tag297.xml><?xml version="1.0" encoding="utf-8"?>
<p:tagLst xmlns:p="http://schemas.openxmlformats.org/presentationml/2006/main">
  <p:tag name="ADJUSTMENTS" val="7.71874"/>
  <p:tag name="SHADOWSIZE" val="108"/>
</p:tagLst>
</file>

<file path=ppt/tags/tag298.xml><?xml version="1.0" encoding="utf-8"?>
<p:tagLst xmlns:p="http://schemas.openxmlformats.org/presentationml/2006/main">
  <p:tag name="ADJUSTMENTS" val="7.71874"/>
  <p:tag name="SHADOWSIZE" val="108"/>
</p:tagLst>
</file>

<file path=ppt/tags/tag299.xml><?xml version="1.0" encoding="utf-8"?>
<p:tagLst xmlns:p="http://schemas.openxmlformats.org/presentationml/2006/main">
  <p:tag name="ADJUSTMENTS" val="7.71874"/>
  <p:tag name="SHADOWSIZE" val="108"/>
</p:tagLst>
</file>

<file path=ppt/tags/tag300.xml><?xml version="1.0" encoding="utf-8"?>
<p:tagLst xmlns:p="http://schemas.openxmlformats.org/presentationml/2006/main">
  <p:tag name="ADJUSTMENTS" val="7.71874"/>
  <p:tag name="SHADOWSIZE" val="108"/>
</p:tagLst>
</file>

<file path=ppt/tags/tag301.xml><?xml version="1.0" encoding="utf-8"?>
<p:tagLst xmlns:p="http://schemas.openxmlformats.org/presentationml/2006/main">
  <p:tag name="ADJUSTMENTS" val="7.71874"/>
  <p:tag name="SHADOWSIZE" val="108"/>
</p:tagLst>
</file>

<file path=ppt/tags/tag302.xml><?xml version="1.0" encoding="utf-8"?>
<p:tagLst xmlns:p="http://schemas.openxmlformats.org/presentationml/2006/main">
  <p:tag name="ADJUSTMENTS" val="7.71874"/>
  <p:tag name="SHADOWSIZE" val="108"/>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SHADOWSIZE" val="90"/>
  <p:tag name="ADJUSTMENTS" val="6.765331"/>
</p:tagLst>
</file>

<file path=ppt/tags/tag314.xml><?xml version="1.0" encoding="utf-8"?>
<p:tagLst xmlns:p="http://schemas.openxmlformats.org/presentationml/2006/main">
  <p:tag name="SHADOWSIZE" val="90"/>
  <p:tag name="ADJUSTMENTS" val="6.765331"/>
</p:tagLst>
</file>

<file path=ppt/tags/tag315.xml><?xml version="1.0" encoding="utf-8"?>
<p:tagLst xmlns:p="http://schemas.openxmlformats.org/presentationml/2006/main">
  <p:tag name="SHADOWSIZE" val="90"/>
  <p:tag name="ADJUSTMENTS" val="6.765331"/>
</p:tagLst>
</file>

<file path=ppt/tags/tag316.xml><?xml version="1.0" encoding="utf-8"?>
<p:tagLst xmlns:p="http://schemas.openxmlformats.org/presentationml/2006/main">
  <p:tag name="ISLIDE.GUIDESSETTING" val="{&quot;Id&quot;:&quot;GuidesStyle_Moderate&quot;,&quot;Name&quot;:&quot;适中&quot;,&quot;Kind&quot;:&quot;System&quot;,&quot;OldGuidesSetting&quot;:{&quot;HeaderHeight&quot;:13.0,&quot;FooterHeight&quot;:6.0,&quot;SideMargin&quot;:4.0,&quot;TopMargin&quot;:0.0,&quot;BottomMargin&quot;:0.0,&quot;IntervalMargin&quot;:1.5}}"/>
  <p:tag name="COMMONDATA" val="eyJoZGlkIjoiMmIxOGE2NGY5MzIzZTFjYjRkMjdkOTZiZDJlY2ZhYzQifQ=="/>
  <p:tag name="RESOURCE_RECORD_KEY" val="{&quot;29&quot;:[50000086]}"/>
</p:tagLst>
</file>

<file path=ppt/theme/theme1.xml><?xml version="1.0" encoding="utf-8"?>
<a:theme xmlns:a="http://schemas.openxmlformats.org/drawingml/2006/main" name="Office 主题​​">
  <a:themeElements>
    <a:clrScheme name="纯蓝色配色">
      <a:dk1>
        <a:srgbClr val="000000"/>
      </a:dk1>
      <a:lt1>
        <a:srgbClr val="FFFFFF"/>
      </a:lt1>
      <a:dk2>
        <a:srgbClr val="44546A"/>
      </a:dk2>
      <a:lt2>
        <a:srgbClr val="E7E6E6"/>
      </a:lt2>
      <a:accent1>
        <a:srgbClr val="1C4274"/>
      </a:accent1>
      <a:accent2>
        <a:srgbClr val="A23424"/>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en-US" altLang="zh-CN">
            <a:latin typeface="HONOR Sans CN" panose="05000200000000000000" charset="-122"/>
            <a:ea typeface="HONOR Sans CN" panose="05000200000000000000"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主题​​">
  <a:themeElements>
    <a:clrScheme name="">
      <a:dk1>
        <a:srgbClr val="202020"/>
      </a:dk1>
      <a:lt1>
        <a:srgbClr val="FFFFFF"/>
      </a:lt1>
      <a:dk2>
        <a:srgbClr val="404040"/>
      </a:dk2>
      <a:lt2>
        <a:srgbClr val="FFFFFF"/>
      </a:lt2>
      <a:accent1>
        <a:srgbClr val="1C4274"/>
      </a:accent1>
      <a:accent2>
        <a:srgbClr val="89B0E3"/>
      </a:accent2>
      <a:accent3>
        <a:srgbClr val="1C4274"/>
      </a:accent3>
      <a:accent4>
        <a:srgbClr val="A5A5A5"/>
      </a:accent4>
      <a:accent5>
        <a:srgbClr val="4E88D4"/>
      </a:accent5>
      <a:accent6>
        <a:srgbClr val="404040"/>
      </a:accent6>
      <a:hlink>
        <a:srgbClr val="0026E5"/>
      </a:hlink>
      <a:folHlink>
        <a:srgbClr val="7E1FAD"/>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en-US" altLang="zh-CN">
            <a:latin typeface="HONOR Sans CN" panose="05000200000000000000" charset="-122"/>
            <a:ea typeface="HONOR Sans CN" panose="05000200000000000000"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14035</Words>
  <Application>WPS 演示</Application>
  <PresentationFormat>宽屏</PresentationFormat>
  <Paragraphs>3200</Paragraphs>
  <Slides>45</Slides>
  <Notes>40</Notes>
  <HiddenSlides>0</HiddenSlides>
  <MMClips>0</MMClips>
  <ScaleCrop>false</ScaleCrop>
  <HeadingPairs>
    <vt:vector size="6" baseType="variant">
      <vt:variant>
        <vt:lpstr>已用的字体</vt:lpstr>
      </vt:variant>
      <vt:variant>
        <vt:i4>30</vt:i4>
      </vt:variant>
      <vt:variant>
        <vt:lpstr>主题</vt:lpstr>
      </vt:variant>
      <vt:variant>
        <vt:i4>2</vt:i4>
      </vt:variant>
      <vt:variant>
        <vt:lpstr>幻灯片标题</vt:lpstr>
      </vt:variant>
      <vt:variant>
        <vt:i4>45</vt:i4>
      </vt:variant>
    </vt:vector>
  </HeadingPairs>
  <TitlesOfParts>
    <vt:vector size="77" baseType="lpstr">
      <vt:lpstr>Arial</vt:lpstr>
      <vt:lpstr>宋体</vt:lpstr>
      <vt:lpstr>Wingdings</vt:lpstr>
      <vt:lpstr>HONOR Sans CN</vt:lpstr>
      <vt:lpstr>微软雅黑</vt:lpstr>
      <vt:lpstr>OPPOSans H</vt:lpstr>
      <vt:lpstr>OPPOSans M</vt:lpstr>
      <vt:lpstr>OPPOSans R</vt:lpstr>
      <vt:lpstr>Arial Unicode MS</vt:lpstr>
      <vt:lpstr>Wingdings</vt:lpstr>
      <vt:lpstr>vivo type 简 Regular</vt:lpstr>
      <vt:lpstr>思源宋体 CN Heavy</vt:lpstr>
      <vt:lpstr>Wingdings 3</vt:lpstr>
      <vt:lpstr>Calibri</vt:lpstr>
      <vt:lpstr>黑体</vt:lpstr>
      <vt:lpstr>vivo type 简 Bold</vt:lpstr>
      <vt:lpstr>Times New Roman</vt:lpstr>
      <vt:lpstr>OPPOSans B</vt:lpstr>
      <vt:lpstr>思源黑体 CN Regular</vt:lpstr>
      <vt:lpstr>思源黑体 CN Bold</vt:lpstr>
      <vt:lpstr>思源宋体 CN</vt:lpstr>
      <vt:lpstr>思源黑体 CN Normal</vt:lpstr>
      <vt:lpstr>Calibri</vt:lpstr>
      <vt:lpstr>HONOR Sans CN Medium</vt:lpstr>
      <vt:lpstr>Helvetica Neue Medium</vt:lpstr>
      <vt:lpstr>Barlow Medium</vt:lpstr>
      <vt:lpstr>Segoe Print</vt:lpstr>
      <vt:lpstr>BrownStd Light</vt:lpstr>
      <vt:lpstr>Roboto Regular</vt:lpstr>
      <vt:lpstr>Roboto</vt:lpstr>
      <vt:lpstr>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徐鸣冲</dc:creator>
  <cp:lastModifiedBy>冲Sherman</cp:lastModifiedBy>
  <cp:revision>361</cp:revision>
  <dcterms:created xsi:type="dcterms:W3CDTF">2022-10-13T07:27:00Z</dcterms:created>
  <dcterms:modified xsi:type="dcterms:W3CDTF">2026-03-15T14:26:36Z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CA97EDF6D6A64F93AC17D52C38E77688_13</vt:lpwstr>
  </property>
  <property fmtid="{D5CDD505-2E9C-101B-9397-08002B2CF9AE}" pid="3" name="KSOProductBuildVer">
    <vt:lpwstr>2052-12.1.0.25222</vt:lpwstr>
  </property>
</Properties>
</file>